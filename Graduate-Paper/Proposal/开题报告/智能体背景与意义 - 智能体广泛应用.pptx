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400"/>
            <a:ext cx="16256000" cy="698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400"/>
            <a:ext cx="4064000" cy="698500"/>
          </a:xfrm>
          <a:prstGeom prst="rect">
            <a:avLst/>
          </a:prstGeom>
          <a:solidFill>
            <a:srgbClr val="005C8F"/>
          </a:solidFill>
          <a:ln/>
        </p:spPr>
      </p:sp>
      <p:sp>
        <p:nvSpPr>
          <p:cNvPr id="4" name="Shape 2"/>
          <p:cNvSpPr/>
          <p:nvPr/>
        </p:nvSpPr>
        <p:spPr>
          <a:xfrm>
            <a:off x="1841500" y="1358900"/>
            <a:ext cx="381000" cy="152400"/>
          </a:xfrm>
          <a:prstGeom prst="triangle">
            <a:avLst>
              <a:gd name="adj" fmla="val 50000"/>
            </a:avLst>
          </a:prstGeom>
          <a:solidFill>
            <a:srgbClr val="005C8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选题背景及意义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64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国内外研究现状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主要研究内容及预期目标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92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工作计划与进度安排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101600"/>
            <a:ext cx="101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62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智能体广泛应用概览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2000" y="2349500"/>
            <a:ext cx="825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AI智能体正从概念走向规模化落地，基于大模型能力已在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自动驾驶、医疗、金融、工业、教育、智慧城市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等关键领域深度渗透。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0" y="1587500"/>
            <a:ext cx="5588000" cy="18415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权威市场预测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0" y="2057400"/>
            <a:ext cx="508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Gartner：2028年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日常工作决策由Agent自主完成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Capgemini：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组织计划2026年前集成AI智能体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IDC：2026年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中国500强企业使用AI Agent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746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400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4144" y="116483"/>
                </a:moveTo>
                <a:lnTo>
                  <a:pt x="108248" y="190500"/>
                </a:lnTo>
                <a:lnTo>
                  <a:pt x="399752" y="190500"/>
                </a:lnTo>
                <a:lnTo>
                  <a:pt x="373856" y="116483"/>
                </a:lnTo>
                <a:cubicBezTo>
                  <a:pt x="369391" y="103783"/>
                  <a:pt x="357386" y="95250"/>
                  <a:pt x="343892" y="95250"/>
                </a:cubicBezTo>
                <a:lnTo>
                  <a:pt x="164108" y="95250"/>
                </a:lnTo>
                <a:cubicBezTo>
                  <a:pt x="150614" y="95250"/>
                  <a:pt x="138609" y="103783"/>
                  <a:pt x="134144" y="116483"/>
                </a:cubicBezTo>
                <a:close/>
                <a:moveTo>
                  <a:pt x="39291" y="195263"/>
                </a:moveTo>
                <a:lnTo>
                  <a:pt x="74216" y="95548"/>
                </a:lnTo>
                <a:cubicBezTo>
                  <a:pt x="87610" y="57348"/>
                  <a:pt x="123627" y="31750"/>
                  <a:pt x="164108" y="31750"/>
                </a:cubicBezTo>
                <a:lnTo>
                  <a:pt x="343892" y="31750"/>
                </a:lnTo>
                <a:cubicBezTo>
                  <a:pt x="384373" y="31750"/>
                  <a:pt x="420390" y="57348"/>
                  <a:pt x="433784" y="95548"/>
                </a:cubicBezTo>
                <a:lnTo>
                  <a:pt x="468709" y="195263"/>
                </a:lnTo>
                <a:cubicBezTo>
                  <a:pt x="491728" y="204788"/>
                  <a:pt x="508000" y="227509"/>
                  <a:pt x="508000" y="254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44500" y="476250"/>
                </a:lnTo>
                <a:cubicBezTo>
                  <a:pt x="426938" y="476250"/>
                  <a:pt x="412750" y="462062"/>
                  <a:pt x="412750" y="444500"/>
                </a:cubicBezTo>
                <a:lnTo>
                  <a:pt x="412750" y="412750"/>
                </a:lnTo>
                <a:lnTo>
                  <a:pt x="95250" y="412750"/>
                </a:lnTo>
                <a:lnTo>
                  <a:pt x="95250" y="444500"/>
                </a:lnTo>
                <a:cubicBezTo>
                  <a:pt x="95250" y="462062"/>
                  <a:pt x="81062" y="476250"/>
                  <a:pt x="6350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254000"/>
                </a:lnTo>
                <a:cubicBezTo>
                  <a:pt x="0" y="227509"/>
                  <a:pt x="16272" y="204788"/>
                  <a:pt x="39291" y="195263"/>
                </a:cubicBezTo>
                <a:close/>
                <a:moveTo>
                  <a:pt x="127000" y="301625"/>
                </a:moveTo>
                <a:cubicBezTo>
                  <a:pt x="127000" y="284102"/>
                  <a:pt x="112773" y="269875"/>
                  <a:pt x="95250" y="269875"/>
                </a:cubicBezTo>
                <a:cubicBezTo>
                  <a:pt x="77727" y="269875"/>
                  <a:pt x="63500" y="284102"/>
                  <a:pt x="63500" y="301625"/>
                </a:cubicBezTo>
                <a:cubicBezTo>
                  <a:pt x="63500" y="319148"/>
                  <a:pt x="77727" y="333375"/>
                  <a:pt x="95250" y="333375"/>
                </a:cubicBezTo>
                <a:cubicBezTo>
                  <a:pt x="112773" y="333375"/>
                  <a:pt x="127000" y="319148"/>
                  <a:pt x="127000" y="301625"/>
                </a:cubicBezTo>
                <a:close/>
                <a:moveTo>
                  <a:pt x="412750" y="333375"/>
                </a:moveTo>
                <a:cubicBezTo>
                  <a:pt x="430273" y="333375"/>
                  <a:pt x="444500" y="319148"/>
                  <a:pt x="444500" y="301625"/>
                </a:cubicBezTo>
                <a:cubicBezTo>
                  <a:pt x="444500" y="284102"/>
                  <a:pt x="430273" y="269875"/>
                  <a:pt x="412750" y="269875"/>
                </a:cubicBezTo>
                <a:cubicBezTo>
                  <a:pt x="395227" y="269875"/>
                  <a:pt x="381000" y="284102"/>
                  <a:pt x="381000" y="301625"/>
                </a:cubicBezTo>
                <a:cubicBezTo>
                  <a:pt x="381000" y="319148"/>
                  <a:pt x="395227" y="333375"/>
                  <a:pt x="412750" y="333375"/>
                </a:cubicBez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000" y="4000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自动驾驶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9500" y="45974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环境感知-决策-控制全链路自主化，L4级商业化运营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61000" y="3746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778500" y="400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7000" y="4000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医疗健康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78500" y="45974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影像筛查敏感度达98.6%，个性化治疗方案成功率提升37%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160000" y="3746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0" y="400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5" name="Text 23"/>
          <p:cNvSpPr/>
          <p:nvPr/>
        </p:nvSpPr>
        <p:spPr>
          <a:xfrm>
            <a:off x="11176000" y="4000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金融科技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477500" y="4597400"/>
            <a:ext cx="469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欺诈识别准确率99.98%，量化交易年化收益达21.5%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5778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95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428625"/>
                </a:lnTo>
                <a:cubicBezTo>
                  <a:pt x="0" y="454918"/>
                  <a:pt x="21332" y="476250"/>
                  <a:pt x="476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151011"/>
                </a:lnTo>
                <a:cubicBezTo>
                  <a:pt x="508000" y="132953"/>
                  <a:pt x="488752" y="121543"/>
                  <a:pt x="472877" y="130076"/>
                </a:cubicBezTo>
                <a:lnTo>
                  <a:pt x="317500" y="213717"/>
                </a:lnTo>
                <a:lnTo>
                  <a:pt x="317500" y="151011"/>
                </a:lnTo>
                <a:cubicBezTo>
                  <a:pt x="317500" y="132953"/>
                  <a:pt x="298252" y="121543"/>
                  <a:pt x="282377" y="130076"/>
                </a:cubicBezTo>
                <a:lnTo>
                  <a:pt x="127000" y="213717"/>
                </a:lnTo>
                <a:lnTo>
                  <a:pt x="127000" y="63500"/>
                </a:lnTo>
                <a:cubicBezTo>
                  <a:pt x="127000" y="45938"/>
                  <a:pt x="112812" y="31750"/>
                  <a:pt x="95250" y="31750"/>
                </a:cubicBezTo>
                <a:lnTo>
                  <a:pt x="31750" y="31750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9" name="Text 27"/>
          <p:cNvSpPr/>
          <p:nvPr/>
        </p:nvSpPr>
        <p:spPr>
          <a:xfrm>
            <a:off x="1778000" y="6032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工业制造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79500" y="66294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质检效率提升300%，排产从天级缩短至秒级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61000" y="5778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7785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2333" y="194270"/>
                </a:moveTo>
                <a:lnTo>
                  <a:pt x="226836" y="279698"/>
                </a:lnTo>
                <a:cubicBezTo>
                  <a:pt x="235479" y="283666"/>
                  <a:pt x="244651" y="285750"/>
                  <a:pt x="254000" y="285750"/>
                </a:cubicBezTo>
                <a:cubicBezTo>
                  <a:pt x="263349" y="285750"/>
                  <a:pt x="272521" y="283666"/>
                  <a:pt x="281164" y="279698"/>
                </a:cubicBezTo>
                <a:lnTo>
                  <a:pt x="494947" y="180677"/>
                </a:lnTo>
                <a:cubicBezTo>
                  <a:pt x="502885" y="177006"/>
                  <a:pt x="508000" y="168374"/>
                  <a:pt x="508000" y="158750"/>
                </a:cubicBezTo>
                <a:cubicBezTo>
                  <a:pt x="508000" y="149126"/>
                  <a:pt x="502885" y="140494"/>
                  <a:pt x="494947" y="136823"/>
                </a:cubicBezTo>
                <a:lnTo>
                  <a:pt x="281164" y="37802"/>
                </a:lnTo>
                <a:cubicBezTo>
                  <a:pt x="272521" y="33834"/>
                  <a:pt x="263349" y="31750"/>
                  <a:pt x="254000" y="31750"/>
                </a:cubicBezTo>
                <a:cubicBezTo>
                  <a:pt x="244651" y="31750"/>
                  <a:pt x="235479" y="33834"/>
                  <a:pt x="226836" y="37802"/>
                </a:cubicBezTo>
                <a:lnTo>
                  <a:pt x="13053" y="136823"/>
                </a:lnTo>
                <a:cubicBezTo>
                  <a:pt x="511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9437" y="476250"/>
                  <a:pt x="21167" y="476250"/>
                </a:cubicBezTo>
                <a:cubicBezTo>
                  <a:pt x="32897" y="476250"/>
                  <a:pt x="42333" y="465634"/>
                  <a:pt x="42333" y="452437"/>
                </a:cubicBezTo>
                <a:lnTo>
                  <a:pt x="42333" y="194270"/>
                </a:lnTo>
                <a:close/>
                <a:moveTo>
                  <a:pt x="84667" y="265410"/>
                </a:moveTo>
                <a:lnTo>
                  <a:pt x="84667" y="381000"/>
                </a:lnTo>
                <a:cubicBezTo>
                  <a:pt x="84667" y="433586"/>
                  <a:pt x="160514" y="476250"/>
                  <a:pt x="254000" y="476250"/>
                </a:cubicBezTo>
                <a:cubicBezTo>
                  <a:pt x="347486" y="476250"/>
                  <a:pt x="423333" y="433586"/>
                  <a:pt x="423333" y="381000"/>
                </a:cubicBezTo>
                <a:lnTo>
                  <a:pt x="423333" y="265311"/>
                </a:lnTo>
                <a:lnTo>
                  <a:pt x="297303" y="323751"/>
                </a:lnTo>
                <a:cubicBezTo>
                  <a:pt x="283545" y="330101"/>
                  <a:pt x="268905" y="333375"/>
                  <a:pt x="254000" y="333375"/>
                </a:cubicBezTo>
                <a:cubicBezTo>
                  <a:pt x="239095" y="333375"/>
                  <a:pt x="224455" y="330101"/>
                  <a:pt x="210697" y="323751"/>
                </a:cubicBezTo>
                <a:lnTo>
                  <a:pt x="84667" y="265311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33" name="Text 31"/>
          <p:cNvSpPr/>
          <p:nvPr/>
        </p:nvSpPr>
        <p:spPr>
          <a:xfrm>
            <a:off x="6477000" y="6032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教育培训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778500" y="66294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个性化学习路径规划，AI导师实现千人千面教学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160000" y="5778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E6F0F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222" y="0"/>
                </a:moveTo>
                <a:cubicBezTo>
                  <a:pt x="251090" y="0"/>
                  <a:pt x="225778" y="28476"/>
                  <a:pt x="225778" y="63500"/>
                </a:cubicBezTo>
                <a:lnTo>
                  <a:pt x="225778" y="95250"/>
                </a:lnTo>
                <a:lnTo>
                  <a:pt x="183444" y="95250"/>
                </a:lnTo>
                <a:lnTo>
                  <a:pt x="183444" y="23812"/>
                </a:lnTo>
                <a:cubicBezTo>
                  <a:pt x="183444" y="10616"/>
                  <a:pt x="174008" y="0"/>
                  <a:pt x="162278" y="0"/>
                </a:cubicBezTo>
                <a:cubicBezTo>
                  <a:pt x="150548" y="0"/>
                  <a:pt x="141111" y="10616"/>
                  <a:pt x="141111" y="23812"/>
                </a:cubicBezTo>
                <a:lnTo>
                  <a:pt x="141111" y="95250"/>
                </a:lnTo>
                <a:lnTo>
                  <a:pt x="84667" y="95250"/>
                </a:lnTo>
                <a:lnTo>
                  <a:pt x="84667" y="23812"/>
                </a:lnTo>
                <a:cubicBezTo>
                  <a:pt x="84667" y="10616"/>
                  <a:pt x="75230" y="0"/>
                  <a:pt x="63500" y="0"/>
                </a:cubicBezTo>
                <a:cubicBezTo>
                  <a:pt x="51770" y="0"/>
                  <a:pt x="42333" y="10616"/>
                  <a:pt x="42333" y="23812"/>
                </a:cubicBezTo>
                <a:lnTo>
                  <a:pt x="42333" y="97234"/>
                </a:lnTo>
                <a:cubicBezTo>
                  <a:pt x="17992" y="104279"/>
                  <a:pt x="0" y="129183"/>
                  <a:pt x="0" y="158750"/>
                </a:cubicBezTo>
                <a:lnTo>
                  <a:pt x="0" y="444500"/>
                </a:lnTo>
                <a:cubicBezTo>
                  <a:pt x="0" y="479524"/>
                  <a:pt x="25312" y="508000"/>
                  <a:pt x="56444" y="508000"/>
                </a:cubicBezTo>
                <a:lnTo>
                  <a:pt x="451556" y="508000"/>
                </a:lnTo>
                <a:cubicBezTo>
                  <a:pt x="482688" y="508000"/>
                  <a:pt x="508000" y="479524"/>
                  <a:pt x="508000" y="444500"/>
                </a:cubicBezTo>
                <a:lnTo>
                  <a:pt x="508000" y="254000"/>
                </a:lnTo>
                <a:cubicBezTo>
                  <a:pt x="508000" y="218976"/>
                  <a:pt x="482688" y="190500"/>
                  <a:pt x="451556" y="190500"/>
                </a:cubicBezTo>
                <a:lnTo>
                  <a:pt x="395111" y="190500"/>
                </a:lnTo>
                <a:lnTo>
                  <a:pt x="395111" y="63500"/>
                </a:lnTo>
                <a:cubicBezTo>
                  <a:pt x="395111" y="28476"/>
                  <a:pt x="369799" y="0"/>
                  <a:pt x="338667" y="0"/>
                </a:cubicBezTo>
                <a:lnTo>
                  <a:pt x="282222" y="0"/>
                </a:lnTo>
                <a:close/>
                <a:moveTo>
                  <a:pt x="338667" y="111125"/>
                </a:moveTo>
                <a:lnTo>
                  <a:pt x="338667" y="142875"/>
                </a:lnTo>
                <a:cubicBezTo>
                  <a:pt x="338667" y="151606"/>
                  <a:pt x="332317" y="158750"/>
                  <a:pt x="324556" y="158750"/>
                </a:cubicBezTo>
                <a:lnTo>
                  <a:pt x="296333" y="158750"/>
                </a:lnTo>
                <a:cubicBezTo>
                  <a:pt x="288572" y="158750"/>
                  <a:pt x="282222" y="151606"/>
                  <a:pt x="282222" y="142875"/>
                </a:cubicBezTo>
                <a:lnTo>
                  <a:pt x="282222" y="111125"/>
                </a:lnTo>
                <a:cubicBezTo>
                  <a:pt x="282222" y="102394"/>
                  <a:pt x="288572" y="95250"/>
                  <a:pt x="296333" y="95250"/>
                </a:cubicBezTo>
                <a:lnTo>
                  <a:pt x="324556" y="95250"/>
                </a:lnTo>
                <a:cubicBezTo>
                  <a:pt x="332317" y="95250"/>
                  <a:pt x="338667" y="102394"/>
                  <a:pt x="338667" y="111125"/>
                </a:cubicBezTo>
                <a:close/>
                <a:moveTo>
                  <a:pt x="324556" y="190500"/>
                </a:moveTo>
                <a:cubicBezTo>
                  <a:pt x="332317" y="190500"/>
                  <a:pt x="338667" y="197644"/>
                  <a:pt x="338667" y="206375"/>
                </a:cubicBezTo>
                <a:lnTo>
                  <a:pt x="338667" y="238125"/>
                </a:lnTo>
                <a:cubicBezTo>
                  <a:pt x="338667" y="246856"/>
                  <a:pt x="332317" y="254000"/>
                  <a:pt x="324556" y="254000"/>
                </a:cubicBezTo>
                <a:lnTo>
                  <a:pt x="296333" y="254000"/>
                </a:lnTo>
                <a:cubicBezTo>
                  <a:pt x="288572" y="254000"/>
                  <a:pt x="282222" y="246856"/>
                  <a:pt x="282222" y="238125"/>
                </a:cubicBezTo>
                <a:lnTo>
                  <a:pt x="282222" y="206375"/>
                </a:lnTo>
                <a:cubicBezTo>
                  <a:pt x="282222" y="197644"/>
                  <a:pt x="288572" y="190500"/>
                  <a:pt x="296333" y="190500"/>
                </a:cubicBezTo>
                <a:lnTo>
                  <a:pt x="324556" y="190500"/>
                </a:lnTo>
                <a:close/>
                <a:moveTo>
                  <a:pt x="338667" y="301625"/>
                </a:moveTo>
                <a:lnTo>
                  <a:pt x="338667" y="333375"/>
                </a:lnTo>
                <a:cubicBezTo>
                  <a:pt x="338667" y="342106"/>
                  <a:pt x="332317" y="349250"/>
                  <a:pt x="324556" y="349250"/>
                </a:cubicBezTo>
                <a:lnTo>
                  <a:pt x="296333" y="349250"/>
                </a:lnTo>
                <a:cubicBezTo>
                  <a:pt x="288572" y="349250"/>
                  <a:pt x="282222" y="342106"/>
                  <a:pt x="282222" y="333375"/>
                </a:cubicBezTo>
                <a:lnTo>
                  <a:pt x="282222" y="301625"/>
                </a:lnTo>
                <a:cubicBezTo>
                  <a:pt x="282222" y="292894"/>
                  <a:pt x="288572" y="285750"/>
                  <a:pt x="296333" y="285750"/>
                </a:cubicBezTo>
                <a:lnTo>
                  <a:pt x="324556" y="285750"/>
                </a:lnTo>
                <a:cubicBezTo>
                  <a:pt x="332317" y="285750"/>
                  <a:pt x="338667" y="292894"/>
                  <a:pt x="338667" y="301625"/>
                </a:cubicBezTo>
                <a:close/>
                <a:moveTo>
                  <a:pt x="437444" y="285750"/>
                </a:moveTo>
                <a:cubicBezTo>
                  <a:pt x="445206" y="285750"/>
                  <a:pt x="451556" y="292894"/>
                  <a:pt x="451556" y="301625"/>
                </a:cubicBezTo>
                <a:lnTo>
                  <a:pt x="451556" y="333375"/>
                </a:lnTo>
                <a:cubicBezTo>
                  <a:pt x="451556" y="342106"/>
                  <a:pt x="445206" y="349250"/>
                  <a:pt x="437444" y="349250"/>
                </a:cubicBezTo>
                <a:lnTo>
                  <a:pt x="409222" y="349250"/>
                </a:lnTo>
                <a:cubicBezTo>
                  <a:pt x="401461" y="349250"/>
                  <a:pt x="395111" y="342106"/>
                  <a:pt x="395111" y="333375"/>
                </a:cubicBezTo>
                <a:lnTo>
                  <a:pt x="395111" y="301625"/>
                </a:lnTo>
                <a:cubicBezTo>
                  <a:pt x="395111" y="292894"/>
                  <a:pt x="401461" y="285750"/>
                  <a:pt x="409222" y="285750"/>
                </a:cubicBezTo>
                <a:lnTo>
                  <a:pt x="437444" y="285750"/>
                </a:lnTo>
                <a:close/>
                <a:moveTo>
                  <a:pt x="225778" y="301625"/>
                </a:moveTo>
                <a:lnTo>
                  <a:pt x="225778" y="333375"/>
                </a:lnTo>
                <a:cubicBezTo>
                  <a:pt x="225778" y="342106"/>
                  <a:pt x="219428" y="349250"/>
                  <a:pt x="211667" y="349250"/>
                </a:cubicBezTo>
                <a:lnTo>
                  <a:pt x="183444" y="349250"/>
                </a:lnTo>
                <a:cubicBezTo>
                  <a:pt x="175683" y="349250"/>
                  <a:pt x="169333" y="342106"/>
                  <a:pt x="169333" y="333375"/>
                </a:cubicBezTo>
                <a:lnTo>
                  <a:pt x="169333" y="301625"/>
                </a:lnTo>
                <a:cubicBezTo>
                  <a:pt x="169333" y="292894"/>
                  <a:pt x="175683" y="285750"/>
                  <a:pt x="183444" y="285750"/>
                </a:cubicBezTo>
                <a:lnTo>
                  <a:pt x="211667" y="285750"/>
                </a:lnTo>
                <a:cubicBezTo>
                  <a:pt x="219428" y="285750"/>
                  <a:pt x="225778" y="292894"/>
                  <a:pt x="225778" y="301625"/>
                </a:cubicBezTo>
                <a:close/>
                <a:moveTo>
                  <a:pt x="211667" y="190500"/>
                </a:moveTo>
                <a:cubicBezTo>
                  <a:pt x="219428" y="190500"/>
                  <a:pt x="225778" y="197644"/>
                  <a:pt x="225778" y="206375"/>
                </a:cubicBezTo>
                <a:lnTo>
                  <a:pt x="225778" y="238125"/>
                </a:lnTo>
                <a:cubicBezTo>
                  <a:pt x="225778" y="246856"/>
                  <a:pt x="219428" y="254000"/>
                  <a:pt x="211667" y="254000"/>
                </a:cubicBezTo>
                <a:lnTo>
                  <a:pt x="183444" y="254000"/>
                </a:lnTo>
                <a:cubicBezTo>
                  <a:pt x="175683" y="254000"/>
                  <a:pt x="169333" y="246856"/>
                  <a:pt x="169333" y="238125"/>
                </a:cubicBezTo>
                <a:lnTo>
                  <a:pt x="169333" y="206375"/>
                </a:lnTo>
                <a:cubicBezTo>
                  <a:pt x="169333" y="197644"/>
                  <a:pt x="175683" y="190500"/>
                  <a:pt x="183444" y="190500"/>
                </a:cubicBezTo>
                <a:lnTo>
                  <a:pt x="211667" y="190500"/>
                </a:lnTo>
                <a:close/>
                <a:moveTo>
                  <a:pt x="112889" y="301625"/>
                </a:moveTo>
                <a:lnTo>
                  <a:pt x="112889" y="333375"/>
                </a:lnTo>
                <a:cubicBezTo>
                  <a:pt x="112889" y="342106"/>
                  <a:pt x="106539" y="349250"/>
                  <a:pt x="98778" y="349250"/>
                </a:cubicBezTo>
                <a:lnTo>
                  <a:pt x="70556" y="349250"/>
                </a:lnTo>
                <a:cubicBezTo>
                  <a:pt x="62794" y="349250"/>
                  <a:pt x="56444" y="342106"/>
                  <a:pt x="56444" y="333375"/>
                </a:cubicBezTo>
                <a:lnTo>
                  <a:pt x="56444" y="301625"/>
                </a:lnTo>
                <a:cubicBezTo>
                  <a:pt x="56444" y="292894"/>
                  <a:pt x="62794" y="285750"/>
                  <a:pt x="70556" y="285750"/>
                </a:cubicBezTo>
                <a:lnTo>
                  <a:pt x="98778" y="285750"/>
                </a:lnTo>
                <a:cubicBezTo>
                  <a:pt x="106539" y="285750"/>
                  <a:pt x="112889" y="292894"/>
                  <a:pt x="112889" y="301625"/>
                </a:cubicBezTo>
                <a:close/>
                <a:moveTo>
                  <a:pt x="98778" y="190500"/>
                </a:moveTo>
                <a:cubicBezTo>
                  <a:pt x="106539" y="190500"/>
                  <a:pt x="112889" y="197644"/>
                  <a:pt x="112889" y="206375"/>
                </a:cubicBezTo>
                <a:lnTo>
                  <a:pt x="112889" y="238125"/>
                </a:lnTo>
                <a:cubicBezTo>
                  <a:pt x="112889" y="246856"/>
                  <a:pt x="106539" y="254000"/>
                  <a:pt x="98778" y="254000"/>
                </a:cubicBezTo>
                <a:lnTo>
                  <a:pt x="70556" y="254000"/>
                </a:lnTo>
                <a:cubicBezTo>
                  <a:pt x="62794" y="254000"/>
                  <a:pt x="56444" y="246856"/>
                  <a:pt x="56444" y="238125"/>
                </a:cubicBezTo>
                <a:lnTo>
                  <a:pt x="56444" y="206375"/>
                </a:lnTo>
                <a:cubicBezTo>
                  <a:pt x="56444" y="197644"/>
                  <a:pt x="62794" y="190500"/>
                  <a:pt x="70556" y="190500"/>
                </a:cubicBezTo>
                <a:lnTo>
                  <a:pt x="98778" y="190500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37" name="Text 35"/>
          <p:cNvSpPr/>
          <p:nvPr/>
        </p:nvSpPr>
        <p:spPr>
          <a:xfrm>
            <a:off x="11176000" y="6032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智慧城市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477500" y="6629400"/>
            <a:ext cx="4699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人智协同实现城市治理与社会服务智能化升级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62000" y="7874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005C8F"/>
          </a:solidFill>
          <a:ln/>
        </p:spPr>
      </p:sp>
      <p:sp>
        <p:nvSpPr>
          <p:cNvPr id="40" name="Text 38"/>
          <p:cNvSpPr/>
          <p:nvPr/>
        </p:nvSpPr>
        <p:spPr>
          <a:xfrm>
            <a:off x="1016000" y="78994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016000" y="8356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2028年企业软件将包含Agentic AI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69000" y="78994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969000" y="8356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中国500强企业将使用AI Agent（2026）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922000" y="78994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62.7%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922000" y="8356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垂直AI智能体年复合增长率（2025-2030）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5240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400"/>
            <a:ext cx="16256000" cy="698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400"/>
            <a:ext cx="4064000" cy="698500"/>
          </a:xfrm>
          <a:prstGeom prst="rect">
            <a:avLst/>
          </a:prstGeom>
          <a:solidFill>
            <a:srgbClr val="005C8F"/>
          </a:solidFill>
          <a:ln/>
        </p:spPr>
      </p:sp>
      <p:sp>
        <p:nvSpPr>
          <p:cNvPr id="4" name="Shape 2"/>
          <p:cNvSpPr/>
          <p:nvPr/>
        </p:nvSpPr>
        <p:spPr>
          <a:xfrm>
            <a:off x="1841500" y="1358900"/>
            <a:ext cx="381000" cy="152400"/>
          </a:xfrm>
          <a:prstGeom prst="triangle">
            <a:avLst>
              <a:gd name="adj" fmla="val 50000"/>
            </a:avLst>
          </a:prstGeom>
          <a:solidFill>
            <a:srgbClr val="005C8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选题背景及意义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64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国内外研究现状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主要研究内容及预期目标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92000" y="660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工作计划与进度安排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101600"/>
            <a:ext cx="101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62000" y="158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智能体各领域应用实例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62000" y="2286000"/>
            <a:ext cx="7175500" cy="19050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2514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0729" y="104835"/>
                </a:moveTo>
                <a:lnTo>
                  <a:pt x="97423" y="171450"/>
                </a:lnTo>
                <a:lnTo>
                  <a:pt x="359777" y="171450"/>
                </a:lnTo>
                <a:lnTo>
                  <a:pt x="336471" y="104835"/>
                </a:lnTo>
                <a:cubicBezTo>
                  <a:pt x="332452" y="93405"/>
                  <a:pt x="321647" y="85725"/>
                  <a:pt x="309503" y="85725"/>
                </a:cubicBezTo>
                <a:lnTo>
                  <a:pt x="147697" y="85725"/>
                </a:lnTo>
                <a:cubicBezTo>
                  <a:pt x="135553" y="85725"/>
                  <a:pt x="124748" y="93405"/>
                  <a:pt x="120729" y="104835"/>
                </a:cubicBezTo>
                <a:close/>
                <a:moveTo>
                  <a:pt x="35362" y="175736"/>
                </a:moveTo>
                <a:lnTo>
                  <a:pt x="66794" y="85993"/>
                </a:lnTo>
                <a:cubicBezTo>
                  <a:pt x="78849" y="51614"/>
                  <a:pt x="111264" y="28575"/>
                  <a:pt x="147697" y="28575"/>
                </a:cubicBezTo>
                <a:lnTo>
                  <a:pt x="309503" y="28575"/>
                </a:lnTo>
                <a:cubicBezTo>
                  <a:pt x="345936" y="28575"/>
                  <a:pt x="378351" y="51614"/>
                  <a:pt x="390406" y="85993"/>
                </a:cubicBezTo>
                <a:lnTo>
                  <a:pt x="421838" y="175736"/>
                </a:lnTo>
                <a:cubicBezTo>
                  <a:pt x="442555" y="184309"/>
                  <a:pt x="457200" y="204758"/>
                  <a:pt x="457200" y="2286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400050" y="428625"/>
                </a:lnTo>
                <a:cubicBezTo>
                  <a:pt x="384244" y="428625"/>
                  <a:pt x="371475" y="415856"/>
                  <a:pt x="371475" y="400050"/>
                </a:cubicBezTo>
                <a:lnTo>
                  <a:pt x="371475" y="371475"/>
                </a:lnTo>
                <a:lnTo>
                  <a:pt x="85725" y="371475"/>
                </a:lnTo>
                <a:lnTo>
                  <a:pt x="85725" y="400050"/>
                </a:lnTo>
                <a:cubicBezTo>
                  <a:pt x="85725" y="415856"/>
                  <a:pt x="72956" y="428625"/>
                  <a:pt x="57150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228600"/>
                </a:lnTo>
                <a:cubicBezTo>
                  <a:pt x="0" y="204758"/>
                  <a:pt x="14645" y="184309"/>
                  <a:pt x="35362" y="175736"/>
                </a:cubicBezTo>
                <a:close/>
                <a:moveTo>
                  <a:pt x="114300" y="271463"/>
                </a:moveTo>
                <a:cubicBezTo>
                  <a:pt x="114300" y="255692"/>
                  <a:pt x="101496" y="242888"/>
                  <a:pt x="85725" y="242888"/>
                </a:cubicBezTo>
                <a:cubicBezTo>
                  <a:pt x="69954" y="242888"/>
                  <a:pt x="57150" y="255692"/>
                  <a:pt x="57150" y="271463"/>
                </a:cubicBezTo>
                <a:cubicBezTo>
                  <a:pt x="57150" y="287233"/>
                  <a:pt x="69954" y="300038"/>
                  <a:pt x="85725" y="300038"/>
                </a:cubicBezTo>
                <a:cubicBezTo>
                  <a:pt x="101496" y="300038"/>
                  <a:pt x="114300" y="287233"/>
                  <a:pt x="114300" y="271463"/>
                </a:cubicBezTo>
                <a:close/>
                <a:moveTo>
                  <a:pt x="371475" y="300038"/>
                </a:moveTo>
                <a:cubicBezTo>
                  <a:pt x="387246" y="300038"/>
                  <a:pt x="400050" y="287233"/>
                  <a:pt x="400050" y="271463"/>
                </a:cubicBezTo>
                <a:cubicBezTo>
                  <a:pt x="400050" y="255692"/>
                  <a:pt x="387246" y="242888"/>
                  <a:pt x="371475" y="242888"/>
                </a:cubicBezTo>
                <a:cubicBezTo>
                  <a:pt x="355704" y="242888"/>
                  <a:pt x="342900" y="255692"/>
                  <a:pt x="342900" y="271463"/>
                </a:cubicBezTo>
                <a:cubicBezTo>
                  <a:pt x="342900" y="287233"/>
                  <a:pt x="355704" y="300038"/>
                  <a:pt x="371475" y="300038"/>
                </a:cubicBez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13" name="Text 11"/>
          <p:cNvSpPr/>
          <p:nvPr/>
        </p:nvSpPr>
        <p:spPr>
          <a:xfrm>
            <a:off x="1625600" y="2514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自动驾驶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3048000"/>
            <a:ext cx="6667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特斯拉FSD、Waymo等实现感知-决策-控制全链路自主化。L4级自动驾驶已在特定场景下商业化运营，多智能体协同支撑复杂交通实时决策。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2286000"/>
            <a:ext cx="7175500" cy="18796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72500" y="2514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17" name="Text 15"/>
          <p:cNvSpPr/>
          <p:nvPr/>
        </p:nvSpPr>
        <p:spPr>
          <a:xfrm>
            <a:off x="9182100" y="2514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医疗健康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2500" y="3048000"/>
            <a:ext cx="6667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肺结节筛查敏感度达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98.6%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，分析速度较人工快200倍。基因组数据驱动的个性化治疗使乳腺癌靶向治疗成功率提升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419600"/>
            <a:ext cx="7175500" cy="18796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1" name="Text 19"/>
          <p:cNvSpPr/>
          <p:nvPr/>
        </p:nvSpPr>
        <p:spPr>
          <a:xfrm>
            <a:off x="1625600" y="46482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金融科技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6000" y="5181600"/>
            <a:ext cx="6667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招商银行Agent系统信用卡欺诈识别准确率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99.98%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，误报率下降80%。量化基金智能体年化收益达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21.5%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，最大回撤控制在3%以内。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18500" y="4419600"/>
            <a:ext cx="7175500" cy="18796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25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5" name="Text 23"/>
          <p:cNvSpPr/>
          <p:nvPr/>
        </p:nvSpPr>
        <p:spPr>
          <a:xfrm>
            <a:off x="9182100" y="46482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工业制造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72500" y="5181600"/>
            <a:ext cx="6667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DeepAgent工业智能体实现质检效率提升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，排产从天级缩短至秒级。设备故障预测维护系统大幅降低产线停机损失。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553200"/>
            <a:ext cx="7175500" cy="18796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678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29" name="Text 27"/>
          <p:cNvSpPr/>
          <p:nvPr/>
        </p:nvSpPr>
        <p:spPr>
          <a:xfrm>
            <a:off x="1625600" y="67818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教育培训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16000" y="7315200"/>
            <a:ext cx="6667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Agent可根据学生目标自动拆解学习计划，主动推送薄弱知识点复习。预计2026年全球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7B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医疗机构将部署AI健康顾问智能体。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8500" y="6553200"/>
            <a:ext cx="7175500" cy="1879600"/>
          </a:xfrm>
          <a:prstGeom prst="roundRect">
            <a:avLst>
              <a:gd name="adj" fmla="val 6000"/>
            </a:avLst>
          </a:prstGeom>
          <a:solidFill>
            <a:srgbClr val="E6F0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572500" y="678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4000" y="0"/>
                </a:moveTo>
                <a:cubicBezTo>
                  <a:pt x="225981" y="0"/>
                  <a:pt x="203200" y="25628"/>
                  <a:pt x="203200" y="57150"/>
                </a:cubicBezTo>
                <a:lnTo>
                  <a:pt x="203200" y="85725"/>
                </a:lnTo>
                <a:lnTo>
                  <a:pt x="165100" y="85725"/>
                </a:lnTo>
                <a:lnTo>
                  <a:pt x="165100" y="21431"/>
                </a:lnTo>
                <a:cubicBezTo>
                  <a:pt x="165100" y="9555"/>
                  <a:pt x="156607" y="0"/>
                  <a:pt x="146050" y="0"/>
                </a:cubicBezTo>
                <a:cubicBezTo>
                  <a:pt x="135493" y="0"/>
                  <a:pt x="127000" y="9555"/>
                  <a:pt x="127000" y="21431"/>
                </a:cubicBezTo>
                <a:lnTo>
                  <a:pt x="127000" y="85725"/>
                </a:lnTo>
                <a:lnTo>
                  <a:pt x="76200" y="85725"/>
                </a:lnTo>
                <a:lnTo>
                  <a:pt x="76200" y="21431"/>
                </a:lnTo>
                <a:cubicBezTo>
                  <a:pt x="76200" y="9555"/>
                  <a:pt x="67707" y="0"/>
                  <a:pt x="57150" y="0"/>
                </a:cubicBezTo>
                <a:cubicBezTo>
                  <a:pt x="46593" y="0"/>
                  <a:pt x="38100" y="9555"/>
                  <a:pt x="38100" y="21431"/>
                </a:cubicBezTo>
                <a:lnTo>
                  <a:pt x="38100" y="87511"/>
                </a:lnTo>
                <a:cubicBezTo>
                  <a:pt x="16193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2781" y="457200"/>
                  <a:pt x="50800" y="457200"/>
                </a:cubicBezTo>
                <a:lnTo>
                  <a:pt x="406400" y="457200"/>
                </a:lnTo>
                <a:cubicBezTo>
                  <a:pt x="434419" y="457200"/>
                  <a:pt x="457200" y="431572"/>
                  <a:pt x="457200" y="400050"/>
                </a:cubicBezTo>
                <a:lnTo>
                  <a:pt x="457200" y="228600"/>
                </a:lnTo>
                <a:cubicBezTo>
                  <a:pt x="457200" y="197078"/>
                  <a:pt x="434419" y="171450"/>
                  <a:pt x="406400" y="171450"/>
                </a:cubicBezTo>
                <a:lnTo>
                  <a:pt x="355600" y="171450"/>
                </a:lnTo>
                <a:lnTo>
                  <a:pt x="355600" y="57150"/>
                </a:lnTo>
                <a:cubicBezTo>
                  <a:pt x="355600" y="25628"/>
                  <a:pt x="332819" y="0"/>
                  <a:pt x="304800" y="0"/>
                </a:cubicBezTo>
                <a:lnTo>
                  <a:pt x="254000" y="0"/>
                </a:lnTo>
                <a:close/>
                <a:moveTo>
                  <a:pt x="304800" y="100013"/>
                </a:moveTo>
                <a:lnTo>
                  <a:pt x="304800" y="128588"/>
                </a:lnTo>
                <a:cubicBezTo>
                  <a:pt x="304800" y="136446"/>
                  <a:pt x="299085" y="142875"/>
                  <a:pt x="292100" y="142875"/>
                </a:cubicBezTo>
                <a:lnTo>
                  <a:pt x="266700" y="142875"/>
                </a:lnTo>
                <a:cubicBezTo>
                  <a:pt x="259715" y="142875"/>
                  <a:pt x="254000" y="136446"/>
                  <a:pt x="254000" y="128588"/>
                </a:cubicBezTo>
                <a:lnTo>
                  <a:pt x="254000" y="100013"/>
                </a:lnTo>
                <a:cubicBezTo>
                  <a:pt x="254000" y="92154"/>
                  <a:pt x="259715" y="85725"/>
                  <a:pt x="266700" y="85725"/>
                </a:cubicBezTo>
                <a:lnTo>
                  <a:pt x="292100" y="85725"/>
                </a:lnTo>
                <a:cubicBezTo>
                  <a:pt x="299085" y="85725"/>
                  <a:pt x="304800" y="92154"/>
                  <a:pt x="304800" y="100013"/>
                </a:cubicBezTo>
                <a:close/>
                <a:moveTo>
                  <a:pt x="292100" y="171450"/>
                </a:moveTo>
                <a:cubicBezTo>
                  <a:pt x="299085" y="171450"/>
                  <a:pt x="304800" y="177879"/>
                  <a:pt x="304800" y="185738"/>
                </a:cubicBezTo>
                <a:lnTo>
                  <a:pt x="304800" y="214313"/>
                </a:lnTo>
                <a:cubicBezTo>
                  <a:pt x="304800" y="222171"/>
                  <a:pt x="299085" y="228600"/>
                  <a:pt x="292100" y="228600"/>
                </a:cubicBezTo>
                <a:lnTo>
                  <a:pt x="266700" y="228600"/>
                </a:lnTo>
                <a:cubicBezTo>
                  <a:pt x="259715" y="228600"/>
                  <a:pt x="254000" y="222171"/>
                  <a:pt x="254000" y="214313"/>
                </a:cubicBezTo>
                <a:lnTo>
                  <a:pt x="254000" y="185738"/>
                </a:lnTo>
                <a:cubicBezTo>
                  <a:pt x="254000" y="177879"/>
                  <a:pt x="259715" y="171450"/>
                  <a:pt x="266700" y="171450"/>
                </a:cubicBezTo>
                <a:lnTo>
                  <a:pt x="292100" y="171450"/>
                </a:lnTo>
                <a:close/>
                <a:moveTo>
                  <a:pt x="304800" y="271463"/>
                </a:moveTo>
                <a:lnTo>
                  <a:pt x="304800" y="300038"/>
                </a:lnTo>
                <a:cubicBezTo>
                  <a:pt x="304800" y="307896"/>
                  <a:pt x="299085" y="314325"/>
                  <a:pt x="292100" y="314325"/>
                </a:cubicBezTo>
                <a:lnTo>
                  <a:pt x="266700" y="314325"/>
                </a:lnTo>
                <a:cubicBezTo>
                  <a:pt x="259715" y="314325"/>
                  <a:pt x="254000" y="307896"/>
                  <a:pt x="254000" y="300038"/>
                </a:cubicBezTo>
                <a:lnTo>
                  <a:pt x="254000" y="271463"/>
                </a:lnTo>
                <a:cubicBezTo>
                  <a:pt x="254000" y="263604"/>
                  <a:pt x="259715" y="257175"/>
                  <a:pt x="266700" y="257175"/>
                </a:cubicBezTo>
                <a:lnTo>
                  <a:pt x="292100" y="257175"/>
                </a:lnTo>
                <a:cubicBezTo>
                  <a:pt x="299085" y="257175"/>
                  <a:pt x="304800" y="263604"/>
                  <a:pt x="304800" y="271463"/>
                </a:cubicBezTo>
                <a:close/>
                <a:moveTo>
                  <a:pt x="393700" y="257175"/>
                </a:moveTo>
                <a:cubicBezTo>
                  <a:pt x="400685" y="257175"/>
                  <a:pt x="406400" y="263604"/>
                  <a:pt x="406400" y="271463"/>
                </a:cubicBezTo>
                <a:lnTo>
                  <a:pt x="406400" y="300038"/>
                </a:lnTo>
                <a:cubicBezTo>
                  <a:pt x="406400" y="307896"/>
                  <a:pt x="400685" y="314325"/>
                  <a:pt x="393700" y="314325"/>
                </a:cubicBezTo>
                <a:lnTo>
                  <a:pt x="368300" y="314325"/>
                </a:lnTo>
                <a:cubicBezTo>
                  <a:pt x="361315" y="314325"/>
                  <a:pt x="355600" y="307896"/>
                  <a:pt x="355600" y="300038"/>
                </a:cubicBezTo>
                <a:lnTo>
                  <a:pt x="355600" y="271463"/>
                </a:lnTo>
                <a:cubicBezTo>
                  <a:pt x="355600" y="263604"/>
                  <a:pt x="361315" y="257175"/>
                  <a:pt x="368300" y="257175"/>
                </a:cubicBezTo>
                <a:lnTo>
                  <a:pt x="393700" y="257175"/>
                </a:lnTo>
                <a:close/>
                <a:moveTo>
                  <a:pt x="203200" y="271463"/>
                </a:moveTo>
                <a:lnTo>
                  <a:pt x="203200" y="300038"/>
                </a:lnTo>
                <a:cubicBezTo>
                  <a:pt x="203200" y="307896"/>
                  <a:pt x="197485" y="314325"/>
                  <a:pt x="190500" y="314325"/>
                </a:cubicBezTo>
                <a:lnTo>
                  <a:pt x="165100" y="314325"/>
                </a:lnTo>
                <a:cubicBezTo>
                  <a:pt x="158115" y="314325"/>
                  <a:pt x="152400" y="307896"/>
                  <a:pt x="152400" y="300038"/>
                </a:cubicBezTo>
                <a:lnTo>
                  <a:pt x="152400" y="271463"/>
                </a:lnTo>
                <a:cubicBezTo>
                  <a:pt x="152400" y="263604"/>
                  <a:pt x="158115" y="257175"/>
                  <a:pt x="165100" y="257175"/>
                </a:cubicBezTo>
                <a:lnTo>
                  <a:pt x="190500" y="257175"/>
                </a:lnTo>
                <a:cubicBezTo>
                  <a:pt x="197485" y="257175"/>
                  <a:pt x="203200" y="263604"/>
                  <a:pt x="203200" y="271463"/>
                </a:cubicBezTo>
                <a:close/>
                <a:moveTo>
                  <a:pt x="190500" y="171450"/>
                </a:moveTo>
                <a:cubicBezTo>
                  <a:pt x="197485" y="171450"/>
                  <a:pt x="203200" y="177879"/>
                  <a:pt x="203200" y="185738"/>
                </a:cubicBezTo>
                <a:lnTo>
                  <a:pt x="203200" y="214313"/>
                </a:lnTo>
                <a:cubicBezTo>
                  <a:pt x="203200" y="222171"/>
                  <a:pt x="197485" y="228600"/>
                  <a:pt x="190500" y="228600"/>
                </a:cubicBezTo>
                <a:lnTo>
                  <a:pt x="165100" y="228600"/>
                </a:lnTo>
                <a:cubicBezTo>
                  <a:pt x="158115" y="228600"/>
                  <a:pt x="152400" y="222171"/>
                  <a:pt x="152400" y="214313"/>
                </a:cubicBezTo>
                <a:lnTo>
                  <a:pt x="152400" y="185738"/>
                </a:lnTo>
                <a:cubicBezTo>
                  <a:pt x="152400" y="177879"/>
                  <a:pt x="158115" y="171450"/>
                  <a:pt x="165100" y="171450"/>
                </a:cubicBezTo>
                <a:lnTo>
                  <a:pt x="190500" y="171450"/>
                </a:lnTo>
                <a:close/>
                <a:moveTo>
                  <a:pt x="101600" y="271463"/>
                </a:moveTo>
                <a:lnTo>
                  <a:pt x="101600" y="300038"/>
                </a:lnTo>
                <a:cubicBezTo>
                  <a:pt x="101600" y="307896"/>
                  <a:pt x="95885" y="314325"/>
                  <a:pt x="88900" y="314325"/>
                </a:cubicBezTo>
                <a:lnTo>
                  <a:pt x="63500" y="314325"/>
                </a:lnTo>
                <a:cubicBezTo>
                  <a:pt x="56515" y="314325"/>
                  <a:pt x="50800" y="307896"/>
                  <a:pt x="50800" y="300038"/>
                </a:cubicBezTo>
                <a:lnTo>
                  <a:pt x="50800" y="271463"/>
                </a:lnTo>
                <a:cubicBezTo>
                  <a:pt x="50800" y="263604"/>
                  <a:pt x="56515" y="257175"/>
                  <a:pt x="63500" y="257175"/>
                </a:cubicBezTo>
                <a:lnTo>
                  <a:pt x="88900" y="257175"/>
                </a:lnTo>
                <a:cubicBezTo>
                  <a:pt x="95885" y="257175"/>
                  <a:pt x="101600" y="263604"/>
                  <a:pt x="101600" y="271463"/>
                </a:cubicBezTo>
                <a:close/>
                <a:moveTo>
                  <a:pt x="88900" y="171450"/>
                </a:moveTo>
                <a:cubicBezTo>
                  <a:pt x="95885" y="171450"/>
                  <a:pt x="101600" y="177879"/>
                  <a:pt x="101600" y="185738"/>
                </a:cubicBezTo>
                <a:lnTo>
                  <a:pt x="101600" y="214313"/>
                </a:lnTo>
                <a:cubicBezTo>
                  <a:pt x="101600" y="222171"/>
                  <a:pt x="95885" y="228600"/>
                  <a:pt x="88900" y="228600"/>
                </a:cubicBezTo>
                <a:lnTo>
                  <a:pt x="63500" y="228600"/>
                </a:lnTo>
                <a:cubicBezTo>
                  <a:pt x="56515" y="228600"/>
                  <a:pt x="50800" y="222171"/>
                  <a:pt x="50800" y="214313"/>
                </a:cubicBezTo>
                <a:lnTo>
                  <a:pt x="50800" y="185738"/>
                </a:lnTo>
                <a:cubicBezTo>
                  <a:pt x="50800" y="177879"/>
                  <a:pt x="56515" y="171450"/>
                  <a:pt x="63500" y="171450"/>
                </a:cubicBezTo>
                <a:lnTo>
                  <a:pt x="88900" y="171450"/>
                </a:lnTo>
                <a:close/>
              </a:path>
            </a:pathLst>
          </a:custGeom>
          <a:solidFill>
            <a:srgbClr val="005C8F"/>
          </a:solidFill>
          <a:ln/>
        </p:spPr>
      </p:sp>
      <p:sp>
        <p:nvSpPr>
          <p:cNvPr id="33" name="Text 31"/>
          <p:cNvSpPr/>
          <p:nvPr/>
        </p:nvSpPr>
        <p:spPr>
          <a:xfrm>
            <a:off x="9182100" y="67818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智慧城市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72500" y="7315200"/>
            <a:ext cx="6667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联想城市超级智能体通过人智协同实现城市治理智能化。多Agent系统优化交通流量、能源调度与公共服务，提升城市运行效率与居民体验。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智能体背景与意义 - 智能体广泛应用</dc:title>
  <dc:subject>智能体背景与意义 - 智能体广泛应用</dc:subject>
  <dc:creator>Kimi</dc:creator>
  <cp:lastModifiedBy>Kimi</cp:lastModifiedBy>
  <cp:revision>1</cp:revision>
  <dcterms:created xsi:type="dcterms:W3CDTF">2026-06-20T13:37:02Z</dcterms:created>
  <dcterms:modified xsi:type="dcterms:W3CDTF">2026-06-20T13:37:02Z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{"Label":"智能体背景与意义 - 智能体广泛应用","ContentProducer":"001191110108MACG2KBH8F10000","ProduceID":"19ee539a-7022-8ac6-8000-000074a74949","ReservedCode1":"","ContentPropagator":"001191110108MACG2KBH8F20000","PropagateID":"19ee528b-5122-8cdd-8000-091226114ca8","ReservedCode2":""}</vt:lpwstr>
  </property>
</Properties>
</file>