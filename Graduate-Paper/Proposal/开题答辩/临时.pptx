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77" r:id="rId3"/>
    <p:sldId id="278" r:id="rId5"/>
  </p:sldIdLst>
  <p:sldSz cx="16256000" cy="9144000"/>
  <p:notesSz cx="9144000" cy="1625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598400" y="1219200"/>
            <a:ext cx="13065600" cy="34272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8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598400" y="4747200"/>
            <a:ext cx="13065600" cy="19632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3200" spc="200"/>
            </a:lvl1pPr>
            <a:lvl2pPr marL="609600" indent="0" algn="ctr">
              <a:buNone/>
              <a:defRPr sz="2665"/>
            </a:lvl2pPr>
            <a:lvl3pPr marL="1219200" indent="0" algn="ctr">
              <a:buNone/>
              <a:defRPr sz="2400"/>
            </a:lvl3pPr>
            <a:lvl4pPr marL="1828800" indent="0" algn="ctr">
              <a:buNone/>
              <a:defRPr sz="2135"/>
            </a:lvl4pPr>
            <a:lvl5pPr marL="2438400" indent="0" algn="ctr">
              <a:buNone/>
              <a:defRPr sz="2135"/>
            </a:lvl5pPr>
            <a:lvl6pPr marL="3048000" indent="0" algn="ctr">
              <a:buNone/>
              <a:defRPr sz="2135"/>
            </a:lvl6pPr>
            <a:lvl7pPr marL="3657600" indent="0" algn="ctr">
              <a:buNone/>
              <a:defRPr sz="2135"/>
            </a:lvl7pPr>
            <a:lvl8pPr marL="4267200" indent="0" algn="ctr">
              <a:buNone/>
              <a:defRPr sz="2135"/>
            </a:lvl8pPr>
            <a:lvl9pPr marL="4876800" indent="0" algn="ctr">
              <a:buNone/>
              <a:defRPr sz="2135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16000" y="8419200"/>
            <a:ext cx="3600000" cy="422400"/>
          </a:xfrm>
        </p:spPr>
        <p:txBody>
          <a:bodyPr/>
          <a:lstStyle/>
          <a:p>
            <a:fld id="{93CBA602-00DB-4BC5-AF0E-E8CF46ADAD71}" type="datetime1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5488000" y="8419200"/>
            <a:ext cx="5280000" cy="4224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11836800" y="8419200"/>
            <a:ext cx="3600000" cy="4224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13.xml"/><Relationship Id="rId8" Type="http://schemas.openxmlformats.org/officeDocument/2006/relationships/tags" Target="../tags/tag12.xml"/><Relationship Id="rId7" Type="http://schemas.openxmlformats.org/officeDocument/2006/relationships/tags" Target="../tags/tag11.xml"/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2" Type="http://schemas.openxmlformats.org/officeDocument/2006/relationships/notesSlide" Target="../notesSlides/notesSlide1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24.xml"/><Relationship Id="rId2" Type="http://schemas.openxmlformats.org/officeDocument/2006/relationships/tags" Target="../tags/tag6.xml"/><Relationship Id="rId19" Type="http://schemas.openxmlformats.org/officeDocument/2006/relationships/tags" Target="../tags/tag23.xml"/><Relationship Id="rId18" Type="http://schemas.openxmlformats.org/officeDocument/2006/relationships/tags" Target="../tags/tag22.xml"/><Relationship Id="rId17" Type="http://schemas.openxmlformats.org/officeDocument/2006/relationships/tags" Target="../tags/tag21.xml"/><Relationship Id="rId16" Type="http://schemas.openxmlformats.org/officeDocument/2006/relationships/tags" Target="../tags/tag20.xml"/><Relationship Id="rId15" Type="http://schemas.openxmlformats.org/officeDocument/2006/relationships/tags" Target="../tags/tag19.xml"/><Relationship Id="rId14" Type="http://schemas.openxmlformats.org/officeDocument/2006/relationships/tags" Target="../tags/tag18.xml"/><Relationship Id="rId13" Type="http://schemas.openxmlformats.org/officeDocument/2006/relationships/tags" Target="../tags/tag17.xml"/><Relationship Id="rId12" Type="http://schemas.openxmlformats.org/officeDocument/2006/relationships/tags" Target="../tags/tag16.xml"/><Relationship Id="rId11" Type="http://schemas.openxmlformats.org/officeDocument/2006/relationships/tags" Target="../tags/tag15.xml"/><Relationship Id="rId10" Type="http://schemas.openxmlformats.org/officeDocument/2006/relationships/tags" Target="../tags/tag14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9" Type="http://schemas.openxmlformats.org/officeDocument/2006/relationships/notesSlide" Target="../notesSlides/notesSlide2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40.xml"/><Relationship Id="rId16" Type="http://schemas.openxmlformats.org/officeDocument/2006/relationships/tags" Target="../tags/tag39.xml"/><Relationship Id="rId15" Type="http://schemas.openxmlformats.org/officeDocument/2006/relationships/tags" Target="../tags/tag38.xml"/><Relationship Id="rId14" Type="http://schemas.openxmlformats.org/officeDocument/2006/relationships/tags" Target="../tags/tag37.xml"/><Relationship Id="rId13" Type="http://schemas.openxmlformats.org/officeDocument/2006/relationships/tags" Target="../tags/tag36.xml"/><Relationship Id="rId12" Type="http://schemas.openxmlformats.org/officeDocument/2006/relationships/tags" Target="../tags/tag35.xml"/><Relationship Id="rId11" Type="http://schemas.openxmlformats.org/officeDocument/2006/relationships/tags" Target="../tags/tag34.xml"/><Relationship Id="rId10" Type="http://schemas.openxmlformats.org/officeDocument/2006/relationships/tags" Target="../tags/tag33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19960" y="0"/>
            <a:ext cx="2895600" cy="9626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162169" y="-889"/>
            <a:ext cx="2590800" cy="962660"/>
          </a:xfrm>
          <a:prstGeom prst="rect">
            <a:avLst/>
          </a:prstGeom>
          <a:solidFill>
            <a:srgbClr val="04579A"/>
          </a:solidFill>
          <a:ln w="12700">
            <a:solidFill>
              <a:srgbClr val="0457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16469" y="-889"/>
            <a:ext cx="4114800" cy="962660"/>
          </a:xfrm>
          <a:prstGeom prst="rect">
            <a:avLst/>
          </a:prstGeom>
          <a:solidFill>
            <a:srgbClr val="F2F2F2"/>
          </a:solidFill>
        </p:spPr>
      </p:sp>
      <p:sp>
        <p:nvSpPr>
          <p:cNvPr id="5" name="Shape 3"/>
          <p:cNvSpPr/>
          <p:nvPr/>
        </p:nvSpPr>
        <p:spPr>
          <a:xfrm>
            <a:off x="11971020" y="0"/>
            <a:ext cx="4284980" cy="961771"/>
          </a:xfrm>
          <a:prstGeom prst="rect">
            <a:avLst/>
          </a:prstGeom>
          <a:solidFill>
            <a:srgbClr val="F2F2F2"/>
          </a:solidFill>
        </p:spPr>
      </p:sp>
      <p:sp>
        <p:nvSpPr>
          <p:cNvPr id="6" name="Shape 4"/>
          <p:cNvSpPr/>
          <p:nvPr/>
        </p:nvSpPr>
        <p:spPr>
          <a:xfrm>
            <a:off x="2283460" y="203200"/>
            <a:ext cx="2768600" cy="508000"/>
          </a:xfrm>
          <a:prstGeom prst="rect">
            <a:avLst/>
          </a:prstGeom>
          <a:noFill/>
        </p:spPr>
      </p:sp>
      <p:sp>
        <p:nvSpPr>
          <p:cNvPr id="7" name="Text 5"/>
          <p:cNvSpPr/>
          <p:nvPr/>
        </p:nvSpPr>
        <p:spPr>
          <a:xfrm>
            <a:off x="2161540" y="142240"/>
            <a:ext cx="3012440" cy="629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选题背景及意义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225669" y="203200"/>
            <a:ext cx="2463800" cy="508000"/>
          </a:xfrm>
          <a:prstGeom prst="rect">
            <a:avLst/>
          </a:prstGeom>
          <a:noFill/>
        </p:spPr>
      </p:sp>
      <p:sp>
        <p:nvSpPr>
          <p:cNvPr id="9" name="Text 7"/>
          <p:cNvSpPr/>
          <p:nvPr/>
        </p:nvSpPr>
        <p:spPr>
          <a:xfrm>
            <a:off x="5103749" y="142240"/>
            <a:ext cx="2707640" cy="629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国内外研究现状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879969" y="203200"/>
            <a:ext cx="3987800" cy="508000"/>
          </a:xfrm>
          <a:prstGeom prst="rect">
            <a:avLst/>
          </a:prstGeom>
          <a:noFill/>
        </p:spPr>
      </p:sp>
      <p:sp>
        <p:nvSpPr>
          <p:cNvPr id="11" name="Text 9"/>
          <p:cNvSpPr/>
          <p:nvPr/>
        </p:nvSpPr>
        <p:spPr>
          <a:xfrm>
            <a:off x="7758049" y="142240"/>
            <a:ext cx="4231640" cy="629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主要研究内容及预期目标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034520" y="203200"/>
            <a:ext cx="4157980" cy="508000"/>
          </a:xfrm>
          <a:prstGeom prst="rect">
            <a:avLst/>
          </a:prstGeom>
          <a:noFill/>
        </p:spPr>
      </p:sp>
      <p:sp>
        <p:nvSpPr>
          <p:cNvPr id="13" name="Text 11"/>
          <p:cNvSpPr/>
          <p:nvPr/>
        </p:nvSpPr>
        <p:spPr>
          <a:xfrm>
            <a:off x="11912600" y="142240"/>
            <a:ext cx="4401820" cy="629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工作计划与进度安排</a:t>
            </a:r>
            <a:endParaRPr lang="en-US" sz="2000" dirty="0"/>
          </a:p>
        </p:txBody>
      </p:sp>
      <p:pic>
        <p:nvPicPr>
          <p:cNvPr id="14" name="Image 0" descr="https://kimi-img.moonshot.cn/pub/slides/okc/flfuysioo4gzm/mnt/agents/output/new_pptd/images/image_2.jpg"/>
          <p:cNvPicPr>
            <a:picLocks noChangeAspect="1"/>
          </p:cNvPicPr>
          <p:nvPr/>
        </p:nvPicPr>
        <p:blipFill>
          <a:blip r:embed="rId1"/>
          <a:srcRect l="5060" r="29000"/>
          <a:stretch>
            <a:fillRect/>
          </a:stretch>
        </p:blipFill>
        <p:spPr>
          <a:xfrm>
            <a:off x="544449" y="140589"/>
            <a:ext cx="1273429" cy="745871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 rot="10800000">
            <a:off x="6379591" y="961771"/>
            <a:ext cx="389509" cy="304800"/>
          </a:xfrm>
          <a:prstGeom prst="triangle">
            <a:avLst>
              <a:gd name="adj" fmla="val 50000"/>
            </a:avLst>
          </a:prstGeom>
          <a:solidFill>
            <a:srgbClr val="04579A"/>
          </a:solidFill>
        </p:spPr>
      </p:sp>
      <p:sp>
        <p:nvSpPr>
          <p:cNvPr id="16" name="Shape 13"/>
          <p:cNvSpPr/>
          <p:nvPr/>
        </p:nvSpPr>
        <p:spPr>
          <a:xfrm>
            <a:off x="762000" y="1333500"/>
            <a:ext cx="11430000" cy="533400"/>
          </a:xfrm>
          <a:prstGeom prst="rect">
            <a:avLst/>
          </a:prstGeom>
          <a:noFill/>
        </p:spPr>
      </p:sp>
      <p:sp>
        <p:nvSpPr>
          <p:cNvPr id="17" name="Text 14"/>
          <p:cNvSpPr/>
          <p:nvPr/>
        </p:nvSpPr>
        <p:spPr>
          <a:xfrm>
            <a:off x="640080" y="1272540"/>
            <a:ext cx="11673840" cy="655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04579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传统授权协议研究现状</a:t>
            </a:r>
            <a:endParaRPr lang="en-US" sz="2800" dirty="0"/>
          </a:p>
        </p:txBody>
      </p:sp>
      <p:sp>
        <p:nvSpPr>
          <p:cNvPr id="18" name="Shape 15"/>
          <p:cNvSpPr/>
          <p:nvPr>
            <p:custDataLst>
              <p:tags r:id="rId2"/>
            </p:custDataLst>
          </p:nvPr>
        </p:nvSpPr>
        <p:spPr>
          <a:xfrm>
            <a:off x="1397000" y="2032000"/>
            <a:ext cx="38100" cy="6413500"/>
          </a:xfrm>
          <a:prstGeom prst="rect">
            <a:avLst/>
          </a:prstGeom>
          <a:solidFill>
            <a:srgbClr val="04579A"/>
          </a:solidFill>
        </p:spPr>
      </p:sp>
      <p:sp>
        <p:nvSpPr>
          <p:cNvPr id="19" name="Shape 16"/>
          <p:cNvSpPr/>
          <p:nvPr>
            <p:custDataLst>
              <p:tags r:id="rId3"/>
            </p:custDataLst>
          </p:nvPr>
        </p:nvSpPr>
        <p:spPr>
          <a:xfrm>
            <a:off x="1282700" y="2095500"/>
            <a:ext cx="266700" cy="266700"/>
          </a:xfrm>
          <a:prstGeom prst="ellipse">
            <a:avLst/>
          </a:prstGeom>
          <a:solidFill>
            <a:srgbClr val="04579A"/>
          </a:solidFill>
        </p:spPr>
      </p:sp>
      <p:sp>
        <p:nvSpPr>
          <p:cNvPr id="20" name="Shape 17"/>
          <p:cNvSpPr/>
          <p:nvPr/>
        </p:nvSpPr>
        <p:spPr>
          <a:xfrm>
            <a:off x="508000" y="2070100"/>
            <a:ext cx="736600" cy="304800"/>
          </a:xfrm>
          <a:prstGeom prst="rect">
            <a:avLst/>
          </a:prstGeom>
          <a:noFill/>
        </p:spPr>
      </p:sp>
      <p:sp>
        <p:nvSpPr>
          <p:cNvPr id="21" name="Text 18"/>
          <p:cNvSpPr/>
          <p:nvPr>
            <p:custDataLst>
              <p:tags r:id="rId4"/>
            </p:custDataLst>
          </p:nvPr>
        </p:nvSpPr>
        <p:spPr>
          <a:xfrm>
            <a:off x="259080" y="2009140"/>
            <a:ext cx="980440" cy="4267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400" b="1" dirty="0">
                <a:solidFill>
                  <a:srgbClr val="04579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1970s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714500" y="2032000"/>
            <a:ext cx="6858000" cy="787400"/>
          </a:xfrm>
          <a:prstGeom prst="rect">
            <a:avLst/>
          </a:prstGeom>
          <a:noFill/>
        </p:spPr>
      </p:sp>
      <p:sp>
        <p:nvSpPr>
          <p:cNvPr id="23" name="Text 20"/>
          <p:cNvSpPr/>
          <p:nvPr>
            <p:custDataLst>
              <p:tags r:id="rId5"/>
            </p:custDataLst>
          </p:nvPr>
        </p:nvSpPr>
        <p:spPr>
          <a:xfrm>
            <a:off x="1592580" y="1971040"/>
            <a:ext cx="7101840" cy="909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BLP [4] / Biba [5]</a:t>
            </a:r>
            <a:r>
              <a:rPr lang="en-US" sz="1600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— Bell-LaPadula机密性模型与Biba完整性模型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6666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MAC强制访问控制双支柱</a:t>
            </a:r>
            <a:endParaRPr lang="en-US" sz="1600" dirty="0"/>
          </a:p>
        </p:txBody>
      </p:sp>
      <p:sp>
        <p:nvSpPr>
          <p:cNvPr id="24" name="Shape 21"/>
          <p:cNvSpPr/>
          <p:nvPr>
            <p:custDataLst>
              <p:tags r:id="rId6"/>
            </p:custDataLst>
          </p:nvPr>
        </p:nvSpPr>
        <p:spPr>
          <a:xfrm>
            <a:off x="1262380" y="3149600"/>
            <a:ext cx="266700" cy="266700"/>
          </a:xfrm>
          <a:prstGeom prst="ellipse">
            <a:avLst/>
          </a:prstGeom>
          <a:solidFill>
            <a:srgbClr val="04579A"/>
          </a:solidFill>
        </p:spPr>
      </p:sp>
      <p:sp>
        <p:nvSpPr>
          <p:cNvPr id="25" name="Shape 22"/>
          <p:cNvSpPr/>
          <p:nvPr/>
        </p:nvSpPr>
        <p:spPr>
          <a:xfrm>
            <a:off x="441960" y="3124200"/>
            <a:ext cx="635000" cy="304800"/>
          </a:xfrm>
          <a:prstGeom prst="rect">
            <a:avLst/>
          </a:prstGeom>
          <a:noFill/>
        </p:spPr>
      </p:sp>
      <p:sp>
        <p:nvSpPr>
          <p:cNvPr id="26" name="Text 23"/>
          <p:cNvSpPr/>
          <p:nvPr>
            <p:custDataLst>
              <p:tags r:id="rId7"/>
            </p:custDataLst>
          </p:nvPr>
        </p:nvSpPr>
        <p:spPr>
          <a:xfrm>
            <a:off x="320040" y="3063240"/>
            <a:ext cx="878840" cy="4267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400" b="1" dirty="0">
                <a:solidFill>
                  <a:srgbClr val="04579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1996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732280" y="3098800"/>
            <a:ext cx="6858000" cy="787400"/>
          </a:xfrm>
          <a:prstGeom prst="rect">
            <a:avLst/>
          </a:prstGeom>
          <a:noFill/>
        </p:spPr>
      </p:sp>
      <p:sp>
        <p:nvSpPr>
          <p:cNvPr id="28" name="Text 25"/>
          <p:cNvSpPr/>
          <p:nvPr>
            <p:custDataLst>
              <p:tags r:id="rId8"/>
            </p:custDataLst>
          </p:nvPr>
        </p:nvSpPr>
        <p:spPr>
          <a:xfrm>
            <a:off x="1610360" y="3037840"/>
            <a:ext cx="7101840" cy="909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RBAC [9] / NIST RBAC [10]</a:t>
            </a:r>
            <a:r>
              <a:rPr lang="en-US" sz="1600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— Sandhu角色访问控制模型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6666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角色抽象简化权限管理</a:t>
            </a:r>
            <a:endParaRPr lang="en-US" sz="1600" dirty="0"/>
          </a:p>
        </p:txBody>
      </p:sp>
      <p:sp>
        <p:nvSpPr>
          <p:cNvPr id="29" name="Shape 26"/>
          <p:cNvSpPr/>
          <p:nvPr>
            <p:custDataLst>
              <p:tags r:id="rId9"/>
            </p:custDataLst>
          </p:nvPr>
        </p:nvSpPr>
        <p:spPr>
          <a:xfrm>
            <a:off x="1244600" y="4114800"/>
            <a:ext cx="266700" cy="266700"/>
          </a:xfrm>
          <a:prstGeom prst="ellipse">
            <a:avLst/>
          </a:prstGeom>
          <a:solidFill>
            <a:srgbClr val="04579A"/>
          </a:solidFill>
        </p:spPr>
      </p:sp>
      <p:sp>
        <p:nvSpPr>
          <p:cNvPr id="30" name="Shape 27"/>
          <p:cNvSpPr/>
          <p:nvPr/>
        </p:nvSpPr>
        <p:spPr>
          <a:xfrm>
            <a:off x="604520" y="4089400"/>
            <a:ext cx="635000" cy="304800"/>
          </a:xfrm>
          <a:prstGeom prst="rect">
            <a:avLst/>
          </a:prstGeom>
          <a:noFill/>
        </p:spPr>
      </p:sp>
      <p:sp>
        <p:nvSpPr>
          <p:cNvPr id="31" name="Text 28"/>
          <p:cNvSpPr/>
          <p:nvPr>
            <p:custDataLst>
              <p:tags r:id="rId10"/>
            </p:custDataLst>
          </p:nvPr>
        </p:nvSpPr>
        <p:spPr>
          <a:xfrm>
            <a:off x="302260" y="4028440"/>
            <a:ext cx="878840" cy="4267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300" b="1" dirty="0">
                <a:solidFill>
                  <a:srgbClr val="04579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2012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1714500" y="4064000"/>
            <a:ext cx="6858000" cy="787400"/>
          </a:xfrm>
          <a:prstGeom prst="rect">
            <a:avLst/>
          </a:prstGeom>
          <a:noFill/>
        </p:spPr>
      </p:sp>
      <p:sp>
        <p:nvSpPr>
          <p:cNvPr id="33" name="Text 30"/>
          <p:cNvSpPr/>
          <p:nvPr>
            <p:custDataLst>
              <p:tags r:id="rId11"/>
            </p:custDataLst>
          </p:nvPr>
        </p:nvSpPr>
        <p:spPr>
          <a:xfrm>
            <a:off x="1592580" y="4003040"/>
            <a:ext cx="7101840" cy="909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OAuth 2.0 [16]</a:t>
            </a:r>
            <a:r>
              <a:rPr lang="en-US" sz="1600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— Hardt, RFC 6749 委托授权框架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6666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Bearer Token粗粒度静态权限，泄露后全权限滥用，违背最小权限原则</a:t>
            </a:r>
            <a:endParaRPr lang="en-US" sz="1600" dirty="0"/>
          </a:p>
        </p:txBody>
      </p:sp>
      <p:sp>
        <p:nvSpPr>
          <p:cNvPr id="34" name="Shape 31"/>
          <p:cNvSpPr/>
          <p:nvPr>
            <p:custDataLst>
              <p:tags r:id="rId12"/>
            </p:custDataLst>
          </p:nvPr>
        </p:nvSpPr>
        <p:spPr>
          <a:xfrm>
            <a:off x="1244600" y="5187315"/>
            <a:ext cx="266700" cy="266700"/>
          </a:xfrm>
          <a:prstGeom prst="ellipse">
            <a:avLst/>
          </a:prstGeom>
          <a:solidFill>
            <a:srgbClr val="04579A"/>
          </a:solidFill>
        </p:spPr>
      </p:sp>
      <p:sp>
        <p:nvSpPr>
          <p:cNvPr id="35" name="Shape 32"/>
          <p:cNvSpPr/>
          <p:nvPr/>
        </p:nvSpPr>
        <p:spPr>
          <a:xfrm>
            <a:off x="360680" y="5161915"/>
            <a:ext cx="698500" cy="304800"/>
          </a:xfrm>
          <a:prstGeom prst="rect">
            <a:avLst/>
          </a:prstGeom>
          <a:noFill/>
        </p:spPr>
      </p:sp>
      <p:sp>
        <p:nvSpPr>
          <p:cNvPr id="36" name="Text 33"/>
          <p:cNvSpPr/>
          <p:nvPr>
            <p:custDataLst>
              <p:tags r:id="rId13"/>
            </p:custDataLst>
          </p:nvPr>
        </p:nvSpPr>
        <p:spPr>
          <a:xfrm>
            <a:off x="360680" y="5100955"/>
            <a:ext cx="838200" cy="4267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300" b="1" dirty="0">
                <a:solidFill>
                  <a:srgbClr val="04579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2014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1714500" y="5136515"/>
            <a:ext cx="6858000" cy="787400"/>
          </a:xfrm>
          <a:prstGeom prst="rect">
            <a:avLst/>
          </a:prstGeom>
          <a:noFill/>
        </p:spPr>
      </p:sp>
      <p:sp>
        <p:nvSpPr>
          <p:cNvPr id="38" name="Text 35"/>
          <p:cNvSpPr/>
          <p:nvPr>
            <p:custDataLst>
              <p:tags r:id="rId14"/>
            </p:custDataLst>
          </p:nvPr>
        </p:nvSpPr>
        <p:spPr>
          <a:xfrm>
            <a:off x="1592580" y="5075555"/>
            <a:ext cx="7101840" cy="909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Macaroons [31]</a:t>
            </a:r>
            <a:r>
              <a:rPr lang="en-US" sz="1600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— Birgisson等, NDSS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6666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嵌套HMAC链实现权限单调衰减与第三方约束，但未解决跨域互操作</a:t>
            </a:r>
            <a:r>
              <a:rPr lang="zh-CN" altLang="en-US" sz="1600" dirty="0">
                <a:solidFill>
                  <a:srgbClr val="666666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-120"/>
              </a:rPr>
              <a:t>，尽管涉及添加第三方约束，但只能</a:t>
            </a:r>
            <a:r>
              <a:rPr lang="zh-CN" altLang="en-US" sz="1600" dirty="0">
                <a:solidFill>
                  <a:srgbClr val="666666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-120"/>
              </a:rPr>
              <a:t>添加类似时间、</a:t>
            </a:r>
            <a:r>
              <a:rPr lang="en-US" altLang="zh-CN" sz="1600" dirty="0">
                <a:solidFill>
                  <a:srgbClr val="666666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-120"/>
              </a:rPr>
              <a:t>IP</a:t>
            </a:r>
            <a:r>
              <a:rPr lang="zh-CN" altLang="en-US" sz="1600" dirty="0">
                <a:solidFill>
                  <a:srgbClr val="666666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-120"/>
              </a:rPr>
              <a:t>这些静态</a:t>
            </a:r>
            <a:r>
              <a:rPr lang="zh-CN" altLang="en-US" sz="1600" dirty="0">
                <a:solidFill>
                  <a:srgbClr val="666666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-120"/>
              </a:rPr>
              <a:t>约束</a:t>
            </a:r>
            <a:endParaRPr lang="zh-CN" altLang="en-US" sz="1600" dirty="0">
              <a:solidFill>
                <a:srgbClr val="666666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-120"/>
            </a:endParaRPr>
          </a:p>
        </p:txBody>
      </p:sp>
      <p:sp>
        <p:nvSpPr>
          <p:cNvPr id="39" name="Shape 36"/>
          <p:cNvSpPr/>
          <p:nvPr>
            <p:custDataLst>
              <p:tags r:id="rId15"/>
            </p:custDataLst>
          </p:nvPr>
        </p:nvSpPr>
        <p:spPr>
          <a:xfrm>
            <a:off x="1282700" y="6305550"/>
            <a:ext cx="266700" cy="266700"/>
          </a:xfrm>
          <a:prstGeom prst="ellipse">
            <a:avLst/>
          </a:prstGeom>
          <a:solidFill>
            <a:srgbClr val="04579A"/>
          </a:solidFill>
        </p:spPr>
      </p:sp>
      <p:sp>
        <p:nvSpPr>
          <p:cNvPr id="40" name="Shape 37"/>
          <p:cNvSpPr/>
          <p:nvPr/>
        </p:nvSpPr>
        <p:spPr>
          <a:xfrm>
            <a:off x="302260" y="6045835"/>
            <a:ext cx="635000" cy="304800"/>
          </a:xfrm>
          <a:prstGeom prst="rect">
            <a:avLst/>
          </a:prstGeom>
          <a:noFill/>
        </p:spPr>
      </p:sp>
      <p:sp>
        <p:nvSpPr>
          <p:cNvPr id="41" name="Text 38"/>
          <p:cNvSpPr/>
          <p:nvPr>
            <p:custDataLst>
              <p:tags r:id="rId16"/>
            </p:custDataLst>
          </p:nvPr>
        </p:nvSpPr>
        <p:spPr>
          <a:xfrm>
            <a:off x="320040" y="6242050"/>
            <a:ext cx="878840" cy="4267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300" b="1" dirty="0">
                <a:solidFill>
                  <a:srgbClr val="04579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2019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1714500" y="6242050"/>
            <a:ext cx="6858000" cy="787400"/>
          </a:xfrm>
          <a:prstGeom prst="rect">
            <a:avLst/>
          </a:prstGeom>
          <a:noFill/>
        </p:spPr>
      </p:sp>
      <p:sp>
        <p:nvSpPr>
          <p:cNvPr id="43" name="Text 40"/>
          <p:cNvSpPr/>
          <p:nvPr>
            <p:custDataLst>
              <p:tags r:id="rId17"/>
            </p:custDataLst>
          </p:nvPr>
        </p:nvSpPr>
        <p:spPr>
          <a:xfrm>
            <a:off x="1592580" y="6181090"/>
            <a:ext cx="7101840" cy="909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WAVE [32]</a:t>
            </a:r>
            <a:r>
              <a:rPr lang="en-US" sz="1600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— Andersen等, 去中心化授权框架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6666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传递性委托+Attestation链，但缺乏历史状态与动态上下文表达</a:t>
            </a:r>
            <a:endParaRPr lang="en-US" sz="1600" dirty="0"/>
          </a:p>
        </p:txBody>
      </p:sp>
      <p:sp>
        <p:nvSpPr>
          <p:cNvPr id="44" name="Shape 41"/>
          <p:cNvSpPr/>
          <p:nvPr>
            <p:custDataLst>
              <p:tags r:id="rId18"/>
            </p:custDataLst>
          </p:nvPr>
        </p:nvSpPr>
        <p:spPr>
          <a:xfrm>
            <a:off x="1282700" y="7337425"/>
            <a:ext cx="266700" cy="266700"/>
          </a:xfrm>
          <a:prstGeom prst="ellipse">
            <a:avLst/>
          </a:prstGeom>
          <a:solidFill>
            <a:srgbClr val="04579A"/>
          </a:solidFill>
        </p:spPr>
      </p:sp>
      <p:sp>
        <p:nvSpPr>
          <p:cNvPr id="45" name="Shape 42"/>
          <p:cNvSpPr/>
          <p:nvPr/>
        </p:nvSpPr>
        <p:spPr>
          <a:xfrm>
            <a:off x="360680" y="7299325"/>
            <a:ext cx="698500" cy="304800"/>
          </a:xfrm>
          <a:prstGeom prst="rect">
            <a:avLst/>
          </a:prstGeom>
          <a:noFill/>
        </p:spPr>
      </p:sp>
      <p:sp>
        <p:nvSpPr>
          <p:cNvPr id="46" name="Text 43"/>
          <p:cNvSpPr/>
          <p:nvPr>
            <p:custDataLst>
              <p:tags r:id="rId19"/>
            </p:custDataLst>
          </p:nvPr>
        </p:nvSpPr>
        <p:spPr>
          <a:xfrm>
            <a:off x="256540" y="7245350"/>
            <a:ext cx="942340" cy="4267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300" b="1" dirty="0">
                <a:solidFill>
                  <a:srgbClr val="04579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2024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1714500" y="7273925"/>
            <a:ext cx="6858000" cy="787400"/>
          </a:xfrm>
          <a:prstGeom prst="rect">
            <a:avLst/>
          </a:prstGeom>
          <a:noFill/>
        </p:spPr>
      </p:sp>
      <p:sp>
        <p:nvSpPr>
          <p:cNvPr id="48" name="Text 45"/>
          <p:cNvSpPr/>
          <p:nvPr>
            <p:custDataLst>
              <p:tags r:id="rId20"/>
            </p:custDataLst>
          </p:nvPr>
        </p:nvSpPr>
        <p:spPr>
          <a:xfrm>
            <a:off x="1592580" y="7212965"/>
            <a:ext cx="7101840" cy="909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StatefulAuth [33]</a:t>
            </a:r>
            <a:r>
              <a:rPr lang="en-US" sz="1600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— Cao等, USENIX Security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6666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WebAssembly策略+操作日志动态评估，但权限粒度仍停留在资源/操作类型层面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8890000" y="2032000"/>
            <a:ext cx="6604000" cy="6413500"/>
          </a:xfrm>
          <a:prstGeom prst="roundRect">
            <a:avLst>
              <a:gd name="adj" fmla="val 3000"/>
            </a:avLst>
          </a:prstGeom>
          <a:solidFill>
            <a:srgbClr val="E8F4FD"/>
          </a:solidFill>
        </p:spPr>
      </p:sp>
      <p:sp>
        <p:nvSpPr>
          <p:cNvPr id="50" name="Shape 47"/>
          <p:cNvSpPr/>
          <p:nvPr/>
        </p:nvSpPr>
        <p:spPr>
          <a:xfrm>
            <a:off x="9144000" y="2184400"/>
            <a:ext cx="6096000" cy="381000"/>
          </a:xfrm>
          <a:prstGeom prst="rect">
            <a:avLst/>
          </a:prstGeom>
          <a:noFill/>
        </p:spPr>
      </p:sp>
      <p:sp>
        <p:nvSpPr>
          <p:cNvPr id="51" name="Text 48"/>
          <p:cNvSpPr/>
          <p:nvPr/>
        </p:nvSpPr>
        <p:spPr>
          <a:xfrm>
            <a:off x="9022080" y="2123440"/>
            <a:ext cx="6339840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04579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发展趋势</a:t>
            </a:r>
            <a:endParaRPr lang="en-US" sz="1800" b="1" dirty="0"/>
          </a:p>
        </p:txBody>
      </p:sp>
      <p:sp>
        <p:nvSpPr>
          <p:cNvPr id="52" name="Shape 49"/>
          <p:cNvSpPr/>
          <p:nvPr/>
        </p:nvSpPr>
        <p:spPr>
          <a:xfrm>
            <a:off x="9144000" y="2667000"/>
            <a:ext cx="6096000" cy="5588000"/>
          </a:xfrm>
          <a:prstGeom prst="rect">
            <a:avLst/>
          </a:prstGeom>
          <a:noFill/>
        </p:spPr>
      </p:sp>
      <p:sp>
        <p:nvSpPr>
          <p:cNvPr id="53" name="Text 50"/>
          <p:cNvSpPr/>
          <p:nvPr/>
        </p:nvSpPr>
        <p:spPr>
          <a:xfrm>
            <a:off x="9022080" y="2606040"/>
            <a:ext cx="6339840" cy="5709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b="1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1. 策略表达标准化</a:t>
            </a:r>
            <a:endParaRPr lang="en-US" dirty="0"/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6666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Biscuit等将Datalog声明式策略嵌入令牌，解决跨服务策略互操作</a:t>
            </a:r>
            <a:endParaRPr lang="en-US" dirty="0"/>
          </a:p>
          <a:p>
            <a:pPr algn="l">
              <a:lnSpc>
                <a:spcPct val="170000"/>
              </a:lnSpc>
              <a:spcBef>
                <a:spcPts val="1335"/>
              </a:spcBef>
            </a:pPr>
            <a:r>
              <a:rPr lang="en-US" b="1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2. 零信任深度融合</a:t>
            </a:r>
            <a:endParaRPr lang="en-US" dirty="0"/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6666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永不信任、持续验证，基于实时上下文与历史行为动态授权 [22]</a:t>
            </a:r>
            <a:endParaRPr lang="en-US" dirty="0"/>
          </a:p>
          <a:p>
            <a:pPr algn="l">
              <a:lnSpc>
                <a:spcPct val="170000"/>
              </a:lnSpc>
              <a:spcBef>
                <a:spcPts val="1335"/>
              </a:spcBef>
            </a:pPr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3. 局限</a:t>
            </a:r>
            <a:endParaRPr lang="en-US" dirty="0">
              <a:solidFill>
                <a:srgbClr val="FF0000"/>
              </a:solidFill>
            </a:endParaRP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EC5F7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权限粒度停留在资源/操作类型层面，未精确到操作参数级</a:t>
            </a:r>
            <a:endParaRPr lang="en-US" dirty="0"/>
          </a:p>
          <a:p>
            <a:pPr algn="l">
              <a:lnSpc>
                <a:spcPct val="170000"/>
              </a:lnSpc>
              <a:spcBef>
                <a:spcPts val="1335"/>
              </a:spcBef>
            </a:pPr>
            <a:r>
              <a:rPr lang="en-US" b="1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 前沿方向</a:t>
            </a:r>
            <a:endParaRPr lang="en-US" dirty="0"/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6666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面向AI Agent支持自主代理身份治理、任务级权限委托与细粒度访问控制</a:t>
            </a:r>
            <a:endParaRPr lang="en-US" dirty="0"/>
          </a:p>
        </p:txBody>
      </p:sp>
      <p:sp>
        <p:nvSpPr>
          <p:cNvPr id="54" name="Shape 51"/>
          <p:cNvSpPr/>
          <p:nvPr/>
        </p:nvSpPr>
        <p:spPr>
          <a:xfrm>
            <a:off x="15240000" y="8636000"/>
            <a:ext cx="635000" cy="381000"/>
          </a:xfrm>
          <a:prstGeom prst="rect">
            <a:avLst/>
          </a:prstGeom>
          <a:noFill/>
        </p:spPr>
      </p:sp>
      <p:sp>
        <p:nvSpPr>
          <p:cNvPr id="55" name="Text 52"/>
          <p:cNvSpPr/>
          <p:nvPr/>
        </p:nvSpPr>
        <p:spPr>
          <a:xfrm>
            <a:off x="15118080" y="8575040"/>
            <a:ext cx="878840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800" dirty="0">
                <a:solidFill>
                  <a:srgbClr val="6666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11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19960" y="0"/>
            <a:ext cx="2895600" cy="9626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162169" y="-889"/>
            <a:ext cx="2590800" cy="962660"/>
          </a:xfrm>
          <a:prstGeom prst="rect">
            <a:avLst/>
          </a:prstGeom>
          <a:solidFill>
            <a:srgbClr val="04579A"/>
          </a:solidFill>
          <a:ln w="12700">
            <a:solidFill>
              <a:srgbClr val="0457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16469" y="-889"/>
            <a:ext cx="4114800" cy="962660"/>
          </a:xfrm>
          <a:prstGeom prst="rect">
            <a:avLst/>
          </a:prstGeom>
          <a:solidFill>
            <a:srgbClr val="F2F2F2"/>
          </a:solidFill>
        </p:spPr>
      </p:sp>
      <p:sp>
        <p:nvSpPr>
          <p:cNvPr id="5" name="Shape 3"/>
          <p:cNvSpPr/>
          <p:nvPr/>
        </p:nvSpPr>
        <p:spPr>
          <a:xfrm>
            <a:off x="11971020" y="0"/>
            <a:ext cx="4284980" cy="961771"/>
          </a:xfrm>
          <a:prstGeom prst="rect">
            <a:avLst/>
          </a:prstGeom>
          <a:solidFill>
            <a:srgbClr val="F2F2F2"/>
          </a:solidFill>
        </p:spPr>
      </p:sp>
      <p:sp>
        <p:nvSpPr>
          <p:cNvPr id="6" name="Shape 4"/>
          <p:cNvSpPr/>
          <p:nvPr/>
        </p:nvSpPr>
        <p:spPr>
          <a:xfrm>
            <a:off x="2283460" y="203200"/>
            <a:ext cx="2768600" cy="508000"/>
          </a:xfrm>
          <a:prstGeom prst="rect">
            <a:avLst/>
          </a:prstGeom>
          <a:noFill/>
        </p:spPr>
      </p:sp>
      <p:sp>
        <p:nvSpPr>
          <p:cNvPr id="7" name="Text 5"/>
          <p:cNvSpPr/>
          <p:nvPr/>
        </p:nvSpPr>
        <p:spPr>
          <a:xfrm>
            <a:off x="2161540" y="142240"/>
            <a:ext cx="3012440" cy="629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选题背景及意义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225669" y="203200"/>
            <a:ext cx="2463800" cy="508000"/>
          </a:xfrm>
          <a:prstGeom prst="rect">
            <a:avLst/>
          </a:prstGeom>
          <a:noFill/>
        </p:spPr>
      </p:sp>
      <p:sp>
        <p:nvSpPr>
          <p:cNvPr id="9" name="Text 7"/>
          <p:cNvSpPr/>
          <p:nvPr/>
        </p:nvSpPr>
        <p:spPr>
          <a:xfrm>
            <a:off x="5103749" y="142240"/>
            <a:ext cx="2707640" cy="629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国内外研究现状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879969" y="203200"/>
            <a:ext cx="3987800" cy="508000"/>
          </a:xfrm>
          <a:prstGeom prst="rect">
            <a:avLst/>
          </a:prstGeom>
          <a:noFill/>
        </p:spPr>
      </p:sp>
      <p:sp>
        <p:nvSpPr>
          <p:cNvPr id="11" name="Text 9"/>
          <p:cNvSpPr/>
          <p:nvPr/>
        </p:nvSpPr>
        <p:spPr>
          <a:xfrm>
            <a:off x="7758049" y="142240"/>
            <a:ext cx="4231640" cy="629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主要研究内容及预期目标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034520" y="203200"/>
            <a:ext cx="4157980" cy="508000"/>
          </a:xfrm>
          <a:prstGeom prst="rect">
            <a:avLst/>
          </a:prstGeom>
          <a:noFill/>
        </p:spPr>
      </p:sp>
      <p:sp>
        <p:nvSpPr>
          <p:cNvPr id="13" name="Text 11"/>
          <p:cNvSpPr/>
          <p:nvPr/>
        </p:nvSpPr>
        <p:spPr>
          <a:xfrm>
            <a:off x="11912600" y="142240"/>
            <a:ext cx="4401820" cy="629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33333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工作计划与进度安排</a:t>
            </a:r>
            <a:endParaRPr lang="en-US" sz="2000" dirty="0"/>
          </a:p>
        </p:txBody>
      </p:sp>
      <p:pic>
        <p:nvPicPr>
          <p:cNvPr id="14" name="Image 0" descr="https://kimi-img.moonshot.cn/pub/slides/okc/flfuysioo4gzm/mnt/agents/output/new_pptd/images/image_2.jpg"/>
          <p:cNvPicPr>
            <a:picLocks noChangeAspect="1"/>
          </p:cNvPicPr>
          <p:nvPr/>
        </p:nvPicPr>
        <p:blipFill>
          <a:blip r:embed="rId1"/>
          <a:srcRect l="5060" r="29000"/>
          <a:stretch>
            <a:fillRect/>
          </a:stretch>
        </p:blipFill>
        <p:spPr>
          <a:xfrm>
            <a:off x="544449" y="140589"/>
            <a:ext cx="1273429" cy="745871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 rot="10800000">
            <a:off x="6379591" y="961771"/>
            <a:ext cx="389509" cy="304800"/>
          </a:xfrm>
          <a:prstGeom prst="triangle">
            <a:avLst>
              <a:gd name="adj" fmla="val 50000"/>
            </a:avLst>
          </a:prstGeom>
          <a:solidFill>
            <a:srgbClr val="04579A"/>
          </a:solidFill>
        </p:spPr>
      </p:sp>
      <p:sp>
        <p:nvSpPr>
          <p:cNvPr id="16" name="Shape 13"/>
          <p:cNvSpPr/>
          <p:nvPr/>
        </p:nvSpPr>
        <p:spPr>
          <a:xfrm>
            <a:off x="762000" y="1333500"/>
            <a:ext cx="11430000" cy="533400"/>
          </a:xfrm>
          <a:prstGeom prst="rect">
            <a:avLst/>
          </a:prstGeom>
          <a:noFill/>
        </p:spPr>
      </p:sp>
      <p:sp>
        <p:nvSpPr>
          <p:cNvPr id="17" name="Text 14"/>
          <p:cNvSpPr/>
          <p:nvPr/>
        </p:nvSpPr>
        <p:spPr>
          <a:xfrm>
            <a:off x="640080" y="1272540"/>
            <a:ext cx="11673840" cy="6553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04579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智能体授权协议研究现状</a:t>
            </a:r>
            <a:endParaRPr lang="en-US" sz="2800" dirty="0"/>
          </a:p>
        </p:txBody>
      </p:sp>
      <p:sp>
        <p:nvSpPr>
          <p:cNvPr id="18" name="Shape 15"/>
          <p:cNvSpPr/>
          <p:nvPr>
            <p:custDataLst>
              <p:tags r:id="rId2"/>
            </p:custDataLst>
          </p:nvPr>
        </p:nvSpPr>
        <p:spPr>
          <a:xfrm>
            <a:off x="762000" y="2006600"/>
            <a:ext cx="7175500" cy="2032000"/>
          </a:xfrm>
          <a:prstGeom prst="roundRect">
            <a:avLst>
              <a:gd name="adj" fmla="val 5000"/>
            </a:avLst>
          </a:prstGeom>
          <a:solidFill>
            <a:srgbClr val="E8F4FD"/>
          </a:solidFill>
        </p:spPr>
      </p:sp>
      <p:sp>
        <p:nvSpPr>
          <p:cNvPr id="19" name="Shape 16"/>
          <p:cNvSpPr/>
          <p:nvPr/>
        </p:nvSpPr>
        <p:spPr>
          <a:xfrm>
            <a:off x="894080" y="2098040"/>
            <a:ext cx="406400" cy="330200"/>
          </a:xfrm>
          <a:prstGeom prst="rect">
            <a:avLst/>
          </a:prstGeom>
          <a:noFill/>
        </p:spPr>
      </p:sp>
      <p:sp>
        <p:nvSpPr>
          <p:cNvPr id="20" name="Text 17"/>
          <p:cNvSpPr/>
          <p:nvPr>
            <p:custDataLst>
              <p:tags r:id="rId3"/>
            </p:custDataLst>
          </p:nvPr>
        </p:nvSpPr>
        <p:spPr>
          <a:xfrm>
            <a:off x="830580" y="2047240"/>
            <a:ext cx="558800" cy="4521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2000" b="1" dirty="0">
              <a:solidFill>
                <a:schemeClr val="tx1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1371600" y="2108200"/>
            <a:ext cx="6350000" cy="330200"/>
          </a:xfrm>
          <a:prstGeom prst="rect">
            <a:avLst/>
          </a:prstGeom>
          <a:noFill/>
        </p:spPr>
      </p:sp>
      <p:sp>
        <p:nvSpPr>
          <p:cNvPr id="22" name="Text 19"/>
          <p:cNvSpPr/>
          <p:nvPr>
            <p:custDataLst>
              <p:tags r:id="rId4"/>
            </p:custDataLst>
          </p:nvPr>
        </p:nvSpPr>
        <p:spPr>
          <a:xfrm>
            <a:off x="1249680" y="2047240"/>
            <a:ext cx="6593840" cy="4521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Chopra等 — 传统授权与智能体的结构性不匹配 </a:t>
            </a:r>
            <a:r>
              <a:rPr lang="en-US" sz="1600" b="1" baseline="30000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[34]</a:t>
            </a:r>
            <a:endParaRPr lang="en-US" sz="1600" b="1" baseline="30000" dirty="0">
              <a:solidFill>
                <a:schemeClr val="tx1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952500" y="2489200"/>
            <a:ext cx="6794500" cy="1397000"/>
          </a:xfrm>
          <a:prstGeom prst="rect">
            <a:avLst/>
          </a:prstGeom>
          <a:noFill/>
        </p:spPr>
      </p:sp>
      <p:sp>
        <p:nvSpPr>
          <p:cNvPr id="24" name="Text 21"/>
          <p:cNvSpPr/>
          <p:nvPr>
            <p:custDataLst>
              <p:tags r:id="rId5"/>
            </p:custDataLst>
          </p:nvPr>
        </p:nvSpPr>
        <p:spPr>
          <a:xfrm>
            <a:off x="830580" y="2428240"/>
            <a:ext cx="7038340" cy="1518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不足：</a:t>
            </a:r>
            <a:r>
              <a:rPr lang="en-US" sz="1600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权限粒度过大、无动态策略执行、缺乏自主系统控制</a:t>
            </a:r>
            <a:endParaRPr lang="en-US" sz="1600" dirty="0"/>
          </a:p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方向：</a:t>
            </a:r>
            <a:r>
              <a:rPr lang="en-US" sz="1600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基于能力的模型 + 实时策略引擎 + 跨服务标准化 + 边缘验证</a:t>
            </a:r>
            <a:endParaRPr lang="en-US" sz="1600" dirty="0"/>
          </a:p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意义：</a:t>
            </a:r>
            <a:r>
              <a:rPr lang="en-US" sz="1600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首次从系统架构层面揭示传统授权与自主智能体的根本性矛盾</a:t>
            </a:r>
            <a:endParaRPr lang="en-US" sz="1600" dirty="0"/>
          </a:p>
        </p:txBody>
      </p:sp>
      <p:sp>
        <p:nvSpPr>
          <p:cNvPr id="25" name="Shape 22"/>
          <p:cNvSpPr/>
          <p:nvPr>
            <p:custDataLst>
              <p:tags r:id="rId6"/>
            </p:custDataLst>
          </p:nvPr>
        </p:nvSpPr>
        <p:spPr>
          <a:xfrm>
            <a:off x="8318500" y="2006600"/>
            <a:ext cx="7175500" cy="2032000"/>
          </a:xfrm>
          <a:prstGeom prst="roundRect">
            <a:avLst>
              <a:gd name="adj" fmla="val 5000"/>
            </a:avLst>
          </a:prstGeom>
          <a:solidFill>
            <a:srgbClr val="E8F4FD"/>
          </a:solidFill>
        </p:spPr>
      </p:sp>
      <p:sp>
        <p:nvSpPr>
          <p:cNvPr id="26" name="Shape 23"/>
          <p:cNvSpPr/>
          <p:nvPr/>
        </p:nvSpPr>
        <p:spPr>
          <a:xfrm>
            <a:off x="8318500" y="2108200"/>
            <a:ext cx="406400" cy="330200"/>
          </a:xfrm>
          <a:prstGeom prst="rect">
            <a:avLst/>
          </a:prstGeom>
          <a:noFill/>
        </p:spPr>
      </p:sp>
      <p:sp>
        <p:nvSpPr>
          <p:cNvPr id="27" name="Text 24"/>
          <p:cNvSpPr/>
          <p:nvPr>
            <p:custDataLst>
              <p:tags r:id="rId7"/>
            </p:custDataLst>
          </p:nvPr>
        </p:nvSpPr>
        <p:spPr>
          <a:xfrm>
            <a:off x="8387080" y="2047240"/>
            <a:ext cx="422275" cy="4521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2000" b="1" dirty="0">
              <a:solidFill>
                <a:schemeClr val="tx1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8928100" y="2108200"/>
            <a:ext cx="6350000" cy="330200"/>
          </a:xfrm>
          <a:prstGeom prst="rect">
            <a:avLst/>
          </a:prstGeom>
          <a:noFill/>
        </p:spPr>
      </p:sp>
      <p:sp>
        <p:nvSpPr>
          <p:cNvPr id="29" name="Text 26"/>
          <p:cNvSpPr/>
          <p:nvPr>
            <p:custDataLst>
              <p:tags r:id="rId8"/>
            </p:custDataLst>
          </p:nvPr>
        </p:nvSpPr>
        <p:spPr>
          <a:xfrm>
            <a:off x="8806180" y="2047240"/>
            <a:ext cx="6593840" cy="4521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South等 — 可认证可审计委托授权框架</a:t>
            </a:r>
            <a:r>
              <a:rPr lang="en-US" sz="1600" b="1" baseline="30000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[35]</a:t>
            </a:r>
            <a:endParaRPr lang="en-US" sz="1600" b="1" baseline="30000" dirty="0">
              <a:solidFill>
                <a:schemeClr val="tx1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8509000" y="2489200"/>
            <a:ext cx="6794500" cy="1397000"/>
          </a:xfrm>
          <a:prstGeom prst="rect">
            <a:avLst/>
          </a:prstGeom>
          <a:noFill/>
        </p:spPr>
      </p:sp>
      <p:sp>
        <p:nvSpPr>
          <p:cNvPr id="31" name="Text 28"/>
          <p:cNvSpPr/>
          <p:nvPr>
            <p:custDataLst>
              <p:tags r:id="rId9"/>
            </p:custDataLst>
          </p:nvPr>
        </p:nvSpPr>
        <p:spPr>
          <a:xfrm>
            <a:off x="8387080" y="2428240"/>
            <a:ext cx="7038340" cy="1518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机制：</a:t>
            </a:r>
            <a:r>
              <a:rPr lang="en-US" sz="1600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Agent-ID Token + Delegation Token + W3C VC</a:t>
            </a:r>
            <a:endParaRPr lang="en-US" sz="1600" dirty="0"/>
          </a:p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创新：</a:t>
            </a:r>
            <a:r>
              <a:rPr lang="en-US" sz="1600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自然语言权限翻译 + 跨域多智能体相互认证</a:t>
            </a:r>
            <a:endParaRPr lang="en-US" sz="1600" dirty="0"/>
          </a:p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意义：</a:t>
            </a:r>
            <a:r>
              <a:rPr lang="en-US" sz="1600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首次将Web身份基础设施与智能体委托需求系统性融合</a:t>
            </a:r>
            <a:endParaRPr lang="en-US" sz="1600" dirty="0"/>
          </a:p>
        </p:txBody>
      </p:sp>
      <p:sp>
        <p:nvSpPr>
          <p:cNvPr id="39" name="Shape 36"/>
          <p:cNvSpPr/>
          <p:nvPr>
            <p:custDataLst>
              <p:tags r:id="rId10"/>
            </p:custDataLst>
          </p:nvPr>
        </p:nvSpPr>
        <p:spPr>
          <a:xfrm>
            <a:off x="8318500" y="4254500"/>
            <a:ext cx="7175500" cy="2032000"/>
          </a:xfrm>
          <a:prstGeom prst="roundRect">
            <a:avLst>
              <a:gd name="adj" fmla="val 5000"/>
            </a:avLst>
          </a:prstGeom>
          <a:solidFill>
            <a:srgbClr val="E8F4FD"/>
          </a:solidFill>
        </p:spPr>
      </p:sp>
      <p:sp>
        <p:nvSpPr>
          <p:cNvPr id="40" name="Shape 37"/>
          <p:cNvSpPr/>
          <p:nvPr/>
        </p:nvSpPr>
        <p:spPr>
          <a:xfrm>
            <a:off x="8509000" y="4356100"/>
            <a:ext cx="406400" cy="330200"/>
          </a:xfrm>
          <a:prstGeom prst="rect">
            <a:avLst/>
          </a:prstGeom>
          <a:noFill/>
        </p:spPr>
      </p:sp>
      <p:sp>
        <p:nvSpPr>
          <p:cNvPr id="41" name="Text 38"/>
          <p:cNvSpPr/>
          <p:nvPr>
            <p:custDataLst>
              <p:tags r:id="rId11"/>
            </p:custDataLst>
          </p:nvPr>
        </p:nvSpPr>
        <p:spPr>
          <a:xfrm>
            <a:off x="8387080" y="4295140"/>
            <a:ext cx="422275" cy="4521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2000" b="1" dirty="0">
              <a:solidFill>
                <a:schemeClr val="tx1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8928100" y="4356100"/>
            <a:ext cx="6350000" cy="330200"/>
          </a:xfrm>
          <a:prstGeom prst="rect">
            <a:avLst/>
          </a:prstGeom>
          <a:noFill/>
        </p:spPr>
      </p:sp>
      <p:sp>
        <p:nvSpPr>
          <p:cNvPr id="43" name="Text 40"/>
          <p:cNvSpPr/>
          <p:nvPr>
            <p:custDataLst>
              <p:tags r:id="rId12"/>
            </p:custDataLst>
          </p:nvPr>
        </p:nvSpPr>
        <p:spPr>
          <a:xfrm>
            <a:off x="8806180" y="4295140"/>
            <a:ext cx="6593840" cy="4521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Tallam — 授权传播问题 </a:t>
            </a:r>
            <a:r>
              <a:rPr lang="en-US" sz="1600" b="1" baseline="30000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[30]</a:t>
            </a:r>
            <a:endParaRPr lang="en-US" sz="1600" b="1" baseline="30000" dirty="0">
              <a:solidFill>
                <a:schemeClr val="tx1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8509000" y="4737100"/>
            <a:ext cx="6794500" cy="1397000"/>
          </a:xfrm>
          <a:prstGeom prst="rect">
            <a:avLst/>
          </a:prstGeom>
          <a:noFill/>
        </p:spPr>
      </p:sp>
      <p:sp>
        <p:nvSpPr>
          <p:cNvPr id="45" name="Text 42"/>
          <p:cNvSpPr/>
          <p:nvPr>
            <p:custDataLst>
              <p:tags r:id="rId13"/>
            </p:custDataLst>
          </p:nvPr>
        </p:nvSpPr>
        <p:spPr>
          <a:xfrm>
            <a:off x="8387080" y="4676140"/>
            <a:ext cx="7038340" cy="1518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问题：</a:t>
            </a:r>
            <a:r>
              <a:rPr lang="en-US" sz="1600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委托链中权限放大、混淆副手攻击、审计不可追溯</a:t>
            </a:r>
            <a:endParaRPr lang="en-US" sz="1600" dirty="0"/>
          </a:p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发现：</a:t>
            </a:r>
            <a:r>
              <a:rPr lang="en-US" sz="1600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即使完美防御提示注入，仍存在结构性授权传播风险</a:t>
            </a:r>
            <a:endParaRPr lang="en-US" sz="1600" dirty="0"/>
          </a:p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核心：</a:t>
            </a:r>
            <a:r>
              <a:rPr lang="en-US" sz="1600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权限单调衰减、身份可验证追溯、委托可撤销三大不变量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762000" y="6540500"/>
            <a:ext cx="14732000" cy="1879600"/>
          </a:xfrm>
          <a:prstGeom prst="roundRect">
            <a:avLst>
              <a:gd name="adj" fmla="val 3000"/>
            </a:avLst>
          </a:prstGeom>
          <a:solidFill>
            <a:srgbClr val="005C8F"/>
          </a:solidFill>
        </p:spPr>
      </p:sp>
      <p:sp>
        <p:nvSpPr>
          <p:cNvPr id="47" name="Shape 44"/>
          <p:cNvSpPr/>
          <p:nvPr/>
        </p:nvSpPr>
        <p:spPr>
          <a:xfrm>
            <a:off x="1016000" y="6667500"/>
            <a:ext cx="14224000" cy="1651000"/>
          </a:xfrm>
          <a:prstGeom prst="rect">
            <a:avLst/>
          </a:prstGeom>
          <a:noFill/>
        </p:spPr>
      </p:sp>
      <p:sp>
        <p:nvSpPr>
          <p:cNvPr id="48" name="Text 45"/>
          <p:cNvSpPr/>
          <p:nvPr/>
        </p:nvSpPr>
        <p:spPr>
          <a:xfrm>
            <a:off x="894080" y="6606540"/>
            <a:ext cx="14467840" cy="177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现有研究不足总结：</a:t>
            </a:r>
            <a:endParaRPr lang="en-US" sz="2000" dirty="0"/>
          </a:p>
          <a:p>
            <a:pPr algn="l">
              <a:lnSpc>
                <a:spcPct val="170000"/>
              </a:lnSpc>
            </a:pPr>
            <a:r>
              <a:rPr lang="en-US" sz="20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1. 权限粒度仍停留在资源/操作类型层面，未精确到操作参数级（如限定邮件收件人地址、API参数范围）</a:t>
            </a:r>
            <a:endParaRPr lang="en-US" sz="2000" dirty="0"/>
          </a:p>
          <a:p>
            <a:pPr algn="l">
              <a:lnSpc>
                <a:spcPct val="170000"/>
              </a:lnSpc>
            </a:pPr>
            <a:r>
              <a:rPr lang="en-US" sz="20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2. 缺乏对智能体当前任务、环境上下文的实时感知能力，无法支持上下文条件触发授权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15240000" y="8636000"/>
            <a:ext cx="635000" cy="381000"/>
          </a:xfrm>
          <a:prstGeom prst="rect">
            <a:avLst/>
          </a:prstGeom>
          <a:noFill/>
        </p:spPr>
      </p:sp>
      <p:sp>
        <p:nvSpPr>
          <p:cNvPr id="50" name="Text 47"/>
          <p:cNvSpPr/>
          <p:nvPr/>
        </p:nvSpPr>
        <p:spPr>
          <a:xfrm>
            <a:off x="15118080" y="8575040"/>
            <a:ext cx="878840" cy="5029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800" dirty="0">
                <a:solidFill>
                  <a:srgbClr val="66666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12</a:t>
            </a:r>
            <a:endParaRPr lang="en-US" sz="1800" dirty="0"/>
          </a:p>
        </p:txBody>
      </p:sp>
      <p:sp>
        <p:nvSpPr>
          <p:cNvPr id="51" name="Shape 15"/>
          <p:cNvSpPr/>
          <p:nvPr>
            <p:custDataLst>
              <p:tags r:id="rId14"/>
            </p:custDataLst>
          </p:nvPr>
        </p:nvSpPr>
        <p:spPr>
          <a:xfrm>
            <a:off x="762000" y="4254500"/>
            <a:ext cx="7175500" cy="2032000"/>
          </a:xfrm>
          <a:prstGeom prst="roundRect">
            <a:avLst>
              <a:gd name="adj" fmla="val 5000"/>
            </a:avLst>
          </a:prstGeom>
          <a:solidFill>
            <a:srgbClr val="E8F4FD"/>
          </a:solidFill>
        </p:spPr>
      </p:sp>
      <p:sp>
        <p:nvSpPr>
          <p:cNvPr id="52" name="Shape 30"/>
          <p:cNvSpPr/>
          <p:nvPr/>
        </p:nvSpPr>
        <p:spPr>
          <a:xfrm>
            <a:off x="952500" y="4356100"/>
            <a:ext cx="406400" cy="330200"/>
          </a:xfrm>
          <a:prstGeom prst="rect">
            <a:avLst/>
          </a:prstGeom>
          <a:noFill/>
        </p:spPr>
      </p:sp>
      <p:sp>
        <p:nvSpPr>
          <p:cNvPr id="53" name="Text 31"/>
          <p:cNvSpPr/>
          <p:nvPr>
            <p:custDataLst>
              <p:tags r:id="rId15"/>
            </p:custDataLst>
          </p:nvPr>
        </p:nvSpPr>
        <p:spPr>
          <a:xfrm>
            <a:off x="830580" y="4295140"/>
            <a:ext cx="558800" cy="4521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2000" b="1" dirty="0">
              <a:solidFill>
                <a:schemeClr val="tx1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54" name="Shape 32"/>
          <p:cNvSpPr/>
          <p:nvPr/>
        </p:nvSpPr>
        <p:spPr>
          <a:xfrm>
            <a:off x="1371600" y="4356100"/>
            <a:ext cx="6350000" cy="330200"/>
          </a:xfrm>
          <a:prstGeom prst="rect">
            <a:avLst/>
          </a:prstGeom>
          <a:noFill/>
        </p:spPr>
      </p:sp>
      <p:sp>
        <p:nvSpPr>
          <p:cNvPr id="55" name="Text 33"/>
          <p:cNvSpPr/>
          <p:nvPr>
            <p:custDataLst>
              <p:tags r:id="rId16"/>
            </p:custDataLst>
          </p:nvPr>
        </p:nvSpPr>
        <p:spPr>
          <a:xfrm>
            <a:off x="1249680" y="4295140"/>
            <a:ext cx="6593840" cy="4521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Fleming等 — 任务级动态授权框架 </a:t>
            </a:r>
            <a:r>
              <a:rPr lang="en-US" sz="1600" b="1" baseline="30000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[36]</a:t>
            </a:r>
            <a:endParaRPr lang="en-US" sz="1600" b="1" baseline="30000" dirty="0">
              <a:solidFill>
                <a:schemeClr val="tx1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56" name="Shape 34"/>
          <p:cNvSpPr/>
          <p:nvPr/>
        </p:nvSpPr>
        <p:spPr>
          <a:xfrm>
            <a:off x="952500" y="4737100"/>
            <a:ext cx="6794500" cy="1397000"/>
          </a:xfrm>
          <a:prstGeom prst="rect">
            <a:avLst/>
          </a:prstGeom>
          <a:noFill/>
        </p:spPr>
      </p:sp>
      <p:sp>
        <p:nvSpPr>
          <p:cNvPr id="57" name="Text 35"/>
          <p:cNvSpPr/>
          <p:nvPr>
            <p:custDataLst>
              <p:tags r:id="rId17"/>
            </p:custDataLst>
          </p:nvPr>
        </p:nvSpPr>
        <p:spPr>
          <a:xfrm>
            <a:off x="894080" y="4737100"/>
            <a:ext cx="6974840" cy="1457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方法：</a:t>
            </a:r>
            <a:r>
              <a:rPr lang="en-US" sz="1600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资源风险评分 + 模型不确定性估计 + LLM策略合成</a:t>
            </a:r>
            <a:endParaRPr lang="en-US" sz="1600" dirty="0"/>
          </a:p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特点：</a:t>
            </a:r>
            <a:r>
              <a:rPr lang="en-US" sz="1600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基于任务语义自动合成最小权限策略，实时适应任务演化</a:t>
            </a:r>
            <a:endParaRPr lang="en-US" sz="1600" dirty="0"/>
          </a:p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局限：</a:t>
            </a:r>
            <a:r>
              <a:rPr lang="en-US" sz="1600" dirty="0">
                <a:solidFill>
                  <a:srgbClr val="444444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LLM可能幻觉策略，静态风险评分不够灵活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7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8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9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10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11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12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13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14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15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16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17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18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19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20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21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22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23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24.xml><?xml version="1.0" encoding="utf-8"?>
<p:tagLst xmlns:p="http://schemas.openxmlformats.org/presentationml/2006/main">
  <p:tag name="KSO_WM_DIAGRAM_VIRTUALLY_FRAME" val="{&quot;height&quot;:509.8,&quot;left&quot;:20.2,&quot;top&quot;:155.2,&quot;width&quot;:665.8}"/>
</p:tagLst>
</file>

<file path=ppt/tags/tag25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26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27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28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29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30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31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32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33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34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35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36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37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38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39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ags/tag40.xml><?xml version="1.0" encoding="utf-8"?>
<p:tagLst xmlns:p="http://schemas.openxmlformats.org/presentationml/2006/main">
  <p:tag name="KSO_WM_DIAGRAM_VIRTUALLY_FRAME" val="{&quot;height&quot;:562,&quot;left&quot;:60,&quot;top&quot;:158,&quot;width&quot;:1160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1266</Words>
  <Application>WPS 演示</Application>
  <PresentationFormat>On-screen Show (16:9)</PresentationFormat>
  <Paragraphs>101</Paragraphs>
  <Slides>2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2" baseType="lpstr">
      <vt:lpstr>Arial</vt:lpstr>
      <vt:lpstr>宋体</vt:lpstr>
      <vt:lpstr>Wingdings</vt:lpstr>
      <vt:lpstr>Arial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面向复杂任务智能体授权协议研究与实现 - 开题报告</dc:title>
  <dc:creator>Kimi</dc:creator>
  <dc:subject>面向复杂任务智能体授权协议研究与实现 - 开题报告</dc:subject>
  <cp:lastModifiedBy>风雨中行走</cp:lastModifiedBy>
  <cp:revision>4</cp:revision>
  <dcterms:created xsi:type="dcterms:W3CDTF">2026-06-25T07:24:00Z</dcterms:created>
  <dcterms:modified xsi:type="dcterms:W3CDTF">2026-06-27T08:01:17Z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{"Label":"面向复杂任务智能体授权协议研究与实现 - 开题报告","ContentProducer":"001191110108MACG2KBH8F10000","ProduceID":"19efccc8-6752-8721-8000-0000dd944ad4","ReservedCode1":"","ContentPropagator":"001191110108MACG2KBH8F20000","PropagateID":"19ee528b-5122-8cdd-8000-091226114ca8","ReservedCode2":""}</vt:lpwstr>
  </property>
  <property fmtid="{D5CDD505-2E9C-101B-9397-08002B2CF9AE}" pid="3" name="ICV">
    <vt:lpwstr>BCD53D5ACB674685AB8DA18A078FEE07_12</vt:lpwstr>
  </property>
  <property fmtid="{D5CDD505-2E9C-101B-9397-08002B2CF9AE}" pid="4" name="KSOProductBuildVer">
    <vt:lpwstr>2052-12.1.0.26895</vt:lpwstr>
  </property>
</Properties>
</file>