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1" r:id="rId3"/>
    <p:sldId id="282" r:id="rId5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恶意环境下分布式数字资产交易协议设计与分析
现有分布式资产交易协议通常依赖于底层区块链的诚实矿工假设，难以应对现实环境中日益复杂的恶意攻击场景。
基于已有工作对理性矿工和拜占庭节点的安全模型，需系统分析现有协议的安全漏洞及潜在攻击，重构现有资产兑换范式，
预期目标是设计可证明安全的分布式数字资产交易协议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98400" y="1219200"/>
            <a:ext cx="13065600" cy="34272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98400" y="4747200"/>
            <a:ext cx="13065600" cy="19632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7600" indent="0" algn="ctr">
              <a:buNone/>
              <a:defRPr sz="2135"/>
            </a:lvl7pPr>
            <a:lvl8pPr marL="4267200" indent="0" algn="ctr">
              <a:buNone/>
              <a:defRPr sz="2135"/>
            </a:lvl8pPr>
            <a:lvl9pPr marL="4876800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16000" y="8419200"/>
            <a:ext cx="3600000" cy="422400"/>
          </a:xfrm>
        </p:spPr>
        <p:txBody>
          <a:bodyPr/>
          <a:lstStyle/>
          <a:p>
            <a:fld id="{93CBA602-00DB-4BC5-AF0E-E8CF46ADAD71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5488000" y="8419200"/>
            <a:ext cx="5280000" cy="4224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836800" y="8419200"/>
            <a:ext cx="3600000" cy="4224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9558" y="893"/>
            <a:ext cx="2895035" cy="96250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61161" y="36"/>
            <a:ext cx="2590294" cy="962504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4974" y="36"/>
            <a:ext cx="4113996" cy="962504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5" name="Shape 3"/>
          <p:cNvSpPr/>
          <p:nvPr/>
        </p:nvSpPr>
        <p:spPr>
          <a:xfrm>
            <a:off x="11968682" y="893"/>
            <a:ext cx="4284175" cy="961551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6" name="Shape 4"/>
          <p:cNvSpPr/>
          <p:nvPr/>
        </p:nvSpPr>
        <p:spPr>
          <a:xfrm>
            <a:off x="2282982" y="204021"/>
            <a:ext cx="2768091" cy="507869"/>
          </a:xfrm>
          <a:prstGeom prst="rect">
            <a:avLst/>
          </a:prstGeom>
          <a:noFill/>
        </p:spPr>
      </p:sp>
      <p:sp>
        <p:nvSpPr>
          <p:cNvPr id="7" name="Shape 5"/>
          <p:cNvSpPr/>
          <p:nvPr/>
        </p:nvSpPr>
        <p:spPr>
          <a:xfrm>
            <a:off x="2161086" y="143073"/>
            <a:ext cx="3011883" cy="629765"/>
          </a:xfrm>
          <a:prstGeom prst="rect">
            <a:avLst/>
          </a:prstGeom>
          <a:noFill/>
        </p:spPr>
      </p:sp>
      <p:sp>
        <p:nvSpPr>
          <p:cNvPr id="8" name="Text 6"/>
          <p:cNvSpPr/>
          <p:nvPr/>
        </p:nvSpPr>
        <p:spPr>
          <a:xfrm>
            <a:off x="2069664" y="97362"/>
            <a:ext cx="3194728" cy="721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选题背景及意义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224680" y="204021"/>
            <a:ext cx="2463351" cy="507869"/>
          </a:xfrm>
          <a:prstGeom prst="rect">
            <a:avLst/>
          </a:prstGeom>
          <a:noFill/>
        </p:spPr>
      </p:sp>
      <p:sp>
        <p:nvSpPr>
          <p:cNvPr id="10" name="Shape 8"/>
          <p:cNvSpPr/>
          <p:nvPr/>
        </p:nvSpPr>
        <p:spPr>
          <a:xfrm>
            <a:off x="5102784" y="143073"/>
            <a:ext cx="2707143" cy="629765"/>
          </a:xfrm>
          <a:prstGeom prst="rect">
            <a:avLst/>
          </a:prstGeom>
          <a:noFill/>
        </p:spPr>
      </p:sp>
      <p:sp>
        <p:nvSpPr>
          <p:cNvPr id="11" name="Text 9"/>
          <p:cNvSpPr/>
          <p:nvPr/>
        </p:nvSpPr>
        <p:spPr>
          <a:xfrm>
            <a:off x="5011362" y="97362"/>
            <a:ext cx="2889987" cy="721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国内外研究现状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78399" y="204021"/>
            <a:ext cx="3987053" cy="507869"/>
          </a:xfrm>
          <a:prstGeom prst="rect">
            <a:avLst/>
          </a:prstGeom>
          <a:noFill/>
        </p:spPr>
      </p:sp>
      <p:sp>
        <p:nvSpPr>
          <p:cNvPr id="13" name="Shape 11"/>
          <p:cNvSpPr/>
          <p:nvPr/>
        </p:nvSpPr>
        <p:spPr>
          <a:xfrm>
            <a:off x="7756502" y="143073"/>
            <a:ext cx="4230845" cy="629765"/>
          </a:xfrm>
          <a:prstGeom prst="rect">
            <a:avLst/>
          </a:prstGeom>
          <a:noFill/>
        </p:spPr>
      </p:sp>
      <p:sp>
        <p:nvSpPr>
          <p:cNvPr id="14" name="Text 12"/>
          <p:cNvSpPr/>
          <p:nvPr/>
        </p:nvSpPr>
        <p:spPr>
          <a:xfrm>
            <a:off x="7665080" y="97362"/>
            <a:ext cx="4413690" cy="721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主要研究内容及预期目标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2032202" y="204021"/>
            <a:ext cx="4157136" cy="507869"/>
          </a:xfrm>
          <a:prstGeom prst="rect">
            <a:avLst/>
          </a:prstGeom>
          <a:noFill/>
        </p:spPr>
      </p:sp>
      <p:sp>
        <p:nvSpPr>
          <p:cNvPr id="16" name="Shape 14"/>
          <p:cNvSpPr/>
          <p:nvPr/>
        </p:nvSpPr>
        <p:spPr>
          <a:xfrm>
            <a:off x="11910306" y="143073"/>
            <a:ext cx="4400929" cy="629765"/>
          </a:xfrm>
          <a:prstGeom prst="rect">
            <a:avLst/>
          </a:prstGeom>
          <a:noFill/>
        </p:spPr>
      </p:sp>
      <p:sp>
        <p:nvSpPr>
          <p:cNvPr id="17" name="Text 15"/>
          <p:cNvSpPr/>
          <p:nvPr/>
        </p:nvSpPr>
        <p:spPr>
          <a:xfrm>
            <a:off x="11818883" y="97362"/>
            <a:ext cx="4583773" cy="7211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工作计划与进度安排</a:t>
            </a:r>
            <a:endParaRPr lang="en-US" sz="2000" dirty="0"/>
          </a:p>
        </p:txBody>
      </p:sp>
      <p:pic>
        <p:nvPicPr>
          <p:cNvPr id="18" name="Image 0" descr="https://kimi-img.moonshot.cn/pub/slides/okc/flfuysioo4gzm/mnt/agents/output/temp3_pptd/images/image_1.jpg"/>
          <p:cNvPicPr>
            <a:picLocks noChangeAspect="1"/>
          </p:cNvPicPr>
          <p:nvPr/>
        </p:nvPicPr>
        <p:blipFill>
          <a:blip r:embed="rId1"/>
          <a:srcRect l="5060" r="29000"/>
          <a:stretch>
            <a:fillRect/>
          </a:stretch>
        </p:blipFill>
        <p:spPr>
          <a:xfrm>
            <a:off x="544343" y="141454"/>
            <a:ext cx="1273149" cy="74575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6378313" y="962444"/>
            <a:ext cx="389401" cy="304740"/>
          </a:xfrm>
          <a:prstGeom prst="triangle">
            <a:avLst>
              <a:gd name="adj" fmla="val 50000"/>
            </a:avLst>
          </a:prstGeom>
          <a:solidFill>
            <a:srgbClr val="04579A"/>
          </a:solidFill>
        </p:spPr>
      </p:sp>
      <p:sp>
        <p:nvSpPr>
          <p:cNvPr id="20" name="Text 17"/>
          <p:cNvSpPr/>
          <p:nvPr/>
        </p:nvSpPr>
        <p:spPr>
          <a:xfrm>
            <a:off x="571388" y="1191285"/>
            <a:ext cx="9523140" cy="619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150" b="1" dirty="0">
                <a:solidFill>
                  <a:srgbClr val="0457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现有研究不足总结</a:t>
            </a:r>
            <a:endParaRPr lang="en-US" sz="3150" dirty="0"/>
          </a:p>
        </p:txBody>
      </p:sp>
      <p:sp>
        <p:nvSpPr>
          <p:cNvPr id="54" name="Text 51"/>
          <p:cNvSpPr/>
          <p:nvPr/>
        </p:nvSpPr>
        <p:spPr>
          <a:xfrm>
            <a:off x="857083" y="7667021"/>
            <a:ext cx="14541835" cy="10475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15237024" y="8666950"/>
            <a:ext cx="761851" cy="38092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1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2100" dirty="0"/>
          </a:p>
        </p:txBody>
      </p:sp>
      <p:sp>
        <p:nvSpPr>
          <p:cNvPr id="62" name="文本框 61"/>
          <p:cNvSpPr txBox="1"/>
          <p:nvPr/>
        </p:nvSpPr>
        <p:spPr>
          <a:xfrm>
            <a:off x="3691890" y="2632075"/>
            <a:ext cx="8935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传统授</a:t>
            </a:r>
            <a:r>
              <a:rPr lang="zh-CN" altLang="en-US"/>
              <a:t>领域致力于研究</a:t>
            </a:r>
            <a:endParaRPr lang="zh-CN" altLang="en-US"/>
          </a:p>
          <a:p>
            <a:pPr indent="457200"/>
            <a:r>
              <a:rPr lang="zh-CN" altLang="en-US"/>
              <a:t>动态衰减令牌的权限，以便满足最小权限原则：</a:t>
            </a:r>
            <a:r>
              <a:rPr lang="en-US" altLang="zh-CN"/>
              <a:t>Macroons</a:t>
            </a:r>
            <a:r>
              <a:rPr lang="zh-CN" altLang="en-US"/>
              <a:t>、</a:t>
            </a:r>
            <a:r>
              <a:rPr lang="en-US" altLang="zh-CN"/>
              <a:t>Stateful Least Auth</a:t>
            </a:r>
            <a:endParaRPr lang="zh-CN" altLang="en-US"/>
          </a:p>
          <a:p>
            <a:pPr indent="457200"/>
            <a:r>
              <a:rPr lang="zh-CN" altLang="en-US"/>
              <a:t>去中心化授权，离线验证凭证：</a:t>
            </a:r>
            <a:r>
              <a:rPr lang="en-US" altLang="zh-CN"/>
              <a:t>WAVE</a:t>
            </a:r>
            <a:endParaRPr lang="en-US" altLang="zh-CN"/>
          </a:p>
        </p:txBody>
      </p:sp>
      <p:sp>
        <p:nvSpPr>
          <p:cNvPr id="63" name="文本框 62"/>
          <p:cNvSpPr txBox="1"/>
          <p:nvPr/>
        </p:nvSpPr>
        <p:spPr>
          <a:xfrm>
            <a:off x="3771265" y="3909695"/>
            <a:ext cx="9077960" cy="158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现有智能体授权领域致力于</a:t>
            </a:r>
            <a:r>
              <a:rPr lang="zh-CN" altLang="en-US"/>
              <a:t>研究</a:t>
            </a:r>
            <a:endParaRPr lang="zh-CN" altLang="en-US"/>
          </a:p>
          <a:p>
            <a:pPr indent="457200"/>
            <a:r>
              <a:rPr lang="zh-CN" altLang="en-US"/>
              <a:t>自动授权，解放人类监督任务</a:t>
            </a:r>
            <a:r>
              <a:rPr lang="en-US" altLang="zh-CN"/>
              <a:t> : Automating Permissions</a:t>
            </a:r>
            <a:endParaRPr lang="en-US" altLang="zh-CN"/>
          </a:p>
          <a:p>
            <a:pPr indent="457200"/>
            <a:r>
              <a:rPr lang="zh-CN" altLang="en-US"/>
              <a:t>委托授权，适配多智能体系统的授权需求：</a:t>
            </a:r>
            <a:r>
              <a:rPr lang="en-US" altLang="zh-CN"/>
              <a:t>Authenticated Delegation for AI Agents</a:t>
            </a:r>
            <a:endParaRPr lang="en-US" altLang="zh-CN"/>
          </a:p>
          <a:p>
            <a:pPr indent="457200"/>
            <a:r>
              <a:rPr lang="zh-CN" altLang="en-US"/>
              <a:t>收紧授权，保证最小权限原则：</a:t>
            </a:r>
            <a:r>
              <a:rPr lang="en-US" altLang="zh-CN"/>
              <a:t>Deterministic Pre-Action Auth</a:t>
            </a:r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3763645" y="5537200"/>
            <a:ext cx="5715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传统授权聚焦动态衰减</a:t>
            </a:r>
            <a:r>
              <a:rPr lang="zh-CN" altLang="en-US"/>
              <a:t>令牌权限</a:t>
            </a:r>
            <a:endParaRPr lang="zh-CN" altLang="en-US"/>
          </a:p>
          <a:p>
            <a:r>
              <a:rPr lang="zh-CN" altLang="en-US"/>
              <a:t>现有智能体授权致力于研究自动授权、委托授权，收紧授权，</a:t>
            </a:r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0772775" y="5378450"/>
            <a:ext cx="3261995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尽管</a:t>
            </a:r>
            <a:r>
              <a:rPr lang="en-US" altLang="zh-CN">
                <a:sym typeface="+mn-ea"/>
              </a:rPr>
              <a:t>OAuth is not enough</a:t>
            </a:r>
            <a:r>
              <a:rPr lang="zh-CN" altLang="en-US">
                <a:sym typeface="+mn-ea"/>
              </a:rPr>
              <a:t>提出目前需要细粒度的授权</a:t>
            </a:r>
            <a:r>
              <a:rPr lang="zh-CN" altLang="en-US">
                <a:sym typeface="+mn-ea"/>
              </a:rPr>
              <a:t>框架，但未有完整方案出现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0875645" y="6640195"/>
            <a:ext cx="3159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并且没有针对保证有序任务中顺序授权的</a:t>
            </a:r>
            <a:r>
              <a:rPr lang="zh-CN" altLang="en-US"/>
              <a:t>研究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19960" y="0"/>
            <a:ext cx="2895600" cy="96520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4" name="Shape 1"/>
          <p:cNvSpPr/>
          <p:nvPr/>
        </p:nvSpPr>
        <p:spPr>
          <a:xfrm>
            <a:off x="5162169" y="0"/>
            <a:ext cx="2590800" cy="96520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5" name="Shape 2"/>
          <p:cNvSpPr/>
          <p:nvPr/>
        </p:nvSpPr>
        <p:spPr>
          <a:xfrm>
            <a:off x="11971020" y="0"/>
            <a:ext cx="4284980" cy="96520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6" name="Shape 3"/>
          <p:cNvSpPr/>
          <p:nvPr/>
        </p:nvSpPr>
        <p:spPr>
          <a:xfrm>
            <a:off x="7816469" y="0"/>
            <a:ext cx="4114800" cy="965200"/>
          </a:xfrm>
          <a:prstGeom prst="rect">
            <a:avLst/>
          </a:prstGeom>
          <a:solidFill>
            <a:srgbClr val="04579A"/>
          </a:solidFill>
        </p:spPr>
      </p:sp>
      <p:sp>
        <p:nvSpPr>
          <p:cNvPr id="7" name="Text 4"/>
          <p:cNvSpPr/>
          <p:nvPr/>
        </p:nvSpPr>
        <p:spPr>
          <a:xfrm>
            <a:off x="2283460" y="203200"/>
            <a:ext cx="27686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选题背景及意义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225669" y="203200"/>
            <a:ext cx="24638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国内外研究现状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79969" y="203200"/>
            <a:ext cx="39878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主要研究内容及预期目标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034520" y="203200"/>
            <a:ext cx="415798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工作计划与进度安排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 rot="10800000">
            <a:off x="9683369" y="9652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04579A"/>
          </a:solidFill>
        </p:spPr>
      </p:sp>
      <p:pic>
        <p:nvPicPr>
          <p:cNvPr id="12" name="Image 0" descr="https://kimi-img.moonshot.cn/pub/slides/okc/flfuysioo4gzm/mnt/agents/output/new_pptd/images/image_2.jpg"/>
          <p:cNvPicPr>
            <a:picLocks noChangeAspect="1"/>
          </p:cNvPicPr>
          <p:nvPr/>
        </p:nvPicPr>
        <p:blipFill>
          <a:blip r:embed="rId1"/>
          <a:srcRect l="5060" r="29000"/>
          <a:stretch>
            <a:fillRect/>
          </a:stretch>
        </p:blipFill>
        <p:spPr>
          <a:xfrm>
            <a:off x="544449" y="140589"/>
            <a:ext cx="1273429" cy="7458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649067" y="8666353"/>
            <a:ext cx="606933" cy="492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2400" dirty="0"/>
          </a:p>
        </p:txBody>
      </p:sp>
      <p:grpSp>
        <p:nvGrpSpPr>
          <p:cNvPr id="31" name="组合 30"/>
          <p:cNvGrpSpPr/>
          <p:nvPr>
            <p:custDataLst>
              <p:tags r:id="rId2"/>
            </p:custDataLst>
          </p:nvPr>
        </p:nvGrpSpPr>
        <p:grpSpPr>
          <a:xfrm>
            <a:off x="742103" y="2556192"/>
            <a:ext cx="14771793" cy="3550404"/>
            <a:chOff x="519430" y="1909227"/>
            <a:chExt cx="11078845" cy="2662803"/>
          </a:xfrm>
        </p:grpSpPr>
        <p:sp>
          <p:nvSpPr>
            <p:cNvPr id="32" name="右箭头 31"/>
            <p:cNvSpPr/>
            <p:nvPr>
              <p:custDataLst>
                <p:tags r:id="rId3"/>
              </p:custDataLst>
            </p:nvPr>
          </p:nvSpPr>
          <p:spPr>
            <a:xfrm>
              <a:off x="4152900" y="2002820"/>
              <a:ext cx="355600" cy="52070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457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3" name="右箭头 32"/>
            <p:cNvSpPr/>
            <p:nvPr>
              <p:custDataLst>
                <p:tags r:id="rId4"/>
              </p:custDataLst>
            </p:nvPr>
          </p:nvSpPr>
          <p:spPr>
            <a:xfrm>
              <a:off x="4152900" y="3068985"/>
              <a:ext cx="355600" cy="52070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457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4" name="右箭头 33"/>
            <p:cNvSpPr/>
            <p:nvPr>
              <p:custDataLst>
                <p:tags r:id="rId5"/>
              </p:custDataLst>
            </p:nvPr>
          </p:nvSpPr>
          <p:spPr>
            <a:xfrm>
              <a:off x="4152900" y="4051330"/>
              <a:ext cx="355600" cy="52070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457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5" name="文本框 34"/>
            <p:cNvSpPr txBox="1"/>
            <p:nvPr>
              <p:custDataLst>
                <p:tags r:id="rId6"/>
              </p:custDataLst>
            </p:nvPr>
          </p:nvSpPr>
          <p:spPr>
            <a:xfrm>
              <a:off x="4907280" y="2063115"/>
              <a:ext cx="6307212" cy="3762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665" b="1" dirty="0">
                  <a:solidFill>
                    <a:srgbClr val="04579A"/>
                  </a:solidFill>
                  <a:sym typeface="+mn-ea"/>
                </a:rPr>
                <a:t>基于操作参数约束需求的智能体授权协议设计</a:t>
              </a:r>
              <a:r>
                <a:rPr lang="en-US" altLang="zh-CN" sz="2665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	</a:t>
              </a:r>
              <a:endParaRPr lang="en-US" altLang="zh-CN" sz="2665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7"/>
              </p:custDataLst>
            </p:nvPr>
          </p:nvSpPr>
          <p:spPr>
            <a:xfrm>
              <a:off x="4907279" y="3155315"/>
              <a:ext cx="6556375" cy="3762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665" b="1" dirty="0">
                  <a:solidFill>
                    <a:srgbClr val="04579A"/>
                  </a:solidFill>
                  <a:sym typeface="+mn-ea"/>
                </a:rPr>
                <a:t>基于顺序执行约束需求的智能体授权协议设计</a:t>
              </a:r>
              <a:endParaRPr lang="zh-CN" altLang="en-US" sz="2665" b="1" dirty="0">
                <a:solidFill>
                  <a:srgbClr val="04579A"/>
                </a:solidFill>
                <a:sym typeface="+mn-ea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8"/>
              </p:custDataLst>
            </p:nvPr>
          </p:nvSpPr>
          <p:spPr>
            <a:xfrm>
              <a:off x="4907280" y="4127500"/>
              <a:ext cx="6690995" cy="3762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665" b="1" dirty="0">
                  <a:solidFill>
                    <a:srgbClr val="04579A"/>
                  </a:solidFill>
                  <a:sym typeface="+mn-ea"/>
                </a:rPr>
                <a:t>基于复杂任务授权需求的智能体授权协议应用实现</a:t>
              </a:r>
              <a:endParaRPr lang="zh-CN" altLang="en-US" sz="2665" b="1" dirty="0">
                <a:solidFill>
                  <a:srgbClr val="04579A"/>
                </a:solidFill>
                <a:sym typeface="+mn-ea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9"/>
              </p:custDataLst>
            </p:nvPr>
          </p:nvSpPr>
          <p:spPr>
            <a:xfrm>
              <a:off x="520700" y="1909227"/>
              <a:ext cx="3234690" cy="68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ctr">
                <a:buAutoNum type="arabicPeriod"/>
              </a:pPr>
              <a:r>
                <a:rPr lang="zh-CN" altLang="en-US" sz="266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自主智能体场景下授权</a:t>
              </a:r>
              <a:r>
                <a:rPr lang="zh-CN" altLang="en-US" sz="266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宽泛</a:t>
              </a:r>
              <a:endParaRPr lang="zh-CN" altLang="en-US" sz="266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10"/>
              </p:custDataLst>
            </p:nvPr>
          </p:nvSpPr>
          <p:spPr>
            <a:xfrm>
              <a:off x="519430" y="2947749"/>
              <a:ext cx="3235960" cy="68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66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  </a:t>
              </a:r>
              <a:r>
                <a:rPr lang="zh-CN" altLang="en-US" sz="266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有序任务下无法保证顺序</a:t>
              </a:r>
              <a:r>
                <a:rPr lang="zh-CN" altLang="en-US" sz="266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授权</a:t>
              </a:r>
              <a:endParaRPr lang="zh-CN" altLang="en-US" sz="2665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11"/>
              </p:custDataLst>
            </p:nvPr>
          </p:nvSpPr>
          <p:spPr>
            <a:xfrm>
              <a:off x="519430" y="4015740"/>
              <a:ext cx="3237230" cy="376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665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DIAGRAM_VIRTUALLY_FRAME" val="{&quot;height&quot;:325.25627296587925,&quot;left&quot;:58.433280839895,&quot;top&quot;:201.27496062992117,&quot;width&quot;:1163.1333333333332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325.25627296587925,&quot;left&quot;:58.433280839895,&quot;top&quot;:201.27496062992117,&quot;width&quot;:1163.1333333333332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325.25627296587925,&quot;left&quot;:58.433280839895,&quot;top&quot;:201.27496062992117,&quot;width&quot;:1163.1333333333332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325.25627296587925,&quot;left&quot;:58.433280839895,&quot;top&quot;:201.27496062992117,&quot;width&quot;:1163.1333333333332}"/>
</p:tagLst>
</file>

<file path=ppt/tags/tag10.xml><?xml version="1.0" encoding="utf-8"?>
<p:tagLst xmlns:p="http://schemas.openxmlformats.org/presentationml/2006/main">
  <p:tag name="KSO_WM_DIAGRAM_VIRTUALLY_FRAME" val="{&quot;height&quot;:325.25627296587925,&quot;left&quot;:58.433280839895,&quot;top&quot;:201.27496062992117,&quot;width&quot;:1163.1333333333332}"/>
</p:tagLst>
</file>

<file path=ppt/tags/tag11.xml><?xml version="1.0" encoding="utf-8"?>
<p:tagLst xmlns:p="http://schemas.openxmlformats.org/presentationml/2006/main">
  <p:tag name="KSO_WM_DIAGRAM_VIRTUALLY_FRAME" val="{&quot;height&quot;:325.25627296587925,&quot;left&quot;:58.433280839895,&quot;top&quot;:201.27496062992117,&quot;width&quot;:1163.1333333333332}"/>
</p:tagLst>
</file>

<file path=ppt/tags/tag12.xml><?xml version="1.0" encoding="utf-8"?>
<p:tagLst xmlns:p="http://schemas.openxmlformats.org/presentationml/2006/main">
  <p:tag name="KSO_WM_DIAGRAM_VIRTUALLY_FRAME" val="{&quot;height&quot;:325.25627296587925,&quot;left&quot;:58.433280839895,&quot;top&quot;:201.27496062992117,&quot;width&quot;:1163.1333333333332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325.25627296587925,&quot;left&quot;:58.433280839895,&quot;top&quot;:201.27496062992117,&quot;width&quot;:1163.1333333333332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25.25627296587925,&quot;left&quot;:58.433280839895,&quot;top&quot;:201.27496062992117,&quot;width&quot;:1163.1333333333332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325.25627296587925,&quot;left&quot;:58.433280839895,&quot;top&quot;:201.27496062992117,&quot;width&quot;:1163.133333333333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WPS 演示</Application>
  <PresentationFormat>On-screen Show (16:9)</PresentationFormat>
  <Paragraphs>49</Paragraphs>
  <Slides>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Arial</vt:lpstr>
      <vt:lpstr>Arial</vt:lpstr>
      <vt:lpstr>Calibri</vt:lpstr>
      <vt:lpstr>等线</vt:lpstr>
      <vt:lpstr>微软雅黑</vt:lpstr>
      <vt:lpstr>Arial Unicode MS</vt:lpstr>
      <vt:lpstr>Office Theme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面向复杂任务智能体授权协议研究与实现 - 开题报告</dc:title>
  <dc:creator>Kimi</dc:creator>
  <dc:subject>面向复杂任务智能体授权协议研究与实现 - 开题报告</dc:subject>
  <cp:lastModifiedBy>风雨中行走</cp:lastModifiedBy>
  <cp:revision>7</cp:revision>
  <dcterms:created xsi:type="dcterms:W3CDTF">2026-06-25T07:24:00Z</dcterms:created>
  <dcterms:modified xsi:type="dcterms:W3CDTF">2026-06-27T17:36:04Z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{"Label":"面向复杂任务智能体授权协议研究与实现 - 开题报告","ContentProducer":"001191110108MACG2KBH8F10000","ProduceID":"19efccc8-6752-8721-8000-0000dd944ad4","ReservedCode1":"","ContentPropagator":"001191110108MACG2KBH8F20000","PropagateID":"19ee528b-5122-8cdd-8000-091226114ca8","ReservedCode2":""}</vt:lpwstr>
  </property>
  <property fmtid="{D5CDD505-2E9C-101B-9397-08002B2CF9AE}" pid="3" name="ICV">
    <vt:lpwstr>BCD53D5ACB674685AB8DA18A078FEE07_12</vt:lpwstr>
  </property>
  <property fmtid="{D5CDD505-2E9C-101B-9397-08002B2CF9AE}" pid="4" name="KSOProductBuildVer">
    <vt:lpwstr>2052-12.1.0.26895</vt:lpwstr>
  </property>
</Properties>
</file>