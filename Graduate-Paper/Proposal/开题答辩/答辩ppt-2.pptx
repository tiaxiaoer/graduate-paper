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6256000" cy="9144000"/>
  <p:notesSz cx="9144000" cy="16256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count</c:v>
                </c:pt>
              </c:strCache>
            </c:strRef>
          </c:tx>
          <c:spPr>
            <a:solidFill>
              <a:schemeClr val="accent1"/>
            </a:solidFill>
            <a:ln w="9525" cap="flat">
              <a:solidFill>
                <a:srgbClr val="F9F9F9"/>
              </a:solidFill>
              <a:prstDash val="solid"/>
              <a:round/>
            </a:ln>
            <a:effectLst/>
          </c:spPr>
          <c:dPt>
            <c:idx val="0"/>
            <c:bubble3D val="0"/>
            <c:spPr>
              <a:solidFill>
                <a:srgbClr val="EC5F74"/>
              </a:solidFill>
              <a:effectLst/>
            </c:spPr>
          </c:dPt>
          <c:dPt>
            <c:idx val="1"/>
            <c:bubble3D val="0"/>
            <c:spPr>
              <a:solidFill>
                <a:srgbClr val="FFBA55"/>
              </a:solidFill>
              <a:effectLst/>
            </c:spPr>
          </c:dPt>
          <c:dPt>
            <c:idx val="2"/>
            <c:bubble3D val="0"/>
            <c:spPr>
              <a:solidFill>
                <a:srgbClr val="56CA95"/>
              </a:solidFill>
              <a:effectLst/>
            </c:spPr>
          </c:dPt>
          <c:dLbls>
            <c:dLbl>
              <c:idx val="0"/>
              <c:numFmt formatCode="0%" sourceLinked="0"/>
              <c:spPr/>
              <c:txPr>
                <a:bodyPr/>
                <a:lstStyle/>
                <a:p>
                  <a:pPr>
                    <a:defRPr sz="14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4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4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HIGH/CRITICAL</c:v>
                </c:pt>
                <c:pt idx="1">
                  <c:v>MEDIUM</c:v>
                </c:pt>
                <c:pt idx="2">
                  <c:v>LOW</c:v>
                </c:pt>
              </c:strCache>
            </c:strRef>
          </c:cat>
          <c:val>
            <c:numRef>
              <c:f>Sheet1!$B$2:$B$4</c:f>
              <c:numCache>
                <c:ptCount val="3"/>
                <c:pt idx="0">
                  <c:v>74.1</c:v>
                </c:pt>
                <c:pt idx="1">
                  <c:v>18.5</c:v>
                </c:pt>
                <c:pt idx="2">
                  <c:v>7.4</c:v>
                </c:pt>
              </c:numCache>
            </c:numRef>
          </c:val>
        </c:ser>
        <c:firstSliceAng val="0"/>
        <c:holeSize val="50"/>
      </c:doughnutChart>
      <c:spPr>
        <a:noFill/>
        <a:ln>
          <a:noFill/>
        </a:ln>
        <a:effectLst/>
      </c:spPr>
    </c:plotArea>
    <c:legend>
      <c:legendPos val="b"/>
      <c:overlay val="0"/>
      <c:txPr>
        <a:bodyPr/>
        <a:lstStyle/>
        <a:p>
          <a:pPr>
            <a:defRPr sz="1300">
              <a:solidFill>
                <a:srgbClr val="333333"/>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各位老师好，我是23级博士生田安琪，我的开题报告题为分布式数字资产协议设计与分析，导师是徐静老师。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我将分四个部分进行汇报
首先是第一部分，选题背景及意义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用户规模与交易需求指数级增长的数字资产市场带来了新的技术需求。
首先是现实网络环境对分布式数字资产交易协议的安全性和健壮性提出了更高的要求。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尽管区块链对传统的网络攻击具有良好的抵抗性，但是现代网络犯罪分子对区块链及其应用系统的恶意攻击从未停止，数字资产交易协议安全性破坏将导致用户的直接经济损失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第二，大规模、高并发的交易场景要求分布式数字资产交易协议具有可扩展性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最后，异构区块链系统间的互联互通要求分布式数字资产交易协议具有互操作性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分三部分介绍分布式数字资产交易协议的国内外研究现状
（点击）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在2019年，Winzer首次提出理性矿工模型下的贿赂攻击
2021 年，MAD-HTLC团队对广泛作为基础组件使用的哈希时间锁范式进行改良，给出了抗贿赂攻击的资产兑换组件
2023年， He-HTLC团队在此基础上建模了主动理性矿工和被动理性矿工，并进一步给出了抗反向贿赂攻击的轻量级哈希时间锁范式
Aumayr等人分别在23年和24年对理性矿工假设下的分布式资产交易协议进行大胆尝试，给出了首个容忍拜占庭节点的链下资产交易协议
同年Karakostas等人发布了对贿赂攻击对PoS链的危害分析，为后续工作提供了可行的指南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下面我将简要介绍我的三项对应的研究内容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恶意环境下分布式数字资产交易协议设计与分析
现有分布式资产交易协议通常依赖于底层区块链的诚实矿工假设，难以应对现实环境中日益复杂的恶意攻击场景。
基于已有工作对理性矿工和拜占庭节点的安全模型，需系统分析现有协议的安全漏洞及潜在攻击，重构现有资产兑换范式，
预期目标是设计可证明安全的分布式数字资产交易协议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大规模环境下可扩展分布式数字资产交易协议设计与分析
当前链下交易协议通过链下支付信道、多跳路由及虚拟信道等技术已取得显著进展，但由于支付路径选择复杂、多跳支付成功率受限等因素，达不到理想性能
因此探索支付信道资产流动性优化机制以延长信道生命周期，优化现有多跳支付结构，设计多方信道安全更新机制并完成实验测试。
预期目标是提出强可靠的可扩展分布式数字资产交易协议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多源异构环境下分布式数字资产跨链验证协议设计与分析
现有跨链验证机制在证明生成与验证过程中仍面临较高的计算与存储开销，且面临异构区块链系统间的验证协议适配挑战，
此项研究基于基础数字签名技术和随机化承诺方案等密码学组件，优化跨链证明的生成和验证算法，实现恒定链下计算、低链上存储的跨链桥结构。
目标是互操作性增强的高效分布式数字资产交易协议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进度安排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尽管区块链对传统的网络攻击具有良好的抵抗性，但是现代网络犯罪分子对区块链及其应用系统的恶意攻击从未停止，数字资产交易协议安全性破坏将导致用户的直接经济损失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相比于中心化架构，分布式架构能够不间断地提供高可用性、强可靠性服务，有效解决中心化架构中单点失效的安全隐患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2008年，由中本聪设计的区块链结构和加密货币系统比特币在全球范围内获得成功
比特币以去中心化的方式维护了一个线性排序且能持续增长的交易日志，允许互联网中的任何节点随时自由地加入系统。（点击）
区块链以公开可验证、不可篡改以及去中心化的良好性质为数据确权提供了良好的基础设施（点击）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在数据流通方面，比特币提供了链上点对点数字资产交易方案，允许用户在去中心化的、互不信任的环境中安全支付
截止目前基于区块链的加密货币系统已超过200种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用户规模与交易需求指数级增长的数字资产市场带来了新的技术需求。
首先是现实网络环境对分布式数字资产交易协议的安全性和健壮性提出了更高的要求。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尽管区块链对传统的网络攻击具有良好的抵抗性，但是现代网络犯罪分子对区块链及其应用系统的恶意攻击从未停止，数字资产交易协议安全性破坏将导致用户的直接经济损失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资产兑换协议是分布式数字资产交易协议的核心组件
现有的区块链协议中：资产兑换交易决定了托管资产的归属问题，用于保证诚实用户始终能得到合法财产。（点击）
然而现有资产兑换协议依赖于额外的可信假设，削弱了协议本身的安全性(点击）
因此，分布式数字资产交易协议需要去除可信假设并建立更贴合实际的安全模型。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第二，大规模、高并发的交易场景要求分布式数字资产交易协议具有可扩展性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和传统金融机构相比，基于区块链的密码货币系统的性能堪忧
这是由区块链的共识机制和密码学结构决定的，一个非常直觉的思路是优化共识方案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然而根据以太坊创始人所提出的区块链可扩展性三元悖论，即没有任何区块链系统能同时满足去中心化、可扩展性和安全性
在保证安全性的前提下，吞吐量和去中心化晨读相互制约 （点击）
现有共识机制优化方案只能做到有限的性能提升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相比难以普及部署硬件层和网络层的性能优化方案（点击）和性能提升有限的区块链层方案（点击），
链下层方案允许用户之间通过一个经过认证的私下信道进行交易，只在链上记录初始交易和结束交易，展现出的性能提升和良好的向后兼容性。
因此分布式数字资产交易协议需要高性能的链下方案构造满足大规模场景下的高吞吐量、低延迟交易要求。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最后，异构区块链系统间的互联互通要求分布式数字资产交易协议具有互操作性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跨区块链协议可以按照操作模式分为数据传输、资产交换和资产转移三种。（点击）
跨链分布式资产交易协议的协议流程主要分为资产托管、证明生成、证明验证和条件交易四部分（点击）
其中跨链证明的生成和验证机制是核心，决定了跨链资产交易协议的性能表现
跨链资产交易协议需要高效通用的跨链证明机制，满足异构区块链系统间互联互通的需求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以上三点，说明传统的分布式数字资产交易协议尚不足以支撑支撑大规模、高并发、异构化的区块链交易场景
应对新场景下特有的技术挑战，需要构建兼具安全性与高性能的分布式数字资产交易协议体系
接下来，我将针对上述三点，（切下一页）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分三部分介绍分布式数字资产交易协议的国内外研究现状
（点击）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区块链允许共识节点，也称为矿工，获取区块内交易的小费来激励矿工提出区块（点击）
在现实中比特币和以太坊的矿工均优先打包小费金额高的交易上链 
与传统方案里资产兑换协议依赖的诚实矿工假设矛盾（点击）
在现实中恶意节点可以通过贿赂矿工延迟诚实用户的交易，抢先兑换其资产，破坏了传统资产交易方案的安全性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在2019年，Winzer首次提出理性矿工模型下的贿赂攻击
2021 年，MAD-HTLC团队对广泛作为基础组件使用的哈希时间锁范式进行改良，给出了抗贿赂攻击的资产兑换组件
2023年， He-HTLC团队在此基础上建模了主动理性矿工和被动理性矿工，并进一步给出了抗反向贿赂攻击的轻量级哈希时间锁范式
Aumayr等人分别在23年和24年对理性矿工假设下的分布式资产交易协议进行大胆尝试，给出了首个容忍拜占庭节点的链下资产交易协议
同年Karakostas等人发布了对贿赂攻击对PoS链的危害分析，为后续工作提供了可行的指南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此外，现有工作在理性矿工模型下通过矿工激励机制优化事务处理逻辑
去除了部分传统方案依赖的可信假设，如节点实时在线假设，因此方案的可靠性和性能也得到了提升。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支付信道是目前最流行的链下方案，以两个链上交易的代价允许用户间进行多次免交易费、低延迟的链下交易。
在此基础上支付信道网络方案使用多跳支付技术，允许两个节点利用其他节点作为中介进行链下支付，进一步减少了链上负载
闪电网络是目前最大的支付信道网络，被多个密码学货币系统使用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然而
1. 多跳支付技术具有路由复杂以及中介抵押成本高的问题
2. 信道资金流动性的分布直接影响支付信道网络的整体支付能力
这两个核心问题制约了支付信道网络的性能表现
目前的解决思路主要有3种：
首先是降低去中心化程度以缩短路由长度的支付信道枢纽方案：通过在网络中设置多个大型枢纽节点作为支付中介方便路由，由于中心化结构，该方向的工作致力于提升方案的隐私性，
目前最先进的工作是23年提出的BlindHub，利用非交互式零知识证明构建匿名资产凭证，实现了兼容大部分区块链的强隐私性可变额度的支付信道枢纽协议
其次是将多跳支付多个中间节点抽象为仅在支付信道关闭时介入的中介的虚拟信道方案，由于减少了与中间节点的交互，方案的可靠性和抵押资产减少，该方向的工作致力于实现多信道原子更新，
目前最先进的工作是23年提出的Donner，提出了首个非递归结构的虚拟信道，降低了方案复杂度，但目前的虚拟信道方案仍然没有解决多米诺攻击
最后是以Revive为代表的信道再平衡方案，通过组织环形的信道路径进行资产转移，从而使信道资产流动性提升，优化支付信道网络性能，该方向的工作致力于消除可信假设，
目前最先进的工作为22年提出的Shaduf，提出首个非环形结构的再平衡协议，但由于依赖于智能合约，该工作的安全性和通用性仍需优化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跨链数字资产交易协议的跨链证明主要包括：最长链证明、区块有效性证明、交易有效性证明以及交易内数据正确性证明。
其难点在于前两项证明需要节点参与共识机制，这在跨链场景下是不可能的
目前的解决思路主要有两种：基于SPV和轻客户端的方案和基于零知识证明的方案
基于轻客户端的方案优点在于计算和验证简单，但需要和链长线性相关的储存资源同时只限定与PoW链
基于零知识证明的方面优点在于可以为特殊的区块链定制零知识证明，但代价是昂贵的零知识证明计算和验证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2020年的Flyclient利用以非交互的抽样分布生成证明将SPV所需的储存复杂度降到对数级，但和区块链底层结构紧密相关，缺乏后向兼容性
2022年的zk-bridge是基于零知识证明的跨链桥协议的代表性工作，恒定储存复杂度，且支持不同应用事务的证明生成，但受限于昂贵的部署成本
23年的Glimpse使用无状态SPV按需证明机制，实现了恒定链上存储，但由于特殊脚本语言需要，难以兼容到现有主流区块链系统上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下面我将简要介绍我的三项对应的研究内容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恶意环境下分布式数字资产交易协议设计与分析
现有分布式资产交易协议通常依赖于底层区块链的诚实矿工假设，难以应对现实环境中日益复杂的恶意攻击场景。
基于已有工作对理性矿工和拜占庭节点的安全模型，需系统分析现有协议的安全漏洞及潜在攻击，重构现有资产兑换范式，
预期目标是设计可证明安全的分布式数字资产交易协议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大规模环境下可扩展分布式数字资产交易协议设计与分析
当前链下交易协议通过链下支付信道、多跳路由及虚拟信道等技术已取得显著进展，但由于支付路径选择复杂、多跳支付成功率受限等因素，达不到理想性能
因此探索支付信道资产流动性优化机制以延长信道生命周期，优化现有多跳支付结构，设计多方信道安全更新机制并完成实验测试。
预期目标是提出强可靠的可扩展分布式数字资产交易协议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多源异构环境下分布式数字资产跨链验证协议设计与分析
现有跨链验证机制在证明生成与验证过程中仍面临较高的计算与存储开销，且面临异构区块链系统间的验证协议适配挑战，
此项研究基于基础数字签名技术和随机化承诺方案等密码学组件，优化跨链证明的生成和验证算法，实现恒定链下计算、低链上存储的跨链桥结构。
目标是互操作性增强的高效分布式数字资产交易协议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已有工作两篇
1 、 无额外信任假设的抗信道干涸的多方虚拟信道协议
通过设计高效的信道再平衡子协议以及时间切片技术，实现了高性能高可靠性的链下数字资产交易协议
目前该工作已被NDSS接收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2、是抗double-claiming攻击的通用跨链原子交换协议，
在这个工作中，通过两阶段交易架构与可验证时间离散对数方案等密码学组件，实现了可证明安全的分布式数字资产交易协议
该工作目前已被SP接受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进度安排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以上是我的开题报告内容，恳请各位老师批评指正，谢谢！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3-2.png"/><Relationship Id="rId3" Type="http://schemas.openxmlformats.org/officeDocument/2006/relationships/image" Target="../media/image-3-3.jp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3-3.jpg"/><Relationship Id="rId3" Type="http://schemas.openxmlformats.org/officeDocument/2006/relationships/image" Target="../media/image-3-2.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27-2.jpg"/><Relationship Id="rId3" Type="http://schemas.openxmlformats.org/officeDocument/2006/relationships/image" Target="../media/image-27-2.jpg"/><Relationship Id="rId4" Type="http://schemas.openxmlformats.org/officeDocument/2006/relationships/image" Target="../media/image-27-2.jpg"/><Relationship Id="rId5" Type="http://schemas.openxmlformats.org/officeDocument/2006/relationships/image" Target="../media/image-27-2.jpg"/><Relationship Id="rId6" Type="http://schemas.openxmlformats.org/officeDocument/2006/relationships/image" Target="../media/image-27-2.jpg"/><Relationship Id="rId7" Type="http://schemas.openxmlformats.org/officeDocument/2006/relationships/image" Target="../media/image-27-2.jpg"/><Relationship Id="rId8" Type="http://schemas.openxmlformats.org/officeDocument/2006/relationships/image" Target="../media/image-27-2.jpg"/><Relationship Id="rId9" Type="http://schemas.openxmlformats.org/officeDocument/2006/relationships/image" Target="../media/image-27-2.jpg"/><Relationship Id="rId10" Type="http://schemas.openxmlformats.org/officeDocument/2006/relationships/image" Target="../media/image-27-2.jpg"/><Relationship Id="rId11" Type="http://schemas.openxmlformats.org/officeDocument/2006/relationships/slideLayout" Target="../slideLayouts/slideLayout1.xml"/><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1-2.jp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jpg"/><Relationship Id="rId3" Type="http://schemas.openxmlformats.org/officeDocument/2006/relationships/image" Target="../media/image-32-2.jpg"/><Relationship Id="rId4" Type="http://schemas.openxmlformats.org/officeDocument/2006/relationships/image" Target="../media/image-32-2.jpg"/><Relationship Id="rId5" Type="http://schemas.openxmlformats.org/officeDocument/2006/relationships/image" Target="../media/image-32-2.jpg"/><Relationship Id="rId6" Type="http://schemas.openxmlformats.org/officeDocument/2006/relationships/image" Target="../media/image-32-2.jpg"/><Relationship Id="rId7" Type="http://schemas.openxmlformats.org/officeDocument/2006/relationships/image" Target="../media/image-32-2.jpg"/><Relationship Id="rId8" Type="http://schemas.openxmlformats.org/officeDocument/2006/relationships/image" Target="../media/image-32-2.jpg"/><Relationship Id="rId9" Type="http://schemas.openxmlformats.org/officeDocument/2006/relationships/image" Target="../media/image-32-2.jpg"/><Relationship Id="rId10" Type="http://schemas.openxmlformats.org/officeDocument/2006/relationships/image" Target="../media/image-1-2.jpg"/><Relationship Id="rId11" Type="http://schemas.openxmlformats.org/officeDocument/2006/relationships/slideLayout" Target="../slideLayouts/slideLayout1.xml"/><Relationship Id="rId1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1.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38-2.png"/><Relationship Id="rId3" Type="http://schemas.openxmlformats.org/officeDocument/2006/relationships/image" Target="../media/image-38-3.svg"/><Relationship Id="rId4" Type="http://schemas.openxmlformats.org/officeDocument/2006/relationships/image" Target="../media/image-38-4.png"/><Relationship Id="rId5" Type="http://schemas.openxmlformats.org/officeDocument/2006/relationships/image" Target="../media/image-38-5.svg"/><Relationship Id="rId6" Type="http://schemas.openxmlformats.org/officeDocument/2006/relationships/image" Target="../media/image-38-6.png"/><Relationship Id="rId7" Type="http://schemas.openxmlformats.org/officeDocument/2006/relationships/image" Target="../media/image-38-7.svg"/><Relationship Id="rId8" Type="http://schemas.openxmlformats.org/officeDocument/2006/relationships/slideLayout" Target="../slideLayouts/slideLayout1.xml"/><Relationship Id="rId9"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41-2.png"/><Relationship Id="rId3" Type="http://schemas.openxmlformats.org/officeDocument/2006/relationships/image" Target="../media/image-32-2.jpg"/><Relationship Id="rId4" Type="http://schemas.openxmlformats.org/officeDocument/2006/relationships/image" Target="../media/image-32-2.jpg"/><Relationship Id="rId5" Type="http://schemas.openxmlformats.org/officeDocument/2006/relationships/image" Target="../media/image-32-2.jpg"/><Relationship Id="rId6" Type="http://schemas.openxmlformats.org/officeDocument/2006/relationships/image" Target="../media/image-32-2.jpg"/><Relationship Id="rId7" Type="http://schemas.openxmlformats.org/officeDocument/2006/relationships/image" Target="../media/image-41-2.png"/><Relationship Id="rId8" Type="http://schemas.openxmlformats.org/officeDocument/2006/relationships/image" Target="../media/image-41-8.png"/><Relationship Id="rId9" Type="http://schemas.openxmlformats.org/officeDocument/2006/relationships/image" Target="../media/image-41-9.svg"/><Relationship Id="rId10" Type="http://schemas.openxmlformats.org/officeDocument/2006/relationships/image" Target="../media/image-41-10.png"/><Relationship Id="rId11" Type="http://schemas.openxmlformats.org/officeDocument/2006/relationships/image" Target="../media/image-41-11.svg"/><Relationship Id="rId12" Type="http://schemas.openxmlformats.org/officeDocument/2006/relationships/image" Target="../media/image-41-12.png"/><Relationship Id="rId13" Type="http://schemas.openxmlformats.org/officeDocument/2006/relationships/image" Target="../media/image-41-13.svg"/><Relationship Id="rId14" Type="http://schemas.openxmlformats.org/officeDocument/2006/relationships/image" Target="../media/image-41-14.png"/><Relationship Id="rId15" Type="http://schemas.openxmlformats.org/officeDocument/2006/relationships/image" Target="../media/image-41-15.svg"/><Relationship Id="rId16" Type="http://schemas.openxmlformats.org/officeDocument/2006/relationships/image" Target="../media/image-41-16.png"/><Relationship Id="rId17" Type="http://schemas.openxmlformats.org/officeDocument/2006/relationships/image" Target="../media/image-41-17.svg"/><Relationship Id="rId18" Type="http://schemas.openxmlformats.org/officeDocument/2006/relationships/slideLayout" Target="../slideLayouts/slideLayout1.xml"/><Relationship Id="rId19"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361940" y="5445760"/>
            <a:ext cx="1412240" cy="437769"/>
          </a:xfrm>
          <a:prstGeom prst="roundRect">
            <a:avLst>
              <a:gd name="adj" fmla="val 50000"/>
            </a:avLst>
          </a:prstGeom>
          <a:solidFill>
            <a:srgbClr val="03569A"/>
          </a:solidFill>
          <a:ln/>
        </p:spPr>
      </p:sp>
      <p:sp>
        <p:nvSpPr>
          <p:cNvPr id="4" name="Text 1"/>
          <p:cNvSpPr/>
          <p:nvPr/>
        </p:nvSpPr>
        <p:spPr>
          <a:xfrm>
            <a:off x="5304155" y="5448935"/>
            <a:ext cx="1527810" cy="431419"/>
          </a:xfrm>
          <a:prstGeom prst="rect">
            <a:avLst/>
          </a:prstGeom>
          <a:noFill/>
          <a:ln/>
        </p:spPr>
        <p:txBody>
          <a:bodyPr wrap="square" lIns="0" tIns="0" rIns="0" bIns="0" rtlCol="0" anchor="ctr"/>
          <a:lstStyle/>
          <a:p>
            <a:pPr algn="ctr">
              <a:lnSpc>
                <a:spcPct val="120000"/>
              </a:lnSpc>
            </a:pPr>
            <a:r>
              <a:rPr lang="en-US" sz="2400" dirty="0">
                <a:solidFill>
                  <a:srgbClr val="FFFFFF"/>
                </a:solidFill>
                <a:latin typeface="MiSans" pitchFamily="34" charset="0"/>
                <a:ea typeface="MiSans" pitchFamily="34" charset="-122"/>
                <a:cs typeface="MiSans" pitchFamily="34" charset="-120"/>
              </a:rPr>
              <a:t>报告人  </a:t>
            </a:r>
            <a:endParaRPr lang="en-US" sz="2400" dirty="0"/>
          </a:p>
        </p:txBody>
      </p:sp>
      <p:pic>
        <p:nvPicPr>
          <p:cNvPr id="5" name="Image 0" descr="https://kimi-img.moonshot.cn/pub/slides/okc/flfuysioo4gzm/mnt/agents/output/yuan_pptd/images/image_1.png">    </p:cNvPr>
          <p:cNvPicPr>
            <a:picLocks noChangeAspect="1"/>
          </p:cNvPicPr>
          <p:nvPr/>
        </p:nvPicPr>
        <p:blipFill>
          <a:blip r:embed="rId1"/>
          <a:stretch>
            <a:fillRect/>
          </a:stretch>
        </p:blipFill>
        <p:spPr>
          <a:xfrm>
            <a:off x="11641709" y="526669"/>
            <a:ext cx="4296791" cy="398780"/>
          </a:xfrm>
          <a:prstGeom prst="rect">
            <a:avLst/>
          </a:prstGeom>
        </p:spPr>
      </p:pic>
      <p:sp>
        <p:nvSpPr>
          <p:cNvPr id="6" name="Text 2"/>
          <p:cNvSpPr/>
          <p:nvPr/>
        </p:nvSpPr>
        <p:spPr>
          <a:xfrm>
            <a:off x="1302385" y="3297174"/>
            <a:ext cx="13651230" cy="942340"/>
          </a:xfrm>
          <a:prstGeom prst="rect">
            <a:avLst/>
          </a:prstGeom>
          <a:noFill/>
          <a:ln/>
        </p:spPr>
        <p:txBody>
          <a:bodyPr wrap="square" lIns="0" tIns="0" rIns="0" bIns="0" rtlCol="0" anchor="t"/>
          <a:lstStyle/>
          <a:p>
            <a:pPr algn="ctr">
              <a:lnSpc>
                <a:spcPct val="120000"/>
              </a:lnSpc>
            </a:pPr>
            <a:r>
              <a:rPr lang="en-US" sz="5330" b="1" spc="133" kern="0" dirty="0">
                <a:solidFill>
                  <a:srgbClr val="04579A"/>
                </a:solidFill>
                <a:latin typeface="Noto Sans SC" pitchFamily="34" charset="0"/>
                <a:ea typeface="Noto Sans SC" pitchFamily="34" charset="-122"/>
                <a:cs typeface="Noto Sans SC" pitchFamily="34" charset="-120"/>
              </a:rPr>
              <a:t>面向双重约束智能体授权协议设计与实现</a:t>
            </a:r>
            <a:endParaRPr lang="en-US" sz="5330" dirty="0"/>
          </a:p>
        </p:txBody>
      </p:sp>
      <p:sp>
        <p:nvSpPr>
          <p:cNvPr id="7" name="Shape 3"/>
          <p:cNvSpPr/>
          <p:nvPr/>
        </p:nvSpPr>
        <p:spPr>
          <a:xfrm>
            <a:off x="7100189" y="5285740"/>
            <a:ext cx="4541520" cy="1774571"/>
          </a:xfrm>
          <a:prstGeom prst="rect">
            <a:avLst/>
          </a:prstGeom>
          <a:noFill/>
          <a:ln/>
        </p:spPr>
      </p:sp>
      <p:sp>
        <p:nvSpPr>
          <p:cNvPr id="8" name="Text 4"/>
          <p:cNvSpPr/>
          <p:nvPr/>
        </p:nvSpPr>
        <p:spPr>
          <a:xfrm>
            <a:off x="7100189" y="5285740"/>
            <a:ext cx="4541520" cy="1774571"/>
          </a:xfrm>
          <a:prstGeom prst="rect">
            <a:avLst/>
          </a:prstGeom>
          <a:noFill/>
          <a:ln/>
        </p:spPr>
        <p:txBody>
          <a:bodyPr wrap="square" lIns="0" tIns="0" rIns="0" bIns="0" rtlCol="0" anchor="t"/>
          <a:lstStyle/>
          <a:p>
            <a:pPr algn="l">
              <a:lnSpc>
                <a:spcPct val="150000"/>
              </a:lnSpc>
            </a:pPr>
            <a:r>
              <a:rPr lang="en-US" sz="2400" spc="267" kern="0" dirty="0">
                <a:solidFill>
                  <a:srgbClr val="070A11"/>
                </a:solidFill>
                <a:latin typeface="MiSans" pitchFamily="34" charset="0"/>
                <a:ea typeface="MiSans" pitchFamily="34" charset="-122"/>
                <a:cs typeface="MiSans" pitchFamily="34" charset="-120"/>
              </a:rPr>
              <a:t>袁伟奇</a:t>
            </a:r>
            <a:endParaRPr lang="en-US" sz="2400" dirty="0"/>
          </a:p>
          <a:p>
            <a:pPr algn="l">
              <a:lnSpc>
                <a:spcPct val="150000"/>
              </a:lnSpc>
              <a:spcBef>
                <a:spcPts val="1333"/>
              </a:spcBef>
            </a:pPr>
            <a:r>
              <a:rPr lang="en-US" sz="2400" spc="267" kern="0" dirty="0">
                <a:solidFill>
                  <a:srgbClr val="070A11"/>
                </a:solidFill>
                <a:latin typeface="MiSans" pitchFamily="34" charset="0"/>
                <a:ea typeface="MiSans" pitchFamily="34" charset="-122"/>
                <a:cs typeface="MiSans" pitchFamily="34" charset="-120"/>
              </a:rPr>
              <a:t>202428015070001</a:t>
            </a:r>
            <a:endParaRPr lang="en-US" sz="2400" dirty="0"/>
          </a:p>
          <a:p>
            <a:pPr algn="l">
              <a:lnSpc>
                <a:spcPct val="150000"/>
              </a:lnSpc>
              <a:spcBef>
                <a:spcPts val="1333"/>
              </a:spcBef>
            </a:pPr>
            <a:r>
              <a:rPr lang="en-US" sz="2400" spc="267" kern="0" dirty="0">
                <a:solidFill>
                  <a:srgbClr val="070A11"/>
                </a:solidFill>
                <a:latin typeface="MiSans" pitchFamily="34" charset="0"/>
                <a:ea typeface="MiSans" pitchFamily="34" charset="-122"/>
                <a:cs typeface="MiSans" pitchFamily="34" charset="-120"/>
              </a:rPr>
              <a:t>徐静 研究员</a:t>
            </a:r>
            <a:endParaRPr lang="en-US" sz="2400" dirty="0"/>
          </a:p>
        </p:txBody>
      </p:sp>
      <p:sp>
        <p:nvSpPr>
          <p:cNvPr id="9" name="Shape 5"/>
          <p:cNvSpPr/>
          <p:nvPr/>
        </p:nvSpPr>
        <p:spPr>
          <a:xfrm>
            <a:off x="1413129" y="4537329"/>
            <a:ext cx="13315569" cy="0"/>
          </a:xfrm>
          <a:prstGeom prst="line">
            <a:avLst/>
          </a:prstGeom>
          <a:noFill/>
          <a:ln w="6350">
            <a:solidFill>
              <a:srgbClr val="7F7F7F"/>
            </a:solidFill>
            <a:prstDash val="solid"/>
            <a:headEnd type="none"/>
            <a:tailEnd type="none"/>
          </a:ln>
        </p:spPr>
      </p:sp>
      <p:sp>
        <p:nvSpPr>
          <p:cNvPr id="10" name="Shape 6"/>
          <p:cNvSpPr/>
          <p:nvPr/>
        </p:nvSpPr>
        <p:spPr>
          <a:xfrm>
            <a:off x="5553329" y="2118360"/>
            <a:ext cx="4875911" cy="592709"/>
          </a:xfrm>
          <a:prstGeom prst="roundRect">
            <a:avLst>
              <a:gd name="adj" fmla="val 50000"/>
            </a:avLst>
          </a:prstGeom>
          <a:gradFill rotWithShape="1" flip="none">
            <a:gsLst>
              <a:gs pos="0">
                <a:srgbClr val="02589B"/>
              </a:gs>
              <a:gs pos="100000">
                <a:srgbClr val="024171"/>
              </a:gs>
            </a:gsLst>
            <a:lin ang="20580000" scaled="1"/>
          </a:gradFill>
          <a:ln/>
          <a:effectLst>
            <a:outerShdw sx="100000" sy="100000" kx="0" ky="0" algn="bl" rotWithShape="0" blurRad="50800" dist="53848" dir="2700000">
              <a:srgbClr val="000000">
                <a:alpha val="34902"/>
              </a:srgbClr>
            </a:outerShdw>
          </a:effectLst>
        </p:spPr>
      </p:sp>
      <p:sp>
        <p:nvSpPr>
          <p:cNvPr id="11" name="Text 7"/>
          <p:cNvSpPr/>
          <p:nvPr/>
        </p:nvSpPr>
        <p:spPr>
          <a:xfrm>
            <a:off x="5993511" y="2175891"/>
            <a:ext cx="4268851" cy="491109"/>
          </a:xfrm>
          <a:prstGeom prst="rect">
            <a:avLst/>
          </a:prstGeom>
          <a:noFill/>
          <a:ln/>
        </p:spPr>
        <p:txBody>
          <a:bodyPr wrap="square" lIns="0" tIns="0" rIns="0" bIns="0" rtlCol="0" anchor="t"/>
          <a:lstStyle/>
          <a:p>
            <a:pPr algn="ctr">
              <a:lnSpc>
                <a:spcPct val="120000"/>
              </a:lnSpc>
            </a:pPr>
            <a:r>
              <a:rPr lang="en-US" sz="2400" dirty="0">
                <a:solidFill>
                  <a:srgbClr val="FFFFFF"/>
                </a:solidFill>
                <a:latin typeface="MiSans" pitchFamily="34" charset="0"/>
                <a:ea typeface="MiSans" pitchFamily="34" charset="-122"/>
                <a:cs typeface="MiSans" pitchFamily="34" charset="-120"/>
              </a:rPr>
              <a:t>硕士学位论文 开题报告</a:t>
            </a:r>
            <a:endParaRPr lang="en-US" sz="2400" dirty="0"/>
          </a:p>
        </p:txBody>
      </p:sp>
      <p:sp>
        <p:nvSpPr>
          <p:cNvPr id="12" name="Shape 8"/>
          <p:cNvSpPr/>
          <p:nvPr/>
        </p:nvSpPr>
        <p:spPr>
          <a:xfrm rot="5400000">
            <a:off x="6112129" y="2287651"/>
            <a:ext cx="254000" cy="254000"/>
          </a:xfrm>
          <a:prstGeom prst="triangle">
            <a:avLst>
              <a:gd name="adj" fmla="val 50000"/>
            </a:avLst>
          </a:prstGeom>
          <a:solidFill>
            <a:srgbClr val="FFFFFF"/>
          </a:solidFill>
          <a:ln/>
        </p:spPr>
      </p:sp>
      <p:sp>
        <p:nvSpPr>
          <p:cNvPr id="13" name="Shape 9"/>
          <p:cNvSpPr/>
          <p:nvPr/>
        </p:nvSpPr>
        <p:spPr>
          <a:xfrm>
            <a:off x="5361940" y="6015609"/>
            <a:ext cx="1412240" cy="437769"/>
          </a:xfrm>
          <a:prstGeom prst="roundRect">
            <a:avLst>
              <a:gd name="adj" fmla="val 50000"/>
            </a:avLst>
          </a:prstGeom>
          <a:solidFill>
            <a:srgbClr val="03569A"/>
          </a:solidFill>
          <a:ln/>
        </p:spPr>
      </p:sp>
      <p:sp>
        <p:nvSpPr>
          <p:cNvPr id="14" name="Text 10"/>
          <p:cNvSpPr/>
          <p:nvPr/>
        </p:nvSpPr>
        <p:spPr>
          <a:xfrm>
            <a:off x="5304155" y="6018784"/>
            <a:ext cx="1527810" cy="431419"/>
          </a:xfrm>
          <a:prstGeom prst="rect">
            <a:avLst/>
          </a:prstGeom>
          <a:noFill/>
          <a:ln/>
        </p:spPr>
        <p:txBody>
          <a:bodyPr wrap="square" lIns="0" tIns="0" rIns="0" bIns="0" rtlCol="0" anchor="ctr"/>
          <a:lstStyle/>
          <a:p>
            <a:pPr algn="ctr">
              <a:lnSpc>
                <a:spcPct val="120000"/>
              </a:lnSpc>
            </a:pPr>
            <a:r>
              <a:rPr lang="en-US" sz="2400" dirty="0">
                <a:solidFill>
                  <a:srgbClr val="FFFFFF"/>
                </a:solidFill>
                <a:latin typeface="Arial" pitchFamily="34" charset="0"/>
                <a:ea typeface="Arial" pitchFamily="34" charset="-122"/>
                <a:cs typeface="Arial" pitchFamily="34" charset="-120"/>
              </a:rPr>
              <a:t>学  号</a:t>
            </a:r>
            <a:endParaRPr lang="en-US" sz="2400" dirty="0"/>
          </a:p>
        </p:txBody>
      </p:sp>
      <p:sp>
        <p:nvSpPr>
          <p:cNvPr id="15" name="Shape 11"/>
          <p:cNvSpPr/>
          <p:nvPr/>
        </p:nvSpPr>
        <p:spPr>
          <a:xfrm>
            <a:off x="5361940" y="6585331"/>
            <a:ext cx="1412240" cy="437769"/>
          </a:xfrm>
          <a:prstGeom prst="roundRect">
            <a:avLst>
              <a:gd name="adj" fmla="val 50000"/>
            </a:avLst>
          </a:prstGeom>
          <a:solidFill>
            <a:srgbClr val="03569A"/>
          </a:solidFill>
          <a:ln/>
        </p:spPr>
      </p:sp>
      <p:sp>
        <p:nvSpPr>
          <p:cNvPr id="16" name="Text 12"/>
          <p:cNvSpPr/>
          <p:nvPr/>
        </p:nvSpPr>
        <p:spPr>
          <a:xfrm>
            <a:off x="5304155" y="6588506"/>
            <a:ext cx="1527810" cy="431419"/>
          </a:xfrm>
          <a:prstGeom prst="rect">
            <a:avLst/>
          </a:prstGeom>
          <a:noFill/>
          <a:ln/>
        </p:spPr>
        <p:txBody>
          <a:bodyPr wrap="square" lIns="0" tIns="0" rIns="0" bIns="0" rtlCol="0" anchor="ctr"/>
          <a:lstStyle/>
          <a:p>
            <a:pPr algn="ctr">
              <a:lnSpc>
                <a:spcPct val="120000"/>
              </a:lnSpc>
            </a:pPr>
            <a:r>
              <a:rPr lang="en-US" sz="2400" dirty="0">
                <a:solidFill>
                  <a:srgbClr val="FFFFFF"/>
                </a:solidFill>
                <a:latin typeface="Arial" pitchFamily="34" charset="0"/>
                <a:ea typeface="Arial" pitchFamily="34" charset="-122"/>
                <a:cs typeface="Arial" pitchFamily="34" charset="-120"/>
              </a:rPr>
              <a:t>导  师</a:t>
            </a:r>
            <a:endParaRPr lang="en-US" sz="2400" dirty="0"/>
          </a:p>
        </p:txBody>
      </p:sp>
      <p:pic>
        <p:nvPicPr>
          <p:cNvPr id="17" name="Image 1" descr="https://kimi-img.moonshot.cn/pub/slides/okc/flfuysioo4gzm/mnt/agents/output/yuan_pptd/images/image_2.jpg">    </p:cNvPr>
          <p:cNvPicPr>
            <a:picLocks noChangeAspect="1"/>
          </p:cNvPicPr>
          <p:nvPr/>
        </p:nvPicPr>
        <p:blipFill>
          <a:blip r:embed="rId2"/>
          <a:srcRect l="5060" r="29000" t="0" b="0"/>
          <a:stretch/>
        </p:blipFill>
        <p:spPr>
          <a:xfrm>
            <a:off x="544449" y="140589"/>
            <a:ext cx="1273429" cy="745871"/>
          </a:xfrm>
          <a:prstGeom prst="rect">
            <a:avLst/>
          </a:prstGeom>
        </p:spPr>
      </p:pic>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397879" y="3018028"/>
            <a:ext cx="1924050" cy="602107"/>
          </a:xfrm>
          <a:prstGeom prst="rect">
            <a:avLst/>
          </a:prstGeom>
          <a:noFill/>
          <a:ln/>
          <a:effectLst>
            <a:outerShdw sx="100000" sy="100000" kx="0" ky="0" algn="bl" rotWithShape="0" blurRad="50800" dist="26924" dir="2700000">
              <a:srgbClr val="000000">
                <a:alpha val="40000"/>
              </a:srgbClr>
            </a:outerShdw>
          </a:effectLst>
        </p:spPr>
        <p:txBody>
          <a:bodyPr wrap="square" lIns="0" tIns="0" rIns="0" bIns="0" rtlCol="0" anchor="ctr"/>
          <a:lstStyle/>
          <a:p>
            <a:pPr algn="l">
              <a:lnSpc>
                <a:spcPct val="130000"/>
              </a:lnSpc>
            </a:pPr>
            <a:r>
              <a:rPr lang="en-US" sz="3200" b="1" dirty="0">
                <a:solidFill>
                  <a:srgbClr val="04579A"/>
                </a:solidFill>
                <a:latin typeface="Arial" pitchFamily="34" charset="0"/>
                <a:ea typeface="Arial" pitchFamily="34" charset="-122"/>
                <a:cs typeface="Arial" pitchFamily="34" charset="-120"/>
              </a:rPr>
              <a:t>01</a:t>
            </a:r>
            <a:endParaRPr lang="en-US" sz="3200" dirty="0"/>
          </a:p>
        </p:txBody>
      </p:sp>
      <p:sp>
        <p:nvSpPr>
          <p:cNvPr id="4" name="Text 1"/>
          <p:cNvSpPr/>
          <p:nvPr/>
        </p:nvSpPr>
        <p:spPr>
          <a:xfrm>
            <a:off x="6387084" y="3515360"/>
            <a:ext cx="4143121" cy="633349"/>
          </a:xfrm>
          <a:prstGeom prst="rect">
            <a:avLst/>
          </a:prstGeom>
          <a:noFill/>
          <a:ln/>
        </p:spPr>
        <p:txBody>
          <a:bodyPr wrap="square" lIns="0" tIns="0" rIns="0" bIns="0" rtlCol="0" anchor="b"/>
          <a:lstStyle/>
          <a:p>
            <a:pPr algn="l">
              <a:lnSpc>
                <a:spcPct val="120000"/>
              </a:lnSpc>
            </a:pPr>
            <a:r>
              <a:rPr lang="en-US" sz="2400" dirty="0">
                <a:solidFill>
                  <a:srgbClr val="000000"/>
                </a:solidFill>
                <a:latin typeface="Arial" pitchFamily="34" charset="0"/>
                <a:ea typeface="Arial" pitchFamily="34" charset="-122"/>
                <a:cs typeface="Arial" pitchFamily="34" charset="-120"/>
              </a:rPr>
              <a:t>选题背景及意义</a:t>
            </a:r>
            <a:endParaRPr lang="en-US" sz="2400" dirty="0"/>
          </a:p>
        </p:txBody>
      </p:sp>
      <p:sp>
        <p:nvSpPr>
          <p:cNvPr id="5" name="Text 2"/>
          <p:cNvSpPr/>
          <p:nvPr/>
        </p:nvSpPr>
        <p:spPr>
          <a:xfrm>
            <a:off x="6397879" y="4311015"/>
            <a:ext cx="1924050" cy="602107"/>
          </a:xfrm>
          <a:prstGeom prst="rect">
            <a:avLst/>
          </a:prstGeom>
          <a:noFill/>
          <a:ln/>
          <a:effectLst>
            <a:outerShdw sx="100000" sy="100000" kx="0" ky="0" algn="bl" rotWithShape="0" blurRad="50800" dist="26924" dir="2700000">
              <a:srgbClr val="000000">
                <a:alpha val="40000"/>
              </a:srgbClr>
            </a:outerShdw>
          </a:effectLst>
        </p:spPr>
        <p:txBody>
          <a:bodyPr wrap="square" lIns="0" tIns="0" rIns="0" bIns="0" rtlCol="0" anchor="ctr"/>
          <a:lstStyle/>
          <a:p>
            <a:pPr algn="l">
              <a:lnSpc>
                <a:spcPct val="130000"/>
              </a:lnSpc>
            </a:pPr>
            <a:r>
              <a:rPr lang="en-US" sz="3200" b="1" dirty="0">
                <a:solidFill>
                  <a:srgbClr val="04579A"/>
                </a:solidFill>
                <a:latin typeface="Arial" pitchFamily="34" charset="0"/>
                <a:ea typeface="Arial" pitchFamily="34" charset="-122"/>
                <a:cs typeface="Arial" pitchFamily="34" charset="-120"/>
              </a:rPr>
              <a:t>02</a:t>
            </a:r>
            <a:endParaRPr lang="en-US" sz="3200" dirty="0"/>
          </a:p>
        </p:txBody>
      </p:sp>
      <p:sp>
        <p:nvSpPr>
          <p:cNvPr id="6" name="Text 3"/>
          <p:cNvSpPr/>
          <p:nvPr/>
        </p:nvSpPr>
        <p:spPr>
          <a:xfrm>
            <a:off x="6397879" y="5597525"/>
            <a:ext cx="1924050" cy="602107"/>
          </a:xfrm>
          <a:prstGeom prst="rect">
            <a:avLst/>
          </a:prstGeom>
          <a:noFill/>
          <a:ln/>
          <a:effectLst>
            <a:outerShdw sx="100000" sy="100000" kx="0" ky="0" algn="bl" rotWithShape="0" blurRad="38100" dist="26924" dir="2700000">
              <a:srgbClr val="000000">
                <a:alpha val="42745"/>
              </a:srgbClr>
            </a:outerShdw>
          </a:effectLst>
        </p:spPr>
        <p:txBody>
          <a:bodyPr wrap="square" lIns="0" tIns="0" rIns="0" bIns="0" rtlCol="0" anchor="ctr"/>
          <a:lstStyle/>
          <a:p>
            <a:pPr algn="l">
              <a:lnSpc>
                <a:spcPct val="130000"/>
              </a:lnSpc>
            </a:pPr>
            <a:r>
              <a:rPr lang="en-US" sz="3200" b="1" dirty="0">
                <a:solidFill>
                  <a:srgbClr val="04579A"/>
                </a:solidFill>
                <a:latin typeface="Arial" pitchFamily="34" charset="0"/>
                <a:ea typeface="Arial" pitchFamily="34" charset="-122"/>
                <a:cs typeface="Arial" pitchFamily="34" charset="-120"/>
              </a:rPr>
              <a:t>03</a:t>
            </a:r>
            <a:endParaRPr lang="en-US" sz="3200" dirty="0"/>
          </a:p>
        </p:txBody>
      </p:sp>
      <p:sp>
        <p:nvSpPr>
          <p:cNvPr id="7" name="Text 4"/>
          <p:cNvSpPr/>
          <p:nvPr/>
        </p:nvSpPr>
        <p:spPr>
          <a:xfrm>
            <a:off x="6397879" y="6884035"/>
            <a:ext cx="1924050" cy="602107"/>
          </a:xfrm>
          <a:prstGeom prst="rect">
            <a:avLst/>
          </a:prstGeom>
          <a:noFill/>
          <a:ln/>
          <a:effectLst>
            <a:outerShdw sx="100000" sy="100000" kx="0" ky="0" algn="bl" rotWithShape="0" blurRad="38100" dist="26924" dir="2700000">
              <a:srgbClr val="000000">
                <a:alpha val="42745"/>
              </a:srgbClr>
            </a:outerShdw>
          </a:effectLst>
        </p:spPr>
        <p:txBody>
          <a:bodyPr wrap="square" lIns="0" tIns="0" rIns="0" bIns="0" rtlCol="0" anchor="ctr"/>
          <a:lstStyle/>
          <a:p>
            <a:pPr algn="l">
              <a:lnSpc>
                <a:spcPct val="130000"/>
              </a:lnSpc>
            </a:pPr>
            <a:r>
              <a:rPr lang="en-US" sz="3200" b="1" dirty="0">
                <a:solidFill>
                  <a:srgbClr val="04579A"/>
                </a:solidFill>
                <a:latin typeface="Arial" pitchFamily="34" charset="0"/>
                <a:ea typeface="Arial" pitchFamily="34" charset="-122"/>
                <a:cs typeface="Arial" pitchFamily="34" charset="-120"/>
              </a:rPr>
              <a:t>04</a:t>
            </a:r>
            <a:endParaRPr lang="en-US" sz="3200" dirty="0"/>
          </a:p>
        </p:txBody>
      </p:sp>
      <p:sp>
        <p:nvSpPr>
          <p:cNvPr id="8" name="Text 5"/>
          <p:cNvSpPr/>
          <p:nvPr/>
        </p:nvSpPr>
        <p:spPr>
          <a:xfrm>
            <a:off x="970153" y="2345309"/>
            <a:ext cx="3696208" cy="1402334"/>
          </a:xfrm>
          <a:prstGeom prst="rect">
            <a:avLst/>
          </a:prstGeom>
          <a:noFill/>
          <a:ln/>
        </p:spPr>
        <p:txBody>
          <a:bodyPr wrap="square" lIns="0" tIns="0" rIns="0" bIns="0" rtlCol="0" anchor="ctr"/>
          <a:lstStyle/>
          <a:p>
            <a:pPr algn="l">
              <a:lnSpc>
                <a:spcPct val="130000"/>
              </a:lnSpc>
            </a:pPr>
            <a:r>
              <a:rPr lang="en-US" sz="3730" b="1" dirty="0">
                <a:solidFill>
                  <a:srgbClr val="04579A"/>
                </a:solidFill>
                <a:latin typeface="Arial" pitchFamily="34" charset="0"/>
                <a:ea typeface="Arial" pitchFamily="34" charset="-122"/>
                <a:cs typeface="Arial" pitchFamily="34" charset="-120"/>
              </a:rPr>
              <a:t>报告提纲</a:t>
            </a:r>
            <a:endParaRPr lang="en-US" sz="3730" dirty="0"/>
          </a:p>
        </p:txBody>
      </p:sp>
      <p:sp>
        <p:nvSpPr>
          <p:cNvPr id="9" name="Shape 6"/>
          <p:cNvSpPr/>
          <p:nvPr/>
        </p:nvSpPr>
        <p:spPr>
          <a:xfrm>
            <a:off x="1011555" y="2193036"/>
            <a:ext cx="3653028" cy="0"/>
          </a:xfrm>
          <a:prstGeom prst="line">
            <a:avLst/>
          </a:prstGeom>
          <a:noFill/>
          <a:ln w="22225">
            <a:solidFill>
              <a:srgbClr val="2A2824"/>
            </a:solidFill>
            <a:prstDash val="solid"/>
            <a:headEnd type="none"/>
            <a:tailEnd type="none"/>
          </a:ln>
        </p:spPr>
      </p:sp>
      <p:sp>
        <p:nvSpPr>
          <p:cNvPr id="10" name="Text 7"/>
          <p:cNvSpPr/>
          <p:nvPr/>
        </p:nvSpPr>
        <p:spPr>
          <a:xfrm>
            <a:off x="893191" y="1787652"/>
            <a:ext cx="3958717" cy="328295"/>
          </a:xfrm>
          <a:prstGeom prst="rect">
            <a:avLst/>
          </a:prstGeom>
          <a:noFill/>
          <a:ln/>
        </p:spPr>
        <p:txBody>
          <a:bodyPr wrap="square" lIns="0" tIns="0" rIns="0" bIns="0" rtlCol="0" anchor="t"/>
          <a:lstStyle/>
          <a:p>
            <a:pPr algn="l">
              <a:lnSpc>
                <a:spcPct val="130000"/>
              </a:lnSpc>
            </a:pPr>
            <a:r>
              <a:rPr lang="en-US" sz="1600" b="1" dirty="0">
                <a:solidFill>
                  <a:srgbClr val="04579A"/>
                </a:solidFill>
                <a:latin typeface="Arial" pitchFamily="34" charset="0"/>
                <a:ea typeface="Arial" pitchFamily="34" charset="-122"/>
                <a:cs typeface="Arial" pitchFamily="34" charset="-120"/>
              </a:rPr>
              <a:t>OUTLINE</a:t>
            </a:r>
            <a:endParaRPr lang="en-US" sz="1600" dirty="0"/>
          </a:p>
        </p:txBody>
      </p:sp>
      <p:sp>
        <p:nvSpPr>
          <p:cNvPr id="11" name="Shape 8"/>
          <p:cNvSpPr/>
          <p:nvPr/>
        </p:nvSpPr>
        <p:spPr>
          <a:xfrm>
            <a:off x="1016127" y="3899916"/>
            <a:ext cx="3456432" cy="0"/>
          </a:xfrm>
          <a:prstGeom prst="line">
            <a:avLst/>
          </a:prstGeom>
          <a:noFill/>
          <a:ln w="31750">
            <a:solidFill>
              <a:srgbClr val="2A2824"/>
            </a:solidFill>
            <a:prstDash val="solid"/>
            <a:headEnd type="none"/>
            <a:tailEnd type="none"/>
          </a:ln>
        </p:spPr>
      </p:sp>
      <p:sp>
        <p:nvSpPr>
          <p:cNvPr id="12" name="Text 9"/>
          <p:cNvSpPr/>
          <p:nvPr/>
        </p:nvSpPr>
        <p:spPr>
          <a:xfrm>
            <a:off x="1001522" y="4013835"/>
            <a:ext cx="3081528" cy="1082167"/>
          </a:xfrm>
          <a:prstGeom prst="rect">
            <a:avLst/>
          </a:prstGeom>
          <a:noFill/>
          <a:ln/>
        </p:spPr>
        <p:txBody>
          <a:bodyPr wrap="square" lIns="0" tIns="0" rIns="0" bIns="0" rtlCol="0" anchor="t"/>
          <a:lstStyle/>
          <a:p>
            <a:pPr algn="ctr">
              <a:lnSpc>
                <a:spcPct val="130000"/>
              </a:lnSpc>
            </a:pPr>
            <a:r>
              <a:rPr lang="en-US" sz="1470" dirty="0">
                <a:solidFill>
                  <a:srgbClr val="000000"/>
                </a:solidFill>
                <a:latin typeface="Arial" pitchFamily="34" charset="0"/>
                <a:ea typeface="Arial" pitchFamily="34" charset="-122"/>
                <a:cs typeface="Arial" pitchFamily="34" charset="-120"/>
              </a:rPr>
              <a:t>分布式数字资产协议</a:t>
            </a:r>
            <a:endParaRPr lang="en-US" sz="1470" dirty="0"/>
          </a:p>
          <a:p>
            <a:pPr algn="ctr">
              <a:lnSpc>
                <a:spcPct val="130000"/>
              </a:lnSpc>
            </a:pPr>
            <a:r>
              <a:rPr lang="en-US" sz="1470" dirty="0">
                <a:solidFill>
                  <a:srgbClr val="000000"/>
                </a:solidFill>
                <a:latin typeface="Arial" pitchFamily="34" charset="0"/>
                <a:ea typeface="Arial" pitchFamily="34" charset="-122"/>
                <a:cs typeface="Arial" pitchFamily="34" charset="-120"/>
              </a:rPr>
              <a:t>设计与分析</a:t>
            </a:r>
            <a:endParaRPr lang="en-US" sz="1470" dirty="0"/>
          </a:p>
        </p:txBody>
      </p:sp>
      <p:sp>
        <p:nvSpPr>
          <p:cNvPr id="13" name="Shape 10"/>
          <p:cNvSpPr/>
          <p:nvPr/>
        </p:nvSpPr>
        <p:spPr>
          <a:xfrm>
            <a:off x="6255766" y="4088130"/>
            <a:ext cx="7621905" cy="0"/>
          </a:xfrm>
          <a:prstGeom prst="line">
            <a:avLst/>
          </a:prstGeom>
          <a:noFill/>
          <a:ln w="12700">
            <a:solidFill>
              <a:srgbClr val="000000"/>
            </a:solidFill>
            <a:prstDash val="solid"/>
            <a:headEnd type="none"/>
            <a:tailEnd type="none"/>
          </a:ln>
        </p:spPr>
      </p:sp>
      <p:sp>
        <p:nvSpPr>
          <p:cNvPr id="14" name="Shape 11"/>
          <p:cNvSpPr/>
          <p:nvPr/>
        </p:nvSpPr>
        <p:spPr>
          <a:xfrm>
            <a:off x="6255766" y="5407914"/>
            <a:ext cx="7621905" cy="0"/>
          </a:xfrm>
          <a:prstGeom prst="line">
            <a:avLst/>
          </a:prstGeom>
          <a:noFill/>
          <a:ln w="12700">
            <a:solidFill>
              <a:srgbClr val="000000"/>
            </a:solidFill>
            <a:prstDash val="solid"/>
            <a:headEnd type="none"/>
            <a:tailEnd type="none"/>
          </a:ln>
        </p:spPr>
      </p:sp>
      <p:sp>
        <p:nvSpPr>
          <p:cNvPr id="15" name="Shape 12"/>
          <p:cNvSpPr/>
          <p:nvPr/>
        </p:nvSpPr>
        <p:spPr>
          <a:xfrm>
            <a:off x="6255766" y="6727698"/>
            <a:ext cx="7621905" cy="0"/>
          </a:xfrm>
          <a:prstGeom prst="line">
            <a:avLst/>
          </a:prstGeom>
          <a:noFill/>
          <a:ln w="12700">
            <a:solidFill>
              <a:srgbClr val="000000"/>
            </a:solidFill>
            <a:prstDash val="solid"/>
            <a:headEnd type="none"/>
            <a:tailEnd type="none"/>
          </a:ln>
        </p:spPr>
      </p:sp>
      <p:sp>
        <p:nvSpPr>
          <p:cNvPr id="16" name="Text 13"/>
          <p:cNvSpPr/>
          <p:nvPr/>
        </p:nvSpPr>
        <p:spPr>
          <a:xfrm>
            <a:off x="6387084" y="4836160"/>
            <a:ext cx="4301490" cy="633349"/>
          </a:xfrm>
          <a:prstGeom prst="rect">
            <a:avLst/>
          </a:prstGeom>
          <a:noFill/>
          <a:ln/>
        </p:spPr>
        <p:txBody>
          <a:bodyPr wrap="square" lIns="0" tIns="0" rIns="0" bIns="0" rtlCol="0" anchor="b"/>
          <a:lstStyle/>
          <a:p>
            <a:pPr algn="l">
              <a:lnSpc>
                <a:spcPct val="120000"/>
              </a:lnSpc>
            </a:pPr>
            <a:r>
              <a:rPr lang="en-US" sz="2400" dirty="0">
                <a:solidFill>
                  <a:srgbClr val="000000"/>
                </a:solidFill>
                <a:latin typeface="Arial" pitchFamily="34" charset="0"/>
                <a:ea typeface="Arial" pitchFamily="34" charset="-122"/>
                <a:cs typeface="Arial" pitchFamily="34" charset="-120"/>
              </a:rPr>
              <a:t>国内外研究现状</a:t>
            </a:r>
            <a:endParaRPr lang="en-US" sz="2400" dirty="0"/>
          </a:p>
        </p:txBody>
      </p:sp>
      <p:sp>
        <p:nvSpPr>
          <p:cNvPr id="17" name="Text 14"/>
          <p:cNvSpPr/>
          <p:nvPr/>
        </p:nvSpPr>
        <p:spPr>
          <a:xfrm>
            <a:off x="6398006" y="6157849"/>
            <a:ext cx="4301490" cy="633349"/>
          </a:xfrm>
          <a:prstGeom prst="rect">
            <a:avLst/>
          </a:prstGeom>
          <a:noFill/>
          <a:ln/>
        </p:spPr>
        <p:txBody>
          <a:bodyPr wrap="square" lIns="0" tIns="0" rIns="0" bIns="0" rtlCol="0" anchor="b"/>
          <a:lstStyle/>
          <a:p>
            <a:pPr algn="l">
              <a:lnSpc>
                <a:spcPct val="120000"/>
              </a:lnSpc>
            </a:pPr>
            <a:r>
              <a:rPr lang="en-US" sz="2400" dirty="0">
                <a:solidFill>
                  <a:srgbClr val="000000"/>
                </a:solidFill>
                <a:latin typeface="Arial" pitchFamily="34" charset="0"/>
                <a:ea typeface="Arial" pitchFamily="34" charset="-122"/>
                <a:cs typeface="Arial" pitchFamily="34" charset="-120"/>
              </a:rPr>
              <a:t>研究内容及预期目标</a:t>
            </a:r>
            <a:endParaRPr lang="en-US" sz="2400" dirty="0"/>
          </a:p>
        </p:txBody>
      </p:sp>
      <p:sp>
        <p:nvSpPr>
          <p:cNvPr id="18" name="Text 15"/>
          <p:cNvSpPr/>
          <p:nvPr/>
        </p:nvSpPr>
        <p:spPr>
          <a:xfrm>
            <a:off x="6398006" y="7354951"/>
            <a:ext cx="4301490" cy="633349"/>
          </a:xfrm>
          <a:prstGeom prst="rect">
            <a:avLst/>
          </a:prstGeom>
          <a:noFill/>
          <a:ln/>
        </p:spPr>
        <p:txBody>
          <a:bodyPr wrap="square" lIns="0" tIns="0" rIns="0" bIns="0" rtlCol="0" anchor="b"/>
          <a:lstStyle/>
          <a:p>
            <a:pPr algn="l">
              <a:lnSpc>
                <a:spcPct val="120000"/>
              </a:lnSpc>
            </a:pPr>
            <a:r>
              <a:rPr lang="en-US" sz="2400" dirty="0">
                <a:solidFill>
                  <a:srgbClr val="000000"/>
                </a:solidFill>
                <a:latin typeface="Arial" pitchFamily="34" charset="0"/>
                <a:ea typeface="Arial" pitchFamily="34" charset="-122"/>
                <a:cs typeface="Arial" pitchFamily="34" charset="-120"/>
              </a:rPr>
              <a:t>工作计划与进度安排</a:t>
            </a:r>
            <a:endParaRPr lang="en-US" sz="2400" dirty="0"/>
          </a:p>
        </p:txBody>
      </p:sp>
      <p:pic>
        <p:nvPicPr>
          <p:cNvPr id="19"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168900" y="0"/>
            <a:ext cx="2654300" cy="965200"/>
          </a:xfrm>
          <a:prstGeom prst="rect">
            <a:avLst/>
          </a:prstGeom>
          <a:solidFill>
            <a:srgbClr val="F2F2F2"/>
          </a:solidFill>
          <a:ln/>
        </p:spPr>
      </p:sp>
      <p:sp>
        <p:nvSpPr>
          <p:cNvPr id="3" name="Shape 1"/>
          <p:cNvSpPr/>
          <p:nvPr/>
        </p:nvSpPr>
        <p:spPr>
          <a:xfrm>
            <a:off x="7810500" y="0"/>
            <a:ext cx="4152900" cy="965200"/>
          </a:xfrm>
          <a:prstGeom prst="rect">
            <a:avLst/>
          </a:prstGeom>
          <a:solidFill>
            <a:srgbClr val="F2F2F2"/>
          </a:solidFill>
          <a:ln/>
        </p:spPr>
      </p:sp>
      <p:sp>
        <p:nvSpPr>
          <p:cNvPr id="4" name="Shape 2"/>
          <p:cNvSpPr/>
          <p:nvPr/>
        </p:nvSpPr>
        <p:spPr>
          <a:xfrm>
            <a:off x="11976100" y="0"/>
            <a:ext cx="4279900" cy="965200"/>
          </a:xfrm>
          <a:prstGeom prst="rect">
            <a:avLst/>
          </a:prstGeom>
          <a:solidFill>
            <a:srgbClr val="F2F2F2"/>
          </a:solidFill>
          <a:ln/>
        </p:spPr>
      </p:sp>
      <p:sp>
        <p:nvSpPr>
          <p:cNvPr id="5" name="Shape 3"/>
          <p:cNvSpPr/>
          <p:nvPr/>
        </p:nvSpPr>
        <p:spPr>
          <a:xfrm>
            <a:off x="2222500" y="0"/>
            <a:ext cx="2895600" cy="965200"/>
          </a:xfrm>
          <a:prstGeom prst="rect">
            <a:avLst/>
          </a:prstGeom>
          <a:solidFill>
            <a:srgbClr val="04579A"/>
          </a:solidFill>
          <a:ln/>
        </p:spPr>
      </p:sp>
      <p:sp>
        <p:nvSpPr>
          <p:cNvPr id="6" name="Text 4"/>
          <p:cNvSpPr/>
          <p:nvPr/>
        </p:nvSpPr>
        <p:spPr>
          <a:xfrm>
            <a:off x="2286000" y="254000"/>
            <a:ext cx="2794000" cy="457200"/>
          </a:xfrm>
          <a:prstGeom prst="rect">
            <a:avLst/>
          </a:prstGeom>
          <a:noFill/>
          <a:ln/>
        </p:spPr>
        <p:txBody>
          <a:bodyPr wrap="none" lIns="0" tIns="0" rIns="0" bIns="0" rtlCol="0" anchor="ctr"/>
          <a:lstStyle/>
          <a:p>
            <a:pPr algn="ctr">
              <a:lnSpc>
                <a:spcPct val="120000"/>
              </a:lnSpc>
            </a:pPr>
            <a:r>
              <a:rPr lang="en-US" sz="2200" dirty="0">
                <a:solidFill>
                  <a:srgbClr val="FFFFFF"/>
                </a:solidFill>
                <a:latin typeface="Arial" pitchFamily="34" charset="0"/>
                <a:ea typeface="Arial" pitchFamily="34" charset="-122"/>
                <a:cs typeface="Arial" pitchFamily="34" charset="-120"/>
              </a:rPr>
              <a:t>选题背景及意义</a:t>
            </a:r>
            <a:endParaRPr lang="en-US" sz="2200" dirty="0"/>
          </a:p>
        </p:txBody>
      </p:sp>
      <p:sp>
        <p:nvSpPr>
          <p:cNvPr id="7" name="Text 5"/>
          <p:cNvSpPr/>
          <p:nvPr/>
        </p:nvSpPr>
        <p:spPr>
          <a:xfrm>
            <a:off x="5168900" y="254000"/>
            <a:ext cx="2590800" cy="457200"/>
          </a:xfrm>
          <a:prstGeom prst="rect">
            <a:avLst/>
          </a:prstGeom>
          <a:noFill/>
          <a:ln/>
        </p:spPr>
        <p:txBody>
          <a:bodyPr wrap="none" lIns="0" tIns="0" rIns="0" bIns="0" rtlCol="0" anchor="ctr"/>
          <a:lstStyle/>
          <a:p>
            <a:pPr algn="ctr">
              <a:lnSpc>
                <a:spcPct val="120000"/>
              </a:lnSpc>
            </a:pPr>
            <a:r>
              <a:rPr lang="en-US" sz="2200" dirty="0">
                <a:solidFill>
                  <a:srgbClr val="333333"/>
                </a:solidFill>
                <a:latin typeface="Arial" pitchFamily="34" charset="0"/>
                <a:ea typeface="Arial" pitchFamily="34" charset="-122"/>
                <a:cs typeface="Arial" pitchFamily="34" charset="-120"/>
              </a:rPr>
              <a:t>国内外研究现状</a:t>
            </a:r>
            <a:endParaRPr lang="en-US" sz="2200" dirty="0"/>
          </a:p>
        </p:txBody>
      </p:sp>
      <p:sp>
        <p:nvSpPr>
          <p:cNvPr id="8" name="Text 6"/>
          <p:cNvSpPr/>
          <p:nvPr/>
        </p:nvSpPr>
        <p:spPr>
          <a:xfrm>
            <a:off x="7810500" y="254000"/>
            <a:ext cx="4114800" cy="457200"/>
          </a:xfrm>
          <a:prstGeom prst="rect">
            <a:avLst/>
          </a:prstGeom>
          <a:noFill/>
          <a:ln/>
        </p:spPr>
        <p:txBody>
          <a:bodyPr wrap="none" lIns="0" tIns="0" rIns="0" bIns="0" rtlCol="0" anchor="ctr"/>
          <a:lstStyle/>
          <a:p>
            <a:pPr algn="ctr">
              <a:lnSpc>
                <a:spcPct val="120000"/>
              </a:lnSpc>
            </a:pPr>
            <a:r>
              <a:rPr lang="en-US" sz="2200" dirty="0">
                <a:solidFill>
                  <a:srgbClr val="333333"/>
                </a:solidFill>
                <a:latin typeface="Arial" pitchFamily="34" charset="0"/>
                <a:ea typeface="Arial" pitchFamily="34" charset="-122"/>
                <a:cs typeface="Arial" pitchFamily="34" charset="-120"/>
              </a:rPr>
              <a:t>主要研究内容及预期目标</a:t>
            </a:r>
            <a:endParaRPr lang="en-US" sz="2200" dirty="0"/>
          </a:p>
        </p:txBody>
      </p:sp>
      <p:sp>
        <p:nvSpPr>
          <p:cNvPr id="9" name="Text 7"/>
          <p:cNvSpPr/>
          <p:nvPr/>
        </p:nvSpPr>
        <p:spPr>
          <a:xfrm>
            <a:off x="11976100" y="254000"/>
            <a:ext cx="4279900" cy="457200"/>
          </a:xfrm>
          <a:prstGeom prst="rect">
            <a:avLst/>
          </a:prstGeom>
          <a:noFill/>
          <a:ln/>
        </p:spPr>
        <p:txBody>
          <a:bodyPr wrap="none" lIns="0" tIns="0" rIns="0" bIns="0" rtlCol="0" anchor="ctr"/>
          <a:lstStyle/>
          <a:p>
            <a:pPr algn="ctr">
              <a:lnSpc>
                <a:spcPct val="120000"/>
              </a:lnSpc>
            </a:pPr>
            <a:r>
              <a:rPr lang="en-US" sz="2200" dirty="0">
                <a:solidFill>
                  <a:srgbClr val="333333"/>
                </a:solidFill>
                <a:latin typeface="Arial" pitchFamily="34" charset="0"/>
                <a:ea typeface="Arial" pitchFamily="34" charset="-122"/>
                <a:cs typeface="Arial" pitchFamily="34" charset="-120"/>
              </a:rPr>
              <a:t>工作计划与进度安排</a:t>
            </a:r>
            <a:endParaRPr lang="en-US" sz="2200" dirty="0"/>
          </a:p>
        </p:txBody>
      </p:sp>
      <p:sp>
        <p:nvSpPr>
          <p:cNvPr id="10" name="Shape 8"/>
          <p:cNvSpPr/>
          <p:nvPr/>
        </p:nvSpPr>
        <p:spPr>
          <a:xfrm rot="10800000">
            <a:off x="3492500" y="965200"/>
            <a:ext cx="393700" cy="304800"/>
          </a:xfrm>
          <a:prstGeom prst="triangle">
            <a:avLst>
              <a:gd name="adj" fmla="val 50000"/>
            </a:avLst>
          </a:prstGeom>
          <a:solidFill>
            <a:srgbClr val="04579A"/>
          </a:solidFill>
          <a:ln/>
        </p:spPr>
      </p:sp>
      <p:pic>
        <p:nvPicPr>
          <p:cNvPr id="11" name="Image 0" descr="https://kimi-img.moonshot.cn/pub/slides/okc/flfuysioo4gzm/mnt/agents/output/yuan_pptd/images/image_2.jpg">    </p:cNvPr>
          <p:cNvPicPr>
            <a:picLocks noChangeAspect="1"/>
          </p:cNvPicPr>
          <p:nvPr/>
        </p:nvPicPr>
        <p:blipFill>
          <a:blip r:embed="rId1"/>
          <a:srcRect l="5060" r="29000" t="0" b="0"/>
          <a:stretch/>
        </p:blipFill>
        <p:spPr>
          <a:xfrm>
            <a:off x="546100" y="139700"/>
            <a:ext cx="1270000" cy="749300"/>
          </a:xfrm>
          <a:prstGeom prst="rect">
            <a:avLst/>
          </a:prstGeom>
        </p:spPr>
      </p:pic>
      <p:sp>
        <p:nvSpPr>
          <p:cNvPr id="12" name="Text 9"/>
          <p:cNvSpPr/>
          <p:nvPr/>
        </p:nvSpPr>
        <p:spPr>
          <a:xfrm>
            <a:off x="762000" y="1460500"/>
            <a:ext cx="7620000" cy="571500"/>
          </a:xfrm>
          <a:prstGeom prst="rect">
            <a:avLst/>
          </a:prstGeom>
          <a:noFill/>
          <a:ln/>
        </p:spPr>
        <p:txBody>
          <a:bodyPr wrap="none" lIns="0" tIns="0" rIns="0" bIns="0" rtlCol="0" anchor="ctr"/>
          <a:lstStyle/>
          <a:p>
            <a:pPr algn="l">
              <a:lnSpc>
                <a:spcPct val="120000"/>
              </a:lnSpc>
            </a:pPr>
            <a:r>
              <a:rPr lang="en-US" sz="3000" b="1" dirty="0">
                <a:solidFill>
                  <a:srgbClr val="005C8F"/>
                </a:solidFill>
                <a:latin typeface="Quattrocento Sans" pitchFamily="34" charset="0"/>
                <a:ea typeface="Quattrocento Sans" pitchFamily="34" charset="-122"/>
                <a:cs typeface="Quattrocento Sans" pitchFamily="34" charset="-120"/>
              </a:rPr>
              <a:t>智能体的发展与应用</a:t>
            </a:r>
            <a:endParaRPr lang="en-US" sz="3000" dirty="0"/>
          </a:p>
        </p:txBody>
      </p:sp>
      <p:sp>
        <p:nvSpPr>
          <p:cNvPr id="13" name="Text 10"/>
          <p:cNvSpPr/>
          <p:nvPr/>
        </p:nvSpPr>
        <p:spPr>
          <a:xfrm>
            <a:off x="762000" y="2159000"/>
            <a:ext cx="3810000" cy="355600"/>
          </a:xfrm>
          <a:prstGeom prst="rect">
            <a:avLst/>
          </a:prstGeom>
          <a:noFill/>
          <a:ln/>
        </p:spPr>
        <p:txBody>
          <a:bodyPr wrap="none" lIns="0" tIns="0" rIns="0" bIns="0" rtlCol="0" anchor="ctr"/>
          <a:lstStyle/>
          <a:p>
            <a:pPr algn="l">
              <a:lnSpc>
                <a:spcPct val="120000"/>
              </a:lnSpc>
            </a:pPr>
            <a:r>
              <a:rPr lang="en-US" sz="1700" b="1" dirty="0">
                <a:solidFill>
                  <a:srgbClr val="0077BB"/>
                </a:solidFill>
                <a:latin typeface="Quattrocento Sans" pitchFamily="34" charset="0"/>
                <a:ea typeface="Quattrocento Sans" pitchFamily="34" charset="-122"/>
                <a:cs typeface="Quattrocento Sans" pitchFamily="34" charset="-120"/>
              </a:rPr>
              <a:t>智能体定义</a:t>
            </a:r>
            <a:endParaRPr lang="en-US" sz="1700" dirty="0"/>
          </a:p>
        </p:txBody>
      </p:sp>
      <p:sp>
        <p:nvSpPr>
          <p:cNvPr id="14" name="Text 11"/>
          <p:cNvSpPr/>
          <p:nvPr/>
        </p:nvSpPr>
        <p:spPr>
          <a:xfrm>
            <a:off x="762000" y="2565400"/>
            <a:ext cx="7112000" cy="1270000"/>
          </a:xfrm>
          <a:prstGeom prst="rect">
            <a:avLst/>
          </a:prstGeom>
          <a:noFill/>
          <a:ln/>
        </p:spPr>
        <p:txBody>
          <a:bodyPr wrap="square" lIns="0" tIns="0" rIns="0" bIns="0" rtlCol="0" anchor="t"/>
          <a:lstStyle/>
          <a:p>
            <a:pPr algn="l">
              <a:lnSpc>
                <a:spcPct val="160000"/>
              </a:lnSpc>
            </a:pPr>
            <a:r>
              <a:rPr lang="en-US" sz="1700" dirty="0">
                <a:solidFill>
                  <a:srgbClr val="333333"/>
                </a:solidFill>
                <a:latin typeface="Quattrocento Sans" pitchFamily="34" charset="0"/>
                <a:ea typeface="Quattrocento Sans" pitchFamily="34" charset="-122"/>
                <a:cs typeface="Quattrocento Sans" pitchFamily="34" charset="-120"/>
              </a:rPr>
              <a:t>AI 智能体（AI Agent）是能够</a:t>
            </a:r>
            <a:pPr algn="l">
              <a:lnSpc>
                <a:spcPct val="160000"/>
              </a:lnSpc>
            </a:pPr>
            <a:r>
              <a:rPr lang="en-US" sz="1700" b="1" dirty="0">
                <a:solidFill>
                  <a:srgbClr val="333333"/>
                </a:solidFill>
                <a:latin typeface="Quattrocento Sans" pitchFamily="34" charset="0"/>
                <a:ea typeface="Quattrocento Sans" pitchFamily="34" charset="-122"/>
                <a:cs typeface="Quattrocento Sans" pitchFamily="34" charset="-120"/>
              </a:rPr>
              <a:t>感知环境、自主决策并执行动作</a:t>
            </a:r>
            <a:pPr algn="l">
              <a:lnSpc>
                <a:spcPct val="160000"/>
              </a:lnSpc>
            </a:pPr>
            <a:r>
              <a:rPr lang="en-US" sz="1700" dirty="0">
                <a:solidFill>
                  <a:srgbClr val="333333"/>
                </a:solidFill>
                <a:latin typeface="Quattrocento Sans" pitchFamily="34" charset="0"/>
                <a:ea typeface="Quattrocento Sans" pitchFamily="34" charset="-122"/>
                <a:cs typeface="Quattrocento Sans" pitchFamily="34" charset="-120"/>
              </a:rPr>
              <a:t>的智能化系统。以大模型为认知引擎，结合工具调用与多模态感知技术，正从概念验证走向规模化落地。</a:t>
            </a:r>
            <a:endParaRPr lang="en-US" sz="1700" dirty="0"/>
          </a:p>
        </p:txBody>
      </p:sp>
      <p:sp>
        <p:nvSpPr>
          <p:cNvPr id="15" name="Shape 12"/>
          <p:cNvSpPr/>
          <p:nvPr/>
        </p:nvSpPr>
        <p:spPr>
          <a:xfrm>
            <a:off x="762000" y="3937000"/>
            <a:ext cx="7112000" cy="12700"/>
          </a:xfrm>
          <a:prstGeom prst="rect">
            <a:avLst/>
          </a:prstGeom>
          <a:solidFill>
            <a:srgbClr val="E0E0E0"/>
          </a:solidFill>
          <a:ln/>
        </p:spPr>
      </p:sp>
      <p:sp>
        <p:nvSpPr>
          <p:cNvPr id="16" name="Text 13"/>
          <p:cNvSpPr/>
          <p:nvPr/>
        </p:nvSpPr>
        <p:spPr>
          <a:xfrm>
            <a:off x="762000" y="4038600"/>
            <a:ext cx="3810000" cy="355600"/>
          </a:xfrm>
          <a:prstGeom prst="rect">
            <a:avLst/>
          </a:prstGeom>
          <a:noFill/>
          <a:ln/>
        </p:spPr>
        <p:txBody>
          <a:bodyPr wrap="none" lIns="0" tIns="0" rIns="0" bIns="0" rtlCol="0" anchor="ctr"/>
          <a:lstStyle/>
          <a:p>
            <a:pPr algn="l">
              <a:lnSpc>
                <a:spcPct val="120000"/>
              </a:lnSpc>
            </a:pPr>
            <a:r>
              <a:rPr lang="en-US" sz="1700" b="1" dirty="0">
                <a:solidFill>
                  <a:srgbClr val="0077BB"/>
                </a:solidFill>
                <a:latin typeface="Quattrocento Sans" pitchFamily="34" charset="0"/>
                <a:ea typeface="Quattrocento Sans" pitchFamily="34" charset="-122"/>
                <a:cs typeface="Quattrocento Sans" pitchFamily="34" charset="-120"/>
              </a:rPr>
              <a:t>深度渗透领域</a:t>
            </a:r>
            <a:endParaRPr lang="en-US" sz="1700" dirty="0"/>
          </a:p>
        </p:txBody>
      </p:sp>
      <p:sp>
        <p:nvSpPr>
          <p:cNvPr id="17" name="Shape 14"/>
          <p:cNvSpPr/>
          <p:nvPr/>
        </p:nvSpPr>
        <p:spPr>
          <a:xfrm>
            <a:off x="762000" y="4445000"/>
            <a:ext cx="3429000" cy="1270000"/>
          </a:xfrm>
          <a:prstGeom prst="roundRect">
            <a:avLst>
              <a:gd name="adj" fmla="val 6000"/>
            </a:avLst>
          </a:prstGeom>
          <a:solidFill>
            <a:srgbClr val="E6F0F7"/>
          </a:solidFill>
          <a:ln/>
        </p:spPr>
      </p:sp>
      <p:sp>
        <p:nvSpPr>
          <p:cNvPr id="18" name="Shape 15"/>
          <p:cNvSpPr/>
          <p:nvPr/>
        </p:nvSpPr>
        <p:spPr>
          <a:xfrm>
            <a:off x="990600" y="4597400"/>
            <a:ext cx="355600" cy="355600"/>
          </a:xfrm>
          <a:custGeom>
            <a:avLst/>
            <a:gdLst/>
            <a:ahLst/>
            <a:cxnLst/>
            <a:rect l="l" t="t" r="r" b="b"/>
            <a:pathLst>
              <a:path w="355600" h="355600">
                <a:moveTo>
                  <a:pt x="222744" y="833"/>
                </a:moveTo>
                <a:cubicBezTo>
                  <a:pt x="212249" y="-2570"/>
                  <a:pt x="201321" y="4306"/>
                  <a:pt x="198296" y="16113"/>
                </a:cubicBezTo>
                <a:lnTo>
                  <a:pt x="119274" y="327263"/>
                </a:lnTo>
                <a:cubicBezTo>
                  <a:pt x="116249" y="339070"/>
                  <a:pt x="122361" y="351363"/>
                  <a:pt x="132856" y="354767"/>
                </a:cubicBezTo>
                <a:cubicBezTo>
                  <a:pt x="143351" y="358170"/>
                  <a:pt x="154279" y="351294"/>
                  <a:pt x="157304" y="339487"/>
                </a:cubicBezTo>
                <a:lnTo>
                  <a:pt x="236326" y="28337"/>
                </a:lnTo>
                <a:cubicBezTo>
                  <a:pt x="239351" y="16530"/>
                  <a:pt x="233239" y="4237"/>
                  <a:pt x="222744" y="833"/>
                </a:cubicBezTo>
                <a:close/>
                <a:moveTo>
                  <a:pt x="262625" y="95359"/>
                </a:moveTo>
                <a:cubicBezTo>
                  <a:pt x="254908" y="104041"/>
                  <a:pt x="254908" y="118140"/>
                  <a:pt x="262625" y="126821"/>
                </a:cubicBezTo>
                <a:lnTo>
                  <a:pt x="307940" y="177800"/>
                </a:lnTo>
                <a:lnTo>
                  <a:pt x="262625" y="228779"/>
                </a:lnTo>
                <a:cubicBezTo>
                  <a:pt x="254908" y="237460"/>
                  <a:pt x="254908" y="251559"/>
                  <a:pt x="262625" y="260241"/>
                </a:cubicBezTo>
                <a:cubicBezTo>
                  <a:pt x="270342" y="268922"/>
                  <a:pt x="282875" y="268922"/>
                  <a:pt x="290592" y="260241"/>
                </a:cubicBezTo>
                <a:lnTo>
                  <a:pt x="349859" y="193566"/>
                </a:lnTo>
                <a:cubicBezTo>
                  <a:pt x="357576" y="184884"/>
                  <a:pt x="357576" y="170785"/>
                  <a:pt x="349859" y="162104"/>
                </a:cubicBezTo>
                <a:lnTo>
                  <a:pt x="290592" y="95429"/>
                </a:lnTo>
                <a:cubicBezTo>
                  <a:pt x="282875" y="86747"/>
                  <a:pt x="270342" y="86747"/>
                  <a:pt x="262625" y="95429"/>
                </a:cubicBezTo>
                <a:close/>
                <a:moveTo>
                  <a:pt x="93036" y="95359"/>
                </a:moveTo>
                <a:cubicBezTo>
                  <a:pt x="85319" y="86678"/>
                  <a:pt x="72787" y="86678"/>
                  <a:pt x="65070" y="95359"/>
                </a:cubicBezTo>
                <a:lnTo>
                  <a:pt x="5803" y="162034"/>
                </a:lnTo>
                <a:cubicBezTo>
                  <a:pt x="-1914" y="170716"/>
                  <a:pt x="-1914" y="184815"/>
                  <a:pt x="5803" y="193496"/>
                </a:cubicBezTo>
                <a:lnTo>
                  <a:pt x="65070" y="260171"/>
                </a:lnTo>
                <a:cubicBezTo>
                  <a:pt x="72787" y="268853"/>
                  <a:pt x="85319" y="268853"/>
                  <a:pt x="93036" y="260171"/>
                </a:cubicBezTo>
                <a:cubicBezTo>
                  <a:pt x="100753" y="251490"/>
                  <a:pt x="100753" y="237391"/>
                  <a:pt x="93036" y="228709"/>
                </a:cubicBezTo>
                <a:lnTo>
                  <a:pt x="47722" y="177800"/>
                </a:lnTo>
                <a:lnTo>
                  <a:pt x="92975" y="126821"/>
                </a:lnTo>
                <a:cubicBezTo>
                  <a:pt x="100692" y="118140"/>
                  <a:pt x="100692" y="104041"/>
                  <a:pt x="92975" y="95359"/>
                </a:cubicBezTo>
                <a:close/>
              </a:path>
            </a:pathLst>
          </a:custGeom>
          <a:solidFill>
            <a:srgbClr val="005C8F"/>
          </a:solidFill>
          <a:ln/>
        </p:spPr>
      </p:sp>
      <p:sp>
        <p:nvSpPr>
          <p:cNvPr id="19" name="Text 16"/>
          <p:cNvSpPr/>
          <p:nvPr/>
        </p:nvSpPr>
        <p:spPr>
          <a:xfrm>
            <a:off x="1447800" y="4660900"/>
            <a:ext cx="2540000" cy="355600"/>
          </a:xfrm>
          <a:prstGeom prst="rect">
            <a:avLst/>
          </a:prstGeom>
          <a:noFill/>
          <a:ln/>
        </p:spPr>
        <p:txBody>
          <a:bodyPr wrap="none" lIns="0" tIns="0" rIns="0" bIns="0" rtlCol="0" anchor="ctr"/>
          <a:lstStyle/>
          <a:p>
            <a:pPr algn="l">
              <a:lnSpc>
                <a:spcPct val="120000"/>
              </a:lnSpc>
            </a:pPr>
            <a:r>
              <a:rPr lang="en-US" sz="1600" b="1" dirty="0">
                <a:solidFill>
                  <a:srgbClr val="005C8F"/>
                </a:solidFill>
                <a:latin typeface="Quattrocento Sans" pitchFamily="34" charset="0"/>
                <a:ea typeface="Quattrocento Sans" pitchFamily="34" charset="-122"/>
                <a:cs typeface="Quattrocento Sans" pitchFamily="34" charset="-120"/>
              </a:rPr>
              <a:t>编程开发</a:t>
            </a:r>
            <a:endParaRPr lang="en-US" sz="1600" dirty="0"/>
          </a:p>
        </p:txBody>
      </p:sp>
      <p:sp>
        <p:nvSpPr>
          <p:cNvPr id="20" name="Text 17"/>
          <p:cNvSpPr/>
          <p:nvPr/>
        </p:nvSpPr>
        <p:spPr>
          <a:xfrm>
            <a:off x="990600" y="5080000"/>
            <a:ext cx="2984500" cy="609600"/>
          </a:xfrm>
          <a:prstGeom prst="rect">
            <a:avLst/>
          </a:prstGeom>
          <a:noFill/>
          <a:ln/>
        </p:spPr>
        <p:txBody>
          <a:bodyPr wrap="square" lIns="0" tIns="0" rIns="0" bIns="0" rtlCol="0" anchor="t"/>
          <a:lstStyle/>
          <a:p>
            <a:pPr algn="l">
              <a:lnSpc>
                <a:spcPct val="150000"/>
              </a:lnSpc>
            </a:pPr>
            <a:r>
              <a:rPr lang="en-US" sz="1300" dirty="0">
                <a:solidFill>
                  <a:srgbClr val="333333"/>
                </a:solidFill>
                <a:latin typeface="Quattrocento Sans" pitchFamily="34" charset="0"/>
                <a:ea typeface="Quattrocento Sans" pitchFamily="34" charset="-122"/>
                <a:cs typeface="Quattrocento Sans" pitchFamily="34" charset="-120"/>
              </a:rPr>
              <a:t>Claude Code、GitHub Copilot 实现全链路自主编码</a:t>
            </a:r>
            <a:endParaRPr lang="en-US" sz="1300" dirty="0"/>
          </a:p>
        </p:txBody>
      </p:sp>
      <p:sp>
        <p:nvSpPr>
          <p:cNvPr id="21" name="Shape 18"/>
          <p:cNvSpPr/>
          <p:nvPr/>
        </p:nvSpPr>
        <p:spPr>
          <a:xfrm>
            <a:off x="4445000" y="4445000"/>
            <a:ext cx="3429000" cy="1270000"/>
          </a:xfrm>
          <a:prstGeom prst="roundRect">
            <a:avLst>
              <a:gd name="adj" fmla="val 6000"/>
            </a:avLst>
          </a:prstGeom>
          <a:solidFill>
            <a:srgbClr val="E6F0F7"/>
          </a:solidFill>
          <a:ln/>
        </p:spPr>
      </p:sp>
      <p:sp>
        <p:nvSpPr>
          <p:cNvPr id="22" name="Shape 19"/>
          <p:cNvSpPr/>
          <p:nvPr/>
        </p:nvSpPr>
        <p:spPr>
          <a:xfrm>
            <a:off x="4673600" y="4597400"/>
            <a:ext cx="355600" cy="355600"/>
          </a:xfrm>
          <a:custGeom>
            <a:avLst/>
            <a:gdLst/>
            <a:ahLst/>
            <a:cxnLst/>
            <a:rect l="l" t="t" r="r" b="b"/>
            <a:pathLst>
              <a:path w="355600" h="355600">
                <a:moveTo>
                  <a:pt x="59267" y="0"/>
                </a:moveTo>
                <a:cubicBezTo>
                  <a:pt x="26577" y="0"/>
                  <a:pt x="0" y="19933"/>
                  <a:pt x="0" y="44450"/>
                </a:cubicBezTo>
                <a:lnTo>
                  <a:pt x="0" y="311150"/>
                </a:lnTo>
                <a:cubicBezTo>
                  <a:pt x="0" y="335667"/>
                  <a:pt x="26577" y="355600"/>
                  <a:pt x="59267" y="355600"/>
                </a:cubicBezTo>
                <a:lnTo>
                  <a:pt x="296333" y="355600"/>
                </a:lnTo>
                <a:cubicBezTo>
                  <a:pt x="329023" y="355600"/>
                  <a:pt x="355600" y="335667"/>
                  <a:pt x="355600" y="311150"/>
                </a:cubicBezTo>
                <a:lnTo>
                  <a:pt x="355600" y="44450"/>
                </a:lnTo>
                <a:cubicBezTo>
                  <a:pt x="355600" y="19933"/>
                  <a:pt x="329023" y="0"/>
                  <a:pt x="296333" y="0"/>
                </a:cubicBezTo>
                <a:lnTo>
                  <a:pt x="59267" y="0"/>
                </a:lnTo>
                <a:close/>
                <a:moveTo>
                  <a:pt x="162983" y="244475"/>
                </a:moveTo>
                <a:lnTo>
                  <a:pt x="192617" y="244475"/>
                </a:lnTo>
                <a:cubicBezTo>
                  <a:pt x="209008" y="244475"/>
                  <a:pt x="222250" y="254407"/>
                  <a:pt x="222250" y="266700"/>
                </a:cubicBezTo>
                <a:lnTo>
                  <a:pt x="222250" y="322263"/>
                </a:lnTo>
                <a:lnTo>
                  <a:pt x="133350" y="322263"/>
                </a:lnTo>
                <a:lnTo>
                  <a:pt x="133350" y="266700"/>
                </a:lnTo>
                <a:cubicBezTo>
                  <a:pt x="133350" y="254407"/>
                  <a:pt x="146592" y="244475"/>
                  <a:pt x="162983" y="244475"/>
                </a:cubicBezTo>
                <a:close/>
                <a:moveTo>
                  <a:pt x="88900" y="77788"/>
                </a:moveTo>
                <a:cubicBezTo>
                  <a:pt x="88900" y="71676"/>
                  <a:pt x="95568" y="66675"/>
                  <a:pt x="103717" y="66675"/>
                </a:cubicBezTo>
                <a:lnTo>
                  <a:pt x="133350" y="66675"/>
                </a:lnTo>
                <a:cubicBezTo>
                  <a:pt x="141499" y="66675"/>
                  <a:pt x="148167" y="71676"/>
                  <a:pt x="148167" y="77788"/>
                </a:cubicBezTo>
                <a:lnTo>
                  <a:pt x="148167" y="100013"/>
                </a:lnTo>
                <a:cubicBezTo>
                  <a:pt x="148167" y="106124"/>
                  <a:pt x="141499" y="111125"/>
                  <a:pt x="133350" y="111125"/>
                </a:cubicBezTo>
                <a:lnTo>
                  <a:pt x="103717" y="111125"/>
                </a:lnTo>
                <a:cubicBezTo>
                  <a:pt x="95568" y="111125"/>
                  <a:pt x="88900" y="106124"/>
                  <a:pt x="88900" y="100013"/>
                </a:cubicBezTo>
                <a:lnTo>
                  <a:pt x="88900" y="77788"/>
                </a:lnTo>
                <a:close/>
                <a:moveTo>
                  <a:pt x="222250" y="66675"/>
                </a:moveTo>
                <a:lnTo>
                  <a:pt x="251883" y="66675"/>
                </a:lnTo>
                <a:cubicBezTo>
                  <a:pt x="260033" y="66675"/>
                  <a:pt x="266700" y="71676"/>
                  <a:pt x="266700" y="77788"/>
                </a:cubicBezTo>
                <a:lnTo>
                  <a:pt x="266700" y="100013"/>
                </a:lnTo>
                <a:cubicBezTo>
                  <a:pt x="266700" y="106124"/>
                  <a:pt x="260033" y="111125"/>
                  <a:pt x="251883" y="111125"/>
                </a:cubicBezTo>
                <a:lnTo>
                  <a:pt x="222250" y="111125"/>
                </a:lnTo>
                <a:cubicBezTo>
                  <a:pt x="214101" y="111125"/>
                  <a:pt x="207433" y="106124"/>
                  <a:pt x="207433" y="100013"/>
                </a:cubicBezTo>
                <a:lnTo>
                  <a:pt x="207433" y="77788"/>
                </a:lnTo>
                <a:cubicBezTo>
                  <a:pt x="207433" y="71676"/>
                  <a:pt x="214101" y="66675"/>
                  <a:pt x="222250" y="66675"/>
                </a:cubicBezTo>
                <a:close/>
                <a:moveTo>
                  <a:pt x="88900" y="166688"/>
                </a:moveTo>
                <a:cubicBezTo>
                  <a:pt x="88900" y="160576"/>
                  <a:pt x="95568" y="155575"/>
                  <a:pt x="103717" y="155575"/>
                </a:cubicBezTo>
                <a:lnTo>
                  <a:pt x="133350" y="155575"/>
                </a:lnTo>
                <a:cubicBezTo>
                  <a:pt x="141499" y="155575"/>
                  <a:pt x="148167" y="160576"/>
                  <a:pt x="148167" y="166688"/>
                </a:cubicBezTo>
                <a:lnTo>
                  <a:pt x="148167" y="188913"/>
                </a:lnTo>
                <a:cubicBezTo>
                  <a:pt x="148167" y="195024"/>
                  <a:pt x="141499" y="200025"/>
                  <a:pt x="133350" y="200025"/>
                </a:cubicBezTo>
                <a:lnTo>
                  <a:pt x="103717" y="200025"/>
                </a:lnTo>
                <a:cubicBezTo>
                  <a:pt x="95568" y="200025"/>
                  <a:pt x="88900" y="195024"/>
                  <a:pt x="88900" y="188913"/>
                </a:cubicBezTo>
                <a:lnTo>
                  <a:pt x="88900" y="166688"/>
                </a:lnTo>
                <a:close/>
                <a:moveTo>
                  <a:pt x="222250" y="155575"/>
                </a:moveTo>
                <a:lnTo>
                  <a:pt x="251883" y="155575"/>
                </a:lnTo>
                <a:cubicBezTo>
                  <a:pt x="260033" y="155575"/>
                  <a:pt x="266700" y="160576"/>
                  <a:pt x="266700" y="166688"/>
                </a:cubicBezTo>
                <a:lnTo>
                  <a:pt x="266700" y="188913"/>
                </a:lnTo>
                <a:cubicBezTo>
                  <a:pt x="266700" y="195024"/>
                  <a:pt x="260033" y="200025"/>
                  <a:pt x="251883" y="200025"/>
                </a:cubicBezTo>
                <a:lnTo>
                  <a:pt x="222250" y="200025"/>
                </a:lnTo>
                <a:cubicBezTo>
                  <a:pt x="214101" y="200025"/>
                  <a:pt x="207433" y="195024"/>
                  <a:pt x="207433" y="188913"/>
                </a:cubicBezTo>
                <a:lnTo>
                  <a:pt x="207433" y="166688"/>
                </a:lnTo>
                <a:cubicBezTo>
                  <a:pt x="207433" y="160576"/>
                  <a:pt x="214101" y="155575"/>
                  <a:pt x="222250" y="155575"/>
                </a:cubicBezTo>
                <a:close/>
              </a:path>
            </a:pathLst>
          </a:custGeom>
          <a:solidFill>
            <a:srgbClr val="005C8F"/>
          </a:solidFill>
          <a:ln/>
        </p:spPr>
      </p:sp>
      <p:sp>
        <p:nvSpPr>
          <p:cNvPr id="23" name="Text 20"/>
          <p:cNvSpPr/>
          <p:nvPr/>
        </p:nvSpPr>
        <p:spPr>
          <a:xfrm>
            <a:off x="5130800" y="4660900"/>
            <a:ext cx="2540000" cy="355600"/>
          </a:xfrm>
          <a:prstGeom prst="rect">
            <a:avLst/>
          </a:prstGeom>
          <a:noFill/>
          <a:ln/>
        </p:spPr>
        <p:txBody>
          <a:bodyPr wrap="none" lIns="0" tIns="0" rIns="0" bIns="0" rtlCol="0" anchor="ctr"/>
          <a:lstStyle/>
          <a:p>
            <a:pPr algn="l">
              <a:lnSpc>
                <a:spcPct val="120000"/>
              </a:lnSpc>
            </a:pPr>
            <a:r>
              <a:rPr lang="en-US" sz="1600" b="1" dirty="0">
                <a:solidFill>
                  <a:srgbClr val="005C8F"/>
                </a:solidFill>
                <a:latin typeface="Quattrocento Sans" pitchFamily="34" charset="0"/>
                <a:ea typeface="Quattrocento Sans" pitchFamily="34" charset="-122"/>
                <a:cs typeface="Quattrocento Sans" pitchFamily="34" charset="-120"/>
              </a:rPr>
              <a:t>企业办公</a:t>
            </a:r>
            <a:endParaRPr lang="en-US" sz="1600" dirty="0"/>
          </a:p>
        </p:txBody>
      </p:sp>
      <p:sp>
        <p:nvSpPr>
          <p:cNvPr id="24" name="Text 21"/>
          <p:cNvSpPr/>
          <p:nvPr/>
        </p:nvSpPr>
        <p:spPr>
          <a:xfrm>
            <a:off x="4673600" y="5080000"/>
            <a:ext cx="2984500" cy="609600"/>
          </a:xfrm>
          <a:prstGeom prst="rect">
            <a:avLst/>
          </a:prstGeom>
          <a:noFill/>
          <a:ln/>
        </p:spPr>
        <p:txBody>
          <a:bodyPr wrap="square" lIns="0" tIns="0" rIns="0" bIns="0" rtlCol="0" anchor="t"/>
          <a:lstStyle/>
          <a:p>
            <a:pPr algn="l">
              <a:lnSpc>
                <a:spcPct val="150000"/>
              </a:lnSpc>
            </a:pPr>
            <a:r>
              <a:rPr lang="en-US" sz="1300" dirty="0">
                <a:solidFill>
                  <a:srgbClr val="333333"/>
                </a:solidFill>
                <a:latin typeface="Quattrocento Sans" pitchFamily="34" charset="0"/>
                <a:ea typeface="Quattrocento Sans" pitchFamily="34" charset="-122"/>
                <a:cs typeface="Quattrocento Sans" pitchFamily="34" charset="-120"/>
              </a:rPr>
              <a:t>Moveworks 等企业级 Agent 自动化 IT/HR 服务</a:t>
            </a:r>
            <a:endParaRPr lang="en-US" sz="1300" dirty="0"/>
          </a:p>
        </p:txBody>
      </p:sp>
      <p:sp>
        <p:nvSpPr>
          <p:cNvPr id="25" name="Shape 22"/>
          <p:cNvSpPr/>
          <p:nvPr/>
        </p:nvSpPr>
        <p:spPr>
          <a:xfrm>
            <a:off x="762000" y="5905500"/>
            <a:ext cx="3429000" cy="1270000"/>
          </a:xfrm>
          <a:prstGeom prst="roundRect">
            <a:avLst>
              <a:gd name="adj" fmla="val 6000"/>
            </a:avLst>
          </a:prstGeom>
          <a:solidFill>
            <a:srgbClr val="E6F0F7"/>
          </a:solidFill>
          <a:ln/>
        </p:spPr>
      </p:sp>
      <p:sp>
        <p:nvSpPr>
          <p:cNvPr id="26" name="Shape 23"/>
          <p:cNvSpPr/>
          <p:nvPr/>
        </p:nvSpPr>
        <p:spPr>
          <a:xfrm>
            <a:off x="990600" y="6057900"/>
            <a:ext cx="355600" cy="355600"/>
          </a:xfrm>
          <a:custGeom>
            <a:avLst/>
            <a:gdLst/>
            <a:ahLst/>
            <a:cxnLst/>
            <a:rect l="l" t="t" r="r" b="b"/>
            <a:pathLst>
              <a:path w="355600" h="355600">
                <a:moveTo>
                  <a:pt x="177800" y="44450"/>
                </a:moveTo>
                <a:cubicBezTo>
                  <a:pt x="115094" y="44450"/>
                  <a:pt x="62944" y="84247"/>
                  <a:pt x="52626" y="136614"/>
                </a:cubicBezTo>
                <a:cubicBezTo>
                  <a:pt x="60008" y="134531"/>
                  <a:pt x="67945" y="133350"/>
                  <a:pt x="76200" y="133350"/>
                </a:cubicBezTo>
                <a:lnTo>
                  <a:pt x="88900" y="133350"/>
                </a:lnTo>
                <a:cubicBezTo>
                  <a:pt x="109934" y="133350"/>
                  <a:pt x="127000" y="148282"/>
                  <a:pt x="127000" y="166688"/>
                </a:cubicBezTo>
                <a:lnTo>
                  <a:pt x="127000" y="233363"/>
                </a:lnTo>
                <a:cubicBezTo>
                  <a:pt x="127000" y="251768"/>
                  <a:pt x="109934" y="266700"/>
                  <a:pt x="88900" y="266700"/>
                </a:cubicBezTo>
                <a:lnTo>
                  <a:pt x="76200" y="266700"/>
                </a:lnTo>
                <a:cubicBezTo>
                  <a:pt x="34131" y="266700"/>
                  <a:pt x="0" y="236835"/>
                  <a:pt x="0" y="200025"/>
                </a:cubicBezTo>
                <a:lnTo>
                  <a:pt x="0" y="155575"/>
                </a:lnTo>
                <a:cubicBezTo>
                  <a:pt x="0" y="69661"/>
                  <a:pt x="79613" y="0"/>
                  <a:pt x="177800" y="0"/>
                </a:cubicBezTo>
                <a:cubicBezTo>
                  <a:pt x="275987" y="0"/>
                  <a:pt x="355600" y="69661"/>
                  <a:pt x="355600" y="155575"/>
                </a:cubicBezTo>
                <a:lnTo>
                  <a:pt x="355600" y="272326"/>
                </a:lnTo>
                <a:cubicBezTo>
                  <a:pt x="355600" y="318373"/>
                  <a:pt x="312896" y="355669"/>
                  <a:pt x="260271" y="355669"/>
                </a:cubicBezTo>
                <a:lnTo>
                  <a:pt x="190500" y="355600"/>
                </a:lnTo>
                <a:lnTo>
                  <a:pt x="165100" y="355600"/>
                </a:lnTo>
                <a:cubicBezTo>
                  <a:pt x="144066" y="355600"/>
                  <a:pt x="127000" y="340668"/>
                  <a:pt x="127000" y="322263"/>
                </a:cubicBezTo>
                <a:cubicBezTo>
                  <a:pt x="127000" y="303857"/>
                  <a:pt x="144066" y="288925"/>
                  <a:pt x="165100" y="288925"/>
                </a:cubicBezTo>
                <a:lnTo>
                  <a:pt x="190500" y="288925"/>
                </a:lnTo>
                <a:cubicBezTo>
                  <a:pt x="211534" y="288925"/>
                  <a:pt x="228600" y="303857"/>
                  <a:pt x="228600" y="322263"/>
                </a:cubicBezTo>
                <a:lnTo>
                  <a:pt x="228600" y="322263"/>
                </a:lnTo>
                <a:lnTo>
                  <a:pt x="260350" y="322263"/>
                </a:lnTo>
                <a:cubicBezTo>
                  <a:pt x="291941" y="322263"/>
                  <a:pt x="317500" y="299899"/>
                  <a:pt x="317500" y="272256"/>
                </a:cubicBezTo>
                <a:lnTo>
                  <a:pt x="317500" y="257741"/>
                </a:lnTo>
                <a:cubicBezTo>
                  <a:pt x="306308" y="263436"/>
                  <a:pt x="293291" y="266631"/>
                  <a:pt x="279400" y="266631"/>
                </a:cubicBezTo>
                <a:lnTo>
                  <a:pt x="266700" y="266631"/>
                </a:lnTo>
                <a:cubicBezTo>
                  <a:pt x="245666" y="266631"/>
                  <a:pt x="228600" y="251698"/>
                  <a:pt x="228600" y="233293"/>
                </a:cubicBezTo>
                <a:lnTo>
                  <a:pt x="228600" y="166618"/>
                </a:lnTo>
                <a:cubicBezTo>
                  <a:pt x="228600" y="148213"/>
                  <a:pt x="245666" y="133281"/>
                  <a:pt x="266700" y="133281"/>
                </a:cubicBezTo>
                <a:lnTo>
                  <a:pt x="279400" y="133281"/>
                </a:lnTo>
                <a:cubicBezTo>
                  <a:pt x="287655" y="133281"/>
                  <a:pt x="295513" y="134392"/>
                  <a:pt x="302974" y="136545"/>
                </a:cubicBezTo>
                <a:cubicBezTo>
                  <a:pt x="292656" y="84247"/>
                  <a:pt x="240586" y="44381"/>
                  <a:pt x="177800" y="44381"/>
                </a:cubicBezTo>
                <a:close/>
              </a:path>
            </a:pathLst>
          </a:custGeom>
          <a:solidFill>
            <a:srgbClr val="005C8F"/>
          </a:solidFill>
          <a:ln/>
        </p:spPr>
      </p:sp>
      <p:sp>
        <p:nvSpPr>
          <p:cNvPr id="27" name="Text 24"/>
          <p:cNvSpPr/>
          <p:nvPr/>
        </p:nvSpPr>
        <p:spPr>
          <a:xfrm>
            <a:off x="1447800" y="6057900"/>
            <a:ext cx="2540000" cy="355600"/>
          </a:xfrm>
          <a:prstGeom prst="rect">
            <a:avLst/>
          </a:prstGeom>
          <a:noFill/>
          <a:ln/>
        </p:spPr>
        <p:txBody>
          <a:bodyPr wrap="none" lIns="0" tIns="0" rIns="0" bIns="0" rtlCol="0" anchor="ctr"/>
          <a:lstStyle/>
          <a:p>
            <a:pPr algn="l">
              <a:lnSpc>
                <a:spcPct val="120000"/>
              </a:lnSpc>
            </a:pPr>
            <a:r>
              <a:rPr lang="en-US" sz="1600" b="1" dirty="0">
                <a:solidFill>
                  <a:srgbClr val="005C8F"/>
                </a:solidFill>
                <a:latin typeface="Quattrocento Sans" pitchFamily="34" charset="0"/>
                <a:ea typeface="Quattrocento Sans" pitchFamily="34" charset="-122"/>
                <a:cs typeface="Quattrocento Sans" pitchFamily="34" charset="-120"/>
              </a:rPr>
              <a:t>客户服务</a:t>
            </a:r>
            <a:endParaRPr lang="en-US" sz="1600" dirty="0"/>
          </a:p>
        </p:txBody>
      </p:sp>
      <p:sp>
        <p:nvSpPr>
          <p:cNvPr id="28" name="Text 25"/>
          <p:cNvSpPr/>
          <p:nvPr/>
        </p:nvSpPr>
        <p:spPr>
          <a:xfrm>
            <a:off x="990600" y="6477000"/>
            <a:ext cx="2984500" cy="609600"/>
          </a:xfrm>
          <a:prstGeom prst="rect">
            <a:avLst/>
          </a:prstGeom>
          <a:noFill/>
          <a:ln/>
        </p:spPr>
        <p:txBody>
          <a:bodyPr wrap="square" lIns="0" tIns="0" rIns="0" bIns="0" rtlCol="0" anchor="t"/>
          <a:lstStyle/>
          <a:p>
            <a:pPr algn="l">
              <a:lnSpc>
                <a:spcPct val="150000"/>
              </a:lnSpc>
            </a:pPr>
            <a:r>
              <a:rPr lang="en-US" sz="1300" dirty="0">
                <a:solidFill>
                  <a:srgbClr val="333333"/>
                </a:solidFill>
                <a:latin typeface="Quattrocento Sans" pitchFamily="34" charset="0"/>
                <a:ea typeface="Quattrocento Sans" pitchFamily="34" charset="-122"/>
                <a:cs typeface="Quattrocento Sans" pitchFamily="34" charset="-120"/>
              </a:rPr>
              <a:t>Salesforce Agentforce CRM 内自主数字员工</a:t>
            </a:r>
            <a:endParaRPr lang="en-US" sz="1300" dirty="0"/>
          </a:p>
        </p:txBody>
      </p:sp>
      <p:sp>
        <p:nvSpPr>
          <p:cNvPr id="29" name="Shape 26"/>
          <p:cNvSpPr/>
          <p:nvPr/>
        </p:nvSpPr>
        <p:spPr>
          <a:xfrm>
            <a:off x="4445000" y="5905500"/>
            <a:ext cx="3429000" cy="1270000"/>
          </a:xfrm>
          <a:prstGeom prst="roundRect">
            <a:avLst>
              <a:gd name="adj" fmla="val 6000"/>
            </a:avLst>
          </a:prstGeom>
          <a:solidFill>
            <a:srgbClr val="E6F0F7"/>
          </a:solidFill>
          <a:ln/>
        </p:spPr>
      </p:sp>
      <p:sp>
        <p:nvSpPr>
          <p:cNvPr id="30" name="Shape 27"/>
          <p:cNvSpPr/>
          <p:nvPr/>
        </p:nvSpPr>
        <p:spPr>
          <a:xfrm>
            <a:off x="4673600" y="6057900"/>
            <a:ext cx="355600" cy="355600"/>
          </a:xfrm>
          <a:custGeom>
            <a:avLst/>
            <a:gdLst/>
            <a:ahLst/>
            <a:cxnLst/>
            <a:rect l="l" t="t" r="r" b="b"/>
            <a:pathLst>
              <a:path w="355600" h="355600">
                <a:moveTo>
                  <a:pt x="44450" y="44450"/>
                </a:moveTo>
                <a:cubicBezTo>
                  <a:pt x="44450" y="32157"/>
                  <a:pt x="34518" y="22225"/>
                  <a:pt x="22225" y="22225"/>
                </a:cubicBezTo>
                <a:cubicBezTo>
                  <a:pt x="9932" y="22225"/>
                  <a:pt x="0" y="32157"/>
                  <a:pt x="0" y="44450"/>
                </a:cubicBezTo>
                <a:lnTo>
                  <a:pt x="0" y="277813"/>
                </a:lnTo>
                <a:cubicBezTo>
                  <a:pt x="0" y="308511"/>
                  <a:pt x="24864" y="333375"/>
                  <a:pt x="55563" y="333375"/>
                </a:cubicBezTo>
                <a:lnTo>
                  <a:pt x="333375" y="333375"/>
                </a:lnTo>
                <a:cubicBezTo>
                  <a:pt x="345668" y="333375"/>
                  <a:pt x="355600" y="323443"/>
                  <a:pt x="355600" y="311150"/>
                </a:cubicBezTo>
                <a:cubicBezTo>
                  <a:pt x="355600" y="298857"/>
                  <a:pt x="345668" y="288925"/>
                  <a:pt x="333375" y="288925"/>
                </a:cubicBezTo>
                <a:lnTo>
                  <a:pt x="55563" y="288925"/>
                </a:lnTo>
                <a:cubicBezTo>
                  <a:pt x="49451" y="288925"/>
                  <a:pt x="44450" y="283924"/>
                  <a:pt x="44450" y="277813"/>
                </a:cubicBezTo>
                <a:lnTo>
                  <a:pt x="44450" y="44450"/>
                </a:lnTo>
                <a:close/>
                <a:moveTo>
                  <a:pt x="326846" y="104596"/>
                </a:moveTo>
                <a:cubicBezTo>
                  <a:pt x="335528" y="95915"/>
                  <a:pt x="335528" y="81816"/>
                  <a:pt x="326846" y="73134"/>
                </a:cubicBezTo>
                <a:cubicBezTo>
                  <a:pt x="318165" y="64453"/>
                  <a:pt x="304066" y="64453"/>
                  <a:pt x="295384" y="73134"/>
                </a:cubicBezTo>
                <a:lnTo>
                  <a:pt x="222250" y="146338"/>
                </a:lnTo>
                <a:lnTo>
                  <a:pt x="182384" y="106541"/>
                </a:lnTo>
                <a:cubicBezTo>
                  <a:pt x="173702" y="97859"/>
                  <a:pt x="159603" y="97859"/>
                  <a:pt x="150922" y="106541"/>
                </a:cubicBezTo>
                <a:lnTo>
                  <a:pt x="84247" y="173216"/>
                </a:lnTo>
                <a:cubicBezTo>
                  <a:pt x="75565" y="181898"/>
                  <a:pt x="75565" y="195997"/>
                  <a:pt x="84247" y="204678"/>
                </a:cubicBezTo>
                <a:cubicBezTo>
                  <a:pt x="92928" y="213360"/>
                  <a:pt x="107027" y="213360"/>
                  <a:pt x="115709" y="204678"/>
                </a:cubicBezTo>
                <a:lnTo>
                  <a:pt x="166688" y="153700"/>
                </a:lnTo>
                <a:lnTo>
                  <a:pt x="206554" y="193566"/>
                </a:lnTo>
                <a:cubicBezTo>
                  <a:pt x="215235" y="202248"/>
                  <a:pt x="229334" y="202248"/>
                  <a:pt x="238016" y="193566"/>
                </a:cubicBezTo>
                <a:lnTo>
                  <a:pt x="326916" y="104666"/>
                </a:lnTo>
                <a:close/>
              </a:path>
            </a:pathLst>
          </a:custGeom>
          <a:solidFill>
            <a:srgbClr val="005C8F"/>
          </a:solidFill>
          <a:ln/>
        </p:spPr>
      </p:sp>
      <p:sp>
        <p:nvSpPr>
          <p:cNvPr id="31" name="Text 28"/>
          <p:cNvSpPr/>
          <p:nvPr/>
        </p:nvSpPr>
        <p:spPr>
          <a:xfrm>
            <a:off x="5130800" y="6057900"/>
            <a:ext cx="2540000" cy="355600"/>
          </a:xfrm>
          <a:prstGeom prst="rect">
            <a:avLst/>
          </a:prstGeom>
          <a:noFill/>
          <a:ln/>
        </p:spPr>
        <p:txBody>
          <a:bodyPr wrap="none" lIns="0" tIns="0" rIns="0" bIns="0" rtlCol="0" anchor="ctr"/>
          <a:lstStyle/>
          <a:p>
            <a:pPr algn="l">
              <a:lnSpc>
                <a:spcPct val="120000"/>
              </a:lnSpc>
            </a:pPr>
            <a:r>
              <a:rPr lang="en-US" sz="1600" b="1" dirty="0">
                <a:solidFill>
                  <a:srgbClr val="005C8F"/>
                </a:solidFill>
                <a:latin typeface="Quattrocento Sans" pitchFamily="34" charset="0"/>
                <a:ea typeface="Quattrocento Sans" pitchFamily="34" charset="-122"/>
                <a:cs typeface="Quattrocento Sans" pitchFamily="34" charset="-120"/>
              </a:rPr>
              <a:t>商业决策</a:t>
            </a:r>
            <a:endParaRPr lang="en-US" sz="1600" dirty="0"/>
          </a:p>
        </p:txBody>
      </p:sp>
      <p:sp>
        <p:nvSpPr>
          <p:cNvPr id="32" name="Text 29"/>
          <p:cNvSpPr/>
          <p:nvPr/>
        </p:nvSpPr>
        <p:spPr>
          <a:xfrm>
            <a:off x="4673600" y="6477000"/>
            <a:ext cx="2984500" cy="609600"/>
          </a:xfrm>
          <a:prstGeom prst="rect">
            <a:avLst/>
          </a:prstGeom>
          <a:noFill/>
          <a:ln/>
        </p:spPr>
        <p:txBody>
          <a:bodyPr wrap="square" lIns="0" tIns="0" rIns="0" bIns="0" rtlCol="0" anchor="t"/>
          <a:lstStyle/>
          <a:p>
            <a:pPr algn="l">
              <a:lnSpc>
                <a:spcPct val="150000"/>
              </a:lnSpc>
            </a:pPr>
            <a:r>
              <a:rPr lang="en-US" sz="1300" dirty="0">
                <a:solidFill>
                  <a:srgbClr val="333333"/>
                </a:solidFill>
                <a:latin typeface="Quattrocento Sans" pitchFamily="34" charset="0"/>
                <a:ea typeface="Quattrocento Sans" pitchFamily="34" charset="-122"/>
                <a:cs typeface="Quattrocento Sans" pitchFamily="34" charset="-120"/>
              </a:rPr>
              <a:t>明略 DeepMiner 可信商业决策智能体</a:t>
            </a:r>
            <a:endParaRPr lang="en-US" sz="1300" dirty="0"/>
          </a:p>
        </p:txBody>
      </p:sp>
      <p:sp>
        <p:nvSpPr>
          <p:cNvPr id="33" name="Shape 30"/>
          <p:cNvSpPr/>
          <p:nvPr/>
        </p:nvSpPr>
        <p:spPr>
          <a:xfrm>
            <a:off x="762000" y="7302500"/>
            <a:ext cx="7112000" cy="863600"/>
          </a:xfrm>
          <a:prstGeom prst="roundRect">
            <a:avLst>
              <a:gd name="adj" fmla="val 5000"/>
            </a:avLst>
          </a:prstGeom>
          <a:solidFill>
            <a:srgbClr val="005C8F"/>
          </a:solidFill>
          <a:ln/>
        </p:spPr>
      </p:sp>
      <p:sp>
        <p:nvSpPr>
          <p:cNvPr id="34" name="Text 31"/>
          <p:cNvSpPr/>
          <p:nvPr/>
        </p:nvSpPr>
        <p:spPr>
          <a:xfrm>
            <a:off x="990600" y="7404100"/>
            <a:ext cx="6654800" cy="660400"/>
          </a:xfrm>
          <a:prstGeom prst="rect">
            <a:avLst/>
          </a:prstGeom>
          <a:noFill/>
          <a:ln/>
        </p:spPr>
        <p:txBody>
          <a:bodyPr wrap="square" lIns="0" tIns="0" rIns="0" bIns="0" rtlCol="0" anchor="ctr"/>
          <a:lstStyle/>
          <a:p>
            <a:pPr algn="l">
              <a:lnSpc>
                <a:spcPct val="150000"/>
              </a:lnSpc>
            </a:pPr>
            <a:r>
              <a:rPr lang="en-US" sz="1400" b="1" dirty="0">
                <a:solidFill>
                  <a:srgbClr val="FFFFFF"/>
                </a:solidFill>
                <a:latin typeface="Quattrocento Sans" pitchFamily="34" charset="0"/>
                <a:ea typeface="Quattrocento Sans" pitchFamily="34" charset="-122"/>
                <a:cs typeface="Quattrocento Sans" pitchFamily="34" charset="-120"/>
              </a:rPr>
              <a:t>演进趋势：</a:t>
            </a:r>
            <a:pPr algn="l">
              <a:lnSpc>
                <a:spcPct val="150000"/>
              </a:lnSpc>
            </a:pPr>
            <a:r>
              <a:rPr lang="en-US" sz="1400" dirty="0">
                <a:solidFill>
                  <a:srgbClr val="FFFFFF"/>
                </a:solidFill>
                <a:latin typeface="Quattrocento Sans" pitchFamily="34" charset="0"/>
                <a:ea typeface="Quattrocento Sans" pitchFamily="34" charset="-122"/>
                <a:cs typeface="Quattrocento Sans" pitchFamily="34" charset="-120"/>
              </a:rPr>
              <a:t>从单一任务执行向跨系统、多步骤的复杂业务流程自动化演进</a:t>
            </a:r>
            <a:endParaRPr lang="en-US" sz="1400" dirty="0"/>
          </a:p>
        </p:txBody>
      </p:sp>
      <p:sp>
        <p:nvSpPr>
          <p:cNvPr id="35" name="Text 32"/>
          <p:cNvSpPr/>
          <p:nvPr/>
        </p:nvSpPr>
        <p:spPr>
          <a:xfrm>
            <a:off x="8382000" y="2159000"/>
            <a:ext cx="3810000" cy="355600"/>
          </a:xfrm>
          <a:prstGeom prst="rect">
            <a:avLst/>
          </a:prstGeom>
          <a:noFill/>
          <a:ln/>
        </p:spPr>
        <p:txBody>
          <a:bodyPr wrap="none" lIns="0" tIns="0" rIns="0" bIns="0" rtlCol="0" anchor="ctr"/>
          <a:lstStyle/>
          <a:p>
            <a:pPr algn="l">
              <a:lnSpc>
                <a:spcPct val="120000"/>
              </a:lnSpc>
            </a:pPr>
            <a:r>
              <a:rPr lang="en-US" sz="1700" b="1" dirty="0">
                <a:solidFill>
                  <a:srgbClr val="0077BB"/>
                </a:solidFill>
                <a:latin typeface="Quattrocento Sans" pitchFamily="34" charset="0"/>
                <a:ea typeface="Quattrocento Sans" pitchFamily="34" charset="-122"/>
                <a:cs typeface="Quattrocento Sans" pitchFamily="34" charset="-120"/>
              </a:rPr>
              <a:t>代表性产品</a:t>
            </a:r>
            <a:endParaRPr lang="en-US" sz="1700" dirty="0"/>
          </a:p>
        </p:txBody>
      </p:sp>
      <p:sp>
        <p:nvSpPr>
          <p:cNvPr id="36" name="Shape 33"/>
          <p:cNvSpPr/>
          <p:nvPr/>
        </p:nvSpPr>
        <p:spPr>
          <a:xfrm>
            <a:off x="8382000" y="2603500"/>
            <a:ext cx="7366000" cy="5778500"/>
          </a:xfrm>
          <a:prstGeom prst="roundRect">
            <a:avLst>
              <a:gd name="adj" fmla="val 4000"/>
            </a:avLst>
          </a:prstGeom>
          <a:solidFill>
            <a:srgbClr val="F8F9FA"/>
          </a:solidFill>
          <a:ln/>
        </p:spPr>
      </p:sp>
      <p:pic>
        <p:nvPicPr>
          <p:cNvPr id="37" name="Image 1" descr="https://kimi-img.moonshot.cn/pub/slides/okc/flfuysioo4gzm/mnt/agents/output/yuan_pptd/images/image_5.png">    </p:cNvPr>
          <p:cNvPicPr>
            <a:picLocks noChangeAspect="1"/>
          </p:cNvPicPr>
          <p:nvPr/>
        </p:nvPicPr>
        <p:blipFill>
          <a:blip r:embed="rId2"/>
          <a:srcRect l="0" r="0" t="0" b="0"/>
          <a:stretch/>
        </p:blipFill>
        <p:spPr>
          <a:xfrm>
            <a:off x="8890000" y="2921000"/>
            <a:ext cx="1524000" cy="1524000"/>
          </a:xfrm>
          <a:prstGeom prst="rect">
            <a:avLst/>
          </a:prstGeom>
        </p:spPr>
      </p:pic>
      <p:sp>
        <p:nvSpPr>
          <p:cNvPr id="38" name="Text 34"/>
          <p:cNvSpPr/>
          <p:nvPr/>
        </p:nvSpPr>
        <p:spPr>
          <a:xfrm>
            <a:off x="8763000" y="4508500"/>
            <a:ext cx="1778000" cy="304800"/>
          </a:xfrm>
          <a:prstGeom prst="rect">
            <a:avLst/>
          </a:prstGeom>
          <a:noFill/>
          <a:ln/>
        </p:spPr>
        <p:txBody>
          <a:bodyPr wrap="none" lIns="0" tIns="0" rIns="0" bIns="0" rtlCol="0" anchor="ctr"/>
          <a:lstStyle/>
          <a:p>
            <a:pPr algn="ctr">
              <a:lnSpc>
                <a:spcPct val="120000"/>
              </a:lnSpc>
            </a:pPr>
            <a:r>
              <a:rPr lang="en-US" sz="1400" b="1" dirty="0">
                <a:solidFill>
                  <a:srgbClr val="333333"/>
                </a:solidFill>
                <a:latin typeface="Quattrocento Sans" pitchFamily="34" charset="0"/>
                <a:ea typeface="Quattrocento Sans" pitchFamily="34" charset="-122"/>
                <a:cs typeface="Quattrocento Sans" pitchFamily="34" charset="-120"/>
              </a:rPr>
              <a:t>Claude Code</a:t>
            </a:r>
            <a:endParaRPr lang="en-US" sz="1400" dirty="0"/>
          </a:p>
        </p:txBody>
      </p:sp>
      <p:pic>
        <p:nvPicPr>
          <p:cNvPr id="39" name="Image 2" descr="https://kimi-img.moonshot.cn/pub/slides/okc/flfuysioo4gzm/mnt/agents/output/yuan_pptd/images/image_4.jpg">    </p:cNvPr>
          <p:cNvPicPr>
            <a:picLocks noChangeAspect="1"/>
          </p:cNvPicPr>
          <p:nvPr/>
        </p:nvPicPr>
        <p:blipFill>
          <a:blip r:embed="rId3"/>
          <a:srcRect l="0" r="0" t="0" b="0"/>
          <a:stretch/>
        </p:blipFill>
        <p:spPr>
          <a:xfrm>
            <a:off x="11303000" y="2921000"/>
            <a:ext cx="1524000" cy="1524000"/>
          </a:xfrm>
          <a:prstGeom prst="rect">
            <a:avLst/>
          </a:prstGeom>
        </p:spPr>
      </p:pic>
      <p:sp>
        <p:nvSpPr>
          <p:cNvPr id="40" name="Text 35"/>
          <p:cNvSpPr/>
          <p:nvPr/>
        </p:nvSpPr>
        <p:spPr>
          <a:xfrm>
            <a:off x="11176000" y="4508500"/>
            <a:ext cx="1778000" cy="304800"/>
          </a:xfrm>
          <a:prstGeom prst="rect">
            <a:avLst/>
          </a:prstGeom>
          <a:noFill/>
          <a:ln/>
        </p:spPr>
        <p:txBody>
          <a:bodyPr wrap="none" lIns="0" tIns="0" rIns="0" bIns="0" rtlCol="0" anchor="ctr"/>
          <a:lstStyle/>
          <a:p>
            <a:pPr algn="ctr">
              <a:lnSpc>
                <a:spcPct val="120000"/>
              </a:lnSpc>
            </a:pPr>
            <a:r>
              <a:rPr lang="en-US" sz="1400" b="1" dirty="0">
                <a:solidFill>
                  <a:srgbClr val="333333"/>
                </a:solidFill>
                <a:latin typeface="Quattrocento Sans" pitchFamily="34" charset="0"/>
                <a:ea typeface="Quattrocento Sans" pitchFamily="34" charset="-122"/>
                <a:cs typeface="Quattrocento Sans" pitchFamily="34" charset="-120"/>
              </a:rPr>
              <a:t>Moveworks</a:t>
            </a:r>
            <a:endParaRPr lang="en-US" sz="1400" dirty="0"/>
          </a:p>
        </p:txBody>
      </p:sp>
      <p:pic>
        <p:nvPicPr>
          <p:cNvPr id="41" name="Image 3" descr="https://kimi-img.moonshot.cn/pub/slides/okc/flfuysioo4gzm/mnt/agents/output/yuan_pptd/images/image_6.png">    </p:cNvPr>
          <p:cNvPicPr>
            <a:picLocks noChangeAspect="1"/>
          </p:cNvPicPr>
          <p:nvPr/>
        </p:nvPicPr>
        <p:blipFill>
          <a:blip r:embed="rId4"/>
          <a:srcRect l="0" r="0" t="0" b="0"/>
          <a:stretch/>
        </p:blipFill>
        <p:spPr>
          <a:xfrm>
            <a:off x="13716000" y="2921000"/>
            <a:ext cx="1524000" cy="1524000"/>
          </a:xfrm>
          <a:prstGeom prst="rect">
            <a:avLst/>
          </a:prstGeom>
        </p:spPr>
      </p:pic>
      <p:sp>
        <p:nvSpPr>
          <p:cNvPr id="42" name="Text 36"/>
          <p:cNvSpPr/>
          <p:nvPr/>
        </p:nvSpPr>
        <p:spPr>
          <a:xfrm>
            <a:off x="13525500" y="4508500"/>
            <a:ext cx="1905000" cy="304800"/>
          </a:xfrm>
          <a:prstGeom prst="rect">
            <a:avLst/>
          </a:prstGeom>
          <a:noFill/>
          <a:ln/>
        </p:spPr>
        <p:txBody>
          <a:bodyPr wrap="none" lIns="0" tIns="0" rIns="0" bIns="0" rtlCol="0" anchor="ctr"/>
          <a:lstStyle/>
          <a:p>
            <a:pPr algn="ctr">
              <a:lnSpc>
                <a:spcPct val="120000"/>
              </a:lnSpc>
            </a:pPr>
            <a:r>
              <a:rPr lang="en-US" sz="1400" b="1" dirty="0">
                <a:solidFill>
                  <a:srgbClr val="333333"/>
                </a:solidFill>
                <a:latin typeface="Quattrocento Sans" pitchFamily="34" charset="0"/>
                <a:ea typeface="Quattrocento Sans" pitchFamily="34" charset="-122"/>
                <a:cs typeface="Quattrocento Sans" pitchFamily="34" charset="-120"/>
              </a:rPr>
              <a:t>Salesforce</a:t>
            </a:r>
            <a:endParaRPr lang="en-US" sz="1400" dirty="0"/>
          </a:p>
        </p:txBody>
      </p:sp>
      <p:pic>
        <p:nvPicPr>
          <p:cNvPr id="43" name="Image 4" descr="https://kimi-img.moonshot.cn/pub/slides/okc/flfuysioo4gzm/mnt/agents/output/yuan_pptd/images/image_7.png">    </p:cNvPr>
          <p:cNvPicPr>
            <a:picLocks noChangeAspect="1"/>
          </p:cNvPicPr>
          <p:nvPr/>
        </p:nvPicPr>
        <p:blipFill>
          <a:blip r:embed="rId5"/>
          <a:srcRect l="0" r="0" t="0" b="0"/>
          <a:stretch/>
        </p:blipFill>
        <p:spPr>
          <a:xfrm>
            <a:off x="11303000" y="5334000"/>
            <a:ext cx="1524000" cy="1524000"/>
          </a:xfrm>
          <a:prstGeom prst="rect">
            <a:avLst/>
          </a:prstGeom>
        </p:spPr>
      </p:pic>
      <p:sp>
        <p:nvSpPr>
          <p:cNvPr id="44" name="Text 37"/>
          <p:cNvSpPr/>
          <p:nvPr/>
        </p:nvSpPr>
        <p:spPr>
          <a:xfrm>
            <a:off x="11176000" y="6921500"/>
            <a:ext cx="1778000" cy="304800"/>
          </a:xfrm>
          <a:prstGeom prst="rect">
            <a:avLst/>
          </a:prstGeom>
          <a:noFill/>
          <a:ln/>
        </p:spPr>
        <p:txBody>
          <a:bodyPr wrap="none" lIns="0" tIns="0" rIns="0" bIns="0" rtlCol="0" anchor="ctr"/>
          <a:lstStyle/>
          <a:p>
            <a:pPr algn="ctr">
              <a:lnSpc>
                <a:spcPct val="120000"/>
              </a:lnSpc>
            </a:pPr>
            <a:r>
              <a:rPr lang="en-US" sz="1400" b="1" dirty="0">
                <a:solidFill>
                  <a:srgbClr val="333333"/>
                </a:solidFill>
                <a:latin typeface="Quattrocento Sans" pitchFamily="34" charset="0"/>
                <a:ea typeface="Quattrocento Sans" pitchFamily="34" charset="-122"/>
                <a:cs typeface="Quattrocento Sans" pitchFamily="34" charset="-120"/>
              </a:rPr>
              <a:t>DeepMiner</a:t>
            </a:r>
            <a:endParaRPr lang="en-US" sz="1400" dirty="0"/>
          </a:p>
        </p:txBody>
      </p:sp>
      <p:sp>
        <p:nvSpPr>
          <p:cNvPr id="45" name="Text 38"/>
          <p:cNvSpPr/>
          <p:nvPr/>
        </p:nvSpPr>
        <p:spPr>
          <a:xfrm>
            <a:off x="15240000" y="8636000"/>
            <a:ext cx="635000" cy="381000"/>
          </a:xfrm>
          <a:prstGeom prst="rect">
            <a:avLst/>
          </a:prstGeom>
          <a:noFill/>
          <a:ln/>
        </p:spPr>
        <p:txBody>
          <a:bodyPr wrap="none" lIns="0" tIns="0" rIns="0" bIns="0" rtlCol="0" anchor="ctr"/>
          <a:lstStyle/>
          <a:p>
            <a:pPr algn="r">
              <a:lnSpc>
                <a:spcPct val="120000"/>
              </a:lnSpc>
            </a:pPr>
            <a:r>
              <a:rPr lang="en-US" sz="1800" dirty="0">
                <a:solidFill>
                  <a:srgbClr val="666666"/>
                </a:solidFill>
                <a:latin typeface="Quattrocento Sans" pitchFamily="34" charset="0"/>
                <a:ea typeface="Quattrocento Sans" pitchFamily="34" charset="-122"/>
                <a:cs typeface="Quattrocento Sans" pitchFamily="34" charset="-120"/>
              </a:rPr>
              <a:t>3</a:t>
            </a:r>
            <a:endParaRPr lang="en-US" sz="18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168900" y="0"/>
            <a:ext cx="2590800" cy="965200"/>
          </a:xfrm>
          <a:prstGeom prst="rect">
            <a:avLst/>
          </a:prstGeom>
          <a:solidFill>
            <a:srgbClr val="F2F2F2"/>
          </a:solidFill>
          <a:ln/>
        </p:spPr>
      </p:sp>
      <p:sp>
        <p:nvSpPr>
          <p:cNvPr id="3" name="Shape 1"/>
          <p:cNvSpPr/>
          <p:nvPr/>
        </p:nvSpPr>
        <p:spPr>
          <a:xfrm>
            <a:off x="7810500" y="0"/>
            <a:ext cx="4152900" cy="965200"/>
          </a:xfrm>
          <a:prstGeom prst="rect">
            <a:avLst/>
          </a:prstGeom>
          <a:solidFill>
            <a:srgbClr val="F2F2F2"/>
          </a:solidFill>
          <a:ln/>
        </p:spPr>
      </p:sp>
      <p:sp>
        <p:nvSpPr>
          <p:cNvPr id="4" name="Shape 2"/>
          <p:cNvSpPr/>
          <p:nvPr/>
        </p:nvSpPr>
        <p:spPr>
          <a:xfrm>
            <a:off x="11976100" y="0"/>
            <a:ext cx="4279900" cy="965200"/>
          </a:xfrm>
          <a:prstGeom prst="rect">
            <a:avLst/>
          </a:prstGeom>
          <a:solidFill>
            <a:srgbClr val="F2F2F2"/>
          </a:solidFill>
          <a:ln/>
        </p:spPr>
      </p:sp>
      <p:sp>
        <p:nvSpPr>
          <p:cNvPr id="5" name="Shape 3"/>
          <p:cNvSpPr/>
          <p:nvPr/>
        </p:nvSpPr>
        <p:spPr>
          <a:xfrm>
            <a:off x="2222500" y="0"/>
            <a:ext cx="2895600" cy="965200"/>
          </a:xfrm>
          <a:prstGeom prst="rect">
            <a:avLst/>
          </a:prstGeom>
          <a:solidFill>
            <a:srgbClr val="04579A"/>
          </a:solidFill>
          <a:ln/>
        </p:spPr>
      </p:sp>
      <p:sp>
        <p:nvSpPr>
          <p:cNvPr id="6" name="Text 4"/>
          <p:cNvSpPr/>
          <p:nvPr/>
        </p:nvSpPr>
        <p:spPr>
          <a:xfrm>
            <a:off x="2286000" y="254000"/>
            <a:ext cx="2794000" cy="4572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7" name="Text 5"/>
          <p:cNvSpPr/>
          <p:nvPr/>
        </p:nvSpPr>
        <p:spPr>
          <a:xfrm>
            <a:off x="5168900" y="254000"/>
            <a:ext cx="25908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8" name="Text 6"/>
          <p:cNvSpPr/>
          <p:nvPr/>
        </p:nvSpPr>
        <p:spPr>
          <a:xfrm>
            <a:off x="7810500" y="254000"/>
            <a:ext cx="41148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9" name="Text 7"/>
          <p:cNvSpPr/>
          <p:nvPr/>
        </p:nvSpPr>
        <p:spPr>
          <a:xfrm>
            <a:off x="11976100" y="254000"/>
            <a:ext cx="42799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sp>
        <p:nvSpPr>
          <p:cNvPr id="10" name="Shape 8"/>
          <p:cNvSpPr/>
          <p:nvPr/>
        </p:nvSpPr>
        <p:spPr>
          <a:xfrm rot="10800000">
            <a:off x="3492500" y="965200"/>
            <a:ext cx="393700" cy="304800"/>
          </a:xfrm>
          <a:prstGeom prst="triangle">
            <a:avLst>
              <a:gd name="adj" fmla="val 50000"/>
            </a:avLst>
          </a:prstGeom>
          <a:solidFill>
            <a:srgbClr val="04579A"/>
          </a:solidFill>
          <a:ln/>
        </p:spPr>
      </p:sp>
      <p:pic>
        <p:nvPicPr>
          <p:cNvPr id="11" name="Image 0" descr="https://kimi-img.moonshot.cn/pub/slides/okc/flfuysioo4gzm/mnt/agents/output/yuan_pptd/images/image_2.jpg">    </p:cNvPr>
          <p:cNvPicPr>
            <a:picLocks noChangeAspect="1"/>
          </p:cNvPicPr>
          <p:nvPr/>
        </p:nvPicPr>
        <p:blipFill>
          <a:blip r:embed="rId1"/>
          <a:srcRect l="5060" r="29000" t="0" b="0"/>
          <a:stretch/>
        </p:blipFill>
        <p:spPr>
          <a:xfrm>
            <a:off x="546100" y="139700"/>
            <a:ext cx="1270000" cy="749300"/>
          </a:xfrm>
          <a:prstGeom prst="rect">
            <a:avLst/>
          </a:prstGeom>
        </p:spPr>
      </p:pic>
      <p:sp>
        <p:nvSpPr>
          <p:cNvPr id="12" name="Text 9"/>
          <p:cNvSpPr/>
          <p:nvPr/>
        </p:nvSpPr>
        <p:spPr>
          <a:xfrm>
            <a:off x="762000" y="1460500"/>
            <a:ext cx="7620000" cy="571500"/>
          </a:xfrm>
          <a:prstGeom prst="rect">
            <a:avLst/>
          </a:prstGeom>
          <a:noFill/>
          <a:ln/>
        </p:spPr>
        <p:txBody>
          <a:bodyPr wrap="none" lIns="0" tIns="0" rIns="0" bIns="0" rtlCol="0" anchor="ctr"/>
          <a:lstStyle/>
          <a:p>
            <a:pPr algn="l">
              <a:lnSpc>
                <a:spcPct val="120000"/>
              </a:lnSpc>
            </a:pPr>
            <a:r>
              <a:rPr lang="en-US" sz="3000" b="1" dirty="0">
                <a:solidFill>
                  <a:srgbClr val="005C8F"/>
                </a:solidFill>
                <a:latin typeface="Quattrocento Sans" pitchFamily="34" charset="0"/>
                <a:ea typeface="Quattrocento Sans" pitchFamily="34" charset="-122"/>
                <a:cs typeface="Quattrocento Sans" pitchFamily="34" charset="-120"/>
              </a:rPr>
              <a:t>智能体安全现状</a:t>
            </a:r>
            <a:endParaRPr lang="en-US" sz="3000" dirty="0"/>
          </a:p>
        </p:txBody>
      </p:sp>
      <p:sp>
        <p:nvSpPr>
          <p:cNvPr id="13" name="Shape 10"/>
          <p:cNvSpPr/>
          <p:nvPr/>
        </p:nvSpPr>
        <p:spPr>
          <a:xfrm>
            <a:off x="762000" y="2222500"/>
            <a:ext cx="7112000" cy="1651000"/>
          </a:xfrm>
          <a:prstGeom prst="roundRect">
            <a:avLst>
              <a:gd name="adj" fmla="val 6000"/>
            </a:avLst>
          </a:prstGeom>
          <a:solidFill>
            <a:srgbClr val="E6F0F7"/>
          </a:solidFill>
          <a:ln/>
        </p:spPr>
      </p:sp>
      <p:sp>
        <p:nvSpPr>
          <p:cNvPr id="14" name="Text 11"/>
          <p:cNvSpPr/>
          <p:nvPr/>
        </p:nvSpPr>
        <p:spPr>
          <a:xfrm>
            <a:off x="1016000" y="2349500"/>
            <a:ext cx="6604000" cy="1397000"/>
          </a:xfrm>
          <a:prstGeom prst="rect">
            <a:avLst/>
          </a:prstGeom>
          <a:noFill/>
          <a:ln/>
        </p:spPr>
        <p:txBody>
          <a:bodyPr wrap="square" lIns="0" tIns="0" rIns="0" bIns="0" rtlCol="0" anchor="t"/>
          <a:lstStyle/>
          <a:p>
            <a:pPr algn="l">
              <a:lnSpc>
                <a:spcPct val="170000"/>
              </a:lnSpc>
            </a:pPr>
            <a:r>
              <a:rPr lang="en-US" sz="1600" dirty="0">
                <a:solidFill>
                  <a:srgbClr val="333333"/>
                </a:solidFill>
                <a:latin typeface="Quattrocento Sans" pitchFamily="34" charset="0"/>
                <a:ea typeface="Quattrocento Sans" pitchFamily="34" charset="-122"/>
                <a:cs typeface="Quattrocento Sans" pitchFamily="34" charset="-120"/>
              </a:rPr>
              <a:t>ASE 2025 一项工作收集了 </a:t>
            </a:r>
            <a:pPr algn="l">
              <a:lnSpc>
                <a:spcPct val="170000"/>
              </a:lnSpc>
            </a:pPr>
            <a:r>
              <a:rPr lang="en-US" sz="1600" b="1" dirty="0">
                <a:solidFill>
                  <a:srgbClr val="005C8F"/>
                </a:solidFill>
                <a:latin typeface="Quattrocento Sans" pitchFamily="34" charset="0"/>
                <a:ea typeface="Quattrocento Sans" pitchFamily="34" charset="-122"/>
                <a:cs typeface="Quattrocento Sans" pitchFamily="34" charset="-120"/>
              </a:rPr>
              <a:t>50</a:t>
            </a:r>
            <a:pPr algn="l">
              <a:lnSpc>
                <a:spcPct val="170000"/>
              </a:lnSpc>
            </a:pPr>
            <a:r>
              <a:rPr lang="en-US" sz="1600" dirty="0">
                <a:solidFill>
                  <a:srgbClr val="333333"/>
                </a:solidFill>
                <a:latin typeface="Quattrocento Sans" pitchFamily="34" charset="0"/>
                <a:ea typeface="Quattrocento Sans" pitchFamily="34" charset="-122"/>
                <a:cs typeface="Quattrocento Sans" pitchFamily="34" charset="-120"/>
              </a:rPr>
              <a:t> 个热门开源 Agent 应用中的 </a:t>
            </a:r>
            <a:pPr algn="l">
              <a:lnSpc>
                <a:spcPct val="170000"/>
              </a:lnSpc>
            </a:pPr>
            <a:r>
              <a:rPr lang="en-US" sz="1600" b="1" dirty="0">
                <a:solidFill>
                  <a:srgbClr val="005C8F"/>
                </a:solidFill>
                <a:latin typeface="Quattrocento Sans" pitchFamily="34" charset="0"/>
                <a:ea typeface="Quattrocento Sans" pitchFamily="34" charset="-122"/>
                <a:cs typeface="Quattrocento Sans" pitchFamily="34" charset="-120"/>
              </a:rPr>
              <a:t>221</a:t>
            </a:r>
            <a:pPr algn="l">
              <a:lnSpc>
                <a:spcPct val="170000"/>
              </a:lnSpc>
            </a:pPr>
            <a:r>
              <a:rPr lang="en-US" sz="1600" dirty="0">
                <a:solidFill>
                  <a:srgbClr val="333333"/>
                </a:solidFill>
                <a:latin typeface="Quattrocento Sans" pitchFamily="34" charset="0"/>
                <a:ea typeface="Quattrocento Sans" pitchFamily="34" charset="-122"/>
                <a:cs typeface="Quattrocento Sans" pitchFamily="34" charset="-120"/>
              </a:rPr>
              <a:t> 个真实漏洞：</a:t>
            </a:r>
            <a:endParaRPr lang="en-US" sz="1600" dirty="0"/>
          </a:p>
          <a:p>
            <a:pPr algn="l">
              <a:lnSpc>
                <a:spcPct val="170000"/>
              </a:lnSpc>
            </a:pPr>
            <a:r>
              <a:rPr lang="en-US" sz="1600" dirty="0">
                <a:solidFill>
                  <a:srgbClr val="333333"/>
                </a:solidFill>
                <a:latin typeface="Quattrocento Sans" pitchFamily="34" charset="0"/>
                <a:ea typeface="Quattrocento Sans" pitchFamily="34" charset="-122"/>
                <a:cs typeface="Quattrocento Sans" pitchFamily="34" charset="-120"/>
              </a:rPr>
              <a:t>• 平均 CVSS </a:t>
            </a:r>
            <a:pPr algn="l">
              <a:lnSpc>
                <a:spcPct val="170000"/>
              </a:lnSpc>
            </a:pPr>
            <a:r>
              <a:rPr lang="en-US" sz="1600" b="1" dirty="0">
                <a:solidFill>
                  <a:srgbClr val="EC5F74"/>
                </a:solidFill>
                <a:latin typeface="Quattrocento Sans" pitchFamily="34" charset="0"/>
                <a:ea typeface="Quattrocento Sans" pitchFamily="34" charset="-122"/>
                <a:cs typeface="Quattrocento Sans" pitchFamily="34" charset="-120"/>
              </a:rPr>
              <a:t>7.89</a:t>
            </a:r>
            <a:pPr algn="l">
              <a:lnSpc>
                <a:spcPct val="170000"/>
              </a:lnSpc>
            </a:pPr>
            <a:r>
              <a:rPr lang="en-US" sz="1600" dirty="0">
                <a:solidFill>
                  <a:srgbClr val="333333"/>
                </a:solidFill>
                <a:latin typeface="Quattrocento Sans" pitchFamily="34" charset="0"/>
                <a:ea typeface="Quattrocento Sans" pitchFamily="34" charset="-122"/>
                <a:cs typeface="Quattrocento Sans" pitchFamily="34" charset="-120"/>
              </a:rPr>
              <a:t>　• </a:t>
            </a:r>
            <a:pPr algn="l">
              <a:lnSpc>
                <a:spcPct val="170000"/>
              </a:lnSpc>
            </a:pPr>
            <a:r>
              <a:rPr lang="en-US" sz="1600" b="1" dirty="0">
                <a:solidFill>
                  <a:srgbClr val="EC5F74"/>
                </a:solidFill>
                <a:latin typeface="Quattrocento Sans" pitchFamily="34" charset="0"/>
                <a:ea typeface="Quattrocento Sans" pitchFamily="34" charset="-122"/>
                <a:cs typeface="Quattrocento Sans" pitchFamily="34" charset="-120"/>
              </a:rPr>
              <a:t>74.1%</a:t>
            </a:r>
            <a:pPr algn="l">
              <a:lnSpc>
                <a:spcPct val="170000"/>
              </a:lnSpc>
            </a:pPr>
            <a:r>
              <a:rPr lang="en-US" sz="1600" dirty="0">
                <a:solidFill>
                  <a:srgbClr val="333333"/>
                </a:solidFill>
                <a:latin typeface="Quattrocento Sans" pitchFamily="34" charset="0"/>
                <a:ea typeface="Quattrocento Sans" pitchFamily="34" charset="-122"/>
                <a:cs typeface="Quattrocento Sans" pitchFamily="34" charset="-120"/>
              </a:rPr>
              <a:t> 属于 HIGH/CRITICAL 级别</a:t>
            </a:r>
            <a:endParaRPr lang="en-US" sz="1600" dirty="0"/>
          </a:p>
        </p:txBody>
      </p:sp>
      <p:sp>
        <p:nvSpPr>
          <p:cNvPr id="15" name="Text 12"/>
          <p:cNvSpPr/>
          <p:nvPr/>
        </p:nvSpPr>
        <p:spPr>
          <a:xfrm>
            <a:off x="762000" y="4038600"/>
            <a:ext cx="3810000" cy="355600"/>
          </a:xfrm>
          <a:prstGeom prst="rect">
            <a:avLst/>
          </a:prstGeom>
          <a:noFill/>
          <a:ln/>
        </p:spPr>
        <p:txBody>
          <a:bodyPr wrap="none" lIns="0" tIns="0" rIns="0" bIns="0" rtlCol="0" anchor="ctr"/>
          <a:lstStyle/>
          <a:p>
            <a:pPr algn="l">
              <a:lnSpc>
                <a:spcPct val="120000"/>
              </a:lnSpc>
            </a:pPr>
            <a:r>
              <a:rPr lang="en-US" sz="1700" b="1" dirty="0">
                <a:solidFill>
                  <a:srgbClr val="0077BB"/>
                </a:solidFill>
                <a:latin typeface="Quattrocento Sans" pitchFamily="34" charset="0"/>
                <a:ea typeface="Quattrocento Sans" pitchFamily="34" charset="-122"/>
                <a:cs typeface="Quattrocento Sans" pitchFamily="34" charset="-120"/>
              </a:rPr>
              <a:t>授权相关 CVE 案例</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62000" y="4508500"/>
          <a:ext cx="7112000" cy="3810000"/>
        </p:xfrm>
        <a:graphic>
          <a:graphicData uri="http://schemas.openxmlformats.org/drawingml/2006/table">
            <a:tbl>
              <a:tblPr/>
              <a:tblGrid>
                <a:gridCol w="3200400"/>
                <a:gridCol w="3911600"/>
              </a:tblGrid>
              <a:tr h="476250">
                <a:tc>
                  <a:txBody>
                    <a:bodyPr/>
                    <a:lstStyle/>
                    <a:p>
                      <a:pPr algn="ctr"/>
                      <a:r>
                        <a:rPr lang="en-US" sz="1400" b="1" dirty="0">
                          <a:solidFill>
                            <a:srgbClr val="FFFFFF"/>
                          </a:solidFill>
                          <a:latin typeface="Quattrocento Sans" pitchFamily="34" charset="0"/>
                          <a:ea typeface="Quattrocento Sans" pitchFamily="34" charset="-122"/>
                          <a:cs typeface="Quattrocento Sans" pitchFamily="34" charset="-120"/>
                        </a:rPr>
                        <a:t>CVE 编号</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005C8F"/>
                    </a:solidFill>
                  </a:tcPr>
                </a:tc>
                <a:tc>
                  <a:txBody>
                    <a:bodyPr/>
                    <a:lstStyle/>
                    <a:p>
                      <a:pPr algn="ctr"/>
                      <a:r>
                        <a:rPr lang="en-US" sz="1400" b="1" dirty="0">
                          <a:solidFill>
                            <a:srgbClr val="FFFFFF"/>
                          </a:solidFill>
                          <a:latin typeface="Quattrocento Sans" pitchFamily="34" charset="0"/>
                          <a:ea typeface="Quattrocento Sans" pitchFamily="34" charset="-122"/>
                          <a:cs typeface="Quattrocento Sans" pitchFamily="34" charset="-120"/>
                        </a:rPr>
                        <a:t>问题类型</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005C8F"/>
                    </a:solidFill>
                  </a:tcPr>
                </a:tc>
              </a:tr>
              <a:tr h="476250">
                <a:tc>
                  <a:txBody>
                    <a:bodyPr/>
                    <a:lstStyle/>
                    <a:p>
                      <a:pPr algn="ctr"/>
                      <a:r>
                        <a:rPr lang="en-US" sz="1400" dirty="0">
                          <a:solidFill>
                            <a:srgbClr val="333333"/>
                          </a:solidFill>
                          <a:latin typeface="Quattrocento Sans" pitchFamily="34" charset="0"/>
                          <a:ea typeface="Quattrocento Sans" pitchFamily="34" charset="-122"/>
                          <a:cs typeface="Quattrocento Sans" pitchFamily="34" charset="-120"/>
                        </a:rPr>
                        <a:t>CVE-2025-68145</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r>
                        <a:rPr lang="en-US" sz="1400" dirty="0">
                          <a:solidFill>
                            <a:srgbClr val="EC5F74"/>
                          </a:solidFill>
                          <a:latin typeface="Quattrocento Sans" pitchFamily="34" charset="0"/>
                          <a:ea typeface="Quattrocento Sans" pitchFamily="34" charset="-122"/>
                          <a:cs typeface="Quattrocento Sans" pitchFamily="34" charset="-120"/>
                        </a:rPr>
                        <a:t>授权边界绕过</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76250">
                <a:tc>
                  <a:txBody>
                    <a:bodyPr/>
                    <a:lstStyle/>
                    <a:p>
                      <a:pPr algn="ctr"/>
                      <a:r>
                        <a:rPr lang="en-US" sz="1400" dirty="0">
                          <a:solidFill>
                            <a:srgbClr val="333333"/>
                          </a:solidFill>
                          <a:latin typeface="Quattrocento Sans" pitchFamily="34" charset="0"/>
                          <a:ea typeface="Quattrocento Sans" pitchFamily="34" charset="-122"/>
                          <a:cs typeface="Quattrocento Sans" pitchFamily="34" charset="-120"/>
                        </a:rPr>
                        <a:t>CVE-2026-30624</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0F5FA"/>
                    </a:solidFill>
                  </a:tcPr>
                </a:tc>
                <a:tc>
                  <a:txBody>
                    <a:bodyPr/>
                    <a:lstStyle/>
                    <a:p>
                      <a:pPr algn="ctr"/>
                      <a:r>
                        <a:rPr lang="en-US" sz="1400" dirty="0">
                          <a:solidFill>
                            <a:srgbClr val="EC5F74"/>
                          </a:solidFill>
                          <a:latin typeface="Quattrocento Sans" pitchFamily="34" charset="0"/>
                          <a:ea typeface="Quattrocento Sans" pitchFamily="34" charset="-122"/>
                          <a:cs typeface="Quattrocento Sans" pitchFamily="34" charset="-120"/>
                        </a:rPr>
                        <a:t>授权缺失</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0F5FA"/>
                    </a:solidFill>
                  </a:tcPr>
                </a:tc>
              </a:tr>
              <a:tr h="476250">
                <a:tc>
                  <a:txBody>
                    <a:bodyPr/>
                    <a:lstStyle/>
                    <a:p>
                      <a:pPr algn="ctr"/>
                      <a:r>
                        <a:rPr lang="en-US" sz="1400" dirty="0">
                          <a:solidFill>
                            <a:srgbClr val="333333"/>
                          </a:solidFill>
                          <a:latin typeface="Quattrocento Sans" pitchFamily="34" charset="0"/>
                          <a:ea typeface="Quattrocento Sans" pitchFamily="34" charset="-122"/>
                          <a:cs typeface="Quattrocento Sans" pitchFamily="34" charset="-120"/>
                        </a:rPr>
                        <a:t>CVE-2026-35568</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r>
                        <a:rPr lang="en-US" sz="1400" dirty="0">
                          <a:solidFill>
                            <a:srgbClr val="EC5F74"/>
                          </a:solidFill>
                          <a:latin typeface="Quattrocento Sans" pitchFamily="34" charset="0"/>
                          <a:ea typeface="Quattrocento Sans" pitchFamily="34" charset="-122"/>
                          <a:cs typeface="Quattrocento Sans" pitchFamily="34" charset="-120"/>
                        </a:rPr>
                        <a:t>访问控制缺失</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76250">
                <a:tc>
                  <a:txBody>
                    <a:bodyPr/>
                    <a:lstStyle/>
                    <a:p>
                      <a:pPr algn="ctr"/>
                      <a:r>
                        <a:rPr lang="en-US" sz="1400" dirty="0">
                          <a:solidFill>
                            <a:srgbClr val="333333"/>
                          </a:solidFill>
                          <a:latin typeface="Quattrocento Sans" pitchFamily="34" charset="0"/>
                          <a:ea typeface="Quattrocento Sans" pitchFamily="34" charset="-122"/>
                          <a:cs typeface="Quattrocento Sans" pitchFamily="34" charset="-120"/>
                        </a:rPr>
                        <a:t>CVE-2025-61260</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0F5FA"/>
                    </a:solidFill>
                  </a:tcPr>
                </a:tc>
                <a:tc>
                  <a:txBody>
                    <a:bodyPr/>
                    <a:lstStyle/>
                    <a:p>
                      <a:pPr algn="ctr"/>
                      <a:r>
                        <a:rPr lang="en-US" sz="1400" dirty="0">
                          <a:solidFill>
                            <a:srgbClr val="EC5F74"/>
                          </a:solidFill>
                          <a:latin typeface="Quattrocento Sans" pitchFamily="34" charset="0"/>
                          <a:ea typeface="Quattrocento Sans" pitchFamily="34" charset="-122"/>
                          <a:cs typeface="Quattrocento Sans" pitchFamily="34" charset="-120"/>
                        </a:rPr>
                        <a:t>过度授权/信任传递</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0F5FA"/>
                    </a:solidFill>
                  </a:tcPr>
                </a:tc>
              </a:tr>
              <a:tr h="476250">
                <a:tc>
                  <a:txBody>
                    <a:bodyPr/>
                    <a:lstStyle/>
                    <a:p>
                      <a:pPr algn="ctr"/>
                      <a:r>
                        <a:rPr lang="en-US" sz="1400" dirty="0">
                          <a:solidFill>
                            <a:srgbClr val="333333"/>
                          </a:solidFill>
                          <a:latin typeface="Quattrocento Sans" pitchFamily="34" charset="0"/>
                          <a:ea typeface="Quattrocento Sans" pitchFamily="34" charset="-122"/>
                          <a:cs typeface="Quattrocento Sans" pitchFamily="34" charset="-120"/>
                        </a:rPr>
                        <a:t>CVE-2026-33068</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r>
                        <a:rPr lang="en-US" sz="1400" dirty="0">
                          <a:solidFill>
                            <a:srgbClr val="EC5F74"/>
                          </a:solidFill>
                          <a:latin typeface="Quattrocento Sans" pitchFamily="34" charset="0"/>
                          <a:ea typeface="Quattrocento Sans" pitchFamily="34" charset="-122"/>
                          <a:cs typeface="Quattrocento Sans" pitchFamily="34" charset="-120"/>
                        </a:rPr>
                        <a:t>未授权操作执行</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76250">
                <a:tc>
                  <a:txBody>
                    <a:bodyPr/>
                    <a:lstStyle/>
                    <a:p>
                      <a:pPr algn="ctr"/>
                      <a:r>
                        <a:rPr lang="en-US" sz="1400" dirty="0">
                          <a:solidFill>
                            <a:srgbClr val="333333"/>
                          </a:solidFill>
                          <a:latin typeface="Quattrocento Sans" pitchFamily="34" charset="0"/>
                          <a:ea typeface="Quattrocento Sans" pitchFamily="34" charset="-122"/>
                          <a:cs typeface="Quattrocento Sans" pitchFamily="34" charset="-120"/>
                        </a:rPr>
                        <a:t>CVE-2025-54136</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0F5FA"/>
                    </a:solidFill>
                  </a:tcPr>
                </a:tc>
                <a:tc>
                  <a:txBody>
                    <a:bodyPr/>
                    <a:lstStyle/>
                    <a:p>
                      <a:pPr algn="ctr"/>
                      <a:r>
                        <a:rPr lang="en-US" sz="1400" dirty="0">
                          <a:solidFill>
                            <a:srgbClr val="EC5F74"/>
                          </a:solidFill>
                          <a:latin typeface="Quattrocento Sans" pitchFamily="34" charset="0"/>
                          <a:ea typeface="Quattrocento Sans" pitchFamily="34" charset="-122"/>
                          <a:cs typeface="Quattrocento Sans" pitchFamily="34" charset="-120"/>
                        </a:rPr>
                        <a:t>授权重确认缺失</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0F5FA"/>
                    </a:solidFill>
                  </a:tcPr>
                </a:tc>
              </a:tr>
            </a:tbl>
          </a:graphicData>
        </a:graphic>
      </p:graphicFrame>
      <p:sp>
        <p:nvSpPr>
          <p:cNvPr id="17" name="Shape 13"/>
          <p:cNvSpPr/>
          <p:nvPr/>
        </p:nvSpPr>
        <p:spPr>
          <a:xfrm>
            <a:off x="8382000" y="2222500"/>
            <a:ext cx="7366000" cy="1651000"/>
          </a:xfrm>
          <a:prstGeom prst="roundRect">
            <a:avLst>
              <a:gd name="adj" fmla="val 5000"/>
            </a:avLst>
          </a:prstGeom>
          <a:solidFill>
            <a:srgbClr val="FFF3E0"/>
          </a:solidFill>
          <a:ln/>
        </p:spPr>
      </p:sp>
      <p:sp>
        <p:nvSpPr>
          <p:cNvPr id="18" name="Shape 14"/>
          <p:cNvSpPr/>
          <p:nvPr/>
        </p:nvSpPr>
        <p:spPr>
          <a:xfrm>
            <a:off x="8636000" y="2603500"/>
            <a:ext cx="508000" cy="508000"/>
          </a:xfrm>
          <a:custGeom>
            <a:avLst/>
            <a:gdLst/>
            <a:ahLst/>
            <a:cxnLst/>
            <a:rect l="l" t="t" r="r" b="b"/>
            <a:pathLst>
              <a:path w="508000" h="508000">
                <a:moveTo>
                  <a:pt x="254000" y="0"/>
                </a:moveTo>
                <a:cubicBezTo>
                  <a:pt x="268585" y="0"/>
                  <a:pt x="281980" y="8037"/>
                  <a:pt x="288925" y="20836"/>
                </a:cubicBezTo>
                <a:lnTo>
                  <a:pt x="503238" y="417711"/>
                </a:lnTo>
                <a:cubicBezTo>
                  <a:pt x="509885" y="430014"/>
                  <a:pt x="509588" y="444897"/>
                  <a:pt x="502444" y="456902"/>
                </a:cubicBezTo>
                <a:cubicBezTo>
                  <a:pt x="495300" y="468908"/>
                  <a:pt x="482302" y="476250"/>
                  <a:pt x="468313" y="476250"/>
                </a:cubicBezTo>
                <a:lnTo>
                  <a:pt x="39688" y="476250"/>
                </a:lnTo>
                <a:cubicBezTo>
                  <a:pt x="25698" y="476250"/>
                  <a:pt x="12799" y="468908"/>
                  <a:pt x="5556" y="456902"/>
                </a:cubicBezTo>
                <a:cubicBezTo>
                  <a:pt x="-1687" y="444897"/>
                  <a:pt x="-1885" y="430014"/>
                  <a:pt x="4763" y="417711"/>
                </a:cubicBezTo>
                <a:lnTo>
                  <a:pt x="219075" y="20836"/>
                </a:lnTo>
                <a:cubicBezTo>
                  <a:pt x="226020" y="8037"/>
                  <a:pt x="239415" y="0"/>
                  <a:pt x="254000" y="0"/>
                </a:cubicBezTo>
                <a:close/>
                <a:moveTo>
                  <a:pt x="254000" y="166688"/>
                </a:moveTo>
                <a:cubicBezTo>
                  <a:pt x="240804" y="166688"/>
                  <a:pt x="230188" y="177304"/>
                  <a:pt x="230188" y="190500"/>
                </a:cubicBezTo>
                <a:lnTo>
                  <a:pt x="230188" y="301625"/>
                </a:lnTo>
                <a:cubicBezTo>
                  <a:pt x="230188" y="314821"/>
                  <a:pt x="240804" y="325438"/>
                  <a:pt x="254000" y="325438"/>
                </a:cubicBezTo>
                <a:cubicBezTo>
                  <a:pt x="267196" y="325438"/>
                  <a:pt x="277813" y="314821"/>
                  <a:pt x="277813" y="301625"/>
                </a:cubicBezTo>
                <a:lnTo>
                  <a:pt x="277813" y="190500"/>
                </a:lnTo>
                <a:cubicBezTo>
                  <a:pt x="277813" y="177304"/>
                  <a:pt x="267196" y="166688"/>
                  <a:pt x="254000" y="166688"/>
                </a:cubicBezTo>
                <a:close/>
                <a:moveTo>
                  <a:pt x="280491" y="381000"/>
                </a:moveTo>
                <a:cubicBezTo>
                  <a:pt x="281094" y="371167"/>
                  <a:pt x="276190" y="361811"/>
                  <a:pt x="267761" y="356712"/>
                </a:cubicBezTo>
                <a:cubicBezTo>
                  <a:pt x="259331" y="351613"/>
                  <a:pt x="248768" y="351613"/>
                  <a:pt x="240339" y="356712"/>
                </a:cubicBezTo>
                <a:cubicBezTo>
                  <a:pt x="231909" y="361811"/>
                  <a:pt x="227005" y="371167"/>
                  <a:pt x="227608" y="381000"/>
                </a:cubicBezTo>
                <a:cubicBezTo>
                  <a:pt x="227005" y="390833"/>
                  <a:pt x="231909" y="400189"/>
                  <a:pt x="240339" y="405288"/>
                </a:cubicBezTo>
                <a:cubicBezTo>
                  <a:pt x="248768" y="410387"/>
                  <a:pt x="259331" y="410387"/>
                  <a:pt x="267761" y="405288"/>
                </a:cubicBezTo>
                <a:cubicBezTo>
                  <a:pt x="276190" y="400189"/>
                  <a:pt x="281094" y="390833"/>
                  <a:pt x="280491" y="381000"/>
                </a:cubicBezTo>
                <a:close/>
              </a:path>
            </a:pathLst>
          </a:custGeom>
          <a:solidFill>
            <a:srgbClr val="FF9800"/>
          </a:solidFill>
          <a:ln/>
        </p:spPr>
      </p:sp>
      <p:sp>
        <p:nvSpPr>
          <p:cNvPr id="19" name="Text 15"/>
          <p:cNvSpPr/>
          <p:nvPr/>
        </p:nvSpPr>
        <p:spPr>
          <a:xfrm>
            <a:off x="9271000" y="2476500"/>
            <a:ext cx="6223000" cy="1143000"/>
          </a:xfrm>
          <a:prstGeom prst="rect">
            <a:avLst/>
          </a:prstGeom>
          <a:noFill/>
          <a:ln/>
        </p:spPr>
        <p:txBody>
          <a:bodyPr wrap="square" lIns="0" tIns="0" rIns="0" bIns="0" rtlCol="0" anchor="ctr"/>
          <a:lstStyle/>
          <a:p>
            <a:pPr algn="l">
              <a:lnSpc>
                <a:spcPct val="160000"/>
              </a:lnSpc>
            </a:pPr>
            <a:r>
              <a:rPr lang="en-US" sz="1800" b="1" dirty="0">
                <a:solidFill>
                  <a:srgbClr val="333333"/>
                </a:solidFill>
                <a:latin typeface="Quattrocento Sans" pitchFamily="34" charset="0"/>
                <a:ea typeface="Quattrocento Sans" pitchFamily="34" charset="-122"/>
                <a:cs typeface="Quattrocento Sans" pitchFamily="34" charset="-120"/>
              </a:rPr>
              <a:t>核心发现：</a:t>
            </a:r>
            <a:pPr algn="l">
              <a:lnSpc>
                <a:spcPct val="160000"/>
              </a:lnSpc>
            </a:pPr>
            <a:r>
              <a:rPr lang="en-US" sz="1800" dirty="0">
                <a:solidFill>
                  <a:srgbClr val="333333"/>
                </a:solidFill>
                <a:latin typeface="Quattrocento Sans" pitchFamily="34" charset="0"/>
                <a:ea typeface="Quattrocento Sans" pitchFamily="34" charset="-122"/>
                <a:cs typeface="Quattrocento Sans" pitchFamily="34" charset="-120"/>
              </a:rPr>
              <a:t>Agent 应用漏洞普遍</a:t>
            </a:r>
            <a:pPr algn="l">
              <a:lnSpc>
                <a:spcPct val="160000"/>
              </a:lnSpc>
            </a:pPr>
            <a:r>
              <a:rPr lang="en-US" sz="1800" b="1" dirty="0">
                <a:solidFill>
                  <a:srgbClr val="333333"/>
                </a:solidFill>
                <a:latin typeface="Quattrocento Sans" pitchFamily="34" charset="0"/>
                <a:ea typeface="Quattrocento Sans" pitchFamily="34" charset="-122"/>
                <a:cs typeface="Quattrocento Sans" pitchFamily="34" charset="-120"/>
              </a:rPr>
              <a:t>高危</a:t>
            </a:r>
            <a:pPr algn="l">
              <a:lnSpc>
                <a:spcPct val="160000"/>
              </a:lnSpc>
            </a:pPr>
            <a:r>
              <a:rPr lang="en-US" sz="1800" dirty="0">
                <a:solidFill>
                  <a:srgbClr val="333333"/>
                </a:solidFill>
                <a:latin typeface="Quattrocento Sans" pitchFamily="34" charset="0"/>
                <a:ea typeface="Quattrocento Sans" pitchFamily="34" charset="-122"/>
                <a:cs typeface="Quattrocento Sans" pitchFamily="34" charset="-120"/>
              </a:rPr>
              <a:t>，授权相关安全问题占比突出，现有授权机制难以应对</a:t>
            </a:r>
            <a:endParaRPr lang="en-US" sz="1800" dirty="0"/>
          </a:p>
        </p:txBody>
      </p:sp>
      <p:sp>
        <p:nvSpPr>
          <p:cNvPr id="20" name="Text 16"/>
          <p:cNvSpPr/>
          <p:nvPr/>
        </p:nvSpPr>
        <p:spPr>
          <a:xfrm>
            <a:off x="8382000" y="4038600"/>
            <a:ext cx="3810000" cy="355600"/>
          </a:xfrm>
          <a:prstGeom prst="rect">
            <a:avLst/>
          </a:prstGeom>
          <a:noFill/>
          <a:ln/>
        </p:spPr>
        <p:txBody>
          <a:bodyPr wrap="none" lIns="0" tIns="0" rIns="0" bIns="0" rtlCol="0" anchor="ctr"/>
          <a:lstStyle/>
          <a:p>
            <a:pPr algn="l">
              <a:lnSpc>
                <a:spcPct val="120000"/>
              </a:lnSpc>
            </a:pPr>
            <a:r>
              <a:rPr lang="en-US" sz="1700" b="1" dirty="0">
                <a:solidFill>
                  <a:srgbClr val="0077BB"/>
                </a:solidFill>
                <a:latin typeface="Quattrocento Sans" pitchFamily="34" charset="0"/>
                <a:ea typeface="Quattrocento Sans" pitchFamily="34" charset="-122"/>
                <a:cs typeface="Quattrocento Sans" pitchFamily="34" charset="-120"/>
              </a:rPr>
              <a:t>漏洞严重程度分布</a:t>
            </a:r>
            <a:endParaRPr lang="en-US" sz="1700" dirty="0"/>
          </a:p>
        </p:txBody>
      </p:sp>
      <p:graphicFrame>
        <p:nvGraphicFramePr>
          <p:cNvPr id="21" name="Chart 0" descr=""/>
          <p:cNvGraphicFramePr/>
          <p:nvPr/>
        </p:nvGraphicFramePr>
        <p:xfrm>
          <a:off x="8382000" y="4508500"/>
          <a:ext cx="7366000" cy="3810000"/>
        </p:xfrm>
        <a:graphic xmlns:a="http://schemas.openxmlformats.org/drawingml/2006/main">
          <a:graphicData uri="http://schemas.openxmlformats.org/drawingml/2006/chart">
            <c:chart xmlns:c="http://schemas.openxmlformats.org/drawingml/2006/chart" r:id="rId2"/>
          </a:graphicData>
        </a:graphic>
      </p:graphicFrame>
      <p:sp>
        <p:nvSpPr>
          <p:cNvPr id="22" name="Text 17"/>
          <p:cNvSpPr/>
          <p:nvPr/>
        </p:nvSpPr>
        <p:spPr>
          <a:xfrm>
            <a:off x="15240000" y="8636000"/>
            <a:ext cx="635000" cy="381000"/>
          </a:xfrm>
          <a:prstGeom prst="rect">
            <a:avLst/>
          </a:prstGeom>
          <a:noFill/>
          <a:ln/>
        </p:spPr>
        <p:txBody>
          <a:bodyPr wrap="none" lIns="0" tIns="0" rIns="0" bIns="0" rtlCol="0" anchor="ctr"/>
          <a:lstStyle/>
          <a:p>
            <a:pPr algn="r">
              <a:lnSpc>
                <a:spcPct val="120000"/>
              </a:lnSpc>
            </a:pPr>
            <a:r>
              <a:rPr lang="en-US" sz="1800" dirty="0">
                <a:solidFill>
                  <a:srgbClr val="666666"/>
                </a:solidFill>
                <a:latin typeface="Quattrocento Sans" pitchFamily="34" charset="0"/>
                <a:ea typeface="Quattrocento Sans" pitchFamily="34" charset="-122"/>
                <a:cs typeface="Quattrocento Sans" pitchFamily="34" charset="-120"/>
              </a:rPr>
              <a:t>4</a:t>
            </a:r>
            <a:endParaRPr lang="en-US" sz="18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168900" y="0"/>
            <a:ext cx="2590800" cy="965200"/>
          </a:xfrm>
          <a:prstGeom prst="rect">
            <a:avLst/>
          </a:prstGeom>
          <a:solidFill>
            <a:srgbClr val="F2F2F2"/>
          </a:solidFill>
          <a:ln/>
        </p:spPr>
      </p:sp>
      <p:sp>
        <p:nvSpPr>
          <p:cNvPr id="3" name="Shape 1"/>
          <p:cNvSpPr/>
          <p:nvPr/>
        </p:nvSpPr>
        <p:spPr>
          <a:xfrm>
            <a:off x="7810500" y="0"/>
            <a:ext cx="4152900" cy="965200"/>
          </a:xfrm>
          <a:prstGeom prst="rect">
            <a:avLst/>
          </a:prstGeom>
          <a:solidFill>
            <a:srgbClr val="F2F2F2"/>
          </a:solidFill>
          <a:ln/>
        </p:spPr>
      </p:sp>
      <p:sp>
        <p:nvSpPr>
          <p:cNvPr id="4" name="Shape 2"/>
          <p:cNvSpPr/>
          <p:nvPr/>
        </p:nvSpPr>
        <p:spPr>
          <a:xfrm>
            <a:off x="11976100" y="0"/>
            <a:ext cx="4279900" cy="965200"/>
          </a:xfrm>
          <a:prstGeom prst="rect">
            <a:avLst/>
          </a:prstGeom>
          <a:solidFill>
            <a:srgbClr val="F2F2F2"/>
          </a:solidFill>
          <a:ln/>
        </p:spPr>
      </p:sp>
      <p:sp>
        <p:nvSpPr>
          <p:cNvPr id="5" name="Shape 3"/>
          <p:cNvSpPr/>
          <p:nvPr/>
        </p:nvSpPr>
        <p:spPr>
          <a:xfrm>
            <a:off x="2222500" y="0"/>
            <a:ext cx="2895600" cy="965200"/>
          </a:xfrm>
          <a:prstGeom prst="rect">
            <a:avLst/>
          </a:prstGeom>
          <a:solidFill>
            <a:srgbClr val="04579A"/>
          </a:solidFill>
          <a:ln/>
        </p:spPr>
      </p:sp>
      <p:sp>
        <p:nvSpPr>
          <p:cNvPr id="6" name="Text 4"/>
          <p:cNvSpPr/>
          <p:nvPr/>
        </p:nvSpPr>
        <p:spPr>
          <a:xfrm>
            <a:off x="2286000" y="254000"/>
            <a:ext cx="2794000" cy="4572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7" name="Text 5"/>
          <p:cNvSpPr/>
          <p:nvPr/>
        </p:nvSpPr>
        <p:spPr>
          <a:xfrm>
            <a:off x="5168900" y="254000"/>
            <a:ext cx="25908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8" name="Text 6"/>
          <p:cNvSpPr/>
          <p:nvPr/>
        </p:nvSpPr>
        <p:spPr>
          <a:xfrm>
            <a:off x="7810500" y="254000"/>
            <a:ext cx="41148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9" name="Text 7"/>
          <p:cNvSpPr/>
          <p:nvPr/>
        </p:nvSpPr>
        <p:spPr>
          <a:xfrm>
            <a:off x="11976100" y="254000"/>
            <a:ext cx="42799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sp>
        <p:nvSpPr>
          <p:cNvPr id="10" name="Shape 8"/>
          <p:cNvSpPr/>
          <p:nvPr/>
        </p:nvSpPr>
        <p:spPr>
          <a:xfrm rot="10800000">
            <a:off x="3492500" y="965200"/>
            <a:ext cx="393700" cy="304800"/>
          </a:xfrm>
          <a:prstGeom prst="triangle">
            <a:avLst>
              <a:gd name="adj" fmla="val 50000"/>
            </a:avLst>
          </a:prstGeom>
          <a:solidFill>
            <a:srgbClr val="04579A"/>
          </a:solidFill>
          <a:ln/>
        </p:spPr>
      </p:sp>
      <p:pic>
        <p:nvPicPr>
          <p:cNvPr id="11" name="Image 0" descr="https://kimi-img.moonshot.cn/pub/slides/okc/flfuysioo4gzm/mnt/agents/output/yuan_pptd/images/image_2.jpg">    </p:cNvPr>
          <p:cNvPicPr>
            <a:picLocks noChangeAspect="1"/>
          </p:cNvPicPr>
          <p:nvPr/>
        </p:nvPicPr>
        <p:blipFill>
          <a:blip r:embed="rId1"/>
          <a:srcRect l="5060" r="29000" t="0" b="0"/>
          <a:stretch/>
        </p:blipFill>
        <p:spPr>
          <a:xfrm>
            <a:off x="546100" y="139700"/>
            <a:ext cx="1270000" cy="749300"/>
          </a:xfrm>
          <a:prstGeom prst="rect">
            <a:avLst/>
          </a:prstGeom>
        </p:spPr>
      </p:pic>
      <p:sp>
        <p:nvSpPr>
          <p:cNvPr id="12" name="Text 9"/>
          <p:cNvSpPr/>
          <p:nvPr/>
        </p:nvSpPr>
        <p:spPr>
          <a:xfrm>
            <a:off x="762000" y="1460500"/>
            <a:ext cx="8890000" cy="571500"/>
          </a:xfrm>
          <a:prstGeom prst="rect">
            <a:avLst/>
          </a:prstGeom>
          <a:noFill/>
          <a:ln/>
        </p:spPr>
        <p:txBody>
          <a:bodyPr wrap="none" lIns="0" tIns="0" rIns="0" bIns="0" rtlCol="0" anchor="ctr"/>
          <a:lstStyle/>
          <a:p>
            <a:pPr algn="l">
              <a:lnSpc>
                <a:spcPct val="120000"/>
              </a:lnSpc>
            </a:pPr>
            <a:r>
              <a:rPr lang="en-US" sz="3000" b="1" dirty="0">
                <a:solidFill>
                  <a:srgbClr val="005C8F"/>
                </a:solidFill>
                <a:latin typeface="Quattrocento Sans" pitchFamily="34" charset="0"/>
                <a:ea typeface="Quattrocento Sans" pitchFamily="34" charset="-122"/>
                <a:cs typeface="Quattrocento Sans" pitchFamily="34" charset="-120"/>
              </a:rPr>
              <a:t>当前智能体授权方式</a:t>
            </a:r>
            <a:endParaRPr lang="en-US" sz="3000" dirty="0"/>
          </a:p>
        </p:txBody>
      </p:sp>
      <p:sp>
        <p:nvSpPr>
          <p:cNvPr id="13" name="Text 10"/>
          <p:cNvSpPr/>
          <p:nvPr/>
        </p:nvSpPr>
        <p:spPr>
          <a:xfrm>
            <a:off x="762000" y="2222500"/>
            <a:ext cx="6858000" cy="889000"/>
          </a:xfrm>
          <a:prstGeom prst="rect">
            <a:avLst/>
          </a:prstGeom>
          <a:noFill/>
          <a:ln/>
        </p:spPr>
        <p:txBody>
          <a:bodyPr wrap="square" lIns="0" tIns="0" rIns="0" bIns="0" rtlCol="0" anchor="t"/>
          <a:lstStyle/>
          <a:p>
            <a:pPr algn="l">
              <a:lnSpc>
                <a:spcPct val="160000"/>
              </a:lnSpc>
            </a:pPr>
            <a:r>
              <a:rPr lang="en-US" sz="1800" dirty="0">
                <a:solidFill>
                  <a:srgbClr val="333333"/>
                </a:solidFill>
                <a:latin typeface="Quattrocento Sans" pitchFamily="34" charset="0"/>
                <a:ea typeface="Quattrocento Sans" pitchFamily="34" charset="-122"/>
                <a:cs typeface="Quattrocento Sans" pitchFamily="34" charset="-120"/>
              </a:rPr>
              <a:t>目前智能体访问外部资源或服务时，普遍采用以下两种方式：</a:t>
            </a:r>
            <a:endParaRPr lang="en-US" sz="1800" dirty="0"/>
          </a:p>
        </p:txBody>
      </p:sp>
      <p:sp>
        <p:nvSpPr>
          <p:cNvPr id="14" name="Shape 11"/>
          <p:cNvSpPr/>
          <p:nvPr/>
        </p:nvSpPr>
        <p:spPr>
          <a:xfrm>
            <a:off x="762000" y="3276600"/>
            <a:ext cx="6858000" cy="1651000"/>
          </a:xfrm>
          <a:prstGeom prst="roundRect">
            <a:avLst>
              <a:gd name="adj" fmla="val 6000"/>
            </a:avLst>
          </a:prstGeom>
          <a:solidFill>
            <a:srgbClr val="E6F0F7"/>
          </a:solidFill>
          <a:ln/>
        </p:spPr>
      </p:sp>
      <p:sp>
        <p:nvSpPr>
          <p:cNvPr id="15" name="Shape 12"/>
          <p:cNvSpPr/>
          <p:nvPr/>
        </p:nvSpPr>
        <p:spPr>
          <a:xfrm>
            <a:off x="1016000" y="3492500"/>
            <a:ext cx="457200" cy="457200"/>
          </a:xfrm>
          <a:custGeom>
            <a:avLst/>
            <a:gdLst/>
            <a:ahLst/>
            <a:cxnLst/>
            <a:rect l="l" t="t" r="r" b="b"/>
            <a:pathLst>
              <a:path w="457200" h="457200">
                <a:moveTo>
                  <a:pt x="300038" y="314325"/>
                </a:moveTo>
                <a:cubicBezTo>
                  <a:pt x="386834" y="314325"/>
                  <a:pt x="457200" y="243959"/>
                  <a:pt x="457200" y="157163"/>
                </a:cubicBezTo>
                <a:cubicBezTo>
                  <a:pt x="457200" y="70366"/>
                  <a:pt x="386834" y="0"/>
                  <a:pt x="300038" y="0"/>
                </a:cubicBezTo>
                <a:cubicBezTo>
                  <a:pt x="213241" y="0"/>
                  <a:pt x="142875" y="70366"/>
                  <a:pt x="142875" y="157163"/>
                </a:cubicBezTo>
                <a:cubicBezTo>
                  <a:pt x="142875" y="173861"/>
                  <a:pt x="145465" y="190024"/>
                  <a:pt x="150287" y="205115"/>
                </a:cubicBezTo>
                <a:lnTo>
                  <a:pt x="6251" y="349151"/>
                </a:lnTo>
                <a:cubicBezTo>
                  <a:pt x="2232" y="353169"/>
                  <a:pt x="0" y="358616"/>
                  <a:pt x="0" y="364331"/>
                </a:cubicBezTo>
                <a:lnTo>
                  <a:pt x="0" y="435769"/>
                </a:lnTo>
                <a:cubicBezTo>
                  <a:pt x="0" y="447645"/>
                  <a:pt x="9555" y="457200"/>
                  <a:pt x="21431" y="457200"/>
                </a:cubicBezTo>
                <a:lnTo>
                  <a:pt x="92869" y="457200"/>
                </a:lnTo>
                <a:cubicBezTo>
                  <a:pt x="104745" y="457200"/>
                  <a:pt x="114300" y="447645"/>
                  <a:pt x="114300" y="435769"/>
                </a:cubicBezTo>
                <a:lnTo>
                  <a:pt x="114300" y="400050"/>
                </a:lnTo>
                <a:lnTo>
                  <a:pt x="150019" y="400050"/>
                </a:lnTo>
                <a:cubicBezTo>
                  <a:pt x="161895" y="400050"/>
                  <a:pt x="171450" y="390495"/>
                  <a:pt x="171450" y="378619"/>
                </a:cubicBezTo>
                <a:lnTo>
                  <a:pt x="171450" y="342900"/>
                </a:lnTo>
                <a:lnTo>
                  <a:pt x="207169" y="342900"/>
                </a:lnTo>
                <a:cubicBezTo>
                  <a:pt x="212884" y="342900"/>
                  <a:pt x="218331" y="340668"/>
                  <a:pt x="222349" y="336649"/>
                </a:cubicBezTo>
                <a:lnTo>
                  <a:pt x="252085" y="306913"/>
                </a:lnTo>
                <a:cubicBezTo>
                  <a:pt x="267176" y="311735"/>
                  <a:pt x="283339" y="314325"/>
                  <a:pt x="300038" y="314325"/>
                </a:cubicBezTo>
                <a:close/>
                <a:moveTo>
                  <a:pt x="335756" y="85725"/>
                </a:moveTo>
                <a:cubicBezTo>
                  <a:pt x="355470" y="85725"/>
                  <a:pt x="371475" y="101730"/>
                  <a:pt x="371475" y="121444"/>
                </a:cubicBezTo>
                <a:cubicBezTo>
                  <a:pt x="371475" y="141157"/>
                  <a:pt x="355470" y="157163"/>
                  <a:pt x="335756" y="157163"/>
                </a:cubicBezTo>
                <a:cubicBezTo>
                  <a:pt x="316043" y="157163"/>
                  <a:pt x="300038" y="141157"/>
                  <a:pt x="300038" y="121444"/>
                </a:cubicBezTo>
                <a:cubicBezTo>
                  <a:pt x="300038" y="101730"/>
                  <a:pt x="316043" y="85725"/>
                  <a:pt x="335756" y="85725"/>
                </a:cubicBezTo>
                <a:close/>
              </a:path>
            </a:pathLst>
          </a:custGeom>
          <a:solidFill>
            <a:srgbClr val="005C8F"/>
          </a:solidFill>
          <a:ln/>
        </p:spPr>
      </p:sp>
      <p:sp>
        <p:nvSpPr>
          <p:cNvPr id="16" name="Text 13"/>
          <p:cNvSpPr/>
          <p:nvPr/>
        </p:nvSpPr>
        <p:spPr>
          <a:xfrm>
            <a:off x="1651000" y="3492500"/>
            <a:ext cx="3810000" cy="457200"/>
          </a:xfrm>
          <a:prstGeom prst="rect">
            <a:avLst/>
          </a:prstGeom>
          <a:noFill/>
          <a:ln/>
        </p:spPr>
        <p:txBody>
          <a:bodyPr wrap="none" lIns="0" tIns="0" rIns="0" bIns="0" rtlCol="0" anchor="ctr"/>
          <a:lstStyle/>
          <a:p>
            <a:pPr algn="l">
              <a:lnSpc>
                <a:spcPct val="120000"/>
              </a:lnSpc>
            </a:pPr>
            <a:r>
              <a:rPr lang="en-US" sz="2200" b="1" dirty="0">
                <a:solidFill>
                  <a:srgbClr val="005C8F"/>
                </a:solidFill>
                <a:latin typeface="Quattrocento Sans" pitchFamily="34" charset="0"/>
                <a:ea typeface="Quattrocento Sans" pitchFamily="34" charset="-122"/>
                <a:cs typeface="Quattrocento Sans" pitchFamily="34" charset="-120"/>
              </a:rPr>
              <a:t>API Key 模式</a:t>
            </a:r>
            <a:endParaRPr lang="en-US" sz="2200" dirty="0"/>
          </a:p>
        </p:txBody>
      </p:sp>
      <p:sp>
        <p:nvSpPr>
          <p:cNvPr id="17" name="Text 14"/>
          <p:cNvSpPr/>
          <p:nvPr/>
        </p:nvSpPr>
        <p:spPr>
          <a:xfrm>
            <a:off x="1016000" y="4064000"/>
            <a:ext cx="6350000" cy="762000"/>
          </a:xfrm>
          <a:prstGeom prst="rect">
            <a:avLst/>
          </a:prstGeom>
          <a:noFill/>
          <a:ln/>
        </p:spPr>
        <p:txBody>
          <a:bodyPr wrap="square" lIns="0" tIns="0" rIns="0" bIns="0" rtlCol="0" anchor="t"/>
          <a:lstStyle/>
          <a:p>
            <a:pPr algn="l">
              <a:lnSpc>
                <a:spcPct val="150000"/>
              </a:lnSpc>
            </a:pPr>
            <a:r>
              <a:rPr lang="en-US" sz="1400" dirty="0">
                <a:solidFill>
                  <a:srgbClr val="333333"/>
                </a:solidFill>
                <a:latin typeface="Quattrocento Sans" pitchFamily="34" charset="0"/>
                <a:ea typeface="Quattrocento Sans" pitchFamily="34" charset="-122"/>
                <a:cs typeface="Quattrocento Sans" pitchFamily="34" charset="-120"/>
              </a:rPr>
              <a:t>简单的静态密钥模式，缺乏精细化权限控制。密钥一旦泄露，攻击者可获得全部API访问权限，安全风险极高。</a:t>
            </a:r>
            <a:endParaRPr lang="en-US" sz="1400" dirty="0"/>
          </a:p>
        </p:txBody>
      </p:sp>
      <p:sp>
        <p:nvSpPr>
          <p:cNvPr id="18" name="Shape 15"/>
          <p:cNvSpPr/>
          <p:nvPr/>
        </p:nvSpPr>
        <p:spPr>
          <a:xfrm>
            <a:off x="762000" y="5143500"/>
            <a:ext cx="6858000" cy="1651000"/>
          </a:xfrm>
          <a:prstGeom prst="roundRect">
            <a:avLst>
              <a:gd name="adj" fmla="val 6000"/>
            </a:avLst>
          </a:prstGeom>
          <a:solidFill>
            <a:srgbClr val="E6F0F7"/>
          </a:solidFill>
          <a:ln/>
        </p:spPr>
      </p:sp>
      <p:sp>
        <p:nvSpPr>
          <p:cNvPr id="19" name="Shape 16"/>
          <p:cNvSpPr/>
          <p:nvPr/>
        </p:nvSpPr>
        <p:spPr>
          <a:xfrm>
            <a:off x="1016000" y="5359400"/>
            <a:ext cx="457200" cy="457200"/>
          </a:xfrm>
          <a:custGeom>
            <a:avLst/>
            <a:gdLst/>
            <a:ahLst/>
            <a:cxnLst/>
            <a:rect l="l" t="t" r="r" b="b"/>
            <a:pathLst>
              <a:path w="457200" h="457200">
                <a:moveTo>
                  <a:pt x="152400" y="85725"/>
                </a:moveTo>
                <a:lnTo>
                  <a:pt x="152400" y="142875"/>
                </a:lnTo>
                <a:lnTo>
                  <a:pt x="304800" y="142875"/>
                </a:lnTo>
                <a:lnTo>
                  <a:pt x="304800" y="85725"/>
                </a:lnTo>
                <a:cubicBezTo>
                  <a:pt x="304800" y="54203"/>
                  <a:pt x="270629" y="28575"/>
                  <a:pt x="228600" y="28575"/>
                </a:cubicBezTo>
                <a:cubicBezTo>
                  <a:pt x="186571" y="28575"/>
                  <a:pt x="152400" y="54203"/>
                  <a:pt x="152400" y="85725"/>
                </a:cubicBezTo>
                <a:close/>
                <a:moveTo>
                  <a:pt x="76200" y="142875"/>
                </a:moveTo>
                <a:lnTo>
                  <a:pt x="76200" y="85725"/>
                </a:lnTo>
                <a:cubicBezTo>
                  <a:pt x="76200" y="22592"/>
                  <a:pt x="144423" y="-28575"/>
                  <a:pt x="228600" y="-28575"/>
                </a:cubicBezTo>
                <a:cubicBezTo>
                  <a:pt x="312777" y="-28575"/>
                  <a:pt x="381000" y="22592"/>
                  <a:pt x="381000" y="85725"/>
                </a:cubicBezTo>
                <a:lnTo>
                  <a:pt x="381000" y="142875"/>
                </a:lnTo>
                <a:cubicBezTo>
                  <a:pt x="423029" y="142875"/>
                  <a:pt x="457200" y="168503"/>
                  <a:pt x="457200" y="200025"/>
                </a:cubicBezTo>
                <a:lnTo>
                  <a:pt x="457200" y="400050"/>
                </a:lnTo>
                <a:cubicBezTo>
                  <a:pt x="457200" y="431572"/>
                  <a:pt x="423029" y="457200"/>
                  <a:pt x="381000" y="457200"/>
                </a:cubicBezTo>
                <a:lnTo>
                  <a:pt x="76200" y="457200"/>
                </a:lnTo>
                <a:cubicBezTo>
                  <a:pt x="34171" y="457200"/>
                  <a:pt x="0" y="431572"/>
                  <a:pt x="0" y="400050"/>
                </a:cubicBezTo>
                <a:lnTo>
                  <a:pt x="0" y="200025"/>
                </a:lnTo>
                <a:cubicBezTo>
                  <a:pt x="0" y="168503"/>
                  <a:pt x="34171" y="142875"/>
                  <a:pt x="76200" y="142875"/>
                </a:cubicBezTo>
                <a:close/>
              </a:path>
            </a:pathLst>
          </a:custGeom>
          <a:solidFill>
            <a:srgbClr val="005C8F"/>
          </a:solidFill>
          <a:ln/>
        </p:spPr>
      </p:sp>
      <p:sp>
        <p:nvSpPr>
          <p:cNvPr id="20" name="Text 17"/>
          <p:cNvSpPr/>
          <p:nvPr/>
        </p:nvSpPr>
        <p:spPr>
          <a:xfrm>
            <a:off x="1651000" y="5359400"/>
            <a:ext cx="3810000" cy="457200"/>
          </a:xfrm>
          <a:prstGeom prst="rect">
            <a:avLst/>
          </a:prstGeom>
          <a:noFill/>
          <a:ln/>
        </p:spPr>
        <p:txBody>
          <a:bodyPr wrap="none" lIns="0" tIns="0" rIns="0" bIns="0" rtlCol="0" anchor="ctr"/>
          <a:lstStyle/>
          <a:p>
            <a:pPr algn="l">
              <a:lnSpc>
                <a:spcPct val="120000"/>
              </a:lnSpc>
            </a:pPr>
            <a:r>
              <a:rPr lang="en-US" sz="2200" b="1" dirty="0">
                <a:solidFill>
                  <a:srgbClr val="005C8F"/>
                </a:solidFill>
                <a:latin typeface="Quattrocento Sans" pitchFamily="34" charset="0"/>
                <a:ea typeface="Quattrocento Sans" pitchFamily="34" charset="-122"/>
                <a:cs typeface="Quattrocento Sans" pitchFamily="34" charset="-120"/>
              </a:rPr>
              <a:t>传统 OAuth</a:t>
            </a:r>
            <a:endParaRPr lang="en-US" sz="2200" dirty="0"/>
          </a:p>
        </p:txBody>
      </p:sp>
      <p:sp>
        <p:nvSpPr>
          <p:cNvPr id="21" name="Text 18"/>
          <p:cNvSpPr/>
          <p:nvPr/>
        </p:nvSpPr>
        <p:spPr>
          <a:xfrm>
            <a:off x="1016000" y="5930900"/>
            <a:ext cx="6350000" cy="762000"/>
          </a:xfrm>
          <a:prstGeom prst="rect">
            <a:avLst/>
          </a:prstGeom>
          <a:noFill/>
          <a:ln/>
        </p:spPr>
        <p:txBody>
          <a:bodyPr wrap="square" lIns="0" tIns="0" rIns="0" bIns="0" rtlCol="0" anchor="t"/>
          <a:lstStyle/>
          <a:p>
            <a:pPr algn="l">
              <a:lnSpc>
                <a:spcPct val="150000"/>
              </a:lnSpc>
            </a:pPr>
            <a:r>
              <a:rPr lang="en-US" sz="1400" dirty="0">
                <a:solidFill>
                  <a:srgbClr val="333333"/>
                </a:solidFill>
                <a:latin typeface="Quattrocento Sans" pitchFamily="34" charset="0"/>
                <a:ea typeface="Quattrocento Sans" pitchFamily="34" charset="-122"/>
                <a:cs typeface="Quattrocento Sans" pitchFamily="34" charset="-120"/>
              </a:rPr>
              <a:t>基于用户同意的第三方授权框架，采用粗粒度的 Scope 机制。权限签发时固定，无法适应智能体动态权限需求。</a:t>
            </a:r>
            <a:endParaRPr lang="en-US" sz="1400" dirty="0"/>
          </a:p>
        </p:txBody>
      </p:sp>
      <p:sp>
        <p:nvSpPr>
          <p:cNvPr id="22" name="Shape 19"/>
          <p:cNvSpPr/>
          <p:nvPr/>
        </p:nvSpPr>
        <p:spPr>
          <a:xfrm>
            <a:off x="762000" y="7086600"/>
            <a:ext cx="6858000" cy="1079500"/>
          </a:xfrm>
          <a:prstGeom prst="roundRect">
            <a:avLst>
              <a:gd name="adj" fmla="val 5000"/>
            </a:avLst>
          </a:prstGeom>
          <a:solidFill>
            <a:srgbClr val="005C8F"/>
          </a:solidFill>
          <a:ln/>
        </p:spPr>
      </p:sp>
      <p:sp>
        <p:nvSpPr>
          <p:cNvPr id="23" name="Text 20"/>
          <p:cNvSpPr/>
          <p:nvPr/>
        </p:nvSpPr>
        <p:spPr>
          <a:xfrm>
            <a:off x="990600" y="7175500"/>
            <a:ext cx="6426200" cy="889000"/>
          </a:xfrm>
          <a:prstGeom prst="rect">
            <a:avLst/>
          </a:prstGeom>
          <a:noFill/>
          <a:ln/>
        </p:spPr>
        <p:txBody>
          <a:bodyPr wrap="square" lIns="0" tIns="0" rIns="0" bIns="0" rtlCol="0" anchor="ctr"/>
          <a:lstStyle/>
          <a:p>
            <a:pPr algn="l">
              <a:lnSpc>
                <a:spcPct val="160000"/>
              </a:lnSpc>
            </a:pPr>
            <a:r>
              <a:rPr lang="en-US" sz="1500" b="1" dirty="0">
                <a:solidFill>
                  <a:srgbClr val="FFFFFF"/>
                </a:solidFill>
                <a:latin typeface="Quattrocento Sans" pitchFamily="34" charset="0"/>
                <a:ea typeface="Quattrocento Sans" pitchFamily="34" charset="-122"/>
                <a:cs typeface="Quattrocento Sans" pitchFamily="34" charset="-120"/>
              </a:rPr>
              <a:t>核心矛盾：</a:t>
            </a:r>
            <a:pPr algn="l">
              <a:lnSpc>
                <a:spcPct val="160000"/>
              </a:lnSpc>
            </a:pPr>
            <a:r>
              <a:rPr lang="en-US" sz="1500" dirty="0">
                <a:solidFill>
                  <a:srgbClr val="FFFFFF"/>
                </a:solidFill>
                <a:latin typeface="Quattrocento Sans" pitchFamily="34" charset="0"/>
                <a:ea typeface="Quattrocento Sans" pitchFamily="34" charset="-122"/>
                <a:cs typeface="Quattrocento Sans" pitchFamily="34" charset="-120"/>
              </a:rPr>
              <a:t>两种模式均基于"人类用户 - 静态权限"假设设计，无法适配智能体作为自主行动主体的动态授权需求</a:t>
            </a:r>
            <a:endParaRPr lang="en-US" sz="1500" dirty="0"/>
          </a:p>
        </p:txBody>
      </p:sp>
      <p:sp>
        <p:nvSpPr>
          <p:cNvPr id="24" name="Text 21"/>
          <p:cNvSpPr/>
          <p:nvPr/>
        </p:nvSpPr>
        <p:spPr>
          <a:xfrm>
            <a:off x="8382000" y="2222500"/>
            <a:ext cx="3810000" cy="355600"/>
          </a:xfrm>
          <a:prstGeom prst="rect">
            <a:avLst/>
          </a:prstGeom>
          <a:noFill/>
          <a:ln/>
        </p:spPr>
        <p:txBody>
          <a:bodyPr wrap="none" lIns="0" tIns="0" rIns="0" bIns="0" rtlCol="0" anchor="ctr"/>
          <a:lstStyle/>
          <a:p>
            <a:pPr algn="l">
              <a:lnSpc>
                <a:spcPct val="120000"/>
              </a:lnSpc>
            </a:pPr>
            <a:r>
              <a:rPr lang="en-US" sz="1700" b="1" dirty="0">
                <a:solidFill>
                  <a:srgbClr val="0077BB"/>
                </a:solidFill>
                <a:latin typeface="Quattrocento Sans" pitchFamily="34" charset="0"/>
                <a:ea typeface="Quattrocento Sans" pitchFamily="34" charset="-122"/>
                <a:cs typeface="Quattrocento Sans" pitchFamily="34" charset="-120"/>
              </a:rPr>
              <a:t>传统 OAuth 授权流程</a:t>
            </a:r>
            <a:endParaRPr lang="en-US" sz="1700" dirty="0"/>
          </a:p>
        </p:txBody>
      </p:sp>
      <p:pic>
        <p:nvPicPr>
          <p:cNvPr id="25" name="Image 1" descr="https://kimi-img.moonshot.cn/pub/slides/okc/flfuysioo4gzm/mnt/agents/output/yuan_pptd/images/image_8.png">    </p:cNvPr>
          <p:cNvPicPr>
            <a:picLocks noChangeAspect="1"/>
          </p:cNvPicPr>
          <p:nvPr/>
        </p:nvPicPr>
        <p:blipFill>
          <a:blip r:embed="rId2"/>
          <a:srcRect l="0" r="0" t="0" b="0"/>
          <a:stretch/>
        </p:blipFill>
        <p:spPr>
          <a:xfrm>
            <a:off x="8382000" y="2730500"/>
            <a:ext cx="7366000" cy="5461000"/>
          </a:xfrm>
          <a:prstGeom prst="rect">
            <a:avLst/>
          </a:prstGeom>
        </p:spPr>
      </p:pic>
      <p:sp>
        <p:nvSpPr>
          <p:cNvPr id="26" name="Text 22"/>
          <p:cNvSpPr/>
          <p:nvPr/>
        </p:nvSpPr>
        <p:spPr>
          <a:xfrm>
            <a:off x="15240000" y="8636000"/>
            <a:ext cx="635000" cy="381000"/>
          </a:xfrm>
          <a:prstGeom prst="rect">
            <a:avLst/>
          </a:prstGeom>
          <a:noFill/>
          <a:ln/>
        </p:spPr>
        <p:txBody>
          <a:bodyPr wrap="none" lIns="0" tIns="0" rIns="0" bIns="0" rtlCol="0" anchor="ctr"/>
          <a:lstStyle/>
          <a:p>
            <a:pPr algn="r">
              <a:lnSpc>
                <a:spcPct val="120000"/>
              </a:lnSpc>
            </a:pPr>
            <a:r>
              <a:rPr lang="en-US" sz="1800" dirty="0">
                <a:solidFill>
                  <a:srgbClr val="666666"/>
                </a:solidFill>
                <a:latin typeface="Quattrocento Sans" pitchFamily="34" charset="0"/>
                <a:ea typeface="Quattrocento Sans" pitchFamily="34" charset="-122"/>
                <a:cs typeface="Quattrocento Sans" pitchFamily="34" charset="-120"/>
              </a:rPr>
              <a:t>5</a:t>
            </a:r>
            <a:endParaRPr lang="en-US" sz="18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168900" y="0"/>
            <a:ext cx="2590800" cy="965200"/>
          </a:xfrm>
          <a:prstGeom prst="rect">
            <a:avLst/>
          </a:prstGeom>
          <a:solidFill>
            <a:srgbClr val="F2F2F2"/>
          </a:solidFill>
          <a:ln/>
        </p:spPr>
      </p:sp>
      <p:sp>
        <p:nvSpPr>
          <p:cNvPr id="3" name="Shape 1"/>
          <p:cNvSpPr/>
          <p:nvPr/>
        </p:nvSpPr>
        <p:spPr>
          <a:xfrm>
            <a:off x="7810500" y="0"/>
            <a:ext cx="4152900" cy="965200"/>
          </a:xfrm>
          <a:prstGeom prst="rect">
            <a:avLst/>
          </a:prstGeom>
          <a:solidFill>
            <a:srgbClr val="F2F2F2"/>
          </a:solidFill>
          <a:ln/>
        </p:spPr>
      </p:sp>
      <p:sp>
        <p:nvSpPr>
          <p:cNvPr id="4" name="Shape 2"/>
          <p:cNvSpPr/>
          <p:nvPr/>
        </p:nvSpPr>
        <p:spPr>
          <a:xfrm>
            <a:off x="11976100" y="0"/>
            <a:ext cx="4279900" cy="965200"/>
          </a:xfrm>
          <a:prstGeom prst="rect">
            <a:avLst/>
          </a:prstGeom>
          <a:solidFill>
            <a:srgbClr val="F2F2F2"/>
          </a:solidFill>
          <a:ln/>
        </p:spPr>
      </p:sp>
      <p:sp>
        <p:nvSpPr>
          <p:cNvPr id="5" name="Shape 3"/>
          <p:cNvSpPr/>
          <p:nvPr/>
        </p:nvSpPr>
        <p:spPr>
          <a:xfrm>
            <a:off x="2222500" y="0"/>
            <a:ext cx="2895600" cy="965200"/>
          </a:xfrm>
          <a:prstGeom prst="rect">
            <a:avLst/>
          </a:prstGeom>
          <a:solidFill>
            <a:srgbClr val="04579A"/>
          </a:solidFill>
          <a:ln/>
        </p:spPr>
      </p:sp>
      <p:sp>
        <p:nvSpPr>
          <p:cNvPr id="6" name="Text 4"/>
          <p:cNvSpPr/>
          <p:nvPr/>
        </p:nvSpPr>
        <p:spPr>
          <a:xfrm>
            <a:off x="2286000" y="254000"/>
            <a:ext cx="2794000" cy="4572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7" name="Text 5"/>
          <p:cNvSpPr/>
          <p:nvPr/>
        </p:nvSpPr>
        <p:spPr>
          <a:xfrm>
            <a:off x="5168900" y="254000"/>
            <a:ext cx="25908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8" name="Text 6"/>
          <p:cNvSpPr/>
          <p:nvPr/>
        </p:nvSpPr>
        <p:spPr>
          <a:xfrm>
            <a:off x="7810500" y="254000"/>
            <a:ext cx="41148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9" name="Text 7"/>
          <p:cNvSpPr/>
          <p:nvPr/>
        </p:nvSpPr>
        <p:spPr>
          <a:xfrm>
            <a:off x="11976100" y="254000"/>
            <a:ext cx="42799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sp>
        <p:nvSpPr>
          <p:cNvPr id="10" name="Shape 8"/>
          <p:cNvSpPr/>
          <p:nvPr/>
        </p:nvSpPr>
        <p:spPr>
          <a:xfrm rot="10800000">
            <a:off x="3492500" y="965200"/>
            <a:ext cx="393700" cy="304800"/>
          </a:xfrm>
          <a:prstGeom prst="triangle">
            <a:avLst>
              <a:gd name="adj" fmla="val 50000"/>
            </a:avLst>
          </a:prstGeom>
          <a:solidFill>
            <a:srgbClr val="04579A"/>
          </a:solidFill>
          <a:ln/>
        </p:spPr>
      </p:sp>
      <p:pic>
        <p:nvPicPr>
          <p:cNvPr id="11" name="Image 0" descr="https://kimi-img.moonshot.cn/pub/slides/okc/flfuysioo4gzm/mnt/agents/output/yuan_pptd/images/image_2.jpg">    </p:cNvPr>
          <p:cNvPicPr>
            <a:picLocks noChangeAspect="1"/>
          </p:cNvPicPr>
          <p:nvPr/>
        </p:nvPicPr>
        <p:blipFill>
          <a:blip r:embed="rId1"/>
          <a:srcRect l="5060" r="29000" t="0" b="0"/>
          <a:stretch/>
        </p:blipFill>
        <p:spPr>
          <a:xfrm>
            <a:off x="546100" y="139700"/>
            <a:ext cx="1270000" cy="749300"/>
          </a:xfrm>
          <a:prstGeom prst="rect">
            <a:avLst/>
          </a:prstGeom>
        </p:spPr>
      </p:pic>
      <p:sp>
        <p:nvSpPr>
          <p:cNvPr id="12" name="Text 9"/>
          <p:cNvSpPr/>
          <p:nvPr/>
        </p:nvSpPr>
        <p:spPr>
          <a:xfrm>
            <a:off x="762000" y="1460500"/>
            <a:ext cx="8890000" cy="571500"/>
          </a:xfrm>
          <a:prstGeom prst="rect">
            <a:avLst/>
          </a:prstGeom>
          <a:noFill/>
          <a:ln/>
        </p:spPr>
        <p:txBody>
          <a:bodyPr wrap="none" lIns="0" tIns="0" rIns="0" bIns="0" rtlCol="0" anchor="ctr"/>
          <a:lstStyle/>
          <a:p>
            <a:pPr algn="l">
              <a:lnSpc>
                <a:spcPct val="120000"/>
              </a:lnSpc>
            </a:pPr>
            <a:r>
              <a:rPr lang="en-US" sz="3000" b="1" dirty="0">
                <a:solidFill>
                  <a:srgbClr val="005C8F"/>
                </a:solidFill>
                <a:latin typeface="Quattrocento Sans" pitchFamily="34" charset="0"/>
                <a:ea typeface="Quattrocento Sans" pitchFamily="34" charset="-122"/>
                <a:cs typeface="Quattrocento Sans" pitchFamily="34" charset="-120"/>
              </a:rPr>
              <a:t>OAuth 局限性（一）</a:t>
            </a:r>
            <a:endParaRPr lang="en-US" sz="3000" dirty="0"/>
          </a:p>
        </p:txBody>
      </p:sp>
      <p:sp>
        <p:nvSpPr>
          <p:cNvPr id="13" name="Text 10"/>
          <p:cNvSpPr/>
          <p:nvPr/>
        </p:nvSpPr>
        <p:spPr>
          <a:xfrm>
            <a:off x="762000" y="2095500"/>
            <a:ext cx="14732000" cy="355600"/>
          </a:xfrm>
          <a:prstGeom prst="rect">
            <a:avLst/>
          </a:prstGeom>
          <a:noFill/>
          <a:ln/>
        </p:spPr>
        <p:txBody>
          <a:bodyPr wrap="none" lIns="0" tIns="0" rIns="0" bIns="0" rtlCol="0" anchor="ctr"/>
          <a:lstStyle/>
          <a:p>
            <a:pPr algn="r">
              <a:lnSpc>
                <a:spcPct val="120000"/>
              </a:lnSpc>
            </a:pPr>
            <a:r>
              <a:rPr lang="en-US" sz="1400" i="1" dirty="0">
                <a:solidFill>
                  <a:srgbClr val="666666"/>
                </a:solidFill>
                <a:latin typeface="Quattrocento Sans" pitchFamily="34" charset="0"/>
                <a:ea typeface="Quattrocento Sans" pitchFamily="34" charset="-122"/>
                <a:cs typeface="Quattrocento Sans" pitchFamily="34" charset="-120"/>
              </a:rPr>
              <a:t>OAuth Is Not Enough: Authorization Challenges for Autonomous AI Agents</a:t>
            </a:r>
            <a:endParaRPr lang="en-US" sz="1400" dirty="0"/>
          </a:p>
        </p:txBody>
      </p:sp>
      <p:sp>
        <p:nvSpPr>
          <p:cNvPr id="14" name="Shape 11"/>
          <p:cNvSpPr/>
          <p:nvPr/>
        </p:nvSpPr>
        <p:spPr>
          <a:xfrm>
            <a:off x="762000" y="2667000"/>
            <a:ext cx="4699000" cy="3048000"/>
          </a:xfrm>
          <a:prstGeom prst="roundRect">
            <a:avLst>
              <a:gd name="adj" fmla="val 6000"/>
            </a:avLst>
          </a:prstGeom>
          <a:solidFill>
            <a:srgbClr val="E6F0F7"/>
          </a:solidFill>
          <a:ln/>
        </p:spPr>
      </p:sp>
      <p:sp>
        <p:nvSpPr>
          <p:cNvPr id="15" name="Text 12"/>
          <p:cNvSpPr/>
          <p:nvPr/>
        </p:nvSpPr>
        <p:spPr>
          <a:xfrm>
            <a:off x="952500" y="2768600"/>
            <a:ext cx="698500" cy="508000"/>
          </a:xfrm>
          <a:prstGeom prst="rect">
            <a:avLst/>
          </a:prstGeom>
          <a:noFill/>
          <a:ln/>
        </p:spPr>
        <p:txBody>
          <a:bodyPr wrap="none" lIns="0" tIns="0" rIns="0" bIns="0" rtlCol="0" anchor="ctr"/>
          <a:lstStyle/>
          <a:p>
            <a:pPr algn="ctr">
              <a:lnSpc>
                <a:spcPct val="120000"/>
              </a:lnSpc>
            </a:pPr>
            <a:r>
              <a:rPr lang="en-US" sz="3200" b="1" dirty="0">
                <a:solidFill>
                  <a:srgbClr val="005C8F"/>
                </a:solidFill>
                <a:latin typeface="Quattrocento Sans" pitchFamily="34" charset="0"/>
                <a:ea typeface="Quattrocento Sans" pitchFamily="34" charset="-122"/>
                <a:cs typeface="Quattrocento Sans" pitchFamily="34" charset="-120"/>
              </a:rPr>
              <a:t>01</a:t>
            </a:r>
            <a:endParaRPr lang="en-US" sz="3200" dirty="0"/>
          </a:p>
        </p:txBody>
      </p:sp>
      <p:sp>
        <p:nvSpPr>
          <p:cNvPr id="16" name="Text 13"/>
          <p:cNvSpPr/>
          <p:nvPr/>
        </p:nvSpPr>
        <p:spPr>
          <a:xfrm>
            <a:off x="1714500" y="2819400"/>
            <a:ext cx="3492500" cy="406400"/>
          </a:xfrm>
          <a:prstGeom prst="rect">
            <a:avLst/>
          </a:prstGeom>
          <a:noFill/>
          <a:ln/>
        </p:spPr>
        <p:txBody>
          <a:bodyPr wrap="none" lIns="0" tIns="0" rIns="0" bIns="0" rtlCol="0" anchor="ctr"/>
          <a:lstStyle/>
          <a:p>
            <a:pPr algn="l">
              <a:lnSpc>
                <a:spcPct val="120000"/>
              </a:lnSpc>
            </a:pPr>
            <a:r>
              <a:rPr lang="en-US" sz="2000" b="1" dirty="0">
                <a:solidFill>
                  <a:srgbClr val="005C8F"/>
                </a:solidFill>
                <a:latin typeface="Quattrocento Sans" pitchFamily="34" charset="0"/>
                <a:ea typeface="Quattrocento Sans" pitchFamily="34" charset="-122"/>
                <a:cs typeface="Quattrocento Sans" pitchFamily="34" charset="-120"/>
              </a:rPr>
              <a:t>权限粒度过大</a:t>
            </a:r>
            <a:endParaRPr lang="en-US" sz="2000" dirty="0"/>
          </a:p>
        </p:txBody>
      </p:sp>
      <p:sp>
        <p:nvSpPr>
          <p:cNvPr id="17" name="Text 14"/>
          <p:cNvSpPr/>
          <p:nvPr/>
        </p:nvSpPr>
        <p:spPr>
          <a:xfrm>
            <a:off x="952500" y="3403600"/>
            <a:ext cx="4318000" cy="2133600"/>
          </a:xfrm>
          <a:prstGeom prst="rect">
            <a:avLst/>
          </a:prstGeom>
          <a:noFill/>
          <a:ln/>
        </p:spPr>
        <p:txBody>
          <a:bodyPr wrap="square" lIns="0" tIns="0" rIns="0" bIns="0" rtlCol="0" anchor="t"/>
          <a:lstStyle/>
          <a:p>
            <a:pPr algn="l">
              <a:lnSpc>
                <a:spcPct val="170000"/>
              </a:lnSpc>
            </a:pPr>
            <a:r>
              <a:rPr lang="en-US" sz="1500" dirty="0">
                <a:solidFill>
                  <a:srgbClr val="333333"/>
                </a:solidFill>
                <a:latin typeface="Quattrocento Sans" pitchFamily="34" charset="0"/>
                <a:ea typeface="Quattrocento Sans" pitchFamily="34" charset="-122"/>
                <a:cs typeface="Quattrocento Sans" pitchFamily="34" charset="-120"/>
              </a:rPr>
              <a:t>• OAuth Scope 为</a:t>
            </a:r>
            <a:pPr algn="l">
              <a:lnSpc>
                <a:spcPct val="170000"/>
              </a:lnSpc>
            </a:pPr>
            <a:r>
              <a:rPr lang="en-US" sz="1500" b="1" dirty="0">
                <a:solidFill>
                  <a:srgbClr val="333333"/>
                </a:solidFill>
                <a:latin typeface="Quattrocento Sans" pitchFamily="34" charset="0"/>
                <a:ea typeface="Quattrocento Sans" pitchFamily="34" charset="-122"/>
                <a:cs typeface="Quattrocento Sans" pitchFamily="34" charset="-120"/>
              </a:rPr>
              <a:t>粗粒度</a:t>
            </a:r>
            <a:pPr algn="l">
              <a:lnSpc>
                <a:spcPct val="170000"/>
              </a:lnSpc>
            </a:pPr>
            <a:r>
              <a:rPr lang="en-US" sz="1500" dirty="0">
                <a:solidFill>
                  <a:srgbClr val="333333"/>
                </a:solidFill>
                <a:latin typeface="Quattrocento Sans" pitchFamily="34" charset="0"/>
                <a:ea typeface="Quattrocento Sans" pitchFamily="34" charset="-122"/>
                <a:cs typeface="Quattrocento Sans" pitchFamily="34" charset="-120"/>
              </a:rPr>
              <a:t>操作类型权限</a:t>
            </a:r>
            <a:endParaRPr lang="en-US" sz="1500" dirty="0"/>
          </a:p>
          <a:p>
            <a:pPr algn="l">
              <a:lnSpc>
                <a:spcPct val="170000"/>
              </a:lnSpc>
            </a:pPr>
            <a:r>
              <a:rPr lang="en-US" sz="1500" dirty="0">
                <a:solidFill>
                  <a:srgbClr val="333333"/>
                </a:solidFill>
                <a:latin typeface="Quattrocento Sans" pitchFamily="34" charset="0"/>
                <a:ea typeface="Quattrocento Sans" pitchFamily="34" charset="-122"/>
                <a:cs typeface="Quattrocento Sans" pitchFamily="34" charset="-120"/>
              </a:rPr>
              <a:t>• 无法精确到操作参数（如收件人地址）</a:t>
            </a:r>
            <a:endParaRPr lang="en-US" sz="1500" dirty="0"/>
          </a:p>
          <a:p>
            <a:pPr algn="l">
              <a:lnSpc>
                <a:spcPct val="170000"/>
              </a:lnSpc>
            </a:pPr>
            <a:r>
              <a:rPr lang="en-US" sz="1500" dirty="0">
                <a:solidFill>
                  <a:srgbClr val="333333"/>
                </a:solidFill>
                <a:latin typeface="Quattrocento Sans" pitchFamily="34" charset="0"/>
                <a:ea typeface="Quattrocento Sans" pitchFamily="34" charset="-122"/>
                <a:cs typeface="Quattrocento Sans" pitchFamily="34" charset="-120"/>
              </a:rPr>
              <a:t>• 智能体获得宽泛权限后可任意构造参数</a:t>
            </a:r>
            <a:endParaRPr lang="en-US" sz="1500" dirty="0"/>
          </a:p>
          <a:p>
            <a:pPr algn="l">
              <a:lnSpc>
                <a:spcPct val="170000"/>
              </a:lnSpc>
            </a:pPr>
            <a:r>
              <a:rPr lang="en-US" sz="1500" dirty="0">
                <a:solidFill>
                  <a:srgbClr val="333333"/>
                </a:solidFill>
                <a:latin typeface="Quattrocento Sans" pitchFamily="34" charset="0"/>
                <a:ea typeface="Quattrocento Sans" pitchFamily="34" charset="-122"/>
                <a:cs typeface="Quattrocento Sans" pitchFamily="34" charset="-120"/>
              </a:rPr>
              <a:t>• </a:t>
            </a:r>
            <a:pPr algn="l">
              <a:lnSpc>
                <a:spcPct val="170000"/>
              </a:lnSpc>
            </a:pPr>
            <a:r>
              <a:rPr lang="en-US" sz="1500" b="1" dirty="0">
                <a:solidFill>
                  <a:srgbClr val="333333"/>
                </a:solidFill>
                <a:latin typeface="Quattrocento Sans" pitchFamily="34" charset="0"/>
                <a:ea typeface="Quattrocento Sans" pitchFamily="34" charset="-122"/>
                <a:cs typeface="Quattrocento Sans" pitchFamily="34" charset="-120"/>
              </a:rPr>
              <a:t>违背最小权限原则</a:t>
            </a:r>
            <a:pPr algn="l">
              <a:lnSpc>
                <a:spcPct val="170000"/>
              </a:lnSpc>
            </a:pPr>
            <a:r>
              <a:rPr lang="en-US" sz="1500" dirty="0">
                <a:solidFill>
                  <a:srgbClr val="333333"/>
                </a:solidFill>
                <a:latin typeface="Quattrocento Sans" pitchFamily="34" charset="0"/>
                <a:ea typeface="Quattrocento Sans" pitchFamily="34" charset="-122"/>
                <a:cs typeface="Quattrocento Sans" pitchFamily="34" charset="-120"/>
              </a:rPr>
              <a:t>，形成永久暴露面</a:t>
            </a:r>
            <a:endParaRPr lang="en-US" sz="1500" dirty="0"/>
          </a:p>
        </p:txBody>
      </p:sp>
      <p:sp>
        <p:nvSpPr>
          <p:cNvPr id="18" name="Shape 15"/>
          <p:cNvSpPr/>
          <p:nvPr/>
        </p:nvSpPr>
        <p:spPr>
          <a:xfrm>
            <a:off x="5715000" y="2667000"/>
            <a:ext cx="4699000" cy="3048000"/>
          </a:xfrm>
          <a:prstGeom prst="roundRect">
            <a:avLst>
              <a:gd name="adj" fmla="val 6000"/>
            </a:avLst>
          </a:prstGeom>
          <a:solidFill>
            <a:srgbClr val="E6F0F7"/>
          </a:solidFill>
          <a:ln/>
        </p:spPr>
      </p:sp>
      <p:sp>
        <p:nvSpPr>
          <p:cNvPr id="19" name="Text 16"/>
          <p:cNvSpPr/>
          <p:nvPr/>
        </p:nvSpPr>
        <p:spPr>
          <a:xfrm>
            <a:off x="5905500" y="2768600"/>
            <a:ext cx="762000" cy="508000"/>
          </a:xfrm>
          <a:prstGeom prst="rect">
            <a:avLst/>
          </a:prstGeom>
          <a:noFill/>
          <a:ln/>
        </p:spPr>
        <p:txBody>
          <a:bodyPr wrap="none" lIns="0" tIns="0" rIns="0" bIns="0" rtlCol="0" anchor="ctr"/>
          <a:lstStyle/>
          <a:p>
            <a:pPr algn="ctr">
              <a:lnSpc>
                <a:spcPct val="120000"/>
              </a:lnSpc>
            </a:pPr>
            <a:r>
              <a:rPr lang="en-US" sz="3200" b="1" dirty="0">
                <a:solidFill>
                  <a:srgbClr val="005C8F"/>
                </a:solidFill>
                <a:latin typeface="Quattrocento Sans" pitchFamily="34" charset="0"/>
                <a:ea typeface="Quattrocento Sans" pitchFamily="34" charset="-122"/>
                <a:cs typeface="Quattrocento Sans" pitchFamily="34" charset="-120"/>
              </a:rPr>
              <a:t>02</a:t>
            </a:r>
            <a:endParaRPr lang="en-US" sz="3200" dirty="0"/>
          </a:p>
        </p:txBody>
      </p:sp>
      <p:sp>
        <p:nvSpPr>
          <p:cNvPr id="20" name="Text 17"/>
          <p:cNvSpPr/>
          <p:nvPr/>
        </p:nvSpPr>
        <p:spPr>
          <a:xfrm>
            <a:off x="6667500" y="2819400"/>
            <a:ext cx="3492500" cy="406400"/>
          </a:xfrm>
          <a:prstGeom prst="rect">
            <a:avLst/>
          </a:prstGeom>
          <a:noFill/>
          <a:ln/>
        </p:spPr>
        <p:txBody>
          <a:bodyPr wrap="none" lIns="0" tIns="0" rIns="0" bIns="0" rtlCol="0" anchor="ctr"/>
          <a:lstStyle/>
          <a:p>
            <a:pPr algn="l">
              <a:lnSpc>
                <a:spcPct val="120000"/>
              </a:lnSpc>
            </a:pPr>
            <a:r>
              <a:rPr lang="en-US" sz="2000" b="1" dirty="0">
                <a:solidFill>
                  <a:srgbClr val="005C8F"/>
                </a:solidFill>
                <a:latin typeface="Quattrocento Sans" pitchFamily="34" charset="0"/>
                <a:ea typeface="Quattrocento Sans" pitchFamily="34" charset="-122"/>
                <a:cs typeface="Quattrocento Sans" pitchFamily="34" charset="-120"/>
              </a:rPr>
              <a:t>权限不可动态变化</a:t>
            </a:r>
            <a:endParaRPr lang="en-US" sz="2000" dirty="0"/>
          </a:p>
        </p:txBody>
      </p:sp>
      <p:sp>
        <p:nvSpPr>
          <p:cNvPr id="21" name="Text 18"/>
          <p:cNvSpPr/>
          <p:nvPr/>
        </p:nvSpPr>
        <p:spPr>
          <a:xfrm>
            <a:off x="5905500" y="3403600"/>
            <a:ext cx="4318000" cy="2133600"/>
          </a:xfrm>
          <a:prstGeom prst="rect">
            <a:avLst/>
          </a:prstGeom>
          <a:noFill/>
          <a:ln/>
        </p:spPr>
        <p:txBody>
          <a:bodyPr wrap="square" lIns="0" tIns="0" rIns="0" bIns="0" rtlCol="0" anchor="t"/>
          <a:lstStyle/>
          <a:p>
            <a:pPr algn="l">
              <a:lnSpc>
                <a:spcPct val="170000"/>
              </a:lnSpc>
            </a:pPr>
            <a:r>
              <a:rPr lang="en-US" sz="1500" dirty="0">
                <a:solidFill>
                  <a:srgbClr val="333333"/>
                </a:solidFill>
                <a:latin typeface="Quattrocento Sans" pitchFamily="34" charset="0"/>
                <a:ea typeface="Quattrocento Sans" pitchFamily="34" charset="-122"/>
                <a:cs typeface="Quattrocento Sans" pitchFamily="34" charset="-120"/>
              </a:rPr>
              <a:t>• 权限签发时固定，</a:t>
            </a:r>
            <a:pPr algn="l">
              <a:lnSpc>
                <a:spcPct val="170000"/>
              </a:lnSpc>
            </a:pPr>
            <a:r>
              <a:rPr lang="en-US" sz="1500" b="1" dirty="0">
                <a:solidFill>
                  <a:srgbClr val="333333"/>
                </a:solidFill>
                <a:latin typeface="Quattrocento Sans" pitchFamily="34" charset="0"/>
                <a:ea typeface="Quattrocento Sans" pitchFamily="34" charset="-122"/>
                <a:cs typeface="Quattrocento Sans" pitchFamily="34" charset="-120"/>
              </a:rPr>
              <a:t>无法动态调整</a:t>
            </a:r>
            <a:endParaRPr lang="en-US" sz="1500" dirty="0"/>
          </a:p>
          <a:p>
            <a:pPr algn="l">
              <a:lnSpc>
                <a:spcPct val="170000"/>
              </a:lnSpc>
            </a:pPr>
            <a:r>
              <a:rPr lang="en-US" sz="1500" dirty="0">
                <a:solidFill>
                  <a:srgbClr val="333333"/>
                </a:solidFill>
                <a:latin typeface="Quattrocento Sans" pitchFamily="34" charset="0"/>
                <a:ea typeface="Quattrocento Sans" pitchFamily="34" charset="-122"/>
                <a:cs typeface="Quattrocento Sans" pitchFamily="34" charset="-120"/>
              </a:rPr>
              <a:t>• 智能体权限需求随任务上下文变化</a:t>
            </a:r>
            <a:endParaRPr lang="en-US" sz="1500" dirty="0"/>
          </a:p>
          <a:p>
            <a:pPr algn="l">
              <a:lnSpc>
                <a:spcPct val="170000"/>
              </a:lnSpc>
            </a:pPr>
            <a:r>
              <a:rPr lang="en-US" sz="1500" dirty="0">
                <a:solidFill>
                  <a:srgbClr val="333333"/>
                </a:solidFill>
                <a:latin typeface="Quattrocento Sans" pitchFamily="34" charset="0"/>
                <a:ea typeface="Quattrocento Sans" pitchFamily="34" charset="-122"/>
                <a:cs typeface="Quattrocento Sans" pitchFamily="34" charset="-120"/>
              </a:rPr>
              <a:t>• 缺乏任务完成后的自动权限回收</a:t>
            </a:r>
            <a:endParaRPr lang="en-US" sz="1500" dirty="0"/>
          </a:p>
          <a:p>
            <a:pPr algn="l">
              <a:lnSpc>
                <a:spcPct val="170000"/>
              </a:lnSpc>
            </a:pPr>
            <a:r>
              <a:rPr lang="en-US" sz="1500" dirty="0">
                <a:solidFill>
                  <a:srgbClr val="333333"/>
                </a:solidFill>
                <a:latin typeface="Quattrocento Sans" pitchFamily="34" charset="0"/>
                <a:ea typeface="Quattrocento Sans" pitchFamily="34" charset="-122"/>
                <a:cs typeface="Quattrocento Sans" pitchFamily="34" charset="-120"/>
              </a:rPr>
              <a:t>• 导致</a:t>
            </a:r>
            <a:pPr algn="l">
              <a:lnSpc>
                <a:spcPct val="170000"/>
              </a:lnSpc>
            </a:pPr>
            <a:r>
              <a:rPr lang="en-US" sz="1500" b="1" dirty="0">
                <a:solidFill>
                  <a:srgbClr val="333333"/>
                </a:solidFill>
                <a:latin typeface="Quattrocento Sans" pitchFamily="34" charset="0"/>
                <a:ea typeface="Quattrocento Sans" pitchFamily="34" charset="-122"/>
                <a:cs typeface="Quattrocento Sans" pitchFamily="34" charset="-120"/>
              </a:rPr>
              <a:t>权限漂移与累积</a:t>
            </a:r>
            <a:endParaRPr lang="en-US" sz="1500" dirty="0"/>
          </a:p>
        </p:txBody>
      </p:sp>
      <p:sp>
        <p:nvSpPr>
          <p:cNvPr id="22" name="Shape 19"/>
          <p:cNvSpPr/>
          <p:nvPr/>
        </p:nvSpPr>
        <p:spPr>
          <a:xfrm>
            <a:off x="10668000" y="2667000"/>
            <a:ext cx="4826000" cy="3048000"/>
          </a:xfrm>
          <a:prstGeom prst="roundRect">
            <a:avLst>
              <a:gd name="adj" fmla="val 6000"/>
            </a:avLst>
          </a:prstGeom>
          <a:solidFill>
            <a:srgbClr val="E6F0F7"/>
          </a:solidFill>
          <a:ln/>
        </p:spPr>
      </p:sp>
      <p:sp>
        <p:nvSpPr>
          <p:cNvPr id="23" name="Text 20"/>
          <p:cNvSpPr/>
          <p:nvPr/>
        </p:nvSpPr>
        <p:spPr>
          <a:xfrm>
            <a:off x="10858500" y="2768600"/>
            <a:ext cx="762000" cy="508000"/>
          </a:xfrm>
          <a:prstGeom prst="rect">
            <a:avLst/>
          </a:prstGeom>
          <a:noFill/>
          <a:ln/>
        </p:spPr>
        <p:txBody>
          <a:bodyPr wrap="none" lIns="0" tIns="0" rIns="0" bIns="0" rtlCol="0" anchor="ctr"/>
          <a:lstStyle/>
          <a:p>
            <a:pPr algn="ctr">
              <a:lnSpc>
                <a:spcPct val="120000"/>
              </a:lnSpc>
            </a:pPr>
            <a:r>
              <a:rPr lang="en-US" sz="3200" b="1" dirty="0">
                <a:solidFill>
                  <a:srgbClr val="005C8F"/>
                </a:solidFill>
                <a:latin typeface="Quattrocento Sans" pitchFamily="34" charset="0"/>
                <a:ea typeface="Quattrocento Sans" pitchFamily="34" charset="-122"/>
                <a:cs typeface="Quattrocento Sans" pitchFamily="34" charset="-120"/>
              </a:rPr>
              <a:t>03</a:t>
            </a:r>
            <a:endParaRPr lang="en-US" sz="3200" dirty="0"/>
          </a:p>
        </p:txBody>
      </p:sp>
      <p:sp>
        <p:nvSpPr>
          <p:cNvPr id="24" name="Text 21"/>
          <p:cNvSpPr/>
          <p:nvPr/>
        </p:nvSpPr>
        <p:spPr>
          <a:xfrm>
            <a:off x="11620500" y="2819400"/>
            <a:ext cx="3619500" cy="406400"/>
          </a:xfrm>
          <a:prstGeom prst="rect">
            <a:avLst/>
          </a:prstGeom>
          <a:noFill/>
          <a:ln/>
        </p:spPr>
        <p:txBody>
          <a:bodyPr wrap="none" lIns="0" tIns="0" rIns="0" bIns="0" rtlCol="0" anchor="ctr"/>
          <a:lstStyle/>
          <a:p>
            <a:pPr algn="l">
              <a:lnSpc>
                <a:spcPct val="120000"/>
              </a:lnSpc>
            </a:pPr>
            <a:r>
              <a:rPr lang="en-US" sz="2000" b="1" dirty="0">
                <a:solidFill>
                  <a:srgbClr val="005C8F"/>
                </a:solidFill>
                <a:latin typeface="Quattrocento Sans" pitchFamily="34" charset="0"/>
                <a:ea typeface="Quattrocento Sans" pitchFamily="34" charset="-122"/>
                <a:cs typeface="Quattrocento Sans" pitchFamily="34" charset="-120"/>
              </a:rPr>
              <a:t>需人类实时参与</a:t>
            </a:r>
            <a:endParaRPr lang="en-US" sz="2000" dirty="0"/>
          </a:p>
        </p:txBody>
      </p:sp>
      <p:sp>
        <p:nvSpPr>
          <p:cNvPr id="25" name="Text 22"/>
          <p:cNvSpPr/>
          <p:nvPr/>
        </p:nvSpPr>
        <p:spPr>
          <a:xfrm>
            <a:off x="10858500" y="3403600"/>
            <a:ext cx="4445000" cy="2133600"/>
          </a:xfrm>
          <a:prstGeom prst="rect">
            <a:avLst/>
          </a:prstGeom>
          <a:noFill/>
          <a:ln/>
        </p:spPr>
        <p:txBody>
          <a:bodyPr wrap="square" lIns="0" tIns="0" rIns="0" bIns="0" rtlCol="0" anchor="t"/>
          <a:lstStyle/>
          <a:p>
            <a:pPr algn="l">
              <a:lnSpc>
                <a:spcPct val="170000"/>
              </a:lnSpc>
            </a:pPr>
            <a:r>
              <a:rPr lang="en-US" sz="1500" dirty="0">
                <a:solidFill>
                  <a:srgbClr val="333333"/>
                </a:solidFill>
                <a:latin typeface="Quattrocento Sans" pitchFamily="34" charset="0"/>
                <a:ea typeface="Quattrocento Sans" pitchFamily="34" charset="-122"/>
                <a:cs typeface="Quattrocento Sans" pitchFamily="34" charset="-120"/>
              </a:rPr>
              <a:t>• 授权决策依赖</a:t>
            </a:r>
            <a:pPr algn="l">
              <a:lnSpc>
                <a:spcPct val="170000"/>
              </a:lnSpc>
            </a:pPr>
            <a:r>
              <a:rPr lang="en-US" sz="1500" b="1" dirty="0">
                <a:solidFill>
                  <a:srgbClr val="333333"/>
                </a:solidFill>
                <a:latin typeface="Quattrocento Sans" pitchFamily="34" charset="0"/>
                <a:ea typeface="Quattrocento Sans" pitchFamily="34" charset="-122"/>
                <a:cs typeface="Quattrocento Sans" pitchFamily="34" charset="-120"/>
              </a:rPr>
              <a:t>人类用户实时同意</a:t>
            </a:r>
            <a:endParaRPr lang="en-US" sz="1500" dirty="0"/>
          </a:p>
          <a:p>
            <a:pPr algn="l">
              <a:lnSpc>
                <a:spcPct val="170000"/>
              </a:lnSpc>
            </a:pPr>
            <a:r>
              <a:rPr lang="en-US" sz="1500" dirty="0">
                <a:solidFill>
                  <a:srgbClr val="333333"/>
                </a:solidFill>
                <a:latin typeface="Quattrocento Sans" pitchFamily="34" charset="0"/>
                <a:ea typeface="Quattrocento Sans" pitchFamily="34" charset="-122"/>
                <a:cs typeface="Quattrocento Sans" pitchFamily="34" charset="-120"/>
              </a:rPr>
              <a:t>• 智能体以机器速度自主运行</a:t>
            </a:r>
            <a:endParaRPr lang="en-US" sz="1500" dirty="0"/>
          </a:p>
          <a:p>
            <a:pPr algn="l">
              <a:lnSpc>
                <a:spcPct val="170000"/>
              </a:lnSpc>
            </a:pPr>
            <a:r>
              <a:rPr lang="en-US" sz="1500" dirty="0">
                <a:solidFill>
                  <a:srgbClr val="333333"/>
                </a:solidFill>
                <a:latin typeface="Quattrocento Sans" pitchFamily="34" charset="0"/>
                <a:ea typeface="Quattrocento Sans" pitchFamily="34" charset="-122"/>
                <a:cs typeface="Quattrocento Sans" pitchFamily="34" charset="-120"/>
              </a:rPr>
              <a:t>• 人机节奏不匹配导致效率瓶颈</a:t>
            </a:r>
            <a:endParaRPr lang="en-US" sz="1500" dirty="0"/>
          </a:p>
          <a:p>
            <a:pPr algn="l">
              <a:lnSpc>
                <a:spcPct val="170000"/>
              </a:lnSpc>
            </a:pPr>
            <a:r>
              <a:rPr lang="en-US" sz="1500" dirty="0">
                <a:solidFill>
                  <a:srgbClr val="333333"/>
                </a:solidFill>
                <a:latin typeface="Quattrocento Sans" pitchFamily="34" charset="0"/>
                <a:ea typeface="Quattrocento Sans" pitchFamily="34" charset="-122"/>
                <a:cs typeface="Quattrocento Sans" pitchFamily="34" charset="-120"/>
              </a:rPr>
              <a:t>• </a:t>
            </a:r>
            <a:pPr algn="l">
              <a:lnSpc>
                <a:spcPct val="170000"/>
              </a:lnSpc>
            </a:pPr>
            <a:r>
              <a:rPr lang="en-US" sz="1500" b="1" dirty="0">
                <a:solidFill>
                  <a:srgbClr val="333333"/>
                </a:solidFill>
                <a:latin typeface="Quattrocento Sans" pitchFamily="34" charset="0"/>
                <a:ea typeface="Quattrocento Sans" pitchFamily="34" charset="-122"/>
                <a:cs typeface="Quattrocento Sans" pitchFamily="34" charset="-120"/>
              </a:rPr>
              <a:t>无法支持自主化场景</a:t>
            </a:r>
            <a:endParaRPr lang="en-US" sz="1500" dirty="0"/>
          </a:p>
        </p:txBody>
      </p:sp>
      <p:sp>
        <p:nvSpPr>
          <p:cNvPr id="26" name="Shape 23"/>
          <p:cNvSpPr/>
          <p:nvPr/>
        </p:nvSpPr>
        <p:spPr>
          <a:xfrm>
            <a:off x="762000" y="6032500"/>
            <a:ext cx="14732000" cy="952500"/>
          </a:xfrm>
          <a:prstGeom prst="roundRect">
            <a:avLst>
              <a:gd name="adj" fmla="val 5000"/>
            </a:avLst>
          </a:prstGeom>
          <a:solidFill>
            <a:srgbClr val="005C8F"/>
          </a:solidFill>
          <a:ln/>
        </p:spPr>
      </p:sp>
      <p:sp>
        <p:nvSpPr>
          <p:cNvPr id="27" name="Text 24"/>
          <p:cNvSpPr/>
          <p:nvPr/>
        </p:nvSpPr>
        <p:spPr>
          <a:xfrm>
            <a:off x="1016000" y="6121400"/>
            <a:ext cx="14224000" cy="762000"/>
          </a:xfrm>
          <a:prstGeom prst="rect">
            <a:avLst/>
          </a:prstGeom>
          <a:noFill/>
          <a:ln/>
        </p:spPr>
        <p:txBody>
          <a:bodyPr wrap="square" lIns="0" tIns="0" rIns="0" bIns="0" rtlCol="0" anchor="ctr"/>
          <a:lstStyle/>
          <a:p>
            <a:pPr algn="l">
              <a:lnSpc>
                <a:spcPct val="160000"/>
              </a:lnSpc>
            </a:pPr>
            <a:r>
              <a:rPr lang="en-US" sz="1600" b="1" dirty="0">
                <a:solidFill>
                  <a:srgbClr val="FFFFFF"/>
                </a:solidFill>
                <a:latin typeface="Quattrocento Sans" pitchFamily="34" charset="0"/>
                <a:ea typeface="Quattrocento Sans" pitchFamily="34" charset="-122"/>
                <a:cs typeface="Quattrocento Sans" pitchFamily="34" charset="-120"/>
              </a:rPr>
              <a:t>根本原因：</a:t>
            </a:r>
            <a:pPr algn="l">
              <a:lnSpc>
                <a:spcPct val="160000"/>
              </a:lnSpc>
            </a:pPr>
            <a:r>
              <a:rPr lang="en-US" sz="1600" dirty="0">
                <a:solidFill>
                  <a:srgbClr val="FFFFFF"/>
                </a:solidFill>
                <a:latin typeface="Quattrocento Sans" pitchFamily="34" charset="0"/>
                <a:ea typeface="Quattrocento Sans" pitchFamily="34" charset="-122"/>
                <a:cs typeface="Quattrocento Sans" pitchFamily="34" charset="-120"/>
              </a:rPr>
              <a:t>OAuth 基于"人类用户 - 静态权限 - 实时同意"假设设计，而智能体是"自主行动主体 - 动态权限 - 机器速度运行"，两者存在</a:t>
            </a:r>
            <a:pPr algn="l">
              <a:lnSpc>
                <a:spcPct val="160000"/>
              </a:lnSpc>
            </a:pPr>
            <a:r>
              <a:rPr lang="en-US" sz="1600" b="1" dirty="0">
                <a:solidFill>
                  <a:srgbClr val="FFFFFF"/>
                </a:solidFill>
                <a:latin typeface="Quattrocento Sans" pitchFamily="34" charset="0"/>
                <a:ea typeface="Quattrocento Sans" pitchFamily="34" charset="-122"/>
                <a:cs typeface="Quattrocento Sans" pitchFamily="34" charset="-120"/>
              </a:rPr>
              <a:t>结构性错配</a:t>
            </a:r>
            <a:endParaRPr lang="en-US" sz="1600" dirty="0"/>
          </a:p>
        </p:txBody>
      </p:sp>
      <p:sp>
        <p:nvSpPr>
          <p:cNvPr id="28" name="Text 25"/>
          <p:cNvSpPr/>
          <p:nvPr/>
        </p:nvSpPr>
        <p:spPr>
          <a:xfrm>
            <a:off x="15240000" y="8636000"/>
            <a:ext cx="635000" cy="381000"/>
          </a:xfrm>
          <a:prstGeom prst="rect">
            <a:avLst/>
          </a:prstGeom>
          <a:noFill/>
          <a:ln/>
        </p:spPr>
        <p:txBody>
          <a:bodyPr wrap="none" lIns="0" tIns="0" rIns="0" bIns="0" rtlCol="0" anchor="ctr"/>
          <a:lstStyle/>
          <a:p>
            <a:pPr algn="r">
              <a:lnSpc>
                <a:spcPct val="120000"/>
              </a:lnSpc>
            </a:pPr>
            <a:r>
              <a:rPr lang="en-US" sz="1800" dirty="0">
                <a:solidFill>
                  <a:srgbClr val="666666"/>
                </a:solidFill>
                <a:latin typeface="Quattrocento Sans" pitchFamily="34" charset="0"/>
                <a:ea typeface="Quattrocento Sans" pitchFamily="34" charset="-122"/>
                <a:cs typeface="Quattrocento Sans" pitchFamily="34" charset="-120"/>
              </a:rPr>
              <a:t>6</a:t>
            </a:r>
            <a:endParaRPr lang="en-US" sz="18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168900" y="0"/>
            <a:ext cx="2590800" cy="965200"/>
          </a:xfrm>
          <a:prstGeom prst="rect">
            <a:avLst/>
          </a:prstGeom>
          <a:solidFill>
            <a:srgbClr val="F2F2F2"/>
          </a:solidFill>
          <a:ln/>
        </p:spPr>
      </p:sp>
      <p:sp>
        <p:nvSpPr>
          <p:cNvPr id="3" name="Shape 1"/>
          <p:cNvSpPr/>
          <p:nvPr/>
        </p:nvSpPr>
        <p:spPr>
          <a:xfrm>
            <a:off x="7810500" y="0"/>
            <a:ext cx="4152900" cy="965200"/>
          </a:xfrm>
          <a:prstGeom prst="rect">
            <a:avLst/>
          </a:prstGeom>
          <a:solidFill>
            <a:srgbClr val="F2F2F2"/>
          </a:solidFill>
          <a:ln/>
        </p:spPr>
      </p:sp>
      <p:sp>
        <p:nvSpPr>
          <p:cNvPr id="4" name="Shape 2"/>
          <p:cNvSpPr/>
          <p:nvPr/>
        </p:nvSpPr>
        <p:spPr>
          <a:xfrm>
            <a:off x="11976100" y="0"/>
            <a:ext cx="4279900" cy="965200"/>
          </a:xfrm>
          <a:prstGeom prst="rect">
            <a:avLst/>
          </a:prstGeom>
          <a:solidFill>
            <a:srgbClr val="F2F2F2"/>
          </a:solidFill>
          <a:ln/>
        </p:spPr>
      </p:sp>
      <p:sp>
        <p:nvSpPr>
          <p:cNvPr id="5" name="Shape 3"/>
          <p:cNvSpPr/>
          <p:nvPr/>
        </p:nvSpPr>
        <p:spPr>
          <a:xfrm>
            <a:off x="2222500" y="0"/>
            <a:ext cx="2895600" cy="965200"/>
          </a:xfrm>
          <a:prstGeom prst="rect">
            <a:avLst/>
          </a:prstGeom>
          <a:solidFill>
            <a:srgbClr val="04579A"/>
          </a:solidFill>
          <a:ln/>
        </p:spPr>
      </p:sp>
      <p:sp>
        <p:nvSpPr>
          <p:cNvPr id="6" name="Text 4"/>
          <p:cNvSpPr/>
          <p:nvPr/>
        </p:nvSpPr>
        <p:spPr>
          <a:xfrm>
            <a:off x="2286000" y="254000"/>
            <a:ext cx="2794000" cy="4572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7" name="Text 5"/>
          <p:cNvSpPr/>
          <p:nvPr/>
        </p:nvSpPr>
        <p:spPr>
          <a:xfrm>
            <a:off x="5168900" y="254000"/>
            <a:ext cx="25908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8" name="Text 6"/>
          <p:cNvSpPr/>
          <p:nvPr/>
        </p:nvSpPr>
        <p:spPr>
          <a:xfrm>
            <a:off x="7810500" y="254000"/>
            <a:ext cx="41148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9" name="Text 7"/>
          <p:cNvSpPr/>
          <p:nvPr/>
        </p:nvSpPr>
        <p:spPr>
          <a:xfrm>
            <a:off x="11976100" y="254000"/>
            <a:ext cx="42799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sp>
        <p:nvSpPr>
          <p:cNvPr id="10" name="Shape 8"/>
          <p:cNvSpPr/>
          <p:nvPr/>
        </p:nvSpPr>
        <p:spPr>
          <a:xfrm rot="10800000">
            <a:off x="3492500" y="965200"/>
            <a:ext cx="393700" cy="304800"/>
          </a:xfrm>
          <a:prstGeom prst="triangle">
            <a:avLst>
              <a:gd name="adj" fmla="val 50000"/>
            </a:avLst>
          </a:prstGeom>
          <a:solidFill>
            <a:srgbClr val="04579A"/>
          </a:solidFill>
          <a:ln/>
        </p:spPr>
      </p:sp>
      <p:pic>
        <p:nvPicPr>
          <p:cNvPr id="11" name="Image 0" descr="https://kimi-img.moonshot.cn/pub/slides/okc/flfuysioo4gzm/mnt/agents/output/yuan_pptd/images/image_2.jpg">    </p:cNvPr>
          <p:cNvPicPr>
            <a:picLocks noChangeAspect="1"/>
          </p:cNvPicPr>
          <p:nvPr/>
        </p:nvPicPr>
        <p:blipFill>
          <a:blip r:embed="rId1"/>
          <a:srcRect l="5060" r="29000" t="0" b="0"/>
          <a:stretch/>
        </p:blipFill>
        <p:spPr>
          <a:xfrm>
            <a:off x="546100" y="139700"/>
            <a:ext cx="1270000" cy="749300"/>
          </a:xfrm>
          <a:prstGeom prst="rect">
            <a:avLst/>
          </a:prstGeom>
        </p:spPr>
      </p:pic>
      <p:sp>
        <p:nvSpPr>
          <p:cNvPr id="12" name="Text 9"/>
          <p:cNvSpPr/>
          <p:nvPr/>
        </p:nvSpPr>
        <p:spPr>
          <a:xfrm>
            <a:off x="762000" y="1460500"/>
            <a:ext cx="8890000" cy="571500"/>
          </a:xfrm>
          <a:prstGeom prst="rect">
            <a:avLst/>
          </a:prstGeom>
          <a:noFill/>
          <a:ln/>
        </p:spPr>
        <p:txBody>
          <a:bodyPr wrap="none" lIns="0" tIns="0" rIns="0" bIns="0" rtlCol="0" anchor="ctr"/>
          <a:lstStyle/>
          <a:p>
            <a:pPr algn="l">
              <a:lnSpc>
                <a:spcPct val="120000"/>
              </a:lnSpc>
            </a:pPr>
            <a:r>
              <a:rPr lang="en-US" sz="3000" b="1" dirty="0">
                <a:solidFill>
                  <a:srgbClr val="005C8F"/>
                </a:solidFill>
                <a:latin typeface="Quattrocento Sans" pitchFamily="34" charset="0"/>
                <a:ea typeface="Quattrocento Sans" pitchFamily="34" charset="-122"/>
                <a:cs typeface="Quattrocento Sans" pitchFamily="34" charset="-120"/>
              </a:rPr>
              <a:t>OAuth 局限性（二）</a:t>
            </a:r>
            <a:endParaRPr lang="en-US" sz="3000" dirty="0"/>
          </a:p>
        </p:txBody>
      </p:sp>
      <p:sp>
        <p:nvSpPr>
          <p:cNvPr id="13" name="Text 10"/>
          <p:cNvSpPr/>
          <p:nvPr/>
        </p:nvSpPr>
        <p:spPr>
          <a:xfrm>
            <a:off x="762000" y="2095500"/>
            <a:ext cx="14732000" cy="355600"/>
          </a:xfrm>
          <a:prstGeom prst="rect">
            <a:avLst/>
          </a:prstGeom>
          <a:noFill/>
          <a:ln/>
        </p:spPr>
        <p:txBody>
          <a:bodyPr wrap="none" lIns="0" tIns="0" rIns="0" bIns="0" rtlCol="0" anchor="ctr"/>
          <a:lstStyle/>
          <a:p>
            <a:pPr algn="r">
              <a:lnSpc>
                <a:spcPct val="120000"/>
              </a:lnSpc>
            </a:pPr>
            <a:r>
              <a:rPr lang="en-US" sz="1400" i="1" dirty="0">
                <a:solidFill>
                  <a:srgbClr val="666666"/>
                </a:solidFill>
                <a:latin typeface="Quattrocento Sans" pitchFamily="34" charset="0"/>
                <a:ea typeface="Quattrocento Sans" pitchFamily="34" charset="-122"/>
                <a:cs typeface="Quattrocento Sans" pitchFamily="34" charset="-120"/>
              </a:rPr>
              <a:t>AI Agents Need Authenticated Delegation</a:t>
            </a:r>
            <a:endParaRPr lang="en-US" sz="1400" dirty="0"/>
          </a:p>
        </p:txBody>
      </p:sp>
      <p:sp>
        <p:nvSpPr>
          <p:cNvPr id="14" name="Shape 11"/>
          <p:cNvSpPr/>
          <p:nvPr/>
        </p:nvSpPr>
        <p:spPr>
          <a:xfrm>
            <a:off x="762000" y="2667000"/>
            <a:ext cx="7239000" cy="2921000"/>
          </a:xfrm>
          <a:prstGeom prst="roundRect">
            <a:avLst>
              <a:gd name="adj" fmla="val 6000"/>
            </a:avLst>
          </a:prstGeom>
          <a:solidFill>
            <a:srgbClr val="E6F0F7"/>
          </a:solidFill>
          <a:ln/>
        </p:spPr>
      </p:sp>
      <p:sp>
        <p:nvSpPr>
          <p:cNvPr id="15" name="Text 12"/>
          <p:cNvSpPr/>
          <p:nvPr/>
        </p:nvSpPr>
        <p:spPr>
          <a:xfrm>
            <a:off x="952500" y="2768600"/>
            <a:ext cx="762000" cy="508000"/>
          </a:xfrm>
          <a:prstGeom prst="rect">
            <a:avLst/>
          </a:prstGeom>
          <a:noFill/>
          <a:ln/>
        </p:spPr>
        <p:txBody>
          <a:bodyPr wrap="none" lIns="0" tIns="0" rIns="0" bIns="0" rtlCol="0" anchor="ctr"/>
          <a:lstStyle/>
          <a:p>
            <a:pPr algn="ctr">
              <a:lnSpc>
                <a:spcPct val="120000"/>
              </a:lnSpc>
            </a:pPr>
            <a:r>
              <a:rPr lang="en-US" sz="3200" b="1" dirty="0">
                <a:solidFill>
                  <a:srgbClr val="005C8F"/>
                </a:solidFill>
                <a:latin typeface="Quattrocento Sans" pitchFamily="34" charset="0"/>
                <a:ea typeface="Quattrocento Sans" pitchFamily="34" charset="-122"/>
                <a:cs typeface="Quattrocento Sans" pitchFamily="34" charset="-120"/>
              </a:rPr>
              <a:t>04</a:t>
            </a:r>
            <a:endParaRPr lang="en-US" sz="3200" dirty="0"/>
          </a:p>
        </p:txBody>
      </p:sp>
      <p:sp>
        <p:nvSpPr>
          <p:cNvPr id="16" name="Text 13"/>
          <p:cNvSpPr/>
          <p:nvPr/>
        </p:nvSpPr>
        <p:spPr>
          <a:xfrm>
            <a:off x="1714500" y="2819400"/>
            <a:ext cx="6032500" cy="406400"/>
          </a:xfrm>
          <a:prstGeom prst="rect">
            <a:avLst/>
          </a:prstGeom>
          <a:noFill/>
          <a:ln/>
        </p:spPr>
        <p:txBody>
          <a:bodyPr wrap="none" lIns="0" tIns="0" rIns="0" bIns="0" rtlCol="0" anchor="ctr"/>
          <a:lstStyle/>
          <a:p>
            <a:pPr algn="l">
              <a:lnSpc>
                <a:spcPct val="120000"/>
              </a:lnSpc>
            </a:pPr>
            <a:r>
              <a:rPr lang="en-US" sz="2000" b="1" dirty="0">
                <a:solidFill>
                  <a:srgbClr val="005C8F"/>
                </a:solidFill>
                <a:latin typeface="Quattrocento Sans" pitchFamily="34" charset="0"/>
                <a:ea typeface="Quattrocento Sans" pitchFamily="34" charset="-122"/>
                <a:cs typeface="Quattrocento Sans" pitchFamily="34" charset="-120"/>
              </a:rPr>
              <a:t>缺乏单独的智能体身份</a:t>
            </a:r>
            <a:endParaRPr lang="en-US" sz="2000" dirty="0"/>
          </a:p>
        </p:txBody>
      </p:sp>
      <p:sp>
        <p:nvSpPr>
          <p:cNvPr id="17" name="Text 14"/>
          <p:cNvSpPr/>
          <p:nvPr/>
        </p:nvSpPr>
        <p:spPr>
          <a:xfrm>
            <a:off x="952500" y="3403600"/>
            <a:ext cx="6858000" cy="2159000"/>
          </a:xfrm>
          <a:prstGeom prst="rect">
            <a:avLst/>
          </a:prstGeom>
          <a:noFill/>
          <a:ln/>
        </p:spPr>
        <p:txBody>
          <a:bodyPr wrap="square" lIns="0" tIns="0" rIns="0" bIns="0" rtlCol="0" anchor="t"/>
          <a:lstStyle/>
          <a:p>
            <a:pPr algn="l">
              <a:lnSpc>
                <a:spcPct val="170000"/>
              </a:lnSpc>
            </a:pPr>
            <a:r>
              <a:rPr lang="en-US" sz="1600" dirty="0">
                <a:solidFill>
                  <a:srgbClr val="333333"/>
                </a:solidFill>
                <a:latin typeface="Quattrocento Sans" pitchFamily="34" charset="0"/>
                <a:ea typeface="Quattrocento Sans" pitchFamily="34" charset="-122"/>
                <a:cs typeface="Quattrocento Sans" pitchFamily="34" charset="-120"/>
              </a:rPr>
              <a:t>• OAuth 以</a:t>
            </a:r>
            <a:pPr algn="l">
              <a:lnSpc>
                <a:spcPct val="170000"/>
              </a:lnSpc>
            </a:pPr>
            <a:r>
              <a:rPr lang="en-US" sz="1600" b="1" dirty="0">
                <a:solidFill>
                  <a:srgbClr val="333333"/>
                </a:solidFill>
                <a:latin typeface="Quattrocento Sans" pitchFamily="34" charset="0"/>
                <a:ea typeface="Quattrocento Sans" pitchFamily="34" charset="-122"/>
                <a:cs typeface="Quattrocento Sans" pitchFamily="34" charset="-120"/>
              </a:rPr>
              <a:t>人类用户</a:t>
            </a:r>
            <a:pPr algn="l">
              <a:lnSpc>
                <a:spcPct val="170000"/>
              </a:lnSpc>
            </a:pPr>
            <a:r>
              <a:rPr lang="en-US" sz="1600" dirty="0">
                <a:solidFill>
                  <a:srgbClr val="333333"/>
                </a:solidFill>
                <a:latin typeface="Quattrocento Sans" pitchFamily="34" charset="0"/>
                <a:ea typeface="Quattrocento Sans" pitchFamily="34" charset="-122"/>
                <a:cs typeface="Quattrocento Sans" pitchFamily="34" charset="-120"/>
              </a:rPr>
              <a:t>为授权主体</a:t>
            </a:r>
            <a:endParaRPr lang="en-US" sz="1600" dirty="0"/>
          </a:p>
          <a:p>
            <a:pPr algn="l">
              <a:lnSpc>
                <a:spcPct val="170000"/>
              </a:lnSpc>
            </a:pPr>
            <a:r>
              <a:rPr lang="en-US" sz="1600" dirty="0">
                <a:solidFill>
                  <a:srgbClr val="333333"/>
                </a:solidFill>
                <a:latin typeface="Quattrocento Sans" pitchFamily="34" charset="0"/>
                <a:ea typeface="Quattrocento Sans" pitchFamily="34" charset="-122"/>
                <a:cs typeface="Quattrocento Sans" pitchFamily="34" charset="-120"/>
              </a:rPr>
              <a:t>• 智能体借用用户身份访问资源，无独立标识</a:t>
            </a:r>
            <a:endParaRPr lang="en-US" sz="1600" dirty="0"/>
          </a:p>
          <a:p>
            <a:pPr algn="l">
              <a:lnSpc>
                <a:spcPct val="170000"/>
              </a:lnSpc>
            </a:pPr>
            <a:r>
              <a:rPr lang="en-US" sz="1600" dirty="0">
                <a:solidFill>
                  <a:srgbClr val="333333"/>
                </a:solidFill>
                <a:latin typeface="Quattrocento Sans" pitchFamily="34" charset="0"/>
                <a:ea typeface="Quattrocento Sans" pitchFamily="34" charset="-122"/>
                <a:cs typeface="Quattrocento Sans" pitchFamily="34" charset="-120"/>
              </a:rPr>
              <a:t>• 无法区分是哪个智能体发起了请求</a:t>
            </a:r>
            <a:endParaRPr lang="en-US" sz="1600" dirty="0"/>
          </a:p>
          <a:p>
            <a:pPr algn="l">
              <a:lnSpc>
                <a:spcPct val="170000"/>
              </a:lnSpc>
            </a:pPr>
            <a:r>
              <a:rPr lang="en-US" sz="1600" dirty="0">
                <a:solidFill>
                  <a:srgbClr val="333333"/>
                </a:solidFill>
                <a:latin typeface="Quattrocento Sans" pitchFamily="34" charset="0"/>
                <a:ea typeface="Quattrocento Sans" pitchFamily="34" charset="-122"/>
                <a:cs typeface="Quattrocento Sans" pitchFamily="34" charset="-120"/>
              </a:rPr>
              <a:t>• 导致</a:t>
            </a:r>
            <a:pPr algn="l">
              <a:lnSpc>
                <a:spcPct val="170000"/>
              </a:lnSpc>
            </a:pPr>
            <a:r>
              <a:rPr lang="en-US" sz="1600" b="1" dirty="0">
                <a:solidFill>
                  <a:srgbClr val="333333"/>
                </a:solidFill>
                <a:latin typeface="Quattrocento Sans" pitchFamily="34" charset="0"/>
                <a:ea typeface="Quattrocento Sans" pitchFamily="34" charset="-122"/>
                <a:cs typeface="Quattrocento Sans" pitchFamily="34" charset="-120"/>
              </a:rPr>
              <a:t>审计追踪困难</a:t>
            </a:r>
            <a:pPr algn="l">
              <a:lnSpc>
                <a:spcPct val="170000"/>
              </a:lnSpc>
            </a:pPr>
            <a:r>
              <a:rPr lang="en-US" sz="1600" dirty="0">
                <a:solidFill>
                  <a:srgbClr val="333333"/>
                </a:solidFill>
                <a:latin typeface="Quattrocento Sans" pitchFamily="34" charset="0"/>
                <a:ea typeface="Quattrocento Sans" pitchFamily="34" charset="-122"/>
                <a:cs typeface="Quattrocento Sans" pitchFamily="34" charset="-120"/>
              </a:rPr>
              <a:t>，责任归属模糊</a:t>
            </a:r>
            <a:endParaRPr lang="en-US" sz="1600" dirty="0"/>
          </a:p>
          <a:p>
            <a:pPr algn="l">
              <a:lnSpc>
                <a:spcPct val="170000"/>
              </a:lnSpc>
            </a:pPr>
            <a:r>
              <a:rPr lang="en-US" sz="1600" dirty="0">
                <a:solidFill>
                  <a:srgbClr val="333333"/>
                </a:solidFill>
                <a:latin typeface="Quattrocento Sans" pitchFamily="34" charset="0"/>
                <a:ea typeface="Quattrocento Sans" pitchFamily="34" charset="-122"/>
                <a:cs typeface="Quattrocento Sans" pitchFamily="34" charset="-120"/>
              </a:rPr>
              <a:t>• 多智能体场景下身份混淆风险加剧</a:t>
            </a:r>
            <a:endParaRPr lang="en-US" sz="1600" dirty="0"/>
          </a:p>
        </p:txBody>
      </p:sp>
      <p:sp>
        <p:nvSpPr>
          <p:cNvPr id="18" name="Shape 15"/>
          <p:cNvSpPr/>
          <p:nvPr/>
        </p:nvSpPr>
        <p:spPr>
          <a:xfrm>
            <a:off x="8255000" y="2667000"/>
            <a:ext cx="7239000" cy="2921000"/>
          </a:xfrm>
          <a:prstGeom prst="roundRect">
            <a:avLst>
              <a:gd name="adj" fmla="val 6000"/>
            </a:avLst>
          </a:prstGeom>
          <a:solidFill>
            <a:srgbClr val="E6F0F7"/>
          </a:solidFill>
          <a:ln/>
        </p:spPr>
      </p:sp>
      <p:sp>
        <p:nvSpPr>
          <p:cNvPr id="19" name="Text 16"/>
          <p:cNvSpPr/>
          <p:nvPr/>
        </p:nvSpPr>
        <p:spPr>
          <a:xfrm>
            <a:off x="8445500" y="2768600"/>
            <a:ext cx="762000" cy="508000"/>
          </a:xfrm>
          <a:prstGeom prst="rect">
            <a:avLst/>
          </a:prstGeom>
          <a:noFill/>
          <a:ln/>
        </p:spPr>
        <p:txBody>
          <a:bodyPr wrap="none" lIns="0" tIns="0" rIns="0" bIns="0" rtlCol="0" anchor="ctr"/>
          <a:lstStyle/>
          <a:p>
            <a:pPr algn="ctr">
              <a:lnSpc>
                <a:spcPct val="120000"/>
              </a:lnSpc>
            </a:pPr>
            <a:r>
              <a:rPr lang="en-US" sz="3200" b="1" dirty="0">
                <a:solidFill>
                  <a:srgbClr val="005C8F"/>
                </a:solidFill>
                <a:latin typeface="Quattrocento Sans" pitchFamily="34" charset="0"/>
                <a:ea typeface="Quattrocento Sans" pitchFamily="34" charset="-122"/>
                <a:cs typeface="Quattrocento Sans" pitchFamily="34" charset="-120"/>
              </a:rPr>
              <a:t>05</a:t>
            </a:r>
            <a:endParaRPr lang="en-US" sz="3200" dirty="0"/>
          </a:p>
        </p:txBody>
      </p:sp>
      <p:sp>
        <p:nvSpPr>
          <p:cNvPr id="20" name="Text 17"/>
          <p:cNvSpPr/>
          <p:nvPr/>
        </p:nvSpPr>
        <p:spPr>
          <a:xfrm>
            <a:off x="9207500" y="2819400"/>
            <a:ext cx="6032500" cy="406400"/>
          </a:xfrm>
          <a:prstGeom prst="rect">
            <a:avLst/>
          </a:prstGeom>
          <a:noFill/>
          <a:ln/>
        </p:spPr>
        <p:txBody>
          <a:bodyPr wrap="none" lIns="0" tIns="0" rIns="0" bIns="0" rtlCol="0" anchor="ctr"/>
          <a:lstStyle/>
          <a:p>
            <a:pPr algn="l">
              <a:lnSpc>
                <a:spcPct val="120000"/>
              </a:lnSpc>
            </a:pPr>
            <a:r>
              <a:rPr lang="en-US" sz="2000" b="1" dirty="0">
                <a:solidFill>
                  <a:srgbClr val="005C8F"/>
                </a:solidFill>
                <a:latin typeface="Quattrocento Sans" pitchFamily="34" charset="0"/>
                <a:ea typeface="Quattrocento Sans" pitchFamily="34" charset="-122"/>
                <a:cs typeface="Quattrocento Sans" pitchFamily="34" charset="-120"/>
              </a:rPr>
              <a:t>缺乏权限委托与多Agent权限衰减</a:t>
            </a:r>
            <a:endParaRPr lang="en-US" sz="2000" dirty="0"/>
          </a:p>
        </p:txBody>
      </p:sp>
      <p:sp>
        <p:nvSpPr>
          <p:cNvPr id="21" name="Text 18"/>
          <p:cNvSpPr/>
          <p:nvPr/>
        </p:nvSpPr>
        <p:spPr>
          <a:xfrm>
            <a:off x="8445500" y="3403600"/>
            <a:ext cx="6858000" cy="2159000"/>
          </a:xfrm>
          <a:prstGeom prst="rect">
            <a:avLst/>
          </a:prstGeom>
          <a:noFill/>
          <a:ln/>
        </p:spPr>
        <p:txBody>
          <a:bodyPr wrap="square" lIns="0" tIns="0" rIns="0" bIns="0" rtlCol="0" anchor="t"/>
          <a:lstStyle/>
          <a:p>
            <a:pPr algn="l">
              <a:lnSpc>
                <a:spcPct val="170000"/>
              </a:lnSpc>
            </a:pPr>
            <a:r>
              <a:rPr lang="en-US" sz="1600" dirty="0">
                <a:solidFill>
                  <a:srgbClr val="333333"/>
                </a:solidFill>
                <a:latin typeface="Quattrocento Sans" pitchFamily="34" charset="0"/>
                <a:ea typeface="Quattrocento Sans" pitchFamily="34" charset="-122"/>
                <a:cs typeface="Quattrocento Sans" pitchFamily="34" charset="-120"/>
              </a:rPr>
              <a:t>• 不支持智能体间</a:t>
            </a:r>
            <a:pPr algn="l">
              <a:lnSpc>
                <a:spcPct val="170000"/>
              </a:lnSpc>
            </a:pPr>
            <a:r>
              <a:rPr lang="en-US" sz="1600" b="1" dirty="0">
                <a:solidFill>
                  <a:srgbClr val="333333"/>
                </a:solidFill>
                <a:latin typeface="Quattrocento Sans" pitchFamily="34" charset="0"/>
                <a:ea typeface="Quattrocento Sans" pitchFamily="34" charset="-122"/>
                <a:cs typeface="Quattrocento Sans" pitchFamily="34" charset="-120"/>
              </a:rPr>
              <a:t>权限委托</a:t>
            </a:r>
            <a:pPr algn="l">
              <a:lnSpc>
                <a:spcPct val="170000"/>
              </a:lnSpc>
            </a:pPr>
            <a:r>
              <a:rPr lang="en-US" sz="1600" dirty="0">
                <a:solidFill>
                  <a:srgbClr val="333333"/>
                </a:solidFill>
                <a:latin typeface="Quattrocento Sans" pitchFamily="34" charset="0"/>
                <a:ea typeface="Quattrocento Sans" pitchFamily="34" charset="-122"/>
                <a:cs typeface="Quattrocento Sans" pitchFamily="34" charset="-120"/>
              </a:rPr>
              <a:t>机制</a:t>
            </a:r>
            <a:endParaRPr lang="en-US" sz="1600" dirty="0"/>
          </a:p>
          <a:p>
            <a:pPr algn="l">
              <a:lnSpc>
                <a:spcPct val="170000"/>
              </a:lnSpc>
            </a:pPr>
            <a:r>
              <a:rPr lang="en-US" sz="1600" dirty="0">
                <a:solidFill>
                  <a:srgbClr val="333333"/>
                </a:solidFill>
                <a:latin typeface="Quattrocento Sans" pitchFamily="34" charset="0"/>
                <a:ea typeface="Quattrocento Sans" pitchFamily="34" charset="-122"/>
                <a:cs typeface="Quattrocento Sans" pitchFamily="34" charset="-120"/>
              </a:rPr>
              <a:t>• 多智能体协作时权限无法传递</a:t>
            </a:r>
            <a:endParaRPr lang="en-US" sz="1600" dirty="0"/>
          </a:p>
          <a:p>
            <a:pPr algn="l">
              <a:lnSpc>
                <a:spcPct val="170000"/>
              </a:lnSpc>
            </a:pPr>
            <a:r>
              <a:rPr lang="en-US" sz="1600" dirty="0">
                <a:solidFill>
                  <a:srgbClr val="333333"/>
                </a:solidFill>
                <a:latin typeface="Quattrocento Sans" pitchFamily="34" charset="0"/>
                <a:ea typeface="Quattrocento Sans" pitchFamily="34" charset="-122"/>
                <a:cs typeface="Quattrocento Sans" pitchFamily="34" charset="-120"/>
              </a:rPr>
              <a:t>• 缺乏委托链上的</a:t>
            </a:r>
            <a:pPr algn="l">
              <a:lnSpc>
                <a:spcPct val="170000"/>
              </a:lnSpc>
            </a:pPr>
            <a:r>
              <a:rPr lang="en-US" sz="1600" b="1" dirty="0">
                <a:solidFill>
                  <a:srgbClr val="333333"/>
                </a:solidFill>
                <a:latin typeface="Quattrocento Sans" pitchFamily="34" charset="0"/>
                <a:ea typeface="Quattrocento Sans" pitchFamily="34" charset="-122"/>
                <a:cs typeface="Quattrocento Sans" pitchFamily="34" charset="-120"/>
              </a:rPr>
              <a:t>权限单调衰减</a:t>
            </a:r>
            <a:endParaRPr lang="en-US" sz="1600" dirty="0"/>
          </a:p>
          <a:p>
            <a:pPr algn="l">
              <a:lnSpc>
                <a:spcPct val="170000"/>
              </a:lnSpc>
            </a:pPr>
            <a:r>
              <a:rPr lang="en-US" sz="1600" dirty="0">
                <a:solidFill>
                  <a:srgbClr val="333333"/>
                </a:solidFill>
                <a:latin typeface="Quattrocento Sans" pitchFamily="34" charset="0"/>
                <a:ea typeface="Quattrocento Sans" pitchFamily="34" charset="-122"/>
                <a:cs typeface="Quattrocento Sans" pitchFamily="34" charset="-120"/>
              </a:rPr>
              <a:t>• 子智能体可能获得与父智能体同等权限</a:t>
            </a:r>
            <a:endParaRPr lang="en-US" sz="1600" dirty="0"/>
          </a:p>
          <a:p>
            <a:pPr algn="l">
              <a:lnSpc>
                <a:spcPct val="170000"/>
              </a:lnSpc>
            </a:pPr>
            <a:r>
              <a:rPr lang="en-US" sz="1600" dirty="0">
                <a:solidFill>
                  <a:srgbClr val="333333"/>
                </a:solidFill>
                <a:latin typeface="Quattrocento Sans" pitchFamily="34" charset="0"/>
                <a:ea typeface="Quattrocento Sans" pitchFamily="34" charset="-122"/>
                <a:cs typeface="Quattrocento Sans" pitchFamily="34" charset="-120"/>
              </a:rPr>
              <a:t>• 委托关系</a:t>
            </a:r>
            <a:pPr algn="l">
              <a:lnSpc>
                <a:spcPct val="170000"/>
              </a:lnSpc>
            </a:pPr>
            <a:r>
              <a:rPr lang="en-US" sz="1600" b="1" dirty="0">
                <a:solidFill>
                  <a:srgbClr val="333333"/>
                </a:solidFill>
                <a:latin typeface="Quattrocento Sans" pitchFamily="34" charset="0"/>
                <a:ea typeface="Quattrocento Sans" pitchFamily="34" charset="-122"/>
                <a:cs typeface="Quattrocento Sans" pitchFamily="34" charset="-120"/>
              </a:rPr>
              <a:t>不可追溯、不可撤销</a:t>
            </a:r>
            <a:endParaRPr lang="en-US" sz="1600" dirty="0"/>
          </a:p>
        </p:txBody>
      </p:sp>
      <p:sp>
        <p:nvSpPr>
          <p:cNvPr id="22" name="Shape 19"/>
          <p:cNvSpPr/>
          <p:nvPr/>
        </p:nvSpPr>
        <p:spPr>
          <a:xfrm>
            <a:off x="762000" y="5905500"/>
            <a:ext cx="14732000" cy="1079500"/>
          </a:xfrm>
          <a:prstGeom prst="roundRect">
            <a:avLst>
              <a:gd name="adj" fmla="val 5000"/>
            </a:avLst>
          </a:prstGeom>
          <a:solidFill>
            <a:srgbClr val="005C8F"/>
          </a:solidFill>
          <a:ln/>
        </p:spPr>
      </p:sp>
      <p:sp>
        <p:nvSpPr>
          <p:cNvPr id="23" name="Text 20"/>
          <p:cNvSpPr/>
          <p:nvPr/>
        </p:nvSpPr>
        <p:spPr>
          <a:xfrm>
            <a:off x="1016000" y="6007100"/>
            <a:ext cx="14224000" cy="863600"/>
          </a:xfrm>
          <a:prstGeom prst="rect">
            <a:avLst/>
          </a:prstGeom>
          <a:noFill/>
          <a:ln/>
        </p:spPr>
        <p:txBody>
          <a:bodyPr wrap="square" lIns="0" tIns="0" rIns="0" bIns="0" rtlCol="0" anchor="ctr"/>
          <a:lstStyle/>
          <a:p>
            <a:pPr algn="l">
              <a:lnSpc>
                <a:spcPct val="160000"/>
              </a:lnSpc>
            </a:pPr>
            <a:r>
              <a:rPr lang="en-US" sz="1600" b="1" dirty="0">
                <a:solidFill>
                  <a:srgbClr val="FFFFFF"/>
                </a:solidFill>
                <a:latin typeface="Quattrocento Sans" pitchFamily="34" charset="0"/>
                <a:ea typeface="Quattrocento Sans" pitchFamily="34" charset="-122"/>
                <a:cs typeface="Quattrocento Sans" pitchFamily="34" charset="-120"/>
              </a:rPr>
              <a:t>总结：</a:t>
            </a:r>
            <a:pPr algn="l">
              <a:lnSpc>
                <a:spcPct val="160000"/>
              </a:lnSpc>
            </a:pPr>
            <a:r>
              <a:rPr lang="en-US" sz="1600" dirty="0">
                <a:solidFill>
                  <a:srgbClr val="FFFFFF"/>
                </a:solidFill>
                <a:latin typeface="Quattrocento Sans" pitchFamily="34" charset="0"/>
                <a:ea typeface="Quattrocento Sans" pitchFamily="34" charset="-122"/>
                <a:cs typeface="Quattrocento Sans" pitchFamily="34" charset="-120"/>
              </a:rPr>
              <a:t>OAuth 设计之初面向"人类用户委托第三方应用访问资源"的场景，而智能体场景需要"</a:t>
            </a:r>
            <a:pPr algn="l">
              <a:lnSpc>
                <a:spcPct val="160000"/>
              </a:lnSpc>
            </a:pPr>
            <a:r>
              <a:rPr lang="en-US" sz="1600" b="1" dirty="0">
                <a:solidFill>
                  <a:srgbClr val="FFFFFF"/>
                </a:solidFill>
                <a:latin typeface="Quattrocento Sans" pitchFamily="34" charset="0"/>
                <a:ea typeface="Quattrocento Sans" pitchFamily="34" charset="-122"/>
                <a:cs typeface="Quattrocento Sans" pitchFamily="34" charset="-120"/>
              </a:rPr>
              <a:t>用户→智能体→子智能体→工具</a:t>
            </a:r>
            <a:pPr algn="l">
              <a:lnSpc>
                <a:spcPct val="160000"/>
              </a:lnSpc>
            </a:pPr>
            <a:r>
              <a:rPr lang="en-US" sz="1600" dirty="0">
                <a:solidFill>
                  <a:srgbClr val="FFFFFF"/>
                </a:solidFill>
                <a:latin typeface="Quattrocento Sans" pitchFamily="34" charset="0"/>
                <a:ea typeface="Quattrocento Sans" pitchFamily="34" charset="-122"/>
                <a:cs typeface="Quattrocento Sans" pitchFamily="34" charset="-120"/>
              </a:rPr>
              <a:t>"的多级委托链，且每个环节都需要独立的身份标识与权限衰减控制。现有机制无法满足这些需求。</a:t>
            </a:r>
            <a:endParaRPr lang="en-US" sz="1600" dirty="0"/>
          </a:p>
        </p:txBody>
      </p:sp>
      <p:sp>
        <p:nvSpPr>
          <p:cNvPr id="24" name="Text 21"/>
          <p:cNvSpPr/>
          <p:nvPr/>
        </p:nvSpPr>
        <p:spPr>
          <a:xfrm>
            <a:off x="15240000" y="8636000"/>
            <a:ext cx="635000" cy="381000"/>
          </a:xfrm>
          <a:prstGeom prst="rect">
            <a:avLst/>
          </a:prstGeom>
          <a:noFill/>
          <a:ln/>
        </p:spPr>
        <p:txBody>
          <a:bodyPr wrap="none" lIns="0" tIns="0" rIns="0" bIns="0" rtlCol="0" anchor="ctr"/>
          <a:lstStyle/>
          <a:p>
            <a:pPr algn="r">
              <a:lnSpc>
                <a:spcPct val="120000"/>
              </a:lnSpc>
            </a:pPr>
            <a:r>
              <a:rPr lang="en-US" sz="1800" dirty="0">
                <a:solidFill>
                  <a:srgbClr val="666666"/>
                </a:solidFill>
                <a:latin typeface="Quattrocento Sans" pitchFamily="34" charset="0"/>
                <a:ea typeface="Quattrocento Sans" pitchFamily="34" charset="-122"/>
                <a:cs typeface="Quattrocento Sans" pitchFamily="34" charset="-120"/>
              </a:rPr>
              <a:t>7</a:t>
            </a:r>
            <a:endParaRPr lang="en-US" sz="18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654431" y="3809111"/>
            <a:ext cx="14037691" cy="762889"/>
          </a:xfrm>
          <a:prstGeom prst="rect">
            <a:avLst/>
          </a:prstGeom>
          <a:solidFill>
            <a:srgbClr val="F2F2F2"/>
          </a:solidFill>
          <a:ln/>
        </p:spPr>
      </p:sp>
      <p:sp>
        <p:nvSpPr>
          <p:cNvPr id="4" name="Text 1"/>
          <p:cNvSpPr/>
          <p:nvPr/>
        </p:nvSpPr>
        <p:spPr>
          <a:xfrm>
            <a:off x="643509" y="1196340"/>
            <a:ext cx="14772640" cy="531749"/>
          </a:xfrm>
          <a:prstGeom prst="rect">
            <a:avLst/>
          </a:prstGeom>
          <a:noFill/>
          <a:ln/>
        </p:spPr>
        <p:txBody>
          <a:bodyPr wrap="square" lIns="0" tIns="0" rIns="0" bIns="0" rtlCol="0" anchor="t"/>
          <a:lstStyle/>
          <a:p>
            <a:pPr algn="l">
              <a:lnSpc>
                <a:spcPct val="120000"/>
              </a:lnSpc>
            </a:pPr>
            <a:r>
              <a:rPr lang="en-US" sz="2670" dirty="0">
                <a:solidFill>
                  <a:srgbClr val="000000"/>
                </a:solidFill>
                <a:latin typeface="Arial" pitchFamily="34" charset="0"/>
                <a:ea typeface="Arial" pitchFamily="34" charset="-122"/>
                <a:cs typeface="Arial" pitchFamily="34" charset="-120"/>
              </a:rPr>
              <a:t>数字资产市场为区块链提供了新的</a:t>
            </a:r>
            <a:pPr algn="l">
              <a:lnSpc>
                <a:spcPct val="120000"/>
              </a:lnSpc>
            </a:pPr>
            <a:r>
              <a:rPr lang="en-US" sz="2670" b="1" dirty="0">
                <a:solidFill>
                  <a:srgbClr val="04579A"/>
                </a:solidFill>
                <a:latin typeface="Arial" pitchFamily="34" charset="0"/>
                <a:ea typeface="Arial" pitchFamily="34" charset="-122"/>
                <a:cs typeface="Arial" pitchFamily="34" charset="-120"/>
              </a:rPr>
              <a:t>应用方向</a:t>
            </a:r>
            <a:pPr algn="l">
              <a:lnSpc>
                <a:spcPct val="120000"/>
              </a:lnSpc>
            </a:pPr>
            <a:r>
              <a:rPr lang="en-US" sz="2670" dirty="0">
                <a:solidFill>
                  <a:srgbClr val="000000"/>
                </a:solidFill>
                <a:latin typeface="Arial" pitchFamily="34" charset="0"/>
                <a:ea typeface="Arial" pitchFamily="34" charset="-122"/>
                <a:cs typeface="Arial" pitchFamily="34" charset="-120"/>
              </a:rPr>
              <a:t>，但同时也带来了新的</a:t>
            </a:r>
            <a:pPr algn="l">
              <a:lnSpc>
                <a:spcPct val="120000"/>
              </a:lnSpc>
            </a:pPr>
            <a:r>
              <a:rPr lang="en-US" sz="2670" b="1" dirty="0">
                <a:solidFill>
                  <a:srgbClr val="04579A"/>
                </a:solidFill>
                <a:latin typeface="Arial" pitchFamily="34" charset="0"/>
                <a:ea typeface="Arial" pitchFamily="34" charset="-122"/>
                <a:cs typeface="Arial" pitchFamily="34" charset="-120"/>
              </a:rPr>
              <a:t>技术需求</a:t>
            </a:r>
            <a:pPr algn="l">
              <a:lnSpc>
                <a:spcPct val="120000"/>
              </a:lnSpc>
            </a:pPr>
            <a:r>
              <a:rPr lang="en-US" sz="2670" dirty="0">
                <a:solidFill>
                  <a:srgbClr val="000000"/>
                </a:solidFill>
                <a:latin typeface="Arial" pitchFamily="34" charset="0"/>
                <a:ea typeface="Arial" pitchFamily="34" charset="-122"/>
                <a:cs typeface="Arial" pitchFamily="34" charset="-120"/>
              </a:rPr>
              <a:t>：</a:t>
            </a:r>
            <a:endParaRPr lang="en-US" sz="2670" dirty="0"/>
          </a:p>
        </p:txBody>
      </p:sp>
      <p:sp>
        <p:nvSpPr>
          <p:cNvPr id="5" name="Shape 2"/>
          <p:cNvSpPr/>
          <p:nvPr/>
        </p:nvSpPr>
        <p:spPr>
          <a:xfrm>
            <a:off x="2219960" y="0"/>
            <a:ext cx="2942209" cy="962660"/>
          </a:xfrm>
          <a:prstGeom prst="rect">
            <a:avLst/>
          </a:prstGeom>
          <a:solidFill>
            <a:srgbClr val="F2F2F2"/>
          </a:solidFill>
          <a:ln w="12700">
            <a:solidFill>
              <a:srgbClr val="F2F2F2"/>
            </a:solidFill>
            <a:prstDash val="solid"/>
          </a:ln>
        </p:spPr>
      </p:sp>
      <p:sp>
        <p:nvSpPr>
          <p:cNvPr id="6" name="Shape 3"/>
          <p:cNvSpPr/>
          <p:nvPr/>
        </p:nvSpPr>
        <p:spPr>
          <a:xfrm>
            <a:off x="5162169" y="-889"/>
            <a:ext cx="2654300" cy="962660"/>
          </a:xfrm>
          <a:prstGeom prst="rect">
            <a:avLst/>
          </a:prstGeom>
          <a:solidFill>
            <a:srgbClr val="F2F2F2"/>
          </a:solidFill>
          <a:ln/>
        </p:spPr>
      </p:sp>
      <p:sp>
        <p:nvSpPr>
          <p:cNvPr id="7" name="Shape 4"/>
          <p:cNvSpPr/>
          <p:nvPr/>
        </p:nvSpPr>
        <p:spPr>
          <a:xfrm>
            <a:off x="7816469" y="-889"/>
            <a:ext cx="4154551" cy="962660"/>
          </a:xfrm>
          <a:prstGeom prst="rect">
            <a:avLst/>
          </a:prstGeom>
          <a:solidFill>
            <a:srgbClr val="F2F2F2"/>
          </a:solidFill>
          <a:ln/>
        </p:spPr>
      </p:sp>
      <p:sp>
        <p:nvSpPr>
          <p:cNvPr id="8" name="Shape 5"/>
          <p:cNvSpPr/>
          <p:nvPr/>
        </p:nvSpPr>
        <p:spPr>
          <a:xfrm>
            <a:off x="11971020" y="0"/>
            <a:ext cx="4284980" cy="961771"/>
          </a:xfrm>
          <a:prstGeom prst="rect">
            <a:avLst/>
          </a:prstGeom>
          <a:solidFill>
            <a:srgbClr val="F2F2F2"/>
          </a:solidFill>
          <a:ln/>
        </p:spPr>
      </p:sp>
      <p:sp>
        <p:nvSpPr>
          <p:cNvPr id="9" name="Shape 6"/>
          <p:cNvSpPr/>
          <p:nvPr/>
        </p:nvSpPr>
        <p:spPr>
          <a:xfrm>
            <a:off x="2219960" y="-889"/>
            <a:ext cx="2942209" cy="962660"/>
          </a:xfrm>
          <a:prstGeom prst="rect">
            <a:avLst/>
          </a:prstGeom>
          <a:solidFill>
            <a:srgbClr val="04579A"/>
          </a:solidFill>
          <a:ln w="12700">
            <a:solidFill>
              <a:srgbClr val="04579A"/>
            </a:solidFill>
            <a:prstDash val="solid"/>
          </a:ln>
        </p:spPr>
      </p:sp>
      <p:sp>
        <p:nvSpPr>
          <p:cNvPr id="10" name="Text 7"/>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选题背景及意义</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国内外研究现状</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主要研究内容及预期目标</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工作计划与进度安排</a:t>
            </a:r>
            <a:endParaRPr lang="en-US" sz="2400" dirty="0"/>
          </a:p>
        </p:txBody>
      </p:sp>
      <p:pic>
        <p:nvPicPr>
          <p:cNvPr id="11"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2" name="Shape 8"/>
          <p:cNvSpPr/>
          <p:nvPr/>
        </p:nvSpPr>
        <p:spPr>
          <a:xfrm rot="10800000">
            <a:off x="3496691" y="961771"/>
            <a:ext cx="389509" cy="304800"/>
          </a:xfrm>
          <a:prstGeom prst="triangle">
            <a:avLst>
              <a:gd name="adj" fmla="val 50000"/>
            </a:avLst>
          </a:prstGeom>
          <a:solidFill>
            <a:srgbClr val="04579A"/>
          </a:solidFill>
          <a:ln/>
        </p:spPr>
      </p:sp>
      <p:sp>
        <p:nvSpPr>
          <p:cNvPr id="13" name="Shape 9"/>
          <p:cNvSpPr/>
          <p:nvPr/>
        </p:nvSpPr>
        <p:spPr>
          <a:xfrm>
            <a:off x="643509" y="2236089"/>
            <a:ext cx="14037691" cy="762889"/>
          </a:xfrm>
          <a:prstGeom prst="rect">
            <a:avLst/>
          </a:prstGeom>
          <a:solidFill>
            <a:srgbClr val="F2F2F2"/>
          </a:solidFill>
          <a:ln/>
        </p:spPr>
      </p:sp>
      <p:sp>
        <p:nvSpPr>
          <p:cNvPr id="14" name="Shape 10"/>
          <p:cNvSpPr/>
          <p:nvPr/>
        </p:nvSpPr>
        <p:spPr>
          <a:xfrm>
            <a:off x="1358900" y="3120009"/>
            <a:ext cx="486029" cy="343789"/>
          </a:xfrm>
          <a:prstGeom prst="chevron">
            <a:avLst>
              <a:gd name="adj" fmla="val 50000"/>
            </a:avLst>
          </a:prstGeom>
          <a:solidFill>
            <a:srgbClr val="04579A"/>
          </a:solidFill>
          <a:ln w="12700">
            <a:solidFill>
              <a:srgbClr val="304B73"/>
            </a:solidFill>
            <a:prstDash val="solid"/>
          </a:ln>
        </p:spPr>
      </p:sp>
      <p:sp>
        <p:nvSpPr>
          <p:cNvPr id="15" name="Text 11"/>
          <p:cNvSpPr/>
          <p:nvPr/>
        </p:nvSpPr>
        <p:spPr>
          <a:xfrm>
            <a:off x="742569" y="2218309"/>
            <a:ext cx="14771751" cy="4594860"/>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智能体执行任务的自主性对智能体的授权粒度提出了更高的要求</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智能体授权协议的授权粒度需要匹配具体任务</a:t>
            </a:r>
            <a:pPr algn="l">
              <a:lnSpc>
                <a:spcPct val="150000"/>
              </a:lnSpc>
            </a:pPr>
            <a:r>
              <a:rPr lang="en-US" sz="3200" b="1" dirty="0">
                <a:solidFill>
                  <a:srgbClr val="04579A"/>
                </a:solidFill>
                <a:latin typeface="Arial" pitchFamily="34" charset="0"/>
                <a:ea typeface="Arial" pitchFamily="34" charset="-122"/>
                <a:cs typeface="Arial" pitchFamily="34" charset="-120"/>
              </a:rPr>
              <a:t>级语义</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F2F2F2"/>
                </a:solidFill>
                <a:latin typeface="Arial" pitchFamily="34" charset="0"/>
                <a:ea typeface="Arial" pitchFamily="34" charset="-122"/>
                <a:cs typeface="Arial" pitchFamily="34" charset="-120"/>
              </a:rPr>
              <a:t>区块链具有长期部署的需要</a:t>
            </a:r>
            <a:endParaRPr lang="en-US" sz="2670" dirty="0"/>
          </a:p>
          <a:p>
            <a:pPr algn="l">
              <a:lnSpc>
                <a:spcPct val="150000"/>
              </a:lnSpc>
            </a:pPr>
            <a:r>
              <a:rPr lang="en-US" sz="3200" b="1" dirty="0">
                <a:solidFill>
                  <a:srgbClr val="F2F2F2"/>
                </a:solidFill>
                <a:latin typeface="Arial" pitchFamily="34" charset="0"/>
                <a:ea typeface="Arial" pitchFamily="34" charset="-122"/>
                <a:cs typeface="Arial" pitchFamily="34" charset="-120"/>
              </a:rPr>
              <a:t>分布式数字资产交易协议需要高性能的链下方案构造</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F2F2F2"/>
                </a:solidFill>
                <a:latin typeface="Arial" pitchFamily="34" charset="0"/>
                <a:ea typeface="Arial" pitchFamily="34" charset="-122"/>
                <a:cs typeface="Arial" pitchFamily="34" charset="-120"/>
              </a:rPr>
              <a:t>异构区块链系统间的互联互通要求分布式数字资产交易协议具有互操作性</a:t>
            </a:r>
            <a:endParaRPr lang="en-US" sz="2670" dirty="0"/>
          </a:p>
          <a:p>
            <a:pPr algn="l">
              <a:lnSpc>
                <a:spcPct val="150000"/>
              </a:lnSpc>
            </a:pPr>
            <a:r>
              <a:rPr lang="en-US" sz="3200" b="1" dirty="0">
                <a:solidFill>
                  <a:srgbClr val="F2F2F2"/>
                </a:solidFill>
                <a:latin typeface="Arial" pitchFamily="34" charset="0"/>
                <a:ea typeface="Arial" pitchFamily="34" charset="-122"/>
                <a:cs typeface="Arial" pitchFamily="34" charset="-120"/>
              </a:rPr>
              <a:t>分布式数字资产交易协议需要高效的跨链证明协议</a:t>
            </a:r>
            <a:endParaRPr lang="en-US" sz="2670" dirty="0"/>
          </a:p>
        </p:txBody>
      </p:sp>
      <p:sp>
        <p:nvSpPr>
          <p:cNvPr id="16" name="Text 12"/>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4</a:t>
            </a:r>
            <a:endParaRPr lang="en-US" sz="2400" dirty="0"/>
          </a:p>
        </p:txBody>
      </p:sp>
      <p:sp>
        <p:nvSpPr>
          <p:cNvPr id="17" name="Shape 13"/>
          <p:cNvSpPr/>
          <p:nvPr/>
        </p:nvSpPr>
        <p:spPr>
          <a:xfrm>
            <a:off x="654431" y="5267833"/>
            <a:ext cx="14037691" cy="762889"/>
          </a:xfrm>
          <a:prstGeom prst="rect">
            <a:avLst/>
          </a:prstGeom>
          <a:solidFill>
            <a:srgbClr val="F2F2F2"/>
          </a:solidFill>
          <a:ln/>
        </p:spPr>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4449" y="1266571"/>
            <a:ext cx="14303629" cy="737489"/>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智能体执行任务的自主性对智能体授权协议的授权粒度提出了更高的要求</a:t>
            </a:r>
            <a:endParaRPr lang="en-US" sz="2670" dirty="0"/>
          </a:p>
        </p:txBody>
      </p:sp>
      <p:sp>
        <p:nvSpPr>
          <p:cNvPr id="4" name="Shape 1"/>
          <p:cNvSpPr/>
          <p:nvPr/>
        </p:nvSpPr>
        <p:spPr>
          <a:xfrm>
            <a:off x="2219960" y="0"/>
            <a:ext cx="2942209" cy="962660"/>
          </a:xfrm>
          <a:prstGeom prst="rect">
            <a:avLst/>
          </a:prstGeom>
          <a:solidFill>
            <a:srgbClr val="F2F2F2"/>
          </a:solidFill>
          <a:ln w="12700">
            <a:solidFill>
              <a:srgbClr val="F2F2F2"/>
            </a:solidFill>
            <a:prstDash val="solid"/>
          </a:ln>
        </p:spPr>
      </p:sp>
      <p:sp>
        <p:nvSpPr>
          <p:cNvPr id="5" name="Shape 2"/>
          <p:cNvSpPr/>
          <p:nvPr/>
        </p:nvSpPr>
        <p:spPr>
          <a:xfrm>
            <a:off x="5162169" y="-889"/>
            <a:ext cx="2654300" cy="962660"/>
          </a:xfrm>
          <a:prstGeom prst="rect">
            <a:avLst/>
          </a:prstGeom>
          <a:solidFill>
            <a:srgbClr val="F2F2F2"/>
          </a:solidFill>
          <a:ln/>
        </p:spPr>
      </p:sp>
      <p:sp>
        <p:nvSpPr>
          <p:cNvPr id="6" name="Shape 3"/>
          <p:cNvSpPr/>
          <p:nvPr/>
        </p:nvSpPr>
        <p:spPr>
          <a:xfrm>
            <a:off x="7816469" y="-889"/>
            <a:ext cx="4154551" cy="962660"/>
          </a:xfrm>
          <a:prstGeom prst="rect">
            <a:avLst/>
          </a:prstGeom>
          <a:solidFill>
            <a:srgbClr val="F2F2F2"/>
          </a:solidFill>
          <a:ln/>
        </p:spPr>
      </p:sp>
      <p:sp>
        <p:nvSpPr>
          <p:cNvPr id="7" name="Shape 4"/>
          <p:cNvSpPr/>
          <p:nvPr/>
        </p:nvSpPr>
        <p:spPr>
          <a:xfrm>
            <a:off x="11971020" y="0"/>
            <a:ext cx="4284980" cy="961771"/>
          </a:xfrm>
          <a:prstGeom prst="rect">
            <a:avLst/>
          </a:prstGeom>
          <a:solidFill>
            <a:srgbClr val="F2F2F2"/>
          </a:solidFill>
          <a:ln/>
        </p:spPr>
      </p:sp>
      <p:sp>
        <p:nvSpPr>
          <p:cNvPr id="8" name="Shape 5"/>
          <p:cNvSpPr/>
          <p:nvPr/>
        </p:nvSpPr>
        <p:spPr>
          <a:xfrm>
            <a:off x="2219960" y="-889"/>
            <a:ext cx="2942209" cy="962660"/>
          </a:xfrm>
          <a:prstGeom prst="rect">
            <a:avLst/>
          </a:prstGeom>
          <a:solidFill>
            <a:srgbClr val="04579A"/>
          </a:solidFill>
          <a:ln w="12700">
            <a:solidFill>
              <a:srgbClr val="04579A"/>
            </a:solidFill>
            <a:prstDash val="solid"/>
          </a:ln>
        </p:spPr>
      </p:sp>
      <p:sp>
        <p:nvSpPr>
          <p:cNvPr id="9" name="Text 6"/>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选题背景及意义</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国内外研究现状</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主要研究内容及预期目标</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工作计划与进度安排</a:t>
            </a:r>
            <a:endParaRPr lang="en-US" sz="2400" dirty="0"/>
          </a:p>
        </p:txBody>
      </p:sp>
      <p:pic>
        <p:nvPicPr>
          <p:cNvPr id="10"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1" name="Shape 7"/>
          <p:cNvSpPr/>
          <p:nvPr/>
        </p:nvSpPr>
        <p:spPr>
          <a:xfrm rot="10800000">
            <a:off x="3496691" y="961771"/>
            <a:ext cx="389509" cy="304800"/>
          </a:xfrm>
          <a:prstGeom prst="triangle">
            <a:avLst>
              <a:gd name="adj" fmla="val 50000"/>
            </a:avLst>
          </a:prstGeom>
          <a:solidFill>
            <a:srgbClr val="04579A"/>
          </a:solidFill>
          <a:ln/>
        </p:spPr>
      </p:sp>
      <p:sp>
        <p:nvSpPr>
          <p:cNvPr id="12" name="Text 8"/>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5</a:t>
            </a:r>
            <a:endParaRPr lang="en-US" sz="24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654431" y="5296281"/>
            <a:ext cx="14037691" cy="762889"/>
          </a:xfrm>
          <a:prstGeom prst="rect">
            <a:avLst/>
          </a:prstGeom>
          <a:solidFill>
            <a:srgbClr val="F2F2F2"/>
          </a:solidFill>
          <a:ln/>
        </p:spPr>
      </p:sp>
      <p:sp>
        <p:nvSpPr>
          <p:cNvPr id="4" name="Shape 1"/>
          <p:cNvSpPr/>
          <p:nvPr/>
        </p:nvSpPr>
        <p:spPr>
          <a:xfrm>
            <a:off x="654431" y="3809111"/>
            <a:ext cx="14037691" cy="762889"/>
          </a:xfrm>
          <a:prstGeom prst="rect">
            <a:avLst/>
          </a:prstGeom>
          <a:solidFill>
            <a:srgbClr val="F2F2F2"/>
          </a:solidFill>
          <a:ln/>
        </p:spPr>
      </p:sp>
      <p:sp>
        <p:nvSpPr>
          <p:cNvPr id="5" name="Shape 2"/>
          <p:cNvSpPr/>
          <p:nvPr/>
        </p:nvSpPr>
        <p:spPr>
          <a:xfrm>
            <a:off x="1358900" y="4713351"/>
            <a:ext cx="486029" cy="343789"/>
          </a:xfrm>
          <a:prstGeom prst="chevron">
            <a:avLst>
              <a:gd name="adj" fmla="val 50000"/>
            </a:avLst>
          </a:prstGeom>
          <a:solidFill>
            <a:srgbClr val="04579A"/>
          </a:solidFill>
          <a:ln w="12700">
            <a:solidFill>
              <a:srgbClr val="304B73"/>
            </a:solidFill>
            <a:prstDash val="solid"/>
          </a:ln>
        </p:spPr>
      </p:sp>
      <p:sp>
        <p:nvSpPr>
          <p:cNvPr id="6" name="Text 3"/>
          <p:cNvSpPr/>
          <p:nvPr/>
        </p:nvSpPr>
        <p:spPr>
          <a:xfrm>
            <a:off x="643509" y="1196340"/>
            <a:ext cx="14772640" cy="531749"/>
          </a:xfrm>
          <a:prstGeom prst="rect">
            <a:avLst/>
          </a:prstGeom>
          <a:noFill/>
          <a:ln/>
        </p:spPr>
        <p:txBody>
          <a:bodyPr wrap="square" lIns="0" tIns="0" rIns="0" bIns="0" rtlCol="0" anchor="t"/>
          <a:lstStyle/>
          <a:p>
            <a:pPr algn="l">
              <a:lnSpc>
                <a:spcPct val="120000"/>
              </a:lnSpc>
            </a:pPr>
            <a:r>
              <a:rPr lang="en-US" sz="2670" dirty="0">
                <a:solidFill>
                  <a:srgbClr val="000000"/>
                </a:solidFill>
                <a:latin typeface="Arial" pitchFamily="34" charset="0"/>
                <a:ea typeface="Arial" pitchFamily="34" charset="-122"/>
                <a:cs typeface="Arial" pitchFamily="34" charset="-120"/>
              </a:rPr>
              <a:t>数字资产市场为区块链提供了新的</a:t>
            </a:r>
            <a:pPr algn="l">
              <a:lnSpc>
                <a:spcPct val="120000"/>
              </a:lnSpc>
            </a:pPr>
            <a:r>
              <a:rPr lang="en-US" sz="2670" b="1" dirty="0">
                <a:solidFill>
                  <a:srgbClr val="04579A"/>
                </a:solidFill>
                <a:latin typeface="Arial" pitchFamily="34" charset="0"/>
                <a:ea typeface="Arial" pitchFamily="34" charset="-122"/>
                <a:cs typeface="Arial" pitchFamily="34" charset="-120"/>
              </a:rPr>
              <a:t>应用方向</a:t>
            </a:r>
            <a:pPr algn="l">
              <a:lnSpc>
                <a:spcPct val="120000"/>
              </a:lnSpc>
            </a:pPr>
            <a:r>
              <a:rPr lang="en-US" sz="2670" dirty="0">
                <a:solidFill>
                  <a:srgbClr val="000000"/>
                </a:solidFill>
                <a:latin typeface="Arial" pitchFamily="34" charset="0"/>
                <a:ea typeface="Arial" pitchFamily="34" charset="-122"/>
                <a:cs typeface="Arial" pitchFamily="34" charset="-120"/>
              </a:rPr>
              <a:t>，但同时也带来了新的</a:t>
            </a:r>
            <a:pPr algn="l">
              <a:lnSpc>
                <a:spcPct val="120000"/>
              </a:lnSpc>
            </a:pPr>
            <a:r>
              <a:rPr lang="en-US" sz="2670" b="1" dirty="0">
                <a:solidFill>
                  <a:srgbClr val="04579A"/>
                </a:solidFill>
                <a:latin typeface="Arial" pitchFamily="34" charset="0"/>
                <a:ea typeface="Arial" pitchFamily="34" charset="-122"/>
                <a:cs typeface="Arial" pitchFamily="34" charset="-120"/>
              </a:rPr>
              <a:t>技术需求</a:t>
            </a:r>
            <a:pPr algn="l">
              <a:lnSpc>
                <a:spcPct val="120000"/>
              </a:lnSpc>
            </a:pPr>
            <a:r>
              <a:rPr lang="en-US" sz="2670" dirty="0">
                <a:solidFill>
                  <a:srgbClr val="000000"/>
                </a:solidFill>
                <a:latin typeface="Arial" pitchFamily="34" charset="0"/>
                <a:ea typeface="Arial" pitchFamily="34" charset="-122"/>
                <a:cs typeface="Arial" pitchFamily="34" charset="-120"/>
              </a:rPr>
              <a:t>：</a:t>
            </a:r>
            <a:endParaRPr lang="en-US" sz="2670" dirty="0"/>
          </a:p>
        </p:txBody>
      </p:sp>
      <p:sp>
        <p:nvSpPr>
          <p:cNvPr id="7" name="Shape 4"/>
          <p:cNvSpPr/>
          <p:nvPr/>
        </p:nvSpPr>
        <p:spPr>
          <a:xfrm>
            <a:off x="2219960" y="0"/>
            <a:ext cx="2942209" cy="962660"/>
          </a:xfrm>
          <a:prstGeom prst="rect">
            <a:avLst/>
          </a:prstGeom>
          <a:solidFill>
            <a:srgbClr val="F2F2F2"/>
          </a:solidFill>
          <a:ln w="12700">
            <a:solidFill>
              <a:srgbClr val="F2F2F2"/>
            </a:solidFill>
            <a:prstDash val="solid"/>
          </a:ln>
        </p:spPr>
      </p:sp>
      <p:sp>
        <p:nvSpPr>
          <p:cNvPr id="8" name="Shape 5"/>
          <p:cNvSpPr/>
          <p:nvPr/>
        </p:nvSpPr>
        <p:spPr>
          <a:xfrm>
            <a:off x="5162169" y="-889"/>
            <a:ext cx="2654300" cy="962660"/>
          </a:xfrm>
          <a:prstGeom prst="rect">
            <a:avLst/>
          </a:prstGeom>
          <a:solidFill>
            <a:srgbClr val="F2F2F2"/>
          </a:solidFill>
          <a:ln/>
        </p:spPr>
      </p:sp>
      <p:sp>
        <p:nvSpPr>
          <p:cNvPr id="9" name="Shape 6"/>
          <p:cNvSpPr/>
          <p:nvPr/>
        </p:nvSpPr>
        <p:spPr>
          <a:xfrm>
            <a:off x="7816469" y="-889"/>
            <a:ext cx="4154551" cy="962660"/>
          </a:xfrm>
          <a:prstGeom prst="rect">
            <a:avLst/>
          </a:prstGeom>
          <a:solidFill>
            <a:srgbClr val="F2F2F2"/>
          </a:solidFill>
          <a:ln/>
        </p:spPr>
      </p:sp>
      <p:sp>
        <p:nvSpPr>
          <p:cNvPr id="10" name="Shape 7"/>
          <p:cNvSpPr/>
          <p:nvPr/>
        </p:nvSpPr>
        <p:spPr>
          <a:xfrm>
            <a:off x="11971020" y="0"/>
            <a:ext cx="4284980" cy="961771"/>
          </a:xfrm>
          <a:prstGeom prst="rect">
            <a:avLst/>
          </a:prstGeom>
          <a:solidFill>
            <a:srgbClr val="F2F2F2"/>
          </a:solidFill>
          <a:ln/>
        </p:spPr>
      </p:sp>
      <p:sp>
        <p:nvSpPr>
          <p:cNvPr id="11" name="Shape 8"/>
          <p:cNvSpPr/>
          <p:nvPr/>
        </p:nvSpPr>
        <p:spPr>
          <a:xfrm>
            <a:off x="2219960" y="-889"/>
            <a:ext cx="2942209" cy="962660"/>
          </a:xfrm>
          <a:prstGeom prst="rect">
            <a:avLst/>
          </a:prstGeom>
          <a:solidFill>
            <a:srgbClr val="04579A"/>
          </a:solidFill>
          <a:ln w="12700">
            <a:solidFill>
              <a:srgbClr val="04579A"/>
            </a:solidFill>
            <a:prstDash val="solid"/>
          </a:ln>
        </p:spPr>
      </p:sp>
      <p:sp>
        <p:nvSpPr>
          <p:cNvPr id="12" name="Text 9"/>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选题背景及意义</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国内外研究现状</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主要研究内容及预期目标</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工作计划与进度安排</a:t>
            </a:r>
            <a:endParaRPr lang="en-US" sz="2400" dirty="0"/>
          </a:p>
        </p:txBody>
      </p:sp>
      <p:pic>
        <p:nvPicPr>
          <p:cNvPr id="13"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4" name="Shape 10"/>
          <p:cNvSpPr/>
          <p:nvPr/>
        </p:nvSpPr>
        <p:spPr>
          <a:xfrm rot="10800000">
            <a:off x="3496691" y="961771"/>
            <a:ext cx="389509" cy="304800"/>
          </a:xfrm>
          <a:prstGeom prst="triangle">
            <a:avLst>
              <a:gd name="adj" fmla="val 50000"/>
            </a:avLst>
          </a:prstGeom>
          <a:solidFill>
            <a:srgbClr val="04579A"/>
          </a:solidFill>
          <a:ln/>
        </p:spPr>
      </p:sp>
      <p:sp>
        <p:nvSpPr>
          <p:cNvPr id="15" name="Shape 11"/>
          <p:cNvSpPr/>
          <p:nvPr/>
        </p:nvSpPr>
        <p:spPr>
          <a:xfrm>
            <a:off x="643509" y="2236089"/>
            <a:ext cx="14037691" cy="762889"/>
          </a:xfrm>
          <a:prstGeom prst="rect">
            <a:avLst/>
          </a:prstGeom>
          <a:solidFill>
            <a:srgbClr val="F2F2F2"/>
          </a:solidFill>
          <a:ln/>
        </p:spPr>
      </p:sp>
      <p:sp>
        <p:nvSpPr>
          <p:cNvPr id="16" name="Text 12"/>
          <p:cNvSpPr/>
          <p:nvPr/>
        </p:nvSpPr>
        <p:spPr>
          <a:xfrm>
            <a:off x="742569" y="2218309"/>
            <a:ext cx="14771751" cy="5333111"/>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智能体执行任务的自主性对智能体授权协议的授权粒度提出了更高的要求</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智能体授权协议的授权粒度需要匹配具体任务级语义</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智能体执行任务的自主性要求更灵活的智能体授权</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对智能体的授权需要以</a:t>
            </a:r>
            <a:pPr algn="l">
              <a:lnSpc>
                <a:spcPct val="150000"/>
              </a:lnSpc>
            </a:pPr>
            <a:r>
              <a:rPr lang="en-US" sz="3200" b="1" dirty="0">
                <a:solidFill>
                  <a:srgbClr val="04579A"/>
                </a:solidFill>
                <a:latin typeface="Arial" pitchFamily="34" charset="0"/>
                <a:ea typeface="Arial" pitchFamily="34" charset="-122"/>
                <a:cs typeface="Arial" pitchFamily="34" charset="-120"/>
              </a:rPr>
              <a:t>任务上下文为条件</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F2F2F2"/>
                </a:solidFill>
                <a:latin typeface="Arial" pitchFamily="34" charset="0"/>
                <a:ea typeface="Arial" pitchFamily="34" charset="-122"/>
                <a:cs typeface="Arial" pitchFamily="34" charset="-120"/>
              </a:rPr>
              <a:t>异构区块链系统间的互联互通要求分布式数字资产交易协议具有互操作性</a:t>
            </a:r>
            <a:endParaRPr lang="en-US" sz="2670" dirty="0"/>
          </a:p>
          <a:p>
            <a:pPr algn="l">
              <a:lnSpc>
                <a:spcPct val="150000"/>
              </a:lnSpc>
            </a:pPr>
            <a:r>
              <a:rPr lang="en-US" sz="3200" b="1" dirty="0">
                <a:solidFill>
                  <a:srgbClr val="F2F2F2"/>
                </a:solidFill>
                <a:latin typeface="Arial" pitchFamily="34" charset="0"/>
                <a:ea typeface="Arial" pitchFamily="34" charset="-122"/>
                <a:cs typeface="Arial" pitchFamily="34" charset="-120"/>
              </a:rPr>
              <a:t>分布式数字资产交易协议需要高效的跨链证明协议</a:t>
            </a:r>
            <a:endParaRPr lang="en-US" sz="2670" dirty="0"/>
          </a:p>
          <a:p>
            <a:pPr algn="l">
              <a:lnSpc>
                <a:spcPct val="150000"/>
              </a:lnSpc>
            </a:pPr>
            <a:r>
              <a:rPr lang="en-US" sz="2670" dirty="0">
                <a:solidFill>
                  <a:srgbClr val="262626"/>
                </a:solidFill>
                <a:latin typeface="Arial" pitchFamily="34" charset="0"/>
                <a:ea typeface="Arial" pitchFamily="34" charset="-122"/>
                <a:cs typeface="Arial" pitchFamily="34" charset="-120"/>
              </a:rPr>
              <a:t> </a:t>
            </a:r>
            <a:endParaRPr lang="en-US" sz="2670" dirty="0"/>
          </a:p>
        </p:txBody>
      </p:sp>
      <p:sp>
        <p:nvSpPr>
          <p:cNvPr id="17" name="Shape 13"/>
          <p:cNvSpPr/>
          <p:nvPr/>
        </p:nvSpPr>
        <p:spPr>
          <a:xfrm>
            <a:off x="1358900" y="3120009"/>
            <a:ext cx="486029" cy="343789"/>
          </a:xfrm>
          <a:prstGeom prst="chevron">
            <a:avLst>
              <a:gd name="adj" fmla="val 50000"/>
            </a:avLst>
          </a:prstGeom>
          <a:solidFill>
            <a:srgbClr val="04579A"/>
          </a:solidFill>
          <a:ln w="12700">
            <a:solidFill>
              <a:srgbClr val="304B73"/>
            </a:solidFill>
            <a:prstDash val="solid"/>
          </a:ln>
        </p:spPr>
      </p:sp>
      <p:sp>
        <p:nvSpPr>
          <p:cNvPr id="18" name="Text 14"/>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7</a:t>
            </a:r>
            <a:endParaRPr lang="en-US" sz="24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643509" y="5298821"/>
            <a:ext cx="14037691" cy="762889"/>
          </a:xfrm>
          <a:prstGeom prst="rect">
            <a:avLst/>
          </a:prstGeom>
          <a:solidFill>
            <a:srgbClr val="F2F2F2"/>
          </a:solidFill>
          <a:ln/>
        </p:spPr>
      </p:sp>
      <p:sp>
        <p:nvSpPr>
          <p:cNvPr id="4" name="Text 1"/>
          <p:cNvSpPr/>
          <p:nvPr/>
        </p:nvSpPr>
        <p:spPr>
          <a:xfrm>
            <a:off x="643509" y="1196340"/>
            <a:ext cx="14772640" cy="531749"/>
          </a:xfrm>
          <a:prstGeom prst="rect">
            <a:avLst/>
          </a:prstGeom>
          <a:noFill/>
          <a:ln/>
        </p:spPr>
        <p:txBody>
          <a:bodyPr wrap="square" lIns="0" tIns="0" rIns="0" bIns="0" rtlCol="0" anchor="t"/>
          <a:lstStyle/>
          <a:p>
            <a:pPr algn="l">
              <a:lnSpc>
                <a:spcPct val="120000"/>
              </a:lnSpc>
            </a:pPr>
            <a:r>
              <a:rPr lang="en-US" sz="2670" dirty="0">
                <a:solidFill>
                  <a:srgbClr val="000000"/>
                </a:solidFill>
                <a:latin typeface="Arial" pitchFamily="34" charset="0"/>
                <a:ea typeface="Arial" pitchFamily="34" charset="-122"/>
                <a:cs typeface="Arial" pitchFamily="34" charset="-120"/>
              </a:rPr>
              <a:t>数字资产市场为区块链提供了新的</a:t>
            </a:r>
            <a:pPr algn="l">
              <a:lnSpc>
                <a:spcPct val="120000"/>
              </a:lnSpc>
            </a:pPr>
            <a:r>
              <a:rPr lang="en-US" sz="2670" b="1" dirty="0">
                <a:solidFill>
                  <a:srgbClr val="04579A"/>
                </a:solidFill>
                <a:latin typeface="Arial" pitchFamily="34" charset="0"/>
                <a:ea typeface="Arial" pitchFamily="34" charset="-122"/>
                <a:cs typeface="Arial" pitchFamily="34" charset="-120"/>
              </a:rPr>
              <a:t>应用方向</a:t>
            </a:r>
            <a:pPr algn="l">
              <a:lnSpc>
                <a:spcPct val="120000"/>
              </a:lnSpc>
            </a:pPr>
            <a:r>
              <a:rPr lang="en-US" sz="2670" dirty="0">
                <a:solidFill>
                  <a:srgbClr val="000000"/>
                </a:solidFill>
                <a:latin typeface="Arial" pitchFamily="34" charset="0"/>
                <a:ea typeface="Arial" pitchFamily="34" charset="-122"/>
                <a:cs typeface="Arial" pitchFamily="34" charset="-120"/>
              </a:rPr>
              <a:t>，但同时也带来了新的</a:t>
            </a:r>
            <a:pPr algn="l">
              <a:lnSpc>
                <a:spcPct val="120000"/>
              </a:lnSpc>
            </a:pPr>
            <a:r>
              <a:rPr lang="en-US" sz="2670" b="1" dirty="0">
                <a:solidFill>
                  <a:srgbClr val="04579A"/>
                </a:solidFill>
                <a:latin typeface="Arial" pitchFamily="34" charset="0"/>
                <a:ea typeface="Arial" pitchFamily="34" charset="-122"/>
                <a:cs typeface="Arial" pitchFamily="34" charset="-120"/>
              </a:rPr>
              <a:t>技术需求</a:t>
            </a:r>
            <a:pPr algn="l">
              <a:lnSpc>
                <a:spcPct val="120000"/>
              </a:lnSpc>
            </a:pPr>
            <a:r>
              <a:rPr lang="en-US" sz="2670" dirty="0">
                <a:solidFill>
                  <a:srgbClr val="000000"/>
                </a:solidFill>
                <a:latin typeface="Arial" pitchFamily="34" charset="0"/>
                <a:ea typeface="Arial" pitchFamily="34" charset="-122"/>
                <a:cs typeface="Arial" pitchFamily="34" charset="-120"/>
              </a:rPr>
              <a:t>：</a:t>
            </a:r>
            <a:endParaRPr lang="en-US" sz="2670" dirty="0"/>
          </a:p>
        </p:txBody>
      </p:sp>
      <p:sp>
        <p:nvSpPr>
          <p:cNvPr id="5" name="Shape 2"/>
          <p:cNvSpPr/>
          <p:nvPr/>
        </p:nvSpPr>
        <p:spPr>
          <a:xfrm>
            <a:off x="2219960" y="0"/>
            <a:ext cx="2942209" cy="962660"/>
          </a:xfrm>
          <a:prstGeom prst="rect">
            <a:avLst/>
          </a:prstGeom>
          <a:solidFill>
            <a:srgbClr val="F2F2F2"/>
          </a:solidFill>
          <a:ln w="12700">
            <a:solidFill>
              <a:srgbClr val="F2F2F2"/>
            </a:solidFill>
            <a:prstDash val="solid"/>
          </a:ln>
        </p:spPr>
      </p:sp>
      <p:sp>
        <p:nvSpPr>
          <p:cNvPr id="6" name="Shape 3"/>
          <p:cNvSpPr/>
          <p:nvPr/>
        </p:nvSpPr>
        <p:spPr>
          <a:xfrm>
            <a:off x="5162169" y="-889"/>
            <a:ext cx="2654300" cy="962660"/>
          </a:xfrm>
          <a:prstGeom prst="rect">
            <a:avLst/>
          </a:prstGeom>
          <a:solidFill>
            <a:srgbClr val="F2F2F2"/>
          </a:solidFill>
          <a:ln/>
        </p:spPr>
      </p:sp>
      <p:sp>
        <p:nvSpPr>
          <p:cNvPr id="7" name="Shape 4"/>
          <p:cNvSpPr/>
          <p:nvPr/>
        </p:nvSpPr>
        <p:spPr>
          <a:xfrm>
            <a:off x="7816469" y="-889"/>
            <a:ext cx="4154551" cy="962660"/>
          </a:xfrm>
          <a:prstGeom prst="rect">
            <a:avLst/>
          </a:prstGeom>
          <a:solidFill>
            <a:srgbClr val="F2F2F2"/>
          </a:solidFill>
          <a:ln/>
        </p:spPr>
      </p:sp>
      <p:sp>
        <p:nvSpPr>
          <p:cNvPr id="8" name="Shape 5"/>
          <p:cNvSpPr/>
          <p:nvPr/>
        </p:nvSpPr>
        <p:spPr>
          <a:xfrm>
            <a:off x="11971020" y="0"/>
            <a:ext cx="4284980" cy="961771"/>
          </a:xfrm>
          <a:prstGeom prst="rect">
            <a:avLst/>
          </a:prstGeom>
          <a:solidFill>
            <a:srgbClr val="F2F2F2"/>
          </a:solidFill>
          <a:ln/>
        </p:spPr>
      </p:sp>
      <p:sp>
        <p:nvSpPr>
          <p:cNvPr id="9" name="Shape 6"/>
          <p:cNvSpPr/>
          <p:nvPr/>
        </p:nvSpPr>
        <p:spPr>
          <a:xfrm>
            <a:off x="2219960" y="-889"/>
            <a:ext cx="2942209" cy="962660"/>
          </a:xfrm>
          <a:prstGeom prst="rect">
            <a:avLst/>
          </a:prstGeom>
          <a:solidFill>
            <a:srgbClr val="04579A"/>
          </a:solidFill>
          <a:ln w="12700">
            <a:solidFill>
              <a:srgbClr val="04579A"/>
            </a:solidFill>
            <a:prstDash val="solid"/>
          </a:ln>
        </p:spPr>
      </p:sp>
      <p:sp>
        <p:nvSpPr>
          <p:cNvPr id="10" name="Text 7"/>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选题背景及意义</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国内外研究现状</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主要研究内容及预期目标</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工作计划与进度安排</a:t>
            </a:r>
            <a:endParaRPr lang="en-US" sz="2400" dirty="0"/>
          </a:p>
        </p:txBody>
      </p:sp>
      <p:pic>
        <p:nvPicPr>
          <p:cNvPr id="11"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2" name="Shape 8"/>
          <p:cNvSpPr/>
          <p:nvPr/>
        </p:nvSpPr>
        <p:spPr>
          <a:xfrm rot="10800000">
            <a:off x="3496691" y="961771"/>
            <a:ext cx="389509" cy="304800"/>
          </a:xfrm>
          <a:prstGeom prst="triangle">
            <a:avLst>
              <a:gd name="adj" fmla="val 50000"/>
            </a:avLst>
          </a:prstGeom>
          <a:solidFill>
            <a:srgbClr val="04579A"/>
          </a:solidFill>
          <a:ln/>
        </p:spPr>
      </p:sp>
      <p:sp>
        <p:nvSpPr>
          <p:cNvPr id="13" name="Shape 9"/>
          <p:cNvSpPr/>
          <p:nvPr/>
        </p:nvSpPr>
        <p:spPr>
          <a:xfrm>
            <a:off x="654431" y="3809111"/>
            <a:ext cx="14037691" cy="762889"/>
          </a:xfrm>
          <a:prstGeom prst="rect">
            <a:avLst/>
          </a:prstGeom>
          <a:solidFill>
            <a:srgbClr val="F2F2F2"/>
          </a:solidFill>
          <a:ln/>
        </p:spPr>
      </p:sp>
      <p:sp>
        <p:nvSpPr>
          <p:cNvPr id="14" name="Shape 10"/>
          <p:cNvSpPr/>
          <p:nvPr/>
        </p:nvSpPr>
        <p:spPr>
          <a:xfrm>
            <a:off x="1358900" y="4713351"/>
            <a:ext cx="486029" cy="343789"/>
          </a:xfrm>
          <a:prstGeom prst="chevron">
            <a:avLst>
              <a:gd name="adj" fmla="val 50000"/>
            </a:avLst>
          </a:prstGeom>
          <a:solidFill>
            <a:srgbClr val="04579A"/>
          </a:solidFill>
          <a:ln w="12700">
            <a:solidFill>
              <a:srgbClr val="304B73"/>
            </a:solidFill>
            <a:prstDash val="solid"/>
          </a:ln>
        </p:spPr>
      </p:sp>
      <p:sp>
        <p:nvSpPr>
          <p:cNvPr id="15" name="Shape 11"/>
          <p:cNvSpPr/>
          <p:nvPr/>
        </p:nvSpPr>
        <p:spPr>
          <a:xfrm>
            <a:off x="643509" y="2236089"/>
            <a:ext cx="14037691" cy="762889"/>
          </a:xfrm>
          <a:prstGeom prst="rect">
            <a:avLst/>
          </a:prstGeom>
          <a:solidFill>
            <a:srgbClr val="F2F2F2"/>
          </a:solidFill>
          <a:ln/>
        </p:spPr>
      </p:sp>
      <p:sp>
        <p:nvSpPr>
          <p:cNvPr id="16" name="Text 12"/>
          <p:cNvSpPr/>
          <p:nvPr/>
        </p:nvSpPr>
        <p:spPr>
          <a:xfrm>
            <a:off x="742569" y="2218309"/>
            <a:ext cx="14771751" cy="5333111"/>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智能体执行任务的自主性对智能体授权协议的授权粒度提出了更高的要求</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智能体授权协议的授权粒度需要匹配具体任务级语义</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智能体执行任务的自主性要求更灵活的智能体授权</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对智能体的授权需要以任务上下文为条件</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异</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分</a:t>
            </a:r>
            <a:endParaRPr lang="en-US" sz="2670" dirty="0"/>
          </a:p>
          <a:p>
            <a:pPr algn="l">
              <a:lnSpc>
                <a:spcPct val="150000"/>
              </a:lnSpc>
            </a:pPr>
            <a:r>
              <a:rPr lang="en-US" sz="2670" dirty="0">
                <a:solidFill>
                  <a:srgbClr val="262626"/>
                </a:solidFill>
                <a:latin typeface="Arial" pitchFamily="34" charset="0"/>
                <a:ea typeface="Arial" pitchFamily="34" charset="-122"/>
                <a:cs typeface="Arial" pitchFamily="34" charset="-120"/>
              </a:rPr>
              <a:t> </a:t>
            </a:r>
            <a:endParaRPr lang="en-US" sz="2670" dirty="0"/>
          </a:p>
        </p:txBody>
      </p:sp>
      <p:sp>
        <p:nvSpPr>
          <p:cNvPr id="17" name="Shape 13"/>
          <p:cNvSpPr/>
          <p:nvPr/>
        </p:nvSpPr>
        <p:spPr>
          <a:xfrm>
            <a:off x="1358900" y="3120009"/>
            <a:ext cx="486029" cy="343789"/>
          </a:xfrm>
          <a:prstGeom prst="chevron">
            <a:avLst>
              <a:gd name="adj" fmla="val 50000"/>
            </a:avLst>
          </a:prstGeom>
          <a:solidFill>
            <a:srgbClr val="04579A"/>
          </a:solidFill>
          <a:ln w="12700">
            <a:solidFill>
              <a:srgbClr val="304B73"/>
            </a:solidFill>
            <a:prstDash val="solid"/>
          </a:ln>
        </p:spPr>
      </p:sp>
      <p:sp>
        <p:nvSpPr>
          <p:cNvPr id="18" name="Text 14"/>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11</a:t>
            </a:r>
            <a:endParaRPr lang="en-US" sz="2400" dirty="0"/>
          </a:p>
        </p:txBody>
      </p:sp>
      <p:sp>
        <p:nvSpPr>
          <p:cNvPr id="19" name="Shape 15"/>
          <p:cNvSpPr/>
          <p:nvPr/>
        </p:nvSpPr>
        <p:spPr>
          <a:xfrm>
            <a:off x="1358900" y="6208141"/>
            <a:ext cx="486029" cy="343789"/>
          </a:xfrm>
          <a:prstGeom prst="chevron">
            <a:avLst>
              <a:gd name="adj" fmla="val 50000"/>
            </a:avLst>
          </a:prstGeom>
          <a:solidFill>
            <a:srgbClr val="04579A"/>
          </a:solidFill>
          <a:ln w="12700">
            <a:solidFill>
              <a:srgbClr val="304B73"/>
            </a:solidFill>
            <a:prstDash val="solid"/>
          </a:ln>
        </p:spPr>
      </p:sp>
    </p:spTree>
  </p:cSld>
  <p:clrMapOvr>
    <a:masterClrMapping/>
  </p:clrMapOvr>
  <p:transition>
    <p:fade/>
    <p:spd val="med"/>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275971" y="2037969"/>
            <a:ext cx="14771751" cy="3753231"/>
          </a:xfrm>
          <a:prstGeom prst="rect">
            <a:avLst/>
          </a:prstGeom>
          <a:noFill/>
          <a:ln/>
        </p:spPr>
        <p:txBody>
          <a:bodyPr wrap="square" lIns="0" tIns="0" rIns="0" bIns="0" rtlCol="0" anchor="t"/>
          <a:lstStyle/>
          <a:p>
            <a:pPr algn="l" marL="338138" indent="-338138">
              <a:lnSpc>
                <a:spcPct val="150000"/>
              </a:lnSpc>
              <a:spcBef>
                <a:spcPts val="10"/>
              </a:spcBef>
              <a:buSzPct val="100000"/>
              <a:buFont typeface="+mj-lt"/>
              <a:buAutoNum type="arabicPeriod" startAt="1"/>
            </a:pPr>
            <a:r>
              <a:rPr lang="en-US" sz="2130" dirty="0">
                <a:solidFill>
                  <a:srgbClr val="FFFFFF"/>
                </a:solidFill>
                <a:latin typeface="Arial" pitchFamily="34" charset="0"/>
                <a:ea typeface="Arial" pitchFamily="34" charset="-122"/>
                <a:cs typeface="Arial" pitchFamily="34" charset="-120"/>
              </a:rPr>
              <a:t>广域网环境中延迟、丢包以及窃听等攻击对共识协议的健壮性提出了更高的要求</a:t>
            </a:r>
            <a:endParaRPr lang="en-US" sz="2130" dirty="0"/>
          </a:p>
          <a:p>
            <a:pPr algn="l">
              <a:lnSpc>
                <a:spcPct val="150000"/>
              </a:lnSpc>
            </a:pPr>
            <a:r>
              <a:rPr lang="en-US" sz="2130" b="1" dirty="0">
                <a:solidFill>
                  <a:srgbClr val="04579A"/>
                </a:solidFill>
                <a:latin typeface="Arial" pitchFamily="34" charset="0"/>
                <a:ea typeface="Arial" pitchFamily="34" charset="-122"/>
                <a:cs typeface="Arial" pitchFamily="34" charset="-120"/>
              </a:rPr>
              <a:t>智能体授权协议的授权粒度需要匹配</a:t>
            </a:r>
            <a:endParaRPr lang="en-US" sz="2130" dirty="0"/>
          </a:p>
          <a:p>
            <a:pPr algn="l">
              <a:lnSpc>
                <a:spcPct val="150000"/>
              </a:lnSpc>
              <a:spcBef>
                <a:spcPts val="1600"/>
              </a:spcBef>
            </a:pPr>
            <a:r>
              <a:rPr lang="en-US" sz="2130" b="1" dirty="0">
                <a:solidFill>
                  <a:srgbClr val="04579A"/>
                </a:solidFill>
                <a:latin typeface="Arial" pitchFamily="34" charset="0"/>
                <a:ea typeface="Arial" pitchFamily="34" charset="-122"/>
                <a:cs typeface="Arial" pitchFamily="34" charset="-120"/>
              </a:rPr>
              <a:t>具体任务级语义</a:t>
            </a:r>
            <a:pPr algn="l">
              <a:lnSpc>
                <a:spcPct val="150000"/>
              </a:lnSpc>
              <a:spcBef>
                <a:spcPts val="1600"/>
              </a:spcBef>
            </a:pPr>
            <a:r>
              <a:rPr lang="en-US" sz="2130" dirty="0">
                <a:solidFill>
                  <a:srgbClr val="FFFFFF"/>
                </a:solidFill>
                <a:latin typeface="Arial" pitchFamily="34" charset="0"/>
                <a:ea typeface="Arial" pitchFamily="34" charset="-122"/>
                <a:cs typeface="Arial" pitchFamily="34" charset="-120"/>
              </a:rPr>
              <a:t>有</a:t>
            </a:r>
            <a:endParaRPr lang="en-US" sz="2130" dirty="0"/>
          </a:p>
          <a:p>
            <a:pPr algn="l">
              <a:lnSpc>
                <a:spcPct val="150000"/>
              </a:lnSpc>
              <a:spcBef>
                <a:spcPts val="1600"/>
              </a:spcBef>
            </a:pPr>
            <a:r>
              <a:rPr lang="en-US" sz="2130" dirty="0">
                <a:solidFill>
                  <a:srgbClr val="FFFFFF"/>
                </a:solidFill>
                <a:latin typeface="Arial" pitchFamily="34" charset="0"/>
                <a:ea typeface="Arial" pitchFamily="34" charset="-122"/>
                <a:cs typeface="Arial" pitchFamily="34" charset="-120"/>
              </a:rPr>
              <a:t>长期部署的需要</a:t>
            </a:r>
            <a:endParaRPr lang="en-US" sz="2130" dirty="0"/>
          </a:p>
          <a:p>
            <a:pPr algn="l">
              <a:lnSpc>
                <a:spcPct val="150000"/>
              </a:lnSpc>
              <a:spcBef>
                <a:spcPts val="1600"/>
              </a:spcBef>
            </a:pPr>
            <a:r>
              <a:rPr lang="en-US" sz="2130" b="1" dirty="0">
                <a:solidFill>
                  <a:srgbClr val="04579A"/>
                </a:solidFill>
                <a:latin typeface="Arial" pitchFamily="34" charset="0"/>
                <a:ea typeface="Arial" pitchFamily="34" charset="-122"/>
                <a:cs typeface="Arial" pitchFamily="34" charset="-120"/>
              </a:rPr>
              <a:t>对智能体的授权需要以任务上下文为条件</a:t>
            </a:r>
            <a:endParaRPr lang="en-US" sz="2130" dirty="0"/>
          </a:p>
          <a:p>
            <a:pPr algn="l">
              <a:lnSpc>
                <a:spcPct val="150000"/>
              </a:lnSpc>
              <a:spcBef>
                <a:spcPts val="1600"/>
              </a:spcBef>
            </a:pPr>
            <a:r>
              <a:rPr lang="en-US" sz="130" dirty="0">
                <a:solidFill>
                  <a:srgbClr val="FFFFFF"/>
                </a:solidFill>
                <a:latin typeface="Arial" pitchFamily="34" charset="0"/>
                <a:ea typeface="Arial" pitchFamily="34" charset="-122"/>
                <a:cs typeface="Arial" pitchFamily="34" charset="-120"/>
              </a:rPr>
              <a:t>三方设置的门限密码系统减弱了区块链</a:t>
            </a:r>
            <a:pPr algn="l">
              <a:lnSpc>
                <a:spcPct val="150000"/>
              </a:lnSpc>
              <a:spcBef>
                <a:spcPts val="1600"/>
              </a:spcBef>
            </a:pPr>
            <a:r>
              <a:rPr lang="en-US" sz="800" dirty="0">
                <a:solidFill>
                  <a:srgbClr val="FFFFFF"/>
                </a:solidFill>
                <a:latin typeface="Arial" pitchFamily="34" charset="0"/>
                <a:ea typeface="Arial" pitchFamily="34" charset="-122"/>
                <a:cs typeface="Arial" pitchFamily="34" charset="-120"/>
              </a:rPr>
              <a:t>系统去中心化的特性</a:t>
            </a:r>
            <a:endParaRPr lang="en-US" sz="2130" dirty="0"/>
          </a:p>
          <a:p>
            <a:pPr algn="l">
              <a:lnSpc>
                <a:spcPct val="150000"/>
              </a:lnSpc>
              <a:spcBef>
                <a:spcPts val="1600"/>
              </a:spcBef>
            </a:pPr>
            <a:r>
              <a:rPr lang="en-US" sz="2130" b="1" dirty="0">
                <a:solidFill>
                  <a:srgbClr val="04579A"/>
                </a:solidFill>
                <a:latin typeface="Arial" pitchFamily="34" charset="0"/>
                <a:ea typeface="Arial" pitchFamily="34" charset="-122"/>
                <a:cs typeface="Arial" pitchFamily="34" charset="-120"/>
              </a:rPr>
              <a:t>分</a:t>
            </a:r>
            <a:endParaRPr lang="en-US" sz="2130" dirty="0"/>
          </a:p>
        </p:txBody>
      </p:sp>
      <p:sp>
        <p:nvSpPr>
          <p:cNvPr id="4" name="Shape 1"/>
          <p:cNvSpPr/>
          <p:nvPr/>
        </p:nvSpPr>
        <p:spPr>
          <a:xfrm>
            <a:off x="5162169" y="-889"/>
            <a:ext cx="2654300" cy="962660"/>
          </a:xfrm>
          <a:prstGeom prst="rect">
            <a:avLst/>
          </a:prstGeom>
          <a:solidFill>
            <a:srgbClr val="F2F2F2"/>
          </a:solidFill>
          <a:ln w="12700">
            <a:solidFill>
              <a:srgbClr val="F2F2F2"/>
            </a:solidFill>
            <a:prstDash val="solid"/>
          </a:ln>
        </p:spPr>
      </p:sp>
      <p:sp>
        <p:nvSpPr>
          <p:cNvPr id="5" name="Shape 2"/>
          <p:cNvSpPr/>
          <p:nvPr/>
        </p:nvSpPr>
        <p:spPr>
          <a:xfrm>
            <a:off x="5162169" y="-889"/>
            <a:ext cx="2654300" cy="962660"/>
          </a:xfrm>
          <a:prstGeom prst="rect">
            <a:avLst/>
          </a:prstGeom>
          <a:solidFill>
            <a:srgbClr val="04579A"/>
          </a:solidFill>
          <a:ln w="12700">
            <a:solidFill>
              <a:srgbClr val="04579A"/>
            </a:solidFill>
            <a:prstDash val="solid"/>
          </a:ln>
        </p:spPr>
      </p:sp>
      <p:sp>
        <p:nvSpPr>
          <p:cNvPr id="6" name="Shape 3"/>
          <p:cNvSpPr/>
          <p:nvPr/>
        </p:nvSpPr>
        <p:spPr>
          <a:xfrm>
            <a:off x="7816469" y="-889"/>
            <a:ext cx="4154551" cy="962660"/>
          </a:xfrm>
          <a:prstGeom prst="rect">
            <a:avLst/>
          </a:prstGeom>
          <a:solidFill>
            <a:srgbClr val="F2F2F2"/>
          </a:solidFill>
          <a:ln/>
        </p:spPr>
      </p:sp>
      <p:sp>
        <p:nvSpPr>
          <p:cNvPr id="7" name="Shape 4"/>
          <p:cNvSpPr/>
          <p:nvPr/>
        </p:nvSpPr>
        <p:spPr>
          <a:xfrm>
            <a:off x="11971020" y="0"/>
            <a:ext cx="4284980" cy="961771"/>
          </a:xfrm>
          <a:prstGeom prst="rect">
            <a:avLst/>
          </a:prstGeom>
          <a:solidFill>
            <a:srgbClr val="F2F2F2"/>
          </a:solidFill>
          <a:ln/>
        </p:spPr>
      </p:sp>
      <p:sp>
        <p:nvSpPr>
          <p:cNvPr id="8" name="Shape 5"/>
          <p:cNvSpPr/>
          <p:nvPr/>
        </p:nvSpPr>
        <p:spPr>
          <a:xfrm>
            <a:off x="2219960" y="-889"/>
            <a:ext cx="2942209" cy="962660"/>
          </a:xfrm>
          <a:prstGeom prst="rect">
            <a:avLst/>
          </a:prstGeom>
          <a:solidFill>
            <a:srgbClr val="F2F2F2"/>
          </a:solidFill>
          <a:ln w="12700">
            <a:solidFill>
              <a:srgbClr val="F2F2F2"/>
            </a:solidFill>
            <a:prstDash val="solid"/>
          </a:ln>
        </p:spPr>
      </p:sp>
      <p:sp>
        <p:nvSpPr>
          <p:cNvPr id="9" name="Text 6"/>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选题背景及意义       </a:t>
            </a:r>
            <a:pPr algn="l">
              <a:lnSpc>
                <a:spcPct val="120000"/>
              </a:lnSpc>
            </a:pPr>
            <a:r>
              <a:rPr lang="en-US" sz="2400" dirty="0">
                <a:solidFill>
                  <a:srgbClr val="FFFFFF"/>
                </a:solidFill>
                <a:latin typeface="Arial" pitchFamily="34" charset="0"/>
                <a:ea typeface="Arial" pitchFamily="34" charset="-122"/>
                <a:cs typeface="Arial" pitchFamily="34" charset="-120"/>
              </a:rPr>
              <a:t>国内外研究现状</a:t>
            </a:r>
            <a:pPr algn="l">
              <a:lnSpc>
                <a:spcPct val="120000"/>
              </a:lnSpc>
            </a:pPr>
            <a:r>
              <a:rPr lang="en-US" sz="2400" dirty="0">
                <a:solidFill>
                  <a:srgbClr val="000000"/>
                </a:solidFill>
                <a:latin typeface="Arial" pitchFamily="34" charset="0"/>
                <a:ea typeface="Arial" pitchFamily="34" charset="-122"/>
                <a:cs typeface="Arial" pitchFamily="34" charset="-120"/>
              </a:rPr>
              <a:t>       主要研究内容及预期目标             工作计划与进度安排</a:t>
            </a:r>
            <a:endParaRPr lang="en-US" sz="2400" dirty="0"/>
          </a:p>
        </p:txBody>
      </p:sp>
      <p:pic>
        <p:nvPicPr>
          <p:cNvPr id="10"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1" name="Shape 7"/>
          <p:cNvSpPr/>
          <p:nvPr/>
        </p:nvSpPr>
        <p:spPr>
          <a:xfrm rot="10800000">
            <a:off x="6121400" y="961771"/>
            <a:ext cx="389509" cy="304800"/>
          </a:xfrm>
          <a:prstGeom prst="triangle">
            <a:avLst>
              <a:gd name="adj" fmla="val 50000"/>
            </a:avLst>
          </a:prstGeom>
          <a:solidFill>
            <a:srgbClr val="04579A"/>
          </a:solidFill>
          <a:ln/>
        </p:spPr>
      </p:sp>
      <p:sp>
        <p:nvSpPr>
          <p:cNvPr id="12" name="Shape 8"/>
          <p:cNvSpPr/>
          <p:nvPr/>
        </p:nvSpPr>
        <p:spPr>
          <a:xfrm>
            <a:off x="988949" y="2846451"/>
            <a:ext cx="385191" cy="272669"/>
          </a:xfrm>
          <a:prstGeom prst="chevron">
            <a:avLst>
              <a:gd name="adj" fmla="val 50000"/>
            </a:avLst>
          </a:prstGeom>
          <a:solidFill>
            <a:srgbClr val="04579A"/>
          </a:solidFill>
          <a:ln w="12700">
            <a:solidFill>
              <a:srgbClr val="304B73"/>
            </a:solidFill>
            <a:prstDash val="solid"/>
          </a:ln>
        </p:spPr>
      </p:sp>
      <p:sp>
        <p:nvSpPr>
          <p:cNvPr id="13" name="Shape 9"/>
          <p:cNvSpPr/>
          <p:nvPr/>
        </p:nvSpPr>
        <p:spPr>
          <a:xfrm>
            <a:off x="988441" y="4487037"/>
            <a:ext cx="385191" cy="272669"/>
          </a:xfrm>
          <a:prstGeom prst="chevron">
            <a:avLst>
              <a:gd name="adj" fmla="val 50000"/>
            </a:avLst>
          </a:prstGeom>
          <a:solidFill>
            <a:srgbClr val="04579A"/>
          </a:solidFill>
          <a:ln w="12700">
            <a:solidFill>
              <a:srgbClr val="304B73"/>
            </a:solidFill>
            <a:prstDash val="solid"/>
          </a:ln>
        </p:spPr>
      </p:sp>
      <p:sp>
        <p:nvSpPr>
          <p:cNvPr id="14" name="Shape 10"/>
          <p:cNvSpPr/>
          <p:nvPr/>
        </p:nvSpPr>
        <p:spPr>
          <a:xfrm>
            <a:off x="988441" y="6038723"/>
            <a:ext cx="385191" cy="272669"/>
          </a:xfrm>
          <a:prstGeom prst="chevron">
            <a:avLst>
              <a:gd name="adj" fmla="val 50000"/>
            </a:avLst>
          </a:prstGeom>
          <a:solidFill>
            <a:srgbClr val="04579A"/>
          </a:solidFill>
          <a:ln w="12700">
            <a:solidFill>
              <a:srgbClr val="304B73"/>
            </a:solidFill>
            <a:prstDash val="solid"/>
          </a:ln>
        </p:spPr>
      </p:sp>
      <p:sp>
        <p:nvSpPr>
          <p:cNvPr id="15" name="Text 11"/>
          <p:cNvSpPr/>
          <p:nvPr/>
        </p:nvSpPr>
        <p:spPr>
          <a:xfrm>
            <a:off x="9259189" y="2427732"/>
            <a:ext cx="5571871" cy="695960"/>
          </a:xfrm>
          <a:prstGeom prst="rect">
            <a:avLst/>
          </a:prstGeom>
          <a:noFill/>
          <a:ln/>
        </p:spPr>
        <p:txBody>
          <a:bodyPr wrap="square" lIns="0" tIns="0" rIns="0" bIns="0" rtlCol="0" anchor="t"/>
          <a:lstStyle/>
          <a:p>
            <a:pPr algn="l">
              <a:lnSpc>
                <a:spcPct val="120000"/>
              </a:lnSpc>
            </a:pPr>
            <a:r>
              <a:rPr lang="en-US" sz="3730" b="1" dirty="0">
                <a:solidFill>
                  <a:srgbClr val="262626"/>
                </a:solidFill>
                <a:latin typeface="Arial" pitchFamily="34" charset="0"/>
                <a:ea typeface="Arial" pitchFamily="34" charset="-122"/>
                <a:cs typeface="Arial" pitchFamily="34" charset="-120"/>
              </a:rPr>
              <a:t>1. </a:t>
            </a:r>
            <a:pPr algn="l">
              <a:lnSpc>
                <a:spcPct val="120000"/>
              </a:lnSpc>
            </a:pPr>
            <a:r>
              <a:rPr lang="en-US" sz="2670" b="1" dirty="0">
                <a:solidFill>
                  <a:srgbClr val="262626"/>
                </a:solidFill>
                <a:latin typeface="MiSans" pitchFamily="34" charset="0"/>
                <a:ea typeface="MiSans" pitchFamily="34" charset="-122"/>
                <a:cs typeface="MiSans" pitchFamily="34" charset="-120"/>
              </a:rPr>
              <a:t>智能体过度</a:t>
            </a:r>
            <a:pPr algn="l">
              <a:lnSpc>
                <a:spcPct val="120000"/>
              </a:lnSpc>
            </a:pPr>
            <a:r>
              <a:rPr lang="en-US" sz="2670" b="1" dirty="0">
                <a:solidFill>
                  <a:srgbClr val="262626"/>
                </a:solidFill>
                <a:latin typeface="MiSans" pitchFamily="34" charset="0"/>
                <a:ea typeface="MiSans" pitchFamily="34" charset="-122"/>
                <a:cs typeface="MiSans" pitchFamily="34" charset="-120"/>
              </a:rPr>
              <a:t>授权</a:t>
            </a:r>
            <a:endParaRPr lang="en-US" sz="3730" dirty="0"/>
          </a:p>
        </p:txBody>
      </p:sp>
      <p:sp>
        <p:nvSpPr>
          <p:cNvPr id="16" name="Text 12"/>
          <p:cNvSpPr/>
          <p:nvPr/>
        </p:nvSpPr>
        <p:spPr>
          <a:xfrm>
            <a:off x="9325991" y="4187698"/>
            <a:ext cx="5571871" cy="695960"/>
          </a:xfrm>
          <a:prstGeom prst="rect">
            <a:avLst/>
          </a:prstGeom>
          <a:noFill/>
          <a:ln/>
        </p:spPr>
        <p:txBody>
          <a:bodyPr wrap="square" lIns="0" tIns="0" rIns="0" bIns="0" rtlCol="0" anchor="t"/>
          <a:lstStyle/>
          <a:p>
            <a:pPr algn="l">
              <a:lnSpc>
                <a:spcPct val="120000"/>
              </a:lnSpc>
            </a:pPr>
            <a:r>
              <a:rPr lang="en-US" sz="3730" b="1" dirty="0">
                <a:solidFill>
                  <a:srgbClr val="262626"/>
                </a:solidFill>
                <a:latin typeface="Arial" pitchFamily="34" charset="0"/>
                <a:ea typeface="Arial" pitchFamily="34" charset="-122"/>
                <a:cs typeface="Arial" pitchFamily="34" charset="-120"/>
              </a:rPr>
              <a:t>2. </a:t>
            </a:r>
            <a:pPr algn="l">
              <a:lnSpc>
                <a:spcPct val="120000"/>
              </a:lnSpc>
            </a:pPr>
            <a:r>
              <a:rPr lang="en-US" sz="2670" b="1" dirty="0">
                <a:solidFill>
                  <a:srgbClr val="262626"/>
                </a:solidFill>
                <a:latin typeface="MiSans" pitchFamily="34" charset="0"/>
                <a:ea typeface="MiSans" pitchFamily="34" charset="-122"/>
                <a:cs typeface="MiSans" pitchFamily="34" charset="-120"/>
              </a:rPr>
              <a:t>链</a:t>
            </a:r>
            <a:endParaRPr lang="en-US" sz="3730" dirty="0"/>
          </a:p>
        </p:txBody>
      </p:sp>
      <p:sp>
        <p:nvSpPr>
          <p:cNvPr id="17" name="Text 13"/>
          <p:cNvSpPr/>
          <p:nvPr/>
        </p:nvSpPr>
        <p:spPr>
          <a:xfrm>
            <a:off x="9325991" y="5769737"/>
            <a:ext cx="5941441" cy="695960"/>
          </a:xfrm>
          <a:prstGeom prst="rect">
            <a:avLst/>
          </a:prstGeom>
          <a:noFill/>
          <a:ln/>
        </p:spPr>
        <p:txBody>
          <a:bodyPr wrap="square" lIns="0" tIns="0" rIns="0" bIns="0" rtlCol="0" anchor="t"/>
          <a:lstStyle/>
          <a:p>
            <a:pPr algn="l">
              <a:lnSpc>
                <a:spcPct val="120000"/>
              </a:lnSpc>
            </a:pPr>
            <a:r>
              <a:rPr lang="en-US" sz="3730" b="1" dirty="0">
                <a:solidFill>
                  <a:srgbClr val="262626"/>
                </a:solidFill>
                <a:latin typeface="Arial" pitchFamily="34" charset="0"/>
                <a:ea typeface="Arial" pitchFamily="34" charset="-122"/>
                <a:cs typeface="Arial" pitchFamily="34" charset="-120"/>
              </a:rPr>
              <a:t>3. </a:t>
            </a:r>
            <a:pPr algn="l">
              <a:lnSpc>
                <a:spcPct val="120000"/>
              </a:lnSpc>
            </a:pPr>
            <a:r>
              <a:rPr lang="en-US" sz="2670" b="1" dirty="0">
                <a:solidFill>
                  <a:srgbClr val="262626"/>
                </a:solidFill>
                <a:latin typeface="Arial" pitchFamily="34" charset="0"/>
                <a:ea typeface="Arial" pitchFamily="34" charset="-122"/>
                <a:cs typeface="Arial" pitchFamily="34" charset="-120"/>
              </a:rPr>
              <a:t>跨</a:t>
            </a:r>
            <a:endParaRPr lang="en-US" sz="3730" dirty="0"/>
          </a:p>
        </p:txBody>
      </p:sp>
      <p:sp>
        <p:nvSpPr>
          <p:cNvPr id="18" name="Shape 14"/>
          <p:cNvSpPr/>
          <p:nvPr/>
        </p:nvSpPr>
        <p:spPr>
          <a:xfrm>
            <a:off x="8332089" y="2675001"/>
            <a:ext cx="412369" cy="615569"/>
          </a:xfrm>
          <a:prstGeom prst="stripedRightArrow">
            <a:avLst>
              <a:gd name="adj1" fmla="val 50000"/>
              <a:gd name="adj2" fmla="val 50000"/>
            </a:avLst>
          </a:prstGeom>
          <a:solidFill>
            <a:srgbClr val="7F7F7F"/>
          </a:solidFill>
          <a:ln/>
        </p:spPr>
      </p:sp>
      <p:sp>
        <p:nvSpPr>
          <p:cNvPr id="19" name="Shape 15"/>
          <p:cNvSpPr/>
          <p:nvPr/>
        </p:nvSpPr>
        <p:spPr>
          <a:xfrm>
            <a:off x="8332089" y="4270629"/>
            <a:ext cx="412369" cy="615569"/>
          </a:xfrm>
          <a:prstGeom prst="stripedRightArrow">
            <a:avLst>
              <a:gd name="adj1" fmla="val 50000"/>
              <a:gd name="adj2" fmla="val 50000"/>
            </a:avLst>
          </a:prstGeom>
          <a:solidFill>
            <a:srgbClr val="7F7F7F"/>
          </a:solidFill>
          <a:ln/>
        </p:spPr>
      </p:sp>
      <p:sp>
        <p:nvSpPr>
          <p:cNvPr id="20" name="Shape 16"/>
          <p:cNvSpPr/>
          <p:nvPr/>
        </p:nvSpPr>
        <p:spPr>
          <a:xfrm>
            <a:off x="8367522" y="5867273"/>
            <a:ext cx="412369" cy="615569"/>
          </a:xfrm>
          <a:prstGeom prst="stripedRightArrow">
            <a:avLst>
              <a:gd name="adj1" fmla="val 50000"/>
              <a:gd name="adj2" fmla="val 50000"/>
            </a:avLst>
          </a:prstGeom>
          <a:solidFill>
            <a:srgbClr val="7F7F7F"/>
          </a:solidFill>
          <a:ln/>
        </p:spPr>
      </p:sp>
      <p:sp>
        <p:nvSpPr>
          <p:cNvPr id="21" name="Text 17"/>
          <p:cNvSpPr/>
          <p:nvPr/>
        </p:nvSpPr>
        <p:spPr>
          <a:xfrm>
            <a:off x="1010920" y="7786751"/>
            <a:ext cx="14037691" cy="531749"/>
          </a:xfrm>
          <a:prstGeom prst="rect">
            <a:avLst/>
          </a:prstGeom>
          <a:noFill/>
          <a:ln/>
        </p:spPr>
        <p:txBody>
          <a:bodyPr wrap="square" lIns="0" tIns="0" rIns="0" bIns="0" rtlCol="0" anchor="t"/>
          <a:lstStyle/>
          <a:p>
            <a:pPr algn="ctr">
              <a:lnSpc>
                <a:spcPct val="120000"/>
              </a:lnSpc>
            </a:pPr>
            <a:r>
              <a:rPr lang="en-US" sz="2670" b="1" dirty="0">
                <a:solidFill>
                  <a:srgbClr val="000000"/>
                </a:solidFill>
                <a:latin typeface="Arial" pitchFamily="34" charset="0"/>
                <a:ea typeface="Arial" pitchFamily="34" charset="-122"/>
                <a:cs typeface="Arial" pitchFamily="34" charset="-120"/>
              </a:rPr>
              <a:t>要应对新场景下特有的技术挑战，构建双重约束的智能体授权</a:t>
            </a:r>
            <a:pPr algn="ctr">
              <a:lnSpc>
                <a:spcPct val="120000"/>
              </a:lnSpc>
            </a:pPr>
            <a:r>
              <a:rPr lang="en-US" sz="2670" b="1" dirty="0">
                <a:solidFill>
                  <a:srgbClr val="000000"/>
                </a:solidFill>
                <a:latin typeface="Arial" pitchFamily="34" charset="0"/>
                <a:ea typeface="Arial" pitchFamily="34" charset="-122"/>
                <a:cs typeface="Arial" pitchFamily="34" charset="-120"/>
              </a:rPr>
              <a:t>协议</a:t>
            </a:r>
            <a:endParaRPr lang="en-US" sz="2670" dirty="0"/>
          </a:p>
        </p:txBody>
      </p:sp>
      <p:sp>
        <p:nvSpPr>
          <p:cNvPr id="22" name="Text 18"/>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14</a:t>
            </a:r>
            <a:endParaRPr lang="en-US" sz="2400" dirty="0"/>
          </a:p>
        </p:txBody>
      </p:sp>
    </p:spTree>
  </p:cSld>
  <p:clrMapOvr>
    <a:masterClrMapping/>
  </p:clrMapOvr>
  <p:transition>
    <p:fade/>
    <p:spd val="med"/>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Shape 0"/>
          <p:cNvSpPr/>
          <p:nvPr/>
        </p:nvSpPr>
        <p:spPr>
          <a:xfrm rot="16200000">
            <a:off x="7468489" y="-29591"/>
            <a:ext cx="3791331" cy="13785469"/>
          </a:xfrm>
          <a:prstGeom prst="trapezoid">
            <a:avLst>
              <a:gd name="adj" fmla="val 25000"/>
            </a:avLst>
          </a:prstGeom>
          <a:gradFill rotWithShape="1" flip="none">
            <a:gsLst>
              <a:gs pos="0">
                <a:srgbClr val="F2F2F2"/>
              </a:gs>
              <a:gs pos="100000">
                <a:srgbClr val="FFFFFF">
                  <a:alpha val="48000"/>
                </a:srgbClr>
              </a:gs>
            </a:gsLst>
            <a:lin ang="16200000" scaled="1"/>
          </a:gradFill>
          <a:ln/>
        </p:spPr>
      </p:sp>
      <p:sp>
        <p:nvSpPr>
          <p:cNvPr id="4" name="Shape 1"/>
          <p:cNvSpPr/>
          <p:nvPr/>
        </p:nvSpPr>
        <p:spPr>
          <a:xfrm rot="16200000">
            <a:off x="7163689" y="-4174871"/>
            <a:ext cx="2694940" cy="15588869"/>
          </a:xfrm>
          <a:prstGeom prst="trapezoid">
            <a:avLst>
              <a:gd name="adj" fmla="val 25000"/>
            </a:avLst>
          </a:prstGeom>
          <a:gradFill rotWithShape="1" flip="none">
            <a:gsLst>
              <a:gs pos="0">
                <a:srgbClr val="F2F2F2"/>
              </a:gs>
              <a:gs pos="100000">
                <a:srgbClr val="FFFFFF">
                  <a:alpha val="48000"/>
                </a:srgbClr>
              </a:gs>
            </a:gsLst>
            <a:lin ang="16200000" scaled="1"/>
          </a:gradFill>
          <a:ln/>
        </p:spPr>
      </p:sp>
      <p:sp>
        <p:nvSpPr>
          <p:cNvPr id="5" name="Shape 2"/>
          <p:cNvSpPr/>
          <p:nvPr/>
        </p:nvSpPr>
        <p:spPr>
          <a:xfrm flipV="1">
            <a:off x="11171809" y="4941570"/>
            <a:ext cx="2752471" cy="25781"/>
          </a:xfrm>
          <a:prstGeom prst="line">
            <a:avLst/>
          </a:prstGeom>
          <a:noFill/>
          <a:ln w="12700">
            <a:solidFill>
              <a:srgbClr val="7F7F7F"/>
            </a:solidFill>
            <a:prstDash val="dash"/>
            <a:headEnd type="none"/>
            <a:tailEnd type="none"/>
          </a:ln>
        </p:spPr>
      </p:sp>
      <p:sp>
        <p:nvSpPr>
          <p:cNvPr id="6" name="Shape 3"/>
          <p:cNvSpPr/>
          <p:nvPr/>
        </p:nvSpPr>
        <p:spPr>
          <a:xfrm flipV="1">
            <a:off x="14037691" y="4936109"/>
            <a:ext cx="0" cy="2599309"/>
          </a:xfrm>
          <a:prstGeom prst="line">
            <a:avLst/>
          </a:prstGeom>
          <a:noFill/>
          <a:ln w="12700">
            <a:solidFill>
              <a:srgbClr val="7F7F7F"/>
            </a:solidFill>
            <a:prstDash val="solid"/>
            <a:headEnd type="none"/>
            <a:tailEnd type="none"/>
          </a:ln>
        </p:spPr>
      </p:sp>
      <p:sp>
        <p:nvSpPr>
          <p:cNvPr id="7" name="Shape 4"/>
          <p:cNvSpPr/>
          <p:nvPr/>
        </p:nvSpPr>
        <p:spPr>
          <a:xfrm flipV="1">
            <a:off x="11058271" y="2780919"/>
            <a:ext cx="0" cy="2186940"/>
          </a:xfrm>
          <a:prstGeom prst="line">
            <a:avLst/>
          </a:prstGeom>
          <a:noFill/>
          <a:ln w="12700">
            <a:solidFill>
              <a:srgbClr val="7F7F7F"/>
            </a:solidFill>
            <a:prstDash val="solid"/>
            <a:headEnd type="none"/>
            <a:tailEnd type="none"/>
          </a:ln>
        </p:spPr>
      </p:sp>
      <p:sp>
        <p:nvSpPr>
          <p:cNvPr id="8" name="Shape 5"/>
          <p:cNvSpPr/>
          <p:nvPr/>
        </p:nvSpPr>
        <p:spPr>
          <a:xfrm flipH="1">
            <a:off x="9294241" y="5111369"/>
            <a:ext cx="0" cy="2079625"/>
          </a:xfrm>
          <a:prstGeom prst="bentConnector3">
            <a:avLst/>
          </a:prstGeom>
          <a:noFill/>
          <a:ln w="12700">
            <a:solidFill>
              <a:srgbClr val="7F7F7F"/>
            </a:solidFill>
            <a:prstDash val="solid"/>
            <a:headEnd type="none"/>
            <a:tailEnd type="none"/>
          </a:ln>
        </p:spPr>
      </p:sp>
      <p:sp>
        <p:nvSpPr>
          <p:cNvPr id="9" name="Shape 6"/>
          <p:cNvSpPr/>
          <p:nvPr/>
        </p:nvSpPr>
        <p:spPr>
          <a:xfrm>
            <a:off x="0" y="4888611"/>
            <a:ext cx="126111" cy="126111"/>
          </a:xfrm>
          <a:prstGeom prst="ellipse">
            <a:avLst/>
          </a:prstGeom>
          <a:solidFill>
            <a:srgbClr val="A5A5A5"/>
          </a:solidFill>
          <a:ln/>
        </p:spPr>
      </p:sp>
      <p:sp>
        <p:nvSpPr>
          <p:cNvPr id="10" name="Shape 7"/>
          <p:cNvSpPr/>
          <p:nvPr/>
        </p:nvSpPr>
        <p:spPr>
          <a:xfrm>
            <a:off x="295529" y="4888611"/>
            <a:ext cx="126111" cy="126111"/>
          </a:xfrm>
          <a:prstGeom prst="ellipse">
            <a:avLst/>
          </a:prstGeom>
          <a:solidFill>
            <a:srgbClr val="A5A5A5"/>
          </a:solidFill>
          <a:ln/>
        </p:spPr>
      </p:sp>
      <p:sp>
        <p:nvSpPr>
          <p:cNvPr id="11" name="Shape 8"/>
          <p:cNvSpPr/>
          <p:nvPr/>
        </p:nvSpPr>
        <p:spPr>
          <a:xfrm>
            <a:off x="886460" y="4888611"/>
            <a:ext cx="126111" cy="126111"/>
          </a:xfrm>
          <a:prstGeom prst="ellipse">
            <a:avLst/>
          </a:prstGeom>
          <a:solidFill>
            <a:srgbClr val="BFBFBF"/>
          </a:solidFill>
          <a:ln/>
        </p:spPr>
      </p:sp>
      <p:sp>
        <p:nvSpPr>
          <p:cNvPr id="12" name="Shape 9"/>
          <p:cNvSpPr/>
          <p:nvPr/>
        </p:nvSpPr>
        <p:spPr>
          <a:xfrm>
            <a:off x="1253109" y="4888611"/>
            <a:ext cx="126111" cy="126111"/>
          </a:xfrm>
          <a:prstGeom prst="ellipse">
            <a:avLst/>
          </a:prstGeom>
          <a:solidFill>
            <a:srgbClr val="BFBFBF"/>
          </a:solidFill>
          <a:ln/>
        </p:spPr>
      </p:sp>
      <p:sp>
        <p:nvSpPr>
          <p:cNvPr id="13" name="Shape 10"/>
          <p:cNvSpPr/>
          <p:nvPr/>
        </p:nvSpPr>
        <p:spPr>
          <a:xfrm>
            <a:off x="1548511" y="4889500"/>
            <a:ext cx="126111" cy="126111"/>
          </a:xfrm>
          <a:prstGeom prst="ellipse">
            <a:avLst/>
          </a:prstGeom>
          <a:solidFill>
            <a:srgbClr val="BFBFBF"/>
          </a:solidFill>
          <a:ln/>
        </p:spPr>
      </p:sp>
      <p:sp>
        <p:nvSpPr>
          <p:cNvPr id="14" name="Shape 11"/>
          <p:cNvSpPr/>
          <p:nvPr/>
        </p:nvSpPr>
        <p:spPr>
          <a:xfrm>
            <a:off x="1844040" y="4890389"/>
            <a:ext cx="126111" cy="126111"/>
          </a:xfrm>
          <a:prstGeom prst="ellipse">
            <a:avLst/>
          </a:prstGeom>
          <a:solidFill>
            <a:srgbClr val="BFBFBF"/>
          </a:solidFill>
          <a:ln/>
        </p:spPr>
      </p:sp>
      <p:sp>
        <p:nvSpPr>
          <p:cNvPr id="15" name="Shape 12"/>
          <p:cNvSpPr/>
          <p:nvPr/>
        </p:nvSpPr>
        <p:spPr>
          <a:xfrm>
            <a:off x="2139569" y="4891151"/>
            <a:ext cx="126111" cy="126111"/>
          </a:xfrm>
          <a:prstGeom prst="ellipse">
            <a:avLst/>
          </a:prstGeom>
          <a:solidFill>
            <a:srgbClr val="BFBFBF"/>
          </a:solidFill>
          <a:ln/>
        </p:spPr>
      </p:sp>
      <p:sp>
        <p:nvSpPr>
          <p:cNvPr id="16" name="Shape 13"/>
          <p:cNvSpPr/>
          <p:nvPr/>
        </p:nvSpPr>
        <p:spPr>
          <a:xfrm>
            <a:off x="2434971" y="4892040"/>
            <a:ext cx="126111" cy="126111"/>
          </a:xfrm>
          <a:prstGeom prst="ellipse">
            <a:avLst/>
          </a:prstGeom>
          <a:solidFill>
            <a:srgbClr val="BFBFBF"/>
          </a:solidFill>
          <a:ln/>
        </p:spPr>
      </p:sp>
      <p:sp>
        <p:nvSpPr>
          <p:cNvPr id="17" name="Shape 14"/>
          <p:cNvSpPr/>
          <p:nvPr/>
        </p:nvSpPr>
        <p:spPr>
          <a:xfrm>
            <a:off x="2730500" y="4892040"/>
            <a:ext cx="126111" cy="126111"/>
          </a:xfrm>
          <a:prstGeom prst="ellipse">
            <a:avLst/>
          </a:prstGeom>
          <a:solidFill>
            <a:srgbClr val="BFBFBF"/>
          </a:solidFill>
          <a:ln/>
        </p:spPr>
      </p:sp>
      <p:sp>
        <p:nvSpPr>
          <p:cNvPr id="18" name="Shape 15"/>
          <p:cNvSpPr/>
          <p:nvPr/>
        </p:nvSpPr>
        <p:spPr>
          <a:xfrm>
            <a:off x="3026029" y="4892040"/>
            <a:ext cx="126111" cy="126111"/>
          </a:xfrm>
          <a:prstGeom prst="ellipse">
            <a:avLst/>
          </a:prstGeom>
          <a:solidFill>
            <a:srgbClr val="BFBFBF"/>
          </a:solidFill>
          <a:ln/>
        </p:spPr>
      </p:sp>
      <p:sp>
        <p:nvSpPr>
          <p:cNvPr id="19" name="Shape 16"/>
          <p:cNvSpPr/>
          <p:nvPr/>
        </p:nvSpPr>
        <p:spPr>
          <a:xfrm>
            <a:off x="3321431" y="4892040"/>
            <a:ext cx="126111" cy="126111"/>
          </a:xfrm>
          <a:prstGeom prst="ellipse">
            <a:avLst/>
          </a:prstGeom>
          <a:solidFill>
            <a:srgbClr val="BFBFBF"/>
          </a:solidFill>
          <a:ln/>
        </p:spPr>
      </p:sp>
      <p:sp>
        <p:nvSpPr>
          <p:cNvPr id="20" name="Shape 17"/>
          <p:cNvSpPr/>
          <p:nvPr/>
        </p:nvSpPr>
        <p:spPr>
          <a:xfrm>
            <a:off x="3616960" y="4892040"/>
            <a:ext cx="126111" cy="126111"/>
          </a:xfrm>
          <a:prstGeom prst="ellipse">
            <a:avLst/>
          </a:prstGeom>
          <a:solidFill>
            <a:srgbClr val="BFBFBF"/>
          </a:solidFill>
          <a:ln/>
        </p:spPr>
      </p:sp>
      <p:sp>
        <p:nvSpPr>
          <p:cNvPr id="21" name="Shape 18"/>
          <p:cNvSpPr/>
          <p:nvPr/>
        </p:nvSpPr>
        <p:spPr>
          <a:xfrm>
            <a:off x="3912489" y="4892040"/>
            <a:ext cx="126111" cy="126111"/>
          </a:xfrm>
          <a:prstGeom prst="ellipse">
            <a:avLst/>
          </a:prstGeom>
          <a:solidFill>
            <a:srgbClr val="BFBFBF"/>
          </a:solidFill>
          <a:ln/>
        </p:spPr>
      </p:sp>
      <p:sp>
        <p:nvSpPr>
          <p:cNvPr id="22" name="Shape 19"/>
          <p:cNvSpPr/>
          <p:nvPr/>
        </p:nvSpPr>
        <p:spPr>
          <a:xfrm>
            <a:off x="4207891" y="4892040"/>
            <a:ext cx="126111" cy="126111"/>
          </a:xfrm>
          <a:prstGeom prst="ellipse">
            <a:avLst/>
          </a:prstGeom>
          <a:solidFill>
            <a:srgbClr val="BFBFBF"/>
          </a:solidFill>
          <a:ln/>
        </p:spPr>
      </p:sp>
      <p:sp>
        <p:nvSpPr>
          <p:cNvPr id="23" name="Shape 20"/>
          <p:cNvSpPr/>
          <p:nvPr/>
        </p:nvSpPr>
        <p:spPr>
          <a:xfrm>
            <a:off x="5389880" y="4892040"/>
            <a:ext cx="126111" cy="126111"/>
          </a:xfrm>
          <a:prstGeom prst="ellipse">
            <a:avLst/>
          </a:prstGeom>
          <a:solidFill>
            <a:srgbClr val="BFBFBF"/>
          </a:solidFill>
          <a:ln/>
        </p:spPr>
      </p:sp>
      <p:sp>
        <p:nvSpPr>
          <p:cNvPr id="24" name="Shape 21"/>
          <p:cNvSpPr/>
          <p:nvPr/>
        </p:nvSpPr>
        <p:spPr>
          <a:xfrm>
            <a:off x="5685409" y="4892040"/>
            <a:ext cx="126111" cy="126111"/>
          </a:xfrm>
          <a:prstGeom prst="ellipse">
            <a:avLst/>
          </a:prstGeom>
          <a:solidFill>
            <a:srgbClr val="BFBFBF"/>
          </a:solidFill>
          <a:ln/>
        </p:spPr>
      </p:sp>
      <p:sp>
        <p:nvSpPr>
          <p:cNvPr id="25" name="Shape 22"/>
          <p:cNvSpPr/>
          <p:nvPr/>
        </p:nvSpPr>
        <p:spPr>
          <a:xfrm>
            <a:off x="5980811" y="4892040"/>
            <a:ext cx="126111" cy="126111"/>
          </a:xfrm>
          <a:prstGeom prst="ellipse">
            <a:avLst/>
          </a:prstGeom>
          <a:solidFill>
            <a:srgbClr val="BFBFBF"/>
          </a:solidFill>
          <a:ln/>
        </p:spPr>
      </p:sp>
      <p:sp>
        <p:nvSpPr>
          <p:cNvPr id="26" name="Shape 23"/>
          <p:cNvSpPr/>
          <p:nvPr/>
        </p:nvSpPr>
        <p:spPr>
          <a:xfrm>
            <a:off x="6276340" y="4892040"/>
            <a:ext cx="126111" cy="126111"/>
          </a:xfrm>
          <a:prstGeom prst="ellipse">
            <a:avLst/>
          </a:prstGeom>
          <a:solidFill>
            <a:srgbClr val="BFBFBF"/>
          </a:solidFill>
          <a:ln/>
        </p:spPr>
      </p:sp>
      <p:sp>
        <p:nvSpPr>
          <p:cNvPr id="27" name="Shape 24"/>
          <p:cNvSpPr/>
          <p:nvPr/>
        </p:nvSpPr>
        <p:spPr>
          <a:xfrm>
            <a:off x="6571869" y="4892040"/>
            <a:ext cx="126111" cy="126111"/>
          </a:xfrm>
          <a:prstGeom prst="ellipse">
            <a:avLst/>
          </a:prstGeom>
          <a:solidFill>
            <a:srgbClr val="BFBFBF"/>
          </a:solidFill>
          <a:ln/>
        </p:spPr>
      </p:sp>
      <p:sp>
        <p:nvSpPr>
          <p:cNvPr id="28" name="Shape 25"/>
          <p:cNvSpPr/>
          <p:nvPr/>
        </p:nvSpPr>
        <p:spPr>
          <a:xfrm>
            <a:off x="7162800" y="4892040"/>
            <a:ext cx="126111" cy="126111"/>
          </a:xfrm>
          <a:prstGeom prst="ellipse">
            <a:avLst/>
          </a:prstGeom>
          <a:solidFill>
            <a:srgbClr val="BFBFBF"/>
          </a:solidFill>
          <a:ln/>
        </p:spPr>
      </p:sp>
      <p:sp>
        <p:nvSpPr>
          <p:cNvPr id="29" name="Shape 26"/>
          <p:cNvSpPr/>
          <p:nvPr/>
        </p:nvSpPr>
        <p:spPr>
          <a:xfrm>
            <a:off x="7458329" y="4892040"/>
            <a:ext cx="126111" cy="126111"/>
          </a:xfrm>
          <a:prstGeom prst="ellipse">
            <a:avLst/>
          </a:prstGeom>
          <a:solidFill>
            <a:srgbClr val="BFBFBF"/>
          </a:solidFill>
          <a:ln/>
        </p:spPr>
      </p:sp>
      <p:sp>
        <p:nvSpPr>
          <p:cNvPr id="30" name="Shape 27"/>
          <p:cNvSpPr/>
          <p:nvPr/>
        </p:nvSpPr>
        <p:spPr>
          <a:xfrm>
            <a:off x="7753731" y="4892040"/>
            <a:ext cx="126111" cy="126111"/>
          </a:xfrm>
          <a:prstGeom prst="ellipse">
            <a:avLst/>
          </a:prstGeom>
          <a:solidFill>
            <a:srgbClr val="BFBFBF"/>
          </a:solidFill>
          <a:ln/>
        </p:spPr>
      </p:sp>
      <p:sp>
        <p:nvSpPr>
          <p:cNvPr id="31" name="Shape 28"/>
          <p:cNvSpPr/>
          <p:nvPr/>
        </p:nvSpPr>
        <p:spPr>
          <a:xfrm>
            <a:off x="8344789" y="4892040"/>
            <a:ext cx="126111" cy="126111"/>
          </a:xfrm>
          <a:prstGeom prst="ellipse">
            <a:avLst/>
          </a:prstGeom>
          <a:solidFill>
            <a:srgbClr val="BFBFBF"/>
          </a:solidFill>
          <a:ln/>
        </p:spPr>
      </p:sp>
      <p:sp>
        <p:nvSpPr>
          <p:cNvPr id="32" name="Shape 29"/>
          <p:cNvSpPr/>
          <p:nvPr/>
        </p:nvSpPr>
        <p:spPr>
          <a:xfrm>
            <a:off x="8640191" y="4892040"/>
            <a:ext cx="126111" cy="126111"/>
          </a:xfrm>
          <a:prstGeom prst="ellipse">
            <a:avLst/>
          </a:prstGeom>
          <a:solidFill>
            <a:srgbClr val="BFBFBF"/>
          </a:solidFill>
          <a:ln/>
        </p:spPr>
      </p:sp>
      <p:sp>
        <p:nvSpPr>
          <p:cNvPr id="33" name="Shape 30"/>
          <p:cNvSpPr/>
          <p:nvPr/>
        </p:nvSpPr>
        <p:spPr>
          <a:xfrm>
            <a:off x="8935720" y="4892040"/>
            <a:ext cx="126111" cy="126111"/>
          </a:xfrm>
          <a:prstGeom prst="ellipse">
            <a:avLst/>
          </a:prstGeom>
          <a:solidFill>
            <a:srgbClr val="BFBFBF"/>
          </a:solidFill>
          <a:ln/>
        </p:spPr>
      </p:sp>
      <p:sp>
        <p:nvSpPr>
          <p:cNvPr id="34" name="Shape 31"/>
          <p:cNvSpPr/>
          <p:nvPr/>
        </p:nvSpPr>
        <p:spPr>
          <a:xfrm>
            <a:off x="9526651" y="4892040"/>
            <a:ext cx="126111" cy="126111"/>
          </a:xfrm>
          <a:prstGeom prst="ellipse">
            <a:avLst/>
          </a:prstGeom>
          <a:solidFill>
            <a:srgbClr val="BFBFBF"/>
          </a:solidFill>
          <a:ln/>
        </p:spPr>
      </p:sp>
      <p:sp>
        <p:nvSpPr>
          <p:cNvPr id="35" name="Shape 32"/>
          <p:cNvSpPr/>
          <p:nvPr/>
        </p:nvSpPr>
        <p:spPr>
          <a:xfrm>
            <a:off x="9822180" y="4892040"/>
            <a:ext cx="126111" cy="126111"/>
          </a:xfrm>
          <a:prstGeom prst="ellipse">
            <a:avLst/>
          </a:prstGeom>
          <a:solidFill>
            <a:srgbClr val="BFBFBF"/>
          </a:solidFill>
          <a:ln/>
        </p:spPr>
      </p:sp>
      <p:sp>
        <p:nvSpPr>
          <p:cNvPr id="36" name="Shape 33"/>
          <p:cNvSpPr/>
          <p:nvPr/>
        </p:nvSpPr>
        <p:spPr>
          <a:xfrm>
            <a:off x="10117709" y="4892040"/>
            <a:ext cx="126111" cy="126111"/>
          </a:xfrm>
          <a:prstGeom prst="ellipse">
            <a:avLst/>
          </a:prstGeom>
          <a:solidFill>
            <a:srgbClr val="BFBFBF"/>
          </a:solidFill>
          <a:ln/>
        </p:spPr>
      </p:sp>
      <p:sp>
        <p:nvSpPr>
          <p:cNvPr id="37" name="Shape 34"/>
          <p:cNvSpPr/>
          <p:nvPr/>
        </p:nvSpPr>
        <p:spPr>
          <a:xfrm>
            <a:off x="10413111" y="4892040"/>
            <a:ext cx="126111" cy="126111"/>
          </a:xfrm>
          <a:prstGeom prst="ellipse">
            <a:avLst/>
          </a:prstGeom>
          <a:solidFill>
            <a:srgbClr val="BFBFBF"/>
          </a:solidFill>
          <a:ln/>
        </p:spPr>
      </p:sp>
      <p:sp>
        <p:nvSpPr>
          <p:cNvPr id="38" name="Shape 35"/>
          <p:cNvSpPr/>
          <p:nvPr/>
        </p:nvSpPr>
        <p:spPr>
          <a:xfrm>
            <a:off x="10708640" y="4892040"/>
            <a:ext cx="126111" cy="126111"/>
          </a:xfrm>
          <a:prstGeom prst="ellipse">
            <a:avLst/>
          </a:prstGeom>
          <a:solidFill>
            <a:srgbClr val="BFBFBF"/>
          </a:solidFill>
          <a:ln/>
        </p:spPr>
      </p:sp>
      <p:sp>
        <p:nvSpPr>
          <p:cNvPr id="39" name="Shape 36"/>
          <p:cNvSpPr/>
          <p:nvPr/>
        </p:nvSpPr>
        <p:spPr>
          <a:xfrm>
            <a:off x="11299571" y="4892040"/>
            <a:ext cx="126111" cy="126111"/>
          </a:xfrm>
          <a:prstGeom prst="ellipse">
            <a:avLst/>
          </a:prstGeom>
          <a:solidFill>
            <a:srgbClr val="BFBFBF"/>
          </a:solidFill>
          <a:ln/>
        </p:spPr>
      </p:sp>
      <p:sp>
        <p:nvSpPr>
          <p:cNvPr id="40" name="Shape 37"/>
          <p:cNvSpPr/>
          <p:nvPr/>
        </p:nvSpPr>
        <p:spPr>
          <a:xfrm>
            <a:off x="11595100" y="4892040"/>
            <a:ext cx="126111" cy="126111"/>
          </a:xfrm>
          <a:prstGeom prst="ellipse">
            <a:avLst/>
          </a:prstGeom>
          <a:solidFill>
            <a:srgbClr val="BFBFBF"/>
          </a:solidFill>
          <a:ln/>
        </p:spPr>
      </p:sp>
      <p:sp>
        <p:nvSpPr>
          <p:cNvPr id="41" name="Shape 38"/>
          <p:cNvSpPr/>
          <p:nvPr/>
        </p:nvSpPr>
        <p:spPr>
          <a:xfrm>
            <a:off x="11890629" y="4892040"/>
            <a:ext cx="126111" cy="126111"/>
          </a:xfrm>
          <a:prstGeom prst="ellipse">
            <a:avLst/>
          </a:prstGeom>
          <a:solidFill>
            <a:srgbClr val="BFBFBF"/>
          </a:solidFill>
          <a:ln/>
        </p:spPr>
      </p:sp>
      <p:sp>
        <p:nvSpPr>
          <p:cNvPr id="42" name="Shape 39"/>
          <p:cNvSpPr/>
          <p:nvPr/>
        </p:nvSpPr>
        <p:spPr>
          <a:xfrm>
            <a:off x="12186031" y="4892040"/>
            <a:ext cx="126111" cy="126111"/>
          </a:xfrm>
          <a:prstGeom prst="ellipse">
            <a:avLst/>
          </a:prstGeom>
          <a:solidFill>
            <a:srgbClr val="BFBFBF"/>
          </a:solidFill>
          <a:ln/>
        </p:spPr>
      </p:sp>
      <p:sp>
        <p:nvSpPr>
          <p:cNvPr id="43" name="Shape 40"/>
          <p:cNvSpPr/>
          <p:nvPr/>
        </p:nvSpPr>
        <p:spPr>
          <a:xfrm>
            <a:off x="12481560" y="4892040"/>
            <a:ext cx="126111" cy="126111"/>
          </a:xfrm>
          <a:prstGeom prst="ellipse">
            <a:avLst/>
          </a:prstGeom>
          <a:solidFill>
            <a:srgbClr val="BFBFBF"/>
          </a:solidFill>
          <a:ln/>
        </p:spPr>
      </p:sp>
      <p:sp>
        <p:nvSpPr>
          <p:cNvPr id="44" name="Shape 41"/>
          <p:cNvSpPr/>
          <p:nvPr/>
        </p:nvSpPr>
        <p:spPr>
          <a:xfrm>
            <a:off x="12777089" y="4892040"/>
            <a:ext cx="126111" cy="126111"/>
          </a:xfrm>
          <a:prstGeom prst="ellipse">
            <a:avLst/>
          </a:prstGeom>
          <a:solidFill>
            <a:srgbClr val="BFBFBF"/>
          </a:solidFill>
          <a:ln/>
        </p:spPr>
      </p:sp>
      <p:sp>
        <p:nvSpPr>
          <p:cNvPr id="45" name="Shape 42"/>
          <p:cNvSpPr/>
          <p:nvPr/>
        </p:nvSpPr>
        <p:spPr>
          <a:xfrm>
            <a:off x="11045571" y="4917821"/>
            <a:ext cx="126111" cy="126111"/>
          </a:xfrm>
          <a:prstGeom prst="ellipse">
            <a:avLst/>
          </a:prstGeom>
          <a:solidFill>
            <a:srgbClr val="BFBFBF"/>
          </a:solidFill>
          <a:ln/>
        </p:spPr>
      </p:sp>
      <p:sp>
        <p:nvSpPr>
          <p:cNvPr id="46" name="Shape 43"/>
          <p:cNvSpPr/>
          <p:nvPr/>
        </p:nvSpPr>
        <p:spPr>
          <a:xfrm>
            <a:off x="13368020" y="4892040"/>
            <a:ext cx="126111" cy="126111"/>
          </a:xfrm>
          <a:prstGeom prst="ellipse">
            <a:avLst/>
          </a:prstGeom>
          <a:solidFill>
            <a:srgbClr val="BFBFBF"/>
          </a:solidFill>
          <a:ln/>
        </p:spPr>
      </p:sp>
      <p:sp>
        <p:nvSpPr>
          <p:cNvPr id="47" name="Shape 44"/>
          <p:cNvSpPr/>
          <p:nvPr/>
        </p:nvSpPr>
        <p:spPr>
          <a:xfrm>
            <a:off x="13663549" y="4892040"/>
            <a:ext cx="126111" cy="126111"/>
          </a:xfrm>
          <a:prstGeom prst="ellipse">
            <a:avLst/>
          </a:prstGeom>
          <a:solidFill>
            <a:srgbClr val="BFBFBF"/>
          </a:solidFill>
          <a:ln/>
        </p:spPr>
      </p:sp>
      <p:sp>
        <p:nvSpPr>
          <p:cNvPr id="48" name="Shape 45"/>
          <p:cNvSpPr/>
          <p:nvPr/>
        </p:nvSpPr>
        <p:spPr>
          <a:xfrm>
            <a:off x="13958951" y="4892040"/>
            <a:ext cx="126111" cy="126111"/>
          </a:xfrm>
          <a:prstGeom prst="ellipse">
            <a:avLst/>
          </a:prstGeom>
          <a:solidFill>
            <a:srgbClr val="BFBFBF"/>
          </a:solidFill>
          <a:ln/>
        </p:spPr>
      </p:sp>
      <p:sp>
        <p:nvSpPr>
          <p:cNvPr id="49" name="Shape 46"/>
          <p:cNvSpPr/>
          <p:nvPr/>
        </p:nvSpPr>
        <p:spPr>
          <a:xfrm>
            <a:off x="14254480" y="4892040"/>
            <a:ext cx="126111" cy="126111"/>
          </a:xfrm>
          <a:prstGeom prst="ellipse">
            <a:avLst/>
          </a:prstGeom>
          <a:solidFill>
            <a:srgbClr val="BFBFBF"/>
          </a:solidFill>
          <a:ln/>
        </p:spPr>
      </p:sp>
      <p:sp>
        <p:nvSpPr>
          <p:cNvPr id="50" name="Shape 47"/>
          <p:cNvSpPr/>
          <p:nvPr/>
        </p:nvSpPr>
        <p:spPr>
          <a:xfrm>
            <a:off x="14550009" y="4892040"/>
            <a:ext cx="126111" cy="126111"/>
          </a:xfrm>
          <a:prstGeom prst="ellipse">
            <a:avLst/>
          </a:prstGeom>
          <a:solidFill>
            <a:srgbClr val="BFBFBF"/>
          </a:solidFill>
          <a:ln/>
        </p:spPr>
      </p:sp>
      <p:sp>
        <p:nvSpPr>
          <p:cNvPr id="51" name="Shape 48"/>
          <p:cNvSpPr/>
          <p:nvPr/>
        </p:nvSpPr>
        <p:spPr>
          <a:xfrm>
            <a:off x="14845411" y="4892040"/>
            <a:ext cx="126111" cy="126111"/>
          </a:xfrm>
          <a:prstGeom prst="ellipse">
            <a:avLst/>
          </a:prstGeom>
          <a:solidFill>
            <a:srgbClr val="BFBFBF"/>
          </a:solidFill>
          <a:ln/>
        </p:spPr>
      </p:sp>
      <p:sp>
        <p:nvSpPr>
          <p:cNvPr id="52" name="Shape 49"/>
          <p:cNvSpPr/>
          <p:nvPr/>
        </p:nvSpPr>
        <p:spPr>
          <a:xfrm>
            <a:off x="15140940" y="4892040"/>
            <a:ext cx="126111" cy="126111"/>
          </a:xfrm>
          <a:prstGeom prst="ellipse">
            <a:avLst/>
          </a:prstGeom>
          <a:solidFill>
            <a:srgbClr val="BFBFBF"/>
          </a:solidFill>
          <a:ln/>
        </p:spPr>
      </p:sp>
      <p:sp>
        <p:nvSpPr>
          <p:cNvPr id="53" name="Shape 50"/>
          <p:cNvSpPr/>
          <p:nvPr/>
        </p:nvSpPr>
        <p:spPr>
          <a:xfrm>
            <a:off x="15436469" y="4892040"/>
            <a:ext cx="126111" cy="126111"/>
          </a:xfrm>
          <a:prstGeom prst="ellipse">
            <a:avLst/>
          </a:prstGeom>
          <a:solidFill>
            <a:srgbClr val="BFBFBF"/>
          </a:solidFill>
          <a:ln/>
        </p:spPr>
      </p:sp>
      <p:sp>
        <p:nvSpPr>
          <p:cNvPr id="54" name="Shape 51"/>
          <p:cNvSpPr/>
          <p:nvPr/>
        </p:nvSpPr>
        <p:spPr>
          <a:xfrm>
            <a:off x="15731871" y="4892040"/>
            <a:ext cx="126111" cy="126111"/>
          </a:xfrm>
          <a:prstGeom prst="ellipse">
            <a:avLst/>
          </a:prstGeom>
          <a:solidFill>
            <a:srgbClr val="BFBFBF"/>
          </a:solidFill>
          <a:ln/>
        </p:spPr>
      </p:sp>
      <p:sp>
        <p:nvSpPr>
          <p:cNvPr id="55" name="Shape 52"/>
          <p:cNvSpPr/>
          <p:nvPr/>
        </p:nvSpPr>
        <p:spPr>
          <a:xfrm>
            <a:off x="16027400" y="4892040"/>
            <a:ext cx="126111" cy="126111"/>
          </a:xfrm>
          <a:prstGeom prst="ellipse">
            <a:avLst/>
          </a:prstGeom>
          <a:solidFill>
            <a:srgbClr val="BFBFBF"/>
          </a:solidFill>
          <a:ln/>
        </p:spPr>
      </p:sp>
      <p:sp>
        <p:nvSpPr>
          <p:cNvPr id="56" name="Shape 53"/>
          <p:cNvSpPr/>
          <p:nvPr/>
        </p:nvSpPr>
        <p:spPr>
          <a:xfrm flipV="1">
            <a:off x="674751" y="2460371"/>
            <a:ext cx="0" cy="2374011"/>
          </a:xfrm>
          <a:prstGeom prst="line">
            <a:avLst/>
          </a:prstGeom>
          <a:noFill/>
          <a:ln w="12700">
            <a:solidFill>
              <a:srgbClr val="7F7F7F"/>
            </a:solidFill>
            <a:prstDash val="solid"/>
            <a:headEnd type="none"/>
            <a:tailEnd type="none"/>
          </a:ln>
        </p:spPr>
      </p:sp>
      <p:sp>
        <p:nvSpPr>
          <p:cNvPr id="57" name="Shape 54"/>
          <p:cNvSpPr/>
          <p:nvPr/>
        </p:nvSpPr>
        <p:spPr>
          <a:xfrm>
            <a:off x="608711" y="3876929"/>
            <a:ext cx="126111" cy="126111"/>
          </a:xfrm>
          <a:prstGeom prst="ellipse">
            <a:avLst/>
          </a:prstGeom>
          <a:solidFill>
            <a:srgbClr val="A5A5A5"/>
          </a:solidFill>
          <a:ln/>
        </p:spPr>
      </p:sp>
      <p:sp>
        <p:nvSpPr>
          <p:cNvPr id="58" name="Text 55"/>
          <p:cNvSpPr/>
          <p:nvPr/>
        </p:nvSpPr>
        <p:spPr>
          <a:xfrm>
            <a:off x="665480" y="2632075"/>
            <a:ext cx="2483231" cy="1701800"/>
          </a:xfrm>
          <a:prstGeom prst="rect">
            <a:avLst/>
          </a:prstGeom>
          <a:noFill/>
          <a:ln/>
        </p:spPr>
        <p:txBody>
          <a:bodyPr wrap="square" lIns="0" tIns="0" rIns="0" bIns="0" rtlCol="0" anchor="t"/>
          <a:lstStyle/>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揭露OAuth在智能体授权场景不足以完全表达授权需要</a:t>
            </a:r>
            <a:endParaRPr lang="en-US" sz="1600" dirty="0"/>
          </a:p>
          <a:p>
            <a:pPr algn="l">
              <a:lnSpc>
                <a:spcPct val="120000"/>
              </a:lnSpc>
              <a:spcBef>
                <a:spcPts val="800"/>
              </a:spcBef>
            </a:pPr>
            <a:r>
              <a:rPr lang="en-US" sz="1600" b="1" dirty="0">
                <a:solidFill>
                  <a:srgbClr val="595959"/>
                </a:solidFill>
                <a:latin typeface="Arial" pitchFamily="34" charset="0"/>
                <a:ea typeface="Arial" pitchFamily="34" charset="-122"/>
                <a:cs typeface="Arial" pitchFamily="34" charset="-120"/>
              </a:rPr>
              <a:t>  </a:t>
            </a:r>
            <a:pPr algn="l">
              <a:lnSpc>
                <a:spcPct val="120000"/>
              </a:lnSpc>
              <a:spcBef>
                <a:spcPts val="800"/>
              </a:spcBef>
            </a:pPr>
            <a:r>
              <a:rPr lang="en-US" sz="1600" b="1" dirty="0">
                <a:solidFill>
                  <a:srgbClr val="595959"/>
                </a:solidFill>
                <a:latin typeface="Arial" pitchFamily="34" charset="0"/>
                <a:ea typeface="Arial" pitchFamily="34" charset="-122"/>
                <a:cs typeface="Arial" pitchFamily="34" charset="-120"/>
              </a:rPr>
              <a:t>OAuth is not        enough</a:t>
            </a:r>
            <a:endParaRPr lang="en-US" sz="1600" dirty="0"/>
          </a:p>
        </p:txBody>
      </p:sp>
      <p:sp>
        <p:nvSpPr>
          <p:cNvPr id="59" name="Shape 56"/>
          <p:cNvSpPr/>
          <p:nvPr/>
        </p:nvSpPr>
        <p:spPr>
          <a:xfrm flipH="1" flipV="1">
            <a:off x="2472309" y="5048631"/>
            <a:ext cx="25781" cy="2739009"/>
          </a:xfrm>
          <a:prstGeom prst="line">
            <a:avLst/>
          </a:prstGeom>
          <a:noFill/>
          <a:ln w="12700">
            <a:solidFill>
              <a:srgbClr val="7F7F7F"/>
            </a:solidFill>
            <a:prstDash val="solid"/>
            <a:headEnd type="none"/>
            <a:tailEnd type="none"/>
          </a:ln>
        </p:spPr>
      </p:sp>
      <p:sp>
        <p:nvSpPr>
          <p:cNvPr id="60" name="Shape 57"/>
          <p:cNvSpPr/>
          <p:nvPr/>
        </p:nvSpPr>
        <p:spPr>
          <a:xfrm>
            <a:off x="2370709" y="4846320"/>
            <a:ext cx="214249" cy="214249"/>
          </a:xfrm>
          <a:prstGeom prst="ellipse">
            <a:avLst/>
          </a:prstGeom>
          <a:solidFill>
            <a:srgbClr val="00B0F0"/>
          </a:solidFill>
          <a:ln/>
        </p:spPr>
      </p:sp>
      <p:sp>
        <p:nvSpPr>
          <p:cNvPr id="61" name="Text 58"/>
          <p:cNvSpPr/>
          <p:nvPr/>
        </p:nvSpPr>
        <p:spPr>
          <a:xfrm>
            <a:off x="2471420" y="5163820"/>
            <a:ext cx="4226560" cy="942340"/>
          </a:xfrm>
          <a:prstGeom prst="rect">
            <a:avLst/>
          </a:prstGeom>
          <a:noFill/>
          <a:ln/>
        </p:spPr>
        <p:txBody>
          <a:bodyPr wrap="square" lIns="0" tIns="0" rIns="0" bIns="0" rtlCol="0" anchor="t"/>
          <a:lstStyle/>
          <a:p>
            <a:pPr algn="l">
              <a:lnSpc>
                <a:spcPct val="120000"/>
              </a:lnSpc>
            </a:pPr>
            <a:r>
              <a:rPr lang="en-US" sz="2670" b="1" dirty="0">
                <a:solidFill>
                  <a:srgbClr val="595959"/>
                </a:solidFill>
                <a:latin typeface="MiSans" pitchFamily="34" charset="0"/>
                <a:ea typeface="MiSans" pitchFamily="34" charset="-122"/>
                <a:cs typeface="MiSans" pitchFamily="34" charset="-120"/>
              </a:rPr>
              <a:t>Security and Privacy of LLM-Based Agents</a:t>
            </a:r>
            <a:endParaRPr lang="en-US" sz="2670" dirty="0"/>
          </a:p>
        </p:txBody>
      </p:sp>
      <p:sp>
        <p:nvSpPr>
          <p:cNvPr id="62" name="Text 59"/>
          <p:cNvSpPr/>
          <p:nvPr/>
        </p:nvSpPr>
        <p:spPr>
          <a:xfrm>
            <a:off x="2538349" y="6261989"/>
            <a:ext cx="3804031" cy="1106551"/>
          </a:xfrm>
          <a:prstGeom prst="rect">
            <a:avLst/>
          </a:prstGeom>
          <a:noFill/>
          <a:ln/>
        </p:spPr>
        <p:txBody>
          <a:bodyPr wrap="square" lIns="0" tIns="0" rIns="0" bIns="0" rtlCol="0" anchor="t"/>
          <a:lstStyle/>
          <a:p>
            <a:pPr algn="l" marL="254000" indent="-254000">
              <a:lnSpc>
                <a:spcPct val="120000"/>
              </a:lnSpc>
              <a:spcBef>
                <a:spcPts val="10"/>
              </a:spcBef>
              <a:buSzPct val="100000"/>
              <a:buChar char="•"/>
            </a:pPr>
            <a:r>
              <a:rPr lang="en-US" sz="1600" dirty="0">
                <a:solidFill>
                  <a:srgbClr val="595959"/>
                </a:solidFill>
                <a:latin typeface="MiSans" pitchFamily="34" charset="0"/>
                <a:ea typeface="MiSans" pitchFamily="34" charset="-122"/>
                <a:cs typeface="MiSans" pitchFamily="34" charset="-120"/>
              </a:rPr>
              <a:t>将过度授权列Agent核心安全风险之一，指出当前Agent框架普遍将工具API密钥以宽泛权限配置给Agent，形成永久暴露面</a:t>
            </a:r>
            <a:endParaRPr lang="en-US" sz="1600" dirty="0"/>
          </a:p>
        </p:txBody>
      </p:sp>
      <p:sp>
        <p:nvSpPr>
          <p:cNvPr id="63" name="Shape 60"/>
          <p:cNvSpPr/>
          <p:nvPr/>
        </p:nvSpPr>
        <p:spPr>
          <a:xfrm>
            <a:off x="2412111" y="5785231"/>
            <a:ext cx="126111" cy="126111"/>
          </a:xfrm>
          <a:prstGeom prst="ellipse">
            <a:avLst/>
          </a:prstGeom>
          <a:solidFill>
            <a:srgbClr val="A5A5A5"/>
          </a:solidFill>
          <a:ln/>
        </p:spPr>
      </p:sp>
      <p:sp>
        <p:nvSpPr>
          <p:cNvPr id="64" name="Text 61"/>
          <p:cNvSpPr/>
          <p:nvPr/>
        </p:nvSpPr>
        <p:spPr>
          <a:xfrm>
            <a:off x="6941820" y="3462655"/>
            <a:ext cx="3302000" cy="491109"/>
          </a:xfrm>
          <a:prstGeom prst="rect">
            <a:avLst/>
          </a:prstGeom>
          <a:noFill/>
          <a:ln/>
        </p:spPr>
        <p:txBody>
          <a:bodyPr wrap="square" lIns="0" tIns="0" rIns="0" bIns="0" rtlCol="0" anchor="t"/>
          <a:lstStyle/>
          <a:p>
            <a:pPr algn="l">
              <a:lnSpc>
                <a:spcPct val="120000"/>
              </a:lnSpc>
            </a:pPr>
            <a:r>
              <a:rPr lang="en-US" sz="2400" b="1" dirty="0">
                <a:solidFill>
                  <a:srgbClr val="595959"/>
                </a:solidFill>
                <a:latin typeface="MiSans" pitchFamily="34" charset="0"/>
                <a:ea typeface="MiSans" pitchFamily="34" charset="-122"/>
                <a:cs typeface="MiSans" pitchFamily="34" charset="-120"/>
              </a:rPr>
              <a:t>H</a:t>
            </a:r>
            <a:endParaRPr lang="en-US" sz="2400" dirty="0"/>
          </a:p>
        </p:txBody>
      </p:sp>
      <p:sp>
        <p:nvSpPr>
          <p:cNvPr id="65" name="Text 62"/>
          <p:cNvSpPr/>
          <p:nvPr/>
        </p:nvSpPr>
        <p:spPr>
          <a:xfrm>
            <a:off x="6885559" y="2573528"/>
            <a:ext cx="2918460" cy="416560"/>
          </a:xfrm>
          <a:prstGeom prst="rect">
            <a:avLst/>
          </a:prstGeom>
          <a:noFill/>
          <a:ln/>
        </p:spPr>
        <p:txBody>
          <a:bodyPr wrap="square" lIns="0" tIns="0" rIns="0" bIns="0" rtlCol="0" anchor="t"/>
          <a:lstStyle/>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抗</a:t>
            </a:r>
            <a:endParaRPr lang="en-US" sz="1600" dirty="0"/>
          </a:p>
        </p:txBody>
      </p:sp>
      <p:sp>
        <p:nvSpPr>
          <p:cNvPr id="66" name="Text 63"/>
          <p:cNvSpPr/>
          <p:nvPr/>
        </p:nvSpPr>
        <p:spPr>
          <a:xfrm>
            <a:off x="14069314" y="5205476"/>
            <a:ext cx="1612011" cy="491109"/>
          </a:xfrm>
          <a:prstGeom prst="rect">
            <a:avLst/>
          </a:prstGeom>
          <a:noFill/>
          <a:ln/>
        </p:spPr>
        <p:txBody>
          <a:bodyPr wrap="square" lIns="0" tIns="0" rIns="0" bIns="0" rtlCol="0" anchor="t"/>
          <a:lstStyle/>
          <a:p>
            <a:pPr algn="l">
              <a:lnSpc>
                <a:spcPct val="120000"/>
              </a:lnSpc>
            </a:pPr>
            <a:r>
              <a:rPr lang="en-US" sz="2400" b="1" dirty="0">
                <a:solidFill>
                  <a:srgbClr val="595959"/>
                </a:solidFill>
                <a:latin typeface="MiSans" pitchFamily="34" charset="0"/>
                <a:ea typeface="MiSans" pitchFamily="34" charset="-122"/>
                <a:cs typeface="MiSans" pitchFamily="34" charset="-120"/>
              </a:rPr>
              <a:t>C</a:t>
            </a:r>
            <a:endParaRPr lang="en-US" sz="2400" dirty="0"/>
          </a:p>
        </p:txBody>
      </p:sp>
      <p:sp>
        <p:nvSpPr>
          <p:cNvPr id="67" name="Text 64"/>
          <p:cNvSpPr/>
          <p:nvPr/>
        </p:nvSpPr>
        <p:spPr>
          <a:xfrm>
            <a:off x="14042009" y="6037707"/>
            <a:ext cx="2213991" cy="416560"/>
          </a:xfrm>
          <a:prstGeom prst="rect">
            <a:avLst/>
          </a:prstGeom>
          <a:noFill/>
          <a:ln/>
        </p:spPr>
        <p:txBody>
          <a:bodyPr wrap="square" lIns="0" tIns="0" rIns="0" bIns="0" rtlCol="0" anchor="t"/>
          <a:lstStyle/>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抗</a:t>
            </a:r>
            <a:endParaRPr lang="en-US" sz="1600" dirty="0"/>
          </a:p>
        </p:txBody>
      </p:sp>
      <p:sp>
        <p:nvSpPr>
          <p:cNvPr id="68" name="Shape 65"/>
          <p:cNvSpPr/>
          <p:nvPr/>
        </p:nvSpPr>
        <p:spPr>
          <a:xfrm>
            <a:off x="10957560" y="4860290"/>
            <a:ext cx="214249" cy="214249"/>
          </a:xfrm>
          <a:prstGeom prst="ellipse">
            <a:avLst/>
          </a:prstGeom>
          <a:solidFill>
            <a:srgbClr val="00B0F0"/>
          </a:solidFill>
          <a:ln/>
        </p:spPr>
      </p:sp>
      <p:sp>
        <p:nvSpPr>
          <p:cNvPr id="69" name="Text 66"/>
          <p:cNvSpPr/>
          <p:nvPr/>
        </p:nvSpPr>
        <p:spPr>
          <a:xfrm>
            <a:off x="11193018" y="3210941"/>
            <a:ext cx="2774442" cy="491109"/>
          </a:xfrm>
          <a:prstGeom prst="rect">
            <a:avLst/>
          </a:prstGeom>
          <a:noFill/>
          <a:ln/>
        </p:spPr>
        <p:txBody>
          <a:bodyPr wrap="square" lIns="0" tIns="0" rIns="0" bIns="0" rtlCol="0" anchor="t"/>
          <a:lstStyle/>
          <a:p>
            <a:pPr algn="l">
              <a:lnSpc>
                <a:spcPct val="120000"/>
              </a:lnSpc>
            </a:pPr>
            <a:r>
              <a:rPr lang="en-US" sz="2400" b="1" dirty="0">
                <a:solidFill>
                  <a:srgbClr val="595959"/>
                </a:solidFill>
                <a:latin typeface="MiSans" pitchFamily="34" charset="0"/>
                <a:ea typeface="MiSans" pitchFamily="34" charset="-122"/>
                <a:cs typeface="MiSans" pitchFamily="34" charset="-120"/>
              </a:rPr>
              <a:t>B</a:t>
            </a:r>
            <a:endParaRPr lang="en-US" sz="2400" dirty="0"/>
          </a:p>
        </p:txBody>
      </p:sp>
      <p:sp>
        <p:nvSpPr>
          <p:cNvPr id="70" name="Text 67"/>
          <p:cNvSpPr/>
          <p:nvPr/>
        </p:nvSpPr>
        <p:spPr>
          <a:xfrm>
            <a:off x="11045571" y="2632710"/>
            <a:ext cx="2476500" cy="416560"/>
          </a:xfrm>
          <a:prstGeom prst="rect">
            <a:avLst/>
          </a:prstGeom>
          <a:noFill/>
          <a:ln/>
        </p:spPr>
        <p:txBody>
          <a:bodyPr wrap="square" lIns="0" tIns="0" rIns="0" bIns="0" rtlCol="0" anchor="t"/>
          <a:lstStyle/>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P</a:t>
            </a:r>
            <a:endParaRPr lang="en-US" sz="1600" dirty="0"/>
          </a:p>
        </p:txBody>
      </p:sp>
      <p:sp>
        <p:nvSpPr>
          <p:cNvPr id="71" name="Shape 68"/>
          <p:cNvSpPr/>
          <p:nvPr/>
        </p:nvSpPr>
        <p:spPr>
          <a:xfrm>
            <a:off x="10994771" y="3700399"/>
            <a:ext cx="126111" cy="126111"/>
          </a:xfrm>
          <a:prstGeom prst="ellipse">
            <a:avLst/>
          </a:prstGeom>
          <a:solidFill>
            <a:srgbClr val="A5A5A5"/>
          </a:solidFill>
          <a:ln/>
        </p:spPr>
      </p:sp>
      <p:sp>
        <p:nvSpPr>
          <p:cNvPr id="72" name="Shape 69"/>
          <p:cNvSpPr/>
          <p:nvPr/>
        </p:nvSpPr>
        <p:spPr>
          <a:xfrm>
            <a:off x="13924280" y="4834509"/>
            <a:ext cx="214249" cy="214249"/>
          </a:xfrm>
          <a:prstGeom prst="ellipse">
            <a:avLst/>
          </a:prstGeom>
          <a:solidFill>
            <a:srgbClr val="00B0F0"/>
          </a:solidFill>
          <a:ln/>
        </p:spPr>
      </p:sp>
      <p:sp>
        <p:nvSpPr>
          <p:cNvPr id="73" name="Shape 70"/>
          <p:cNvSpPr/>
          <p:nvPr/>
        </p:nvSpPr>
        <p:spPr>
          <a:xfrm>
            <a:off x="13986891" y="5785231"/>
            <a:ext cx="126111" cy="126111"/>
          </a:xfrm>
          <a:prstGeom prst="ellipse">
            <a:avLst/>
          </a:prstGeom>
          <a:solidFill>
            <a:srgbClr val="A5A5A5"/>
          </a:solidFill>
          <a:ln/>
        </p:spPr>
      </p:sp>
      <p:sp>
        <p:nvSpPr>
          <p:cNvPr id="74" name="Shape 71"/>
          <p:cNvSpPr/>
          <p:nvPr/>
        </p:nvSpPr>
        <p:spPr>
          <a:xfrm>
            <a:off x="590931" y="4892040"/>
            <a:ext cx="126111" cy="126111"/>
          </a:xfrm>
          <a:prstGeom prst="ellipse">
            <a:avLst/>
          </a:prstGeom>
          <a:solidFill>
            <a:srgbClr val="BFBFBF"/>
          </a:solidFill>
          <a:ln/>
        </p:spPr>
      </p:sp>
      <p:sp>
        <p:nvSpPr>
          <p:cNvPr id="75" name="Shape 72"/>
          <p:cNvSpPr/>
          <p:nvPr/>
        </p:nvSpPr>
        <p:spPr>
          <a:xfrm>
            <a:off x="567309" y="4834509"/>
            <a:ext cx="214249" cy="214249"/>
          </a:xfrm>
          <a:prstGeom prst="ellipse">
            <a:avLst/>
          </a:prstGeom>
          <a:solidFill>
            <a:srgbClr val="00B0F0"/>
          </a:solidFill>
          <a:ln/>
        </p:spPr>
      </p:sp>
      <p:sp>
        <p:nvSpPr>
          <p:cNvPr id="76" name="Shape 73"/>
          <p:cNvSpPr/>
          <p:nvPr/>
        </p:nvSpPr>
        <p:spPr>
          <a:xfrm>
            <a:off x="4511040" y="4955540"/>
            <a:ext cx="651891" cy="0"/>
          </a:xfrm>
          <a:prstGeom prst="line">
            <a:avLst/>
          </a:prstGeom>
          <a:noFill/>
          <a:ln w="41275">
            <a:solidFill>
              <a:srgbClr val="A5A5A5"/>
            </a:solidFill>
            <a:prstDash val="sysDot"/>
            <a:headEnd type="none"/>
            <a:tailEnd type="none"/>
          </a:ln>
        </p:spPr>
      </p:sp>
      <p:sp>
        <p:nvSpPr>
          <p:cNvPr id="77" name="Text 74"/>
          <p:cNvSpPr/>
          <p:nvPr/>
        </p:nvSpPr>
        <p:spPr>
          <a:xfrm>
            <a:off x="544449" y="1266571"/>
            <a:ext cx="10164191" cy="613791"/>
          </a:xfrm>
          <a:prstGeom prst="rect">
            <a:avLst/>
          </a:prstGeom>
          <a:noFill/>
          <a:ln/>
        </p:spPr>
        <p:txBody>
          <a:bodyPr wrap="square" lIns="0" tIns="0" rIns="0" bIns="0" rtlCol="0" anchor="t"/>
          <a:lstStyle/>
          <a:p>
            <a:pPr algn="l" marL="508000" indent="-508000">
              <a:lnSpc>
                <a:spcPct val="120000"/>
              </a:lnSpc>
              <a:spcBef>
                <a:spcPts val="10"/>
              </a:spcBef>
              <a:buSzPct val="100000"/>
              <a:buFont typeface="+mj-lt"/>
              <a:buAutoNum type="arabicPeriod" startAt="1"/>
            </a:pPr>
            <a:r>
              <a:rPr lang="en-US" sz="3200" b="1" dirty="0">
                <a:solidFill>
                  <a:srgbClr val="262626"/>
                </a:solidFill>
                <a:latin typeface="MiSans" pitchFamily="34" charset="0"/>
                <a:ea typeface="MiSans" pitchFamily="34" charset="-122"/>
                <a:cs typeface="MiSans" pitchFamily="34" charset="-120"/>
              </a:rPr>
              <a:t>智能体过度授权</a:t>
            </a:r>
            <a:endParaRPr lang="en-US" sz="3200" dirty="0"/>
          </a:p>
        </p:txBody>
      </p:sp>
      <p:sp>
        <p:nvSpPr>
          <p:cNvPr id="78" name="Shape 75"/>
          <p:cNvSpPr/>
          <p:nvPr/>
        </p:nvSpPr>
        <p:spPr>
          <a:xfrm>
            <a:off x="5162169" y="-889"/>
            <a:ext cx="2654300" cy="962660"/>
          </a:xfrm>
          <a:prstGeom prst="rect">
            <a:avLst/>
          </a:prstGeom>
          <a:solidFill>
            <a:srgbClr val="F2F2F2"/>
          </a:solidFill>
          <a:ln w="12700">
            <a:solidFill>
              <a:srgbClr val="F2F2F2"/>
            </a:solidFill>
            <a:prstDash val="solid"/>
          </a:ln>
        </p:spPr>
      </p:sp>
      <p:sp>
        <p:nvSpPr>
          <p:cNvPr id="79" name="Shape 76"/>
          <p:cNvSpPr/>
          <p:nvPr/>
        </p:nvSpPr>
        <p:spPr>
          <a:xfrm>
            <a:off x="5162169" y="-889"/>
            <a:ext cx="2654300" cy="962660"/>
          </a:xfrm>
          <a:prstGeom prst="rect">
            <a:avLst/>
          </a:prstGeom>
          <a:solidFill>
            <a:srgbClr val="04579A"/>
          </a:solidFill>
          <a:ln w="12700">
            <a:solidFill>
              <a:srgbClr val="04579A"/>
            </a:solidFill>
            <a:prstDash val="solid"/>
          </a:ln>
        </p:spPr>
      </p:sp>
      <p:sp>
        <p:nvSpPr>
          <p:cNvPr id="80" name="Shape 77"/>
          <p:cNvSpPr/>
          <p:nvPr/>
        </p:nvSpPr>
        <p:spPr>
          <a:xfrm>
            <a:off x="7816469" y="-889"/>
            <a:ext cx="4154551" cy="962660"/>
          </a:xfrm>
          <a:prstGeom prst="rect">
            <a:avLst/>
          </a:prstGeom>
          <a:solidFill>
            <a:srgbClr val="F2F2F2"/>
          </a:solidFill>
          <a:ln/>
        </p:spPr>
      </p:sp>
      <p:sp>
        <p:nvSpPr>
          <p:cNvPr id="81" name="Shape 78"/>
          <p:cNvSpPr/>
          <p:nvPr/>
        </p:nvSpPr>
        <p:spPr>
          <a:xfrm>
            <a:off x="11971020" y="0"/>
            <a:ext cx="4284980" cy="961771"/>
          </a:xfrm>
          <a:prstGeom prst="rect">
            <a:avLst/>
          </a:prstGeom>
          <a:solidFill>
            <a:srgbClr val="F2F2F2"/>
          </a:solidFill>
          <a:ln/>
        </p:spPr>
      </p:sp>
      <p:sp>
        <p:nvSpPr>
          <p:cNvPr id="82" name="Shape 79"/>
          <p:cNvSpPr/>
          <p:nvPr/>
        </p:nvSpPr>
        <p:spPr>
          <a:xfrm>
            <a:off x="2219960" y="-889"/>
            <a:ext cx="2942209" cy="962660"/>
          </a:xfrm>
          <a:prstGeom prst="rect">
            <a:avLst/>
          </a:prstGeom>
          <a:solidFill>
            <a:srgbClr val="F2F2F2"/>
          </a:solidFill>
          <a:ln w="12700">
            <a:solidFill>
              <a:srgbClr val="F2F2F2"/>
            </a:solidFill>
            <a:prstDash val="solid"/>
          </a:ln>
        </p:spPr>
      </p:sp>
      <p:sp>
        <p:nvSpPr>
          <p:cNvPr id="83" name="Text 80"/>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选题背景及意义       </a:t>
            </a:r>
            <a:pPr algn="l">
              <a:lnSpc>
                <a:spcPct val="120000"/>
              </a:lnSpc>
            </a:pPr>
            <a:r>
              <a:rPr lang="en-US" sz="2400" dirty="0">
                <a:solidFill>
                  <a:srgbClr val="FFFFFF"/>
                </a:solidFill>
                <a:latin typeface="Arial" pitchFamily="34" charset="0"/>
                <a:ea typeface="Arial" pitchFamily="34" charset="-122"/>
                <a:cs typeface="Arial" pitchFamily="34" charset="-120"/>
              </a:rPr>
              <a:t>国内外研究现状</a:t>
            </a:r>
            <a:pPr algn="l">
              <a:lnSpc>
                <a:spcPct val="120000"/>
              </a:lnSpc>
            </a:pPr>
            <a:r>
              <a:rPr lang="en-US" sz="2400" dirty="0">
                <a:solidFill>
                  <a:srgbClr val="000000"/>
                </a:solidFill>
                <a:latin typeface="Arial" pitchFamily="34" charset="0"/>
                <a:ea typeface="Arial" pitchFamily="34" charset="-122"/>
                <a:cs typeface="Arial" pitchFamily="34" charset="-120"/>
              </a:rPr>
              <a:t>       主要研究内容及预期目标             工作计划与进度安排</a:t>
            </a:r>
            <a:endParaRPr lang="en-US" sz="2400" dirty="0"/>
          </a:p>
        </p:txBody>
      </p:sp>
      <p:pic>
        <p:nvPicPr>
          <p:cNvPr id="84"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85" name="Shape 81"/>
          <p:cNvSpPr/>
          <p:nvPr/>
        </p:nvSpPr>
        <p:spPr>
          <a:xfrm rot="10800000">
            <a:off x="6121400" y="961771"/>
            <a:ext cx="389509" cy="304800"/>
          </a:xfrm>
          <a:prstGeom prst="triangle">
            <a:avLst>
              <a:gd name="adj" fmla="val 50000"/>
            </a:avLst>
          </a:prstGeom>
          <a:solidFill>
            <a:srgbClr val="04579A"/>
          </a:solidFill>
          <a:ln/>
        </p:spPr>
      </p:sp>
      <p:sp>
        <p:nvSpPr>
          <p:cNvPr id="86" name="Shape 82"/>
          <p:cNvSpPr/>
          <p:nvPr/>
        </p:nvSpPr>
        <p:spPr>
          <a:xfrm>
            <a:off x="6835140" y="4895469"/>
            <a:ext cx="126111" cy="126111"/>
          </a:xfrm>
          <a:prstGeom prst="ellipse">
            <a:avLst/>
          </a:prstGeom>
          <a:solidFill>
            <a:srgbClr val="BFBFBF"/>
          </a:solidFill>
          <a:ln/>
        </p:spPr>
      </p:sp>
      <p:sp>
        <p:nvSpPr>
          <p:cNvPr id="87" name="Shape 83"/>
          <p:cNvSpPr/>
          <p:nvPr/>
        </p:nvSpPr>
        <p:spPr>
          <a:xfrm flipV="1">
            <a:off x="6910451" y="2669540"/>
            <a:ext cx="0" cy="2168271"/>
          </a:xfrm>
          <a:prstGeom prst="line">
            <a:avLst/>
          </a:prstGeom>
          <a:noFill/>
          <a:ln w="12700">
            <a:solidFill>
              <a:srgbClr val="7F7F7F"/>
            </a:solidFill>
            <a:prstDash val="solid"/>
            <a:headEnd type="none"/>
            <a:tailEnd type="none"/>
          </a:ln>
        </p:spPr>
      </p:sp>
      <p:sp>
        <p:nvSpPr>
          <p:cNvPr id="88" name="Shape 84"/>
          <p:cNvSpPr/>
          <p:nvPr/>
        </p:nvSpPr>
        <p:spPr>
          <a:xfrm>
            <a:off x="6850380" y="3674491"/>
            <a:ext cx="126111" cy="126111"/>
          </a:xfrm>
          <a:prstGeom prst="ellipse">
            <a:avLst/>
          </a:prstGeom>
          <a:solidFill>
            <a:srgbClr val="A5A5A5"/>
          </a:solidFill>
          <a:ln/>
        </p:spPr>
      </p:sp>
      <p:sp>
        <p:nvSpPr>
          <p:cNvPr id="89" name="Shape 85"/>
          <p:cNvSpPr/>
          <p:nvPr/>
        </p:nvSpPr>
        <p:spPr>
          <a:xfrm>
            <a:off x="6803009" y="4837811"/>
            <a:ext cx="214249" cy="214249"/>
          </a:xfrm>
          <a:prstGeom prst="ellipse">
            <a:avLst/>
          </a:prstGeom>
          <a:solidFill>
            <a:srgbClr val="00B0F0"/>
          </a:solidFill>
          <a:ln/>
        </p:spPr>
      </p:sp>
      <p:sp>
        <p:nvSpPr>
          <p:cNvPr id="90" name="Shape 86"/>
          <p:cNvSpPr/>
          <p:nvPr/>
        </p:nvSpPr>
        <p:spPr>
          <a:xfrm>
            <a:off x="8051038" y="4892802"/>
            <a:ext cx="126111" cy="126111"/>
          </a:xfrm>
          <a:prstGeom prst="ellipse">
            <a:avLst/>
          </a:prstGeom>
          <a:solidFill>
            <a:srgbClr val="BFBFBF"/>
          </a:solidFill>
          <a:ln/>
        </p:spPr>
      </p:sp>
      <p:sp>
        <p:nvSpPr>
          <p:cNvPr id="91" name="Shape 87"/>
          <p:cNvSpPr/>
          <p:nvPr/>
        </p:nvSpPr>
        <p:spPr>
          <a:xfrm>
            <a:off x="9202801" y="4903851"/>
            <a:ext cx="126111" cy="126111"/>
          </a:xfrm>
          <a:prstGeom prst="ellipse">
            <a:avLst/>
          </a:prstGeom>
          <a:solidFill>
            <a:srgbClr val="BFBFBF"/>
          </a:solidFill>
          <a:ln/>
        </p:spPr>
      </p:sp>
      <p:sp>
        <p:nvSpPr>
          <p:cNvPr id="92" name="Shape 88"/>
          <p:cNvSpPr/>
          <p:nvPr/>
        </p:nvSpPr>
        <p:spPr>
          <a:xfrm>
            <a:off x="9179179" y="4846320"/>
            <a:ext cx="214249" cy="214249"/>
          </a:xfrm>
          <a:prstGeom prst="ellipse">
            <a:avLst/>
          </a:prstGeom>
          <a:solidFill>
            <a:srgbClr val="00B0F0"/>
          </a:solidFill>
          <a:ln/>
        </p:spPr>
      </p:sp>
      <p:sp>
        <p:nvSpPr>
          <p:cNvPr id="93" name="Shape 89"/>
          <p:cNvSpPr/>
          <p:nvPr/>
        </p:nvSpPr>
        <p:spPr>
          <a:xfrm>
            <a:off x="9224391" y="5696839"/>
            <a:ext cx="126111" cy="126111"/>
          </a:xfrm>
          <a:prstGeom prst="ellipse">
            <a:avLst/>
          </a:prstGeom>
          <a:solidFill>
            <a:srgbClr val="A5A5A5"/>
          </a:solidFill>
          <a:ln/>
        </p:spPr>
      </p:sp>
      <p:sp>
        <p:nvSpPr>
          <p:cNvPr id="94" name="Shape 90"/>
          <p:cNvSpPr/>
          <p:nvPr/>
        </p:nvSpPr>
        <p:spPr>
          <a:xfrm>
            <a:off x="13067411" y="4897501"/>
            <a:ext cx="126111" cy="126111"/>
          </a:xfrm>
          <a:prstGeom prst="ellipse">
            <a:avLst/>
          </a:prstGeom>
          <a:solidFill>
            <a:srgbClr val="BFBFBF"/>
          </a:solidFill>
          <a:ln/>
        </p:spPr>
      </p:sp>
      <p:sp>
        <p:nvSpPr>
          <p:cNvPr id="95" name="Text 91"/>
          <p:cNvSpPr/>
          <p:nvPr/>
        </p:nvSpPr>
        <p:spPr>
          <a:xfrm>
            <a:off x="9327769" y="5399786"/>
            <a:ext cx="1780921" cy="491109"/>
          </a:xfrm>
          <a:prstGeom prst="rect">
            <a:avLst/>
          </a:prstGeom>
          <a:noFill/>
          <a:ln/>
        </p:spPr>
        <p:txBody>
          <a:bodyPr wrap="square" lIns="0" tIns="0" rIns="0" bIns="0" rtlCol="0" anchor="t"/>
          <a:lstStyle/>
          <a:p>
            <a:pPr algn="l">
              <a:lnSpc>
                <a:spcPct val="120000"/>
              </a:lnSpc>
            </a:pPr>
            <a:r>
              <a:rPr lang="en-US" sz="2400" b="1" dirty="0">
                <a:solidFill>
                  <a:srgbClr val="595959"/>
                </a:solidFill>
                <a:latin typeface="MiSans" pitchFamily="34" charset="0"/>
                <a:ea typeface="MiSans" pitchFamily="34" charset="-122"/>
                <a:cs typeface="MiSans" pitchFamily="34" charset="-120"/>
              </a:rPr>
              <a:t>U</a:t>
            </a:r>
            <a:endParaRPr lang="en-US" sz="2400" dirty="0"/>
          </a:p>
        </p:txBody>
      </p:sp>
      <p:sp>
        <p:nvSpPr>
          <p:cNvPr id="96" name="Text 92"/>
          <p:cNvSpPr/>
          <p:nvPr/>
        </p:nvSpPr>
        <p:spPr>
          <a:xfrm>
            <a:off x="9276461" y="6201283"/>
            <a:ext cx="1934591" cy="367411"/>
          </a:xfrm>
          <a:prstGeom prst="rect">
            <a:avLst/>
          </a:prstGeom>
          <a:noFill/>
          <a:ln/>
        </p:spPr>
        <p:txBody>
          <a:bodyPr wrap="square" lIns="0" tIns="0" rIns="0" bIns="0" rtlCol="0" anchor="t"/>
          <a:lstStyle/>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以</a:t>
            </a:r>
            <a:endParaRPr lang="en-US" sz="1600" dirty="0"/>
          </a:p>
        </p:txBody>
      </p:sp>
      <p:sp>
        <p:nvSpPr>
          <p:cNvPr id="97" name="Text 93"/>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16</a:t>
            </a:r>
            <a:endParaRPr lang="en-US" sz="2400" dirty="0"/>
          </a:p>
        </p:txBody>
      </p:sp>
    </p:spTree>
  </p:cSld>
  <p:clrMapOvr>
    <a:masterClrMapping/>
  </p:clrMapOvr>
  <p:transition>
    <p:fade/>
    <p:spd val="med"/>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816469" y="-889"/>
            <a:ext cx="4154551" cy="962660"/>
          </a:xfrm>
          <a:prstGeom prst="rect">
            <a:avLst/>
          </a:prstGeom>
          <a:solidFill>
            <a:srgbClr val="F2F2F2"/>
          </a:solidFill>
          <a:ln w="12700">
            <a:solidFill>
              <a:srgbClr val="F2F2F2"/>
            </a:solidFill>
            <a:prstDash val="solid"/>
          </a:ln>
        </p:spPr>
      </p:sp>
      <p:sp>
        <p:nvSpPr>
          <p:cNvPr id="4" name="Shape 1"/>
          <p:cNvSpPr/>
          <p:nvPr/>
        </p:nvSpPr>
        <p:spPr>
          <a:xfrm>
            <a:off x="7816469" y="4191"/>
            <a:ext cx="4152900" cy="962660"/>
          </a:xfrm>
          <a:prstGeom prst="rect">
            <a:avLst/>
          </a:prstGeom>
          <a:solidFill>
            <a:srgbClr val="04579A"/>
          </a:solidFill>
          <a:ln w="12700">
            <a:solidFill>
              <a:srgbClr val="04579A"/>
            </a:solidFill>
            <a:prstDash val="solid"/>
          </a:ln>
        </p:spPr>
      </p:sp>
      <p:sp>
        <p:nvSpPr>
          <p:cNvPr id="5" name="Shape 2"/>
          <p:cNvSpPr/>
          <p:nvPr/>
        </p:nvSpPr>
        <p:spPr>
          <a:xfrm>
            <a:off x="5162169" y="-889"/>
            <a:ext cx="2654300" cy="962660"/>
          </a:xfrm>
          <a:prstGeom prst="rect">
            <a:avLst/>
          </a:prstGeom>
          <a:solidFill>
            <a:srgbClr val="F2F2F2"/>
          </a:solidFill>
          <a:ln w="12700">
            <a:solidFill>
              <a:srgbClr val="F2F2F2"/>
            </a:solidFill>
            <a:prstDash val="solid"/>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942209" cy="962660"/>
          </a:xfrm>
          <a:prstGeom prst="rect">
            <a:avLst/>
          </a:prstGeom>
          <a:solidFill>
            <a:srgbClr val="F2F2F2"/>
          </a:solidFill>
          <a:ln w="12700">
            <a:solidFill>
              <a:srgbClr val="F2F2F2"/>
            </a:solidFill>
            <a:prstDash val="solid"/>
          </a:ln>
        </p:spPr>
      </p:sp>
      <p:sp>
        <p:nvSpPr>
          <p:cNvPr id="8" name="Text 5"/>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选题背景及意义       国内外研究现状       </a:t>
            </a:r>
            <a:pPr algn="l">
              <a:lnSpc>
                <a:spcPct val="120000"/>
              </a:lnSpc>
            </a:pPr>
            <a:r>
              <a:rPr lang="en-US" sz="2400" dirty="0">
                <a:solidFill>
                  <a:srgbClr val="FFFFFF"/>
                </a:solidFill>
                <a:latin typeface="Arial" pitchFamily="34" charset="0"/>
                <a:ea typeface="Arial" pitchFamily="34" charset="-122"/>
                <a:cs typeface="Arial" pitchFamily="34" charset="-120"/>
              </a:rPr>
              <a:t>主要研究内容及预期目标</a:t>
            </a:r>
            <a:pPr algn="l">
              <a:lnSpc>
                <a:spcPct val="120000"/>
              </a:lnSpc>
            </a:pPr>
            <a:r>
              <a:rPr lang="en-US" sz="2400" dirty="0">
                <a:solidFill>
                  <a:srgbClr val="000000"/>
                </a:solidFill>
                <a:latin typeface="Arial" pitchFamily="34" charset="0"/>
                <a:ea typeface="Arial" pitchFamily="34" charset="-122"/>
                <a:cs typeface="Arial" pitchFamily="34" charset="-120"/>
              </a:rPr>
              <a:t>             工作计划与进度安排</a:t>
            </a:r>
            <a:endParaRPr lang="en-US" sz="2400" dirty="0"/>
          </a:p>
        </p:txBody>
      </p:sp>
      <p:pic>
        <p:nvPicPr>
          <p:cNvPr id="9"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0" name="Shape 6"/>
          <p:cNvSpPr/>
          <p:nvPr/>
        </p:nvSpPr>
        <p:spPr>
          <a:xfrm rot="10800000">
            <a:off x="9699371" y="961009"/>
            <a:ext cx="389509" cy="304800"/>
          </a:xfrm>
          <a:prstGeom prst="triangle">
            <a:avLst>
              <a:gd name="adj" fmla="val 50000"/>
            </a:avLst>
          </a:prstGeom>
          <a:solidFill>
            <a:srgbClr val="04579A"/>
          </a:solidFill>
          <a:ln/>
        </p:spPr>
      </p:sp>
      <p:sp>
        <p:nvSpPr>
          <p:cNvPr id="11" name="Shape 7"/>
          <p:cNvSpPr/>
          <p:nvPr/>
        </p:nvSpPr>
        <p:spPr>
          <a:xfrm>
            <a:off x="5586730" y="2680970"/>
            <a:ext cx="474091" cy="694309"/>
          </a:xfrm>
          <a:prstGeom prst="rightArrow">
            <a:avLst>
              <a:gd name="adj1" fmla="val 50000"/>
              <a:gd name="adj2" fmla="val 50000"/>
            </a:avLst>
          </a:prstGeom>
          <a:solidFill>
            <a:srgbClr val="FFFFFF"/>
          </a:solidFill>
          <a:ln w="12700">
            <a:solidFill>
              <a:srgbClr val="04579A"/>
            </a:solidFill>
            <a:prstDash val="solid"/>
          </a:ln>
        </p:spPr>
      </p:sp>
      <p:sp>
        <p:nvSpPr>
          <p:cNvPr id="12" name="Shape 8"/>
          <p:cNvSpPr/>
          <p:nvPr/>
        </p:nvSpPr>
        <p:spPr>
          <a:xfrm>
            <a:off x="5586730" y="4102481"/>
            <a:ext cx="474091" cy="694309"/>
          </a:xfrm>
          <a:prstGeom prst="rightArrow">
            <a:avLst>
              <a:gd name="adj1" fmla="val 50000"/>
              <a:gd name="adj2" fmla="val 50000"/>
            </a:avLst>
          </a:prstGeom>
          <a:solidFill>
            <a:srgbClr val="FFFFFF"/>
          </a:solidFill>
          <a:ln w="12700">
            <a:solidFill>
              <a:srgbClr val="04579A"/>
            </a:solidFill>
            <a:prstDash val="solid"/>
          </a:ln>
        </p:spPr>
      </p:sp>
      <p:sp>
        <p:nvSpPr>
          <p:cNvPr id="13" name="Shape 9"/>
          <p:cNvSpPr/>
          <p:nvPr/>
        </p:nvSpPr>
        <p:spPr>
          <a:xfrm>
            <a:off x="5586730" y="5412359"/>
            <a:ext cx="474091" cy="694309"/>
          </a:xfrm>
          <a:prstGeom prst="rightArrow">
            <a:avLst>
              <a:gd name="adj1" fmla="val 50000"/>
              <a:gd name="adj2" fmla="val 50000"/>
            </a:avLst>
          </a:prstGeom>
          <a:solidFill>
            <a:srgbClr val="FFFFFF"/>
          </a:solidFill>
          <a:ln w="12700">
            <a:solidFill>
              <a:srgbClr val="04579A"/>
            </a:solidFill>
            <a:prstDash val="solid"/>
          </a:ln>
        </p:spPr>
      </p:sp>
      <p:sp>
        <p:nvSpPr>
          <p:cNvPr id="14" name="Text 10"/>
          <p:cNvSpPr/>
          <p:nvPr/>
        </p:nvSpPr>
        <p:spPr>
          <a:xfrm>
            <a:off x="6592570" y="2761361"/>
            <a:ext cx="8409559" cy="531749"/>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基于操作参数约束需求的智能体授权协议设计</a:t>
            </a:r>
            <a:pPr algn="l">
              <a:lnSpc>
                <a:spcPct val="120000"/>
              </a:lnSpc>
            </a:pPr>
            <a:r>
              <a:rPr lang="en-US" sz="2670" b="1" dirty="0">
                <a:solidFill>
                  <a:srgbClr val="04579A"/>
                </a:solidFill>
                <a:latin typeface="MiSans" pitchFamily="34" charset="0"/>
                <a:ea typeface="MiSans" pitchFamily="34" charset="-122"/>
                <a:cs typeface="MiSans" pitchFamily="34" charset="-120"/>
              </a:rPr>
              <a:t>	</a:t>
            </a:r>
            <a:endParaRPr lang="en-US" sz="2670" dirty="0"/>
          </a:p>
        </p:txBody>
      </p:sp>
      <p:sp>
        <p:nvSpPr>
          <p:cNvPr id="15" name="Text 11"/>
          <p:cNvSpPr/>
          <p:nvPr/>
        </p:nvSpPr>
        <p:spPr>
          <a:xfrm>
            <a:off x="6592570" y="4217670"/>
            <a:ext cx="8741791" cy="531749"/>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基于顺序执行约束需求的智能体授权协议设计</a:t>
            </a:r>
            <a:pPr algn="l">
              <a:lnSpc>
                <a:spcPct val="120000"/>
              </a:lnSpc>
            </a:pPr>
            <a:r>
              <a:rPr lang="en-US" sz="2670" b="1" dirty="0">
                <a:solidFill>
                  <a:srgbClr val="04579A"/>
                </a:solidFill>
                <a:latin typeface="MiSans" pitchFamily="34" charset="0"/>
                <a:ea typeface="MiSans" pitchFamily="34" charset="-122"/>
                <a:cs typeface="MiSans" pitchFamily="34" charset="-120"/>
              </a:rPr>
              <a:t>	</a:t>
            </a:r>
            <a:endParaRPr lang="en-US" sz="2670" dirty="0"/>
          </a:p>
        </p:txBody>
      </p:sp>
      <p:sp>
        <p:nvSpPr>
          <p:cNvPr id="16" name="Text 12"/>
          <p:cNvSpPr/>
          <p:nvPr/>
        </p:nvSpPr>
        <p:spPr>
          <a:xfrm>
            <a:off x="6592570" y="5513832"/>
            <a:ext cx="8921369" cy="531749"/>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基于复杂任务授权需求的智能体授权协议应用实现</a:t>
            </a:r>
            <a:endParaRPr lang="en-US" sz="2670" dirty="0"/>
          </a:p>
        </p:txBody>
      </p:sp>
      <p:sp>
        <p:nvSpPr>
          <p:cNvPr id="17" name="Text 13"/>
          <p:cNvSpPr/>
          <p:nvPr/>
        </p:nvSpPr>
        <p:spPr>
          <a:xfrm>
            <a:off x="743839" y="2556129"/>
            <a:ext cx="4312920" cy="942340"/>
          </a:xfrm>
          <a:prstGeom prst="rect">
            <a:avLst/>
          </a:prstGeom>
          <a:noFill/>
          <a:ln/>
        </p:spPr>
        <p:txBody>
          <a:bodyPr wrap="square" lIns="0" tIns="0" rIns="0" bIns="0" rtlCol="0" anchor="t"/>
          <a:lstStyle/>
          <a:p>
            <a:pPr algn="ctr" marL="423863" indent="-423863">
              <a:lnSpc>
                <a:spcPct val="120000"/>
              </a:lnSpc>
              <a:spcBef>
                <a:spcPts val="10"/>
              </a:spcBef>
              <a:buSzPct val="100000"/>
              <a:buFont typeface="+mj-lt"/>
              <a:buAutoNum type="arabicPeriod" startAt="1"/>
            </a:pPr>
            <a:r>
              <a:rPr lang="en-US" sz="2670" b="1" dirty="0">
                <a:solidFill>
                  <a:srgbClr val="262626"/>
                </a:solidFill>
                <a:latin typeface="MiSans" pitchFamily="34" charset="0"/>
                <a:ea typeface="MiSans" pitchFamily="34" charset="-122"/>
                <a:cs typeface="MiSans" pitchFamily="34" charset="-120"/>
              </a:rPr>
              <a:t>复杂任务场景下的智能体授权</a:t>
            </a:r>
            <a:pPr algn="ctr">
              <a:lnSpc>
                <a:spcPct val="120000"/>
              </a:lnSpc>
              <a:spcBef>
                <a:spcPts val="10"/>
              </a:spcBef>
            </a:pPr>
            <a:r>
              <a:rPr lang="en-US" sz="2670" b="1" dirty="0">
                <a:solidFill>
                  <a:srgbClr val="262626"/>
                </a:solidFill>
                <a:latin typeface="MiSans" pitchFamily="34" charset="0"/>
                <a:ea typeface="MiSans" pitchFamily="34" charset="-122"/>
                <a:cs typeface="MiSans" pitchFamily="34" charset="-120"/>
              </a:rPr>
              <a:t>粒度</a:t>
            </a:r>
            <a:endParaRPr lang="en-US" sz="2670" dirty="0"/>
          </a:p>
        </p:txBody>
      </p:sp>
      <p:sp>
        <p:nvSpPr>
          <p:cNvPr id="18" name="Text 14"/>
          <p:cNvSpPr/>
          <p:nvPr/>
        </p:nvSpPr>
        <p:spPr>
          <a:xfrm>
            <a:off x="742061" y="3940937"/>
            <a:ext cx="4314571" cy="942340"/>
          </a:xfrm>
          <a:prstGeom prst="rect">
            <a:avLst/>
          </a:prstGeom>
          <a:noFill/>
          <a:ln/>
        </p:spPr>
        <p:txBody>
          <a:bodyPr wrap="square" lIns="0" tIns="0" rIns="0" bIns="0" rtlCol="0" anchor="t"/>
          <a:lstStyle/>
          <a:p>
            <a:pPr algn="ctr">
              <a:lnSpc>
                <a:spcPct val="120000"/>
              </a:lnSpc>
            </a:pPr>
            <a:r>
              <a:rPr lang="en-US" sz="2670" b="1" dirty="0">
                <a:solidFill>
                  <a:srgbClr val="262626"/>
                </a:solidFill>
                <a:latin typeface="MiSans" pitchFamily="34" charset="0"/>
                <a:ea typeface="MiSans" pitchFamily="34" charset="-122"/>
                <a:cs typeface="MiSans" pitchFamily="34" charset="-120"/>
              </a:rPr>
              <a:t>2.   </a:t>
            </a:r>
            <a:pPr algn="ctr">
              <a:lnSpc>
                <a:spcPct val="120000"/>
              </a:lnSpc>
            </a:pPr>
            <a:r>
              <a:rPr lang="en-US" sz="2670" b="1" dirty="0">
                <a:solidFill>
                  <a:srgbClr val="262626"/>
                </a:solidFill>
                <a:latin typeface="MiSans" pitchFamily="34" charset="0"/>
                <a:ea typeface="MiSans" pitchFamily="34" charset="-122"/>
                <a:cs typeface="MiSans" pitchFamily="34" charset="-120"/>
              </a:rPr>
              <a:t>复杂任务场景下的智能体上下文感知</a:t>
            </a:r>
            <a:endParaRPr lang="en-US" sz="2670" dirty="0"/>
          </a:p>
        </p:txBody>
      </p:sp>
      <p:sp>
        <p:nvSpPr>
          <p:cNvPr id="19" name="Text 15"/>
          <p:cNvSpPr/>
          <p:nvPr/>
        </p:nvSpPr>
        <p:spPr>
          <a:xfrm>
            <a:off x="742061" y="5364861"/>
            <a:ext cx="4316349" cy="531749"/>
          </a:xfrm>
          <a:prstGeom prst="rect">
            <a:avLst/>
          </a:prstGeom>
          <a:noFill/>
          <a:ln/>
        </p:spPr>
        <p:txBody>
          <a:bodyPr wrap="square" lIns="0" tIns="0" rIns="0" bIns="0" rtlCol="0" anchor="t"/>
          <a:lstStyle/>
          <a:p>
            <a:pPr algn="l">
              <a:lnSpc>
                <a:spcPct val="120000"/>
              </a:lnSpc>
            </a:pPr>
            <a:r>
              <a:rPr lang="en-US" sz="2670" b="1" dirty="0">
                <a:solidFill>
                  <a:srgbClr val="262626"/>
                </a:solidFill>
                <a:latin typeface="Arial" pitchFamily="34" charset="0"/>
                <a:ea typeface="Arial" pitchFamily="34" charset="-122"/>
                <a:cs typeface="Arial" pitchFamily="34" charset="-120"/>
              </a:rPr>
              <a:t>3.    </a:t>
            </a:r>
            <a:pPr algn="l">
              <a:lnSpc>
                <a:spcPct val="120000"/>
              </a:lnSpc>
            </a:pPr>
            <a:r>
              <a:rPr lang="en-US" sz="2670" b="1" dirty="0">
                <a:solidFill>
                  <a:srgbClr val="262626"/>
                </a:solidFill>
                <a:latin typeface="Arial" pitchFamily="34" charset="0"/>
                <a:ea typeface="Arial" pitchFamily="34" charset="-122"/>
                <a:cs typeface="Arial" pitchFamily="34" charset="-120"/>
              </a:rPr>
              <a:t>跨</a:t>
            </a:r>
            <a:endParaRPr lang="en-US" sz="2670" dirty="0"/>
          </a:p>
        </p:txBody>
      </p:sp>
      <p:sp>
        <p:nvSpPr>
          <p:cNvPr id="20" name="Text 16"/>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22</a:t>
            </a:r>
            <a:endParaRPr lang="en-US" sz="2400" dirty="0"/>
          </a:p>
        </p:txBody>
      </p:sp>
    </p:spTree>
  </p:cSld>
  <p:clrMapOvr>
    <a:masterClrMapping/>
  </p:clrMapOvr>
  <p:transition>
    <p:fade/>
    <p:spd val="med"/>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573772" y="3430651"/>
            <a:ext cx="3668141" cy="2586228"/>
          </a:xfrm>
          <a:prstGeom prst="roundRect">
            <a:avLst>
              <a:gd name="adj" fmla="val 16667"/>
            </a:avLst>
          </a:prstGeom>
          <a:noFill/>
          <a:ln w="12700">
            <a:solidFill>
              <a:srgbClr val="0070C0"/>
            </a:solidFill>
            <a:prstDash val="solid"/>
          </a:ln>
        </p:spPr>
      </p:sp>
      <p:sp>
        <p:nvSpPr>
          <p:cNvPr id="4" name="Shape 1"/>
          <p:cNvSpPr/>
          <p:nvPr/>
        </p:nvSpPr>
        <p:spPr>
          <a:xfrm>
            <a:off x="7816469" y="-889"/>
            <a:ext cx="4154551" cy="962660"/>
          </a:xfrm>
          <a:prstGeom prst="rect">
            <a:avLst/>
          </a:prstGeom>
          <a:solidFill>
            <a:srgbClr val="F2F2F2"/>
          </a:solidFill>
          <a:ln w="12700">
            <a:solidFill>
              <a:srgbClr val="F2F2F2"/>
            </a:solidFill>
            <a:prstDash val="solid"/>
          </a:ln>
        </p:spPr>
      </p:sp>
      <p:sp>
        <p:nvSpPr>
          <p:cNvPr id="5" name="Shape 2"/>
          <p:cNvSpPr/>
          <p:nvPr/>
        </p:nvSpPr>
        <p:spPr>
          <a:xfrm>
            <a:off x="7816469" y="4191"/>
            <a:ext cx="4152900" cy="962660"/>
          </a:xfrm>
          <a:prstGeom prst="rect">
            <a:avLst/>
          </a:prstGeom>
          <a:solidFill>
            <a:srgbClr val="04579A"/>
          </a:solidFill>
          <a:ln w="12700">
            <a:solidFill>
              <a:srgbClr val="04579A"/>
            </a:solidFill>
            <a:prstDash val="solid"/>
          </a:ln>
        </p:spPr>
      </p:sp>
      <p:sp>
        <p:nvSpPr>
          <p:cNvPr id="6" name="Shape 3"/>
          <p:cNvSpPr/>
          <p:nvPr/>
        </p:nvSpPr>
        <p:spPr>
          <a:xfrm>
            <a:off x="5162169" y="-889"/>
            <a:ext cx="2654300" cy="962660"/>
          </a:xfrm>
          <a:prstGeom prst="rect">
            <a:avLst/>
          </a:prstGeom>
          <a:solidFill>
            <a:srgbClr val="F2F2F2"/>
          </a:solidFill>
          <a:ln w="12700">
            <a:solidFill>
              <a:srgbClr val="F2F2F2"/>
            </a:solidFill>
            <a:prstDash val="solid"/>
          </a:ln>
        </p:spPr>
      </p:sp>
      <p:sp>
        <p:nvSpPr>
          <p:cNvPr id="7" name="Shape 4"/>
          <p:cNvSpPr/>
          <p:nvPr/>
        </p:nvSpPr>
        <p:spPr>
          <a:xfrm>
            <a:off x="11971020" y="0"/>
            <a:ext cx="4284980" cy="961771"/>
          </a:xfrm>
          <a:prstGeom prst="rect">
            <a:avLst/>
          </a:prstGeom>
          <a:solidFill>
            <a:srgbClr val="F2F2F2"/>
          </a:solidFill>
          <a:ln/>
        </p:spPr>
      </p:sp>
      <p:sp>
        <p:nvSpPr>
          <p:cNvPr id="8" name="Shape 5"/>
          <p:cNvSpPr/>
          <p:nvPr/>
        </p:nvSpPr>
        <p:spPr>
          <a:xfrm>
            <a:off x="2219960" y="-889"/>
            <a:ext cx="2942209" cy="962660"/>
          </a:xfrm>
          <a:prstGeom prst="rect">
            <a:avLst/>
          </a:prstGeom>
          <a:solidFill>
            <a:srgbClr val="F2F2F2"/>
          </a:solidFill>
          <a:ln w="12700">
            <a:solidFill>
              <a:srgbClr val="F2F2F2"/>
            </a:solidFill>
            <a:prstDash val="solid"/>
          </a:ln>
        </p:spPr>
      </p:sp>
      <p:sp>
        <p:nvSpPr>
          <p:cNvPr id="9" name="Text 6"/>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选题背景及意义       国内外研究现状       </a:t>
            </a:r>
            <a:pPr algn="l">
              <a:lnSpc>
                <a:spcPct val="120000"/>
              </a:lnSpc>
            </a:pPr>
            <a:r>
              <a:rPr lang="en-US" sz="2400" dirty="0">
                <a:solidFill>
                  <a:srgbClr val="FFFFFF"/>
                </a:solidFill>
                <a:latin typeface="Arial" pitchFamily="34" charset="0"/>
                <a:ea typeface="Arial" pitchFamily="34" charset="-122"/>
                <a:cs typeface="Arial" pitchFamily="34" charset="-120"/>
              </a:rPr>
              <a:t>主要研究内容及预期目标</a:t>
            </a:r>
            <a:pPr algn="l">
              <a:lnSpc>
                <a:spcPct val="120000"/>
              </a:lnSpc>
            </a:pPr>
            <a:r>
              <a:rPr lang="en-US" sz="2400" dirty="0">
                <a:solidFill>
                  <a:srgbClr val="000000"/>
                </a:solidFill>
                <a:latin typeface="Arial" pitchFamily="34" charset="0"/>
                <a:ea typeface="Arial" pitchFamily="34" charset="-122"/>
                <a:cs typeface="Arial" pitchFamily="34" charset="-120"/>
              </a:rPr>
              <a:t>             工作计划与进度安排</a:t>
            </a:r>
            <a:endParaRPr lang="en-US" sz="2400" dirty="0"/>
          </a:p>
        </p:txBody>
      </p:sp>
      <p:pic>
        <p:nvPicPr>
          <p:cNvPr id="10"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1" name="Shape 7"/>
          <p:cNvSpPr/>
          <p:nvPr/>
        </p:nvSpPr>
        <p:spPr>
          <a:xfrm rot="10800000">
            <a:off x="9699371" y="961009"/>
            <a:ext cx="389509" cy="304800"/>
          </a:xfrm>
          <a:prstGeom prst="triangle">
            <a:avLst>
              <a:gd name="adj" fmla="val 50000"/>
            </a:avLst>
          </a:prstGeom>
          <a:solidFill>
            <a:srgbClr val="04579A"/>
          </a:solidFill>
          <a:ln/>
        </p:spPr>
      </p:sp>
      <p:sp>
        <p:nvSpPr>
          <p:cNvPr id="12" name="Text 8"/>
          <p:cNvSpPr/>
          <p:nvPr/>
        </p:nvSpPr>
        <p:spPr>
          <a:xfrm>
            <a:off x="793369" y="1895729"/>
            <a:ext cx="14411960" cy="531749"/>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恶意环境下分布式数字资产交易协议设计与分析</a:t>
            </a:r>
            <a:pPr algn="l">
              <a:lnSpc>
                <a:spcPct val="120000"/>
              </a:lnSpc>
            </a:pPr>
            <a:r>
              <a:rPr lang="en-US" sz="2670" b="1" dirty="0">
                <a:solidFill>
                  <a:srgbClr val="04579A"/>
                </a:solidFill>
                <a:latin typeface="MiSans" pitchFamily="34" charset="0"/>
                <a:ea typeface="MiSans" pitchFamily="34" charset="-122"/>
                <a:cs typeface="MiSans" pitchFamily="34" charset="-120"/>
              </a:rPr>
              <a:t>	</a:t>
            </a:r>
            <a:endParaRPr lang="en-US" sz="2670" dirty="0"/>
          </a:p>
        </p:txBody>
      </p:sp>
      <p:sp>
        <p:nvSpPr>
          <p:cNvPr id="13" name="Shape 9"/>
          <p:cNvSpPr/>
          <p:nvPr/>
        </p:nvSpPr>
        <p:spPr>
          <a:xfrm>
            <a:off x="793369" y="2685669"/>
            <a:ext cx="2152269" cy="550291"/>
          </a:xfrm>
          <a:prstGeom prst="parallelogram">
            <a:avLst>
              <a:gd name="adj" fmla="val 25000"/>
            </a:avLst>
          </a:prstGeom>
          <a:solidFill>
            <a:srgbClr val="04579A"/>
          </a:solidFill>
          <a:ln w="12700">
            <a:solidFill>
              <a:srgbClr val="304B73"/>
            </a:solidFill>
            <a:prstDash val="solid"/>
          </a:ln>
        </p:spPr>
      </p:sp>
      <p:sp>
        <p:nvSpPr>
          <p:cNvPr id="14" name="Text 10"/>
          <p:cNvSpPr/>
          <p:nvPr/>
        </p:nvSpPr>
        <p:spPr>
          <a:xfrm>
            <a:off x="793369" y="2685669"/>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研究内容</a:t>
            </a:r>
            <a:endParaRPr lang="en-US" sz="2400" dirty="0"/>
          </a:p>
        </p:txBody>
      </p:sp>
      <p:sp>
        <p:nvSpPr>
          <p:cNvPr id="15" name="Shape 11"/>
          <p:cNvSpPr/>
          <p:nvPr/>
        </p:nvSpPr>
        <p:spPr>
          <a:xfrm>
            <a:off x="793369" y="6864731"/>
            <a:ext cx="2152269" cy="550291"/>
          </a:xfrm>
          <a:prstGeom prst="parallelogram">
            <a:avLst>
              <a:gd name="adj" fmla="val 25000"/>
            </a:avLst>
          </a:prstGeom>
          <a:solidFill>
            <a:srgbClr val="04579A"/>
          </a:solidFill>
          <a:ln w="12700">
            <a:solidFill>
              <a:srgbClr val="304B73"/>
            </a:solidFill>
            <a:prstDash val="solid"/>
          </a:ln>
        </p:spPr>
      </p:sp>
      <p:sp>
        <p:nvSpPr>
          <p:cNvPr id="16" name="Text 12"/>
          <p:cNvSpPr/>
          <p:nvPr/>
        </p:nvSpPr>
        <p:spPr>
          <a:xfrm>
            <a:off x="793369" y="6864731"/>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预期目标</a:t>
            </a:r>
            <a:endParaRPr lang="en-US" sz="2400" dirty="0"/>
          </a:p>
        </p:txBody>
      </p:sp>
      <p:sp>
        <p:nvSpPr>
          <p:cNvPr id="17" name="Text 13"/>
          <p:cNvSpPr/>
          <p:nvPr/>
        </p:nvSpPr>
        <p:spPr>
          <a:xfrm>
            <a:off x="1253871" y="7546340"/>
            <a:ext cx="13355320" cy="1440180"/>
          </a:xfrm>
          <a:prstGeom prst="rect">
            <a:avLst/>
          </a:prstGeom>
          <a:noFill/>
          <a:ln/>
        </p:spPr>
        <p:txBody>
          <a:bodyPr wrap="square" lIns="0" tIns="0" rIns="0" bIns="0" rtlCol="0" anchor="t"/>
          <a:lstStyle/>
          <a:p>
            <a:pPr algn="l">
              <a:lnSpc>
                <a:spcPct val="120000"/>
              </a:lnSpc>
              <a:spcBef>
                <a:spcPts val="800"/>
              </a:spcBef>
            </a:pPr>
            <a:r>
              <a:rPr lang="en-US" sz="2400" dirty="0">
                <a:solidFill>
                  <a:srgbClr val="000000"/>
                </a:solidFill>
                <a:latin typeface="MiSans" pitchFamily="34" charset="0"/>
                <a:ea typeface="MiSans" pitchFamily="34" charset="-122"/>
                <a:cs typeface="MiSans" pitchFamily="34" charset="-120"/>
              </a:rPr>
              <a:t>提出可证明安全的分布式数字资产交易协议</a:t>
            </a:r>
            <a:endParaRPr lang="en-US" sz="2400" dirty="0"/>
          </a:p>
        </p:txBody>
      </p:sp>
      <p:sp>
        <p:nvSpPr>
          <p:cNvPr id="18" name="Text 14"/>
          <p:cNvSpPr/>
          <p:nvPr/>
        </p:nvSpPr>
        <p:spPr>
          <a:xfrm>
            <a:off x="793369" y="3657600"/>
            <a:ext cx="6217920" cy="2744724"/>
          </a:xfrm>
          <a:prstGeom prst="rect">
            <a:avLst/>
          </a:prstGeom>
          <a:noFill/>
          <a:ln/>
        </p:spPr>
        <p:txBody>
          <a:bodyPr wrap="square" lIns="0" tIns="0" rIns="0" bIns="0" rtlCol="0" anchor="t"/>
          <a:lstStyle/>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现有的分布式资产交易协议资产兑换机制依赖于诚实矿工假设，难以应对现实中恶意攻击</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分析现有协议的安全漏洞及潜在攻击，重构现有资产兑换范式</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完成安全性分析与证明</a:t>
            </a:r>
            <a:endParaRPr lang="en-US" sz="2400" dirty="0"/>
          </a:p>
        </p:txBody>
      </p:sp>
      <p:sp>
        <p:nvSpPr>
          <p:cNvPr id="19" name="Text 15"/>
          <p:cNvSpPr/>
          <p:nvPr/>
        </p:nvSpPr>
        <p:spPr>
          <a:xfrm>
            <a:off x="7471791" y="6328029"/>
            <a:ext cx="7641463" cy="997712"/>
          </a:xfrm>
          <a:prstGeom prst="rect">
            <a:avLst/>
          </a:prstGeom>
          <a:noFill/>
          <a:ln/>
        </p:spPr>
        <p:txBody>
          <a:bodyPr wrap="square" lIns="0" tIns="0" rIns="0" bIns="0" rtlCol="0" anchor="t"/>
          <a:lstStyle/>
          <a:p>
            <a:pPr algn="l">
              <a:lnSpc>
                <a:spcPct val="150000"/>
              </a:lnSpc>
            </a:pPr>
            <a:r>
              <a:rPr lang="en-US" sz="1870" dirty="0">
                <a:solidFill>
                  <a:srgbClr val="000000"/>
                </a:solidFill>
                <a:latin typeface="MiSans" pitchFamily="34" charset="0"/>
                <a:ea typeface="MiSans" pitchFamily="34" charset="-122"/>
                <a:cs typeface="MiSans" pitchFamily="34" charset="-120"/>
              </a:rPr>
              <a:t>分布式资产交易协议的基础构建范式HTLC范式通过时间锁定保证资产的合法兑换，但在贿赂矿工的前提下恶意用户抢先侵占诚实用户的资产</a:t>
            </a:r>
            <a:endParaRPr lang="en-US" sz="1870" dirty="0"/>
          </a:p>
        </p:txBody>
      </p:sp>
      <p:pic>
        <p:nvPicPr>
          <p:cNvPr id="20" name="Image 1" descr="https://kimi-img.moonshot.cn/pub/slides/okc/flfuysioo4gzm/mnt/agents/output/yuan_pptd/images/image_9.png">    </p:cNvPr>
          <p:cNvPicPr>
            <a:picLocks noChangeAspect="1"/>
          </p:cNvPicPr>
          <p:nvPr/>
        </p:nvPicPr>
        <p:blipFill>
          <a:blip r:embed="rId2"/>
          <a:stretch>
            <a:fillRect/>
          </a:stretch>
        </p:blipFill>
        <p:spPr>
          <a:xfrm>
            <a:off x="7653020" y="3523742"/>
            <a:ext cx="3645408" cy="2435479"/>
          </a:xfrm>
          <a:prstGeom prst="rect">
            <a:avLst/>
          </a:prstGeom>
        </p:spPr>
      </p:pic>
      <p:pic>
        <p:nvPicPr>
          <p:cNvPr id="21" name="Image 2" descr="https://kimi-img.moonshot.cn/pub/slides/okc/flfuysioo4gzm/mnt/agents/output/yuan_pptd/images/image_10.png">    </p:cNvPr>
          <p:cNvPicPr>
            <a:picLocks noChangeAspect="1"/>
          </p:cNvPicPr>
          <p:nvPr/>
        </p:nvPicPr>
        <p:blipFill>
          <a:blip r:embed="rId3"/>
          <a:stretch>
            <a:fillRect/>
          </a:stretch>
        </p:blipFill>
        <p:spPr>
          <a:xfrm>
            <a:off x="11605387" y="3542411"/>
            <a:ext cx="3455035" cy="2369185"/>
          </a:xfrm>
          <a:prstGeom prst="rect">
            <a:avLst/>
          </a:prstGeom>
        </p:spPr>
      </p:pic>
      <p:sp>
        <p:nvSpPr>
          <p:cNvPr id="22" name="Shape 16"/>
          <p:cNvSpPr/>
          <p:nvPr/>
        </p:nvSpPr>
        <p:spPr>
          <a:xfrm>
            <a:off x="11445113" y="3430651"/>
            <a:ext cx="3668141" cy="2586228"/>
          </a:xfrm>
          <a:prstGeom prst="roundRect">
            <a:avLst>
              <a:gd name="adj" fmla="val 16667"/>
            </a:avLst>
          </a:prstGeom>
          <a:noFill/>
          <a:ln w="12700">
            <a:solidFill>
              <a:srgbClr val="0070C0"/>
            </a:solidFill>
            <a:prstDash val="solid"/>
          </a:ln>
        </p:spPr>
      </p:sp>
      <p:sp>
        <p:nvSpPr>
          <p:cNvPr id="23" name="Text 17"/>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23</a:t>
            </a:r>
            <a:endParaRPr lang="en-US" sz="2400" dirty="0"/>
          </a:p>
        </p:txBody>
      </p:sp>
    </p:spTree>
  </p:cSld>
  <p:clrMapOvr>
    <a:masterClrMapping/>
  </p:clrMapOvr>
  <p:transition>
    <p:fade/>
    <p:spd val="med"/>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816469" y="-889"/>
            <a:ext cx="4154551" cy="962660"/>
          </a:xfrm>
          <a:prstGeom prst="rect">
            <a:avLst/>
          </a:prstGeom>
          <a:solidFill>
            <a:srgbClr val="F2F2F2"/>
          </a:solidFill>
          <a:ln w="12700">
            <a:solidFill>
              <a:srgbClr val="F2F2F2"/>
            </a:solidFill>
            <a:prstDash val="solid"/>
          </a:ln>
        </p:spPr>
      </p:sp>
      <p:sp>
        <p:nvSpPr>
          <p:cNvPr id="4" name="Shape 1"/>
          <p:cNvSpPr/>
          <p:nvPr/>
        </p:nvSpPr>
        <p:spPr>
          <a:xfrm>
            <a:off x="7816469" y="4191"/>
            <a:ext cx="4152900" cy="962660"/>
          </a:xfrm>
          <a:prstGeom prst="rect">
            <a:avLst/>
          </a:prstGeom>
          <a:solidFill>
            <a:srgbClr val="04579A"/>
          </a:solidFill>
          <a:ln w="12700">
            <a:solidFill>
              <a:srgbClr val="04579A"/>
            </a:solidFill>
            <a:prstDash val="solid"/>
          </a:ln>
        </p:spPr>
      </p:sp>
      <p:sp>
        <p:nvSpPr>
          <p:cNvPr id="5" name="Shape 2"/>
          <p:cNvSpPr/>
          <p:nvPr/>
        </p:nvSpPr>
        <p:spPr>
          <a:xfrm>
            <a:off x="5162169" y="-889"/>
            <a:ext cx="2654300" cy="962660"/>
          </a:xfrm>
          <a:prstGeom prst="rect">
            <a:avLst/>
          </a:prstGeom>
          <a:solidFill>
            <a:srgbClr val="F2F2F2"/>
          </a:solidFill>
          <a:ln w="12700">
            <a:solidFill>
              <a:srgbClr val="F2F2F2"/>
            </a:solidFill>
            <a:prstDash val="solid"/>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942209" cy="962660"/>
          </a:xfrm>
          <a:prstGeom prst="rect">
            <a:avLst/>
          </a:prstGeom>
          <a:solidFill>
            <a:srgbClr val="F2F2F2"/>
          </a:solidFill>
          <a:ln w="12700">
            <a:solidFill>
              <a:srgbClr val="F2F2F2"/>
            </a:solidFill>
            <a:prstDash val="solid"/>
          </a:ln>
        </p:spPr>
      </p:sp>
      <p:sp>
        <p:nvSpPr>
          <p:cNvPr id="8" name="Text 5"/>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选题背景及意义       国内外研究现状       </a:t>
            </a:r>
            <a:pPr algn="l">
              <a:lnSpc>
                <a:spcPct val="120000"/>
              </a:lnSpc>
            </a:pPr>
            <a:r>
              <a:rPr lang="en-US" sz="2400" dirty="0">
                <a:solidFill>
                  <a:srgbClr val="FFFFFF"/>
                </a:solidFill>
                <a:latin typeface="Arial" pitchFamily="34" charset="0"/>
                <a:ea typeface="Arial" pitchFamily="34" charset="-122"/>
                <a:cs typeface="Arial" pitchFamily="34" charset="-120"/>
              </a:rPr>
              <a:t>主要研究内容及预期目标</a:t>
            </a:r>
            <a:pPr algn="l">
              <a:lnSpc>
                <a:spcPct val="120000"/>
              </a:lnSpc>
            </a:pPr>
            <a:r>
              <a:rPr lang="en-US" sz="2400" dirty="0">
                <a:solidFill>
                  <a:srgbClr val="000000"/>
                </a:solidFill>
                <a:latin typeface="Arial" pitchFamily="34" charset="0"/>
                <a:ea typeface="Arial" pitchFamily="34" charset="-122"/>
                <a:cs typeface="Arial" pitchFamily="34" charset="-120"/>
              </a:rPr>
              <a:t>             工作计划与进度安排</a:t>
            </a:r>
            <a:endParaRPr lang="en-US" sz="2400" dirty="0"/>
          </a:p>
        </p:txBody>
      </p:sp>
      <p:pic>
        <p:nvPicPr>
          <p:cNvPr id="9"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0" name="Shape 6"/>
          <p:cNvSpPr/>
          <p:nvPr/>
        </p:nvSpPr>
        <p:spPr>
          <a:xfrm rot="10800000">
            <a:off x="9699371" y="961009"/>
            <a:ext cx="389509" cy="304800"/>
          </a:xfrm>
          <a:prstGeom prst="triangle">
            <a:avLst>
              <a:gd name="adj" fmla="val 50000"/>
            </a:avLst>
          </a:prstGeom>
          <a:solidFill>
            <a:srgbClr val="04579A"/>
          </a:solidFill>
          <a:ln/>
        </p:spPr>
      </p:sp>
      <p:sp>
        <p:nvSpPr>
          <p:cNvPr id="11" name="Text 7"/>
          <p:cNvSpPr/>
          <p:nvPr/>
        </p:nvSpPr>
        <p:spPr>
          <a:xfrm>
            <a:off x="793369" y="1895729"/>
            <a:ext cx="14411960" cy="531749"/>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大规模环境下可扩展分布式数字资产交易协议设计与分析</a:t>
            </a:r>
            <a:endParaRPr lang="en-US" sz="2670" dirty="0"/>
          </a:p>
        </p:txBody>
      </p:sp>
      <p:sp>
        <p:nvSpPr>
          <p:cNvPr id="12" name="Text 8"/>
          <p:cNvSpPr/>
          <p:nvPr/>
        </p:nvSpPr>
        <p:spPr>
          <a:xfrm>
            <a:off x="1253871" y="7546340"/>
            <a:ext cx="13355320" cy="1440180"/>
          </a:xfrm>
          <a:prstGeom prst="rect">
            <a:avLst/>
          </a:prstGeom>
          <a:noFill/>
          <a:ln/>
        </p:spPr>
        <p:txBody>
          <a:bodyPr wrap="square" lIns="0" tIns="0" rIns="0" bIns="0" rtlCol="0" anchor="t"/>
          <a:lstStyle/>
          <a:p>
            <a:pPr algn="l" marL="381000" indent="-381000">
              <a:lnSpc>
                <a:spcPct val="120000"/>
              </a:lnSpc>
              <a:spcBef>
                <a:spcPts val="10"/>
              </a:spcBef>
              <a:buSzPct val="100000"/>
              <a:buChar char="•"/>
            </a:pPr>
            <a:r>
              <a:rPr lang="en-US" sz="2400" dirty="0">
                <a:solidFill>
                  <a:srgbClr val="000000"/>
                </a:solidFill>
                <a:latin typeface="Arial" pitchFamily="34" charset="0"/>
                <a:ea typeface="Arial" pitchFamily="34" charset="-122"/>
                <a:cs typeface="Arial" pitchFamily="34" charset="-120"/>
              </a:rPr>
              <a:t>提出强可靠的可扩展分布式数字资产交易协议</a:t>
            </a:r>
            <a:endParaRPr lang="en-US" sz="2400" dirty="0"/>
          </a:p>
        </p:txBody>
      </p:sp>
      <p:sp>
        <p:nvSpPr>
          <p:cNvPr id="13" name="Shape 9"/>
          <p:cNvSpPr/>
          <p:nvPr/>
        </p:nvSpPr>
        <p:spPr>
          <a:xfrm>
            <a:off x="793369" y="2685669"/>
            <a:ext cx="2152269" cy="550291"/>
          </a:xfrm>
          <a:prstGeom prst="parallelogram">
            <a:avLst>
              <a:gd name="adj" fmla="val 25000"/>
            </a:avLst>
          </a:prstGeom>
          <a:solidFill>
            <a:srgbClr val="04579A"/>
          </a:solidFill>
          <a:ln w="12700">
            <a:solidFill>
              <a:srgbClr val="304B73"/>
            </a:solidFill>
            <a:prstDash val="solid"/>
          </a:ln>
        </p:spPr>
      </p:sp>
      <p:sp>
        <p:nvSpPr>
          <p:cNvPr id="14" name="Text 10"/>
          <p:cNvSpPr/>
          <p:nvPr/>
        </p:nvSpPr>
        <p:spPr>
          <a:xfrm>
            <a:off x="793369" y="2685669"/>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研究内容</a:t>
            </a:r>
            <a:endParaRPr lang="en-US" sz="2400" dirty="0"/>
          </a:p>
        </p:txBody>
      </p:sp>
      <p:sp>
        <p:nvSpPr>
          <p:cNvPr id="15" name="Shape 11"/>
          <p:cNvSpPr/>
          <p:nvPr/>
        </p:nvSpPr>
        <p:spPr>
          <a:xfrm>
            <a:off x="793369" y="6864731"/>
            <a:ext cx="2152269" cy="550291"/>
          </a:xfrm>
          <a:prstGeom prst="parallelogram">
            <a:avLst>
              <a:gd name="adj" fmla="val 25000"/>
            </a:avLst>
          </a:prstGeom>
          <a:solidFill>
            <a:srgbClr val="04579A"/>
          </a:solidFill>
          <a:ln w="12700">
            <a:solidFill>
              <a:srgbClr val="304B73"/>
            </a:solidFill>
            <a:prstDash val="solid"/>
          </a:ln>
        </p:spPr>
      </p:sp>
      <p:sp>
        <p:nvSpPr>
          <p:cNvPr id="16" name="Text 12"/>
          <p:cNvSpPr/>
          <p:nvPr/>
        </p:nvSpPr>
        <p:spPr>
          <a:xfrm>
            <a:off x="793369" y="6864731"/>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预期目标</a:t>
            </a:r>
            <a:endParaRPr lang="en-US" sz="2400" dirty="0"/>
          </a:p>
        </p:txBody>
      </p:sp>
      <p:sp>
        <p:nvSpPr>
          <p:cNvPr id="17" name="Text 13"/>
          <p:cNvSpPr/>
          <p:nvPr/>
        </p:nvSpPr>
        <p:spPr>
          <a:xfrm>
            <a:off x="793369" y="3657600"/>
            <a:ext cx="5968111" cy="1858391"/>
          </a:xfrm>
          <a:prstGeom prst="rect">
            <a:avLst/>
          </a:prstGeom>
          <a:noFill/>
          <a:ln/>
        </p:spPr>
        <p:txBody>
          <a:bodyPr wrap="square" lIns="0" tIns="0" rIns="0" bIns="0" rtlCol="0" anchor="t"/>
          <a:lstStyle/>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研究满足信道资产流动性的再平衡机制</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设计高效虚拟信道协议</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设计多方信道安全更新协议</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完成实验并在真实网络中进行测试</a:t>
            </a:r>
            <a:endParaRPr lang="en-US" sz="2400" dirty="0"/>
          </a:p>
        </p:txBody>
      </p:sp>
      <p:pic>
        <p:nvPicPr>
          <p:cNvPr id="18" name="Image 1" descr="https://kimi-img.moonshot.cn/pub/slides/okc/flfuysioo4gzm/mnt/agents/output/yuan_pptd/images/image_11.png">    </p:cNvPr>
          <p:cNvPicPr>
            <a:picLocks noChangeAspect="1"/>
          </p:cNvPicPr>
          <p:nvPr/>
        </p:nvPicPr>
        <p:blipFill>
          <a:blip r:embed="rId2"/>
          <a:stretch>
            <a:fillRect/>
          </a:stretch>
        </p:blipFill>
        <p:spPr>
          <a:xfrm>
            <a:off x="8594217" y="3162554"/>
            <a:ext cx="5738876" cy="2918206"/>
          </a:xfrm>
          <a:prstGeom prst="rect">
            <a:avLst/>
          </a:prstGeom>
        </p:spPr>
      </p:pic>
      <p:sp>
        <p:nvSpPr>
          <p:cNvPr id="19" name="Text 14"/>
          <p:cNvSpPr/>
          <p:nvPr/>
        </p:nvSpPr>
        <p:spPr>
          <a:xfrm>
            <a:off x="8402701" y="6211951"/>
            <a:ext cx="6121908" cy="997712"/>
          </a:xfrm>
          <a:prstGeom prst="rect">
            <a:avLst/>
          </a:prstGeom>
          <a:noFill/>
          <a:ln/>
        </p:spPr>
        <p:txBody>
          <a:bodyPr wrap="square" lIns="0" tIns="0" rIns="0" bIns="0" rtlCol="0" anchor="t"/>
          <a:lstStyle/>
          <a:p>
            <a:pPr algn="l">
              <a:lnSpc>
                <a:spcPct val="150000"/>
              </a:lnSpc>
            </a:pPr>
            <a:r>
              <a:rPr lang="en-US" sz="1870" dirty="0">
                <a:solidFill>
                  <a:srgbClr val="000000"/>
                </a:solidFill>
                <a:latin typeface="MiSans" pitchFamily="34" charset="0"/>
                <a:ea typeface="MiSans" pitchFamily="34" charset="-122"/>
                <a:cs typeface="MiSans" pitchFamily="34" charset="-120"/>
              </a:rPr>
              <a:t>现有链下可扩展性方案对于多跳支付导致的方向性永久流量衰减只起到暂时的缓解作用，不能释放其理想性能</a:t>
            </a:r>
            <a:endParaRPr lang="en-US" sz="1870" dirty="0"/>
          </a:p>
        </p:txBody>
      </p:sp>
      <p:sp>
        <p:nvSpPr>
          <p:cNvPr id="20" name="Text 15"/>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24</a:t>
            </a:r>
            <a:endParaRPr lang="en-US" sz="2400" dirty="0"/>
          </a:p>
        </p:txBody>
      </p:sp>
    </p:spTree>
  </p:cSld>
  <p:clrMapOvr>
    <a:masterClrMapping/>
  </p:clrMapOvr>
  <p:transition>
    <p:fade/>
    <p:spd val="med"/>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816469" y="-889"/>
            <a:ext cx="4154551" cy="962660"/>
          </a:xfrm>
          <a:prstGeom prst="rect">
            <a:avLst/>
          </a:prstGeom>
          <a:solidFill>
            <a:srgbClr val="F2F2F2"/>
          </a:solidFill>
          <a:ln w="12700">
            <a:solidFill>
              <a:srgbClr val="F2F2F2"/>
            </a:solidFill>
            <a:prstDash val="solid"/>
          </a:ln>
        </p:spPr>
      </p:sp>
      <p:sp>
        <p:nvSpPr>
          <p:cNvPr id="4" name="Shape 1"/>
          <p:cNvSpPr/>
          <p:nvPr/>
        </p:nvSpPr>
        <p:spPr>
          <a:xfrm>
            <a:off x="7816469" y="4191"/>
            <a:ext cx="4152900" cy="962660"/>
          </a:xfrm>
          <a:prstGeom prst="rect">
            <a:avLst/>
          </a:prstGeom>
          <a:solidFill>
            <a:srgbClr val="04579A"/>
          </a:solidFill>
          <a:ln w="12700">
            <a:solidFill>
              <a:srgbClr val="04579A"/>
            </a:solidFill>
            <a:prstDash val="solid"/>
          </a:ln>
        </p:spPr>
      </p:sp>
      <p:sp>
        <p:nvSpPr>
          <p:cNvPr id="5" name="Shape 2"/>
          <p:cNvSpPr/>
          <p:nvPr/>
        </p:nvSpPr>
        <p:spPr>
          <a:xfrm>
            <a:off x="5162169" y="-889"/>
            <a:ext cx="2654300" cy="962660"/>
          </a:xfrm>
          <a:prstGeom prst="rect">
            <a:avLst/>
          </a:prstGeom>
          <a:solidFill>
            <a:srgbClr val="F2F2F2"/>
          </a:solidFill>
          <a:ln w="12700">
            <a:solidFill>
              <a:srgbClr val="F2F2F2"/>
            </a:solidFill>
            <a:prstDash val="solid"/>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942209" cy="962660"/>
          </a:xfrm>
          <a:prstGeom prst="rect">
            <a:avLst/>
          </a:prstGeom>
          <a:solidFill>
            <a:srgbClr val="F2F2F2"/>
          </a:solidFill>
          <a:ln w="12700">
            <a:solidFill>
              <a:srgbClr val="F2F2F2"/>
            </a:solidFill>
            <a:prstDash val="solid"/>
          </a:ln>
        </p:spPr>
      </p:sp>
      <p:sp>
        <p:nvSpPr>
          <p:cNvPr id="8" name="Text 5"/>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选题背景及意义       国内外研究现状       </a:t>
            </a:r>
            <a:pPr algn="l">
              <a:lnSpc>
                <a:spcPct val="120000"/>
              </a:lnSpc>
            </a:pPr>
            <a:r>
              <a:rPr lang="en-US" sz="2400" dirty="0">
                <a:solidFill>
                  <a:srgbClr val="FFFFFF"/>
                </a:solidFill>
                <a:latin typeface="Arial" pitchFamily="34" charset="0"/>
                <a:ea typeface="Arial" pitchFamily="34" charset="-122"/>
                <a:cs typeface="Arial" pitchFamily="34" charset="-120"/>
              </a:rPr>
              <a:t>主要研究内容及预期目标</a:t>
            </a:r>
            <a:pPr algn="l">
              <a:lnSpc>
                <a:spcPct val="120000"/>
              </a:lnSpc>
            </a:pPr>
            <a:r>
              <a:rPr lang="en-US" sz="2400" dirty="0">
                <a:solidFill>
                  <a:srgbClr val="000000"/>
                </a:solidFill>
                <a:latin typeface="Arial" pitchFamily="34" charset="0"/>
                <a:ea typeface="Arial" pitchFamily="34" charset="-122"/>
                <a:cs typeface="Arial" pitchFamily="34" charset="-120"/>
              </a:rPr>
              <a:t>             工作计划与进度安排</a:t>
            </a:r>
            <a:endParaRPr lang="en-US" sz="2400" dirty="0"/>
          </a:p>
        </p:txBody>
      </p:sp>
      <p:pic>
        <p:nvPicPr>
          <p:cNvPr id="9"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0" name="Shape 6"/>
          <p:cNvSpPr/>
          <p:nvPr/>
        </p:nvSpPr>
        <p:spPr>
          <a:xfrm rot="10800000">
            <a:off x="9699371" y="961009"/>
            <a:ext cx="389509" cy="304800"/>
          </a:xfrm>
          <a:prstGeom prst="triangle">
            <a:avLst>
              <a:gd name="adj" fmla="val 50000"/>
            </a:avLst>
          </a:prstGeom>
          <a:solidFill>
            <a:srgbClr val="04579A"/>
          </a:solidFill>
          <a:ln/>
        </p:spPr>
      </p:sp>
      <p:sp>
        <p:nvSpPr>
          <p:cNvPr id="11" name="Text 7"/>
          <p:cNvSpPr/>
          <p:nvPr/>
        </p:nvSpPr>
        <p:spPr>
          <a:xfrm>
            <a:off x="793369" y="1895729"/>
            <a:ext cx="14411960" cy="533527"/>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多源异构环境下分布式数字资产跨链验证协议设计与分析</a:t>
            </a:r>
            <a:pPr algn="l">
              <a:lnSpc>
                <a:spcPct val="120000"/>
              </a:lnSpc>
            </a:pPr>
            <a:r>
              <a:rPr lang="en-US" sz="2670" b="1" dirty="0">
                <a:solidFill>
                  <a:srgbClr val="04579A"/>
                </a:solidFill>
                <a:latin typeface="MiSans" pitchFamily="34" charset="0"/>
                <a:ea typeface="MiSans" pitchFamily="34" charset="-122"/>
                <a:cs typeface="MiSans" pitchFamily="34" charset="-120"/>
              </a:rPr>
              <a:t>	</a:t>
            </a:r>
            <a:endParaRPr lang="en-US" sz="2670" dirty="0"/>
          </a:p>
        </p:txBody>
      </p:sp>
      <p:sp>
        <p:nvSpPr>
          <p:cNvPr id="12" name="Shape 8"/>
          <p:cNvSpPr/>
          <p:nvPr/>
        </p:nvSpPr>
        <p:spPr>
          <a:xfrm>
            <a:off x="793369" y="6864731"/>
            <a:ext cx="2152269" cy="550291"/>
          </a:xfrm>
          <a:prstGeom prst="parallelogram">
            <a:avLst>
              <a:gd name="adj" fmla="val 25000"/>
            </a:avLst>
          </a:prstGeom>
          <a:solidFill>
            <a:srgbClr val="04579A"/>
          </a:solidFill>
          <a:ln w="12700">
            <a:solidFill>
              <a:srgbClr val="304B73"/>
            </a:solidFill>
            <a:prstDash val="solid"/>
          </a:ln>
        </p:spPr>
      </p:sp>
      <p:sp>
        <p:nvSpPr>
          <p:cNvPr id="13" name="Text 9"/>
          <p:cNvSpPr/>
          <p:nvPr/>
        </p:nvSpPr>
        <p:spPr>
          <a:xfrm>
            <a:off x="793369" y="6864731"/>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预期目标</a:t>
            </a:r>
            <a:endParaRPr lang="en-US" sz="2400" dirty="0"/>
          </a:p>
        </p:txBody>
      </p:sp>
      <p:sp>
        <p:nvSpPr>
          <p:cNvPr id="14" name="Text 10"/>
          <p:cNvSpPr/>
          <p:nvPr/>
        </p:nvSpPr>
        <p:spPr>
          <a:xfrm>
            <a:off x="1253871" y="7546340"/>
            <a:ext cx="13355320" cy="1440180"/>
          </a:xfrm>
          <a:prstGeom prst="rect">
            <a:avLst/>
          </a:prstGeom>
          <a:noFill/>
          <a:ln/>
        </p:spPr>
        <p:txBody>
          <a:bodyPr wrap="square" lIns="0" tIns="0" rIns="0" bIns="0" rtlCol="0" anchor="t"/>
          <a:lstStyle/>
          <a:p>
            <a:pPr algn="l" marL="381000" indent="-381000">
              <a:lnSpc>
                <a:spcPct val="120000"/>
              </a:lnSpc>
              <a:spcBef>
                <a:spcPts val="10"/>
              </a:spcBef>
              <a:buSzPct val="100000"/>
              <a:buChar char="•"/>
            </a:pPr>
            <a:r>
              <a:rPr lang="en-US" sz="2400" dirty="0">
                <a:solidFill>
                  <a:srgbClr val="000000"/>
                </a:solidFill>
                <a:latin typeface="Arial" pitchFamily="34" charset="0"/>
                <a:ea typeface="Arial" pitchFamily="34" charset="-122"/>
                <a:cs typeface="Arial" pitchFamily="34" charset="-120"/>
              </a:rPr>
              <a:t>设计互操作性增强的高效分布式数字资产交易协议</a:t>
            </a:r>
            <a:endParaRPr lang="en-US" sz="2400" dirty="0"/>
          </a:p>
        </p:txBody>
      </p:sp>
      <p:sp>
        <p:nvSpPr>
          <p:cNvPr id="15" name="Shape 11"/>
          <p:cNvSpPr/>
          <p:nvPr/>
        </p:nvSpPr>
        <p:spPr>
          <a:xfrm>
            <a:off x="793369" y="2685669"/>
            <a:ext cx="2152269" cy="550291"/>
          </a:xfrm>
          <a:prstGeom prst="parallelogram">
            <a:avLst>
              <a:gd name="adj" fmla="val 25000"/>
            </a:avLst>
          </a:prstGeom>
          <a:solidFill>
            <a:srgbClr val="04579A"/>
          </a:solidFill>
          <a:ln w="12700">
            <a:solidFill>
              <a:srgbClr val="304B73"/>
            </a:solidFill>
            <a:prstDash val="solid"/>
          </a:ln>
        </p:spPr>
      </p:sp>
      <p:sp>
        <p:nvSpPr>
          <p:cNvPr id="16" name="Text 12"/>
          <p:cNvSpPr/>
          <p:nvPr/>
        </p:nvSpPr>
        <p:spPr>
          <a:xfrm>
            <a:off x="793369" y="2685669"/>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研究内容</a:t>
            </a:r>
            <a:endParaRPr lang="en-US" sz="2400" dirty="0"/>
          </a:p>
        </p:txBody>
      </p:sp>
      <p:sp>
        <p:nvSpPr>
          <p:cNvPr id="17" name="Text 13"/>
          <p:cNvSpPr/>
          <p:nvPr/>
        </p:nvSpPr>
        <p:spPr>
          <a:xfrm>
            <a:off x="793369" y="3657600"/>
            <a:ext cx="6474333" cy="2301621"/>
          </a:xfrm>
          <a:prstGeom prst="rect">
            <a:avLst/>
          </a:prstGeom>
          <a:noFill/>
          <a:ln/>
        </p:spPr>
        <p:txBody>
          <a:bodyPr wrap="square" lIns="0" tIns="0" rIns="0" bIns="0" rtlCol="0" anchor="t"/>
          <a:lstStyle/>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研究异构区块链之间通用跨链交易验证机制</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使用基础数字签名技术结合随机化承诺方案弱化目标链上条件支付的脚本语言需求</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实现链下状态更新和条件支付之间的双向绑定机制</a:t>
            </a:r>
            <a:endParaRPr lang="en-US" sz="2400" dirty="0"/>
          </a:p>
        </p:txBody>
      </p:sp>
      <p:pic>
        <p:nvPicPr>
          <p:cNvPr id="18" name="Image 1" descr="https://kimi-img.moonshot.cn/pub/slides/okc/flfuysioo4gzm/mnt/agents/output/yuan_pptd/images/image_12.png">    </p:cNvPr>
          <p:cNvPicPr>
            <a:picLocks noChangeAspect="1"/>
          </p:cNvPicPr>
          <p:nvPr/>
        </p:nvPicPr>
        <p:blipFill>
          <a:blip r:embed="rId2"/>
          <a:stretch>
            <a:fillRect/>
          </a:stretch>
        </p:blipFill>
        <p:spPr>
          <a:xfrm>
            <a:off x="7891018" y="2852928"/>
            <a:ext cx="7630414" cy="3911727"/>
          </a:xfrm>
          <a:prstGeom prst="rect">
            <a:avLst/>
          </a:prstGeom>
        </p:spPr>
      </p:pic>
      <p:sp>
        <p:nvSpPr>
          <p:cNvPr id="19" name="Text 14"/>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25</a:t>
            </a:r>
            <a:endParaRPr lang="en-US" sz="2400" dirty="0"/>
          </a:p>
        </p:txBody>
      </p:sp>
    </p:spTree>
  </p:cSld>
  <p:clrMapOvr>
    <a:masterClrMapping/>
  </p:clrMapOvr>
  <p:transition>
    <p:fade/>
    <p:spd val="med"/>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1971020" y="0"/>
            <a:ext cx="4284980" cy="961771"/>
          </a:xfrm>
          <a:prstGeom prst="rect">
            <a:avLst/>
          </a:prstGeom>
          <a:solidFill>
            <a:srgbClr val="F2F2F2"/>
          </a:solidFill>
          <a:ln/>
        </p:spPr>
      </p:sp>
      <p:sp>
        <p:nvSpPr>
          <p:cNvPr id="4" name="Shape 1"/>
          <p:cNvSpPr/>
          <p:nvPr/>
        </p:nvSpPr>
        <p:spPr>
          <a:xfrm>
            <a:off x="11970131" y="4191"/>
            <a:ext cx="4285869" cy="962660"/>
          </a:xfrm>
          <a:prstGeom prst="rect">
            <a:avLst/>
          </a:prstGeom>
          <a:solidFill>
            <a:srgbClr val="04579A"/>
          </a:solidFill>
          <a:ln w="12700">
            <a:solidFill>
              <a:srgbClr val="04579A"/>
            </a:solidFill>
            <a:prstDash val="solid"/>
          </a:ln>
        </p:spPr>
      </p:sp>
      <p:sp>
        <p:nvSpPr>
          <p:cNvPr id="5" name="Shape 2"/>
          <p:cNvSpPr/>
          <p:nvPr/>
        </p:nvSpPr>
        <p:spPr>
          <a:xfrm>
            <a:off x="7816469" y="-889"/>
            <a:ext cx="4154551" cy="962660"/>
          </a:xfrm>
          <a:prstGeom prst="rect">
            <a:avLst/>
          </a:prstGeom>
          <a:solidFill>
            <a:srgbClr val="F2F2F2"/>
          </a:solidFill>
          <a:ln w="12700">
            <a:solidFill>
              <a:srgbClr val="F2F2F2"/>
            </a:solidFill>
            <a:prstDash val="solid"/>
          </a:ln>
        </p:spPr>
      </p:sp>
      <p:sp>
        <p:nvSpPr>
          <p:cNvPr id="6" name="Shape 3"/>
          <p:cNvSpPr/>
          <p:nvPr/>
        </p:nvSpPr>
        <p:spPr>
          <a:xfrm>
            <a:off x="5162169" y="-889"/>
            <a:ext cx="2654300" cy="962660"/>
          </a:xfrm>
          <a:prstGeom prst="rect">
            <a:avLst/>
          </a:prstGeom>
          <a:solidFill>
            <a:srgbClr val="F2F2F2"/>
          </a:solidFill>
          <a:ln w="12700">
            <a:solidFill>
              <a:srgbClr val="F2F2F2"/>
            </a:solidFill>
            <a:prstDash val="solid"/>
          </a:ln>
        </p:spPr>
      </p:sp>
      <p:sp>
        <p:nvSpPr>
          <p:cNvPr id="7" name="Shape 4"/>
          <p:cNvSpPr/>
          <p:nvPr/>
        </p:nvSpPr>
        <p:spPr>
          <a:xfrm>
            <a:off x="2219960" y="-889"/>
            <a:ext cx="2942209" cy="962660"/>
          </a:xfrm>
          <a:prstGeom prst="rect">
            <a:avLst/>
          </a:prstGeom>
          <a:solidFill>
            <a:srgbClr val="F2F2F2"/>
          </a:solidFill>
          <a:ln w="12700">
            <a:solidFill>
              <a:srgbClr val="F2F2F2"/>
            </a:solidFill>
            <a:prstDash val="solid"/>
          </a:ln>
        </p:spPr>
      </p:sp>
      <p:sp>
        <p:nvSpPr>
          <p:cNvPr id="8" name="Text 5"/>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选题背景及意义       国内外研究现状       主要研究内容及预期目标             </a:t>
            </a:r>
            <a:pPr algn="l">
              <a:lnSpc>
                <a:spcPct val="120000"/>
              </a:lnSpc>
            </a:pPr>
            <a:r>
              <a:rPr lang="en-US" sz="2400" dirty="0">
                <a:solidFill>
                  <a:srgbClr val="FFFFFF"/>
                </a:solidFill>
                <a:latin typeface="Arial" pitchFamily="34" charset="0"/>
                <a:ea typeface="Arial" pitchFamily="34" charset="-122"/>
                <a:cs typeface="Arial" pitchFamily="34" charset="-120"/>
              </a:rPr>
              <a:t>工作计划与进度安排</a:t>
            </a:r>
            <a:endParaRPr lang="en-US" sz="2400" dirty="0"/>
          </a:p>
        </p:txBody>
      </p:sp>
      <p:pic>
        <p:nvPicPr>
          <p:cNvPr id="9"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0" name="Shape 6"/>
          <p:cNvSpPr/>
          <p:nvPr/>
        </p:nvSpPr>
        <p:spPr>
          <a:xfrm rot="10800000">
            <a:off x="14222349" y="961009"/>
            <a:ext cx="389509" cy="304800"/>
          </a:xfrm>
          <a:prstGeom prst="triangle">
            <a:avLst>
              <a:gd name="adj" fmla="val 50000"/>
            </a:avLst>
          </a:prstGeom>
          <a:solidFill>
            <a:srgbClr val="04579A"/>
          </a:solidFill>
          <a:ln/>
        </p:spPr>
      </p:sp>
      <p:sp>
        <p:nvSpPr>
          <p:cNvPr id="11" name="Text 7"/>
          <p:cNvSpPr/>
          <p:nvPr/>
        </p:nvSpPr>
        <p:spPr>
          <a:xfrm>
            <a:off x="4593971" y="7057771"/>
            <a:ext cx="8128000" cy="564769"/>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撰写硕士论文，准备毕业答辩</a:t>
            </a:r>
            <a:endParaRPr lang="en-US" sz="2400" dirty="0"/>
          </a:p>
        </p:txBody>
      </p:sp>
      <p:sp>
        <p:nvSpPr>
          <p:cNvPr id="12" name="Shape 8"/>
          <p:cNvSpPr/>
          <p:nvPr/>
        </p:nvSpPr>
        <p:spPr>
          <a:xfrm>
            <a:off x="3621151" y="2262251"/>
            <a:ext cx="0" cy="6096000"/>
          </a:xfrm>
          <a:prstGeom prst="line">
            <a:avLst/>
          </a:prstGeom>
          <a:noFill/>
          <a:ln w="12700">
            <a:solidFill>
              <a:srgbClr val="7F7F7F"/>
            </a:solidFill>
            <a:prstDash val="solid"/>
            <a:headEnd type="none"/>
            <a:tailEnd type="none"/>
          </a:ln>
        </p:spPr>
      </p:sp>
      <p:sp>
        <p:nvSpPr>
          <p:cNvPr id="13" name="Text 9"/>
          <p:cNvSpPr/>
          <p:nvPr/>
        </p:nvSpPr>
        <p:spPr>
          <a:xfrm>
            <a:off x="4555109" y="2727071"/>
            <a:ext cx="9686671" cy="564769"/>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完成面向操作参数约束需求的智能体授权协议的设计</a:t>
            </a:r>
            <a:endParaRPr lang="en-US" sz="2400" dirty="0"/>
          </a:p>
        </p:txBody>
      </p:sp>
      <p:sp>
        <p:nvSpPr>
          <p:cNvPr id="14" name="Text 10"/>
          <p:cNvSpPr/>
          <p:nvPr/>
        </p:nvSpPr>
        <p:spPr>
          <a:xfrm>
            <a:off x="4555109" y="4170680"/>
            <a:ext cx="10530840" cy="564769"/>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完成面向任务执行顺序约束需求的智能体授权协议协议设计。</a:t>
            </a:r>
            <a:endParaRPr lang="en-US" sz="2400" dirty="0"/>
          </a:p>
        </p:txBody>
      </p:sp>
      <p:sp>
        <p:nvSpPr>
          <p:cNvPr id="15" name="Text 11"/>
          <p:cNvSpPr/>
          <p:nvPr/>
        </p:nvSpPr>
        <p:spPr>
          <a:xfrm>
            <a:off x="4555109" y="5614289"/>
            <a:ext cx="10531729" cy="1007491"/>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完成上述两项协议的代码实现并且集成到搭建的智能体中，进行安全测试，并测试开销。</a:t>
            </a:r>
            <a:endParaRPr lang="en-US" sz="2400" dirty="0"/>
          </a:p>
        </p:txBody>
      </p:sp>
      <p:sp>
        <p:nvSpPr>
          <p:cNvPr id="16" name="Shape 12"/>
          <p:cNvSpPr/>
          <p:nvPr/>
        </p:nvSpPr>
        <p:spPr>
          <a:xfrm>
            <a:off x="3527171" y="2881249"/>
            <a:ext cx="186309" cy="186309"/>
          </a:xfrm>
          <a:prstGeom prst="ellipse">
            <a:avLst/>
          </a:prstGeom>
          <a:solidFill>
            <a:srgbClr val="04579A"/>
          </a:solidFill>
          <a:ln/>
        </p:spPr>
      </p:sp>
      <p:sp>
        <p:nvSpPr>
          <p:cNvPr id="17" name="Shape 13"/>
          <p:cNvSpPr/>
          <p:nvPr/>
        </p:nvSpPr>
        <p:spPr>
          <a:xfrm>
            <a:off x="3527171" y="4337431"/>
            <a:ext cx="186309" cy="186309"/>
          </a:xfrm>
          <a:prstGeom prst="ellipse">
            <a:avLst/>
          </a:prstGeom>
          <a:solidFill>
            <a:srgbClr val="04579A"/>
          </a:solidFill>
          <a:ln/>
        </p:spPr>
      </p:sp>
      <p:sp>
        <p:nvSpPr>
          <p:cNvPr id="18" name="Shape 14"/>
          <p:cNvSpPr/>
          <p:nvPr/>
        </p:nvSpPr>
        <p:spPr>
          <a:xfrm>
            <a:off x="3527171" y="5793740"/>
            <a:ext cx="186309" cy="186309"/>
          </a:xfrm>
          <a:prstGeom prst="ellipse">
            <a:avLst/>
          </a:prstGeom>
          <a:solidFill>
            <a:srgbClr val="04579A"/>
          </a:solidFill>
          <a:ln/>
        </p:spPr>
      </p:sp>
      <p:sp>
        <p:nvSpPr>
          <p:cNvPr id="19" name="Shape 15"/>
          <p:cNvSpPr/>
          <p:nvPr/>
        </p:nvSpPr>
        <p:spPr>
          <a:xfrm>
            <a:off x="3527171" y="7250049"/>
            <a:ext cx="186309" cy="186309"/>
          </a:xfrm>
          <a:prstGeom prst="ellipse">
            <a:avLst/>
          </a:prstGeom>
          <a:solidFill>
            <a:srgbClr val="04579A"/>
          </a:solidFill>
          <a:ln/>
        </p:spPr>
      </p:sp>
      <p:sp>
        <p:nvSpPr>
          <p:cNvPr id="20" name="Shape 16"/>
          <p:cNvSpPr/>
          <p:nvPr/>
        </p:nvSpPr>
        <p:spPr>
          <a:xfrm>
            <a:off x="3713480" y="2974340"/>
            <a:ext cx="652780" cy="0"/>
          </a:xfrm>
          <a:prstGeom prst="line">
            <a:avLst/>
          </a:prstGeom>
          <a:noFill/>
          <a:ln w="12700">
            <a:solidFill>
              <a:srgbClr val="7F7F7F"/>
            </a:solidFill>
            <a:prstDash val="dash"/>
            <a:headEnd type="none"/>
            <a:tailEnd type="none"/>
          </a:ln>
        </p:spPr>
      </p:sp>
      <p:sp>
        <p:nvSpPr>
          <p:cNvPr id="21" name="Shape 17"/>
          <p:cNvSpPr/>
          <p:nvPr/>
        </p:nvSpPr>
        <p:spPr>
          <a:xfrm>
            <a:off x="3713480" y="4433189"/>
            <a:ext cx="737489" cy="0"/>
          </a:xfrm>
          <a:prstGeom prst="line">
            <a:avLst/>
          </a:prstGeom>
          <a:noFill/>
          <a:ln w="12700">
            <a:solidFill>
              <a:srgbClr val="7F7F7F"/>
            </a:solidFill>
            <a:prstDash val="dash"/>
            <a:headEnd type="none"/>
            <a:tailEnd type="none"/>
          </a:ln>
        </p:spPr>
      </p:sp>
      <p:sp>
        <p:nvSpPr>
          <p:cNvPr id="22" name="Shape 18"/>
          <p:cNvSpPr/>
          <p:nvPr/>
        </p:nvSpPr>
        <p:spPr>
          <a:xfrm>
            <a:off x="3713480" y="5891911"/>
            <a:ext cx="686689" cy="0"/>
          </a:xfrm>
          <a:prstGeom prst="line">
            <a:avLst/>
          </a:prstGeom>
          <a:noFill/>
          <a:ln w="12700">
            <a:solidFill>
              <a:srgbClr val="7F7F7F"/>
            </a:solidFill>
            <a:prstDash val="dash"/>
            <a:headEnd type="none"/>
            <a:tailEnd type="none"/>
          </a:ln>
        </p:spPr>
      </p:sp>
      <p:sp>
        <p:nvSpPr>
          <p:cNvPr id="23" name="Text 19"/>
          <p:cNvSpPr/>
          <p:nvPr/>
        </p:nvSpPr>
        <p:spPr>
          <a:xfrm>
            <a:off x="694309" y="2638171"/>
            <a:ext cx="2832100" cy="613791"/>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0</a:t>
            </a:r>
            <a:pPr algn="l">
              <a:lnSpc>
                <a:spcPct val="120000"/>
              </a:lnSpc>
            </a:pPr>
            <a:r>
              <a:rPr lang="en-US" sz="2670" b="1" dirty="0">
                <a:solidFill>
                  <a:srgbClr val="04579A"/>
                </a:solidFill>
                <a:latin typeface="Arial" pitchFamily="34" charset="0"/>
                <a:ea typeface="Arial" pitchFamily="34" charset="-122"/>
                <a:cs typeface="Arial" pitchFamily="34" charset="-120"/>
              </a:rPr>
              <a:t>6-202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08</a:t>
            </a:r>
            <a:endParaRPr lang="en-US" sz="2670" dirty="0"/>
          </a:p>
        </p:txBody>
      </p:sp>
      <p:sp>
        <p:nvSpPr>
          <p:cNvPr id="24" name="Text 20"/>
          <p:cNvSpPr/>
          <p:nvPr/>
        </p:nvSpPr>
        <p:spPr>
          <a:xfrm>
            <a:off x="694309" y="4076700"/>
            <a:ext cx="8128000" cy="613791"/>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09</a:t>
            </a:r>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10</a:t>
            </a:r>
            <a:endParaRPr lang="en-US" sz="2670" dirty="0"/>
          </a:p>
        </p:txBody>
      </p:sp>
      <p:sp>
        <p:nvSpPr>
          <p:cNvPr id="25" name="Text 21"/>
          <p:cNvSpPr/>
          <p:nvPr/>
        </p:nvSpPr>
        <p:spPr>
          <a:xfrm>
            <a:off x="694309" y="5534660"/>
            <a:ext cx="3020060" cy="613791"/>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11</a:t>
            </a:r>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/1</a:t>
            </a:r>
            <a:pPr algn="l">
              <a:lnSpc>
                <a:spcPct val="120000"/>
              </a:lnSpc>
            </a:pPr>
            <a:r>
              <a:rPr lang="en-US" sz="2670" b="1" dirty="0">
                <a:solidFill>
                  <a:srgbClr val="04579A"/>
                </a:solidFill>
                <a:latin typeface="Arial" pitchFamily="34" charset="0"/>
                <a:ea typeface="Arial" pitchFamily="34" charset="-122"/>
                <a:cs typeface="Arial" pitchFamily="34" charset="-120"/>
              </a:rPr>
              <a:t>2</a:t>
            </a:r>
            <a:endParaRPr lang="en-US" sz="2670" dirty="0"/>
          </a:p>
        </p:txBody>
      </p:sp>
      <p:sp>
        <p:nvSpPr>
          <p:cNvPr id="26" name="Text 22"/>
          <p:cNvSpPr/>
          <p:nvPr/>
        </p:nvSpPr>
        <p:spPr>
          <a:xfrm>
            <a:off x="694309" y="6992620"/>
            <a:ext cx="2833751" cy="613791"/>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7</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0</a:t>
            </a:r>
            <a:pPr algn="l">
              <a:lnSpc>
                <a:spcPct val="120000"/>
              </a:lnSpc>
            </a:pPr>
            <a:r>
              <a:rPr lang="en-US" sz="2670" b="1" dirty="0">
                <a:solidFill>
                  <a:srgbClr val="04579A"/>
                </a:solidFill>
                <a:latin typeface="Arial" pitchFamily="34" charset="0"/>
                <a:ea typeface="Arial" pitchFamily="34" charset="-122"/>
                <a:cs typeface="Arial" pitchFamily="34" charset="-120"/>
              </a:rPr>
              <a:t>1-202</a:t>
            </a:r>
            <a:pPr algn="l">
              <a:lnSpc>
                <a:spcPct val="120000"/>
              </a:lnSpc>
            </a:pPr>
            <a:r>
              <a:rPr lang="en-US" sz="2670" b="1" dirty="0">
                <a:solidFill>
                  <a:srgbClr val="04579A"/>
                </a:solidFill>
                <a:latin typeface="Arial" pitchFamily="34" charset="0"/>
                <a:ea typeface="Arial" pitchFamily="34" charset="-122"/>
                <a:cs typeface="Arial" pitchFamily="34" charset="-120"/>
              </a:rPr>
              <a:t>7</a:t>
            </a:r>
            <a:pPr algn="l">
              <a:lnSpc>
                <a:spcPct val="120000"/>
              </a:lnSpc>
            </a:pPr>
            <a:r>
              <a:rPr lang="en-US" sz="2670" b="1" dirty="0">
                <a:solidFill>
                  <a:srgbClr val="04579A"/>
                </a:solidFill>
                <a:latin typeface="Arial" pitchFamily="34" charset="0"/>
                <a:ea typeface="Arial" pitchFamily="34" charset="-122"/>
                <a:cs typeface="Arial" pitchFamily="34" charset="-120"/>
              </a:rPr>
              <a:t>/0</a:t>
            </a:r>
            <a:pPr algn="l">
              <a:lnSpc>
                <a:spcPct val="120000"/>
              </a:lnSpc>
            </a:pPr>
            <a:r>
              <a:rPr lang="en-US" sz="2670" b="1" dirty="0">
                <a:solidFill>
                  <a:srgbClr val="04579A"/>
                </a:solidFill>
                <a:latin typeface="Arial" pitchFamily="34" charset="0"/>
                <a:ea typeface="Arial" pitchFamily="34" charset="-122"/>
                <a:cs typeface="Arial" pitchFamily="34" charset="-120"/>
              </a:rPr>
              <a:t>4</a:t>
            </a:r>
            <a:endParaRPr lang="en-US" sz="2670" dirty="0"/>
          </a:p>
        </p:txBody>
      </p:sp>
      <p:sp>
        <p:nvSpPr>
          <p:cNvPr id="27" name="Shape 23"/>
          <p:cNvSpPr/>
          <p:nvPr/>
        </p:nvSpPr>
        <p:spPr>
          <a:xfrm>
            <a:off x="3729609" y="7333869"/>
            <a:ext cx="686689" cy="0"/>
          </a:xfrm>
          <a:prstGeom prst="line">
            <a:avLst/>
          </a:prstGeom>
          <a:noFill/>
          <a:ln w="12700">
            <a:solidFill>
              <a:srgbClr val="7F7F7F"/>
            </a:solidFill>
            <a:prstDash val="dash"/>
            <a:headEnd type="none"/>
            <a:tailEnd type="none"/>
          </a:ln>
        </p:spPr>
      </p:sp>
      <p:sp>
        <p:nvSpPr>
          <p:cNvPr id="28" name="Text 24"/>
          <p:cNvSpPr/>
          <p:nvPr/>
        </p:nvSpPr>
        <p:spPr>
          <a:xfrm>
            <a:off x="694309" y="1486789"/>
            <a:ext cx="8128000" cy="613791"/>
          </a:xfrm>
          <a:prstGeom prst="rect">
            <a:avLst/>
          </a:prstGeom>
          <a:noFill/>
          <a:ln/>
        </p:spPr>
        <p:txBody>
          <a:bodyPr wrap="square" lIns="0" tIns="0" rIns="0" bIns="0" rtlCol="0" anchor="t"/>
          <a:lstStyle/>
          <a:p>
            <a:pPr algn="l">
              <a:lnSpc>
                <a:spcPct val="120000"/>
              </a:lnSpc>
            </a:pPr>
            <a:r>
              <a:rPr lang="en-US" sz="3200" b="1" dirty="0">
                <a:solidFill>
                  <a:srgbClr val="000000"/>
                </a:solidFill>
                <a:latin typeface="Arial" pitchFamily="34" charset="0"/>
                <a:ea typeface="Arial" pitchFamily="34" charset="-122"/>
                <a:cs typeface="Arial" pitchFamily="34" charset="-120"/>
              </a:rPr>
              <a:t>未来进度安排</a:t>
            </a:r>
            <a:endParaRPr lang="en-US" sz="3200" dirty="0"/>
          </a:p>
        </p:txBody>
      </p:sp>
      <p:sp>
        <p:nvSpPr>
          <p:cNvPr id="29" name="Text 25"/>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28</a:t>
            </a:r>
            <a:endParaRPr lang="en-US" sz="2400" dirty="0"/>
          </a:p>
        </p:txBody>
      </p:sp>
    </p:spTree>
  </p:cSld>
  <p:clrMapOvr>
    <a:masterClrMapping/>
  </p:clrMapOvr>
  <p:transition>
    <p:fade/>
    <p:spd val="med"/>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1149" y="811149"/>
            <a:ext cx="14625574" cy="940816"/>
          </a:xfrm>
          <a:prstGeom prst="rect">
            <a:avLst/>
          </a:prstGeom>
          <a:noFill/>
          <a:ln/>
        </p:spPr>
        <p:txBody>
          <a:bodyPr wrap="square" lIns="0" tIns="0" rIns="0" bIns="0" rtlCol="0" anchor="ctr"/>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单击此处编辑母版标题样式</a:t>
            </a:r>
            <a:endParaRPr lang="en-US" sz="2400" dirty="0"/>
          </a:p>
        </p:txBody>
      </p:sp>
      <p:sp>
        <p:nvSpPr>
          <p:cNvPr id="3" name="Text 1"/>
          <p:cNvSpPr/>
          <p:nvPr/>
        </p:nvSpPr>
        <p:spPr>
          <a:xfrm>
            <a:off x="811149" y="1987169"/>
            <a:ext cx="14625574" cy="6345555"/>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单击此处编辑母版文本样式</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第二级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第三级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第四级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第五级</a:t>
            </a:r>
            <a:endParaRPr lang="en-US" sz="2400" dirty="0"/>
          </a:p>
        </p:txBody>
      </p:sp>
    </p:spTree>
  </p:cSld>
  <p:clrMapOvr>
    <a:masterClrMapping/>
  </p:clrMapOvr>
  <p:transition>
    <p:fade/>
    <p:spd val="med"/>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1149" y="811149"/>
            <a:ext cx="14625574" cy="940816"/>
          </a:xfrm>
          <a:prstGeom prst="rect">
            <a:avLst/>
          </a:prstGeom>
          <a:noFill/>
          <a:ln/>
        </p:spPr>
        <p:txBody>
          <a:bodyPr wrap="square" lIns="0" tIns="0" rIns="0" bIns="0" rtlCol="0" anchor="ctr"/>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单击此处编辑母版标题样式</a:t>
            </a:r>
            <a:endParaRPr lang="en-US" sz="2400" dirty="0"/>
          </a:p>
        </p:txBody>
      </p:sp>
      <p:sp>
        <p:nvSpPr>
          <p:cNvPr id="3" name="Text 1"/>
          <p:cNvSpPr/>
          <p:nvPr/>
        </p:nvSpPr>
        <p:spPr>
          <a:xfrm>
            <a:off x="811149" y="1987169"/>
            <a:ext cx="14625574" cy="6345555"/>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单击此处编辑母版文本样式</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第二级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第三级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第四级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第五级</a:t>
            </a:r>
            <a:endParaRPr lang="en-US" sz="2400" dirty="0"/>
          </a:p>
        </p:txBody>
      </p:sp>
    </p:spTree>
  </p:cSld>
  <p:clrMapOvr>
    <a:masterClrMapping/>
  </p:clrMapOvr>
  <p:transition>
    <p:fade/>
    <p:spd val="med"/>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1149" y="811149"/>
            <a:ext cx="14625574" cy="940816"/>
          </a:xfrm>
          <a:prstGeom prst="rect">
            <a:avLst/>
          </a:prstGeom>
          <a:noFill/>
          <a:ln/>
        </p:spPr>
        <p:txBody>
          <a:bodyPr wrap="square" lIns="0" tIns="0" rIns="0" bIns="0" rtlCol="0" anchor="ctr"/>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单击此处编辑母版标题样式</a:t>
            </a:r>
            <a:endParaRPr lang="en-US" sz="2400" dirty="0"/>
          </a:p>
        </p:txBody>
      </p:sp>
      <p:sp>
        <p:nvSpPr>
          <p:cNvPr id="3" name="Text 1"/>
          <p:cNvSpPr/>
          <p:nvPr/>
        </p:nvSpPr>
        <p:spPr>
          <a:xfrm>
            <a:off x="811149" y="1987169"/>
            <a:ext cx="14625574" cy="6345555"/>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单击此处编辑母版文本样式</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第二级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第三级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第四级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第五级</a:t>
            </a:r>
            <a:endParaRPr lang="en-US" sz="2400" dirty="0"/>
          </a:p>
        </p:txBody>
      </p:sp>
    </p:spTree>
  </p:cSld>
  <p:clrMapOvr>
    <a:masterClrMapping/>
  </p:clrMapOvr>
  <p:transition>
    <p:fade/>
    <p:spd val="med"/>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1149" y="811149"/>
            <a:ext cx="14625574" cy="940816"/>
          </a:xfrm>
          <a:prstGeom prst="rect">
            <a:avLst/>
          </a:prstGeom>
          <a:noFill/>
          <a:ln/>
        </p:spPr>
        <p:txBody>
          <a:bodyPr wrap="square" lIns="0" tIns="0" rIns="0" bIns="0" rtlCol="0" anchor="ctr"/>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单击此处编辑母版标题样式</a:t>
            </a:r>
            <a:endParaRPr lang="en-US" sz="2400" dirty="0"/>
          </a:p>
        </p:txBody>
      </p:sp>
      <p:sp>
        <p:nvSpPr>
          <p:cNvPr id="3" name="Text 1"/>
          <p:cNvSpPr/>
          <p:nvPr/>
        </p:nvSpPr>
        <p:spPr>
          <a:xfrm>
            <a:off x="811149" y="1987169"/>
            <a:ext cx="14625574" cy="6345555"/>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单击此处编辑母版文本样式</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第二级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第三级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第四级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第五级</a:t>
            </a:r>
            <a:endParaRPr lang="en-US" sz="2400" dirty="0"/>
          </a:p>
        </p:txBody>
      </p:sp>
    </p:spTree>
  </p:cSld>
  <p:clrMapOvr>
    <a:masterClrMapping/>
  </p:clrMapOvr>
  <p:transition>
    <p:fade/>
    <p:spd val="med"/>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1149" y="811149"/>
            <a:ext cx="14625574" cy="940816"/>
          </a:xfrm>
          <a:prstGeom prst="rect">
            <a:avLst/>
          </a:prstGeom>
          <a:noFill/>
          <a:ln/>
        </p:spPr>
        <p:txBody>
          <a:bodyPr wrap="square" lIns="0" tIns="0" rIns="0" bIns="0" rtlCol="0" anchor="ctr"/>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单击此处编辑母版标题样式</a:t>
            </a:r>
            <a:endParaRPr lang="en-US" sz="2400" dirty="0"/>
          </a:p>
        </p:txBody>
      </p:sp>
      <p:sp>
        <p:nvSpPr>
          <p:cNvPr id="3" name="Text 1"/>
          <p:cNvSpPr/>
          <p:nvPr/>
        </p:nvSpPr>
        <p:spPr>
          <a:xfrm>
            <a:off x="811149" y="1987169"/>
            <a:ext cx="14625574" cy="6345555"/>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单击此处编辑母版文本样式</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第二级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第三级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第四级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第五级</a:t>
            </a:r>
            <a:endParaRPr lang="en-US" sz="2400" dirty="0"/>
          </a:p>
        </p:txBody>
      </p:sp>
    </p:spTree>
  </p:cSld>
  <p:clrMapOvr>
    <a:masterClrMapping/>
  </p:clrMapOvr>
  <p:transition>
    <p:fade/>
    <p:spd val="med"/>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1149" y="811149"/>
            <a:ext cx="14625574" cy="940816"/>
          </a:xfrm>
          <a:prstGeom prst="rect">
            <a:avLst/>
          </a:prstGeom>
          <a:noFill/>
          <a:ln/>
        </p:spPr>
        <p:txBody>
          <a:bodyPr wrap="square" lIns="0" tIns="0" rIns="0" bIns="0" rtlCol="0" anchor="ctr"/>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单击此处编辑母版标题样式</a:t>
            </a:r>
            <a:endParaRPr lang="en-US" sz="2400" dirty="0"/>
          </a:p>
        </p:txBody>
      </p:sp>
      <p:sp>
        <p:nvSpPr>
          <p:cNvPr id="3" name="Text 1"/>
          <p:cNvSpPr/>
          <p:nvPr/>
        </p:nvSpPr>
        <p:spPr>
          <a:xfrm>
            <a:off x="811149" y="1987169"/>
            <a:ext cx="14625574" cy="6345555"/>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单击此处编辑母版文本样式</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第二级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第三级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第四级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第五级</a:t>
            </a:r>
            <a:endParaRPr lang="en-US" sz="2400" dirty="0"/>
          </a:p>
        </p:txBody>
      </p:sp>
    </p:spTree>
  </p:cSld>
  <p:clrMapOvr>
    <a:masterClrMapping/>
  </p:clrMapOvr>
  <p:transition>
    <p:fade/>
    <p:spd val="med"/>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2219960" y="0"/>
            <a:ext cx="2942209" cy="962660"/>
          </a:xfrm>
          <a:prstGeom prst="rect">
            <a:avLst/>
          </a:prstGeom>
          <a:solidFill>
            <a:srgbClr val="F2F2F2"/>
          </a:solidFill>
          <a:ln w="12700">
            <a:solidFill>
              <a:srgbClr val="F2F2F2"/>
            </a:solidFill>
            <a:prstDash val="solid"/>
          </a:ln>
        </p:spPr>
      </p:sp>
      <p:sp>
        <p:nvSpPr>
          <p:cNvPr id="4" name="Shape 1"/>
          <p:cNvSpPr/>
          <p:nvPr/>
        </p:nvSpPr>
        <p:spPr>
          <a:xfrm>
            <a:off x="5162169" y="-889"/>
            <a:ext cx="2654300" cy="962660"/>
          </a:xfrm>
          <a:prstGeom prst="rect">
            <a:avLst/>
          </a:prstGeom>
          <a:solidFill>
            <a:srgbClr val="F2F2F2"/>
          </a:solidFill>
          <a:ln/>
        </p:spPr>
      </p:sp>
      <p:sp>
        <p:nvSpPr>
          <p:cNvPr id="5" name="Shape 2"/>
          <p:cNvSpPr/>
          <p:nvPr/>
        </p:nvSpPr>
        <p:spPr>
          <a:xfrm>
            <a:off x="7816469" y="-889"/>
            <a:ext cx="4154551" cy="962660"/>
          </a:xfrm>
          <a:prstGeom prst="rect">
            <a:avLst/>
          </a:prstGeom>
          <a:solidFill>
            <a:srgbClr val="F2F2F2"/>
          </a:solidFill>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942209" cy="962660"/>
          </a:xfrm>
          <a:prstGeom prst="rect">
            <a:avLst/>
          </a:prstGeom>
          <a:solidFill>
            <a:srgbClr val="04579A"/>
          </a:solidFill>
          <a:ln w="12700">
            <a:solidFill>
              <a:srgbClr val="04579A"/>
            </a:solidFill>
            <a:prstDash val="solid"/>
          </a:ln>
        </p:spPr>
      </p:sp>
      <p:sp>
        <p:nvSpPr>
          <p:cNvPr id="8" name="Text 5"/>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选题背景及意义</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国内外研究现状</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主要研究内容及预期目标</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工作计划与进度安排</a:t>
            </a:r>
            <a:endParaRPr lang="en-US" sz="2400" dirty="0"/>
          </a:p>
        </p:txBody>
      </p:sp>
      <p:pic>
        <p:nvPicPr>
          <p:cNvPr id="9"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0" name="Shape 6"/>
          <p:cNvSpPr/>
          <p:nvPr/>
        </p:nvSpPr>
        <p:spPr>
          <a:xfrm rot="10800000">
            <a:off x="3496691" y="961771"/>
            <a:ext cx="389509" cy="304800"/>
          </a:xfrm>
          <a:prstGeom prst="triangle">
            <a:avLst>
              <a:gd name="adj" fmla="val 50000"/>
            </a:avLst>
          </a:prstGeom>
          <a:solidFill>
            <a:srgbClr val="04579A"/>
          </a:solidFill>
          <a:ln/>
        </p:spPr>
      </p:sp>
      <p:sp>
        <p:nvSpPr>
          <p:cNvPr id="11" name="Text 7"/>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5</a:t>
            </a:r>
            <a:endParaRPr lang="en-US" sz="2400" dirty="0"/>
          </a:p>
        </p:txBody>
      </p:sp>
      <p:pic>
        <p:nvPicPr>
          <p:cNvPr id="12" name="Image 1" descr="https://kimi-img.moonshot.cn/pub/slides/okc/flfuysioo4gzm/mnt/agents/output/yuan_pptd/images/image_4.jpg">    </p:cNvPr>
          <p:cNvPicPr>
            <a:picLocks noChangeAspect="1"/>
          </p:cNvPicPr>
          <p:nvPr/>
        </p:nvPicPr>
        <p:blipFill>
          <a:blip r:embed="rId2"/>
          <a:stretch>
            <a:fillRect/>
          </a:stretch>
        </p:blipFill>
        <p:spPr>
          <a:xfrm>
            <a:off x="9075420" y="2420620"/>
            <a:ext cx="1524889" cy="1524889"/>
          </a:xfrm>
          <a:prstGeom prst="rect">
            <a:avLst/>
          </a:prstGeom>
        </p:spPr>
      </p:pic>
      <p:pic>
        <p:nvPicPr>
          <p:cNvPr id="13" name="Image 2" descr="https://kimi-img.moonshot.cn/pub/slides/okc/flfuysioo4gzm/mnt/agents/output/yuan_pptd/images/image_5.png">    </p:cNvPr>
          <p:cNvPicPr>
            <a:picLocks noChangeAspect="1"/>
          </p:cNvPicPr>
          <p:nvPr/>
        </p:nvPicPr>
        <p:blipFill>
          <a:blip r:embed="rId3"/>
          <a:stretch>
            <a:fillRect/>
          </a:stretch>
        </p:blipFill>
        <p:spPr>
          <a:xfrm>
            <a:off x="9075420" y="5306949"/>
            <a:ext cx="1598549" cy="1598549"/>
          </a:xfrm>
          <a:prstGeom prst="rect">
            <a:avLst/>
          </a:prstGeom>
        </p:spPr>
      </p:pic>
      <p:pic>
        <p:nvPicPr>
          <p:cNvPr id="14" name="Image 3" descr="https://kimi-img.moonshot.cn/pub/slides/okc/flfuysioo4gzm/mnt/agents/output/yuan_pptd/images/image_6.png">    </p:cNvPr>
          <p:cNvPicPr>
            <a:picLocks noChangeAspect="1"/>
          </p:cNvPicPr>
          <p:nvPr/>
        </p:nvPicPr>
        <p:blipFill>
          <a:blip r:embed="rId4"/>
          <a:stretch>
            <a:fillRect/>
          </a:stretch>
        </p:blipFill>
        <p:spPr>
          <a:xfrm>
            <a:off x="12605131" y="2420620"/>
            <a:ext cx="1703451" cy="1703451"/>
          </a:xfrm>
          <a:prstGeom prst="rect">
            <a:avLst/>
          </a:prstGeom>
        </p:spPr>
      </p:pic>
      <p:pic>
        <p:nvPicPr>
          <p:cNvPr id="15" name="Image 4" descr="https://kimi-img.moonshot.cn/pub/slides/okc/flfuysioo4gzm/mnt/agents/output/yuan_pptd/images/image_7.png">    </p:cNvPr>
          <p:cNvPicPr>
            <a:picLocks noChangeAspect="1"/>
          </p:cNvPicPr>
          <p:nvPr/>
        </p:nvPicPr>
        <p:blipFill>
          <a:blip r:embed="rId5"/>
          <a:stretch>
            <a:fillRect/>
          </a:stretch>
        </p:blipFill>
        <p:spPr>
          <a:xfrm>
            <a:off x="11865991" y="5868289"/>
            <a:ext cx="3148711" cy="799211"/>
          </a:xfrm>
          <a:prstGeom prst="rect">
            <a:avLst/>
          </a:prstGeom>
        </p:spPr>
      </p:pic>
      <p:sp>
        <p:nvSpPr>
          <p:cNvPr id="16" name="Shape 8"/>
          <p:cNvSpPr/>
          <p:nvPr/>
        </p:nvSpPr>
        <p:spPr>
          <a:xfrm>
            <a:off x="3129280" y="3772789"/>
            <a:ext cx="3153029" cy="1224280"/>
          </a:xfrm>
          <a:prstGeom prst="rect">
            <a:avLst/>
          </a:prstGeom>
          <a:noFill/>
          <a:ln/>
        </p:spPr>
      </p:sp>
      <p:sp>
        <p:nvSpPr>
          <p:cNvPr id="17" name="Text 9"/>
          <p:cNvSpPr/>
          <p:nvPr/>
        </p:nvSpPr>
        <p:spPr>
          <a:xfrm>
            <a:off x="1621409" y="2503551"/>
            <a:ext cx="6261989" cy="4099560"/>
          </a:xfrm>
          <a:prstGeom prst="rect">
            <a:avLst/>
          </a:prstGeom>
          <a:noFill/>
          <a:ln/>
        </p:spPr>
        <p:txBody>
          <a:bodyPr wrap="square" lIns="0" tIns="0" rIns="0" bIns="0" rtlCol="0" anchor="t"/>
          <a:lstStyle/>
          <a:p>
            <a:pPr algn="l">
              <a:lnSpc>
                <a:spcPct val="150000"/>
              </a:lnSpc>
            </a:pPr>
            <a:r>
              <a:rPr lang="en-US" sz="2400" dirty="0">
                <a:solidFill>
                  <a:srgbClr val="000000"/>
                </a:solidFill>
                <a:latin typeface="Arial" pitchFamily="34" charset="0"/>
                <a:ea typeface="Arial" pitchFamily="34" charset="-122"/>
                <a:cs typeface="Arial" pitchFamily="34" charset="-120"/>
              </a:rPr>
              <a:t>智能体已深度渗透至编程开发（Claude)、企业办公(moveworks)、客户服务(Salsforce)、商业决策(deepMiner)等领域，正从单一任务执行向跨系统、多步骤的复杂业务流程自动化演进。</a:t>
            </a:r>
            <a:endParaRPr lang="en-US" sz="2400" dirty="0"/>
          </a:p>
        </p:txBody>
      </p:sp>
    </p:spTree>
  </p:cSld>
  <p:clrMapOvr>
    <a:masterClrMapping/>
  </p:clrMapOvr>
  <p:transition>
    <p:fade/>
    <p:spd val="med"/>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09651" y="2425700"/>
            <a:ext cx="3173349" cy="4916551"/>
          </a:xfrm>
          <a:prstGeom prst="roundRect">
            <a:avLst>
              <a:gd name="adj" fmla="val 16667"/>
            </a:avLst>
          </a:prstGeom>
          <a:solidFill>
            <a:srgbClr val="F2F2F2"/>
          </a:solidFill>
          <a:ln/>
          <a:effectLst>
            <a:outerShdw sx="100000" sy="100000" kx="0" ky="0" algn="bl" rotWithShape="0" blurRad="50800" dist="26924" dir="2700000">
              <a:srgbClr val="000000">
                <a:alpha val="40000"/>
              </a:srgbClr>
            </a:outerShdw>
          </a:effectLst>
        </p:spPr>
      </p:sp>
      <p:sp>
        <p:nvSpPr>
          <p:cNvPr id="4" name="Shape 1"/>
          <p:cNvSpPr/>
          <p:nvPr/>
        </p:nvSpPr>
        <p:spPr>
          <a:xfrm>
            <a:off x="7958709" y="4709160"/>
            <a:ext cx="2363851" cy="536829"/>
          </a:xfrm>
          <a:prstGeom prst="rect">
            <a:avLst/>
          </a:prstGeom>
          <a:noFill/>
          <a:ln w="12700">
            <a:solidFill>
              <a:srgbClr val="BFD5F5"/>
            </a:solidFill>
            <a:prstDash val="solid"/>
          </a:ln>
        </p:spPr>
      </p:sp>
      <p:sp>
        <p:nvSpPr>
          <p:cNvPr id="5" name="Shape 2"/>
          <p:cNvSpPr/>
          <p:nvPr/>
        </p:nvSpPr>
        <p:spPr>
          <a:xfrm>
            <a:off x="5162169" y="-889"/>
            <a:ext cx="2654300" cy="962660"/>
          </a:xfrm>
          <a:prstGeom prst="rect">
            <a:avLst/>
          </a:prstGeom>
          <a:solidFill>
            <a:srgbClr val="F2F2F2"/>
          </a:solidFill>
          <a:ln/>
        </p:spPr>
      </p:sp>
      <p:sp>
        <p:nvSpPr>
          <p:cNvPr id="6" name="Shape 3"/>
          <p:cNvSpPr/>
          <p:nvPr/>
        </p:nvSpPr>
        <p:spPr>
          <a:xfrm>
            <a:off x="7816469" y="-889"/>
            <a:ext cx="4154551" cy="962660"/>
          </a:xfrm>
          <a:prstGeom prst="rect">
            <a:avLst/>
          </a:prstGeom>
          <a:solidFill>
            <a:srgbClr val="F2F2F2"/>
          </a:solidFill>
          <a:ln/>
        </p:spPr>
      </p:sp>
      <p:sp>
        <p:nvSpPr>
          <p:cNvPr id="7" name="Shape 4"/>
          <p:cNvSpPr/>
          <p:nvPr/>
        </p:nvSpPr>
        <p:spPr>
          <a:xfrm>
            <a:off x="11971020" y="0"/>
            <a:ext cx="4284980" cy="961771"/>
          </a:xfrm>
          <a:prstGeom prst="rect">
            <a:avLst/>
          </a:prstGeom>
          <a:solidFill>
            <a:srgbClr val="F2F2F2"/>
          </a:solidFill>
          <a:ln/>
        </p:spPr>
      </p:sp>
      <p:sp>
        <p:nvSpPr>
          <p:cNvPr id="8" name="Shape 5"/>
          <p:cNvSpPr/>
          <p:nvPr/>
        </p:nvSpPr>
        <p:spPr>
          <a:xfrm>
            <a:off x="2219960" y="-889"/>
            <a:ext cx="2942209" cy="962660"/>
          </a:xfrm>
          <a:prstGeom prst="rect">
            <a:avLst/>
          </a:prstGeom>
          <a:solidFill>
            <a:srgbClr val="04579A"/>
          </a:solidFill>
          <a:ln w="12700">
            <a:solidFill>
              <a:srgbClr val="304B73"/>
            </a:solidFill>
            <a:prstDash val="solid"/>
          </a:ln>
        </p:spPr>
      </p:sp>
      <p:sp>
        <p:nvSpPr>
          <p:cNvPr id="9" name="Text 6"/>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选题背景及意义</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国内外研究现状</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主要研究内容及预期目标</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工作计划与进度安排</a:t>
            </a:r>
            <a:endParaRPr lang="en-US" sz="2400" dirty="0"/>
          </a:p>
        </p:txBody>
      </p:sp>
      <p:pic>
        <p:nvPicPr>
          <p:cNvPr id="10"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1" name="Shape 7"/>
          <p:cNvSpPr/>
          <p:nvPr/>
        </p:nvSpPr>
        <p:spPr>
          <a:xfrm rot="10800000">
            <a:off x="3496691" y="961771"/>
            <a:ext cx="389509" cy="304800"/>
          </a:xfrm>
          <a:prstGeom prst="triangle">
            <a:avLst>
              <a:gd name="adj" fmla="val 50000"/>
            </a:avLst>
          </a:prstGeom>
          <a:solidFill>
            <a:srgbClr val="04579A"/>
          </a:solidFill>
          <a:ln/>
        </p:spPr>
      </p:sp>
      <p:sp>
        <p:nvSpPr>
          <p:cNvPr id="12" name="Shape 8"/>
          <p:cNvSpPr/>
          <p:nvPr/>
        </p:nvSpPr>
        <p:spPr>
          <a:xfrm>
            <a:off x="1708150" y="4160520"/>
            <a:ext cx="864616" cy="719074"/>
          </a:xfrm>
          <a:prstGeom prst="roundRect">
            <a:avLst>
              <a:gd name="adj" fmla="val 16667"/>
            </a:avLst>
          </a:prstGeom>
          <a:solidFill>
            <a:srgbClr val="F7BFC7"/>
          </a:solidFill>
          <a:ln w="12700">
            <a:solidFill>
              <a:srgbClr val="F7BFC7"/>
            </a:solidFill>
            <a:prstDash val="solid"/>
          </a:ln>
        </p:spPr>
      </p:sp>
      <p:pic>
        <p:nvPicPr>
          <p:cNvPr id="13" name="Image 1" descr="https://kimi-img.moonshot.cn/pub/slides/okc/flfuysioo4gzm/mnt/agents/output/yuan_pptd/images/image_13.jpg">    </p:cNvPr>
          <p:cNvPicPr>
            <a:picLocks noChangeAspect="1"/>
          </p:cNvPicPr>
          <p:nvPr/>
        </p:nvPicPr>
        <p:blipFill>
          <a:blip r:embed="rId2"/>
          <a:srcRect l="20420" r="50110" t="24710" b="22240"/>
          <a:stretch/>
        </p:blipFill>
        <p:spPr>
          <a:xfrm>
            <a:off x="1041400" y="3648329"/>
            <a:ext cx="613410" cy="621665"/>
          </a:xfrm>
          <a:prstGeom prst="rect">
            <a:avLst/>
          </a:prstGeom>
        </p:spPr>
      </p:pic>
      <p:pic>
        <p:nvPicPr>
          <p:cNvPr id="14" name="Image 2" descr="https://kimi-img.moonshot.cn/pub/slides/okc/flfuysioo4gzm/mnt/agents/output/yuan_pptd/images/image_13.jpg">    </p:cNvPr>
          <p:cNvPicPr>
            <a:picLocks noChangeAspect="1"/>
          </p:cNvPicPr>
          <p:nvPr/>
        </p:nvPicPr>
        <p:blipFill>
          <a:blip r:embed="rId3"/>
          <a:srcRect l="20420" r="50110" t="24710" b="22240"/>
          <a:stretch/>
        </p:blipFill>
        <p:spPr>
          <a:xfrm>
            <a:off x="2654935" y="3648329"/>
            <a:ext cx="613410" cy="621665"/>
          </a:xfrm>
          <a:prstGeom prst="rect">
            <a:avLst/>
          </a:prstGeom>
        </p:spPr>
      </p:pic>
      <p:pic>
        <p:nvPicPr>
          <p:cNvPr id="15" name="Image 3" descr="https://kimi-img.moonshot.cn/pub/slides/okc/flfuysioo4gzm/mnt/agents/output/yuan_pptd/images/image_13.jpg">    </p:cNvPr>
          <p:cNvPicPr>
            <a:picLocks noChangeAspect="1"/>
          </p:cNvPicPr>
          <p:nvPr/>
        </p:nvPicPr>
        <p:blipFill>
          <a:blip r:embed="rId4"/>
          <a:srcRect l="20420" r="50110" t="24710" b="22240"/>
          <a:stretch/>
        </p:blipFill>
        <p:spPr>
          <a:xfrm>
            <a:off x="1041400" y="4782439"/>
            <a:ext cx="613410" cy="621665"/>
          </a:xfrm>
          <a:prstGeom prst="rect">
            <a:avLst/>
          </a:prstGeom>
        </p:spPr>
      </p:pic>
      <p:pic>
        <p:nvPicPr>
          <p:cNvPr id="16" name="Image 4" descr="https://kimi-img.moonshot.cn/pub/slides/okc/flfuysioo4gzm/mnt/agents/output/yuan_pptd/images/image_13.jpg">    </p:cNvPr>
          <p:cNvPicPr>
            <a:picLocks noChangeAspect="1"/>
          </p:cNvPicPr>
          <p:nvPr/>
        </p:nvPicPr>
        <p:blipFill>
          <a:blip r:embed="rId5"/>
          <a:srcRect l="20420" r="50110" t="24710" b="22240"/>
          <a:stretch/>
        </p:blipFill>
        <p:spPr>
          <a:xfrm>
            <a:off x="2654935" y="4782439"/>
            <a:ext cx="613410" cy="621665"/>
          </a:xfrm>
          <a:prstGeom prst="rect">
            <a:avLst/>
          </a:prstGeom>
        </p:spPr>
      </p:pic>
      <p:pic>
        <p:nvPicPr>
          <p:cNvPr id="17" name="Image 5" descr="https://kimi-img.moonshot.cn/pub/slides/okc/flfuysioo4gzm/mnt/agents/output/yuan_pptd/images/image_13.jpg">    </p:cNvPr>
          <p:cNvPicPr>
            <a:picLocks noChangeAspect="1"/>
          </p:cNvPicPr>
          <p:nvPr/>
        </p:nvPicPr>
        <p:blipFill>
          <a:blip r:embed="rId6"/>
          <a:srcRect l="49740" r="17560" t="29550" b="22240"/>
          <a:stretch/>
        </p:blipFill>
        <p:spPr>
          <a:xfrm>
            <a:off x="1814322" y="4217543"/>
            <a:ext cx="680847" cy="564896"/>
          </a:xfrm>
          <a:prstGeom prst="rect">
            <a:avLst/>
          </a:prstGeom>
        </p:spPr>
      </p:pic>
      <p:sp>
        <p:nvSpPr>
          <p:cNvPr id="18" name="Shape 9"/>
          <p:cNvSpPr/>
          <p:nvPr/>
        </p:nvSpPr>
        <p:spPr>
          <a:xfrm flipV="1">
            <a:off x="2961894" y="4269994"/>
            <a:ext cx="0" cy="512445"/>
          </a:xfrm>
          <a:prstGeom prst="line">
            <a:avLst/>
          </a:prstGeom>
          <a:noFill/>
          <a:ln w="22225">
            <a:solidFill>
              <a:srgbClr val="04579A"/>
            </a:solidFill>
            <a:prstDash val="solid"/>
            <a:headEnd type="none"/>
            <a:tailEnd type="none"/>
          </a:ln>
        </p:spPr>
      </p:sp>
      <p:sp>
        <p:nvSpPr>
          <p:cNvPr id="19" name="Shape 10"/>
          <p:cNvSpPr/>
          <p:nvPr/>
        </p:nvSpPr>
        <p:spPr>
          <a:xfrm flipV="1">
            <a:off x="1348359" y="4269994"/>
            <a:ext cx="0" cy="512445"/>
          </a:xfrm>
          <a:prstGeom prst="line">
            <a:avLst/>
          </a:prstGeom>
          <a:noFill/>
          <a:ln w="22225">
            <a:solidFill>
              <a:srgbClr val="04579A"/>
            </a:solidFill>
            <a:prstDash val="solid"/>
            <a:headEnd type="none"/>
            <a:tailEnd type="none"/>
          </a:ln>
        </p:spPr>
      </p:sp>
      <p:sp>
        <p:nvSpPr>
          <p:cNvPr id="20" name="Shape 11"/>
          <p:cNvSpPr/>
          <p:nvPr/>
        </p:nvSpPr>
        <p:spPr>
          <a:xfrm>
            <a:off x="2495042" y="4500118"/>
            <a:ext cx="467233" cy="889"/>
          </a:xfrm>
          <a:prstGeom prst="line">
            <a:avLst/>
          </a:prstGeom>
          <a:noFill/>
          <a:ln w="22225">
            <a:solidFill>
              <a:srgbClr val="04579A"/>
            </a:solidFill>
            <a:prstDash val="solid"/>
            <a:headEnd type="none"/>
            <a:tailEnd type="none"/>
          </a:ln>
        </p:spPr>
      </p:sp>
      <p:sp>
        <p:nvSpPr>
          <p:cNvPr id="21" name="Shape 12"/>
          <p:cNvSpPr/>
          <p:nvPr/>
        </p:nvSpPr>
        <p:spPr>
          <a:xfrm>
            <a:off x="1348359" y="4525772"/>
            <a:ext cx="467233" cy="889"/>
          </a:xfrm>
          <a:prstGeom prst="line">
            <a:avLst/>
          </a:prstGeom>
          <a:noFill/>
          <a:ln w="22225">
            <a:solidFill>
              <a:srgbClr val="04579A"/>
            </a:solidFill>
            <a:prstDash val="solid"/>
            <a:headEnd type="none"/>
            <a:tailEnd type="none"/>
          </a:ln>
        </p:spPr>
      </p:sp>
      <p:sp>
        <p:nvSpPr>
          <p:cNvPr id="22" name="Text 13"/>
          <p:cNvSpPr/>
          <p:nvPr/>
        </p:nvSpPr>
        <p:spPr>
          <a:xfrm>
            <a:off x="1129411" y="6159500"/>
            <a:ext cx="2037969" cy="702691"/>
          </a:xfrm>
          <a:prstGeom prst="rect">
            <a:avLst/>
          </a:prstGeom>
          <a:noFill/>
          <a:ln/>
        </p:spPr>
        <p:txBody>
          <a:bodyPr wrap="square" lIns="0" tIns="0" rIns="0" bIns="0" rtlCol="0" anchor="t"/>
          <a:lstStyle/>
          <a:p>
            <a:pPr algn="ctr">
              <a:lnSpc>
                <a:spcPct val="120000"/>
              </a:lnSpc>
            </a:pPr>
            <a:r>
              <a:rPr lang="en-US" sz="2130" b="1" dirty="0">
                <a:solidFill>
                  <a:srgbClr val="7F7F7F"/>
                </a:solidFill>
                <a:latin typeface="Arial" pitchFamily="34" charset="0"/>
                <a:ea typeface="Arial" pitchFamily="34" charset="-122"/>
                <a:cs typeface="Arial" pitchFamily="34" charset="-120"/>
              </a:rPr>
              <a:t>中心化网络</a:t>
            </a:r>
            <a:endParaRPr lang="en-US" sz="2130" dirty="0"/>
          </a:p>
          <a:p>
            <a:pPr algn="ctr">
              <a:lnSpc>
                <a:spcPct val="120000"/>
              </a:lnSpc>
            </a:pPr>
            <a:r>
              <a:rPr lang="en-US" sz="2130" b="1" dirty="0">
                <a:solidFill>
                  <a:srgbClr val="7F7F7F"/>
                </a:solidFill>
                <a:latin typeface="Arial" pitchFamily="34" charset="0"/>
                <a:ea typeface="Arial" pitchFamily="34" charset="-122"/>
                <a:cs typeface="Arial" pitchFamily="34" charset="-120"/>
              </a:rPr>
              <a:t>单点失效</a:t>
            </a:r>
            <a:endParaRPr lang="en-US" sz="2130" dirty="0"/>
          </a:p>
        </p:txBody>
      </p:sp>
      <p:sp>
        <p:nvSpPr>
          <p:cNvPr id="23" name="Text 14"/>
          <p:cNvSpPr/>
          <p:nvPr/>
        </p:nvSpPr>
        <p:spPr>
          <a:xfrm>
            <a:off x="7928229" y="3517011"/>
            <a:ext cx="8301609" cy="615569"/>
          </a:xfrm>
          <a:prstGeom prst="rect">
            <a:avLst/>
          </a:prstGeom>
          <a:noFill/>
          <a:ln/>
        </p:spPr>
        <p:txBody>
          <a:bodyPr wrap="square" lIns="0" tIns="0" rIns="0" bIns="0" rtlCol="0" anchor="t"/>
          <a:lstStyle/>
          <a:p>
            <a:pPr algn="l">
              <a:lnSpc>
                <a:spcPct val="120000"/>
              </a:lnSpc>
            </a:pPr>
            <a:r>
              <a:rPr lang="en-US" sz="3200" b="1" dirty="0">
                <a:solidFill>
                  <a:srgbClr val="04579A"/>
                </a:solidFill>
                <a:latin typeface="Arial" pitchFamily="34" charset="0"/>
                <a:ea typeface="Arial" pitchFamily="34" charset="-122"/>
                <a:cs typeface="Arial" pitchFamily="34" charset="-120"/>
              </a:rPr>
              <a:t>分布式架构 </a:t>
            </a:r>
            <a:pPr algn="l">
              <a:lnSpc>
                <a:spcPct val="120000"/>
              </a:lnSpc>
            </a:pPr>
            <a:r>
              <a:rPr lang="en-US" sz="3200" b="1" dirty="0">
                <a:solidFill>
                  <a:srgbClr val="04579A"/>
                </a:solidFill>
                <a:latin typeface="Arial" pitchFamily="34" charset="0"/>
                <a:ea typeface="Arial" pitchFamily="34" charset="-122"/>
                <a:cs typeface="Arial" pitchFamily="34" charset="-120"/>
              </a:rPr>
              <a:t>vs </a:t>
            </a:r>
            <a:pPr algn="l">
              <a:lnSpc>
                <a:spcPct val="120000"/>
              </a:lnSpc>
            </a:pPr>
            <a:r>
              <a:rPr lang="en-US" sz="3200" b="1" dirty="0">
                <a:solidFill>
                  <a:srgbClr val="04579A"/>
                </a:solidFill>
                <a:latin typeface="Arial" pitchFamily="34" charset="0"/>
                <a:ea typeface="Arial" pitchFamily="34" charset="-122"/>
                <a:cs typeface="Arial" pitchFamily="34" charset="-120"/>
              </a:rPr>
              <a:t>中心化架构：</a:t>
            </a:r>
            <a:endParaRPr lang="en-US" sz="3200" dirty="0"/>
          </a:p>
        </p:txBody>
      </p:sp>
      <p:sp>
        <p:nvSpPr>
          <p:cNvPr id="24" name="Shape 15"/>
          <p:cNvSpPr/>
          <p:nvPr/>
        </p:nvSpPr>
        <p:spPr>
          <a:xfrm>
            <a:off x="10323449" y="4709160"/>
            <a:ext cx="3513709" cy="536829"/>
          </a:xfrm>
          <a:prstGeom prst="rect">
            <a:avLst/>
          </a:prstGeom>
          <a:solidFill>
            <a:srgbClr val="005C8F"/>
          </a:solidFill>
          <a:ln w="12700">
            <a:solidFill>
              <a:srgbClr val="005C8F"/>
            </a:solidFill>
            <a:prstDash val="solid"/>
          </a:ln>
        </p:spPr>
      </p:sp>
      <p:sp>
        <p:nvSpPr>
          <p:cNvPr id="25" name="Shape 16"/>
          <p:cNvSpPr/>
          <p:nvPr/>
        </p:nvSpPr>
        <p:spPr>
          <a:xfrm>
            <a:off x="7958709" y="5364480"/>
            <a:ext cx="2363851" cy="536829"/>
          </a:xfrm>
          <a:prstGeom prst="rect">
            <a:avLst/>
          </a:prstGeom>
          <a:noFill/>
          <a:ln w="12700">
            <a:solidFill>
              <a:srgbClr val="BFD5F5"/>
            </a:solidFill>
            <a:prstDash val="solid"/>
          </a:ln>
        </p:spPr>
      </p:sp>
      <p:sp>
        <p:nvSpPr>
          <p:cNvPr id="26" name="Shape 17"/>
          <p:cNvSpPr/>
          <p:nvPr/>
        </p:nvSpPr>
        <p:spPr>
          <a:xfrm>
            <a:off x="7958709" y="6019800"/>
            <a:ext cx="2363851" cy="536829"/>
          </a:xfrm>
          <a:prstGeom prst="rect">
            <a:avLst/>
          </a:prstGeom>
          <a:noFill/>
          <a:ln w="12700">
            <a:solidFill>
              <a:srgbClr val="BFD5F5"/>
            </a:solidFill>
            <a:prstDash val="solid"/>
          </a:ln>
        </p:spPr>
      </p:sp>
      <p:sp>
        <p:nvSpPr>
          <p:cNvPr id="27" name="Shape 18"/>
          <p:cNvSpPr/>
          <p:nvPr/>
        </p:nvSpPr>
        <p:spPr>
          <a:xfrm>
            <a:off x="10323449" y="5364480"/>
            <a:ext cx="3513709" cy="536829"/>
          </a:xfrm>
          <a:prstGeom prst="rect">
            <a:avLst/>
          </a:prstGeom>
          <a:solidFill>
            <a:srgbClr val="005C8F"/>
          </a:solidFill>
          <a:ln w="12700">
            <a:solidFill>
              <a:srgbClr val="005C8F"/>
            </a:solidFill>
            <a:prstDash val="solid"/>
          </a:ln>
        </p:spPr>
      </p:sp>
      <p:sp>
        <p:nvSpPr>
          <p:cNvPr id="28" name="Shape 19"/>
          <p:cNvSpPr/>
          <p:nvPr/>
        </p:nvSpPr>
        <p:spPr>
          <a:xfrm>
            <a:off x="10323449" y="6019800"/>
            <a:ext cx="3513709" cy="536829"/>
          </a:xfrm>
          <a:prstGeom prst="rect">
            <a:avLst/>
          </a:prstGeom>
          <a:solidFill>
            <a:srgbClr val="005C8F"/>
          </a:solidFill>
          <a:ln w="12700">
            <a:solidFill>
              <a:srgbClr val="005C8F"/>
            </a:solidFill>
            <a:prstDash val="solid"/>
          </a:ln>
        </p:spPr>
      </p:sp>
      <p:sp>
        <p:nvSpPr>
          <p:cNvPr id="29" name="Text 20"/>
          <p:cNvSpPr/>
          <p:nvPr/>
        </p:nvSpPr>
        <p:spPr>
          <a:xfrm>
            <a:off x="8078470" y="4520057"/>
            <a:ext cx="6035040" cy="1993900"/>
          </a:xfrm>
          <a:prstGeom prst="rect">
            <a:avLst/>
          </a:prstGeom>
          <a:noFill/>
          <a:ln/>
        </p:spPr>
        <p:txBody>
          <a:bodyPr wrap="square" lIns="0" tIns="0" rIns="0" bIns="0" rtlCol="0" anchor="t"/>
          <a:lstStyle/>
          <a:p>
            <a:pPr algn="l">
              <a:lnSpc>
                <a:spcPct val="200000"/>
              </a:lnSpc>
            </a:pPr>
            <a:r>
              <a:rPr lang="en-US" sz="2130" dirty="0">
                <a:solidFill>
                  <a:srgbClr val="000000"/>
                </a:solidFill>
                <a:latin typeface="MiSans" pitchFamily="34" charset="0"/>
                <a:ea typeface="MiSans" pitchFamily="34" charset="-122"/>
                <a:cs typeface="MiSans" pitchFamily="34" charset="-120"/>
              </a:rPr>
              <a:t>弹性扩容	             扩展节点灵活提升系统容量</a:t>
            </a:r>
            <a:endParaRPr lang="en-US" sz="2130" dirty="0"/>
          </a:p>
          <a:p>
            <a:pPr algn="l">
              <a:lnSpc>
                <a:spcPct val="200000"/>
              </a:lnSpc>
            </a:pPr>
            <a:r>
              <a:rPr lang="en-US" sz="2130" dirty="0">
                <a:solidFill>
                  <a:srgbClr val="000000"/>
                </a:solidFill>
                <a:latin typeface="MiSans" pitchFamily="34" charset="0"/>
                <a:ea typeface="MiSans" pitchFamily="34" charset="-122"/>
                <a:cs typeface="MiSans" pitchFamily="34" charset="-120"/>
              </a:rPr>
              <a:t>高容错性		      无单点失效隐患</a:t>
            </a:r>
            <a:endParaRPr lang="en-US" sz="2130" dirty="0"/>
          </a:p>
          <a:p>
            <a:pPr algn="l">
              <a:lnSpc>
                <a:spcPct val="200000"/>
              </a:lnSpc>
            </a:pPr>
            <a:r>
              <a:rPr lang="en-US" sz="2130" dirty="0">
                <a:solidFill>
                  <a:srgbClr val="000000"/>
                </a:solidFill>
                <a:latin typeface="MiSans" pitchFamily="34" charset="0"/>
                <a:ea typeface="MiSans" pitchFamily="34" charset="-122"/>
                <a:cs typeface="MiSans" pitchFamily="34" charset="-120"/>
              </a:rPr>
              <a:t>去中心化	               消除中心控制，防止垄断</a:t>
            </a:r>
            <a:endParaRPr lang="en-US" sz="2130" dirty="0"/>
          </a:p>
        </p:txBody>
      </p:sp>
      <p:sp>
        <p:nvSpPr>
          <p:cNvPr id="30" name="Shape 21"/>
          <p:cNvSpPr/>
          <p:nvPr/>
        </p:nvSpPr>
        <p:spPr>
          <a:xfrm>
            <a:off x="3108071" y="1965071"/>
            <a:ext cx="4063111" cy="5837809"/>
          </a:xfrm>
          <a:prstGeom prst="roundRect">
            <a:avLst>
              <a:gd name="adj" fmla="val 16667"/>
            </a:avLst>
          </a:prstGeom>
          <a:solidFill>
            <a:srgbClr val="FFFFFF"/>
          </a:solidFill>
          <a:ln w="12700">
            <a:solidFill>
              <a:srgbClr val="0688EC"/>
            </a:solidFill>
            <a:prstDash val="solid"/>
          </a:ln>
          <a:effectLst>
            <a:outerShdw sx="100000" sy="100000" kx="0" ky="0" algn="bl" rotWithShape="0" blurRad="50800" dist="26924" dir="2700000">
              <a:srgbClr val="000000">
                <a:alpha val="40000"/>
              </a:srgbClr>
            </a:outerShdw>
          </a:effectLst>
        </p:spPr>
      </p:sp>
      <p:pic>
        <p:nvPicPr>
          <p:cNvPr id="31" name="Image 6" descr="https://kimi-img.moonshot.cn/pub/slides/okc/flfuysioo4gzm/mnt/agents/output/yuan_pptd/images/image_13.jpg">    </p:cNvPr>
          <p:cNvPicPr>
            <a:picLocks noChangeAspect="1"/>
          </p:cNvPicPr>
          <p:nvPr/>
        </p:nvPicPr>
        <p:blipFill>
          <a:blip r:embed="rId7"/>
          <a:srcRect l="20420" r="50110" t="24710" b="22240"/>
          <a:stretch/>
        </p:blipFill>
        <p:spPr>
          <a:xfrm>
            <a:off x="3474720" y="2954020"/>
            <a:ext cx="911225" cy="923544"/>
          </a:xfrm>
          <a:prstGeom prst="rect">
            <a:avLst/>
          </a:prstGeom>
        </p:spPr>
      </p:pic>
      <p:pic>
        <p:nvPicPr>
          <p:cNvPr id="32" name="Image 7" descr="https://kimi-img.moonshot.cn/pub/slides/okc/flfuysioo4gzm/mnt/agents/output/yuan_pptd/images/image_13.jpg">    </p:cNvPr>
          <p:cNvPicPr>
            <a:picLocks noChangeAspect="1"/>
          </p:cNvPicPr>
          <p:nvPr/>
        </p:nvPicPr>
        <p:blipFill>
          <a:blip r:embed="rId8"/>
          <a:srcRect l="20420" r="50110" t="24710" b="22240"/>
          <a:stretch/>
        </p:blipFill>
        <p:spPr>
          <a:xfrm>
            <a:off x="5871464" y="2954020"/>
            <a:ext cx="911225" cy="923544"/>
          </a:xfrm>
          <a:prstGeom prst="rect">
            <a:avLst/>
          </a:prstGeom>
        </p:spPr>
      </p:pic>
      <p:pic>
        <p:nvPicPr>
          <p:cNvPr id="33" name="Image 8" descr="https://kimi-img.moonshot.cn/pub/slides/okc/flfuysioo4gzm/mnt/agents/output/yuan_pptd/images/image_13.jpg">    </p:cNvPr>
          <p:cNvPicPr>
            <a:picLocks noChangeAspect="1"/>
          </p:cNvPicPr>
          <p:nvPr/>
        </p:nvPicPr>
        <p:blipFill>
          <a:blip r:embed="rId9"/>
          <a:srcRect l="20420" r="50110" t="24710" b="22240"/>
          <a:stretch/>
        </p:blipFill>
        <p:spPr>
          <a:xfrm>
            <a:off x="3474720" y="4638929"/>
            <a:ext cx="911225" cy="923544"/>
          </a:xfrm>
          <a:prstGeom prst="rect">
            <a:avLst/>
          </a:prstGeom>
        </p:spPr>
      </p:pic>
      <p:pic>
        <p:nvPicPr>
          <p:cNvPr id="34" name="Image 9" descr="https://kimi-img.moonshot.cn/pub/slides/okc/flfuysioo4gzm/mnt/agents/output/yuan_pptd/images/image_13.jpg">    </p:cNvPr>
          <p:cNvPicPr>
            <a:picLocks noChangeAspect="1"/>
          </p:cNvPicPr>
          <p:nvPr/>
        </p:nvPicPr>
        <p:blipFill>
          <a:blip r:embed="rId10"/>
          <a:srcRect l="20420" r="50110" t="24710" b="22240"/>
          <a:stretch/>
        </p:blipFill>
        <p:spPr>
          <a:xfrm>
            <a:off x="5871464" y="4638929"/>
            <a:ext cx="911225" cy="923544"/>
          </a:xfrm>
          <a:prstGeom prst="rect">
            <a:avLst/>
          </a:prstGeom>
        </p:spPr>
      </p:pic>
      <p:sp>
        <p:nvSpPr>
          <p:cNvPr id="35" name="Shape 22"/>
          <p:cNvSpPr/>
          <p:nvPr/>
        </p:nvSpPr>
        <p:spPr>
          <a:xfrm flipV="1">
            <a:off x="6327394" y="3877564"/>
            <a:ext cx="0" cy="761365"/>
          </a:xfrm>
          <a:prstGeom prst="line">
            <a:avLst/>
          </a:prstGeom>
          <a:noFill/>
          <a:ln w="22225">
            <a:solidFill>
              <a:srgbClr val="04579A"/>
            </a:solidFill>
            <a:prstDash val="solid"/>
            <a:headEnd type="none"/>
            <a:tailEnd type="none"/>
          </a:ln>
        </p:spPr>
      </p:sp>
      <p:sp>
        <p:nvSpPr>
          <p:cNvPr id="36" name="Shape 23"/>
          <p:cNvSpPr/>
          <p:nvPr/>
        </p:nvSpPr>
        <p:spPr>
          <a:xfrm flipV="1">
            <a:off x="3930650" y="3877564"/>
            <a:ext cx="0" cy="761365"/>
          </a:xfrm>
          <a:prstGeom prst="line">
            <a:avLst/>
          </a:prstGeom>
          <a:noFill/>
          <a:ln w="22225">
            <a:solidFill>
              <a:srgbClr val="04579A"/>
            </a:solidFill>
            <a:prstDash val="solid"/>
            <a:headEnd type="none"/>
            <a:tailEnd type="none"/>
          </a:ln>
        </p:spPr>
      </p:sp>
      <p:sp>
        <p:nvSpPr>
          <p:cNvPr id="37" name="Shape 24"/>
          <p:cNvSpPr/>
          <p:nvPr/>
        </p:nvSpPr>
        <p:spPr>
          <a:xfrm>
            <a:off x="4385945" y="5100066"/>
            <a:ext cx="1485519" cy="0"/>
          </a:xfrm>
          <a:prstGeom prst="line">
            <a:avLst/>
          </a:prstGeom>
          <a:noFill/>
          <a:ln w="22225">
            <a:solidFill>
              <a:srgbClr val="04579A"/>
            </a:solidFill>
            <a:prstDash val="solid"/>
            <a:headEnd type="none"/>
            <a:tailEnd type="none"/>
          </a:ln>
        </p:spPr>
      </p:sp>
      <p:sp>
        <p:nvSpPr>
          <p:cNvPr id="38" name="Shape 25"/>
          <p:cNvSpPr/>
          <p:nvPr/>
        </p:nvSpPr>
        <p:spPr>
          <a:xfrm>
            <a:off x="4385945" y="3415792"/>
            <a:ext cx="1485519" cy="0"/>
          </a:xfrm>
          <a:prstGeom prst="line">
            <a:avLst/>
          </a:prstGeom>
          <a:noFill/>
          <a:ln w="22225">
            <a:solidFill>
              <a:srgbClr val="04579A"/>
            </a:solidFill>
            <a:prstDash val="solid"/>
            <a:headEnd type="none"/>
            <a:tailEnd type="none"/>
          </a:ln>
        </p:spPr>
      </p:sp>
      <p:sp>
        <p:nvSpPr>
          <p:cNvPr id="39" name="Shape 26"/>
          <p:cNvSpPr/>
          <p:nvPr/>
        </p:nvSpPr>
        <p:spPr>
          <a:xfrm flipV="1">
            <a:off x="4407281" y="3711194"/>
            <a:ext cx="1503299" cy="981075"/>
          </a:xfrm>
          <a:prstGeom prst="line">
            <a:avLst/>
          </a:prstGeom>
          <a:noFill/>
          <a:ln w="22225">
            <a:solidFill>
              <a:srgbClr val="04579A"/>
            </a:solidFill>
            <a:prstDash val="solid"/>
            <a:headEnd type="none"/>
            <a:tailEnd type="none"/>
          </a:ln>
        </p:spPr>
      </p:sp>
      <p:sp>
        <p:nvSpPr>
          <p:cNvPr id="40" name="Shape 27"/>
          <p:cNvSpPr/>
          <p:nvPr/>
        </p:nvSpPr>
        <p:spPr>
          <a:xfrm flipH="1" flipV="1">
            <a:off x="4385945" y="3711194"/>
            <a:ext cx="1481963" cy="970407"/>
          </a:xfrm>
          <a:prstGeom prst="line">
            <a:avLst/>
          </a:prstGeom>
          <a:noFill/>
          <a:ln w="22225">
            <a:solidFill>
              <a:srgbClr val="04579A"/>
            </a:solidFill>
            <a:prstDash val="solid"/>
            <a:headEnd type="none"/>
            <a:tailEnd type="none"/>
          </a:ln>
        </p:spPr>
      </p:sp>
      <p:sp>
        <p:nvSpPr>
          <p:cNvPr id="41" name="Text 28"/>
          <p:cNvSpPr/>
          <p:nvPr/>
        </p:nvSpPr>
        <p:spPr>
          <a:xfrm>
            <a:off x="4143629" y="6416929"/>
            <a:ext cx="2041271" cy="480949"/>
          </a:xfrm>
          <a:prstGeom prst="rect">
            <a:avLst/>
          </a:prstGeom>
          <a:noFill/>
          <a:ln/>
        </p:spPr>
        <p:txBody>
          <a:bodyPr wrap="square" lIns="0" tIns="0" rIns="0" bIns="0" rtlCol="0" anchor="t"/>
          <a:lstStyle/>
          <a:p>
            <a:pPr algn="ctr">
              <a:lnSpc>
                <a:spcPct val="120000"/>
              </a:lnSpc>
            </a:pPr>
            <a:r>
              <a:rPr lang="en-US" sz="2670" b="1" dirty="0">
                <a:solidFill>
                  <a:srgbClr val="04579A"/>
                </a:solidFill>
                <a:latin typeface="Arial" pitchFamily="34" charset="0"/>
                <a:ea typeface="Arial" pitchFamily="34" charset="-122"/>
                <a:cs typeface="Arial" pitchFamily="34" charset="-120"/>
              </a:rPr>
              <a:t>分布式系统</a:t>
            </a:r>
            <a:endParaRPr lang="en-US" sz="2670" dirty="0"/>
          </a:p>
        </p:txBody>
      </p:sp>
      <p:sp>
        <p:nvSpPr>
          <p:cNvPr id="42" name="Text 29"/>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a:t>
            </a:r>
            <a:endParaRPr lang="en-US" sz="2400" dirty="0"/>
          </a:p>
        </p:txBody>
      </p:sp>
    </p:spTree>
  </p:cSld>
  <p:clrMapOvr>
    <a:masterClrMapping/>
  </p:clrMapOvr>
  <p:transition>
    <p:fade/>
    <p:spd val="med"/>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3" name="Image 0" descr="https://kimi-img.moonshot.cn/pub/slides/okc/flfuysioo4gzm/mnt/agents/output/yuan_pptd/images/image_14.jpg">    </p:cNvPr>
          <p:cNvPicPr>
            <a:picLocks noChangeAspect="1"/>
          </p:cNvPicPr>
          <p:nvPr/>
        </p:nvPicPr>
        <p:blipFill>
          <a:blip r:embed="rId1"/>
          <a:srcRect l="0" r="0" t="0" b="1330"/>
          <a:stretch/>
        </p:blipFill>
        <p:spPr>
          <a:xfrm>
            <a:off x="1694180" y="1737360"/>
            <a:ext cx="4269740" cy="2807589"/>
          </a:xfrm>
          <a:prstGeom prst="rect">
            <a:avLst/>
          </a:prstGeom>
          <a:effectLst>
            <a:outerShdw sx="100000" sy="100000" kx="0" ky="0" algn="bl" rotWithShape="0" blurRad="50800" dist="26924" dir="2700000">
              <a:srgbClr val="000000">
                <a:alpha val="40000"/>
              </a:srgbClr>
            </a:outerShdw>
          </a:effectLst>
        </p:spPr>
      </p:pic>
      <p:sp>
        <p:nvSpPr>
          <p:cNvPr id="4" name="Text 0"/>
          <p:cNvSpPr/>
          <p:nvPr/>
        </p:nvSpPr>
        <p:spPr>
          <a:xfrm>
            <a:off x="2630551" y="5700649"/>
            <a:ext cx="5799582" cy="2744216"/>
          </a:xfrm>
          <a:prstGeom prst="rect">
            <a:avLst/>
          </a:prstGeom>
          <a:noFill/>
          <a:ln/>
        </p:spPr>
        <p:txBody>
          <a:bodyPr wrap="square" lIns="0" tIns="0" rIns="0" bIns="0" rtlCol="0" anchor="t"/>
          <a:lstStyle/>
          <a:p>
            <a:pPr algn="l">
              <a:lnSpc>
                <a:spcPct val="120000"/>
              </a:lnSpc>
            </a:pPr>
            <a:r>
              <a:rPr lang="en-US" sz="2400" b="1" dirty="0">
                <a:solidFill>
                  <a:srgbClr val="04579A"/>
                </a:solidFill>
                <a:latin typeface="Arial" pitchFamily="34" charset="0"/>
                <a:ea typeface="Arial" pitchFamily="34" charset="-122"/>
                <a:cs typeface="Arial" pitchFamily="34" charset="-120"/>
              </a:rPr>
              <a:t>公开可验证</a:t>
            </a:r>
            <a:endParaRPr lang="en-US" sz="2400" dirty="0"/>
          </a:p>
          <a:p>
            <a:pPr algn="l">
              <a:lnSpc>
                <a:spcPct val="120000"/>
              </a:lnSpc>
            </a:pPr>
            <a:r>
              <a:rPr lang="en-US" sz="2400" dirty="0">
                <a:solidFill>
                  <a:srgbClr val="04579A"/>
                </a:solidFill>
                <a:latin typeface="Arial" pitchFamily="34" charset="0"/>
                <a:ea typeface="Arial" pitchFamily="34" charset="-122"/>
                <a:cs typeface="Arial" pitchFamily="34" charset="-120"/>
              </a:rPr>
              <a:t>维护全局统一的线性有序交易记录</a:t>
            </a:r>
            <a:endParaRPr lang="en-US" sz="2400" dirty="0"/>
          </a:p>
          <a:p>
            <a:pPr algn="l">
              <a:lnSpc>
                <a:spcPct val="120000"/>
              </a:lnSpc>
            </a:pPr>
            <a:r>
              <a:rPr lang="en-US" sz="2400" b="1" dirty="0">
                <a:solidFill>
                  <a:srgbClr val="04579A"/>
                </a:solidFill>
                <a:latin typeface="Arial" pitchFamily="34" charset="0"/>
                <a:ea typeface="Arial" pitchFamily="34" charset="-122"/>
                <a:cs typeface="Arial" pitchFamily="34" charset="-120"/>
              </a:rPr>
              <a:t>不可篡改</a:t>
            </a:r>
            <a:endParaRPr lang="en-US" sz="2400" dirty="0"/>
          </a:p>
          <a:p>
            <a:pPr algn="l">
              <a:lnSpc>
                <a:spcPct val="120000"/>
              </a:lnSpc>
            </a:pPr>
            <a:r>
              <a:rPr lang="en-US" sz="2400" dirty="0">
                <a:solidFill>
                  <a:srgbClr val="04579A"/>
                </a:solidFill>
                <a:latin typeface="Arial" pitchFamily="34" charset="0"/>
                <a:ea typeface="Arial" pitchFamily="34" charset="-122"/>
                <a:cs typeface="Arial" pitchFamily="34" charset="-120"/>
              </a:rPr>
              <a:t>区块间存在链接结构，一旦篡改即失效</a:t>
            </a:r>
            <a:endParaRPr lang="en-US" sz="2400" dirty="0"/>
          </a:p>
          <a:p>
            <a:pPr algn="l">
              <a:lnSpc>
                <a:spcPct val="120000"/>
              </a:lnSpc>
            </a:pPr>
            <a:r>
              <a:rPr lang="en-US" sz="2400" b="1" dirty="0">
                <a:solidFill>
                  <a:srgbClr val="04579A"/>
                </a:solidFill>
                <a:latin typeface="Arial" pitchFamily="34" charset="0"/>
                <a:ea typeface="Arial" pitchFamily="34" charset="-122"/>
                <a:cs typeface="Arial" pitchFamily="34" charset="-120"/>
              </a:rPr>
              <a:t>去中心化</a:t>
            </a:r>
            <a:endParaRPr lang="en-US" sz="2400" dirty="0"/>
          </a:p>
          <a:p>
            <a:pPr algn="l">
              <a:lnSpc>
                <a:spcPct val="120000"/>
              </a:lnSpc>
            </a:pPr>
            <a:r>
              <a:rPr lang="en-US" sz="2400" dirty="0">
                <a:solidFill>
                  <a:srgbClr val="04579A"/>
                </a:solidFill>
                <a:latin typeface="Arial" pitchFamily="34" charset="0"/>
                <a:ea typeface="Arial" pitchFamily="34" charset="-122"/>
                <a:cs typeface="Arial" pitchFamily="34" charset="-120"/>
              </a:rPr>
              <a:t>独立验证节点构成的点对点网络共同维护</a:t>
            </a:r>
            <a:endParaRPr lang="en-US" sz="2400" dirty="0"/>
          </a:p>
        </p:txBody>
      </p:sp>
      <p:sp>
        <p:nvSpPr>
          <p:cNvPr id="5" name="Shape 1"/>
          <p:cNvSpPr/>
          <p:nvPr/>
        </p:nvSpPr>
        <p:spPr>
          <a:xfrm>
            <a:off x="5162169" y="-889"/>
            <a:ext cx="2654300" cy="962660"/>
          </a:xfrm>
          <a:prstGeom prst="rect">
            <a:avLst/>
          </a:prstGeom>
          <a:solidFill>
            <a:srgbClr val="F2F2F2"/>
          </a:solidFill>
          <a:ln/>
        </p:spPr>
      </p:sp>
      <p:sp>
        <p:nvSpPr>
          <p:cNvPr id="6" name="Shape 2"/>
          <p:cNvSpPr/>
          <p:nvPr/>
        </p:nvSpPr>
        <p:spPr>
          <a:xfrm>
            <a:off x="7816469" y="-889"/>
            <a:ext cx="4154551" cy="962660"/>
          </a:xfrm>
          <a:prstGeom prst="rect">
            <a:avLst/>
          </a:prstGeom>
          <a:solidFill>
            <a:srgbClr val="F2F2F2"/>
          </a:solidFill>
          <a:ln/>
        </p:spPr>
      </p:sp>
      <p:sp>
        <p:nvSpPr>
          <p:cNvPr id="7" name="Shape 3"/>
          <p:cNvSpPr/>
          <p:nvPr/>
        </p:nvSpPr>
        <p:spPr>
          <a:xfrm>
            <a:off x="11971020" y="0"/>
            <a:ext cx="4284980" cy="961771"/>
          </a:xfrm>
          <a:prstGeom prst="rect">
            <a:avLst/>
          </a:prstGeom>
          <a:solidFill>
            <a:srgbClr val="F2F2F2"/>
          </a:solidFill>
          <a:ln/>
        </p:spPr>
      </p:sp>
      <p:sp>
        <p:nvSpPr>
          <p:cNvPr id="8" name="Shape 4"/>
          <p:cNvSpPr/>
          <p:nvPr/>
        </p:nvSpPr>
        <p:spPr>
          <a:xfrm>
            <a:off x="2219960" y="-889"/>
            <a:ext cx="2942209" cy="962660"/>
          </a:xfrm>
          <a:prstGeom prst="rect">
            <a:avLst/>
          </a:prstGeom>
          <a:solidFill>
            <a:srgbClr val="04579A"/>
          </a:solidFill>
          <a:ln w="12700">
            <a:solidFill>
              <a:srgbClr val="304B73"/>
            </a:solidFill>
            <a:prstDash val="solid"/>
          </a:ln>
        </p:spPr>
      </p:sp>
      <p:sp>
        <p:nvSpPr>
          <p:cNvPr id="9" name="Text 5"/>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选题背景及意义</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国内外研究现状</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主要研究内容及预期目标</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工作计划与进度安排</a:t>
            </a:r>
            <a:endParaRPr lang="en-US" sz="2400" dirty="0"/>
          </a:p>
        </p:txBody>
      </p:sp>
      <p:pic>
        <p:nvPicPr>
          <p:cNvPr id="10" name="Image 1" descr="https://kimi-img.moonshot.cn/pub/slides/okc/flfuysioo4gzm/mnt/agents/output/yuan_pptd/images/image_2.jpg">    </p:cNvPr>
          <p:cNvPicPr>
            <a:picLocks noChangeAspect="1"/>
          </p:cNvPicPr>
          <p:nvPr/>
        </p:nvPicPr>
        <p:blipFill>
          <a:blip r:embed="rId2"/>
          <a:srcRect l="5060" r="29000" t="0" b="0"/>
          <a:stretch/>
        </p:blipFill>
        <p:spPr>
          <a:xfrm>
            <a:off x="544449" y="140589"/>
            <a:ext cx="1273429" cy="745871"/>
          </a:xfrm>
          <a:prstGeom prst="rect">
            <a:avLst/>
          </a:prstGeom>
        </p:spPr>
      </p:pic>
      <p:sp>
        <p:nvSpPr>
          <p:cNvPr id="11" name="Shape 6"/>
          <p:cNvSpPr/>
          <p:nvPr/>
        </p:nvSpPr>
        <p:spPr>
          <a:xfrm rot="10800000">
            <a:off x="3496691" y="961771"/>
            <a:ext cx="389509" cy="304800"/>
          </a:xfrm>
          <a:prstGeom prst="triangle">
            <a:avLst>
              <a:gd name="adj" fmla="val 50000"/>
            </a:avLst>
          </a:prstGeom>
          <a:solidFill>
            <a:srgbClr val="04579A"/>
          </a:solidFill>
          <a:ln/>
        </p:spPr>
      </p:sp>
      <p:sp>
        <p:nvSpPr>
          <p:cNvPr id="12" name="Text 7"/>
          <p:cNvSpPr/>
          <p:nvPr/>
        </p:nvSpPr>
        <p:spPr>
          <a:xfrm>
            <a:off x="6501511" y="2393569"/>
            <a:ext cx="8260969" cy="2337689"/>
          </a:xfrm>
          <a:prstGeom prst="rect">
            <a:avLst/>
          </a:prstGeom>
          <a:noFill/>
          <a:ln/>
        </p:spPr>
        <p:txBody>
          <a:bodyPr wrap="square" lIns="0" tIns="0" rIns="0" bIns="0" rtlCol="0" anchor="t"/>
          <a:lstStyle/>
          <a:p>
            <a:pPr algn="l" marL="381000" indent="-381000">
              <a:lnSpc>
                <a:spcPct val="150000"/>
              </a:lnSpc>
              <a:spcBef>
                <a:spcPts val="10"/>
              </a:spcBef>
              <a:buSzPct val="100000"/>
              <a:buChar char="•"/>
            </a:pPr>
            <a:r>
              <a:rPr lang="en-US" sz="2400" dirty="0">
                <a:solidFill>
                  <a:srgbClr val="000000"/>
                </a:solidFill>
                <a:latin typeface="Arial" pitchFamily="34" charset="0"/>
                <a:ea typeface="Arial" pitchFamily="34" charset="-122"/>
                <a:cs typeface="Arial" pitchFamily="34" charset="-120"/>
              </a:rPr>
              <a:t>持续增长，线性排序的交易日志</a:t>
            </a:r>
            <a:endParaRPr lang="en-US" sz="2400" dirty="0"/>
          </a:p>
          <a:p>
            <a:pPr algn="l" marL="381000" indent="-381000">
              <a:lnSpc>
                <a:spcPct val="150000"/>
              </a:lnSpc>
              <a:spcBef>
                <a:spcPts val="10"/>
              </a:spcBef>
              <a:buSzPct val="100000"/>
              <a:buChar char="•"/>
            </a:pPr>
            <a:r>
              <a:rPr lang="en-US" sz="2400" dirty="0">
                <a:solidFill>
                  <a:srgbClr val="000000"/>
                </a:solidFill>
                <a:latin typeface="Arial" pitchFamily="34" charset="0"/>
                <a:ea typeface="Arial" pitchFamily="34" charset="-122"/>
                <a:cs typeface="Arial" pitchFamily="34" charset="-120"/>
              </a:rPr>
              <a:t>基于工作量证明 (Proof of Work, PoW) 的共识机制</a:t>
            </a:r>
            <a:endParaRPr lang="en-US" sz="2400" dirty="0"/>
          </a:p>
          <a:p>
            <a:pPr algn="l" marL="381000" indent="-381000">
              <a:lnSpc>
                <a:spcPct val="150000"/>
              </a:lnSpc>
              <a:spcBef>
                <a:spcPts val="10"/>
              </a:spcBef>
              <a:buSzPct val="100000"/>
              <a:buChar char="•"/>
            </a:pPr>
            <a:r>
              <a:rPr lang="en-US" sz="2400" dirty="0">
                <a:solidFill>
                  <a:srgbClr val="000000"/>
                </a:solidFill>
                <a:latin typeface="Arial" pitchFamily="34" charset="0"/>
                <a:ea typeface="Arial" pitchFamily="34" charset="-122"/>
                <a:cs typeface="Arial" pitchFamily="34" charset="-120"/>
              </a:rPr>
              <a:t>允许任何节点随时自由地加入系统</a:t>
            </a:r>
            <a:endParaRPr lang="en-US" sz="2400" dirty="0"/>
          </a:p>
          <a:p>
            <a:pPr algn="l" marL="381000" indent="-381000">
              <a:lnSpc>
                <a:spcPct val="150000"/>
              </a:lnSpc>
              <a:spcBef>
                <a:spcPts val="10"/>
              </a:spcBef>
              <a:buSzPct val="100000"/>
              <a:buChar char="•"/>
            </a:pPr>
            <a:r>
              <a:rPr lang="en-US" sz="2400" dirty="0">
                <a:solidFill>
                  <a:srgbClr val="000000"/>
                </a:solidFill>
                <a:latin typeface="Arial" pitchFamily="34" charset="0"/>
                <a:ea typeface="Arial" pitchFamily="34" charset="-122"/>
                <a:cs typeface="Arial" pitchFamily="34" charset="-120"/>
              </a:rPr>
              <a:t> </a:t>
            </a:r>
            <a:endParaRPr lang="en-US" sz="2400" dirty="0"/>
          </a:p>
        </p:txBody>
      </p:sp>
      <p:sp>
        <p:nvSpPr>
          <p:cNvPr id="13" name="Text 8"/>
          <p:cNvSpPr/>
          <p:nvPr/>
        </p:nvSpPr>
        <p:spPr>
          <a:xfrm>
            <a:off x="6415151" y="1568069"/>
            <a:ext cx="7705471" cy="613791"/>
          </a:xfrm>
          <a:prstGeom prst="rect">
            <a:avLst/>
          </a:prstGeom>
          <a:noFill/>
          <a:ln/>
        </p:spPr>
        <p:txBody>
          <a:bodyPr wrap="square" lIns="0" tIns="0" rIns="0" bIns="0" rtlCol="0" anchor="t"/>
          <a:lstStyle/>
          <a:p>
            <a:pPr algn="l">
              <a:lnSpc>
                <a:spcPct val="120000"/>
              </a:lnSpc>
            </a:pPr>
            <a:r>
              <a:rPr lang="en-US" sz="3200" b="1" dirty="0">
                <a:solidFill>
                  <a:srgbClr val="04579A"/>
                </a:solidFill>
                <a:latin typeface="Arial" pitchFamily="34" charset="0"/>
                <a:ea typeface="Arial" pitchFamily="34" charset="-122"/>
                <a:cs typeface="Arial" pitchFamily="34" charset="-120"/>
              </a:rPr>
              <a:t>2008 年，比特币在全球范围内获得成功</a:t>
            </a:r>
            <a:endParaRPr lang="en-US" sz="3200" dirty="0"/>
          </a:p>
        </p:txBody>
      </p:sp>
      <p:sp>
        <p:nvSpPr>
          <p:cNvPr id="14" name="Shape 9"/>
          <p:cNvSpPr/>
          <p:nvPr/>
        </p:nvSpPr>
        <p:spPr>
          <a:xfrm>
            <a:off x="9680702" y="6101207"/>
            <a:ext cx="651383" cy="394335"/>
          </a:xfrm>
          <a:prstGeom prst="rect">
            <a:avLst/>
          </a:prstGeom>
          <a:solidFill>
            <a:srgbClr val="04579A"/>
          </a:solidFill>
          <a:ln w="12700">
            <a:solidFill>
              <a:srgbClr val="04579A"/>
            </a:solidFill>
            <a:prstDash val="solid"/>
          </a:ln>
        </p:spPr>
      </p:sp>
      <p:sp>
        <p:nvSpPr>
          <p:cNvPr id="15" name="Shape 10"/>
          <p:cNvSpPr/>
          <p:nvPr/>
        </p:nvSpPr>
        <p:spPr>
          <a:xfrm>
            <a:off x="10458450" y="6101207"/>
            <a:ext cx="651383" cy="394335"/>
          </a:xfrm>
          <a:prstGeom prst="rect">
            <a:avLst/>
          </a:prstGeom>
          <a:solidFill>
            <a:srgbClr val="04579A"/>
          </a:solidFill>
          <a:ln w="12700">
            <a:solidFill>
              <a:srgbClr val="04579A"/>
            </a:solidFill>
            <a:prstDash val="solid"/>
          </a:ln>
        </p:spPr>
      </p:sp>
      <p:sp>
        <p:nvSpPr>
          <p:cNvPr id="16" name="Shape 11"/>
          <p:cNvSpPr/>
          <p:nvPr/>
        </p:nvSpPr>
        <p:spPr>
          <a:xfrm>
            <a:off x="11235309" y="6101207"/>
            <a:ext cx="651383" cy="394335"/>
          </a:xfrm>
          <a:prstGeom prst="rect">
            <a:avLst/>
          </a:prstGeom>
          <a:solidFill>
            <a:srgbClr val="04579A"/>
          </a:solidFill>
          <a:ln w="12700">
            <a:solidFill>
              <a:srgbClr val="04579A"/>
            </a:solidFill>
            <a:prstDash val="solid"/>
          </a:ln>
        </p:spPr>
      </p:sp>
      <p:sp>
        <p:nvSpPr>
          <p:cNvPr id="17" name="Shape 12"/>
          <p:cNvSpPr/>
          <p:nvPr/>
        </p:nvSpPr>
        <p:spPr>
          <a:xfrm>
            <a:off x="12013057" y="6101207"/>
            <a:ext cx="651383" cy="394335"/>
          </a:xfrm>
          <a:prstGeom prst="rect">
            <a:avLst/>
          </a:prstGeom>
          <a:solidFill>
            <a:srgbClr val="04579A"/>
          </a:solidFill>
          <a:ln w="12700">
            <a:solidFill>
              <a:srgbClr val="04579A"/>
            </a:solidFill>
            <a:prstDash val="solid"/>
          </a:ln>
        </p:spPr>
      </p:sp>
      <p:sp>
        <p:nvSpPr>
          <p:cNvPr id="18" name="Shape 13"/>
          <p:cNvSpPr/>
          <p:nvPr/>
        </p:nvSpPr>
        <p:spPr>
          <a:xfrm>
            <a:off x="12790805" y="6101207"/>
            <a:ext cx="651383" cy="394335"/>
          </a:xfrm>
          <a:prstGeom prst="rect">
            <a:avLst/>
          </a:prstGeom>
          <a:solidFill>
            <a:srgbClr val="04579A"/>
          </a:solidFill>
          <a:ln w="12700">
            <a:solidFill>
              <a:srgbClr val="04579A"/>
            </a:solidFill>
            <a:prstDash val="solid"/>
          </a:ln>
        </p:spPr>
      </p:sp>
      <p:sp>
        <p:nvSpPr>
          <p:cNvPr id="19" name="Shape 14"/>
          <p:cNvSpPr/>
          <p:nvPr/>
        </p:nvSpPr>
        <p:spPr>
          <a:xfrm flipH="1">
            <a:off x="10332212" y="6298311"/>
            <a:ext cx="125476" cy="0"/>
          </a:xfrm>
          <a:prstGeom prst="line">
            <a:avLst/>
          </a:prstGeom>
          <a:noFill/>
          <a:ln w="12700">
            <a:solidFill>
              <a:srgbClr val="005C8F"/>
            </a:solidFill>
            <a:prstDash val="solid"/>
            <a:headEnd type="none"/>
            <a:tailEnd type="none"/>
          </a:ln>
        </p:spPr>
      </p:sp>
      <p:sp>
        <p:nvSpPr>
          <p:cNvPr id="20" name="Shape 15"/>
          <p:cNvSpPr/>
          <p:nvPr/>
        </p:nvSpPr>
        <p:spPr>
          <a:xfrm flipH="1">
            <a:off x="11109960" y="6298311"/>
            <a:ext cx="125476" cy="0"/>
          </a:xfrm>
          <a:prstGeom prst="line">
            <a:avLst/>
          </a:prstGeom>
          <a:noFill/>
          <a:ln w="12700">
            <a:solidFill>
              <a:srgbClr val="005C8F"/>
            </a:solidFill>
            <a:prstDash val="solid"/>
            <a:headEnd type="none"/>
            <a:tailEnd type="none"/>
          </a:ln>
        </p:spPr>
      </p:sp>
      <p:sp>
        <p:nvSpPr>
          <p:cNvPr id="21" name="Shape 16"/>
          <p:cNvSpPr/>
          <p:nvPr/>
        </p:nvSpPr>
        <p:spPr>
          <a:xfrm flipH="1">
            <a:off x="11887581" y="6298311"/>
            <a:ext cx="126365" cy="0"/>
          </a:xfrm>
          <a:prstGeom prst="line">
            <a:avLst/>
          </a:prstGeom>
          <a:noFill/>
          <a:ln w="12700">
            <a:solidFill>
              <a:srgbClr val="005C8F"/>
            </a:solidFill>
            <a:prstDash val="solid"/>
            <a:headEnd type="none"/>
            <a:tailEnd type="none"/>
          </a:ln>
        </p:spPr>
      </p:sp>
      <p:sp>
        <p:nvSpPr>
          <p:cNvPr id="22" name="Shape 17"/>
          <p:cNvSpPr/>
          <p:nvPr/>
        </p:nvSpPr>
        <p:spPr>
          <a:xfrm flipH="1">
            <a:off x="12665329" y="6298311"/>
            <a:ext cx="125476" cy="0"/>
          </a:xfrm>
          <a:prstGeom prst="line">
            <a:avLst/>
          </a:prstGeom>
          <a:noFill/>
          <a:ln w="12700">
            <a:solidFill>
              <a:srgbClr val="005C8F"/>
            </a:solidFill>
            <a:prstDash val="solid"/>
            <a:headEnd type="none"/>
            <a:tailEnd type="none"/>
          </a:ln>
        </p:spPr>
      </p:sp>
      <p:sp>
        <p:nvSpPr>
          <p:cNvPr id="23" name="Shape 18"/>
          <p:cNvSpPr/>
          <p:nvPr/>
        </p:nvSpPr>
        <p:spPr>
          <a:xfrm>
            <a:off x="13569442" y="6101207"/>
            <a:ext cx="651383" cy="394335"/>
          </a:xfrm>
          <a:prstGeom prst="rect">
            <a:avLst/>
          </a:prstGeom>
          <a:solidFill>
            <a:srgbClr val="04579A"/>
          </a:solidFill>
          <a:ln w="12700">
            <a:solidFill>
              <a:srgbClr val="04579A"/>
            </a:solidFill>
            <a:prstDash val="solid"/>
          </a:ln>
        </p:spPr>
      </p:sp>
      <p:sp>
        <p:nvSpPr>
          <p:cNvPr id="24" name="Shape 19"/>
          <p:cNvSpPr/>
          <p:nvPr/>
        </p:nvSpPr>
        <p:spPr>
          <a:xfrm flipH="1">
            <a:off x="13443966" y="6298311"/>
            <a:ext cx="125476" cy="0"/>
          </a:xfrm>
          <a:prstGeom prst="line">
            <a:avLst/>
          </a:prstGeom>
          <a:noFill/>
          <a:ln w="12700">
            <a:solidFill>
              <a:srgbClr val="005C8F"/>
            </a:solidFill>
            <a:prstDash val="solid"/>
            <a:headEnd type="none"/>
            <a:tailEnd type="none"/>
          </a:ln>
        </p:spPr>
      </p:sp>
      <p:sp>
        <p:nvSpPr>
          <p:cNvPr id="25" name="Shape 20"/>
          <p:cNvSpPr/>
          <p:nvPr/>
        </p:nvSpPr>
        <p:spPr>
          <a:xfrm>
            <a:off x="14348968" y="6101207"/>
            <a:ext cx="651383" cy="394335"/>
          </a:xfrm>
          <a:prstGeom prst="rect">
            <a:avLst/>
          </a:prstGeom>
          <a:solidFill>
            <a:srgbClr val="04579A"/>
          </a:solidFill>
          <a:ln w="12700">
            <a:solidFill>
              <a:srgbClr val="04579A"/>
            </a:solidFill>
            <a:prstDash val="solid"/>
          </a:ln>
        </p:spPr>
      </p:sp>
      <p:sp>
        <p:nvSpPr>
          <p:cNvPr id="26" name="Shape 21"/>
          <p:cNvSpPr/>
          <p:nvPr/>
        </p:nvSpPr>
        <p:spPr>
          <a:xfrm flipH="1">
            <a:off x="14223619" y="6298311"/>
            <a:ext cx="125476" cy="0"/>
          </a:xfrm>
          <a:prstGeom prst="line">
            <a:avLst/>
          </a:prstGeom>
          <a:noFill/>
          <a:ln w="12700">
            <a:solidFill>
              <a:srgbClr val="005C8F"/>
            </a:solidFill>
            <a:prstDash val="solid"/>
            <a:headEnd type="none"/>
            <a:tailEnd type="none"/>
          </a:ln>
        </p:spPr>
      </p:sp>
      <p:sp>
        <p:nvSpPr>
          <p:cNvPr id="27" name="Shape 22"/>
          <p:cNvSpPr/>
          <p:nvPr/>
        </p:nvSpPr>
        <p:spPr>
          <a:xfrm>
            <a:off x="592709" y="5007991"/>
            <a:ext cx="15036800" cy="0"/>
          </a:xfrm>
          <a:prstGeom prst="line">
            <a:avLst/>
          </a:prstGeom>
          <a:noFill/>
          <a:ln w="12700">
            <a:solidFill>
              <a:srgbClr val="7F7F7F">
                <a:alpha val="53725"/>
              </a:srgbClr>
            </a:solidFill>
            <a:prstDash val="solid"/>
            <a:headEnd type="none"/>
            <a:tailEnd type="arrow"/>
          </a:ln>
        </p:spPr>
      </p:sp>
      <p:sp>
        <p:nvSpPr>
          <p:cNvPr id="28" name="Shape 23"/>
          <p:cNvSpPr/>
          <p:nvPr/>
        </p:nvSpPr>
        <p:spPr>
          <a:xfrm>
            <a:off x="579120" y="6430391"/>
            <a:ext cx="1870329" cy="679831"/>
          </a:xfrm>
          <a:prstGeom prst="roundRect">
            <a:avLst>
              <a:gd name="adj" fmla="val 16667"/>
            </a:avLst>
          </a:prstGeom>
          <a:solidFill>
            <a:srgbClr val="04579A"/>
          </a:solidFill>
          <a:ln/>
        </p:spPr>
      </p:sp>
      <p:sp>
        <p:nvSpPr>
          <p:cNvPr id="29" name="Text 24"/>
          <p:cNvSpPr/>
          <p:nvPr/>
        </p:nvSpPr>
        <p:spPr>
          <a:xfrm>
            <a:off x="612267" y="6463538"/>
            <a:ext cx="1803908" cy="613410"/>
          </a:xfrm>
          <a:prstGeom prst="rect">
            <a:avLst/>
          </a:prstGeom>
          <a:noFill/>
          <a:ln/>
        </p:spPr>
        <p:txBody>
          <a:bodyPr wrap="square" lIns="0" tIns="0" rIns="0" bIns="0" rtlCol="0" anchor="t"/>
          <a:lstStyle/>
          <a:p>
            <a:pPr algn="ctr">
              <a:lnSpc>
                <a:spcPct val="120000"/>
              </a:lnSpc>
            </a:pPr>
            <a:r>
              <a:rPr lang="en-US" sz="3200" b="1" dirty="0">
                <a:solidFill>
                  <a:srgbClr val="FFFFFF"/>
                </a:solidFill>
                <a:latin typeface="Arial" pitchFamily="34" charset="0"/>
                <a:ea typeface="Arial" pitchFamily="34" charset="-122"/>
                <a:cs typeface="Arial" pitchFamily="34" charset="-120"/>
              </a:rPr>
              <a:t>性质</a:t>
            </a:r>
            <a:endParaRPr lang="en-US" sz="3200" dirty="0"/>
          </a:p>
        </p:txBody>
      </p:sp>
      <p:sp>
        <p:nvSpPr>
          <p:cNvPr id="30" name="Shape 25"/>
          <p:cNvSpPr/>
          <p:nvPr/>
        </p:nvSpPr>
        <p:spPr>
          <a:xfrm>
            <a:off x="8582660" y="6389751"/>
            <a:ext cx="575691" cy="778891"/>
          </a:xfrm>
          <a:prstGeom prst="rightArrow">
            <a:avLst>
              <a:gd name="adj1" fmla="val 50000"/>
              <a:gd name="adj2" fmla="val 50000"/>
            </a:avLst>
          </a:prstGeom>
          <a:noFill/>
          <a:ln w="12700">
            <a:solidFill>
              <a:srgbClr val="04579A"/>
            </a:solidFill>
            <a:prstDash val="solid"/>
          </a:ln>
        </p:spPr>
      </p:sp>
      <p:sp>
        <p:nvSpPr>
          <p:cNvPr id="31" name="Text 26"/>
          <p:cNvSpPr/>
          <p:nvPr/>
        </p:nvSpPr>
        <p:spPr>
          <a:xfrm>
            <a:off x="579120" y="5939409"/>
            <a:ext cx="1870329" cy="531749"/>
          </a:xfrm>
          <a:prstGeom prst="rect">
            <a:avLst/>
          </a:prstGeom>
          <a:noFill/>
          <a:ln/>
        </p:spPr>
        <p:txBody>
          <a:bodyPr wrap="square" lIns="0" tIns="0" rIns="0" bIns="0" rtlCol="0" anchor="t"/>
          <a:lstStyle/>
          <a:p>
            <a:pPr algn="ctr">
              <a:lnSpc>
                <a:spcPct val="120000"/>
              </a:lnSpc>
            </a:pPr>
            <a:r>
              <a:rPr lang="en-US" sz="2670" b="1" dirty="0">
                <a:solidFill>
                  <a:srgbClr val="04579A"/>
                </a:solidFill>
                <a:latin typeface="Arial" pitchFamily="34" charset="0"/>
                <a:ea typeface="Arial" pitchFamily="34" charset="-122"/>
                <a:cs typeface="Arial" pitchFamily="34" charset="-120"/>
              </a:rPr>
              <a:t>区块链</a:t>
            </a:r>
            <a:endParaRPr lang="en-US" sz="2670" dirty="0"/>
          </a:p>
        </p:txBody>
      </p:sp>
      <p:sp>
        <p:nvSpPr>
          <p:cNvPr id="32" name="Shape 27"/>
          <p:cNvSpPr/>
          <p:nvPr/>
        </p:nvSpPr>
        <p:spPr>
          <a:xfrm flipV="1">
            <a:off x="1694180" y="1552829"/>
            <a:ext cx="7620" cy="3349371"/>
          </a:xfrm>
          <a:prstGeom prst="line">
            <a:avLst/>
          </a:prstGeom>
          <a:noFill/>
          <a:ln w="12700">
            <a:solidFill>
              <a:srgbClr val="7F7F7F"/>
            </a:solidFill>
            <a:prstDash val="solid"/>
            <a:headEnd type="none"/>
            <a:tailEnd type="none"/>
          </a:ln>
        </p:spPr>
      </p:sp>
      <p:sp>
        <p:nvSpPr>
          <p:cNvPr id="33" name="Shape 28"/>
          <p:cNvSpPr/>
          <p:nvPr/>
        </p:nvSpPr>
        <p:spPr>
          <a:xfrm>
            <a:off x="1586611" y="4902200"/>
            <a:ext cx="214249" cy="214249"/>
          </a:xfrm>
          <a:prstGeom prst="ellipse">
            <a:avLst/>
          </a:prstGeom>
          <a:solidFill>
            <a:srgbClr val="00B0F0"/>
          </a:solidFill>
          <a:ln/>
        </p:spPr>
      </p:sp>
      <p:sp>
        <p:nvSpPr>
          <p:cNvPr id="34" name="Shape 29"/>
          <p:cNvSpPr/>
          <p:nvPr/>
        </p:nvSpPr>
        <p:spPr>
          <a:xfrm>
            <a:off x="12338812" y="6495542"/>
            <a:ext cx="0" cy="445135"/>
          </a:xfrm>
          <a:prstGeom prst="straightConnector1">
            <a:avLst/>
          </a:prstGeom>
          <a:noFill/>
          <a:ln w="12700">
            <a:solidFill>
              <a:srgbClr val="005C8F"/>
            </a:solidFill>
            <a:prstDash val="solid"/>
            <a:headEnd type="none"/>
            <a:tailEnd type="arrow"/>
          </a:ln>
        </p:spPr>
      </p:sp>
      <p:sp>
        <p:nvSpPr>
          <p:cNvPr id="35" name="Shape 30"/>
          <p:cNvSpPr/>
          <p:nvPr/>
        </p:nvSpPr>
        <p:spPr>
          <a:xfrm>
            <a:off x="10332212" y="6940550"/>
            <a:ext cx="4067175" cy="1504188"/>
          </a:xfrm>
          <a:prstGeom prst="roundRect">
            <a:avLst>
              <a:gd name="adj" fmla="val 16667"/>
            </a:avLst>
          </a:prstGeom>
          <a:solidFill>
            <a:srgbClr val="5E74BA"/>
          </a:solidFill>
          <a:ln w="12700">
            <a:solidFill>
              <a:srgbClr val="FFFFFF"/>
            </a:solidFill>
            <a:prstDash val="solid"/>
          </a:ln>
        </p:spPr>
      </p:sp>
      <p:sp>
        <p:nvSpPr>
          <p:cNvPr id="36" name="Text 31"/>
          <p:cNvSpPr/>
          <p:nvPr/>
        </p:nvSpPr>
        <p:spPr>
          <a:xfrm>
            <a:off x="9660890" y="6889877"/>
            <a:ext cx="5409819" cy="1541907"/>
          </a:xfrm>
          <a:prstGeom prst="rect">
            <a:avLst/>
          </a:prstGeom>
          <a:noFill/>
          <a:ln/>
        </p:spPr>
        <p:txBody>
          <a:bodyPr wrap="square" lIns="0" tIns="0" rIns="0" bIns="0" rtlCol="0" anchor="t"/>
          <a:lstStyle/>
          <a:p>
            <a:pPr algn="ctr">
              <a:lnSpc>
                <a:spcPct val="150000"/>
              </a:lnSpc>
            </a:pPr>
            <a:r>
              <a:rPr lang="en-US" sz="2130" b="1" dirty="0">
                <a:solidFill>
                  <a:srgbClr val="FFFFFF"/>
                </a:solidFill>
                <a:latin typeface="Arial" pitchFamily="34" charset="0"/>
                <a:ea typeface="Arial" pitchFamily="34" charset="-122"/>
                <a:cs typeface="Arial" pitchFamily="34" charset="-120"/>
              </a:rPr>
              <a:t>数据所有权的透明性和可追溯性</a:t>
            </a:r>
            <a:endParaRPr lang="en-US" sz="2130" dirty="0"/>
          </a:p>
          <a:p>
            <a:pPr algn="ctr">
              <a:lnSpc>
                <a:spcPct val="150000"/>
              </a:lnSpc>
            </a:pPr>
            <a:r>
              <a:rPr lang="en-US" sz="2130" b="1" dirty="0">
                <a:solidFill>
                  <a:srgbClr val="FFFFFF"/>
                </a:solidFill>
                <a:latin typeface="Arial" pitchFamily="34" charset="0"/>
                <a:ea typeface="Arial" pitchFamily="34" charset="-122"/>
                <a:cs typeface="Arial" pitchFamily="34" charset="-120"/>
              </a:rPr>
              <a:t>数据的完整性和可用性</a:t>
            </a:r>
            <a:endParaRPr lang="en-US" sz="2130" dirty="0"/>
          </a:p>
          <a:p>
            <a:pPr algn="ctr">
              <a:lnSpc>
                <a:spcPct val="150000"/>
              </a:lnSpc>
            </a:pPr>
            <a:r>
              <a:rPr lang="en-US" sz="2130" b="1" dirty="0">
                <a:solidFill>
                  <a:srgbClr val="FFFFFF"/>
                </a:solidFill>
                <a:latin typeface="Arial" pitchFamily="34" charset="0"/>
                <a:ea typeface="Arial" pitchFamily="34" charset="-122"/>
                <a:cs typeface="Arial" pitchFamily="34" charset="-120"/>
              </a:rPr>
              <a:t>数据存储的鲁棒性</a:t>
            </a:r>
            <a:endParaRPr lang="en-US" sz="2130" dirty="0"/>
          </a:p>
        </p:txBody>
      </p:sp>
      <p:sp>
        <p:nvSpPr>
          <p:cNvPr id="37" name="Text 32"/>
          <p:cNvSpPr/>
          <p:nvPr/>
        </p:nvSpPr>
        <p:spPr>
          <a:xfrm>
            <a:off x="8486013" y="5139817"/>
            <a:ext cx="7705471" cy="613791"/>
          </a:xfrm>
          <a:prstGeom prst="rect">
            <a:avLst/>
          </a:prstGeom>
          <a:noFill/>
          <a:ln/>
        </p:spPr>
        <p:txBody>
          <a:bodyPr wrap="square" lIns="0" tIns="0" rIns="0" bIns="0" rtlCol="0" anchor="t"/>
          <a:lstStyle/>
          <a:p>
            <a:pPr algn="ctr">
              <a:lnSpc>
                <a:spcPct val="120000"/>
              </a:lnSpc>
            </a:pPr>
            <a:r>
              <a:rPr lang="en-US" sz="3200" b="1" dirty="0">
                <a:solidFill>
                  <a:srgbClr val="04579A"/>
                </a:solidFill>
                <a:latin typeface="Arial" pitchFamily="34" charset="0"/>
                <a:ea typeface="Arial" pitchFamily="34" charset="-122"/>
                <a:cs typeface="Arial" pitchFamily="34" charset="-120"/>
              </a:rPr>
              <a:t>数据确权</a:t>
            </a:r>
            <a:endParaRPr lang="en-US" sz="3200" dirty="0"/>
          </a:p>
        </p:txBody>
      </p:sp>
      <p:sp>
        <p:nvSpPr>
          <p:cNvPr id="38" name="Text 33"/>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a:t>
            </a:r>
            <a:endParaRPr lang="en-US" sz="2400" dirty="0"/>
          </a:p>
        </p:txBody>
      </p:sp>
    </p:spTree>
  </p:cSld>
  <p:clrMapOvr>
    <a:masterClrMapping/>
  </p:clrMapOvr>
  <p:transition>
    <p:fade/>
    <p:spd val="med"/>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3" name="Image 0" descr="https://kimi-img.moonshot.cn/pub/slides/okc/flfuysioo4gzm/mnt/agents/output/yuan_pptd/images/image_15.png">    </p:cNvPr>
          <p:cNvPicPr>
            <a:picLocks noChangeAspect="1"/>
          </p:cNvPicPr>
          <p:nvPr/>
        </p:nvPicPr>
        <p:blipFill>
          <a:blip r:embed="rId1"/>
          <a:srcRect l="0" r="0" t="7060" b="7060"/>
          <a:stretch/>
        </p:blipFill>
        <p:spPr>
          <a:xfrm>
            <a:off x="1694180" y="1737360"/>
            <a:ext cx="4269740" cy="2807589"/>
          </a:xfrm>
          <a:prstGeom prst="rect">
            <a:avLst/>
          </a:prstGeom>
          <a:effectLst>
            <a:outerShdw sx="100000" sy="100000" kx="0" ky="0" algn="bl" rotWithShape="0" blurRad="50800" dist="26924" dir="2700000">
              <a:srgbClr val="000000">
                <a:alpha val="40000"/>
              </a:srgbClr>
            </a:outerShdw>
          </a:effectLst>
        </p:spPr>
      </p:pic>
      <p:sp>
        <p:nvSpPr>
          <p:cNvPr id="4" name="Shape 0"/>
          <p:cNvSpPr/>
          <p:nvPr/>
        </p:nvSpPr>
        <p:spPr>
          <a:xfrm>
            <a:off x="5162169" y="-889"/>
            <a:ext cx="2654300" cy="962660"/>
          </a:xfrm>
          <a:prstGeom prst="rect">
            <a:avLst/>
          </a:prstGeom>
          <a:solidFill>
            <a:srgbClr val="F2F2F2"/>
          </a:solidFill>
          <a:ln/>
        </p:spPr>
      </p:sp>
      <p:sp>
        <p:nvSpPr>
          <p:cNvPr id="5" name="Shape 1"/>
          <p:cNvSpPr/>
          <p:nvPr/>
        </p:nvSpPr>
        <p:spPr>
          <a:xfrm>
            <a:off x="7816469" y="-889"/>
            <a:ext cx="4154551" cy="962660"/>
          </a:xfrm>
          <a:prstGeom prst="rect">
            <a:avLst/>
          </a:prstGeom>
          <a:solidFill>
            <a:srgbClr val="F2F2F2"/>
          </a:solidFill>
          <a:ln/>
        </p:spPr>
      </p:sp>
      <p:sp>
        <p:nvSpPr>
          <p:cNvPr id="6" name="Shape 2"/>
          <p:cNvSpPr/>
          <p:nvPr/>
        </p:nvSpPr>
        <p:spPr>
          <a:xfrm>
            <a:off x="11971020" y="0"/>
            <a:ext cx="4284980" cy="961771"/>
          </a:xfrm>
          <a:prstGeom prst="rect">
            <a:avLst/>
          </a:prstGeom>
          <a:solidFill>
            <a:srgbClr val="F2F2F2"/>
          </a:solidFill>
          <a:ln/>
        </p:spPr>
      </p:sp>
      <p:sp>
        <p:nvSpPr>
          <p:cNvPr id="7" name="Shape 3"/>
          <p:cNvSpPr/>
          <p:nvPr/>
        </p:nvSpPr>
        <p:spPr>
          <a:xfrm>
            <a:off x="2219960" y="-889"/>
            <a:ext cx="2942209" cy="962660"/>
          </a:xfrm>
          <a:prstGeom prst="rect">
            <a:avLst/>
          </a:prstGeom>
          <a:solidFill>
            <a:srgbClr val="04579A"/>
          </a:solidFill>
          <a:ln w="12700">
            <a:solidFill>
              <a:srgbClr val="304B73"/>
            </a:solidFill>
            <a:prstDash val="solid"/>
          </a:ln>
        </p:spPr>
      </p:sp>
      <p:sp>
        <p:nvSpPr>
          <p:cNvPr id="8" name="Text 4"/>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选题背景及意义</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国内外研究现状</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主要研究内容及预期目标</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工作计划与进度安排</a:t>
            </a:r>
            <a:endParaRPr lang="en-US" sz="2400" dirty="0"/>
          </a:p>
        </p:txBody>
      </p:sp>
      <p:pic>
        <p:nvPicPr>
          <p:cNvPr id="9" name="Image 1" descr="https://kimi-img.moonshot.cn/pub/slides/okc/flfuysioo4gzm/mnt/agents/output/yuan_pptd/images/image_2.jpg">    </p:cNvPr>
          <p:cNvPicPr>
            <a:picLocks noChangeAspect="1"/>
          </p:cNvPicPr>
          <p:nvPr/>
        </p:nvPicPr>
        <p:blipFill>
          <a:blip r:embed="rId2"/>
          <a:srcRect l="5060" r="29000" t="0" b="0"/>
          <a:stretch/>
        </p:blipFill>
        <p:spPr>
          <a:xfrm>
            <a:off x="544449" y="140589"/>
            <a:ext cx="1273429" cy="745871"/>
          </a:xfrm>
          <a:prstGeom prst="rect">
            <a:avLst/>
          </a:prstGeom>
        </p:spPr>
      </p:pic>
      <p:sp>
        <p:nvSpPr>
          <p:cNvPr id="10" name="Shape 5"/>
          <p:cNvSpPr/>
          <p:nvPr/>
        </p:nvSpPr>
        <p:spPr>
          <a:xfrm rot="10800000">
            <a:off x="3496691" y="961771"/>
            <a:ext cx="389509" cy="304800"/>
          </a:xfrm>
          <a:prstGeom prst="triangle">
            <a:avLst>
              <a:gd name="adj" fmla="val 50000"/>
            </a:avLst>
          </a:prstGeom>
          <a:solidFill>
            <a:srgbClr val="04579A"/>
          </a:solidFill>
          <a:ln/>
        </p:spPr>
      </p:sp>
      <p:sp>
        <p:nvSpPr>
          <p:cNvPr id="11" name="Text 6"/>
          <p:cNvSpPr/>
          <p:nvPr/>
        </p:nvSpPr>
        <p:spPr>
          <a:xfrm>
            <a:off x="6523736" y="2128774"/>
            <a:ext cx="8866759" cy="2273300"/>
          </a:xfrm>
          <a:prstGeom prst="rect">
            <a:avLst/>
          </a:prstGeom>
          <a:noFill/>
          <a:ln/>
        </p:spPr>
        <p:txBody>
          <a:bodyPr wrap="square" lIns="0" tIns="0" rIns="0" bIns="0" rtlCol="0" anchor="t"/>
          <a:lstStyle/>
          <a:p>
            <a:pPr algn="l">
              <a:lnSpc>
                <a:spcPct val="150000"/>
              </a:lnSpc>
            </a:pPr>
            <a:r>
              <a:rPr lang="en-US" sz="2400" dirty="0">
                <a:solidFill>
                  <a:srgbClr val="000000"/>
                </a:solidFill>
                <a:latin typeface="Arial" pitchFamily="34" charset="0"/>
                <a:ea typeface="Arial" pitchFamily="34" charset="-122"/>
                <a:cs typeface="Arial" pitchFamily="34" charset="-120"/>
              </a:rPr>
              <a:t>2008年，比特币首次实现基于区块链的点对点数字资产交易方案</a:t>
            </a:r>
            <a:endParaRPr lang="en-US" sz="2400" dirty="0"/>
          </a:p>
          <a:p>
            <a:pPr algn="l">
              <a:lnSpc>
                <a:spcPct val="150000"/>
              </a:lnSpc>
            </a:pPr>
            <a:r>
              <a:rPr lang="en-US" sz="2400" dirty="0">
                <a:solidFill>
                  <a:srgbClr val="000000"/>
                </a:solidFill>
                <a:latin typeface="Arial" pitchFamily="34" charset="0"/>
                <a:ea typeface="Arial" pitchFamily="34" charset="-122"/>
                <a:cs typeface="Arial" pitchFamily="34" charset="-120"/>
              </a:rPr>
              <a:t>允许用户在去中心化的、互不信任的环境中实现安全支付，目前：</a:t>
            </a:r>
            <a:endParaRPr lang="en-US" sz="2400" dirty="0"/>
          </a:p>
          <a:p>
            <a:pPr algn="l" marL="381000" indent="-381000">
              <a:lnSpc>
                <a:spcPct val="150000"/>
              </a:lnSpc>
              <a:spcBef>
                <a:spcPts val="10"/>
              </a:spcBef>
              <a:buSzPct val="100000"/>
              <a:buChar char="•"/>
            </a:pPr>
            <a:r>
              <a:rPr lang="en-US" sz="2400" dirty="0">
                <a:solidFill>
                  <a:srgbClr val="000000"/>
                </a:solidFill>
                <a:latin typeface="Arial" pitchFamily="34" charset="0"/>
                <a:ea typeface="Arial" pitchFamily="34" charset="-122"/>
                <a:cs typeface="Arial" pitchFamily="34" charset="-120"/>
              </a:rPr>
              <a:t>加密货币系统用户达到5.8亿，比特币日交易量超过40万笔</a:t>
            </a:r>
            <a:endParaRPr lang="en-US" sz="2400" dirty="0"/>
          </a:p>
          <a:p>
            <a:pPr algn="l" marL="381000" indent="-381000">
              <a:lnSpc>
                <a:spcPct val="150000"/>
              </a:lnSpc>
              <a:spcBef>
                <a:spcPts val="10"/>
              </a:spcBef>
              <a:buSzPct val="100000"/>
              <a:buChar char="•"/>
            </a:pPr>
            <a:r>
              <a:rPr lang="en-US" sz="2400" dirty="0">
                <a:solidFill>
                  <a:srgbClr val="000000"/>
                </a:solidFill>
                <a:latin typeface="Arial" pitchFamily="34" charset="0"/>
                <a:ea typeface="Arial" pitchFamily="34" charset="-122"/>
                <a:cs typeface="Arial" pitchFamily="34" charset="-120"/>
              </a:rPr>
              <a:t>涌现出超200种不同技术特征区块链</a:t>
            </a:r>
            <a:endParaRPr lang="en-US" sz="2400" dirty="0"/>
          </a:p>
        </p:txBody>
      </p:sp>
      <p:sp>
        <p:nvSpPr>
          <p:cNvPr id="12" name="Text 7"/>
          <p:cNvSpPr/>
          <p:nvPr/>
        </p:nvSpPr>
        <p:spPr>
          <a:xfrm>
            <a:off x="6415151" y="1568069"/>
            <a:ext cx="7705471" cy="613791"/>
          </a:xfrm>
          <a:prstGeom prst="rect">
            <a:avLst/>
          </a:prstGeom>
          <a:noFill/>
          <a:ln/>
        </p:spPr>
        <p:txBody>
          <a:bodyPr wrap="square" lIns="0" tIns="0" rIns="0" bIns="0" rtlCol="0" anchor="t"/>
          <a:lstStyle/>
          <a:p>
            <a:pPr algn="l">
              <a:lnSpc>
                <a:spcPct val="120000"/>
              </a:lnSpc>
            </a:pPr>
            <a:r>
              <a:rPr lang="en-US" sz="3200" b="1" dirty="0">
                <a:solidFill>
                  <a:srgbClr val="04579A"/>
                </a:solidFill>
                <a:latin typeface="Arial" pitchFamily="34" charset="0"/>
                <a:ea typeface="Arial" pitchFamily="34" charset="-122"/>
                <a:cs typeface="Arial" pitchFamily="34" charset="-120"/>
              </a:rPr>
              <a:t>数据流通</a:t>
            </a:r>
            <a:endParaRPr lang="en-US" sz="3200" dirty="0"/>
          </a:p>
        </p:txBody>
      </p:sp>
      <p:sp>
        <p:nvSpPr>
          <p:cNvPr id="13" name="Shape 8"/>
          <p:cNvSpPr/>
          <p:nvPr/>
        </p:nvSpPr>
        <p:spPr>
          <a:xfrm>
            <a:off x="592709" y="5007991"/>
            <a:ext cx="15036800" cy="0"/>
          </a:xfrm>
          <a:prstGeom prst="line">
            <a:avLst/>
          </a:prstGeom>
          <a:noFill/>
          <a:ln w="12700">
            <a:solidFill>
              <a:srgbClr val="7F7F7F">
                <a:alpha val="53725"/>
              </a:srgbClr>
            </a:solidFill>
            <a:prstDash val="solid"/>
            <a:headEnd type="none"/>
            <a:tailEnd type="arrow"/>
          </a:ln>
        </p:spPr>
      </p:sp>
      <p:sp>
        <p:nvSpPr>
          <p:cNvPr id="14" name="Shape 9"/>
          <p:cNvSpPr/>
          <p:nvPr/>
        </p:nvSpPr>
        <p:spPr>
          <a:xfrm flipV="1">
            <a:off x="1694180" y="1552829"/>
            <a:ext cx="7620" cy="3349371"/>
          </a:xfrm>
          <a:prstGeom prst="line">
            <a:avLst/>
          </a:prstGeom>
          <a:noFill/>
          <a:ln w="12700">
            <a:solidFill>
              <a:srgbClr val="7F7F7F"/>
            </a:solidFill>
            <a:prstDash val="solid"/>
            <a:headEnd type="none"/>
            <a:tailEnd type="none"/>
          </a:ln>
        </p:spPr>
      </p:sp>
      <p:sp>
        <p:nvSpPr>
          <p:cNvPr id="15" name="Shape 10"/>
          <p:cNvSpPr/>
          <p:nvPr/>
        </p:nvSpPr>
        <p:spPr>
          <a:xfrm>
            <a:off x="1586611" y="4902200"/>
            <a:ext cx="214249" cy="214249"/>
          </a:xfrm>
          <a:prstGeom prst="ellipse">
            <a:avLst/>
          </a:prstGeom>
          <a:solidFill>
            <a:srgbClr val="00B0F0"/>
          </a:solidFill>
          <a:ln/>
        </p:spPr>
      </p:sp>
      <p:pic>
        <p:nvPicPr>
          <p:cNvPr id="16" name="Image 2" descr="https://kimi-img.moonshot.cn/pub/slides/okc/flfuysioo4gzm/mnt/agents/output/yuan_pptd/images/image_16.png">    </p:cNvPr>
          <p:cNvPicPr>
            <a:picLocks noChangeAspect="1"/>
          </p:cNvPicPr>
          <p:nvPr/>
        </p:nvPicPr>
        <p:blipFill>
          <a:blip r:embed="rId3"/>
          <a:stretch>
            <a:fillRect/>
          </a:stretch>
        </p:blipFill>
        <p:spPr>
          <a:xfrm>
            <a:off x="2763012" y="5113909"/>
            <a:ext cx="10729976" cy="3360039"/>
          </a:xfrm>
          <a:prstGeom prst="rect">
            <a:avLst/>
          </a:prstGeom>
        </p:spPr>
      </p:pic>
      <p:sp>
        <p:nvSpPr>
          <p:cNvPr id="17" name="Text 11"/>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3</a:t>
            </a:r>
            <a:endParaRPr lang="en-US" sz="2400" dirty="0"/>
          </a:p>
        </p:txBody>
      </p:sp>
    </p:spTree>
  </p:cSld>
  <p:clrMapOvr>
    <a:masterClrMapping/>
  </p:clrMapOvr>
  <p:transition>
    <p:fade/>
    <p:spd val="med"/>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654431" y="3809111"/>
            <a:ext cx="14037691" cy="762889"/>
          </a:xfrm>
          <a:prstGeom prst="rect">
            <a:avLst/>
          </a:prstGeom>
          <a:solidFill>
            <a:srgbClr val="F2F2F2"/>
          </a:solidFill>
          <a:ln/>
        </p:spPr>
      </p:sp>
      <p:sp>
        <p:nvSpPr>
          <p:cNvPr id="4" name="Text 1"/>
          <p:cNvSpPr/>
          <p:nvPr/>
        </p:nvSpPr>
        <p:spPr>
          <a:xfrm>
            <a:off x="643509" y="1196340"/>
            <a:ext cx="14772640" cy="531749"/>
          </a:xfrm>
          <a:prstGeom prst="rect">
            <a:avLst/>
          </a:prstGeom>
          <a:noFill/>
          <a:ln/>
        </p:spPr>
        <p:txBody>
          <a:bodyPr wrap="square" lIns="0" tIns="0" rIns="0" bIns="0" rtlCol="0" anchor="t"/>
          <a:lstStyle/>
          <a:p>
            <a:pPr algn="l">
              <a:lnSpc>
                <a:spcPct val="120000"/>
              </a:lnSpc>
            </a:pPr>
            <a:r>
              <a:rPr lang="en-US" sz="2670" dirty="0">
                <a:solidFill>
                  <a:srgbClr val="000000"/>
                </a:solidFill>
                <a:latin typeface="Arial" pitchFamily="34" charset="0"/>
                <a:ea typeface="Arial" pitchFamily="34" charset="-122"/>
                <a:cs typeface="Arial" pitchFamily="34" charset="-120"/>
              </a:rPr>
              <a:t>数字资产市场为区块链提供了新的</a:t>
            </a:r>
            <a:pPr algn="l">
              <a:lnSpc>
                <a:spcPct val="120000"/>
              </a:lnSpc>
            </a:pPr>
            <a:r>
              <a:rPr lang="en-US" sz="2670" b="1" dirty="0">
                <a:solidFill>
                  <a:srgbClr val="04579A"/>
                </a:solidFill>
                <a:latin typeface="Arial" pitchFamily="34" charset="0"/>
                <a:ea typeface="Arial" pitchFamily="34" charset="-122"/>
                <a:cs typeface="Arial" pitchFamily="34" charset="-120"/>
              </a:rPr>
              <a:t>应用方向</a:t>
            </a:r>
            <a:pPr algn="l">
              <a:lnSpc>
                <a:spcPct val="120000"/>
              </a:lnSpc>
            </a:pPr>
            <a:r>
              <a:rPr lang="en-US" sz="2670" dirty="0">
                <a:solidFill>
                  <a:srgbClr val="000000"/>
                </a:solidFill>
                <a:latin typeface="Arial" pitchFamily="34" charset="0"/>
                <a:ea typeface="Arial" pitchFamily="34" charset="-122"/>
                <a:cs typeface="Arial" pitchFamily="34" charset="-120"/>
              </a:rPr>
              <a:t>，但同时也带来了新的</a:t>
            </a:r>
            <a:pPr algn="l">
              <a:lnSpc>
                <a:spcPct val="120000"/>
              </a:lnSpc>
            </a:pPr>
            <a:r>
              <a:rPr lang="en-US" sz="2670" b="1" dirty="0">
                <a:solidFill>
                  <a:srgbClr val="04579A"/>
                </a:solidFill>
                <a:latin typeface="Arial" pitchFamily="34" charset="0"/>
                <a:ea typeface="Arial" pitchFamily="34" charset="-122"/>
                <a:cs typeface="Arial" pitchFamily="34" charset="-120"/>
              </a:rPr>
              <a:t>技术需求</a:t>
            </a:r>
            <a:pPr algn="l">
              <a:lnSpc>
                <a:spcPct val="120000"/>
              </a:lnSpc>
            </a:pPr>
            <a:r>
              <a:rPr lang="en-US" sz="2670" dirty="0">
                <a:solidFill>
                  <a:srgbClr val="000000"/>
                </a:solidFill>
                <a:latin typeface="Arial" pitchFamily="34" charset="0"/>
                <a:ea typeface="Arial" pitchFamily="34" charset="-122"/>
                <a:cs typeface="Arial" pitchFamily="34" charset="-120"/>
              </a:rPr>
              <a:t>：</a:t>
            </a:r>
            <a:endParaRPr lang="en-US" sz="2670" dirty="0"/>
          </a:p>
        </p:txBody>
      </p:sp>
      <p:sp>
        <p:nvSpPr>
          <p:cNvPr id="5" name="Shape 2"/>
          <p:cNvSpPr/>
          <p:nvPr/>
        </p:nvSpPr>
        <p:spPr>
          <a:xfrm>
            <a:off x="2219960" y="0"/>
            <a:ext cx="2942209" cy="962660"/>
          </a:xfrm>
          <a:prstGeom prst="rect">
            <a:avLst/>
          </a:prstGeom>
          <a:solidFill>
            <a:srgbClr val="F2F2F2"/>
          </a:solidFill>
          <a:ln w="12700">
            <a:solidFill>
              <a:srgbClr val="F2F2F2"/>
            </a:solidFill>
            <a:prstDash val="solid"/>
          </a:ln>
        </p:spPr>
      </p:sp>
      <p:sp>
        <p:nvSpPr>
          <p:cNvPr id="6" name="Shape 3"/>
          <p:cNvSpPr/>
          <p:nvPr/>
        </p:nvSpPr>
        <p:spPr>
          <a:xfrm>
            <a:off x="5162169" y="-889"/>
            <a:ext cx="2654300" cy="962660"/>
          </a:xfrm>
          <a:prstGeom prst="rect">
            <a:avLst/>
          </a:prstGeom>
          <a:solidFill>
            <a:srgbClr val="F2F2F2"/>
          </a:solidFill>
          <a:ln/>
        </p:spPr>
      </p:sp>
      <p:sp>
        <p:nvSpPr>
          <p:cNvPr id="7" name="Shape 4"/>
          <p:cNvSpPr/>
          <p:nvPr/>
        </p:nvSpPr>
        <p:spPr>
          <a:xfrm>
            <a:off x="7816469" y="-889"/>
            <a:ext cx="4154551" cy="962660"/>
          </a:xfrm>
          <a:prstGeom prst="rect">
            <a:avLst/>
          </a:prstGeom>
          <a:solidFill>
            <a:srgbClr val="F2F2F2"/>
          </a:solidFill>
          <a:ln/>
        </p:spPr>
      </p:sp>
      <p:sp>
        <p:nvSpPr>
          <p:cNvPr id="8" name="Shape 5"/>
          <p:cNvSpPr/>
          <p:nvPr/>
        </p:nvSpPr>
        <p:spPr>
          <a:xfrm>
            <a:off x="11971020" y="0"/>
            <a:ext cx="4284980" cy="961771"/>
          </a:xfrm>
          <a:prstGeom prst="rect">
            <a:avLst/>
          </a:prstGeom>
          <a:solidFill>
            <a:srgbClr val="F2F2F2"/>
          </a:solidFill>
          <a:ln/>
        </p:spPr>
      </p:sp>
      <p:sp>
        <p:nvSpPr>
          <p:cNvPr id="9" name="Shape 6"/>
          <p:cNvSpPr/>
          <p:nvPr/>
        </p:nvSpPr>
        <p:spPr>
          <a:xfrm>
            <a:off x="2219960" y="-889"/>
            <a:ext cx="2942209" cy="962660"/>
          </a:xfrm>
          <a:prstGeom prst="rect">
            <a:avLst/>
          </a:prstGeom>
          <a:solidFill>
            <a:srgbClr val="04579A"/>
          </a:solidFill>
          <a:ln w="12700">
            <a:solidFill>
              <a:srgbClr val="04579A"/>
            </a:solidFill>
            <a:prstDash val="solid"/>
          </a:ln>
        </p:spPr>
      </p:sp>
      <p:sp>
        <p:nvSpPr>
          <p:cNvPr id="10" name="Text 7"/>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选题背景及意义</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国内外研究现状</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主要研究内容及预期目标</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工作计划与进度安排</a:t>
            </a:r>
            <a:endParaRPr lang="en-US" sz="2400" dirty="0"/>
          </a:p>
        </p:txBody>
      </p:sp>
      <p:pic>
        <p:nvPicPr>
          <p:cNvPr id="11"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2" name="Shape 8"/>
          <p:cNvSpPr/>
          <p:nvPr/>
        </p:nvSpPr>
        <p:spPr>
          <a:xfrm rot="10800000">
            <a:off x="3496691" y="961771"/>
            <a:ext cx="389509" cy="304800"/>
          </a:xfrm>
          <a:prstGeom prst="triangle">
            <a:avLst>
              <a:gd name="adj" fmla="val 50000"/>
            </a:avLst>
          </a:prstGeom>
          <a:solidFill>
            <a:srgbClr val="04579A"/>
          </a:solidFill>
          <a:ln/>
        </p:spPr>
      </p:sp>
      <p:sp>
        <p:nvSpPr>
          <p:cNvPr id="13" name="Shape 9"/>
          <p:cNvSpPr/>
          <p:nvPr/>
        </p:nvSpPr>
        <p:spPr>
          <a:xfrm>
            <a:off x="643509" y="2236089"/>
            <a:ext cx="14037691" cy="762889"/>
          </a:xfrm>
          <a:prstGeom prst="rect">
            <a:avLst/>
          </a:prstGeom>
          <a:solidFill>
            <a:srgbClr val="F2F2F2"/>
          </a:solidFill>
          <a:ln/>
        </p:spPr>
      </p:sp>
      <p:sp>
        <p:nvSpPr>
          <p:cNvPr id="14" name="Shape 10"/>
          <p:cNvSpPr/>
          <p:nvPr/>
        </p:nvSpPr>
        <p:spPr>
          <a:xfrm>
            <a:off x="1358900" y="3120009"/>
            <a:ext cx="486029" cy="343789"/>
          </a:xfrm>
          <a:prstGeom prst="chevron">
            <a:avLst>
              <a:gd name="adj" fmla="val 50000"/>
            </a:avLst>
          </a:prstGeom>
          <a:solidFill>
            <a:srgbClr val="04579A"/>
          </a:solidFill>
          <a:ln w="12700">
            <a:solidFill>
              <a:srgbClr val="304B73"/>
            </a:solidFill>
            <a:prstDash val="solid"/>
          </a:ln>
        </p:spPr>
      </p:sp>
      <p:sp>
        <p:nvSpPr>
          <p:cNvPr id="15" name="Text 11"/>
          <p:cNvSpPr/>
          <p:nvPr/>
        </p:nvSpPr>
        <p:spPr>
          <a:xfrm>
            <a:off x="742569" y="2218309"/>
            <a:ext cx="14771751" cy="4508246"/>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现实网络环境对分布式数字资产交易协议的安全性和健壮性提出了更高的要求</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分布式数字资产交易协议需要去除可信假设，建立更强的安全模型</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F2F2F2"/>
                </a:solidFill>
                <a:latin typeface="Arial" pitchFamily="34" charset="0"/>
                <a:ea typeface="Arial" pitchFamily="34" charset="-122"/>
                <a:cs typeface="Arial" pitchFamily="34" charset="-120"/>
              </a:rPr>
              <a:t>区块链具有长期部署的需要</a:t>
            </a:r>
            <a:endParaRPr lang="en-US" sz="2670" dirty="0"/>
          </a:p>
          <a:p>
            <a:pPr algn="l">
              <a:lnSpc>
                <a:spcPct val="150000"/>
              </a:lnSpc>
            </a:pPr>
            <a:r>
              <a:rPr lang="en-US" sz="3200" b="1" dirty="0">
                <a:solidFill>
                  <a:srgbClr val="F2F2F2"/>
                </a:solidFill>
                <a:latin typeface="Arial" pitchFamily="34" charset="0"/>
                <a:ea typeface="Arial" pitchFamily="34" charset="-122"/>
                <a:cs typeface="Arial" pitchFamily="34" charset="-120"/>
              </a:rPr>
              <a:t>分布式数字资产交易协议需要高性能的链下方案构造</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F2F2F2"/>
                </a:solidFill>
                <a:latin typeface="Arial" pitchFamily="34" charset="0"/>
                <a:ea typeface="Arial" pitchFamily="34" charset="-122"/>
                <a:cs typeface="Arial" pitchFamily="34" charset="-120"/>
              </a:rPr>
              <a:t>异构区块链系统间的互联互通要求分布式数字资产交易协议具有互操作性</a:t>
            </a:r>
            <a:endParaRPr lang="en-US" sz="2670" dirty="0"/>
          </a:p>
          <a:p>
            <a:pPr algn="l">
              <a:lnSpc>
                <a:spcPct val="150000"/>
              </a:lnSpc>
            </a:pPr>
            <a:r>
              <a:rPr lang="en-US" sz="3200" b="1" dirty="0">
                <a:solidFill>
                  <a:srgbClr val="F2F2F2"/>
                </a:solidFill>
                <a:latin typeface="Arial" pitchFamily="34" charset="0"/>
                <a:ea typeface="Arial" pitchFamily="34" charset="-122"/>
                <a:cs typeface="Arial" pitchFamily="34" charset="-120"/>
              </a:rPr>
              <a:t>分布式数字资产交易协议需要高效的跨链证明协议</a:t>
            </a:r>
            <a:endParaRPr lang="en-US" sz="2670" dirty="0"/>
          </a:p>
        </p:txBody>
      </p:sp>
      <p:sp>
        <p:nvSpPr>
          <p:cNvPr id="16" name="Text 12"/>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4</a:t>
            </a:r>
            <a:endParaRPr lang="en-US" sz="2400" dirty="0"/>
          </a:p>
        </p:txBody>
      </p:sp>
      <p:sp>
        <p:nvSpPr>
          <p:cNvPr id="17" name="Shape 13"/>
          <p:cNvSpPr/>
          <p:nvPr/>
        </p:nvSpPr>
        <p:spPr>
          <a:xfrm>
            <a:off x="654431" y="5267833"/>
            <a:ext cx="14037691" cy="762889"/>
          </a:xfrm>
          <a:prstGeom prst="rect">
            <a:avLst/>
          </a:prstGeom>
          <a:solidFill>
            <a:srgbClr val="F2F2F2"/>
          </a:solidFill>
          <a:ln/>
        </p:spPr>
      </p:sp>
    </p:spTree>
  </p:cSld>
  <p:clrMapOvr>
    <a:masterClrMapping/>
  </p:clrMapOvr>
  <p:transition>
    <p:fade/>
    <p:spd val="med"/>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4449" y="1266571"/>
            <a:ext cx="14303629" cy="665480"/>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3F3F3F"/>
                </a:solidFill>
                <a:latin typeface="Arial" pitchFamily="34" charset="0"/>
                <a:ea typeface="Arial" pitchFamily="34" charset="-122"/>
                <a:cs typeface="Arial" pitchFamily="34" charset="-120"/>
              </a:rPr>
              <a:t>现实网络环境对分布式数字资产交易协议的安全性和健壮性提出了更高的要求</a:t>
            </a:r>
            <a:endParaRPr lang="en-US" sz="2670" dirty="0"/>
          </a:p>
        </p:txBody>
      </p:sp>
      <p:sp>
        <p:nvSpPr>
          <p:cNvPr id="4" name="Shape 1"/>
          <p:cNvSpPr/>
          <p:nvPr/>
        </p:nvSpPr>
        <p:spPr>
          <a:xfrm>
            <a:off x="2219960" y="0"/>
            <a:ext cx="2942209" cy="962660"/>
          </a:xfrm>
          <a:prstGeom prst="rect">
            <a:avLst/>
          </a:prstGeom>
          <a:solidFill>
            <a:srgbClr val="F2F2F2"/>
          </a:solidFill>
          <a:ln w="12700">
            <a:solidFill>
              <a:srgbClr val="F2F2F2"/>
            </a:solidFill>
            <a:prstDash val="solid"/>
          </a:ln>
        </p:spPr>
      </p:sp>
      <p:sp>
        <p:nvSpPr>
          <p:cNvPr id="5" name="Shape 2"/>
          <p:cNvSpPr/>
          <p:nvPr/>
        </p:nvSpPr>
        <p:spPr>
          <a:xfrm>
            <a:off x="5162169" y="-889"/>
            <a:ext cx="2654300" cy="962660"/>
          </a:xfrm>
          <a:prstGeom prst="rect">
            <a:avLst/>
          </a:prstGeom>
          <a:solidFill>
            <a:srgbClr val="F2F2F2"/>
          </a:solidFill>
          <a:ln/>
        </p:spPr>
      </p:sp>
      <p:sp>
        <p:nvSpPr>
          <p:cNvPr id="6" name="Shape 3"/>
          <p:cNvSpPr/>
          <p:nvPr/>
        </p:nvSpPr>
        <p:spPr>
          <a:xfrm>
            <a:off x="7816469" y="-889"/>
            <a:ext cx="4154551" cy="962660"/>
          </a:xfrm>
          <a:prstGeom prst="rect">
            <a:avLst/>
          </a:prstGeom>
          <a:solidFill>
            <a:srgbClr val="F2F2F2"/>
          </a:solidFill>
          <a:ln/>
        </p:spPr>
      </p:sp>
      <p:sp>
        <p:nvSpPr>
          <p:cNvPr id="7" name="Shape 4"/>
          <p:cNvSpPr/>
          <p:nvPr/>
        </p:nvSpPr>
        <p:spPr>
          <a:xfrm>
            <a:off x="11971020" y="0"/>
            <a:ext cx="4284980" cy="961771"/>
          </a:xfrm>
          <a:prstGeom prst="rect">
            <a:avLst/>
          </a:prstGeom>
          <a:solidFill>
            <a:srgbClr val="F2F2F2"/>
          </a:solidFill>
          <a:ln/>
        </p:spPr>
      </p:sp>
      <p:sp>
        <p:nvSpPr>
          <p:cNvPr id="8" name="Shape 5"/>
          <p:cNvSpPr/>
          <p:nvPr/>
        </p:nvSpPr>
        <p:spPr>
          <a:xfrm>
            <a:off x="2219960" y="-889"/>
            <a:ext cx="2942209" cy="962660"/>
          </a:xfrm>
          <a:prstGeom prst="rect">
            <a:avLst/>
          </a:prstGeom>
          <a:solidFill>
            <a:srgbClr val="04579A"/>
          </a:solidFill>
          <a:ln w="12700">
            <a:solidFill>
              <a:srgbClr val="04579A"/>
            </a:solidFill>
            <a:prstDash val="solid"/>
          </a:ln>
        </p:spPr>
      </p:sp>
      <p:sp>
        <p:nvSpPr>
          <p:cNvPr id="9" name="Text 6"/>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选题背景及意义</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国内外研究现状</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主要研究内容及预期目标</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工作计划与进度安排</a:t>
            </a:r>
            <a:endParaRPr lang="en-US" sz="2400" dirty="0"/>
          </a:p>
        </p:txBody>
      </p:sp>
      <p:pic>
        <p:nvPicPr>
          <p:cNvPr id="10"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1" name="Shape 7"/>
          <p:cNvSpPr/>
          <p:nvPr/>
        </p:nvSpPr>
        <p:spPr>
          <a:xfrm rot="10800000">
            <a:off x="3496691" y="961771"/>
            <a:ext cx="389509" cy="304800"/>
          </a:xfrm>
          <a:prstGeom prst="triangle">
            <a:avLst>
              <a:gd name="adj" fmla="val 50000"/>
            </a:avLst>
          </a:prstGeom>
          <a:solidFill>
            <a:srgbClr val="04579A"/>
          </a:solidFill>
          <a:ln/>
        </p:spPr>
      </p:sp>
      <p:pic>
        <p:nvPicPr>
          <p:cNvPr id="12" name="Image 1" descr="https://kimi-img.moonshot.cn/pub/slides/okc/flfuysioo4gzm/mnt/agents/output/yuan_pptd/images/image_17.png">    </p:cNvPr>
          <p:cNvPicPr>
            <a:picLocks noChangeAspect="1"/>
          </p:cNvPicPr>
          <p:nvPr/>
        </p:nvPicPr>
        <p:blipFill>
          <a:blip r:embed="rId2"/>
          <a:stretch>
            <a:fillRect/>
          </a:stretch>
        </p:blipFill>
        <p:spPr>
          <a:xfrm>
            <a:off x="10011283" y="4572000"/>
            <a:ext cx="4930521" cy="3297301"/>
          </a:xfrm>
          <a:prstGeom prst="rect">
            <a:avLst/>
          </a:prstGeom>
        </p:spPr>
      </p:pic>
      <p:sp>
        <p:nvSpPr>
          <p:cNvPr id="13" name="Shape 8"/>
          <p:cNvSpPr/>
          <p:nvPr/>
        </p:nvSpPr>
        <p:spPr>
          <a:xfrm>
            <a:off x="10011283" y="7763002"/>
            <a:ext cx="4930521" cy="402336"/>
          </a:xfrm>
          <a:prstGeom prst="rect">
            <a:avLst/>
          </a:prstGeom>
          <a:solidFill>
            <a:srgbClr val="04579A"/>
          </a:solidFill>
          <a:ln w="12700">
            <a:solidFill>
              <a:srgbClr val="304B73"/>
            </a:solidFill>
            <a:prstDash val="solid"/>
          </a:ln>
          <a:effectLst>
            <a:outerShdw sx="100000" sy="100000" kx="0" ky="0" algn="bl" rotWithShape="0" blurRad="63500" dist="50800" dir="2700000">
              <a:srgbClr val="000000">
                <a:alpha val="40000"/>
              </a:srgbClr>
            </a:outerShdw>
          </a:effectLst>
        </p:spPr>
      </p:sp>
      <p:sp>
        <p:nvSpPr>
          <p:cNvPr id="14" name="Text 9"/>
          <p:cNvSpPr/>
          <p:nvPr/>
        </p:nvSpPr>
        <p:spPr>
          <a:xfrm>
            <a:off x="10011283" y="7763002"/>
            <a:ext cx="4930521" cy="402336"/>
          </a:xfrm>
          <a:prstGeom prst="rect">
            <a:avLst/>
          </a:prstGeom>
          <a:noFill/>
          <a:ln/>
        </p:spPr>
        <p:txBody>
          <a:bodyPr wrap="square" lIns="0" tIns="0" rIns="0" bIns="0" rtlCol="0" anchor="ctr"/>
          <a:lstStyle/>
          <a:p>
            <a:pPr algn="ctr">
              <a:lnSpc>
                <a:spcPct val="120000"/>
              </a:lnSpc>
            </a:pPr>
            <a:r>
              <a:rPr lang="en-US" sz="2130" b="1" dirty="0">
                <a:solidFill>
                  <a:srgbClr val="FFFFFF"/>
                </a:solidFill>
                <a:latin typeface="Arial" pitchFamily="34" charset="0"/>
                <a:ea typeface="Arial" pitchFamily="34" charset="-122"/>
                <a:cs typeface="Arial" pitchFamily="34" charset="-120"/>
              </a:rPr>
              <a:t>真实黑客攻击案例</a:t>
            </a:r>
            <a:endParaRPr lang="en-US" sz="2130" dirty="0"/>
          </a:p>
        </p:txBody>
      </p:sp>
      <p:sp>
        <p:nvSpPr>
          <p:cNvPr id="15" name="Text 10"/>
          <p:cNvSpPr/>
          <p:nvPr/>
        </p:nvSpPr>
        <p:spPr>
          <a:xfrm>
            <a:off x="1300480" y="5390261"/>
            <a:ext cx="7003669" cy="971931"/>
          </a:xfrm>
          <a:prstGeom prst="rect">
            <a:avLst/>
          </a:prstGeom>
          <a:noFill/>
          <a:ln/>
        </p:spPr>
        <p:txBody>
          <a:bodyPr wrap="square" lIns="0" tIns="0" rIns="0" bIns="0" rtlCol="0" anchor="t"/>
          <a:lstStyle/>
          <a:p>
            <a:pPr algn="l">
              <a:lnSpc>
                <a:spcPct val="120000"/>
              </a:lnSpc>
            </a:pPr>
            <a:r>
              <a:rPr lang="en-US" sz="2400" dirty="0">
                <a:solidFill>
                  <a:srgbClr val="000000"/>
                </a:solidFill>
                <a:latin typeface="MiSans" pitchFamily="34" charset="0"/>
                <a:ea typeface="MiSans" pitchFamily="34" charset="-122"/>
                <a:cs typeface="MiSans" pitchFamily="34" charset="-120"/>
              </a:rPr>
              <a:t>2024年8月6日，Ronin Network跨链应用在升级智能合约代码时函数参数调用错误，引发攻击</a:t>
            </a:r>
            <a:endParaRPr lang="en-US" sz="2400" dirty="0"/>
          </a:p>
        </p:txBody>
      </p:sp>
      <p:sp>
        <p:nvSpPr>
          <p:cNvPr id="16" name="Text 11"/>
          <p:cNvSpPr/>
          <p:nvPr/>
        </p:nvSpPr>
        <p:spPr>
          <a:xfrm>
            <a:off x="1300480" y="6408801"/>
            <a:ext cx="5761355" cy="1764538"/>
          </a:xfrm>
          <a:prstGeom prst="rect">
            <a:avLst/>
          </a:prstGeom>
          <a:noFill/>
          <a:ln/>
        </p:spPr>
        <p:txBody>
          <a:bodyPr wrap="square" lIns="0" tIns="0" rIns="0" bIns="0" rtlCol="0" anchor="t"/>
          <a:lstStyle/>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服务时长不足 </a:t>
            </a:r>
            <a:pPr algn="l">
              <a:lnSpc>
                <a:spcPct val="120000"/>
              </a:lnSpc>
              <a:spcBef>
                <a:spcPts val="10"/>
              </a:spcBef>
            </a:pPr>
            <a:r>
              <a:rPr lang="en-US" sz="2670" b="1" dirty="0">
                <a:solidFill>
                  <a:srgbClr val="04579A"/>
                </a:solidFill>
                <a:latin typeface="MiSans" pitchFamily="34" charset="0"/>
                <a:ea typeface="MiSans" pitchFamily="34" charset="-122"/>
                <a:cs typeface="MiSans" pitchFamily="34" charset="-120"/>
              </a:rPr>
              <a:t>1h</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盗走密码货币价值 </a:t>
            </a:r>
            <a:pPr algn="l">
              <a:lnSpc>
                <a:spcPct val="120000"/>
              </a:lnSpc>
              <a:spcBef>
                <a:spcPts val="10"/>
              </a:spcBef>
            </a:pPr>
            <a:r>
              <a:rPr lang="en-US" sz="2670" b="1" dirty="0">
                <a:solidFill>
                  <a:srgbClr val="04579A"/>
                </a:solidFill>
                <a:latin typeface="MiSans" pitchFamily="34" charset="0"/>
                <a:ea typeface="MiSans" pitchFamily="34" charset="-122"/>
                <a:cs typeface="MiSans" pitchFamily="34" charset="-120"/>
              </a:rPr>
              <a:t>1200</a:t>
            </a:r>
            <a:pPr algn="l">
              <a:lnSpc>
                <a:spcPct val="120000"/>
              </a:lnSpc>
              <a:spcBef>
                <a:spcPts val="10"/>
              </a:spcBef>
            </a:pPr>
            <a:r>
              <a:rPr lang="en-US" sz="2670" b="1" dirty="0">
                <a:solidFill>
                  <a:srgbClr val="04579A"/>
                </a:solidFill>
                <a:latin typeface="MiSans" pitchFamily="34" charset="0"/>
                <a:ea typeface="MiSans" pitchFamily="34" charset="-122"/>
                <a:cs typeface="MiSans" pitchFamily="34" charset="-120"/>
              </a:rPr>
              <a:t>万美元</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已被成功攻击次数</a:t>
            </a:r>
            <a:pPr algn="l">
              <a:lnSpc>
                <a:spcPct val="120000"/>
              </a:lnSpc>
              <a:spcBef>
                <a:spcPts val="10"/>
              </a:spcBef>
            </a:pPr>
            <a:r>
              <a:rPr lang="en-US" sz="2130" dirty="0">
                <a:solidFill>
                  <a:srgbClr val="000000"/>
                </a:solidFill>
                <a:latin typeface="MiSans" pitchFamily="34" charset="0"/>
                <a:ea typeface="MiSans" pitchFamily="34" charset="-122"/>
                <a:cs typeface="MiSans" pitchFamily="34" charset="-120"/>
              </a:rPr>
              <a:t>  </a:t>
            </a:r>
            <a:pPr algn="l">
              <a:lnSpc>
                <a:spcPct val="120000"/>
              </a:lnSpc>
              <a:spcBef>
                <a:spcPts val="10"/>
              </a:spcBef>
            </a:pPr>
            <a:r>
              <a:rPr lang="en-US" sz="2670" b="1" dirty="0">
                <a:solidFill>
                  <a:srgbClr val="04579A"/>
                </a:solidFill>
                <a:latin typeface="MiSans" pitchFamily="34" charset="0"/>
                <a:ea typeface="MiSans" pitchFamily="34" charset="-122"/>
                <a:cs typeface="MiSans" pitchFamily="34" charset="-120"/>
              </a:rPr>
              <a:t>3</a:t>
            </a:r>
            <a:pPr algn="l">
              <a:lnSpc>
                <a:spcPct val="120000"/>
              </a:lnSpc>
              <a:spcBef>
                <a:spcPts val="10"/>
              </a:spcBef>
            </a:pPr>
            <a:r>
              <a:rPr lang="en-US" sz="2670" b="1" dirty="0">
                <a:solidFill>
                  <a:srgbClr val="04579A"/>
                </a:solidFill>
                <a:latin typeface="MiSans" pitchFamily="34" charset="0"/>
                <a:ea typeface="MiSans" pitchFamily="34" charset="-122"/>
                <a:cs typeface="MiSans" pitchFamily="34" charset="-120"/>
              </a:rPr>
              <a:t>次</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损失金额总数高于 </a:t>
            </a:r>
            <a:pPr algn="l">
              <a:lnSpc>
                <a:spcPct val="120000"/>
              </a:lnSpc>
              <a:spcBef>
                <a:spcPts val="10"/>
              </a:spcBef>
            </a:pPr>
            <a:r>
              <a:rPr lang="en-US" sz="2670" b="1" dirty="0">
                <a:solidFill>
                  <a:srgbClr val="04579A"/>
                </a:solidFill>
                <a:latin typeface="MiSans" pitchFamily="34" charset="0"/>
                <a:ea typeface="MiSans" pitchFamily="34" charset="-122"/>
                <a:cs typeface="MiSans" pitchFamily="34" charset="-120"/>
              </a:rPr>
              <a:t>6.5</a:t>
            </a:r>
            <a:pPr algn="l">
              <a:lnSpc>
                <a:spcPct val="120000"/>
              </a:lnSpc>
              <a:spcBef>
                <a:spcPts val="10"/>
              </a:spcBef>
            </a:pPr>
            <a:r>
              <a:rPr lang="en-US" sz="2670" b="1" dirty="0">
                <a:solidFill>
                  <a:srgbClr val="04579A"/>
                </a:solidFill>
                <a:latin typeface="MiSans" pitchFamily="34" charset="0"/>
                <a:ea typeface="MiSans" pitchFamily="34" charset="-122"/>
                <a:cs typeface="MiSans" pitchFamily="34" charset="-120"/>
              </a:rPr>
              <a:t>亿美元</a:t>
            </a:r>
            <a:endParaRPr lang="en-US" sz="2400" dirty="0"/>
          </a:p>
        </p:txBody>
      </p:sp>
      <p:sp>
        <p:nvSpPr>
          <p:cNvPr id="17" name="Text 12"/>
          <p:cNvSpPr/>
          <p:nvPr/>
        </p:nvSpPr>
        <p:spPr>
          <a:xfrm>
            <a:off x="9435592" y="2780411"/>
            <a:ext cx="5519928" cy="96875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当</a:t>
            </a:r>
            <a:pPr algn="ctr">
              <a:lnSpc>
                <a:spcPct val="120000"/>
              </a:lnSpc>
            </a:pPr>
            <a:r>
              <a:rPr lang="en-US" sz="2400" b="1" dirty="0">
                <a:solidFill>
                  <a:srgbClr val="04579A"/>
                </a:solidFill>
                <a:latin typeface="Arial" pitchFamily="34" charset="0"/>
                <a:ea typeface="Arial" pitchFamily="34" charset="-122"/>
                <a:cs typeface="Arial" pitchFamily="34" charset="-120"/>
              </a:rPr>
              <a:t>恶意</a:t>
            </a:r>
            <a:pPr algn="ctr">
              <a:lnSpc>
                <a:spcPct val="120000"/>
              </a:lnSpc>
            </a:pPr>
            <a:r>
              <a:rPr lang="en-US" sz="2400" dirty="0">
                <a:solidFill>
                  <a:srgbClr val="000000"/>
                </a:solidFill>
                <a:latin typeface="Arial" pitchFamily="34" charset="0"/>
                <a:ea typeface="Arial" pitchFamily="34" charset="-122"/>
                <a:cs typeface="Arial" pitchFamily="34" charset="-120"/>
              </a:rPr>
              <a:t>节点主动攻击，协议</a:t>
            </a:r>
            <a:pPr algn="ctr">
              <a:lnSpc>
                <a:spcPct val="120000"/>
              </a:lnSpc>
            </a:pPr>
            <a:r>
              <a:rPr lang="en-US" sz="2400" b="1" dirty="0">
                <a:solidFill>
                  <a:srgbClr val="04579A"/>
                </a:solidFill>
                <a:latin typeface="Arial" pitchFamily="34" charset="0"/>
                <a:ea typeface="Arial" pitchFamily="34" charset="-122"/>
                <a:cs typeface="Arial" pitchFamily="34" charset="-120"/>
              </a:rPr>
              <a:t>安全性被破坏</a:t>
            </a:r>
            <a:pPr algn="ctr">
              <a:lnSpc>
                <a:spcPct val="120000"/>
              </a:lnSpc>
            </a:pPr>
            <a:r>
              <a:rPr lang="en-US" sz="2400" dirty="0">
                <a:solidFill>
                  <a:srgbClr val="000000"/>
                </a:solidFill>
                <a:latin typeface="Arial" pitchFamily="34" charset="0"/>
                <a:ea typeface="Arial" pitchFamily="34" charset="-122"/>
                <a:cs typeface="Arial" pitchFamily="34" charset="-120"/>
              </a:rPr>
              <a:t>将导致用户直接</a:t>
            </a:r>
            <a:pPr algn="ctr">
              <a:lnSpc>
                <a:spcPct val="120000"/>
              </a:lnSpc>
            </a:pPr>
            <a:r>
              <a:rPr lang="en-US" sz="2400" b="1" dirty="0">
                <a:solidFill>
                  <a:srgbClr val="04579A"/>
                </a:solidFill>
                <a:latin typeface="Arial" pitchFamily="34" charset="0"/>
                <a:ea typeface="Arial" pitchFamily="34" charset="-122"/>
                <a:cs typeface="Arial" pitchFamily="34" charset="-120"/>
              </a:rPr>
              <a:t>财产损失</a:t>
            </a:r>
            <a:endParaRPr lang="en-US" sz="2400" dirty="0"/>
          </a:p>
        </p:txBody>
      </p:sp>
      <p:pic>
        <p:nvPicPr>
          <p:cNvPr id="18" name="Image 2" descr="https://kimi-img.moonshot.cn/pub/slides/okc/flfuysioo4gzm/mnt/agents/output/yuan_pptd/images/image_18.png">    </p:cNvPr>
          <p:cNvPicPr>
            <a:picLocks noChangeAspect="1"/>
          </p:cNvPicPr>
          <p:nvPr/>
        </p:nvPicPr>
        <p:blipFill>
          <a:blip r:embed="rId3"/>
          <a:stretch>
            <a:fillRect/>
          </a:stretch>
        </p:blipFill>
        <p:spPr>
          <a:xfrm>
            <a:off x="1314196" y="2486279"/>
            <a:ext cx="6813804" cy="2306828"/>
          </a:xfrm>
          <a:prstGeom prst="rect">
            <a:avLst/>
          </a:prstGeom>
        </p:spPr>
      </p:pic>
      <p:sp>
        <p:nvSpPr>
          <p:cNvPr id="19" name="Shape 13"/>
          <p:cNvSpPr/>
          <p:nvPr/>
        </p:nvSpPr>
        <p:spPr>
          <a:xfrm>
            <a:off x="1403985" y="4185412"/>
            <a:ext cx="2686431" cy="410337"/>
          </a:xfrm>
          <a:prstGeom prst="rect">
            <a:avLst/>
          </a:prstGeom>
          <a:solidFill>
            <a:srgbClr val="FFFFFF"/>
          </a:solidFill>
          <a:ln/>
        </p:spPr>
      </p:sp>
      <p:sp>
        <p:nvSpPr>
          <p:cNvPr id="20" name="Text 14"/>
          <p:cNvSpPr/>
          <p:nvPr/>
        </p:nvSpPr>
        <p:spPr>
          <a:xfrm>
            <a:off x="1403985" y="4185412"/>
            <a:ext cx="2686431" cy="410337"/>
          </a:xfrm>
          <a:prstGeom prst="rect">
            <a:avLst/>
          </a:prstGeom>
          <a:noFill/>
          <a:ln/>
        </p:spPr>
        <p:txBody>
          <a:bodyPr wrap="square" lIns="0" tIns="0" rIns="0" bIns="0" rtlCol="0" anchor="t"/>
          <a:lstStyle/>
          <a:p>
            <a:pPr algn="ctr">
              <a:lnSpc>
                <a:spcPct val="120000"/>
              </a:lnSpc>
            </a:pPr>
            <a:r>
              <a:rPr lang="en-US" sz="1870" dirty="0">
                <a:solidFill>
                  <a:srgbClr val="000000"/>
                </a:solidFill>
                <a:latin typeface="Arial" pitchFamily="34" charset="0"/>
                <a:ea typeface="Arial" pitchFamily="34" charset="-122"/>
                <a:cs typeface="Arial" pitchFamily="34" charset="-120"/>
              </a:rPr>
              <a:t>涉案金额（百万美元）</a:t>
            </a:r>
            <a:endParaRPr lang="en-US" sz="1870" dirty="0"/>
          </a:p>
        </p:txBody>
      </p:sp>
      <p:sp>
        <p:nvSpPr>
          <p:cNvPr id="21" name="Text 15"/>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5</a:t>
            </a:r>
            <a:endParaRPr lang="en-US" sz="2400" dirty="0"/>
          </a:p>
        </p:txBody>
      </p:sp>
    </p:spTree>
  </p:cSld>
  <p:clrMapOvr>
    <a:masterClrMapping/>
  </p:clrMapOvr>
  <p:transition>
    <p:fade/>
    <p:spd val="med"/>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3068320" y="2958211"/>
            <a:ext cx="3100451" cy="1252220"/>
          </a:xfrm>
          <a:prstGeom prst="round2DiagRect">
            <a:avLst>
              <a:gd name="adj1" fmla="val 16667"/>
              <a:gd name="adj2" fmla="val 0"/>
            </a:avLst>
          </a:prstGeom>
          <a:solidFill>
            <a:srgbClr val="FFFFFF"/>
          </a:solidFill>
          <a:ln w="12700">
            <a:solidFill>
              <a:srgbClr val="304B73"/>
            </a:solidFill>
            <a:prstDash val="solid"/>
          </a:ln>
        </p:spPr>
      </p:sp>
      <p:pic>
        <p:nvPicPr>
          <p:cNvPr id="4" name="Image 0" descr="https://kimi-img.moonshot.cn/pub/slides/okc/flfuysioo4gzm/mnt/agents/output/yuan_pptd/images/image_19.png">    </p:cNvPr>
          <p:cNvPicPr>
            <a:picLocks noChangeAspect="1"/>
          </p:cNvPicPr>
          <p:nvPr/>
        </p:nvPicPr>
        <p:blipFill>
          <a:blip r:embed="rId1"/>
          <a:srcRect l="44180" r="41590" t="13850" b="75700"/>
          <a:stretch/>
        </p:blipFill>
        <p:spPr>
          <a:xfrm>
            <a:off x="4268597" y="5627624"/>
            <a:ext cx="893445" cy="763651"/>
          </a:xfrm>
          <a:prstGeom prst="rect">
            <a:avLst/>
          </a:prstGeom>
        </p:spPr>
      </p:pic>
      <p:pic>
        <p:nvPicPr>
          <p:cNvPr id="5" name="Image 1" descr="https://kimi-img.moonshot.cn/pub/slides/okc/flfuysioo4gzm/mnt/agents/output/yuan_pptd/images/image_20.jpg">    </p:cNvPr>
          <p:cNvPicPr>
            <a:picLocks noChangeAspect="1"/>
          </p:cNvPicPr>
          <p:nvPr/>
        </p:nvPicPr>
        <p:blipFill>
          <a:blip r:embed="rId2"/>
          <a:srcRect l="0" r="49990" t="0" b="0"/>
          <a:stretch/>
        </p:blipFill>
        <p:spPr>
          <a:xfrm>
            <a:off x="2860929" y="4859909"/>
            <a:ext cx="1407795" cy="1119505"/>
          </a:xfrm>
          <a:prstGeom prst="rect">
            <a:avLst/>
          </a:prstGeom>
        </p:spPr>
      </p:pic>
      <p:pic>
        <p:nvPicPr>
          <p:cNvPr id="6" name="Image 2" descr="https://kimi-img.moonshot.cn/pub/slides/okc/flfuysioo4gzm/mnt/agents/output/yuan_pptd/images/image_20.jpg">    </p:cNvPr>
          <p:cNvPicPr>
            <a:picLocks noChangeAspect="1"/>
          </p:cNvPicPr>
          <p:nvPr/>
        </p:nvPicPr>
        <p:blipFill>
          <a:blip r:embed="rId3"/>
          <a:srcRect l="50010" r="0" t="0" b="0"/>
          <a:stretch/>
        </p:blipFill>
        <p:spPr>
          <a:xfrm>
            <a:off x="5162042" y="4859909"/>
            <a:ext cx="1407160" cy="1119505"/>
          </a:xfrm>
          <a:prstGeom prst="rect">
            <a:avLst/>
          </a:prstGeom>
        </p:spPr>
      </p:pic>
      <p:pic>
        <p:nvPicPr>
          <p:cNvPr id="7" name="Image 3" descr="https://kimi-img.moonshot.cn/pub/slides/okc/flfuysioo4gzm/mnt/agents/output/yuan_pptd/images/image_20.jpg">    </p:cNvPr>
          <p:cNvPicPr>
            <a:picLocks noChangeAspect="1"/>
          </p:cNvPicPr>
          <p:nvPr/>
        </p:nvPicPr>
        <p:blipFill>
          <a:blip r:embed="rId4"/>
          <a:srcRect l="50010" r="0" t="0" b="0"/>
          <a:stretch/>
        </p:blipFill>
        <p:spPr>
          <a:xfrm>
            <a:off x="2861437" y="6391275"/>
            <a:ext cx="1407160" cy="1119505"/>
          </a:xfrm>
          <a:prstGeom prst="rect">
            <a:avLst/>
          </a:prstGeom>
        </p:spPr>
      </p:pic>
      <p:pic>
        <p:nvPicPr>
          <p:cNvPr id="8" name="Image 4" descr="https://kimi-img.moonshot.cn/pub/slides/okc/flfuysioo4gzm/mnt/agents/output/yuan_pptd/images/image_20.jpg">    </p:cNvPr>
          <p:cNvPicPr>
            <a:picLocks noChangeAspect="1"/>
          </p:cNvPicPr>
          <p:nvPr/>
        </p:nvPicPr>
        <p:blipFill>
          <a:blip r:embed="rId5"/>
          <a:srcRect l="0" r="49990" t="0" b="0"/>
          <a:stretch/>
        </p:blipFill>
        <p:spPr>
          <a:xfrm>
            <a:off x="5161534" y="6391275"/>
            <a:ext cx="1407795" cy="1119505"/>
          </a:xfrm>
          <a:prstGeom prst="rect">
            <a:avLst/>
          </a:prstGeom>
        </p:spPr>
      </p:pic>
      <p:sp>
        <p:nvSpPr>
          <p:cNvPr id="9" name="Shape 1"/>
          <p:cNvSpPr/>
          <p:nvPr/>
        </p:nvSpPr>
        <p:spPr>
          <a:xfrm>
            <a:off x="3947922" y="5637276"/>
            <a:ext cx="297815" cy="297942"/>
          </a:xfrm>
          <a:prstGeom prst="line">
            <a:avLst/>
          </a:prstGeom>
          <a:noFill/>
          <a:ln w="12700">
            <a:solidFill>
              <a:srgbClr val="03569A"/>
            </a:solidFill>
            <a:prstDash val="solid"/>
            <a:headEnd type="arrow"/>
            <a:tailEnd type="none"/>
          </a:ln>
        </p:spPr>
      </p:sp>
      <p:sp>
        <p:nvSpPr>
          <p:cNvPr id="10" name="Shape 2"/>
          <p:cNvSpPr/>
          <p:nvPr/>
        </p:nvSpPr>
        <p:spPr>
          <a:xfrm flipH="1">
            <a:off x="5185029" y="5637276"/>
            <a:ext cx="297815" cy="297942"/>
          </a:xfrm>
          <a:prstGeom prst="line">
            <a:avLst/>
          </a:prstGeom>
          <a:noFill/>
          <a:ln w="12700">
            <a:solidFill>
              <a:srgbClr val="03569A"/>
            </a:solidFill>
            <a:prstDash val="solid"/>
            <a:headEnd type="none"/>
            <a:tailEnd type="arrow"/>
          </a:ln>
        </p:spPr>
      </p:sp>
      <p:sp>
        <p:nvSpPr>
          <p:cNvPr id="11" name="Shape 3"/>
          <p:cNvSpPr/>
          <p:nvPr/>
        </p:nvSpPr>
        <p:spPr>
          <a:xfrm>
            <a:off x="5185029" y="6496685"/>
            <a:ext cx="297815" cy="297942"/>
          </a:xfrm>
          <a:prstGeom prst="line">
            <a:avLst/>
          </a:prstGeom>
          <a:noFill/>
          <a:ln w="12700">
            <a:solidFill>
              <a:srgbClr val="03569A"/>
            </a:solidFill>
            <a:prstDash val="solid"/>
            <a:headEnd type="none"/>
            <a:tailEnd type="arrow"/>
          </a:ln>
        </p:spPr>
      </p:sp>
      <p:sp>
        <p:nvSpPr>
          <p:cNvPr id="12" name="Shape 4"/>
          <p:cNvSpPr/>
          <p:nvPr/>
        </p:nvSpPr>
        <p:spPr>
          <a:xfrm flipH="1">
            <a:off x="3947922" y="6496685"/>
            <a:ext cx="297815" cy="297942"/>
          </a:xfrm>
          <a:prstGeom prst="line">
            <a:avLst/>
          </a:prstGeom>
          <a:noFill/>
          <a:ln w="12700">
            <a:solidFill>
              <a:srgbClr val="03569A"/>
            </a:solidFill>
            <a:prstDash val="solid"/>
            <a:headEnd type="arrow"/>
            <a:tailEnd type="none"/>
          </a:ln>
        </p:spPr>
      </p:sp>
      <p:pic>
        <p:nvPicPr>
          <p:cNvPr id="13" name="Image 5" descr="https://kimi-img.moonshot.cn/pub/slides/okc/flfuysioo4gzm/mnt/agents/output/yuan_pptd/images/image_20.jpg">    </p:cNvPr>
          <p:cNvPicPr>
            <a:picLocks noChangeAspect="1"/>
          </p:cNvPicPr>
          <p:nvPr/>
        </p:nvPicPr>
        <p:blipFill>
          <a:blip r:embed="rId6"/>
          <a:srcRect l="0" r="59740" t="0" b="0"/>
          <a:stretch/>
        </p:blipFill>
        <p:spPr>
          <a:xfrm>
            <a:off x="9109329" y="4765929"/>
            <a:ext cx="1201674" cy="1186434"/>
          </a:xfrm>
          <a:prstGeom prst="rect">
            <a:avLst/>
          </a:prstGeom>
        </p:spPr>
      </p:pic>
      <p:pic>
        <p:nvPicPr>
          <p:cNvPr id="14" name="Image 6" descr="https://kimi-img.moonshot.cn/pub/slides/okc/flfuysioo4gzm/mnt/agents/output/yuan_pptd/images/image_20.jpg">    </p:cNvPr>
          <p:cNvPicPr>
            <a:picLocks noChangeAspect="1"/>
          </p:cNvPicPr>
          <p:nvPr/>
        </p:nvPicPr>
        <p:blipFill>
          <a:blip r:embed="rId7"/>
          <a:srcRect l="60280" r="0" t="0" b="0"/>
          <a:stretch/>
        </p:blipFill>
        <p:spPr>
          <a:xfrm>
            <a:off x="11855069" y="4765929"/>
            <a:ext cx="1185164" cy="1186434"/>
          </a:xfrm>
          <a:prstGeom prst="rect">
            <a:avLst/>
          </a:prstGeom>
        </p:spPr>
      </p:pic>
      <p:pic>
        <p:nvPicPr>
          <p:cNvPr id="15" name="Image 7" descr="https://kimi-img.moonshot.cn/pub/slides/okc/flfuysioo4gzm/mnt/agents/output/yuan_pptd/images/image_20.jpg">    </p:cNvPr>
          <p:cNvPicPr>
            <a:picLocks noChangeAspect="1"/>
          </p:cNvPicPr>
          <p:nvPr/>
        </p:nvPicPr>
        <p:blipFill>
          <a:blip r:embed="rId8"/>
          <a:srcRect l="50010" r="9750" t="0" b="0"/>
          <a:stretch/>
        </p:blipFill>
        <p:spPr>
          <a:xfrm>
            <a:off x="9110091" y="6388608"/>
            <a:ext cx="1200912" cy="1186434"/>
          </a:xfrm>
          <a:prstGeom prst="rect">
            <a:avLst/>
          </a:prstGeom>
        </p:spPr>
      </p:pic>
      <p:pic>
        <p:nvPicPr>
          <p:cNvPr id="16" name="Image 8" descr="https://kimi-img.moonshot.cn/pub/slides/okc/flfuysioo4gzm/mnt/agents/output/yuan_pptd/images/image_20.jpg">    </p:cNvPr>
          <p:cNvPicPr>
            <a:picLocks noChangeAspect="1"/>
          </p:cNvPicPr>
          <p:nvPr/>
        </p:nvPicPr>
        <p:blipFill>
          <a:blip r:embed="rId9"/>
          <a:srcRect l="10300" r="49990" t="0" b="0"/>
          <a:stretch/>
        </p:blipFill>
        <p:spPr>
          <a:xfrm>
            <a:off x="11855069" y="6388608"/>
            <a:ext cx="1185164" cy="1186434"/>
          </a:xfrm>
          <a:prstGeom prst="rect">
            <a:avLst/>
          </a:prstGeom>
        </p:spPr>
      </p:pic>
      <p:sp>
        <p:nvSpPr>
          <p:cNvPr id="17" name="Shape 5"/>
          <p:cNvSpPr/>
          <p:nvPr/>
        </p:nvSpPr>
        <p:spPr>
          <a:xfrm>
            <a:off x="10310876" y="5359527"/>
            <a:ext cx="0" cy="1622679"/>
          </a:xfrm>
          <a:prstGeom prst="line">
            <a:avLst/>
          </a:prstGeom>
          <a:noFill/>
          <a:ln w="12700">
            <a:solidFill>
              <a:srgbClr val="03569A"/>
            </a:solidFill>
            <a:prstDash val="solid"/>
            <a:headEnd type="none"/>
            <a:tailEnd type="none"/>
          </a:ln>
        </p:spPr>
      </p:sp>
      <p:sp>
        <p:nvSpPr>
          <p:cNvPr id="18" name="Shape 6"/>
          <p:cNvSpPr/>
          <p:nvPr/>
        </p:nvSpPr>
        <p:spPr>
          <a:xfrm>
            <a:off x="10310876" y="5359527"/>
            <a:ext cx="1544193" cy="1622679"/>
          </a:xfrm>
          <a:prstGeom prst="line">
            <a:avLst/>
          </a:prstGeom>
          <a:noFill/>
          <a:ln w="12700">
            <a:solidFill>
              <a:srgbClr val="03569A"/>
            </a:solidFill>
            <a:prstDash val="solid"/>
            <a:headEnd type="none"/>
            <a:tailEnd type="none"/>
          </a:ln>
        </p:spPr>
      </p:sp>
      <p:sp>
        <p:nvSpPr>
          <p:cNvPr id="19" name="Shape 7"/>
          <p:cNvSpPr/>
          <p:nvPr/>
        </p:nvSpPr>
        <p:spPr>
          <a:xfrm flipH="1">
            <a:off x="10310876" y="5359527"/>
            <a:ext cx="1544193" cy="1622679"/>
          </a:xfrm>
          <a:prstGeom prst="line">
            <a:avLst/>
          </a:prstGeom>
          <a:noFill/>
          <a:ln w="12700">
            <a:solidFill>
              <a:srgbClr val="03569A"/>
            </a:solidFill>
            <a:prstDash val="solid"/>
            <a:headEnd type="none"/>
            <a:tailEnd type="none"/>
          </a:ln>
        </p:spPr>
      </p:sp>
      <p:sp>
        <p:nvSpPr>
          <p:cNvPr id="20" name="Shape 8"/>
          <p:cNvSpPr/>
          <p:nvPr/>
        </p:nvSpPr>
        <p:spPr>
          <a:xfrm flipH="1">
            <a:off x="10310876" y="6982206"/>
            <a:ext cx="1544193" cy="0"/>
          </a:xfrm>
          <a:prstGeom prst="line">
            <a:avLst/>
          </a:prstGeom>
          <a:noFill/>
          <a:ln w="12700">
            <a:solidFill>
              <a:srgbClr val="03569A"/>
            </a:solidFill>
            <a:prstDash val="solid"/>
            <a:headEnd type="none"/>
            <a:tailEnd type="none"/>
          </a:ln>
        </p:spPr>
      </p:sp>
      <p:sp>
        <p:nvSpPr>
          <p:cNvPr id="21" name="Shape 9"/>
          <p:cNvSpPr/>
          <p:nvPr/>
        </p:nvSpPr>
        <p:spPr>
          <a:xfrm>
            <a:off x="10310876" y="5359527"/>
            <a:ext cx="1544193" cy="0"/>
          </a:xfrm>
          <a:prstGeom prst="line">
            <a:avLst/>
          </a:prstGeom>
          <a:noFill/>
          <a:ln w="12700">
            <a:solidFill>
              <a:srgbClr val="03569A"/>
            </a:solidFill>
            <a:prstDash val="solid"/>
            <a:headEnd type="none"/>
            <a:tailEnd type="none"/>
          </a:ln>
        </p:spPr>
      </p:sp>
      <p:sp>
        <p:nvSpPr>
          <p:cNvPr id="22" name="Shape 10"/>
          <p:cNvSpPr/>
          <p:nvPr/>
        </p:nvSpPr>
        <p:spPr>
          <a:xfrm>
            <a:off x="11855069" y="5359527"/>
            <a:ext cx="0" cy="1622679"/>
          </a:xfrm>
          <a:prstGeom prst="line">
            <a:avLst/>
          </a:prstGeom>
          <a:noFill/>
          <a:ln w="12700">
            <a:solidFill>
              <a:srgbClr val="03569A"/>
            </a:solidFill>
            <a:prstDash val="solid"/>
            <a:headEnd type="none"/>
            <a:tailEnd type="none"/>
          </a:ln>
        </p:spPr>
      </p:sp>
      <p:sp>
        <p:nvSpPr>
          <p:cNvPr id="23" name="Text 11"/>
          <p:cNvSpPr/>
          <p:nvPr/>
        </p:nvSpPr>
        <p:spPr>
          <a:xfrm>
            <a:off x="1337691" y="7552436"/>
            <a:ext cx="6769100" cy="533527"/>
          </a:xfrm>
          <a:prstGeom prst="rect">
            <a:avLst/>
          </a:prstGeom>
          <a:noFill/>
          <a:ln/>
        </p:spPr>
        <p:txBody>
          <a:bodyPr wrap="square" lIns="0" tIns="0" rIns="0" bIns="0" rtlCol="0" anchor="t"/>
          <a:lstStyle/>
          <a:p>
            <a:pPr algn="ctr">
              <a:lnSpc>
                <a:spcPct val="120000"/>
              </a:lnSpc>
            </a:pPr>
            <a:r>
              <a:rPr lang="en-US" sz="2670" dirty="0">
                <a:solidFill>
                  <a:srgbClr val="000000"/>
                </a:solidFill>
                <a:latin typeface="Arial" pitchFamily="34" charset="0"/>
                <a:ea typeface="Arial" pitchFamily="34" charset="-122"/>
                <a:cs typeface="Arial" pitchFamily="34" charset="-120"/>
              </a:rPr>
              <a:t>可信假设减弱了协议的安全性</a:t>
            </a:r>
            <a:endParaRPr lang="en-US" sz="2670" dirty="0"/>
          </a:p>
        </p:txBody>
      </p:sp>
      <p:sp>
        <p:nvSpPr>
          <p:cNvPr id="24" name="Text 12"/>
          <p:cNvSpPr/>
          <p:nvPr/>
        </p:nvSpPr>
        <p:spPr>
          <a:xfrm>
            <a:off x="9123807" y="7418324"/>
            <a:ext cx="4270629" cy="943864"/>
          </a:xfrm>
          <a:prstGeom prst="rect">
            <a:avLst/>
          </a:prstGeom>
          <a:noFill/>
          <a:ln/>
        </p:spPr>
        <p:txBody>
          <a:bodyPr wrap="square" lIns="0" tIns="0" rIns="0" bIns="0" rtlCol="0" anchor="t"/>
          <a:lstStyle/>
          <a:p>
            <a:pPr algn="ctr">
              <a:lnSpc>
                <a:spcPct val="120000"/>
              </a:lnSpc>
            </a:pPr>
            <a:r>
              <a:rPr lang="en-US" sz="2670" b="1" dirty="0">
                <a:solidFill>
                  <a:srgbClr val="04579A"/>
                </a:solidFill>
                <a:latin typeface="Arial" pitchFamily="34" charset="0"/>
                <a:ea typeface="Arial" pitchFamily="34" charset="-122"/>
                <a:cs typeface="Arial" pitchFamily="34" charset="-120"/>
              </a:rPr>
              <a:t>需要去除可信假设，</a:t>
            </a:r>
            <a:endParaRPr lang="en-US" sz="2670" dirty="0"/>
          </a:p>
          <a:p>
            <a:pPr algn="ctr">
              <a:lnSpc>
                <a:spcPct val="120000"/>
              </a:lnSpc>
            </a:pPr>
            <a:r>
              <a:rPr lang="en-US" sz="2670" b="1" dirty="0">
                <a:solidFill>
                  <a:srgbClr val="04579A"/>
                </a:solidFill>
                <a:latin typeface="Arial" pitchFamily="34" charset="0"/>
                <a:ea typeface="Arial" pitchFamily="34" charset="-122"/>
                <a:cs typeface="Arial" pitchFamily="34" charset="-120"/>
              </a:rPr>
              <a:t>建立更实际的安全模型</a:t>
            </a:r>
            <a:endParaRPr lang="en-US" sz="2670" dirty="0"/>
          </a:p>
        </p:txBody>
      </p:sp>
      <p:sp>
        <p:nvSpPr>
          <p:cNvPr id="25" name="Text 13"/>
          <p:cNvSpPr/>
          <p:nvPr/>
        </p:nvSpPr>
        <p:spPr>
          <a:xfrm>
            <a:off x="1151509" y="2083689"/>
            <a:ext cx="8128000" cy="861822"/>
          </a:xfrm>
          <a:prstGeom prst="rect">
            <a:avLst/>
          </a:prstGeom>
          <a:noFill/>
          <a:ln/>
        </p:spPr>
        <p:txBody>
          <a:bodyPr wrap="square" lIns="0" tIns="0" rIns="0" bIns="0" rtlCol="0" anchor="t"/>
          <a:lstStyle/>
          <a:p>
            <a:pPr algn="l">
              <a:lnSpc>
                <a:spcPct val="120000"/>
              </a:lnSpc>
            </a:pPr>
            <a:r>
              <a:rPr lang="en-US" sz="2400" dirty="0">
                <a:solidFill>
                  <a:srgbClr val="262626"/>
                </a:solidFill>
                <a:latin typeface="Arial" pitchFamily="34" charset="0"/>
                <a:ea typeface="Arial" pitchFamily="34" charset="-122"/>
                <a:cs typeface="Arial" pitchFamily="34" charset="-120"/>
              </a:rPr>
              <a:t>资产兑换协议是构建</a:t>
            </a:r>
            <a:pPr algn="l">
              <a:lnSpc>
                <a:spcPct val="120000"/>
              </a:lnSpc>
            </a:pPr>
            <a:r>
              <a:rPr lang="en-US" sz="2400" dirty="0">
                <a:solidFill>
                  <a:srgbClr val="3F3F3F"/>
                </a:solidFill>
                <a:latin typeface="Arial" pitchFamily="34" charset="0"/>
                <a:ea typeface="Arial" pitchFamily="34" charset="-122"/>
                <a:cs typeface="Arial" pitchFamily="34" charset="-120"/>
              </a:rPr>
              <a:t>分布式数字资产交易协议</a:t>
            </a:r>
            <a:pPr algn="l">
              <a:lnSpc>
                <a:spcPct val="120000"/>
              </a:lnSpc>
            </a:pPr>
            <a:r>
              <a:rPr lang="en-US" sz="2400" dirty="0">
                <a:solidFill>
                  <a:srgbClr val="262626"/>
                </a:solidFill>
                <a:latin typeface="Arial" pitchFamily="34" charset="0"/>
                <a:ea typeface="Arial" pitchFamily="34" charset="-122"/>
                <a:cs typeface="Arial" pitchFamily="34" charset="-120"/>
              </a:rPr>
              <a:t>的重要组件:</a:t>
            </a:r>
            <a:endParaRPr lang="en-US" sz="2400" dirty="0"/>
          </a:p>
          <a:p>
            <a:pPr algn="l">
              <a:lnSpc>
                <a:spcPct val="120000"/>
              </a:lnSpc>
            </a:pPr>
            <a:r>
              <a:rPr lang="en-US" sz="2400" dirty="0">
                <a:solidFill>
                  <a:srgbClr val="262626"/>
                </a:solidFill>
                <a:latin typeface="Arial" pitchFamily="34" charset="0"/>
                <a:ea typeface="Arial" pitchFamily="34" charset="-122"/>
                <a:cs typeface="Arial" pitchFamily="34" charset="-120"/>
              </a:rPr>
              <a:t> </a:t>
            </a:r>
            <a:endParaRPr lang="en-US" sz="2400" dirty="0"/>
          </a:p>
        </p:txBody>
      </p:sp>
      <p:sp>
        <p:nvSpPr>
          <p:cNvPr id="26" name="Shape 14"/>
          <p:cNvSpPr/>
          <p:nvPr/>
        </p:nvSpPr>
        <p:spPr>
          <a:xfrm>
            <a:off x="7448931" y="6194171"/>
            <a:ext cx="574929" cy="1125220"/>
          </a:xfrm>
          <a:prstGeom prst="rightArrow">
            <a:avLst>
              <a:gd name="adj1" fmla="val 50000"/>
              <a:gd name="adj2" fmla="val 50000"/>
            </a:avLst>
          </a:prstGeom>
          <a:noFill/>
          <a:ln w="12700">
            <a:solidFill>
              <a:srgbClr val="04579A"/>
            </a:solidFill>
            <a:prstDash val="solid"/>
          </a:ln>
        </p:spPr>
      </p:sp>
      <p:sp>
        <p:nvSpPr>
          <p:cNvPr id="27" name="Text 15"/>
          <p:cNvSpPr/>
          <p:nvPr/>
        </p:nvSpPr>
        <p:spPr>
          <a:xfrm>
            <a:off x="3479800" y="3156331"/>
            <a:ext cx="2241169" cy="1016889"/>
          </a:xfrm>
          <a:prstGeom prst="rect">
            <a:avLst/>
          </a:prstGeom>
          <a:noFill/>
          <a:ln/>
        </p:spPr>
        <p:txBody>
          <a:bodyPr wrap="square" lIns="0" tIns="0" rIns="0" bIns="0" rtlCol="0" anchor="t"/>
          <a:lstStyle/>
          <a:p>
            <a:pPr algn="ctr">
              <a:lnSpc>
                <a:spcPct val="120000"/>
              </a:lnSpc>
            </a:pPr>
            <a:r>
              <a:rPr lang="en-US" sz="2020" dirty="0">
                <a:solidFill>
                  <a:srgbClr val="000000"/>
                </a:solidFill>
                <a:latin typeface="Arial" pitchFamily="34" charset="0"/>
                <a:ea typeface="Arial" pitchFamily="34" charset="-122"/>
                <a:cs typeface="Arial" pitchFamily="34" charset="-120"/>
              </a:rPr>
              <a:t>资产安全性依赖</a:t>
            </a:r>
            <a:pPr algn="ctr">
              <a:lnSpc>
                <a:spcPct val="120000"/>
              </a:lnSpc>
            </a:pPr>
            <a:r>
              <a:rPr lang="en-US" sz="2020" b="1" dirty="0">
                <a:solidFill>
                  <a:srgbClr val="E9451F"/>
                </a:solidFill>
                <a:latin typeface="Arial" pitchFamily="34" charset="0"/>
                <a:ea typeface="Arial" pitchFamily="34" charset="-122"/>
                <a:cs typeface="Arial" pitchFamily="34" charset="-120"/>
              </a:rPr>
              <a:t>智能合约</a:t>
            </a:r>
            <a:pPr algn="ctr">
              <a:lnSpc>
                <a:spcPct val="120000"/>
              </a:lnSpc>
            </a:pPr>
            <a:r>
              <a:rPr lang="en-US" sz="2020" dirty="0">
                <a:solidFill>
                  <a:srgbClr val="000000"/>
                </a:solidFill>
                <a:latin typeface="Arial" pitchFamily="34" charset="0"/>
                <a:ea typeface="Arial" pitchFamily="34" charset="-122"/>
                <a:cs typeface="Arial" pitchFamily="34" charset="-120"/>
              </a:rPr>
              <a:t>托管</a:t>
            </a:r>
            <a:endParaRPr lang="en-US" sz="2020" dirty="0"/>
          </a:p>
        </p:txBody>
      </p:sp>
      <p:sp>
        <p:nvSpPr>
          <p:cNvPr id="28" name="Shape 16"/>
          <p:cNvSpPr/>
          <p:nvPr/>
        </p:nvSpPr>
        <p:spPr>
          <a:xfrm>
            <a:off x="6583680" y="2970149"/>
            <a:ext cx="3100451" cy="1252220"/>
          </a:xfrm>
          <a:prstGeom prst="round2DiagRect">
            <a:avLst>
              <a:gd name="adj1" fmla="val 16667"/>
              <a:gd name="adj2" fmla="val 0"/>
            </a:avLst>
          </a:prstGeom>
          <a:solidFill>
            <a:srgbClr val="FFFFFF"/>
          </a:solidFill>
          <a:ln w="12700">
            <a:solidFill>
              <a:srgbClr val="304B73"/>
            </a:solidFill>
            <a:prstDash val="solid"/>
          </a:ln>
        </p:spPr>
      </p:sp>
      <p:sp>
        <p:nvSpPr>
          <p:cNvPr id="29" name="Shape 17"/>
          <p:cNvSpPr/>
          <p:nvPr/>
        </p:nvSpPr>
        <p:spPr>
          <a:xfrm>
            <a:off x="10099040" y="2921000"/>
            <a:ext cx="3100451" cy="1252220"/>
          </a:xfrm>
          <a:prstGeom prst="round2DiagRect">
            <a:avLst>
              <a:gd name="adj1" fmla="val 16667"/>
              <a:gd name="adj2" fmla="val 0"/>
            </a:avLst>
          </a:prstGeom>
          <a:solidFill>
            <a:srgbClr val="FFFFFF"/>
          </a:solidFill>
          <a:ln w="12700">
            <a:solidFill>
              <a:srgbClr val="304B73"/>
            </a:solidFill>
            <a:prstDash val="solid"/>
          </a:ln>
        </p:spPr>
      </p:sp>
      <p:sp>
        <p:nvSpPr>
          <p:cNvPr id="30" name="Text 18"/>
          <p:cNvSpPr/>
          <p:nvPr/>
        </p:nvSpPr>
        <p:spPr>
          <a:xfrm>
            <a:off x="7022211" y="3134360"/>
            <a:ext cx="2224151" cy="935609"/>
          </a:xfrm>
          <a:prstGeom prst="rect">
            <a:avLst/>
          </a:prstGeom>
          <a:noFill/>
          <a:ln/>
        </p:spPr>
        <p:txBody>
          <a:bodyPr wrap="square" lIns="0" tIns="0" rIns="0" bIns="0" rtlCol="0" anchor="t"/>
          <a:lstStyle/>
          <a:p>
            <a:pPr algn="l">
              <a:lnSpc>
                <a:spcPct val="120000"/>
              </a:lnSpc>
            </a:pPr>
            <a:r>
              <a:rPr lang="en-US" sz="1870" dirty="0">
                <a:solidFill>
                  <a:srgbClr val="000000"/>
                </a:solidFill>
                <a:latin typeface="Arial" pitchFamily="34" charset="0"/>
                <a:ea typeface="Arial" pitchFamily="34" charset="-122"/>
                <a:cs typeface="Arial" pitchFamily="34" charset="-120"/>
              </a:rPr>
              <a:t>兑换有效性依赖于</a:t>
            </a:r>
            <a:pPr algn="l">
              <a:lnSpc>
                <a:spcPct val="120000"/>
              </a:lnSpc>
            </a:pPr>
            <a:r>
              <a:rPr lang="en-US" sz="1870" b="1" dirty="0">
                <a:solidFill>
                  <a:srgbClr val="E9451F"/>
                </a:solidFill>
                <a:latin typeface="Arial" pitchFamily="34" charset="0"/>
                <a:ea typeface="Arial" pitchFamily="34" charset="-122"/>
                <a:cs typeface="Arial" pitchFamily="34" charset="-120"/>
              </a:rPr>
              <a:t>诚实矿工交易排序</a:t>
            </a:r>
            <a:endParaRPr lang="en-US" sz="1870" dirty="0"/>
          </a:p>
        </p:txBody>
      </p:sp>
      <p:sp>
        <p:nvSpPr>
          <p:cNvPr id="31" name="Text 19"/>
          <p:cNvSpPr/>
          <p:nvPr/>
        </p:nvSpPr>
        <p:spPr>
          <a:xfrm>
            <a:off x="10316210" y="3115056"/>
            <a:ext cx="2666111" cy="917829"/>
          </a:xfrm>
          <a:prstGeom prst="rect">
            <a:avLst/>
          </a:prstGeom>
          <a:noFill/>
          <a:ln/>
        </p:spPr>
        <p:txBody>
          <a:bodyPr wrap="square" lIns="0" tIns="0" rIns="0" bIns="0" rtlCol="0" anchor="t"/>
          <a:lstStyle/>
          <a:p>
            <a:pPr algn="l">
              <a:lnSpc>
                <a:spcPct val="120000"/>
              </a:lnSpc>
            </a:pPr>
            <a:r>
              <a:rPr lang="en-US" sz="1730" spc="200" kern="0" dirty="0">
                <a:solidFill>
                  <a:srgbClr val="000000"/>
                </a:solidFill>
                <a:latin typeface="Arial" pitchFamily="34" charset="0"/>
                <a:ea typeface="Arial" pitchFamily="34" charset="-122"/>
                <a:cs typeface="Arial" pitchFamily="34" charset="-120"/>
              </a:rPr>
              <a:t>惩罚机制依赖于用户</a:t>
            </a:r>
            <a:pPr algn="l">
              <a:lnSpc>
                <a:spcPct val="120000"/>
              </a:lnSpc>
            </a:pPr>
            <a:r>
              <a:rPr lang="en-US" sz="1730" b="1" spc="200" kern="0" dirty="0">
                <a:solidFill>
                  <a:srgbClr val="E9451F"/>
                </a:solidFill>
                <a:latin typeface="Arial" pitchFamily="34" charset="0"/>
                <a:ea typeface="Arial" pitchFamily="34" charset="-122"/>
                <a:cs typeface="Arial" pitchFamily="34" charset="-120"/>
              </a:rPr>
              <a:t>实时在线</a:t>
            </a:r>
            <a:pPr algn="l">
              <a:lnSpc>
                <a:spcPct val="120000"/>
              </a:lnSpc>
            </a:pPr>
            <a:r>
              <a:rPr lang="en-US" sz="1730" spc="200" kern="0" dirty="0">
                <a:solidFill>
                  <a:srgbClr val="000000"/>
                </a:solidFill>
                <a:latin typeface="Arial" pitchFamily="34" charset="0"/>
                <a:ea typeface="Arial" pitchFamily="34" charset="-122"/>
                <a:cs typeface="Arial" pitchFamily="34" charset="-120"/>
              </a:rPr>
              <a:t>监控链上交易</a:t>
            </a:r>
            <a:endParaRPr lang="en-US" sz="1730" dirty="0"/>
          </a:p>
        </p:txBody>
      </p:sp>
      <p:sp>
        <p:nvSpPr>
          <p:cNvPr id="32" name="Shape 20"/>
          <p:cNvSpPr/>
          <p:nvPr/>
        </p:nvSpPr>
        <p:spPr>
          <a:xfrm>
            <a:off x="2219960" y="0"/>
            <a:ext cx="2942209" cy="962660"/>
          </a:xfrm>
          <a:prstGeom prst="rect">
            <a:avLst/>
          </a:prstGeom>
          <a:solidFill>
            <a:srgbClr val="F2F2F2"/>
          </a:solidFill>
          <a:ln w="12700">
            <a:solidFill>
              <a:srgbClr val="F2F2F2"/>
            </a:solidFill>
            <a:prstDash val="solid"/>
          </a:ln>
        </p:spPr>
      </p:sp>
      <p:sp>
        <p:nvSpPr>
          <p:cNvPr id="33" name="Shape 21"/>
          <p:cNvSpPr/>
          <p:nvPr/>
        </p:nvSpPr>
        <p:spPr>
          <a:xfrm>
            <a:off x="5162169" y="-889"/>
            <a:ext cx="2654300" cy="962660"/>
          </a:xfrm>
          <a:prstGeom prst="rect">
            <a:avLst/>
          </a:prstGeom>
          <a:solidFill>
            <a:srgbClr val="F2F2F2"/>
          </a:solidFill>
          <a:ln/>
        </p:spPr>
      </p:sp>
      <p:sp>
        <p:nvSpPr>
          <p:cNvPr id="34" name="Shape 22"/>
          <p:cNvSpPr/>
          <p:nvPr/>
        </p:nvSpPr>
        <p:spPr>
          <a:xfrm>
            <a:off x="7816469" y="-889"/>
            <a:ext cx="4154551" cy="962660"/>
          </a:xfrm>
          <a:prstGeom prst="rect">
            <a:avLst/>
          </a:prstGeom>
          <a:solidFill>
            <a:srgbClr val="F2F2F2"/>
          </a:solidFill>
          <a:ln/>
        </p:spPr>
      </p:sp>
      <p:sp>
        <p:nvSpPr>
          <p:cNvPr id="35" name="Shape 23"/>
          <p:cNvSpPr/>
          <p:nvPr/>
        </p:nvSpPr>
        <p:spPr>
          <a:xfrm>
            <a:off x="11971020" y="0"/>
            <a:ext cx="4284980" cy="961771"/>
          </a:xfrm>
          <a:prstGeom prst="rect">
            <a:avLst/>
          </a:prstGeom>
          <a:solidFill>
            <a:srgbClr val="F2F2F2"/>
          </a:solidFill>
          <a:ln/>
        </p:spPr>
      </p:sp>
      <p:sp>
        <p:nvSpPr>
          <p:cNvPr id="36" name="Shape 24"/>
          <p:cNvSpPr/>
          <p:nvPr/>
        </p:nvSpPr>
        <p:spPr>
          <a:xfrm>
            <a:off x="2219960" y="-889"/>
            <a:ext cx="2942209" cy="962660"/>
          </a:xfrm>
          <a:prstGeom prst="rect">
            <a:avLst/>
          </a:prstGeom>
          <a:solidFill>
            <a:srgbClr val="04579A"/>
          </a:solidFill>
          <a:ln w="12700">
            <a:solidFill>
              <a:srgbClr val="04579A"/>
            </a:solidFill>
            <a:prstDash val="solid"/>
          </a:ln>
        </p:spPr>
      </p:sp>
      <p:sp>
        <p:nvSpPr>
          <p:cNvPr id="37" name="Text 25"/>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选题背景及意义</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国内外研究现状</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主要研究内容及预期目标</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工作计划与进度安排</a:t>
            </a:r>
            <a:endParaRPr lang="en-US" sz="2400" dirty="0"/>
          </a:p>
        </p:txBody>
      </p:sp>
      <p:pic>
        <p:nvPicPr>
          <p:cNvPr id="38" name="Image 9" descr="https://kimi-img.moonshot.cn/pub/slides/okc/flfuysioo4gzm/mnt/agents/output/yuan_pptd/images/image_2.jpg">    </p:cNvPr>
          <p:cNvPicPr>
            <a:picLocks noChangeAspect="1"/>
          </p:cNvPicPr>
          <p:nvPr/>
        </p:nvPicPr>
        <p:blipFill>
          <a:blip r:embed="rId10"/>
          <a:srcRect l="5060" r="29000" t="0" b="0"/>
          <a:stretch/>
        </p:blipFill>
        <p:spPr>
          <a:xfrm>
            <a:off x="544449" y="140589"/>
            <a:ext cx="1273429" cy="745871"/>
          </a:xfrm>
          <a:prstGeom prst="rect">
            <a:avLst/>
          </a:prstGeom>
        </p:spPr>
      </p:pic>
      <p:sp>
        <p:nvSpPr>
          <p:cNvPr id="39" name="Shape 26"/>
          <p:cNvSpPr/>
          <p:nvPr/>
        </p:nvSpPr>
        <p:spPr>
          <a:xfrm rot="10800000">
            <a:off x="3496691" y="961771"/>
            <a:ext cx="389509" cy="304800"/>
          </a:xfrm>
          <a:prstGeom prst="triangle">
            <a:avLst>
              <a:gd name="adj" fmla="val 50000"/>
            </a:avLst>
          </a:prstGeom>
          <a:solidFill>
            <a:srgbClr val="04579A"/>
          </a:solidFill>
          <a:ln/>
        </p:spPr>
      </p:sp>
      <p:sp>
        <p:nvSpPr>
          <p:cNvPr id="40" name="Text 27"/>
          <p:cNvSpPr/>
          <p:nvPr/>
        </p:nvSpPr>
        <p:spPr>
          <a:xfrm>
            <a:off x="544449" y="1266571"/>
            <a:ext cx="14303629" cy="665480"/>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3F3F3F"/>
                </a:solidFill>
                <a:latin typeface="Arial" pitchFamily="34" charset="0"/>
                <a:ea typeface="Arial" pitchFamily="34" charset="-122"/>
                <a:cs typeface="Arial" pitchFamily="34" charset="-120"/>
              </a:rPr>
              <a:t>现实网络环境对分布式数字资产交易协议的安全性和健壮性提出了更高的要求</a:t>
            </a:r>
            <a:endParaRPr lang="en-US" sz="2670" dirty="0"/>
          </a:p>
        </p:txBody>
      </p:sp>
      <p:sp>
        <p:nvSpPr>
          <p:cNvPr id="41" name="Text 28"/>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6</a:t>
            </a:r>
            <a:endParaRPr lang="en-US" sz="2400" dirty="0"/>
          </a:p>
        </p:txBody>
      </p:sp>
    </p:spTree>
  </p:cSld>
  <p:clrMapOvr>
    <a:masterClrMapping/>
  </p:clrMapOvr>
  <p:transition>
    <p:fade/>
    <p:spd val="med"/>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654431" y="5296281"/>
            <a:ext cx="14037691" cy="762889"/>
          </a:xfrm>
          <a:prstGeom prst="rect">
            <a:avLst/>
          </a:prstGeom>
          <a:solidFill>
            <a:srgbClr val="F2F2F2"/>
          </a:solidFill>
          <a:ln/>
        </p:spPr>
      </p:sp>
      <p:sp>
        <p:nvSpPr>
          <p:cNvPr id="4" name="Shape 1"/>
          <p:cNvSpPr/>
          <p:nvPr/>
        </p:nvSpPr>
        <p:spPr>
          <a:xfrm>
            <a:off x="654431" y="3809111"/>
            <a:ext cx="14037691" cy="762889"/>
          </a:xfrm>
          <a:prstGeom prst="rect">
            <a:avLst/>
          </a:prstGeom>
          <a:solidFill>
            <a:srgbClr val="F2F2F2"/>
          </a:solidFill>
          <a:ln/>
        </p:spPr>
      </p:sp>
      <p:sp>
        <p:nvSpPr>
          <p:cNvPr id="5" name="Shape 2"/>
          <p:cNvSpPr/>
          <p:nvPr/>
        </p:nvSpPr>
        <p:spPr>
          <a:xfrm>
            <a:off x="1358900" y="4713351"/>
            <a:ext cx="486029" cy="343789"/>
          </a:xfrm>
          <a:prstGeom prst="chevron">
            <a:avLst>
              <a:gd name="adj" fmla="val 50000"/>
            </a:avLst>
          </a:prstGeom>
          <a:solidFill>
            <a:srgbClr val="04579A"/>
          </a:solidFill>
          <a:ln w="12700">
            <a:solidFill>
              <a:srgbClr val="304B73"/>
            </a:solidFill>
            <a:prstDash val="solid"/>
          </a:ln>
        </p:spPr>
      </p:sp>
      <p:sp>
        <p:nvSpPr>
          <p:cNvPr id="6" name="Text 3"/>
          <p:cNvSpPr/>
          <p:nvPr/>
        </p:nvSpPr>
        <p:spPr>
          <a:xfrm>
            <a:off x="643509" y="1196340"/>
            <a:ext cx="14772640" cy="531749"/>
          </a:xfrm>
          <a:prstGeom prst="rect">
            <a:avLst/>
          </a:prstGeom>
          <a:noFill/>
          <a:ln/>
        </p:spPr>
        <p:txBody>
          <a:bodyPr wrap="square" lIns="0" tIns="0" rIns="0" bIns="0" rtlCol="0" anchor="t"/>
          <a:lstStyle/>
          <a:p>
            <a:pPr algn="l">
              <a:lnSpc>
                <a:spcPct val="120000"/>
              </a:lnSpc>
            </a:pPr>
            <a:r>
              <a:rPr lang="en-US" sz="2670" dirty="0">
                <a:solidFill>
                  <a:srgbClr val="000000"/>
                </a:solidFill>
                <a:latin typeface="Arial" pitchFamily="34" charset="0"/>
                <a:ea typeface="Arial" pitchFamily="34" charset="-122"/>
                <a:cs typeface="Arial" pitchFamily="34" charset="-120"/>
              </a:rPr>
              <a:t>数字资产市场为区块链提供了新的</a:t>
            </a:r>
            <a:pPr algn="l">
              <a:lnSpc>
                <a:spcPct val="120000"/>
              </a:lnSpc>
            </a:pPr>
            <a:r>
              <a:rPr lang="en-US" sz="2670" b="1" dirty="0">
                <a:solidFill>
                  <a:srgbClr val="04579A"/>
                </a:solidFill>
                <a:latin typeface="Arial" pitchFamily="34" charset="0"/>
                <a:ea typeface="Arial" pitchFamily="34" charset="-122"/>
                <a:cs typeface="Arial" pitchFamily="34" charset="-120"/>
              </a:rPr>
              <a:t>应用方向</a:t>
            </a:r>
            <a:pPr algn="l">
              <a:lnSpc>
                <a:spcPct val="120000"/>
              </a:lnSpc>
            </a:pPr>
            <a:r>
              <a:rPr lang="en-US" sz="2670" dirty="0">
                <a:solidFill>
                  <a:srgbClr val="000000"/>
                </a:solidFill>
                <a:latin typeface="Arial" pitchFamily="34" charset="0"/>
                <a:ea typeface="Arial" pitchFamily="34" charset="-122"/>
                <a:cs typeface="Arial" pitchFamily="34" charset="-120"/>
              </a:rPr>
              <a:t>，但同时也带来了新的</a:t>
            </a:r>
            <a:pPr algn="l">
              <a:lnSpc>
                <a:spcPct val="120000"/>
              </a:lnSpc>
            </a:pPr>
            <a:r>
              <a:rPr lang="en-US" sz="2670" b="1" dirty="0">
                <a:solidFill>
                  <a:srgbClr val="04579A"/>
                </a:solidFill>
                <a:latin typeface="Arial" pitchFamily="34" charset="0"/>
                <a:ea typeface="Arial" pitchFamily="34" charset="-122"/>
                <a:cs typeface="Arial" pitchFamily="34" charset="-120"/>
              </a:rPr>
              <a:t>技术需求</a:t>
            </a:r>
            <a:pPr algn="l">
              <a:lnSpc>
                <a:spcPct val="120000"/>
              </a:lnSpc>
            </a:pPr>
            <a:r>
              <a:rPr lang="en-US" sz="2670" dirty="0">
                <a:solidFill>
                  <a:srgbClr val="000000"/>
                </a:solidFill>
                <a:latin typeface="Arial" pitchFamily="34" charset="0"/>
                <a:ea typeface="Arial" pitchFamily="34" charset="-122"/>
                <a:cs typeface="Arial" pitchFamily="34" charset="-120"/>
              </a:rPr>
              <a:t>：</a:t>
            </a:r>
            <a:endParaRPr lang="en-US" sz="2670" dirty="0"/>
          </a:p>
        </p:txBody>
      </p:sp>
      <p:sp>
        <p:nvSpPr>
          <p:cNvPr id="7" name="Shape 4"/>
          <p:cNvSpPr/>
          <p:nvPr/>
        </p:nvSpPr>
        <p:spPr>
          <a:xfrm>
            <a:off x="2219960" y="0"/>
            <a:ext cx="2942209" cy="962660"/>
          </a:xfrm>
          <a:prstGeom prst="rect">
            <a:avLst/>
          </a:prstGeom>
          <a:solidFill>
            <a:srgbClr val="F2F2F2"/>
          </a:solidFill>
          <a:ln w="12700">
            <a:solidFill>
              <a:srgbClr val="F2F2F2"/>
            </a:solidFill>
            <a:prstDash val="solid"/>
          </a:ln>
        </p:spPr>
      </p:sp>
      <p:sp>
        <p:nvSpPr>
          <p:cNvPr id="8" name="Shape 5"/>
          <p:cNvSpPr/>
          <p:nvPr/>
        </p:nvSpPr>
        <p:spPr>
          <a:xfrm>
            <a:off x="5162169" y="-889"/>
            <a:ext cx="2654300" cy="962660"/>
          </a:xfrm>
          <a:prstGeom prst="rect">
            <a:avLst/>
          </a:prstGeom>
          <a:solidFill>
            <a:srgbClr val="F2F2F2"/>
          </a:solidFill>
          <a:ln/>
        </p:spPr>
      </p:sp>
      <p:sp>
        <p:nvSpPr>
          <p:cNvPr id="9" name="Shape 6"/>
          <p:cNvSpPr/>
          <p:nvPr/>
        </p:nvSpPr>
        <p:spPr>
          <a:xfrm>
            <a:off x="7816469" y="-889"/>
            <a:ext cx="4154551" cy="962660"/>
          </a:xfrm>
          <a:prstGeom prst="rect">
            <a:avLst/>
          </a:prstGeom>
          <a:solidFill>
            <a:srgbClr val="F2F2F2"/>
          </a:solidFill>
          <a:ln/>
        </p:spPr>
      </p:sp>
      <p:sp>
        <p:nvSpPr>
          <p:cNvPr id="10" name="Shape 7"/>
          <p:cNvSpPr/>
          <p:nvPr/>
        </p:nvSpPr>
        <p:spPr>
          <a:xfrm>
            <a:off x="11971020" y="0"/>
            <a:ext cx="4284980" cy="961771"/>
          </a:xfrm>
          <a:prstGeom prst="rect">
            <a:avLst/>
          </a:prstGeom>
          <a:solidFill>
            <a:srgbClr val="F2F2F2"/>
          </a:solidFill>
          <a:ln/>
        </p:spPr>
      </p:sp>
      <p:sp>
        <p:nvSpPr>
          <p:cNvPr id="11" name="Shape 8"/>
          <p:cNvSpPr/>
          <p:nvPr/>
        </p:nvSpPr>
        <p:spPr>
          <a:xfrm>
            <a:off x="2219960" y="-889"/>
            <a:ext cx="2942209" cy="962660"/>
          </a:xfrm>
          <a:prstGeom prst="rect">
            <a:avLst/>
          </a:prstGeom>
          <a:solidFill>
            <a:srgbClr val="04579A"/>
          </a:solidFill>
          <a:ln w="12700">
            <a:solidFill>
              <a:srgbClr val="04579A"/>
            </a:solidFill>
            <a:prstDash val="solid"/>
          </a:ln>
        </p:spPr>
      </p:sp>
      <p:sp>
        <p:nvSpPr>
          <p:cNvPr id="12" name="Text 9"/>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选题背景及意义</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国内外研究现状</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主要研究内容及预期目标</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工作计划与进度安排</a:t>
            </a:r>
            <a:endParaRPr lang="en-US" sz="2400" dirty="0"/>
          </a:p>
        </p:txBody>
      </p:sp>
      <p:pic>
        <p:nvPicPr>
          <p:cNvPr id="13"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4" name="Shape 10"/>
          <p:cNvSpPr/>
          <p:nvPr/>
        </p:nvSpPr>
        <p:spPr>
          <a:xfrm rot="10800000">
            <a:off x="3496691" y="961771"/>
            <a:ext cx="389509" cy="304800"/>
          </a:xfrm>
          <a:prstGeom prst="triangle">
            <a:avLst>
              <a:gd name="adj" fmla="val 50000"/>
            </a:avLst>
          </a:prstGeom>
          <a:solidFill>
            <a:srgbClr val="04579A"/>
          </a:solidFill>
          <a:ln/>
        </p:spPr>
      </p:sp>
      <p:sp>
        <p:nvSpPr>
          <p:cNvPr id="15" name="Shape 11"/>
          <p:cNvSpPr/>
          <p:nvPr/>
        </p:nvSpPr>
        <p:spPr>
          <a:xfrm>
            <a:off x="643509" y="2236089"/>
            <a:ext cx="14037691" cy="762889"/>
          </a:xfrm>
          <a:prstGeom prst="rect">
            <a:avLst/>
          </a:prstGeom>
          <a:solidFill>
            <a:srgbClr val="F2F2F2"/>
          </a:solidFill>
          <a:ln/>
        </p:spPr>
      </p:sp>
      <p:sp>
        <p:nvSpPr>
          <p:cNvPr id="16" name="Text 12"/>
          <p:cNvSpPr/>
          <p:nvPr/>
        </p:nvSpPr>
        <p:spPr>
          <a:xfrm>
            <a:off x="742569" y="2218309"/>
            <a:ext cx="14771751" cy="5243449"/>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现实网络环境对分布式数字资产交易协议的安全性和健壮性提出了更高的要求</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分布式数字资产交易协议需要去除可信假设，建立更强的安全模型</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大规模、高并发的交易场景要求分布式数字资产交易协议具有可扩展性</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分布式数字资产交易协议需要高性能的链下方案构造</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F2F2F2"/>
                </a:solidFill>
                <a:latin typeface="Arial" pitchFamily="34" charset="0"/>
                <a:ea typeface="Arial" pitchFamily="34" charset="-122"/>
                <a:cs typeface="Arial" pitchFamily="34" charset="-120"/>
              </a:rPr>
              <a:t>异构区块链系统间的互联互通要求分布式数字资产交易协议具有互操作性</a:t>
            </a:r>
            <a:endParaRPr lang="en-US" sz="2670" dirty="0"/>
          </a:p>
          <a:p>
            <a:pPr algn="l">
              <a:lnSpc>
                <a:spcPct val="150000"/>
              </a:lnSpc>
            </a:pPr>
            <a:r>
              <a:rPr lang="en-US" sz="3200" b="1" dirty="0">
                <a:solidFill>
                  <a:srgbClr val="F2F2F2"/>
                </a:solidFill>
                <a:latin typeface="Arial" pitchFamily="34" charset="0"/>
                <a:ea typeface="Arial" pitchFamily="34" charset="-122"/>
                <a:cs typeface="Arial" pitchFamily="34" charset="-120"/>
              </a:rPr>
              <a:t>分布式数字资产交易协议需要高效的跨链证明协议</a:t>
            </a:r>
            <a:endParaRPr lang="en-US" sz="2670" dirty="0"/>
          </a:p>
          <a:p>
            <a:pPr algn="l">
              <a:lnSpc>
                <a:spcPct val="150000"/>
              </a:lnSpc>
            </a:pPr>
            <a:r>
              <a:rPr lang="en-US" sz="2670" dirty="0">
                <a:solidFill>
                  <a:srgbClr val="262626"/>
                </a:solidFill>
                <a:latin typeface="Arial" pitchFamily="34" charset="0"/>
                <a:ea typeface="Arial" pitchFamily="34" charset="-122"/>
                <a:cs typeface="Arial" pitchFamily="34" charset="-120"/>
              </a:rPr>
              <a:t> </a:t>
            </a:r>
            <a:endParaRPr lang="en-US" sz="2670" dirty="0"/>
          </a:p>
        </p:txBody>
      </p:sp>
      <p:sp>
        <p:nvSpPr>
          <p:cNvPr id="17" name="Shape 13"/>
          <p:cNvSpPr/>
          <p:nvPr/>
        </p:nvSpPr>
        <p:spPr>
          <a:xfrm>
            <a:off x="1358900" y="3120009"/>
            <a:ext cx="486029" cy="343789"/>
          </a:xfrm>
          <a:prstGeom prst="chevron">
            <a:avLst>
              <a:gd name="adj" fmla="val 50000"/>
            </a:avLst>
          </a:prstGeom>
          <a:solidFill>
            <a:srgbClr val="04579A"/>
          </a:solidFill>
          <a:ln w="12700">
            <a:solidFill>
              <a:srgbClr val="304B73"/>
            </a:solidFill>
            <a:prstDash val="solid"/>
          </a:ln>
        </p:spPr>
      </p:sp>
      <p:sp>
        <p:nvSpPr>
          <p:cNvPr id="18" name="Text 14"/>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7</a:t>
            </a:r>
            <a:endParaRPr lang="en-US" sz="2400" dirty="0"/>
          </a:p>
        </p:txBody>
      </p:sp>
    </p:spTree>
  </p:cSld>
  <p:clrMapOvr>
    <a:masterClrMapping/>
  </p:clrMapOvr>
  <p:transition>
    <p:fade/>
    <p:spd val="med"/>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4449" y="1266571"/>
            <a:ext cx="14303629" cy="665480"/>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3F3F3F"/>
                </a:solidFill>
                <a:latin typeface="Arial" pitchFamily="34" charset="0"/>
                <a:ea typeface="Arial" pitchFamily="34" charset="-122"/>
                <a:cs typeface="Arial" pitchFamily="34" charset="-120"/>
              </a:rPr>
              <a:t>大规模、高并发的交易场景要求分布式数字资产交易协议具有可扩展性</a:t>
            </a:r>
            <a:endParaRPr lang="en-US" sz="2670" dirty="0"/>
          </a:p>
        </p:txBody>
      </p:sp>
      <p:sp>
        <p:nvSpPr>
          <p:cNvPr id="4" name="Shape 1"/>
          <p:cNvSpPr/>
          <p:nvPr/>
        </p:nvSpPr>
        <p:spPr>
          <a:xfrm>
            <a:off x="2219960" y="0"/>
            <a:ext cx="2942209" cy="962660"/>
          </a:xfrm>
          <a:prstGeom prst="rect">
            <a:avLst/>
          </a:prstGeom>
          <a:solidFill>
            <a:srgbClr val="F2F2F2"/>
          </a:solidFill>
          <a:ln w="12700">
            <a:solidFill>
              <a:srgbClr val="F2F2F2"/>
            </a:solidFill>
            <a:prstDash val="solid"/>
          </a:ln>
        </p:spPr>
      </p:sp>
      <p:sp>
        <p:nvSpPr>
          <p:cNvPr id="5" name="Shape 2"/>
          <p:cNvSpPr/>
          <p:nvPr/>
        </p:nvSpPr>
        <p:spPr>
          <a:xfrm>
            <a:off x="5162169" y="-889"/>
            <a:ext cx="2654300" cy="962660"/>
          </a:xfrm>
          <a:prstGeom prst="rect">
            <a:avLst/>
          </a:prstGeom>
          <a:solidFill>
            <a:srgbClr val="F2F2F2"/>
          </a:solidFill>
          <a:ln/>
        </p:spPr>
      </p:sp>
      <p:sp>
        <p:nvSpPr>
          <p:cNvPr id="6" name="Shape 3"/>
          <p:cNvSpPr/>
          <p:nvPr/>
        </p:nvSpPr>
        <p:spPr>
          <a:xfrm>
            <a:off x="7816469" y="-889"/>
            <a:ext cx="4154551" cy="962660"/>
          </a:xfrm>
          <a:prstGeom prst="rect">
            <a:avLst/>
          </a:prstGeom>
          <a:solidFill>
            <a:srgbClr val="F2F2F2"/>
          </a:solidFill>
          <a:ln/>
        </p:spPr>
      </p:sp>
      <p:sp>
        <p:nvSpPr>
          <p:cNvPr id="7" name="Shape 4"/>
          <p:cNvSpPr/>
          <p:nvPr/>
        </p:nvSpPr>
        <p:spPr>
          <a:xfrm>
            <a:off x="11971020" y="0"/>
            <a:ext cx="4284980" cy="961771"/>
          </a:xfrm>
          <a:prstGeom prst="rect">
            <a:avLst/>
          </a:prstGeom>
          <a:solidFill>
            <a:srgbClr val="F2F2F2"/>
          </a:solidFill>
          <a:ln/>
        </p:spPr>
      </p:sp>
      <p:sp>
        <p:nvSpPr>
          <p:cNvPr id="8" name="Shape 5"/>
          <p:cNvSpPr/>
          <p:nvPr/>
        </p:nvSpPr>
        <p:spPr>
          <a:xfrm>
            <a:off x="2219960" y="-889"/>
            <a:ext cx="2942209" cy="962660"/>
          </a:xfrm>
          <a:prstGeom prst="rect">
            <a:avLst/>
          </a:prstGeom>
          <a:solidFill>
            <a:srgbClr val="04579A"/>
          </a:solidFill>
          <a:ln w="12700">
            <a:solidFill>
              <a:srgbClr val="04579A"/>
            </a:solidFill>
            <a:prstDash val="solid"/>
          </a:ln>
        </p:spPr>
      </p:sp>
      <p:sp>
        <p:nvSpPr>
          <p:cNvPr id="9" name="Text 6"/>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FFFFFF"/>
                </a:solidFill>
                <a:latin typeface="Arial" pitchFamily="34" charset="0"/>
                <a:ea typeface="Arial" pitchFamily="34" charset="-122"/>
                <a:cs typeface="Arial" pitchFamily="34" charset="-120"/>
              </a:rPr>
              <a:t>选题背景及意义  </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国内外研究现状</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主要研究内容及预期目标</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工作计划与进度安排</a:t>
            </a:r>
            <a:endParaRPr lang="en-US" sz="2400" dirty="0"/>
          </a:p>
        </p:txBody>
      </p:sp>
      <p:pic>
        <p:nvPicPr>
          <p:cNvPr id="10" name="Image 0" descr="https://kimi-img.moonshot.cn/pub/slides/okc/flfuysioo4gzm/mnt/agents/output/yuan_pptd/images/image_21.jpg">    </p:cNvPr>
          <p:cNvPicPr>
            <a:picLocks noChangeAspect="1"/>
          </p:cNvPicPr>
          <p:nvPr/>
        </p:nvPicPr>
        <p:blipFill>
          <a:blip r:embed="rId1"/>
          <a:srcRect l="5060" r="29000" t="0" b="0"/>
          <a:stretch/>
        </p:blipFill>
        <p:spPr>
          <a:xfrm>
            <a:off x="544449" y="140589"/>
            <a:ext cx="1273429" cy="745871"/>
          </a:xfrm>
          <a:prstGeom prst="rect">
            <a:avLst/>
          </a:prstGeom>
        </p:spPr>
      </p:pic>
      <p:sp>
        <p:nvSpPr>
          <p:cNvPr id="11" name="Shape 7"/>
          <p:cNvSpPr/>
          <p:nvPr/>
        </p:nvSpPr>
        <p:spPr>
          <a:xfrm rot="10800000">
            <a:off x="3496691" y="961771"/>
            <a:ext cx="389509" cy="304800"/>
          </a:xfrm>
          <a:prstGeom prst="triangle">
            <a:avLst>
              <a:gd name="adj" fmla="val 50000"/>
            </a:avLst>
          </a:prstGeom>
          <a:solidFill>
            <a:srgbClr val="04579A"/>
          </a:solidFill>
          <a:ln/>
        </p:spPr>
      </p:sp>
      <p:pic>
        <p:nvPicPr>
          <p:cNvPr id="12" name="Image 1" descr="https://kimi-img.moonshot.cn/pub/slides/okc/flfuysioo4gzm/mnt/agents/output/yuan_pptd/images/image_22.png">    </p:cNvPr>
          <p:cNvPicPr>
            <a:picLocks noChangeAspect="1"/>
          </p:cNvPicPr>
          <p:nvPr/>
        </p:nvPicPr>
        <p:blipFill>
          <a:blip r:embed="rId2"/>
          <a:srcRect l="0" r="0" t="7000" b="7000"/>
          <a:stretch/>
        </p:blipFill>
        <p:spPr>
          <a:xfrm>
            <a:off x="2850515" y="2640330"/>
            <a:ext cx="3750437" cy="2873248"/>
          </a:xfrm>
          <a:prstGeom prst="rect">
            <a:avLst/>
          </a:prstGeom>
        </p:spPr>
      </p:pic>
      <p:sp>
        <p:nvSpPr>
          <p:cNvPr id="13" name="Shape 8"/>
          <p:cNvSpPr/>
          <p:nvPr/>
        </p:nvSpPr>
        <p:spPr>
          <a:xfrm>
            <a:off x="2850515" y="5513578"/>
            <a:ext cx="3750437" cy="746252"/>
          </a:xfrm>
          <a:prstGeom prst="plaque">
            <a:avLst>
              <a:gd name="adj" fmla="val 18633"/>
            </a:avLst>
          </a:prstGeom>
          <a:gradFill rotWithShape="1" flip="none">
            <a:gsLst>
              <a:gs pos="0">
                <a:srgbClr val="9FBFF0"/>
              </a:gs>
              <a:gs pos="60000">
                <a:srgbClr val="005C8F"/>
              </a:gs>
              <a:gs pos="100000">
                <a:srgbClr val="005C8F"/>
              </a:gs>
            </a:gsLst>
            <a:lin ang="2700000" scaled="1"/>
          </a:gradFill>
          <a:ln/>
          <a:effectLst>
            <a:outerShdw sx="100000" sy="100000" kx="0" ky="0" algn="bl" rotWithShape="0" blurRad="76200" dist="50800" dir="60000">
              <a:srgbClr val="6096e6">
                <a:alpha val="20000"/>
              </a:srgbClr>
            </a:outerShdw>
          </a:effectLst>
        </p:spPr>
      </p:sp>
      <p:sp>
        <p:nvSpPr>
          <p:cNvPr id="14" name="Text 9"/>
          <p:cNvSpPr/>
          <p:nvPr/>
        </p:nvSpPr>
        <p:spPr>
          <a:xfrm>
            <a:off x="2850515" y="5513578"/>
            <a:ext cx="3750437" cy="746252"/>
          </a:xfrm>
          <a:prstGeom prst="rect">
            <a:avLst/>
          </a:prstGeom>
          <a:noFill/>
          <a:ln/>
        </p:spPr>
        <p:txBody>
          <a:bodyPr wrap="non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传统金融机构（</a:t>
            </a:r>
            <a:pPr algn="ctr">
              <a:lnSpc>
                <a:spcPct val="120000"/>
              </a:lnSpc>
            </a:pPr>
            <a:r>
              <a:rPr lang="en-US" sz="2400" b="1" dirty="0">
                <a:solidFill>
                  <a:srgbClr val="FFFFFF"/>
                </a:solidFill>
                <a:latin typeface="Arial" pitchFamily="34" charset="0"/>
                <a:ea typeface="Arial" pitchFamily="34" charset="-122"/>
                <a:cs typeface="Arial" pitchFamily="34" charset="-120"/>
              </a:rPr>
              <a:t>Visa</a:t>
            </a:r>
            <a:pPr algn="ctr">
              <a:lnSpc>
                <a:spcPct val="120000"/>
              </a:lnSpc>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15" name="Shape 10"/>
          <p:cNvSpPr/>
          <p:nvPr/>
        </p:nvSpPr>
        <p:spPr>
          <a:xfrm>
            <a:off x="2419858" y="6200140"/>
            <a:ext cx="4611751" cy="1046988"/>
          </a:xfrm>
          <a:prstGeom prst="rect">
            <a:avLst/>
          </a:prstGeom>
          <a:noFill/>
          <a:ln/>
        </p:spPr>
      </p:sp>
      <p:sp>
        <p:nvSpPr>
          <p:cNvPr id="16" name="Text 11"/>
          <p:cNvSpPr/>
          <p:nvPr/>
        </p:nvSpPr>
        <p:spPr>
          <a:xfrm>
            <a:off x="2441956" y="6283198"/>
            <a:ext cx="4567555" cy="880872"/>
          </a:xfrm>
          <a:prstGeom prst="rect">
            <a:avLst/>
          </a:prstGeom>
          <a:noFill/>
          <a:ln/>
        </p:spPr>
        <p:txBody>
          <a:bodyPr wrap="square" lIns="0" tIns="0" rIns="0" bIns="0" rtlCol="0" anchor="t"/>
          <a:lstStyle/>
          <a:p>
            <a:pPr algn="ctr">
              <a:lnSpc>
                <a:spcPct val="130000"/>
              </a:lnSpc>
            </a:pPr>
            <a:r>
              <a:rPr lang="en-US" sz="2400" dirty="0">
                <a:solidFill>
                  <a:srgbClr val="000000"/>
                </a:solidFill>
                <a:latin typeface="Arial" pitchFamily="34" charset="0"/>
                <a:ea typeface="Arial" pitchFamily="34" charset="-122"/>
                <a:cs typeface="Arial" pitchFamily="34" charset="-120"/>
              </a:rPr>
              <a:t>每秒处理峰值超4万笔交易</a:t>
            </a:r>
            <a:endParaRPr lang="en-US" sz="2400" dirty="0"/>
          </a:p>
          <a:p>
            <a:pPr algn="ctr">
              <a:lnSpc>
                <a:spcPct val="130000"/>
              </a:lnSpc>
            </a:pPr>
            <a:r>
              <a:rPr lang="en-US" sz="2400" dirty="0">
                <a:solidFill>
                  <a:srgbClr val="000000"/>
                </a:solidFill>
                <a:latin typeface="Arial" pitchFamily="34" charset="0"/>
                <a:ea typeface="Arial" pitchFamily="34" charset="-122"/>
                <a:cs typeface="Arial" pitchFamily="34" charset="-120"/>
              </a:rPr>
              <a:t>每笔交易确认延时为毫秒级</a:t>
            </a:r>
            <a:endParaRPr lang="en-US" sz="2400" dirty="0"/>
          </a:p>
        </p:txBody>
      </p:sp>
      <p:pic>
        <p:nvPicPr>
          <p:cNvPr id="17" name="Image 2" descr="https://kimi-img.moonshot.cn/pub/slides/okc/flfuysioo4gzm/mnt/agents/output/yuan_pptd/images/image_23.png">    </p:cNvPr>
          <p:cNvPicPr>
            <a:picLocks noChangeAspect="1"/>
          </p:cNvPicPr>
          <p:nvPr/>
        </p:nvPicPr>
        <p:blipFill>
          <a:blip r:embed="rId3"/>
          <a:srcRect l="50" r="50" t="0" b="0"/>
          <a:stretch/>
        </p:blipFill>
        <p:spPr>
          <a:xfrm>
            <a:off x="9655048" y="2640330"/>
            <a:ext cx="3750437" cy="2873248"/>
          </a:xfrm>
          <a:prstGeom prst="rect">
            <a:avLst/>
          </a:prstGeom>
        </p:spPr>
      </p:pic>
      <p:sp>
        <p:nvSpPr>
          <p:cNvPr id="18" name="Shape 12"/>
          <p:cNvSpPr/>
          <p:nvPr/>
        </p:nvSpPr>
        <p:spPr>
          <a:xfrm>
            <a:off x="9655048" y="5513578"/>
            <a:ext cx="3750437" cy="746252"/>
          </a:xfrm>
          <a:prstGeom prst="plaque">
            <a:avLst>
              <a:gd name="adj" fmla="val 18633"/>
            </a:avLst>
          </a:prstGeom>
          <a:gradFill rotWithShape="1" flip="none">
            <a:gsLst>
              <a:gs pos="0">
                <a:srgbClr val="9FBFF0"/>
              </a:gs>
              <a:gs pos="60000">
                <a:srgbClr val="005C8F"/>
              </a:gs>
              <a:gs pos="100000">
                <a:srgbClr val="005C8F"/>
              </a:gs>
            </a:gsLst>
            <a:lin ang="2700000" scaled="1"/>
          </a:gradFill>
          <a:ln/>
          <a:effectLst>
            <a:outerShdw sx="100000" sy="100000" kx="0" ky="0" algn="bl" rotWithShape="0" blurRad="76200" dist="50800" dir="60000">
              <a:srgbClr val="6096e6">
                <a:alpha val="20000"/>
              </a:srgbClr>
            </a:outerShdw>
          </a:effectLst>
        </p:spPr>
      </p:sp>
      <p:sp>
        <p:nvSpPr>
          <p:cNvPr id="19" name="Text 13"/>
          <p:cNvSpPr/>
          <p:nvPr/>
        </p:nvSpPr>
        <p:spPr>
          <a:xfrm>
            <a:off x="9655048" y="5513578"/>
            <a:ext cx="3750437" cy="746252"/>
          </a:xfrm>
          <a:prstGeom prst="rect">
            <a:avLst/>
          </a:prstGeom>
          <a:noFill/>
          <a:ln/>
        </p:spPr>
        <p:txBody>
          <a:bodyPr wrap="non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区块链交易（比特币）</a:t>
            </a:r>
            <a:endParaRPr lang="en-US" sz="2400" dirty="0"/>
          </a:p>
        </p:txBody>
      </p:sp>
      <p:sp>
        <p:nvSpPr>
          <p:cNvPr id="20" name="Shape 14"/>
          <p:cNvSpPr/>
          <p:nvPr/>
        </p:nvSpPr>
        <p:spPr>
          <a:xfrm>
            <a:off x="9224391" y="6200140"/>
            <a:ext cx="4611751" cy="1046988"/>
          </a:xfrm>
          <a:prstGeom prst="rect">
            <a:avLst/>
          </a:prstGeom>
          <a:noFill/>
          <a:ln/>
        </p:spPr>
      </p:sp>
      <p:sp>
        <p:nvSpPr>
          <p:cNvPr id="21" name="Text 15"/>
          <p:cNvSpPr/>
          <p:nvPr/>
        </p:nvSpPr>
        <p:spPr>
          <a:xfrm>
            <a:off x="9246489" y="6283198"/>
            <a:ext cx="4567555" cy="880872"/>
          </a:xfrm>
          <a:prstGeom prst="rect">
            <a:avLst/>
          </a:prstGeom>
          <a:noFill/>
          <a:ln/>
        </p:spPr>
        <p:txBody>
          <a:bodyPr wrap="square" lIns="0" tIns="0" rIns="0" bIns="0" rtlCol="0" anchor="t"/>
          <a:lstStyle/>
          <a:p>
            <a:pPr algn="ctr">
              <a:lnSpc>
                <a:spcPct val="130000"/>
              </a:lnSpc>
            </a:pPr>
            <a:r>
              <a:rPr lang="en-US" sz="2400" dirty="0">
                <a:solidFill>
                  <a:srgbClr val="000000"/>
                </a:solidFill>
                <a:latin typeface="Arial" pitchFamily="34" charset="0"/>
                <a:ea typeface="Arial" pitchFamily="34" charset="-122"/>
                <a:cs typeface="Arial" pitchFamily="34" charset="-120"/>
              </a:rPr>
              <a:t>每秒处理峰值7-10笔交易</a:t>
            </a:r>
            <a:endParaRPr lang="en-US" sz="2400" dirty="0"/>
          </a:p>
          <a:p>
            <a:pPr algn="ctr">
              <a:lnSpc>
                <a:spcPct val="130000"/>
              </a:lnSpc>
            </a:pPr>
            <a:r>
              <a:rPr lang="en-US" sz="2400" dirty="0">
                <a:solidFill>
                  <a:srgbClr val="000000"/>
                </a:solidFill>
                <a:latin typeface="Arial" pitchFamily="34" charset="0"/>
                <a:ea typeface="Arial" pitchFamily="34" charset="-122"/>
                <a:cs typeface="Arial" pitchFamily="34" charset="-120"/>
              </a:rPr>
              <a:t>每笔交易确认延时约1小时</a:t>
            </a:r>
            <a:endParaRPr lang="en-US" sz="2400" dirty="0"/>
          </a:p>
        </p:txBody>
      </p:sp>
      <p:sp>
        <p:nvSpPr>
          <p:cNvPr id="22" name="Text 16"/>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8</a:t>
            </a:r>
            <a:endParaRPr lang="en-US" sz="2400" dirty="0"/>
          </a:p>
        </p:txBody>
      </p:sp>
    </p:spTree>
  </p:cSld>
  <p:clrMapOvr>
    <a:masterClrMapping/>
  </p:clrMapOvr>
  <p:transition>
    <p:fade/>
    <p:spd val="med"/>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2219960" y="0"/>
            <a:ext cx="2942209" cy="962660"/>
          </a:xfrm>
          <a:prstGeom prst="rect">
            <a:avLst/>
          </a:prstGeom>
          <a:solidFill>
            <a:srgbClr val="F2F2F2"/>
          </a:solidFill>
          <a:ln w="12700">
            <a:solidFill>
              <a:srgbClr val="F2F2F2"/>
            </a:solidFill>
            <a:prstDash val="solid"/>
          </a:ln>
        </p:spPr>
      </p:sp>
      <p:sp>
        <p:nvSpPr>
          <p:cNvPr id="4" name="Shape 1"/>
          <p:cNvSpPr/>
          <p:nvPr/>
        </p:nvSpPr>
        <p:spPr>
          <a:xfrm>
            <a:off x="5162169" y="-889"/>
            <a:ext cx="2654300" cy="962660"/>
          </a:xfrm>
          <a:prstGeom prst="rect">
            <a:avLst/>
          </a:prstGeom>
          <a:solidFill>
            <a:srgbClr val="F2F2F2"/>
          </a:solidFill>
          <a:ln/>
        </p:spPr>
      </p:sp>
      <p:sp>
        <p:nvSpPr>
          <p:cNvPr id="5" name="Shape 2"/>
          <p:cNvSpPr/>
          <p:nvPr/>
        </p:nvSpPr>
        <p:spPr>
          <a:xfrm>
            <a:off x="7816469" y="-889"/>
            <a:ext cx="4154551" cy="962660"/>
          </a:xfrm>
          <a:prstGeom prst="rect">
            <a:avLst/>
          </a:prstGeom>
          <a:solidFill>
            <a:srgbClr val="F2F2F2"/>
          </a:solidFill>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942209" cy="962660"/>
          </a:xfrm>
          <a:prstGeom prst="rect">
            <a:avLst/>
          </a:prstGeom>
          <a:solidFill>
            <a:srgbClr val="04579A"/>
          </a:solidFill>
          <a:ln w="12700">
            <a:solidFill>
              <a:srgbClr val="04579A"/>
            </a:solidFill>
            <a:prstDash val="solid"/>
          </a:ln>
        </p:spPr>
      </p:sp>
      <p:sp>
        <p:nvSpPr>
          <p:cNvPr id="8" name="Text 5"/>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FFFFFF"/>
                </a:solidFill>
                <a:latin typeface="Arial" pitchFamily="34" charset="0"/>
                <a:ea typeface="Arial" pitchFamily="34" charset="-122"/>
                <a:cs typeface="Arial" pitchFamily="34" charset="-120"/>
              </a:rPr>
              <a:t>选题背景及意义  </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国内外研究现状</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主要研究内容及预期目标</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工作计划与进度安排</a:t>
            </a:r>
            <a:endParaRPr lang="en-US" sz="2400" dirty="0"/>
          </a:p>
        </p:txBody>
      </p:sp>
      <p:pic>
        <p:nvPicPr>
          <p:cNvPr id="9" name="Image 0" descr="https://kimi-img.moonshot.cn/pub/slides/okc/flfuysioo4gzm/mnt/agents/output/yuan_pptd/images/image_21.jpg">    </p:cNvPr>
          <p:cNvPicPr>
            <a:picLocks noChangeAspect="1"/>
          </p:cNvPicPr>
          <p:nvPr/>
        </p:nvPicPr>
        <p:blipFill>
          <a:blip r:embed="rId1"/>
          <a:srcRect l="5060" r="29000" t="0" b="0"/>
          <a:stretch/>
        </p:blipFill>
        <p:spPr>
          <a:xfrm>
            <a:off x="544449" y="140589"/>
            <a:ext cx="1273429" cy="745871"/>
          </a:xfrm>
          <a:prstGeom prst="rect">
            <a:avLst/>
          </a:prstGeom>
        </p:spPr>
      </p:pic>
      <p:sp>
        <p:nvSpPr>
          <p:cNvPr id="10" name="Shape 6"/>
          <p:cNvSpPr/>
          <p:nvPr/>
        </p:nvSpPr>
        <p:spPr>
          <a:xfrm rot="10800000">
            <a:off x="3496691" y="961771"/>
            <a:ext cx="389509" cy="304800"/>
          </a:xfrm>
          <a:prstGeom prst="triangle">
            <a:avLst>
              <a:gd name="adj" fmla="val 50000"/>
            </a:avLst>
          </a:prstGeom>
          <a:solidFill>
            <a:srgbClr val="04579A"/>
          </a:solidFill>
          <a:ln/>
        </p:spPr>
      </p:sp>
      <p:pic>
        <p:nvPicPr>
          <p:cNvPr id="11" name="Image 1" descr="https://kimi-img.moonshot.cn/pub/slides/okc/flfuysioo4gzm/mnt/agents/output/yuan_pptd/images/image_24.png">    </p:cNvPr>
          <p:cNvPicPr>
            <a:picLocks noChangeAspect="1"/>
          </p:cNvPicPr>
          <p:nvPr/>
        </p:nvPicPr>
        <p:blipFill>
          <a:blip r:embed="rId2"/>
          <a:stretch>
            <a:fillRect/>
          </a:stretch>
        </p:blipFill>
        <p:spPr>
          <a:xfrm>
            <a:off x="7885049" y="2455164"/>
            <a:ext cx="6821932" cy="5398897"/>
          </a:xfrm>
          <a:prstGeom prst="rect">
            <a:avLst/>
          </a:prstGeom>
        </p:spPr>
      </p:pic>
      <p:sp>
        <p:nvSpPr>
          <p:cNvPr id="12" name="Text 7"/>
          <p:cNvSpPr/>
          <p:nvPr/>
        </p:nvSpPr>
        <p:spPr>
          <a:xfrm>
            <a:off x="7414133" y="2674239"/>
            <a:ext cx="941959" cy="615569"/>
          </a:xfrm>
          <a:prstGeom prst="rect">
            <a:avLst/>
          </a:prstGeom>
          <a:noFill/>
          <a:ln/>
        </p:spPr>
        <p:txBody>
          <a:bodyPr wrap="square" lIns="0" tIns="0" rIns="0" bIns="0" rtlCol="0" anchor="t"/>
          <a:lstStyle/>
          <a:p>
            <a:pPr algn="ctr">
              <a:lnSpc>
                <a:spcPct val="120000"/>
              </a:lnSpc>
            </a:pPr>
            <a:r>
              <a:rPr lang="en-US" sz="1600" dirty="0">
                <a:solidFill>
                  <a:srgbClr val="000000"/>
                </a:solidFill>
                <a:latin typeface="Arial" pitchFamily="34" charset="0"/>
                <a:ea typeface="Arial" pitchFamily="34" charset="-122"/>
                <a:cs typeface="Arial" pitchFamily="34" charset="-120"/>
              </a:rPr>
              <a:t>吞吐量(tx/s)</a:t>
            </a:r>
            <a:endParaRPr lang="en-US" sz="1600" dirty="0"/>
          </a:p>
        </p:txBody>
      </p:sp>
      <p:sp>
        <p:nvSpPr>
          <p:cNvPr id="13" name="Text 8"/>
          <p:cNvSpPr/>
          <p:nvPr/>
        </p:nvSpPr>
        <p:spPr>
          <a:xfrm>
            <a:off x="13441807" y="7727061"/>
            <a:ext cx="1831975" cy="369316"/>
          </a:xfrm>
          <a:prstGeom prst="rect">
            <a:avLst/>
          </a:prstGeom>
          <a:noFill/>
          <a:ln/>
        </p:spPr>
        <p:txBody>
          <a:bodyPr wrap="square" lIns="0" tIns="0" rIns="0" bIns="0" rtlCol="0" anchor="t"/>
          <a:lstStyle/>
          <a:p>
            <a:pPr algn="ctr">
              <a:lnSpc>
                <a:spcPct val="120000"/>
              </a:lnSpc>
            </a:pPr>
            <a:r>
              <a:rPr lang="en-US" sz="1600" dirty="0">
                <a:solidFill>
                  <a:srgbClr val="000000"/>
                </a:solidFill>
                <a:latin typeface="Arial" pitchFamily="34" charset="0"/>
                <a:ea typeface="Arial" pitchFamily="34" charset="-122"/>
                <a:cs typeface="Arial" pitchFamily="34" charset="-120"/>
              </a:rPr>
              <a:t>共识节点个数/个</a:t>
            </a:r>
            <a:endParaRPr lang="en-US" sz="1600" dirty="0"/>
          </a:p>
        </p:txBody>
      </p:sp>
      <p:sp>
        <p:nvSpPr>
          <p:cNvPr id="14" name="Shape 9"/>
          <p:cNvSpPr/>
          <p:nvPr/>
        </p:nvSpPr>
        <p:spPr>
          <a:xfrm>
            <a:off x="1011682" y="4833874"/>
            <a:ext cx="5498211" cy="2611120"/>
          </a:xfrm>
          <a:prstGeom prst="rect">
            <a:avLst/>
          </a:prstGeom>
          <a:solidFill>
            <a:srgbClr val="FFFFFF"/>
          </a:solidFill>
          <a:ln w="12700">
            <a:solidFill>
              <a:srgbClr val="3F3F3F"/>
            </a:solidFill>
            <a:prstDash val="solid"/>
          </a:ln>
        </p:spPr>
      </p:sp>
      <p:sp>
        <p:nvSpPr>
          <p:cNvPr id="15" name="Shape 10"/>
          <p:cNvSpPr/>
          <p:nvPr/>
        </p:nvSpPr>
        <p:spPr>
          <a:xfrm>
            <a:off x="995299" y="5186807"/>
            <a:ext cx="328930" cy="495935"/>
          </a:xfrm>
          <a:prstGeom prst="rect">
            <a:avLst/>
          </a:prstGeom>
          <a:solidFill>
            <a:srgbClr val="FFFFFF"/>
          </a:solidFill>
          <a:ln/>
        </p:spPr>
      </p:sp>
      <p:sp>
        <p:nvSpPr>
          <p:cNvPr id="16" name="Shape 11"/>
          <p:cNvSpPr/>
          <p:nvPr/>
        </p:nvSpPr>
        <p:spPr>
          <a:xfrm rot="10800000">
            <a:off x="753364" y="5186807"/>
            <a:ext cx="570865" cy="471551"/>
          </a:xfrm>
          <a:custGeom>
            <a:avLst/>
            <a:gdLst/>
            <a:ahLst/>
            <a:cxnLst/>
            <a:rect l="l" t="t" r="r" b="b"/>
            <a:pathLst>
              <a:path w="570865" h="471551">
                <a:moveTo>
                  <a:pt x="0" y="0"/>
                </a:moveTo>
                <a:lnTo>
                  <a:pt x="240319" y="0"/>
                </a:lnTo>
                <a:lnTo>
                  <a:pt x="240319" y="165636"/>
                </a:lnTo>
                <a:cubicBezTo>
                  <a:pt x="240319" y="233209"/>
                  <a:pt x="234190" y="286223"/>
                  <a:pt x="221932" y="324679"/>
                </a:cubicBezTo>
                <a:cubicBezTo>
                  <a:pt x="209674" y="363136"/>
                  <a:pt x="196926" y="388808"/>
                  <a:pt x="163572" y="419573"/>
                </a:cubicBezTo>
                <a:cubicBezTo>
                  <a:pt x="130218" y="450338"/>
                  <a:pt x="107075" y="459570"/>
                  <a:pt x="58117" y="471551"/>
                </a:cubicBezTo>
                <a:lnTo>
                  <a:pt x="23914" y="401251"/>
                </a:lnTo>
                <a:cubicBezTo>
                  <a:pt x="58117" y="388761"/>
                  <a:pt x="78955" y="383190"/>
                  <a:pt x="111093" y="351327"/>
                </a:cubicBezTo>
                <a:cubicBezTo>
                  <a:pt x="143232" y="319463"/>
                  <a:pt x="145603" y="288644"/>
                  <a:pt x="145603" y="262154"/>
                </a:cubicBezTo>
                <a:lnTo>
                  <a:pt x="0" y="262154"/>
                </a:lnTo>
                <a:close/>
                <a:moveTo>
                  <a:pt x="330546" y="0"/>
                </a:moveTo>
                <a:lnTo>
                  <a:pt x="570865" y="0"/>
                </a:lnTo>
                <a:lnTo>
                  <a:pt x="570865" y="165636"/>
                </a:lnTo>
                <a:cubicBezTo>
                  <a:pt x="570865" y="233209"/>
                  <a:pt x="564736" y="286223"/>
                  <a:pt x="552478" y="324679"/>
                </a:cubicBezTo>
                <a:cubicBezTo>
                  <a:pt x="540219" y="363136"/>
                  <a:pt x="527472" y="388808"/>
                  <a:pt x="494118" y="419573"/>
                </a:cubicBezTo>
                <a:cubicBezTo>
                  <a:pt x="460764" y="450338"/>
                  <a:pt x="437621" y="459570"/>
                  <a:pt x="388663" y="471551"/>
                </a:cubicBezTo>
                <a:lnTo>
                  <a:pt x="354460" y="401251"/>
                </a:lnTo>
                <a:cubicBezTo>
                  <a:pt x="388663" y="388761"/>
                  <a:pt x="409501" y="383190"/>
                  <a:pt x="441639" y="351327"/>
                </a:cubicBezTo>
                <a:cubicBezTo>
                  <a:pt x="473778" y="319463"/>
                  <a:pt x="476148" y="288644"/>
                  <a:pt x="476148" y="262154"/>
                </a:cubicBezTo>
                <a:lnTo>
                  <a:pt x="330546" y="262154"/>
                </a:lnTo>
                <a:close/>
              </a:path>
            </a:pathLst>
          </a:custGeom>
          <a:solidFill>
            <a:srgbClr val="005C8F"/>
          </a:solidFill>
          <a:ln/>
        </p:spPr>
      </p:sp>
      <p:sp>
        <p:nvSpPr>
          <p:cNvPr id="17" name="Text 12"/>
          <p:cNvSpPr/>
          <p:nvPr/>
        </p:nvSpPr>
        <p:spPr>
          <a:xfrm>
            <a:off x="1297305" y="5014214"/>
            <a:ext cx="5041265" cy="2052320"/>
          </a:xfrm>
          <a:prstGeom prst="rect">
            <a:avLst/>
          </a:prstGeom>
          <a:noFill/>
          <a:ln/>
        </p:spPr>
        <p:txBody>
          <a:bodyPr wrap="square" lIns="0" tIns="0" rIns="0" bIns="0" rtlCol="0" anchor="t"/>
          <a:lstStyle/>
          <a:p>
            <a:pPr algn="l">
              <a:lnSpc>
                <a:spcPct val="120000"/>
              </a:lnSpc>
              <a:spcBef>
                <a:spcPts val="1067"/>
              </a:spcBef>
            </a:pPr>
            <a:r>
              <a:rPr lang="en-US" sz="1870" spc="-65" kern="0" dirty="0">
                <a:solidFill>
                  <a:srgbClr val="000000"/>
                </a:solidFill>
                <a:latin typeface="MiSans" pitchFamily="34" charset="0"/>
                <a:ea typeface="MiSans" pitchFamily="34" charset="-122"/>
                <a:cs typeface="MiSans" pitchFamily="34" charset="-120"/>
              </a:rPr>
              <a:t>The blockchain scalability trilemma is a conjecture that states that </a:t>
            </a:r>
            <a:pPr algn="l">
              <a:lnSpc>
                <a:spcPct val="120000"/>
              </a:lnSpc>
              <a:spcBef>
                <a:spcPts val="1067"/>
              </a:spcBef>
            </a:pPr>
            <a:r>
              <a:rPr lang="en-US" sz="1870" b="1" spc="-65" kern="0" dirty="0">
                <a:solidFill>
                  <a:srgbClr val="5E74BA"/>
                </a:solidFill>
                <a:latin typeface="MiSans" pitchFamily="34" charset="0"/>
                <a:ea typeface="MiSans" pitchFamily="34" charset="-122"/>
                <a:cs typeface="MiSans" pitchFamily="34" charset="-120"/>
              </a:rPr>
              <a:t>no blockchain system can provide all properties simultaneously</a:t>
            </a:r>
            <a:pPr algn="l">
              <a:lnSpc>
                <a:spcPct val="120000"/>
              </a:lnSpc>
              <a:spcBef>
                <a:spcPts val="1067"/>
              </a:spcBef>
            </a:pPr>
            <a:r>
              <a:rPr lang="en-US" sz="1870" spc="-65" kern="0" dirty="0">
                <a:solidFill>
                  <a:srgbClr val="000000"/>
                </a:solidFill>
                <a:latin typeface="MiSans" pitchFamily="34" charset="0"/>
                <a:ea typeface="MiSans" pitchFamily="34" charset="-122"/>
                <a:cs typeface="MiSans" pitchFamily="34" charset="-120"/>
              </a:rPr>
              <a:t>. Consequently, every blockchain forfeits at least one property at any given time.</a:t>
            </a:r>
            <a:endParaRPr lang="en-US" sz="1870" dirty="0"/>
          </a:p>
        </p:txBody>
      </p:sp>
      <p:sp>
        <p:nvSpPr>
          <p:cNvPr id="18" name="Text 13"/>
          <p:cNvSpPr/>
          <p:nvPr/>
        </p:nvSpPr>
        <p:spPr>
          <a:xfrm>
            <a:off x="2991993" y="6880352"/>
            <a:ext cx="3007360" cy="438531"/>
          </a:xfrm>
          <a:prstGeom prst="rect">
            <a:avLst/>
          </a:prstGeom>
          <a:noFill/>
          <a:ln/>
        </p:spPr>
        <p:txBody>
          <a:bodyPr wrap="square" lIns="0" tIns="0" rIns="0" bIns="0" rtlCol="0" anchor="t"/>
          <a:lstStyle/>
          <a:p>
            <a:pPr algn="r">
              <a:lnSpc>
                <a:spcPct val="120000"/>
              </a:lnSpc>
              <a:spcBef>
                <a:spcPts val="1067"/>
              </a:spcBef>
            </a:pPr>
            <a:r>
              <a:rPr lang="en-US" sz="1870" dirty="0">
                <a:solidFill>
                  <a:srgbClr val="000000"/>
                </a:solidFill>
                <a:latin typeface="MiSans" pitchFamily="34" charset="0"/>
                <a:ea typeface="MiSans" pitchFamily="34" charset="-122"/>
                <a:cs typeface="MiSans" pitchFamily="34" charset="-120"/>
              </a:rPr>
              <a:t>——Vitalik Buterin. </a:t>
            </a:r>
            <a:endParaRPr lang="en-US" sz="1870" dirty="0"/>
          </a:p>
        </p:txBody>
      </p:sp>
      <p:sp>
        <p:nvSpPr>
          <p:cNvPr id="19" name="Text 14"/>
          <p:cNvSpPr/>
          <p:nvPr/>
        </p:nvSpPr>
        <p:spPr>
          <a:xfrm>
            <a:off x="831723" y="2125853"/>
            <a:ext cx="5498211" cy="492506"/>
          </a:xfrm>
          <a:prstGeom prst="rect">
            <a:avLst/>
          </a:prstGeom>
          <a:noFill/>
          <a:ln/>
        </p:spPr>
        <p:txBody>
          <a:bodyPr wrap="square" lIns="0" tIns="0" rIns="0" bIns="0" rtlCol="0" anchor="t"/>
          <a:lstStyle/>
          <a:p>
            <a:pPr algn="l">
              <a:lnSpc>
                <a:spcPct val="120000"/>
              </a:lnSpc>
            </a:pPr>
            <a:r>
              <a:rPr lang="en-US" sz="2400" b="1" dirty="0">
                <a:solidFill>
                  <a:srgbClr val="000000"/>
                </a:solidFill>
                <a:latin typeface="Arial" pitchFamily="34" charset="0"/>
                <a:ea typeface="Arial" pitchFamily="34" charset="-122"/>
                <a:cs typeface="Arial" pitchFamily="34" charset="-120"/>
              </a:rPr>
              <a:t>区块链可扩展性三元悖论</a:t>
            </a:r>
            <a:endParaRPr lang="en-US" sz="2400" dirty="0"/>
          </a:p>
        </p:txBody>
      </p:sp>
      <p:sp>
        <p:nvSpPr>
          <p:cNvPr id="20" name="Text 15"/>
          <p:cNvSpPr/>
          <p:nvPr/>
        </p:nvSpPr>
        <p:spPr>
          <a:xfrm>
            <a:off x="918337" y="2886964"/>
            <a:ext cx="5700141" cy="1600454"/>
          </a:xfrm>
          <a:prstGeom prst="rect">
            <a:avLst/>
          </a:prstGeom>
          <a:noFill/>
          <a:ln/>
        </p:spPr>
        <p:txBody>
          <a:bodyPr wrap="square" lIns="0" tIns="0" rIns="0" bIns="0" rtlCol="0" anchor="t"/>
          <a:lstStyle/>
          <a:p>
            <a:pPr algn="l">
              <a:lnSpc>
                <a:spcPct val="150000"/>
              </a:lnSpc>
            </a:pPr>
            <a:r>
              <a:rPr lang="en-US" sz="2400" dirty="0">
                <a:solidFill>
                  <a:srgbClr val="000000"/>
                </a:solidFill>
                <a:latin typeface="Arial" pitchFamily="34" charset="0"/>
                <a:ea typeface="Arial" pitchFamily="34" charset="-122"/>
                <a:cs typeface="Arial" pitchFamily="34" charset="-120"/>
              </a:rPr>
              <a:t>在保证安全性的前提下，</a:t>
            </a:r>
            <a:endParaRPr lang="en-US" sz="2400" dirty="0"/>
          </a:p>
          <a:p>
            <a:pPr algn="l">
              <a:lnSpc>
                <a:spcPct val="150000"/>
              </a:lnSpc>
            </a:pPr>
            <a:r>
              <a:rPr lang="en-US" sz="2400" dirty="0">
                <a:solidFill>
                  <a:srgbClr val="000000"/>
                </a:solidFill>
                <a:latin typeface="Arial" pitchFamily="34" charset="0"/>
                <a:ea typeface="Arial" pitchFamily="34" charset="-122"/>
                <a:cs typeface="Arial" pitchFamily="34" charset="-120"/>
              </a:rPr>
              <a:t>吞吐量           去中心化程度 </a:t>
            </a:r>
            <a:endParaRPr lang="en-US" sz="2400" dirty="0"/>
          </a:p>
          <a:p>
            <a:pPr algn="l">
              <a:lnSpc>
                <a:spcPct val="150000"/>
              </a:lnSpc>
            </a:pPr>
            <a:r>
              <a:rPr lang="en-US" sz="2400" dirty="0">
                <a:solidFill>
                  <a:srgbClr val="000000"/>
                </a:solidFill>
                <a:latin typeface="Arial" pitchFamily="34" charset="0"/>
                <a:ea typeface="Arial" pitchFamily="34" charset="-122"/>
                <a:cs typeface="Arial" pitchFamily="34" charset="-120"/>
              </a:rPr>
              <a:t>吞吐量           去中心化程度</a:t>
            </a:r>
            <a:endParaRPr lang="en-US" sz="2400" dirty="0"/>
          </a:p>
        </p:txBody>
      </p:sp>
      <p:sp>
        <p:nvSpPr>
          <p:cNvPr id="21" name="Shape 16"/>
          <p:cNvSpPr/>
          <p:nvPr/>
        </p:nvSpPr>
        <p:spPr>
          <a:xfrm>
            <a:off x="2219960" y="4126357"/>
            <a:ext cx="208280" cy="295529"/>
          </a:xfrm>
          <a:prstGeom prst="downArrow">
            <a:avLst>
              <a:gd name="adj1" fmla="val 50000"/>
              <a:gd name="adj2" fmla="val 50000"/>
            </a:avLst>
          </a:prstGeom>
          <a:solidFill>
            <a:srgbClr val="E9451F"/>
          </a:solidFill>
          <a:ln w="12700">
            <a:solidFill>
              <a:srgbClr val="0E1622"/>
            </a:solidFill>
            <a:prstDash val="solid"/>
          </a:ln>
        </p:spPr>
      </p:sp>
      <p:sp>
        <p:nvSpPr>
          <p:cNvPr id="22" name="Shape 17"/>
          <p:cNvSpPr/>
          <p:nvPr/>
        </p:nvSpPr>
        <p:spPr>
          <a:xfrm>
            <a:off x="5099050" y="3656965"/>
            <a:ext cx="208280" cy="295529"/>
          </a:xfrm>
          <a:prstGeom prst="downArrow">
            <a:avLst>
              <a:gd name="adj1" fmla="val 50000"/>
              <a:gd name="adj2" fmla="val 50000"/>
            </a:avLst>
          </a:prstGeom>
          <a:solidFill>
            <a:srgbClr val="E9451F"/>
          </a:solidFill>
          <a:ln w="12700">
            <a:solidFill>
              <a:srgbClr val="0E1622"/>
            </a:solidFill>
            <a:prstDash val="solid"/>
          </a:ln>
        </p:spPr>
      </p:sp>
      <p:sp>
        <p:nvSpPr>
          <p:cNvPr id="23" name="Shape 18"/>
          <p:cNvSpPr/>
          <p:nvPr/>
        </p:nvSpPr>
        <p:spPr>
          <a:xfrm rot="10800000">
            <a:off x="2219960" y="3656965"/>
            <a:ext cx="208280" cy="295529"/>
          </a:xfrm>
          <a:prstGeom prst="downArrow">
            <a:avLst>
              <a:gd name="adj1" fmla="val 50000"/>
              <a:gd name="adj2" fmla="val 50000"/>
            </a:avLst>
          </a:prstGeom>
          <a:solidFill>
            <a:srgbClr val="005C8F"/>
          </a:solidFill>
          <a:ln w="12700">
            <a:solidFill>
              <a:srgbClr val="0E1622"/>
            </a:solidFill>
            <a:prstDash val="solid"/>
          </a:ln>
        </p:spPr>
      </p:sp>
      <p:sp>
        <p:nvSpPr>
          <p:cNvPr id="24" name="Shape 19"/>
          <p:cNvSpPr/>
          <p:nvPr/>
        </p:nvSpPr>
        <p:spPr>
          <a:xfrm rot="10800000">
            <a:off x="5099050" y="4126357"/>
            <a:ext cx="208280" cy="295529"/>
          </a:xfrm>
          <a:prstGeom prst="downArrow">
            <a:avLst>
              <a:gd name="adj1" fmla="val 50000"/>
              <a:gd name="adj2" fmla="val 50000"/>
            </a:avLst>
          </a:prstGeom>
          <a:solidFill>
            <a:srgbClr val="005C8F"/>
          </a:solidFill>
          <a:ln w="12700">
            <a:solidFill>
              <a:srgbClr val="0E1622"/>
            </a:solidFill>
            <a:prstDash val="solid"/>
          </a:ln>
        </p:spPr>
      </p:sp>
      <p:sp>
        <p:nvSpPr>
          <p:cNvPr id="25" name="Text 20"/>
          <p:cNvSpPr/>
          <p:nvPr/>
        </p:nvSpPr>
        <p:spPr>
          <a:xfrm>
            <a:off x="544449" y="1266571"/>
            <a:ext cx="14303629" cy="665480"/>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3F3F3F"/>
                </a:solidFill>
                <a:latin typeface="Arial" pitchFamily="34" charset="0"/>
                <a:ea typeface="Arial" pitchFamily="34" charset="-122"/>
                <a:cs typeface="Arial" pitchFamily="34" charset="-120"/>
              </a:rPr>
              <a:t>大规模、高并发的交易场景要求分布式数字资产交易协议具有可扩展性</a:t>
            </a:r>
            <a:endParaRPr lang="en-US" sz="2670" dirty="0"/>
          </a:p>
        </p:txBody>
      </p:sp>
      <p:sp>
        <p:nvSpPr>
          <p:cNvPr id="26" name="Text 21"/>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9</a:t>
            </a:r>
            <a:endParaRPr lang="en-US" sz="2400" dirty="0"/>
          </a:p>
        </p:txBody>
      </p:sp>
    </p:spTree>
  </p:cSld>
  <p:clrMapOvr>
    <a:masterClrMapping/>
  </p:clrMapOvr>
  <p:transition>
    <p:fade/>
    <p:spd val="med"/>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9404477" y="2586101"/>
            <a:ext cx="1862709" cy="508000"/>
          </a:xfrm>
          <a:prstGeom prst="roundRect">
            <a:avLst>
              <a:gd name="adj" fmla="val 50000"/>
            </a:avLst>
          </a:prstGeom>
          <a:solidFill>
            <a:srgbClr val="04579A"/>
          </a:solidFill>
          <a:ln/>
        </p:spPr>
      </p:sp>
      <p:sp>
        <p:nvSpPr>
          <p:cNvPr id="4" name="Shape 1"/>
          <p:cNvSpPr/>
          <p:nvPr/>
        </p:nvSpPr>
        <p:spPr>
          <a:xfrm>
            <a:off x="6464046" y="2586990"/>
            <a:ext cx="1693291" cy="508000"/>
          </a:xfrm>
          <a:prstGeom prst="roundRect">
            <a:avLst>
              <a:gd name="adj" fmla="val 50000"/>
            </a:avLst>
          </a:prstGeom>
          <a:solidFill>
            <a:srgbClr val="04579A"/>
          </a:solidFill>
          <a:ln/>
        </p:spPr>
      </p:sp>
      <p:sp>
        <p:nvSpPr>
          <p:cNvPr id="5" name="Shape 2"/>
          <p:cNvSpPr/>
          <p:nvPr/>
        </p:nvSpPr>
        <p:spPr>
          <a:xfrm>
            <a:off x="4025646" y="2586101"/>
            <a:ext cx="1693291" cy="508000"/>
          </a:xfrm>
          <a:prstGeom prst="roundRect">
            <a:avLst>
              <a:gd name="adj" fmla="val 50000"/>
            </a:avLst>
          </a:prstGeom>
          <a:solidFill>
            <a:srgbClr val="04579A"/>
          </a:solidFill>
          <a:ln/>
        </p:spPr>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3924046" y="2509139"/>
          <a:ext cx="7891780" cy="2211451"/>
        </p:xfrm>
        <a:graphic>
          <a:graphicData uri="http://schemas.openxmlformats.org/drawingml/2006/table">
            <a:tbl>
              <a:tblPr/>
              <a:tblGrid>
                <a:gridCol w="1927173"/>
                <a:gridCol w="2994931"/>
                <a:gridCol w="2970466"/>
              </a:tblGrid>
              <a:tr h="678915">
                <a:tc>
                  <a:txBody>
                    <a:bodyPr/>
                    <a:lstStyle/>
                    <a:p>
                      <a:pPr algn="ctr"/>
                      <a:r>
                        <a:rPr lang="en-US" sz="2130" dirty="0">
                          <a:solidFill>
                            <a:srgbClr val="FFFFFF"/>
                          </a:solidFill>
                          <a:latin typeface="MiSans" pitchFamily="34" charset="0"/>
                          <a:ea typeface="MiSans" pitchFamily="34" charset="-122"/>
                          <a:cs typeface="MiSans" pitchFamily="34" charset="-120"/>
                        </a:rPr>
                        <a:t>层级</a:t>
                      </a:r>
                      <a:endParaRPr lang="en-US" sz="2130" dirty="0">
                        <a:latin typeface="MiSans" charset="0"/>
                        <a:ea typeface="MiSans" charset="0"/>
                        <a:cs typeface="MiSans"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130" dirty="0">
                          <a:solidFill>
                            <a:srgbClr val="FFFFFF"/>
                          </a:solidFill>
                          <a:latin typeface="MiSans" pitchFamily="34" charset="0"/>
                          <a:ea typeface="MiSans" pitchFamily="34" charset="-122"/>
                          <a:cs typeface="MiSans" pitchFamily="34" charset="-120"/>
                        </a:rPr>
                        <a:t>兼容性</a:t>
                      </a:r>
                      <a:endParaRPr lang="en-US" sz="2130" dirty="0">
                        <a:latin typeface="MiSans" charset="0"/>
                        <a:ea typeface="MiSans" charset="0"/>
                        <a:cs typeface="MiSans"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130" dirty="0">
                          <a:solidFill>
                            <a:srgbClr val="FFFFFF"/>
                          </a:solidFill>
                          <a:latin typeface="MiSans" pitchFamily="34" charset="0"/>
                          <a:ea typeface="MiSans" pitchFamily="34" charset="-122"/>
                          <a:cs typeface="MiSans" pitchFamily="34" charset="-120"/>
                        </a:rPr>
                        <a:t>增益效果</a:t>
                      </a:r>
                      <a:endParaRPr lang="en-US" sz="2130" dirty="0">
                        <a:latin typeface="MiSans" charset="0"/>
                        <a:ea typeface="MiSans" charset="0"/>
                        <a:cs typeface="MiSans"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78915">
                <a:tc>
                  <a:txBody>
                    <a:bodyPr/>
                    <a:lstStyle/>
                    <a:p>
                      <a:pPr algn="ctr"/>
                      <a:r>
                        <a:rPr lang="en-US" sz="2130" dirty="0">
                          <a:solidFill>
                            <a:srgbClr val="000000"/>
                          </a:solidFill>
                          <a:latin typeface="MiSans" pitchFamily="34" charset="0"/>
                          <a:ea typeface="MiSans" pitchFamily="34" charset="-122"/>
                          <a:cs typeface="MiSans" pitchFamily="34" charset="-120"/>
                        </a:rPr>
                        <a:t>硬件层</a:t>
                      </a:r>
                      <a:endParaRPr lang="en-US" sz="2130" dirty="0">
                        <a:latin typeface="MiSans" charset="0"/>
                        <a:ea typeface="MiSans" charset="0"/>
                        <a:cs typeface="MiSans" charset="0"/>
                      </a:endParaRPr>
                    </a:p>
                  </a:txBody>
                  <a:tcPr marL="54864" marR="54864"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D8D8D8"/>
                    </a:solidFill>
                  </a:tcPr>
                </a:tc>
                <a:tc>
                  <a:txBody>
                    <a:bodyPr/>
                    <a:lstStyle/>
                    <a:p>
                      <a:pPr algn="ctr"/>
                      <a:r>
                        <a:rPr lang="en-US" sz="2130" dirty="0">
                          <a:solidFill>
                            <a:srgbClr val="000000"/>
                          </a:solidFill>
                          <a:latin typeface="MiSans" pitchFamily="34" charset="0"/>
                          <a:ea typeface="MiSans" pitchFamily="34" charset="-122"/>
                          <a:cs typeface="MiSans" pitchFamily="34" charset="-120"/>
                        </a:rPr>
                        <a:t>难以部署</a:t>
                      </a:r>
                      <a:endParaRPr lang="en-US" sz="2130" dirty="0">
                        <a:latin typeface="MiSans" charset="0"/>
                        <a:ea typeface="MiSans" charset="0"/>
                        <a:cs typeface="MiSans" charset="0"/>
                      </a:endParaRPr>
                    </a:p>
                  </a:txBody>
                  <a:tcPr marL="54864" marR="54864"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D8D8D8"/>
                    </a:solidFill>
                  </a:tcPr>
                </a:tc>
                <a:tc>
                  <a:txBody>
                    <a:bodyPr/>
                    <a:lstStyle/>
                    <a:p>
                      <a:pPr algn="ctr"/>
                      <a:r>
                        <a:rPr lang="en-US" sz="2130" dirty="0">
                          <a:solidFill>
                            <a:srgbClr val="000000"/>
                          </a:solidFill>
                          <a:latin typeface="MiSans" pitchFamily="34" charset="0"/>
                          <a:ea typeface="MiSans" pitchFamily="34" charset="-122"/>
                          <a:cs typeface="MiSans" pitchFamily="34" charset="-120"/>
                        </a:rPr>
                        <a:t>-</a:t>
                      </a:r>
                      <a:endParaRPr lang="en-US" sz="2130" dirty="0">
                        <a:latin typeface="MiSans" charset="0"/>
                        <a:ea typeface="MiSans" charset="0"/>
                        <a:cs typeface="MiSans" charset="0"/>
                      </a:endParaRPr>
                    </a:p>
                  </a:txBody>
                  <a:tcPr marL="54864" marR="54864"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D8D8D8"/>
                    </a:solidFill>
                  </a:tcPr>
                </a:tc>
              </a:tr>
              <a:tr h="853399">
                <a:tc>
                  <a:txBody>
                    <a:bodyPr/>
                    <a:lstStyle/>
                    <a:p>
                      <a:pPr algn="ctr"/>
                      <a:endParaRPr lang="en-US" sz="2130" dirty="0">
                        <a:latin typeface="MiSans" charset="0"/>
                        <a:ea typeface="MiSans" charset="0"/>
                        <a:cs typeface="MiSans" charset="0"/>
                      </a:endParaRPr>
                    </a:p>
                  </a:txBody>
                  <a:tcPr marL="54864" marR="54864" marT="0" marB="0"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solidFill>
                  </a:tcPr>
                </a:tc>
                <a:tc>
                  <a:txBody>
                    <a:bodyPr/>
                    <a:lstStyle/>
                    <a:p>
                      <a:pPr algn="ctr"/>
                      <a:endParaRPr lang="en-US" sz="2130" dirty="0">
                        <a:latin typeface="MiSans" charset="0"/>
                        <a:ea typeface="MiSans" charset="0"/>
                        <a:cs typeface="MiSans" charset="0"/>
                      </a:endParaRPr>
                    </a:p>
                  </a:txBody>
                  <a:tcPr marL="54864" marR="54864" marT="0" marB="0"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solidFill>
                  </a:tcPr>
                </a:tc>
                <a:tc>
                  <a:txBody>
                    <a:bodyPr/>
                    <a:lstStyle/>
                    <a:p>
                      <a:pPr algn="ctr"/>
                      <a:endParaRPr lang="en-US" sz="2130" dirty="0">
                        <a:latin typeface="MiSans" charset="0"/>
                        <a:ea typeface="MiSans" charset="0"/>
                        <a:cs typeface="MiSans" charset="0"/>
                      </a:endParaRPr>
                    </a:p>
                  </a:txBody>
                  <a:tcPr marL="54864" marR="54864" marT="0" marB="0"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solidFill>
                  </a:tcPr>
                </a:tc>
              </a:tr>
            </a:tbl>
          </a:graphicData>
        </a:graphic>
      </p:graphicFrame>
      <p:sp>
        <p:nvSpPr>
          <p:cNvPr id="7" name="Text 3"/>
          <p:cNvSpPr/>
          <p:nvPr/>
        </p:nvSpPr>
        <p:spPr>
          <a:xfrm>
            <a:off x="2473579" y="6409309"/>
            <a:ext cx="8031480" cy="1742948"/>
          </a:xfrm>
          <a:prstGeom prst="rect">
            <a:avLst/>
          </a:prstGeom>
          <a:noFill/>
          <a:ln/>
        </p:spPr>
        <p:txBody>
          <a:bodyPr wrap="square" lIns="0" tIns="0" rIns="0" bIns="0" rtlCol="0" anchor="t"/>
          <a:lstStyle/>
          <a:p>
            <a:pPr algn="l">
              <a:lnSpc>
                <a:spcPct val="120000"/>
              </a:lnSpc>
            </a:pPr>
            <a:r>
              <a:rPr lang="en-US" sz="2400" b="1" dirty="0">
                <a:solidFill>
                  <a:srgbClr val="000000"/>
                </a:solidFill>
                <a:latin typeface="Arial" pitchFamily="34" charset="0"/>
                <a:ea typeface="Arial" pitchFamily="34" charset="-122"/>
                <a:cs typeface="Arial" pitchFamily="34" charset="-120"/>
              </a:rPr>
              <a:t>链下方案</a:t>
            </a:r>
            <a:endParaRPr lang="en-US" sz="2400" dirty="0"/>
          </a:p>
          <a:p>
            <a:pPr algn="l" marL="381000" indent="-381000">
              <a:lnSpc>
                <a:spcPct val="120000"/>
              </a:lnSpc>
              <a:spcBef>
                <a:spcPts val="10"/>
              </a:spcBef>
              <a:buSzPct val="100000"/>
              <a:buChar char="•"/>
            </a:pPr>
            <a:r>
              <a:rPr lang="en-US" sz="2130" dirty="0">
                <a:solidFill>
                  <a:srgbClr val="000000"/>
                </a:solidFill>
                <a:latin typeface="Arial" pitchFamily="34" charset="0"/>
                <a:ea typeface="Arial" pitchFamily="34" charset="-122"/>
                <a:cs typeface="Arial" pitchFamily="34" charset="-120"/>
              </a:rPr>
              <a:t>理论上交易吞吐量仅受限于参与方的通信带宽与延迟</a:t>
            </a:r>
            <a:endParaRPr lang="en-US" sz="2400" dirty="0"/>
          </a:p>
          <a:p>
            <a:pPr algn="l" marL="381000" indent="-381000">
              <a:lnSpc>
                <a:spcPct val="120000"/>
              </a:lnSpc>
              <a:spcBef>
                <a:spcPts val="10"/>
              </a:spcBef>
              <a:buSzPct val="100000"/>
              <a:buChar char="•"/>
            </a:pPr>
            <a:r>
              <a:rPr lang="en-US" sz="2130" dirty="0">
                <a:solidFill>
                  <a:srgbClr val="000000"/>
                </a:solidFill>
                <a:latin typeface="Arial" pitchFamily="34" charset="0"/>
                <a:ea typeface="Arial" pitchFamily="34" charset="-122"/>
                <a:cs typeface="Arial" pitchFamily="34" charset="-120"/>
              </a:rPr>
              <a:t>构造</a:t>
            </a:r>
            <a:pPr algn="l">
              <a:lnSpc>
                <a:spcPct val="120000"/>
              </a:lnSpc>
              <a:spcBef>
                <a:spcPts val="10"/>
              </a:spcBef>
            </a:pPr>
            <a:r>
              <a:rPr lang="en-US" sz="2130" dirty="0">
                <a:solidFill>
                  <a:srgbClr val="000000"/>
                </a:solidFill>
                <a:latin typeface="Arial" pitchFamily="34" charset="0"/>
                <a:ea typeface="Arial" pitchFamily="34" charset="-122"/>
                <a:cs typeface="Arial" pitchFamily="34" charset="-120"/>
              </a:rPr>
              <a:t>简单，易于实现和部署</a:t>
            </a:r>
            <a:endParaRPr lang="en-US" sz="2400" dirty="0"/>
          </a:p>
          <a:p>
            <a:pPr algn="l" marL="381000" indent="-381000">
              <a:lnSpc>
                <a:spcPct val="120000"/>
              </a:lnSpc>
              <a:spcBef>
                <a:spcPts val="10"/>
              </a:spcBef>
              <a:buSzPct val="100000"/>
              <a:buChar char="•"/>
            </a:pPr>
            <a:r>
              <a:rPr lang="en-US" sz="2130" dirty="0">
                <a:solidFill>
                  <a:srgbClr val="000000"/>
                </a:solidFill>
                <a:latin typeface="Arial" pitchFamily="34" charset="0"/>
                <a:ea typeface="Arial" pitchFamily="34" charset="-122"/>
                <a:cs typeface="Arial" pitchFamily="34" charset="-120"/>
              </a:rPr>
              <a:t>不仅兼容于现有区块链，具有后向兼容性</a:t>
            </a:r>
            <a:endParaRPr lang="en-US" sz="2400" dirty="0"/>
          </a:p>
        </p:txBody>
      </p:sp>
      <p:sp>
        <p:nvSpPr>
          <p:cNvPr id="8" name="Shape 4"/>
          <p:cNvSpPr/>
          <p:nvPr/>
        </p:nvSpPr>
        <p:spPr>
          <a:xfrm>
            <a:off x="2219960" y="0"/>
            <a:ext cx="2942209" cy="962660"/>
          </a:xfrm>
          <a:prstGeom prst="rect">
            <a:avLst/>
          </a:prstGeom>
          <a:solidFill>
            <a:srgbClr val="F2F2F2"/>
          </a:solidFill>
          <a:ln w="12700">
            <a:solidFill>
              <a:srgbClr val="F2F2F2"/>
            </a:solidFill>
            <a:prstDash val="solid"/>
          </a:ln>
        </p:spPr>
      </p:sp>
      <p:sp>
        <p:nvSpPr>
          <p:cNvPr id="9" name="Shape 5"/>
          <p:cNvSpPr/>
          <p:nvPr/>
        </p:nvSpPr>
        <p:spPr>
          <a:xfrm>
            <a:off x="5162169" y="-889"/>
            <a:ext cx="2654300" cy="962660"/>
          </a:xfrm>
          <a:prstGeom prst="rect">
            <a:avLst/>
          </a:prstGeom>
          <a:solidFill>
            <a:srgbClr val="F2F2F2"/>
          </a:solidFill>
          <a:ln/>
        </p:spPr>
      </p:sp>
      <p:sp>
        <p:nvSpPr>
          <p:cNvPr id="10" name="Shape 6"/>
          <p:cNvSpPr/>
          <p:nvPr/>
        </p:nvSpPr>
        <p:spPr>
          <a:xfrm>
            <a:off x="7816469" y="-889"/>
            <a:ext cx="4154551" cy="962660"/>
          </a:xfrm>
          <a:prstGeom prst="rect">
            <a:avLst/>
          </a:prstGeom>
          <a:solidFill>
            <a:srgbClr val="F2F2F2"/>
          </a:solidFill>
          <a:ln/>
        </p:spPr>
      </p:sp>
      <p:sp>
        <p:nvSpPr>
          <p:cNvPr id="11" name="Shape 7"/>
          <p:cNvSpPr/>
          <p:nvPr/>
        </p:nvSpPr>
        <p:spPr>
          <a:xfrm>
            <a:off x="11971020" y="0"/>
            <a:ext cx="4284980" cy="961771"/>
          </a:xfrm>
          <a:prstGeom prst="rect">
            <a:avLst/>
          </a:prstGeom>
          <a:solidFill>
            <a:srgbClr val="F2F2F2"/>
          </a:solidFill>
          <a:ln/>
        </p:spPr>
      </p:sp>
      <p:sp>
        <p:nvSpPr>
          <p:cNvPr id="12" name="Shape 8"/>
          <p:cNvSpPr/>
          <p:nvPr/>
        </p:nvSpPr>
        <p:spPr>
          <a:xfrm>
            <a:off x="2219960" y="-889"/>
            <a:ext cx="2942209" cy="962660"/>
          </a:xfrm>
          <a:prstGeom prst="rect">
            <a:avLst/>
          </a:prstGeom>
          <a:solidFill>
            <a:srgbClr val="04579A"/>
          </a:solidFill>
          <a:ln w="12700">
            <a:solidFill>
              <a:srgbClr val="04579A"/>
            </a:solidFill>
            <a:prstDash val="solid"/>
          </a:ln>
        </p:spPr>
      </p:sp>
      <p:sp>
        <p:nvSpPr>
          <p:cNvPr id="13" name="Text 9"/>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FFFFFF"/>
                </a:solidFill>
                <a:latin typeface="Arial" pitchFamily="34" charset="0"/>
                <a:ea typeface="Arial" pitchFamily="34" charset="-122"/>
                <a:cs typeface="Arial" pitchFamily="34" charset="-120"/>
              </a:rPr>
              <a:t>选题背景及意义  </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国内外研究现状</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主要研究内容及预期目标</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工作计划与进度安排</a:t>
            </a:r>
            <a:endParaRPr lang="en-US" sz="2400" dirty="0"/>
          </a:p>
        </p:txBody>
      </p:sp>
      <p:pic>
        <p:nvPicPr>
          <p:cNvPr id="14" name="Image 0" descr="https://kimi-img.moonshot.cn/pub/slides/okc/flfuysioo4gzm/mnt/agents/output/yuan_pptd/images/image_21.jpg">    </p:cNvPr>
          <p:cNvPicPr>
            <a:picLocks noChangeAspect="1"/>
          </p:cNvPicPr>
          <p:nvPr/>
        </p:nvPicPr>
        <p:blipFill>
          <a:blip r:embed="rId1"/>
          <a:srcRect l="5060" r="29000" t="0" b="0"/>
          <a:stretch/>
        </p:blipFill>
        <p:spPr>
          <a:xfrm>
            <a:off x="544449" y="140589"/>
            <a:ext cx="1273429" cy="745871"/>
          </a:xfrm>
          <a:prstGeom prst="rect">
            <a:avLst/>
          </a:prstGeom>
        </p:spPr>
      </p:pic>
      <p:sp>
        <p:nvSpPr>
          <p:cNvPr id="15" name="Shape 10"/>
          <p:cNvSpPr/>
          <p:nvPr/>
        </p:nvSpPr>
        <p:spPr>
          <a:xfrm rot="10800000">
            <a:off x="3496691" y="961771"/>
            <a:ext cx="389509" cy="304800"/>
          </a:xfrm>
          <a:prstGeom prst="triangle">
            <a:avLst>
              <a:gd name="adj" fmla="val 50000"/>
            </a:avLst>
          </a:prstGeom>
          <a:solidFill>
            <a:srgbClr val="04579A"/>
          </a:solidFill>
          <a:ln/>
        </p:spPr>
      </p:sp>
      <p:graphicFrame>
        <p:nvGraphicFramePr>
          <p:cNvPr id="73" name="Table 1"/>
          <p:cNvGraphicFramePr>
            <a:graphicFrameLocks noGrp="1"/>
          </p:cNvGraphicFramePr>
          <p:nvPr>
            <p:extLst>
              <p:ext uri="{D42A27DB-BD31-4B8C-83A1-F6EECF244321}">
                <p14:modId xmlns:p14="http://schemas.microsoft.com/office/powerpoint/2010/main" val="1579011935"/>
              </p:ext>
            </p:extLst>
          </p:nvPr>
        </p:nvGraphicFramePr>
        <p:xfrm>
          <a:off x="3924046" y="3889121"/>
          <a:ext cx="7891780" cy="679069"/>
        </p:xfrm>
        <a:graphic>
          <a:graphicData uri="http://schemas.openxmlformats.org/drawingml/2006/table">
            <a:tbl>
              <a:tblPr/>
              <a:tblGrid>
                <a:gridCol w="1927173"/>
                <a:gridCol w="2994931"/>
                <a:gridCol w="2970466"/>
              </a:tblGrid>
              <a:tr h="679069">
                <a:tc>
                  <a:txBody>
                    <a:bodyPr/>
                    <a:lstStyle/>
                    <a:p>
                      <a:pPr algn="ctr"/>
                      <a:r>
                        <a:rPr lang="en-US" sz="2130" dirty="0">
                          <a:solidFill>
                            <a:srgbClr val="000000"/>
                          </a:solidFill>
                          <a:latin typeface="MiSans" pitchFamily="34" charset="0"/>
                          <a:ea typeface="MiSans" pitchFamily="34" charset="-122"/>
                          <a:cs typeface="MiSans" pitchFamily="34" charset="-120"/>
                        </a:rPr>
                        <a:t>网络层</a:t>
                      </a:r>
                      <a:endParaRPr lang="en-US" sz="2130" dirty="0">
                        <a:latin typeface="MiSans" charset="0"/>
                        <a:ea typeface="MiSans" charset="0"/>
                        <a:cs typeface="MiSans" charset="0"/>
                      </a:endParaRPr>
                    </a:p>
                  </a:txBody>
                  <a:tcPr marL="54864" marR="54864"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D8D8D8"/>
                    </a:solidFill>
                  </a:tcPr>
                </a:tc>
                <a:tc>
                  <a:txBody>
                    <a:bodyPr/>
                    <a:lstStyle/>
                    <a:p>
                      <a:pPr algn="ctr"/>
                      <a:r>
                        <a:rPr lang="en-US" sz="2130" dirty="0">
                          <a:solidFill>
                            <a:srgbClr val="000000"/>
                          </a:solidFill>
                          <a:latin typeface="MiSans" pitchFamily="34" charset="0"/>
                          <a:ea typeface="MiSans" pitchFamily="34" charset="-122"/>
                          <a:cs typeface="MiSans" pitchFamily="34" charset="-120"/>
                        </a:rPr>
                        <a:t>需修改原有区块链结构</a:t>
                      </a:r>
                      <a:endParaRPr lang="en-US" sz="2130" dirty="0">
                        <a:latin typeface="MiSans" charset="0"/>
                        <a:ea typeface="MiSans" charset="0"/>
                        <a:cs typeface="MiSans" charset="0"/>
                      </a:endParaRPr>
                    </a:p>
                  </a:txBody>
                  <a:tcPr marL="54864" marR="54864"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D8D8D8"/>
                    </a:solidFill>
                  </a:tcPr>
                </a:tc>
                <a:tc>
                  <a:txBody>
                    <a:bodyPr/>
                    <a:lstStyle/>
                    <a:p>
                      <a:pPr algn="ctr"/>
                      <a:r>
                        <a:rPr lang="en-US" sz="2130" dirty="0">
                          <a:solidFill>
                            <a:srgbClr val="000000"/>
                          </a:solidFill>
                          <a:latin typeface="MiSans" pitchFamily="34" charset="0"/>
                          <a:ea typeface="MiSans" pitchFamily="34" charset="-122"/>
                          <a:cs typeface="MiSans" pitchFamily="34" charset="-120"/>
                        </a:rPr>
                        <a:t>有限的扩展增益</a:t>
                      </a:r>
                      <a:endParaRPr lang="en-US" sz="2130" dirty="0">
                        <a:latin typeface="MiSans" charset="0"/>
                        <a:ea typeface="MiSans" charset="0"/>
                        <a:cs typeface="MiSans" charset="0"/>
                      </a:endParaRPr>
                    </a:p>
                  </a:txBody>
                  <a:tcPr marL="54864" marR="54864"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D8D8D8"/>
                    </a:solidFill>
                  </a:tcPr>
                </a:tc>
              </a:tr>
            </a:tbl>
          </a:graphicData>
        </a:graphic>
      </p:graphicFrame>
      <p:graphicFrame>
        <p:nvGraphicFramePr>
          <p:cNvPr id="109" name="Table 2"/>
          <p:cNvGraphicFramePr>
            <a:graphicFrameLocks noGrp="1"/>
          </p:cNvGraphicFramePr>
          <p:nvPr>
            <p:extLst>
              <p:ext uri="{D42A27DB-BD31-4B8C-83A1-F6EECF244321}">
                <p14:modId xmlns:p14="http://schemas.microsoft.com/office/powerpoint/2010/main" val="1579011935"/>
              </p:ext>
            </p:extLst>
          </p:nvPr>
        </p:nvGraphicFramePr>
        <p:xfrm>
          <a:off x="3363087" y="5247259"/>
          <a:ext cx="9008491" cy="867791"/>
        </p:xfrm>
        <a:graphic>
          <a:graphicData uri="http://schemas.openxmlformats.org/drawingml/2006/table">
            <a:tbl>
              <a:tblPr/>
              <a:tblGrid>
                <a:gridCol w="2655703"/>
                <a:gridCol w="2730474"/>
                <a:gridCol w="3622314"/>
              </a:tblGrid>
              <a:tr h="867791">
                <a:tc>
                  <a:txBody>
                    <a:bodyPr/>
                    <a:lstStyle/>
                    <a:p>
                      <a:pPr algn="ctr"/>
                      <a:r>
                        <a:rPr lang="en-US" sz="2400" b="1" dirty="0">
                          <a:solidFill>
                            <a:srgbClr val="04579A"/>
                          </a:solidFill>
                          <a:latin typeface="MiSans" pitchFamily="34" charset="0"/>
                          <a:ea typeface="MiSans" pitchFamily="34" charset="-122"/>
                          <a:cs typeface="MiSans" pitchFamily="34" charset="-120"/>
                        </a:rPr>
                        <a:t>链下层</a:t>
                      </a:r>
                      <a:endParaRPr lang="en-US" sz="2400" dirty="0">
                        <a:latin typeface="MiSans" charset="0"/>
                        <a:ea typeface="MiSans" charset="0"/>
                        <a:cs typeface="MiSans"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US" sz="2400" dirty="0">
                          <a:solidFill>
                            <a:srgbClr val="04579A"/>
                          </a:solidFill>
                          <a:latin typeface="MiSans" pitchFamily="34" charset="0"/>
                          <a:ea typeface="MiSans" pitchFamily="34" charset="-122"/>
                          <a:cs typeface="MiSans" pitchFamily="34" charset="-120"/>
                        </a:rPr>
                        <a:t>完全兼容</a:t>
                      </a:r>
                      <a:endParaRPr lang="en-US" sz="2400" dirty="0">
                        <a:latin typeface="MiSans" charset="0"/>
                        <a:ea typeface="MiSans" charset="0"/>
                        <a:cs typeface="MiSans" charset="0"/>
                      </a:endParaRPr>
                    </a:p>
                    <a:p>
                      <a:pPr algn="ctr"/>
                      <a:r>
                        <a:rPr lang="en-US" sz="2400" dirty="0">
                          <a:solidFill>
                            <a:srgbClr val="04579A"/>
                          </a:solidFill>
                          <a:latin typeface="MiSans" pitchFamily="34" charset="0"/>
                          <a:ea typeface="MiSans" pitchFamily="34" charset="-122"/>
                          <a:cs typeface="MiSans" pitchFamily="34" charset="-120"/>
                        </a:rPr>
                        <a:t>现有区块链</a:t>
                      </a:r>
                      <a:endParaRPr lang="en-US" sz="2400" dirty="0">
                        <a:latin typeface="MiSans" charset="0"/>
                        <a:ea typeface="MiSans" charset="0"/>
                        <a:cs typeface="MiSans"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US" sz="2400" b="1" dirty="0">
                          <a:solidFill>
                            <a:srgbClr val="04579A"/>
                          </a:solidFill>
                          <a:latin typeface="MiSans" pitchFamily="34" charset="0"/>
                          <a:ea typeface="MiSans" pitchFamily="34" charset="-122"/>
                          <a:cs typeface="MiSans" pitchFamily="34" charset="-120"/>
                        </a:rPr>
                        <a:t>有效的扩展增益</a:t>
                      </a:r>
                      <a:endParaRPr lang="en-US" sz="2400" dirty="0">
                        <a:latin typeface="MiSans" charset="0"/>
                        <a:ea typeface="MiSans" charset="0"/>
                        <a:cs typeface="MiSans"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145" name="Table 3"/>
          <p:cNvGraphicFramePr>
            <a:graphicFrameLocks noGrp="1"/>
          </p:cNvGraphicFramePr>
          <p:nvPr>
            <p:extLst>
              <p:ext uri="{D42A27DB-BD31-4B8C-83A1-F6EECF244321}">
                <p14:modId xmlns:p14="http://schemas.microsoft.com/office/powerpoint/2010/main" val="1579011935"/>
              </p:ext>
            </p:extLst>
          </p:nvPr>
        </p:nvGraphicFramePr>
        <p:xfrm>
          <a:off x="3921506" y="4568190"/>
          <a:ext cx="7891780" cy="679069"/>
        </p:xfrm>
        <a:graphic>
          <a:graphicData uri="http://schemas.openxmlformats.org/drawingml/2006/table">
            <a:tbl>
              <a:tblPr/>
              <a:tblGrid>
                <a:gridCol w="1927173"/>
                <a:gridCol w="2994931"/>
                <a:gridCol w="2970466"/>
              </a:tblGrid>
              <a:tr h="679069">
                <a:tc>
                  <a:txBody>
                    <a:bodyPr/>
                    <a:lstStyle/>
                    <a:p>
                      <a:pPr algn="ctr"/>
                      <a:r>
                        <a:rPr lang="en-US" sz="2130" dirty="0">
                          <a:solidFill>
                            <a:srgbClr val="000000"/>
                          </a:solidFill>
                          <a:latin typeface="MiSans" pitchFamily="34" charset="0"/>
                          <a:ea typeface="MiSans" pitchFamily="34" charset="-122"/>
                          <a:cs typeface="MiSans" pitchFamily="34" charset="-120"/>
                        </a:rPr>
                        <a:t>区块链层</a:t>
                      </a:r>
                      <a:endParaRPr lang="en-US" sz="2130" dirty="0">
                        <a:latin typeface="MiSans" charset="0"/>
                        <a:ea typeface="MiSans" charset="0"/>
                        <a:cs typeface="MiSans"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D8D8"/>
                    </a:solidFill>
                  </a:tcPr>
                </a:tc>
                <a:tc>
                  <a:txBody>
                    <a:bodyPr/>
                    <a:lstStyle/>
                    <a:p>
                      <a:pPr algn="ctr"/>
                      <a:r>
                        <a:rPr lang="en-US" sz="2130" dirty="0">
                          <a:solidFill>
                            <a:srgbClr val="000000"/>
                          </a:solidFill>
                          <a:latin typeface="MiSans" pitchFamily="34" charset="0"/>
                          <a:ea typeface="MiSans" pitchFamily="34" charset="-122"/>
                          <a:cs typeface="MiSans" pitchFamily="34" charset="-120"/>
                        </a:rPr>
                        <a:t>需修改原有共识协议</a:t>
                      </a:r>
                      <a:endParaRPr lang="en-US" sz="2130" dirty="0">
                        <a:latin typeface="MiSans" charset="0"/>
                        <a:ea typeface="MiSans" charset="0"/>
                        <a:cs typeface="MiSans"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D8D8"/>
                    </a:solidFill>
                  </a:tcPr>
                </a:tc>
                <a:tc>
                  <a:txBody>
                    <a:bodyPr/>
                    <a:lstStyle/>
                    <a:p>
                      <a:pPr algn="ctr"/>
                      <a:r>
                        <a:rPr lang="en-US" sz="2130" dirty="0">
                          <a:solidFill>
                            <a:srgbClr val="000000"/>
                          </a:solidFill>
                          <a:latin typeface="MiSans" pitchFamily="34" charset="0"/>
                          <a:ea typeface="MiSans" pitchFamily="34" charset="-122"/>
                          <a:cs typeface="MiSans" pitchFamily="34" charset="-120"/>
                        </a:rPr>
                        <a:t>有限的扩展增益</a:t>
                      </a:r>
                      <a:endParaRPr lang="en-US" sz="2130" dirty="0">
                        <a:latin typeface="MiSans" charset="0"/>
                        <a:ea typeface="MiSans" charset="0"/>
                        <a:cs typeface="MiSans"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D8D8"/>
                    </a:solidFill>
                  </a:tcPr>
                </a:tc>
              </a:tr>
            </a:tbl>
          </a:graphicData>
        </a:graphic>
      </p:graphicFrame>
      <p:sp>
        <p:nvSpPr>
          <p:cNvPr id="19" name="Text 11"/>
          <p:cNvSpPr/>
          <p:nvPr/>
        </p:nvSpPr>
        <p:spPr>
          <a:xfrm>
            <a:off x="544449" y="1266571"/>
            <a:ext cx="14303629" cy="665480"/>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3F3F3F"/>
                </a:solidFill>
                <a:latin typeface="Arial" pitchFamily="34" charset="0"/>
                <a:ea typeface="Arial" pitchFamily="34" charset="-122"/>
                <a:cs typeface="Arial" pitchFamily="34" charset="-120"/>
              </a:rPr>
              <a:t>大规模、高并发的交易场景要求分布式数字资产交易协议具有可扩展性</a:t>
            </a:r>
            <a:endParaRPr lang="en-US" sz="2670" dirty="0"/>
          </a:p>
        </p:txBody>
      </p:sp>
      <p:sp>
        <p:nvSpPr>
          <p:cNvPr id="20" name="Text 12"/>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10</a:t>
            </a:r>
            <a:endParaRPr lang="en-US" sz="2400" dirty="0"/>
          </a:p>
        </p:txBody>
      </p:sp>
    </p:spTree>
  </p:cSld>
  <p:clrMapOvr>
    <a:masterClrMapping/>
  </p:clrMapOvr>
  <p:transition>
    <p:fade/>
    <p:spd val="med"/>
  </p:transition>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643509" y="5298821"/>
            <a:ext cx="14037691" cy="762889"/>
          </a:xfrm>
          <a:prstGeom prst="rect">
            <a:avLst/>
          </a:prstGeom>
          <a:solidFill>
            <a:srgbClr val="F2F2F2"/>
          </a:solidFill>
          <a:ln/>
        </p:spPr>
      </p:sp>
      <p:sp>
        <p:nvSpPr>
          <p:cNvPr id="4" name="Text 1"/>
          <p:cNvSpPr/>
          <p:nvPr/>
        </p:nvSpPr>
        <p:spPr>
          <a:xfrm>
            <a:off x="643509" y="1196340"/>
            <a:ext cx="14772640" cy="531749"/>
          </a:xfrm>
          <a:prstGeom prst="rect">
            <a:avLst/>
          </a:prstGeom>
          <a:noFill/>
          <a:ln/>
        </p:spPr>
        <p:txBody>
          <a:bodyPr wrap="square" lIns="0" tIns="0" rIns="0" bIns="0" rtlCol="0" anchor="t"/>
          <a:lstStyle/>
          <a:p>
            <a:pPr algn="l">
              <a:lnSpc>
                <a:spcPct val="120000"/>
              </a:lnSpc>
            </a:pPr>
            <a:r>
              <a:rPr lang="en-US" sz="2670" dirty="0">
                <a:solidFill>
                  <a:srgbClr val="000000"/>
                </a:solidFill>
                <a:latin typeface="Arial" pitchFamily="34" charset="0"/>
                <a:ea typeface="Arial" pitchFamily="34" charset="-122"/>
                <a:cs typeface="Arial" pitchFamily="34" charset="-120"/>
              </a:rPr>
              <a:t>数字资产市场为区块链提供了新的</a:t>
            </a:r>
            <a:pPr algn="l">
              <a:lnSpc>
                <a:spcPct val="120000"/>
              </a:lnSpc>
            </a:pPr>
            <a:r>
              <a:rPr lang="en-US" sz="2670" b="1" dirty="0">
                <a:solidFill>
                  <a:srgbClr val="04579A"/>
                </a:solidFill>
                <a:latin typeface="Arial" pitchFamily="34" charset="0"/>
                <a:ea typeface="Arial" pitchFamily="34" charset="-122"/>
                <a:cs typeface="Arial" pitchFamily="34" charset="-120"/>
              </a:rPr>
              <a:t>应用方向</a:t>
            </a:r>
            <a:pPr algn="l">
              <a:lnSpc>
                <a:spcPct val="120000"/>
              </a:lnSpc>
            </a:pPr>
            <a:r>
              <a:rPr lang="en-US" sz="2670" dirty="0">
                <a:solidFill>
                  <a:srgbClr val="000000"/>
                </a:solidFill>
                <a:latin typeface="Arial" pitchFamily="34" charset="0"/>
                <a:ea typeface="Arial" pitchFamily="34" charset="-122"/>
                <a:cs typeface="Arial" pitchFamily="34" charset="-120"/>
              </a:rPr>
              <a:t>，但同时也带来了新的</a:t>
            </a:r>
            <a:pPr algn="l">
              <a:lnSpc>
                <a:spcPct val="120000"/>
              </a:lnSpc>
            </a:pPr>
            <a:r>
              <a:rPr lang="en-US" sz="2670" b="1" dirty="0">
                <a:solidFill>
                  <a:srgbClr val="04579A"/>
                </a:solidFill>
                <a:latin typeface="Arial" pitchFamily="34" charset="0"/>
                <a:ea typeface="Arial" pitchFamily="34" charset="-122"/>
                <a:cs typeface="Arial" pitchFamily="34" charset="-120"/>
              </a:rPr>
              <a:t>技术需求</a:t>
            </a:r>
            <a:pPr algn="l">
              <a:lnSpc>
                <a:spcPct val="120000"/>
              </a:lnSpc>
            </a:pPr>
            <a:r>
              <a:rPr lang="en-US" sz="2670" dirty="0">
                <a:solidFill>
                  <a:srgbClr val="000000"/>
                </a:solidFill>
                <a:latin typeface="Arial" pitchFamily="34" charset="0"/>
                <a:ea typeface="Arial" pitchFamily="34" charset="-122"/>
                <a:cs typeface="Arial" pitchFamily="34" charset="-120"/>
              </a:rPr>
              <a:t>：</a:t>
            </a:r>
            <a:endParaRPr lang="en-US" sz="2670" dirty="0"/>
          </a:p>
        </p:txBody>
      </p:sp>
      <p:sp>
        <p:nvSpPr>
          <p:cNvPr id="5" name="Shape 2"/>
          <p:cNvSpPr/>
          <p:nvPr/>
        </p:nvSpPr>
        <p:spPr>
          <a:xfrm>
            <a:off x="2219960" y="0"/>
            <a:ext cx="2942209" cy="962660"/>
          </a:xfrm>
          <a:prstGeom prst="rect">
            <a:avLst/>
          </a:prstGeom>
          <a:solidFill>
            <a:srgbClr val="F2F2F2"/>
          </a:solidFill>
          <a:ln w="12700">
            <a:solidFill>
              <a:srgbClr val="F2F2F2"/>
            </a:solidFill>
            <a:prstDash val="solid"/>
          </a:ln>
        </p:spPr>
      </p:sp>
      <p:sp>
        <p:nvSpPr>
          <p:cNvPr id="6" name="Shape 3"/>
          <p:cNvSpPr/>
          <p:nvPr/>
        </p:nvSpPr>
        <p:spPr>
          <a:xfrm>
            <a:off x="5162169" y="-889"/>
            <a:ext cx="2654300" cy="962660"/>
          </a:xfrm>
          <a:prstGeom prst="rect">
            <a:avLst/>
          </a:prstGeom>
          <a:solidFill>
            <a:srgbClr val="F2F2F2"/>
          </a:solidFill>
          <a:ln/>
        </p:spPr>
      </p:sp>
      <p:sp>
        <p:nvSpPr>
          <p:cNvPr id="7" name="Shape 4"/>
          <p:cNvSpPr/>
          <p:nvPr/>
        </p:nvSpPr>
        <p:spPr>
          <a:xfrm>
            <a:off x="7816469" y="-889"/>
            <a:ext cx="4154551" cy="962660"/>
          </a:xfrm>
          <a:prstGeom prst="rect">
            <a:avLst/>
          </a:prstGeom>
          <a:solidFill>
            <a:srgbClr val="F2F2F2"/>
          </a:solidFill>
          <a:ln/>
        </p:spPr>
      </p:sp>
      <p:sp>
        <p:nvSpPr>
          <p:cNvPr id="8" name="Shape 5"/>
          <p:cNvSpPr/>
          <p:nvPr/>
        </p:nvSpPr>
        <p:spPr>
          <a:xfrm>
            <a:off x="11971020" y="0"/>
            <a:ext cx="4284980" cy="961771"/>
          </a:xfrm>
          <a:prstGeom prst="rect">
            <a:avLst/>
          </a:prstGeom>
          <a:solidFill>
            <a:srgbClr val="F2F2F2"/>
          </a:solidFill>
          <a:ln/>
        </p:spPr>
      </p:sp>
      <p:sp>
        <p:nvSpPr>
          <p:cNvPr id="9" name="Shape 6"/>
          <p:cNvSpPr/>
          <p:nvPr/>
        </p:nvSpPr>
        <p:spPr>
          <a:xfrm>
            <a:off x="2219960" y="-889"/>
            <a:ext cx="2942209" cy="962660"/>
          </a:xfrm>
          <a:prstGeom prst="rect">
            <a:avLst/>
          </a:prstGeom>
          <a:solidFill>
            <a:srgbClr val="04579A"/>
          </a:solidFill>
          <a:ln w="12700">
            <a:solidFill>
              <a:srgbClr val="04579A"/>
            </a:solidFill>
            <a:prstDash val="solid"/>
          </a:ln>
        </p:spPr>
      </p:sp>
      <p:sp>
        <p:nvSpPr>
          <p:cNvPr id="10" name="Text 7"/>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选题背景及意义</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国内外研究现状</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主要研究内容及预期目标</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工作计划与进度安排</a:t>
            </a:r>
            <a:endParaRPr lang="en-US" sz="2400" dirty="0"/>
          </a:p>
        </p:txBody>
      </p:sp>
      <p:pic>
        <p:nvPicPr>
          <p:cNvPr id="11"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2" name="Shape 8"/>
          <p:cNvSpPr/>
          <p:nvPr/>
        </p:nvSpPr>
        <p:spPr>
          <a:xfrm rot="10800000">
            <a:off x="3496691" y="961771"/>
            <a:ext cx="389509" cy="304800"/>
          </a:xfrm>
          <a:prstGeom prst="triangle">
            <a:avLst>
              <a:gd name="adj" fmla="val 50000"/>
            </a:avLst>
          </a:prstGeom>
          <a:solidFill>
            <a:srgbClr val="04579A"/>
          </a:solidFill>
          <a:ln/>
        </p:spPr>
      </p:sp>
      <p:sp>
        <p:nvSpPr>
          <p:cNvPr id="13" name="Shape 9"/>
          <p:cNvSpPr/>
          <p:nvPr/>
        </p:nvSpPr>
        <p:spPr>
          <a:xfrm>
            <a:off x="654431" y="3809111"/>
            <a:ext cx="14037691" cy="762889"/>
          </a:xfrm>
          <a:prstGeom prst="rect">
            <a:avLst/>
          </a:prstGeom>
          <a:solidFill>
            <a:srgbClr val="F2F2F2"/>
          </a:solidFill>
          <a:ln/>
        </p:spPr>
      </p:sp>
      <p:sp>
        <p:nvSpPr>
          <p:cNvPr id="14" name="Shape 10"/>
          <p:cNvSpPr/>
          <p:nvPr/>
        </p:nvSpPr>
        <p:spPr>
          <a:xfrm>
            <a:off x="1358900" y="4713351"/>
            <a:ext cx="486029" cy="343789"/>
          </a:xfrm>
          <a:prstGeom prst="chevron">
            <a:avLst>
              <a:gd name="adj" fmla="val 50000"/>
            </a:avLst>
          </a:prstGeom>
          <a:solidFill>
            <a:srgbClr val="04579A"/>
          </a:solidFill>
          <a:ln w="12700">
            <a:solidFill>
              <a:srgbClr val="304B73"/>
            </a:solidFill>
            <a:prstDash val="solid"/>
          </a:ln>
        </p:spPr>
      </p:sp>
      <p:sp>
        <p:nvSpPr>
          <p:cNvPr id="15" name="Shape 11"/>
          <p:cNvSpPr/>
          <p:nvPr/>
        </p:nvSpPr>
        <p:spPr>
          <a:xfrm>
            <a:off x="643509" y="2236089"/>
            <a:ext cx="14037691" cy="762889"/>
          </a:xfrm>
          <a:prstGeom prst="rect">
            <a:avLst/>
          </a:prstGeom>
          <a:solidFill>
            <a:srgbClr val="F2F2F2"/>
          </a:solidFill>
          <a:ln/>
        </p:spPr>
      </p:sp>
      <p:sp>
        <p:nvSpPr>
          <p:cNvPr id="16" name="Text 12"/>
          <p:cNvSpPr/>
          <p:nvPr/>
        </p:nvSpPr>
        <p:spPr>
          <a:xfrm>
            <a:off x="742569" y="2218309"/>
            <a:ext cx="14771751" cy="5333111"/>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现实网络环境对分布式数字资产交易协议的安全性和健壮性提出了更高的要求</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分布式数字资产交易协议需要去除可信假设，建立更强的安全模型</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大规模、高并发的交易场景要求分布式数字资产交易协议具有可扩展性</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分布式数字资产交易协议需要高性能的链下方案构造</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异构区块链系统间的互联互通要求分布式数字资产交易协议具有互操作性</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分布式数字资产交易协议需要高效的跨链证明协议</a:t>
            </a:r>
            <a:endParaRPr lang="en-US" sz="2670" dirty="0"/>
          </a:p>
          <a:p>
            <a:pPr algn="l">
              <a:lnSpc>
                <a:spcPct val="150000"/>
              </a:lnSpc>
            </a:pPr>
            <a:r>
              <a:rPr lang="en-US" sz="2670" dirty="0">
                <a:solidFill>
                  <a:srgbClr val="262626"/>
                </a:solidFill>
                <a:latin typeface="Arial" pitchFamily="34" charset="0"/>
                <a:ea typeface="Arial" pitchFamily="34" charset="-122"/>
                <a:cs typeface="Arial" pitchFamily="34" charset="-120"/>
              </a:rPr>
              <a:t> </a:t>
            </a:r>
            <a:endParaRPr lang="en-US" sz="2670" dirty="0"/>
          </a:p>
        </p:txBody>
      </p:sp>
      <p:sp>
        <p:nvSpPr>
          <p:cNvPr id="17" name="Shape 13"/>
          <p:cNvSpPr/>
          <p:nvPr/>
        </p:nvSpPr>
        <p:spPr>
          <a:xfrm>
            <a:off x="1358900" y="3120009"/>
            <a:ext cx="486029" cy="343789"/>
          </a:xfrm>
          <a:prstGeom prst="chevron">
            <a:avLst>
              <a:gd name="adj" fmla="val 50000"/>
            </a:avLst>
          </a:prstGeom>
          <a:solidFill>
            <a:srgbClr val="04579A"/>
          </a:solidFill>
          <a:ln w="12700">
            <a:solidFill>
              <a:srgbClr val="304B73"/>
            </a:solidFill>
            <a:prstDash val="solid"/>
          </a:ln>
        </p:spPr>
      </p:sp>
      <p:sp>
        <p:nvSpPr>
          <p:cNvPr id="18" name="Text 14"/>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11</a:t>
            </a:r>
            <a:endParaRPr lang="en-US" sz="2400" dirty="0"/>
          </a:p>
        </p:txBody>
      </p:sp>
      <p:sp>
        <p:nvSpPr>
          <p:cNvPr id="19" name="Shape 15"/>
          <p:cNvSpPr/>
          <p:nvPr/>
        </p:nvSpPr>
        <p:spPr>
          <a:xfrm>
            <a:off x="1358900" y="6208141"/>
            <a:ext cx="486029" cy="343789"/>
          </a:xfrm>
          <a:prstGeom prst="chevron">
            <a:avLst>
              <a:gd name="adj" fmla="val 50000"/>
            </a:avLst>
          </a:prstGeom>
          <a:solidFill>
            <a:srgbClr val="04579A"/>
          </a:solidFill>
          <a:ln w="12700">
            <a:solidFill>
              <a:srgbClr val="304B73"/>
            </a:solidFill>
            <a:prstDash val="solid"/>
          </a:ln>
        </p:spPr>
      </p:sp>
    </p:spTree>
  </p:cSld>
  <p:clrMapOvr>
    <a:masterClrMapping/>
  </p:clrMapOvr>
  <p:transition>
    <p:fade/>
    <p:spd val="med"/>
  </p:transition>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716151" y="5103749"/>
            <a:ext cx="12313031" cy="1879600"/>
          </a:xfrm>
          <a:prstGeom prst="ellipse">
            <a:avLst/>
          </a:prstGeom>
          <a:noFill/>
          <a:ln w="12700">
            <a:solidFill>
              <a:srgbClr val="04579A"/>
            </a:solidFill>
            <a:prstDash val="solid"/>
          </a:ln>
        </p:spPr>
      </p:sp>
      <p:sp>
        <p:nvSpPr>
          <p:cNvPr id="4" name="Shape 1"/>
          <p:cNvSpPr/>
          <p:nvPr/>
        </p:nvSpPr>
        <p:spPr>
          <a:xfrm>
            <a:off x="2220341" y="4573651"/>
            <a:ext cx="11647297" cy="1265809"/>
          </a:xfrm>
          <a:prstGeom prst="ellipse">
            <a:avLst/>
          </a:prstGeom>
          <a:solidFill>
            <a:srgbClr val="FFFFFF"/>
          </a:solidFill>
          <a:ln/>
        </p:spPr>
      </p:sp>
      <p:sp>
        <p:nvSpPr>
          <p:cNvPr id="5" name="Shape 2"/>
          <p:cNvSpPr/>
          <p:nvPr/>
        </p:nvSpPr>
        <p:spPr>
          <a:xfrm>
            <a:off x="9757791" y="2293620"/>
            <a:ext cx="3191129" cy="3550793"/>
          </a:xfrm>
          <a:prstGeom prst="roundRect">
            <a:avLst>
              <a:gd name="adj" fmla="val 16667"/>
            </a:avLst>
          </a:prstGeom>
          <a:solidFill>
            <a:srgbClr val="FFFFFF"/>
          </a:solidFill>
          <a:ln w="12700">
            <a:solidFill>
              <a:srgbClr val="04579A"/>
            </a:solidFill>
            <a:prstDash val="solid"/>
          </a:ln>
          <a:effectLst>
            <a:outerShdw sx="100000" sy="100000" kx="0" ky="0" algn="bl" rotWithShape="0" blurRad="63500" dist="50800" dir="2700000">
              <a:srgbClr val="000000">
                <a:alpha val="40000"/>
              </a:srgbClr>
            </a:outerShdw>
          </a:effectLst>
        </p:spPr>
      </p:sp>
      <p:sp>
        <p:nvSpPr>
          <p:cNvPr id="6" name="Text 3"/>
          <p:cNvSpPr/>
          <p:nvPr/>
        </p:nvSpPr>
        <p:spPr>
          <a:xfrm>
            <a:off x="10073640" y="4068699"/>
            <a:ext cx="2633980" cy="1108202"/>
          </a:xfrm>
          <a:prstGeom prst="rect">
            <a:avLst/>
          </a:prstGeom>
          <a:noFill/>
          <a:ln/>
        </p:spPr>
        <p:txBody>
          <a:bodyPr wrap="square" lIns="0" tIns="0" rIns="0" bIns="0" rtlCol="0" anchor="t"/>
          <a:lstStyle/>
          <a:p>
            <a:pPr algn="l">
              <a:lnSpc>
                <a:spcPct val="120000"/>
              </a:lnSpc>
            </a:pPr>
            <a:r>
              <a:rPr lang="en-US" sz="2130" dirty="0">
                <a:solidFill>
                  <a:srgbClr val="3F3F3F"/>
                </a:solidFill>
                <a:latin typeface="Arial" pitchFamily="34" charset="0"/>
                <a:ea typeface="Arial" pitchFamily="34" charset="-122"/>
                <a:cs typeface="Arial" pitchFamily="34" charset="-120"/>
              </a:rPr>
              <a:t>锁定或销毁源链中的资产，并在目标链中创建该资产</a:t>
            </a:r>
            <a:endParaRPr lang="en-US" sz="2130" dirty="0"/>
          </a:p>
        </p:txBody>
      </p:sp>
      <p:sp>
        <p:nvSpPr>
          <p:cNvPr id="7" name="Text 4"/>
          <p:cNvSpPr/>
          <p:nvPr/>
        </p:nvSpPr>
        <p:spPr>
          <a:xfrm>
            <a:off x="9757029" y="3392297"/>
            <a:ext cx="3191891" cy="531495"/>
          </a:xfrm>
          <a:prstGeom prst="rect">
            <a:avLst/>
          </a:prstGeom>
          <a:noFill/>
          <a:ln/>
        </p:spPr>
        <p:txBody>
          <a:bodyPr wrap="square" lIns="0" tIns="0" rIns="0" bIns="0" rtlCol="0" anchor="t"/>
          <a:lstStyle/>
          <a:p>
            <a:pPr algn="ctr">
              <a:lnSpc>
                <a:spcPct val="120000"/>
              </a:lnSpc>
            </a:pPr>
            <a:r>
              <a:rPr lang="en-US" sz="2670" b="1" dirty="0">
                <a:solidFill>
                  <a:srgbClr val="04579A"/>
                </a:solidFill>
                <a:latin typeface="Arial" pitchFamily="34" charset="0"/>
                <a:ea typeface="Arial" pitchFamily="34" charset="-122"/>
                <a:cs typeface="Arial" pitchFamily="34" charset="-120"/>
              </a:rPr>
              <a:t>资产转移</a:t>
            </a:r>
            <a:endParaRPr lang="en-US" sz="2670" dirty="0"/>
          </a:p>
        </p:txBody>
      </p:sp>
      <p:sp>
        <p:nvSpPr>
          <p:cNvPr id="8" name="Shape 5"/>
          <p:cNvSpPr/>
          <p:nvPr/>
        </p:nvSpPr>
        <p:spPr>
          <a:xfrm>
            <a:off x="2856611" y="2313051"/>
            <a:ext cx="3191129" cy="3559429"/>
          </a:xfrm>
          <a:prstGeom prst="roundRect">
            <a:avLst>
              <a:gd name="adj" fmla="val 16667"/>
            </a:avLst>
          </a:prstGeom>
          <a:solidFill>
            <a:srgbClr val="FFFFFF"/>
          </a:solidFill>
          <a:ln w="12700">
            <a:solidFill>
              <a:srgbClr val="04579A"/>
            </a:solidFill>
            <a:prstDash val="solid"/>
          </a:ln>
          <a:effectLst>
            <a:outerShdw sx="100000" sy="100000" kx="0" ky="0" algn="bl" rotWithShape="0" blurRad="63500" dist="50800" dir="2700000">
              <a:srgbClr val="000000">
                <a:alpha val="40000"/>
              </a:srgbClr>
            </a:outerShdw>
          </a:effectLst>
        </p:spPr>
      </p:sp>
      <p:sp>
        <p:nvSpPr>
          <p:cNvPr id="9" name="Shape 6"/>
          <p:cNvSpPr/>
          <p:nvPr/>
        </p:nvSpPr>
        <p:spPr>
          <a:xfrm>
            <a:off x="3200400" y="4072890"/>
            <a:ext cx="2502789" cy="1107948"/>
          </a:xfrm>
          <a:prstGeom prst="rect">
            <a:avLst/>
          </a:prstGeom>
          <a:solidFill>
            <a:srgbClr val="FFFFFF"/>
          </a:solidFill>
          <a:ln/>
        </p:spPr>
      </p:sp>
      <p:sp>
        <p:nvSpPr>
          <p:cNvPr id="10" name="Text 7"/>
          <p:cNvSpPr/>
          <p:nvPr/>
        </p:nvSpPr>
        <p:spPr>
          <a:xfrm>
            <a:off x="3200400" y="4072890"/>
            <a:ext cx="2502789" cy="1107948"/>
          </a:xfrm>
          <a:prstGeom prst="rect">
            <a:avLst/>
          </a:prstGeom>
          <a:noFill/>
          <a:ln/>
        </p:spPr>
        <p:txBody>
          <a:bodyPr wrap="square" lIns="0" tIns="0" rIns="0" bIns="0" rtlCol="0" anchor="t"/>
          <a:lstStyle/>
          <a:p>
            <a:pPr algn="l">
              <a:lnSpc>
                <a:spcPct val="120000"/>
              </a:lnSpc>
            </a:pPr>
            <a:r>
              <a:rPr lang="en-US" sz="2130" dirty="0">
                <a:solidFill>
                  <a:srgbClr val="3F3F3F"/>
                </a:solidFill>
                <a:latin typeface="Arial" pitchFamily="34" charset="0"/>
                <a:ea typeface="Arial" pitchFamily="34" charset="-122"/>
                <a:cs typeface="Arial" pitchFamily="34" charset="-120"/>
              </a:rPr>
              <a:t>在一个域中写入的信息可以被转移或复制到另一个域</a:t>
            </a:r>
            <a:endParaRPr lang="en-US" sz="2130" dirty="0"/>
          </a:p>
        </p:txBody>
      </p:sp>
      <p:sp>
        <p:nvSpPr>
          <p:cNvPr id="11" name="Text 8"/>
          <p:cNvSpPr/>
          <p:nvPr/>
        </p:nvSpPr>
        <p:spPr>
          <a:xfrm>
            <a:off x="2855849" y="3410331"/>
            <a:ext cx="3191891" cy="531749"/>
          </a:xfrm>
          <a:prstGeom prst="rect">
            <a:avLst/>
          </a:prstGeom>
          <a:noFill/>
          <a:ln/>
        </p:spPr>
        <p:txBody>
          <a:bodyPr wrap="square" lIns="0" tIns="0" rIns="0" bIns="0" rtlCol="0" anchor="t"/>
          <a:lstStyle/>
          <a:p>
            <a:pPr algn="ctr">
              <a:lnSpc>
                <a:spcPct val="120000"/>
              </a:lnSpc>
            </a:pPr>
            <a:r>
              <a:rPr lang="en-US" sz="2670" b="1" dirty="0">
                <a:solidFill>
                  <a:srgbClr val="04579A"/>
                </a:solidFill>
                <a:latin typeface="Arial" pitchFamily="34" charset="0"/>
                <a:ea typeface="Arial" pitchFamily="34" charset="-122"/>
                <a:cs typeface="Arial" pitchFamily="34" charset="-120"/>
              </a:rPr>
              <a:t>数据传输</a:t>
            </a:r>
            <a:endParaRPr lang="en-US" sz="2670" dirty="0"/>
          </a:p>
        </p:txBody>
      </p:sp>
      <p:sp>
        <p:nvSpPr>
          <p:cNvPr id="12" name="Text 9"/>
          <p:cNvSpPr/>
          <p:nvPr/>
        </p:nvSpPr>
        <p:spPr>
          <a:xfrm>
            <a:off x="6681851" y="4257421"/>
            <a:ext cx="2555240" cy="779399"/>
          </a:xfrm>
          <a:prstGeom prst="rect">
            <a:avLst/>
          </a:prstGeom>
          <a:noFill/>
          <a:ln/>
        </p:spPr>
        <p:txBody>
          <a:bodyPr wrap="square" lIns="0" tIns="0" rIns="0" bIns="0" rtlCol="0" anchor="t"/>
          <a:lstStyle/>
          <a:p>
            <a:pPr algn="l">
              <a:lnSpc>
                <a:spcPct val="120000"/>
              </a:lnSpc>
            </a:pPr>
            <a:r>
              <a:rPr lang="en-US" sz="2130" dirty="0">
                <a:solidFill>
                  <a:srgbClr val="3F3F3F"/>
                </a:solidFill>
                <a:latin typeface="Arial" pitchFamily="34" charset="0"/>
                <a:ea typeface="Arial" pitchFamily="34" charset="-122"/>
                <a:cs typeface="Arial" pitchFamily="34" charset="-120"/>
              </a:rPr>
              <a:t>允许不受信任的各方原子地交换资产</a:t>
            </a:r>
            <a:endParaRPr lang="en-US" sz="2130" dirty="0"/>
          </a:p>
        </p:txBody>
      </p:sp>
      <p:sp>
        <p:nvSpPr>
          <p:cNvPr id="13" name="Text 10"/>
          <p:cNvSpPr/>
          <p:nvPr/>
        </p:nvSpPr>
        <p:spPr>
          <a:xfrm>
            <a:off x="6305931" y="3393186"/>
            <a:ext cx="3191891" cy="531368"/>
          </a:xfrm>
          <a:prstGeom prst="rect">
            <a:avLst/>
          </a:prstGeom>
          <a:noFill/>
          <a:ln/>
        </p:spPr>
        <p:txBody>
          <a:bodyPr wrap="square" lIns="0" tIns="0" rIns="0" bIns="0" rtlCol="0" anchor="t"/>
          <a:lstStyle/>
          <a:p>
            <a:pPr algn="ctr">
              <a:lnSpc>
                <a:spcPct val="120000"/>
              </a:lnSpc>
            </a:pPr>
            <a:r>
              <a:rPr lang="en-US" sz="2670" b="1" dirty="0">
                <a:solidFill>
                  <a:srgbClr val="04579A"/>
                </a:solidFill>
                <a:latin typeface="Arial" pitchFamily="34" charset="0"/>
                <a:ea typeface="Arial" pitchFamily="34" charset="-122"/>
                <a:cs typeface="Arial" pitchFamily="34" charset="-120"/>
              </a:rPr>
              <a:t>资产交换</a:t>
            </a:r>
            <a:endParaRPr lang="en-US" sz="2670" dirty="0"/>
          </a:p>
        </p:txBody>
      </p:sp>
      <p:sp>
        <p:nvSpPr>
          <p:cNvPr id="14" name="Shape 11"/>
          <p:cNvSpPr/>
          <p:nvPr/>
        </p:nvSpPr>
        <p:spPr>
          <a:xfrm>
            <a:off x="6306820" y="2281809"/>
            <a:ext cx="3191129" cy="3588766"/>
          </a:xfrm>
          <a:prstGeom prst="roundRect">
            <a:avLst>
              <a:gd name="adj" fmla="val 16667"/>
            </a:avLst>
          </a:prstGeom>
          <a:noFill/>
          <a:ln w="12700">
            <a:solidFill>
              <a:srgbClr val="04579A"/>
            </a:solidFill>
            <a:prstDash val="solid"/>
          </a:ln>
          <a:effectLst>
            <a:outerShdw sx="100000" sy="100000" kx="0" ky="0" algn="bl" rotWithShape="0" blurRad="63500" dist="50800" dir="2700000">
              <a:srgbClr val="000000">
                <a:alpha val="40000"/>
              </a:srgbClr>
            </a:outerShdw>
          </a:effectLst>
        </p:spPr>
      </p:sp>
      <p:sp>
        <p:nvSpPr>
          <p:cNvPr id="15" name="Text 12"/>
          <p:cNvSpPr/>
          <p:nvPr/>
        </p:nvSpPr>
        <p:spPr>
          <a:xfrm>
            <a:off x="3623310" y="7989951"/>
            <a:ext cx="9009380" cy="492506"/>
          </a:xfrm>
          <a:prstGeom prst="rect">
            <a:avLst/>
          </a:prstGeom>
          <a:noFill/>
          <a:ln/>
        </p:spPr>
        <p:txBody>
          <a:bodyPr wrap="square" lIns="0" tIns="0" rIns="0" bIns="0" rtlCol="0" anchor="t"/>
          <a:lstStyle/>
          <a:p>
            <a:pPr algn="ctr">
              <a:lnSpc>
                <a:spcPct val="120000"/>
              </a:lnSpc>
            </a:pPr>
            <a:r>
              <a:rPr lang="en-US" sz="2400" b="1" dirty="0">
                <a:solidFill>
                  <a:srgbClr val="04579A"/>
                </a:solidFill>
                <a:latin typeface="Arial" pitchFamily="34" charset="0"/>
                <a:ea typeface="Arial" pitchFamily="34" charset="-122"/>
                <a:cs typeface="Arial" pitchFamily="34" charset="-120"/>
              </a:rPr>
              <a:t>跨链分布式数字资产交易协议的核心是跨链证明生成和验证机制</a:t>
            </a:r>
            <a:endParaRPr lang="en-US" sz="2400" dirty="0"/>
          </a:p>
        </p:txBody>
      </p:sp>
      <p:sp>
        <p:nvSpPr>
          <p:cNvPr id="16" name="Shape 13"/>
          <p:cNvSpPr/>
          <p:nvPr/>
        </p:nvSpPr>
        <p:spPr>
          <a:xfrm>
            <a:off x="11558651" y="5709920"/>
            <a:ext cx="1524000" cy="1524000"/>
          </a:xfrm>
          <a:prstGeom prst="ellipse">
            <a:avLst/>
          </a:prstGeom>
          <a:gradFill rotWithShape="1" flip="none">
            <a:gsLst>
              <a:gs pos="0">
                <a:srgbClr val="03569A"/>
              </a:gs>
              <a:gs pos="72000">
                <a:srgbClr val="F7F9FD"/>
              </a:gs>
              <a:gs pos="100000">
                <a:srgbClr val="F7F9FD"/>
              </a:gs>
            </a:gsLst>
            <a:path path="circle"/>
          </a:gradFill>
          <a:ln/>
        </p:spPr>
      </p:sp>
      <p:sp>
        <p:nvSpPr>
          <p:cNvPr id="17" name="Text 14"/>
          <p:cNvSpPr/>
          <p:nvPr/>
        </p:nvSpPr>
        <p:spPr>
          <a:xfrm>
            <a:off x="11558651" y="5709920"/>
            <a:ext cx="1524000" cy="1524000"/>
          </a:xfrm>
          <a:prstGeom prst="rect">
            <a:avLst/>
          </a:prstGeom>
          <a:noFill/>
          <a:ln/>
        </p:spPr>
        <p:txBody>
          <a:bodyPr wrap="square" lIns="0" tIns="0" rIns="0" bIns="0" rtlCol="0" anchor="ctr"/>
          <a:lstStyle/>
          <a:p>
            <a:pPr algn="ctr">
              <a:lnSpc>
                <a:spcPct val="120000"/>
              </a:lnSpc>
            </a:pPr>
            <a:r>
              <a:rPr lang="en-US" sz="2400" dirty="0">
                <a:solidFill>
                  <a:srgbClr val="FFFFFF"/>
                </a:solidFill>
                <a:latin typeface="Arial" pitchFamily="34" charset="0"/>
                <a:ea typeface="Arial" pitchFamily="34" charset="-122"/>
                <a:cs typeface="Arial" pitchFamily="34" charset="-120"/>
              </a:rPr>
              <a:t>条件交易</a:t>
            </a:r>
            <a:endParaRPr lang="en-US" sz="2400" dirty="0"/>
          </a:p>
        </p:txBody>
      </p:sp>
      <p:sp>
        <p:nvSpPr>
          <p:cNvPr id="18" name="Shape 15"/>
          <p:cNvSpPr/>
          <p:nvPr/>
        </p:nvSpPr>
        <p:spPr>
          <a:xfrm>
            <a:off x="8781669" y="6032500"/>
            <a:ext cx="1528191" cy="1528191"/>
          </a:xfrm>
          <a:prstGeom prst="ellipse">
            <a:avLst/>
          </a:prstGeom>
          <a:gradFill rotWithShape="1" flip="none">
            <a:gsLst>
              <a:gs pos="0">
                <a:srgbClr val="03569A"/>
              </a:gs>
              <a:gs pos="72000">
                <a:srgbClr val="F7F9FD"/>
              </a:gs>
              <a:gs pos="100000">
                <a:srgbClr val="F7F9FD"/>
              </a:gs>
            </a:gsLst>
            <a:path path="circle"/>
          </a:gradFill>
          <a:ln/>
        </p:spPr>
      </p:sp>
      <p:sp>
        <p:nvSpPr>
          <p:cNvPr id="19" name="Text 16"/>
          <p:cNvSpPr/>
          <p:nvPr/>
        </p:nvSpPr>
        <p:spPr>
          <a:xfrm>
            <a:off x="8781669" y="6032500"/>
            <a:ext cx="1528191" cy="1528191"/>
          </a:xfrm>
          <a:prstGeom prst="rect">
            <a:avLst/>
          </a:prstGeom>
          <a:noFill/>
          <a:ln/>
        </p:spPr>
        <p:txBody>
          <a:bodyPr wrap="square" lIns="0" tIns="0" rIns="0" bIns="0" rtlCol="0" anchor="ctr"/>
          <a:lstStyle/>
          <a:p>
            <a:pPr algn="ctr">
              <a:lnSpc>
                <a:spcPct val="120000"/>
              </a:lnSpc>
            </a:pPr>
            <a:r>
              <a:rPr lang="en-US" sz="2400" dirty="0">
                <a:solidFill>
                  <a:srgbClr val="FFFFFF"/>
                </a:solidFill>
                <a:latin typeface="Arial" pitchFamily="34" charset="0"/>
                <a:ea typeface="Arial" pitchFamily="34" charset="-122"/>
                <a:cs typeface="Arial" pitchFamily="34" charset="-120"/>
              </a:rPr>
              <a:t>证明验证</a:t>
            </a:r>
            <a:endParaRPr lang="en-US" sz="2400" dirty="0"/>
          </a:p>
        </p:txBody>
      </p:sp>
      <p:sp>
        <p:nvSpPr>
          <p:cNvPr id="20" name="Shape 17"/>
          <p:cNvSpPr/>
          <p:nvPr/>
        </p:nvSpPr>
        <p:spPr>
          <a:xfrm>
            <a:off x="5619369" y="6032500"/>
            <a:ext cx="1528191" cy="1528191"/>
          </a:xfrm>
          <a:prstGeom prst="ellipse">
            <a:avLst/>
          </a:prstGeom>
          <a:gradFill rotWithShape="1" flip="none">
            <a:gsLst>
              <a:gs pos="0">
                <a:srgbClr val="03569A"/>
              </a:gs>
              <a:gs pos="72000">
                <a:srgbClr val="F7F9FD"/>
              </a:gs>
              <a:gs pos="100000">
                <a:srgbClr val="F7F9FD"/>
              </a:gs>
            </a:gsLst>
            <a:path path="circle"/>
          </a:gradFill>
          <a:ln/>
        </p:spPr>
      </p:sp>
      <p:sp>
        <p:nvSpPr>
          <p:cNvPr id="21" name="Text 18"/>
          <p:cNvSpPr/>
          <p:nvPr/>
        </p:nvSpPr>
        <p:spPr>
          <a:xfrm>
            <a:off x="5619369" y="6032500"/>
            <a:ext cx="1528191" cy="1528191"/>
          </a:xfrm>
          <a:prstGeom prst="rect">
            <a:avLst/>
          </a:prstGeom>
          <a:noFill/>
          <a:ln/>
        </p:spPr>
        <p:txBody>
          <a:bodyPr wrap="square" lIns="0" tIns="0" rIns="0" bIns="0" rtlCol="0" anchor="ctr"/>
          <a:lstStyle/>
          <a:p>
            <a:pPr algn="ctr">
              <a:lnSpc>
                <a:spcPct val="120000"/>
              </a:lnSpc>
            </a:pPr>
            <a:r>
              <a:rPr lang="en-US" sz="2400" dirty="0">
                <a:solidFill>
                  <a:srgbClr val="FFFFFF"/>
                </a:solidFill>
                <a:latin typeface="Arial" pitchFamily="34" charset="0"/>
                <a:ea typeface="Arial" pitchFamily="34" charset="-122"/>
                <a:cs typeface="Arial" pitchFamily="34" charset="-120"/>
              </a:rPr>
              <a:t>证明生成</a:t>
            </a:r>
            <a:endParaRPr lang="en-US" sz="2400" dirty="0"/>
          </a:p>
        </p:txBody>
      </p:sp>
      <p:sp>
        <p:nvSpPr>
          <p:cNvPr id="22" name="Shape 19"/>
          <p:cNvSpPr/>
          <p:nvPr/>
        </p:nvSpPr>
        <p:spPr>
          <a:xfrm>
            <a:off x="2565400" y="5839460"/>
            <a:ext cx="1528191" cy="1528191"/>
          </a:xfrm>
          <a:prstGeom prst="ellipse">
            <a:avLst/>
          </a:prstGeom>
          <a:gradFill rotWithShape="1" flip="none">
            <a:gsLst>
              <a:gs pos="0">
                <a:srgbClr val="03569A"/>
              </a:gs>
              <a:gs pos="72000">
                <a:srgbClr val="F7F9FD"/>
              </a:gs>
              <a:gs pos="100000">
                <a:srgbClr val="F7F9FD"/>
              </a:gs>
            </a:gsLst>
            <a:path path="circle"/>
          </a:gradFill>
          <a:ln/>
        </p:spPr>
      </p:sp>
      <p:sp>
        <p:nvSpPr>
          <p:cNvPr id="23" name="Text 20"/>
          <p:cNvSpPr/>
          <p:nvPr/>
        </p:nvSpPr>
        <p:spPr>
          <a:xfrm>
            <a:off x="2565400" y="5839460"/>
            <a:ext cx="1528191" cy="1528191"/>
          </a:xfrm>
          <a:prstGeom prst="rect">
            <a:avLst/>
          </a:prstGeom>
          <a:noFill/>
          <a:ln/>
        </p:spPr>
        <p:txBody>
          <a:bodyPr wrap="square" lIns="0" tIns="0" rIns="0" bIns="0" rtlCol="0" anchor="ctr"/>
          <a:lstStyle/>
          <a:p>
            <a:pPr algn="ctr">
              <a:lnSpc>
                <a:spcPct val="120000"/>
              </a:lnSpc>
            </a:pPr>
            <a:r>
              <a:rPr lang="en-US" sz="2400" dirty="0">
                <a:solidFill>
                  <a:srgbClr val="FFFFFF"/>
                </a:solidFill>
                <a:latin typeface="Arial" pitchFamily="34" charset="0"/>
                <a:ea typeface="Arial" pitchFamily="34" charset="-122"/>
                <a:cs typeface="Arial" pitchFamily="34" charset="-120"/>
              </a:rPr>
              <a:t>资产</a:t>
            </a:r>
            <a:endParaRPr lang="en-US" sz="2400" dirty="0"/>
          </a:p>
          <a:p>
            <a:pPr algn="ctr">
              <a:lnSpc>
                <a:spcPct val="120000"/>
              </a:lnSpc>
            </a:pPr>
            <a:r>
              <a:rPr lang="en-US" sz="2400" dirty="0">
                <a:solidFill>
                  <a:srgbClr val="FFFFFF"/>
                </a:solidFill>
                <a:latin typeface="Arial" pitchFamily="34" charset="0"/>
                <a:ea typeface="Arial" pitchFamily="34" charset="-122"/>
                <a:cs typeface="Arial" pitchFamily="34" charset="-120"/>
              </a:rPr>
              <a:t>托管</a:t>
            </a:r>
            <a:endParaRPr lang="en-US" sz="2400" dirty="0"/>
          </a:p>
        </p:txBody>
      </p:sp>
      <p:sp>
        <p:nvSpPr>
          <p:cNvPr id="24" name="Shape 21"/>
          <p:cNvSpPr/>
          <p:nvPr/>
        </p:nvSpPr>
        <p:spPr>
          <a:xfrm>
            <a:off x="2219960" y="0"/>
            <a:ext cx="2942209" cy="962660"/>
          </a:xfrm>
          <a:prstGeom prst="rect">
            <a:avLst/>
          </a:prstGeom>
          <a:solidFill>
            <a:srgbClr val="F2F2F2"/>
          </a:solidFill>
          <a:ln w="12700">
            <a:solidFill>
              <a:srgbClr val="F2F2F2"/>
            </a:solidFill>
            <a:prstDash val="solid"/>
          </a:ln>
        </p:spPr>
      </p:sp>
      <p:sp>
        <p:nvSpPr>
          <p:cNvPr id="25" name="Shape 22"/>
          <p:cNvSpPr/>
          <p:nvPr/>
        </p:nvSpPr>
        <p:spPr>
          <a:xfrm>
            <a:off x="5162169" y="-889"/>
            <a:ext cx="2654300" cy="962660"/>
          </a:xfrm>
          <a:prstGeom prst="rect">
            <a:avLst/>
          </a:prstGeom>
          <a:solidFill>
            <a:srgbClr val="F2F2F2"/>
          </a:solidFill>
          <a:ln/>
        </p:spPr>
      </p:sp>
      <p:sp>
        <p:nvSpPr>
          <p:cNvPr id="26" name="Shape 23"/>
          <p:cNvSpPr/>
          <p:nvPr/>
        </p:nvSpPr>
        <p:spPr>
          <a:xfrm>
            <a:off x="7816469" y="-889"/>
            <a:ext cx="4154551" cy="962660"/>
          </a:xfrm>
          <a:prstGeom prst="rect">
            <a:avLst/>
          </a:prstGeom>
          <a:solidFill>
            <a:srgbClr val="F2F2F2"/>
          </a:solidFill>
          <a:ln/>
        </p:spPr>
      </p:sp>
      <p:sp>
        <p:nvSpPr>
          <p:cNvPr id="27" name="Shape 24"/>
          <p:cNvSpPr/>
          <p:nvPr/>
        </p:nvSpPr>
        <p:spPr>
          <a:xfrm>
            <a:off x="11971020" y="0"/>
            <a:ext cx="4284980" cy="961771"/>
          </a:xfrm>
          <a:prstGeom prst="rect">
            <a:avLst/>
          </a:prstGeom>
          <a:solidFill>
            <a:srgbClr val="F2F2F2"/>
          </a:solidFill>
          <a:ln/>
        </p:spPr>
      </p:sp>
      <p:sp>
        <p:nvSpPr>
          <p:cNvPr id="28" name="Shape 25"/>
          <p:cNvSpPr/>
          <p:nvPr/>
        </p:nvSpPr>
        <p:spPr>
          <a:xfrm>
            <a:off x="2219960" y="-889"/>
            <a:ext cx="2942209" cy="962660"/>
          </a:xfrm>
          <a:prstGeom prst="rect">
            <a:avLst/>
          </a:prstGeom>
          <a:solidFill>
            <a:srgbClr val="04579A"/>
          </a:solidFill>
          <a:ln w="12700">
            <a:solidFill>
              <a:srgbClr val="04579A"/>
            </a:solidFill>
            <a:prstDash val="solid"/>
          </a:ln>
        </p:spPr>
      </p:sp>
      <p:sp>
        <p:nvSpPr>
          <p:cNvPr id="29" name="Text 26"/>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选题背景及意义</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国内外研究现状</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主要研究内容及预期目标</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工作计划与进度安排</a:t>
            </a:r>
            <a:endParaRPr lang="en-US" sz="2400" dirty="0"/>
          </a:p>
        </p:txBody>
      </p:sp>
      <p:pic>
        <p:nvPicPr>
          <p:cNvPr id="30"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31" name="Shape 27"/>
          <p:cNvSpPr/>
          <p:nvPr/>
        </p:nvSpPr>
        <p:spPr>
          <a:xfrm rot="10800000">
            <a:off x="3496691" y="961771"/>
            <a:ext cx="389509" cy="304800"/>
          </a:xfrm>
          <a:prstGeom prst="triangle">
            <a:avLst>
              <a:gd name="adj" fmla="val 50000"/>
            </a:avLst>
          </a:prstGeom>
          <a:solidFill>
            <a:srgbClr val="04579A"/>
          </a:solidFill>
          <a:ln/>
        </p:spPr>
      </p:sp>
      <p:sp>
        <p:nvSpPr>
          <p:cNvPr id="32" name="Text 28"/>
          <p:cNvSpPr/>
          <p:nvPr/>
        </p:nvSpPr>
        <p:spPr>
          <a:xfrm>
            <a:off x="544449" y="1266571"/>
            <a:ext cx="14303629" cy="665480"/>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3F3F3F"/>
                </a:solidFill>
                <a:latin typeface="Arial" pitchFamily="34" charset="0"/>
                <a:ea typeface="Arial" pitchFamily="34" charset="-122"/>
                <a:cs typeface="Arial" pitchFamily="34" charset="-120"/>
              </a:rPr>
              <a:t>异构区块链系统间的互联互通要求分布式数字资产交易协议具有互操作性</a:t>
            </a:r>
            <a:endParaRPr lang="en-US" sz="2670" dirty="0"/>
          </a:p>
        </p:txBody>
      </p:sp>
      <p:pic>
        <p:nvPicPr>
          <p:cNvPr id="33" name="Image 1" descr="https://kimi-img.moonshot.cn/pub/slides/okc/flfuysioo4gzm/mnt/agents/output/yuan_pptd/images/image_25.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97020" y="2649982"/>
            <a:ext cx="600329" cy="600329"/>
          </a:xfrm>
          <a:prstGeom prst="rect">
            <a:avLst/>
          </a:prstGeom>
        </p:spPr>
      </p:pic>
      <p:pic>
        <p:nvPicPr>
          <p:cNvPr id="34" name="Image 2" descr="https://kimi-img.moonshot.cn/pub/slides/okc/flfuysioo4gzm/mnt/agents/output/yuan_pptd/images/image_26.sv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03744" y="2645537"/>
            <a:ext cx="596265" cy="596265"/>
          </a:xfrm>
          <a:prstGeom prst="rect">
            <a:avLst/>
          </a:prstGeom>
        </p:spPr>
      </p:pic>
      <p:pic>
        <p:nvPicPr>
          <p:cNvPr id="35" name="Image 3" descr="https://kimi-img.moonshot.cn/pub/slides/okc/flfuysioo4gzm/mnt/agents/output/yuan_pptd/images/image_27.sv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054842" y="2645410"/>
            <a:ext cx="596265" cy="596265"/>
          </a:xfrm>
          <a:prstGeom prst="rect">
            <a:avLst/>
          </a:prstGeom>
        </p:spPr>
      </p:pic>
      <p:sp>
        <p:nvSpPr>
          <p:cNvPr id="36" name="Text 29"/>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12</a:t>
            </a:r>
            <a:endParaRPr lang="en-US" sz="2400" dirty="0"/>
          </a:p>
        </p:txBody>
      </p:sp>
    </p:spTree>
  </p:cSld>
  <p:clrMapOvr>
    <a:masterClrMapping/>
  </p:clrMapOvr>
  <p:transition>
    <p:fade/>
    <p:spd val="med"/>
  </p:transition>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2219960" y="0"/>
            <a:ext cx="2942209" cy="962660"/>
          </a:xfrm>
          <a:prstGeom prst="rect">
            <a:avLst/>
          </a:prstGeom>
          <a:solidFill>
            <a:srgbClr val="F2F2F2"/>
          </a:solidFill>
          <a:ln w="12700">
            <a:solidFill>
              <a:srgbClr val="F2F2F2"/>
            </a:solidFill>
            <a:prstDash val="solid"/>
          </a:ln>
        </p:spPr>
      </p:sp>
      <p:sp>
        <p:nvSpPr>
          <p:cNvPr id="4" name="Shape 1"/>
          <p:cNvSpPr/>
          <p:nvPr/>
        </p:nvSpPr>
        <p:spPr>
          <a:xfrm>
            <a:off x="5162169" y="-889"/>
            <a:ext cx="2654300" cy="962660"/>
          </a:xfrm>
          <a:prstGeom prst="rect">
            <a:avLst/>
          </a:prstGeom>
          <a:solidFill>
            <a:srgbClr val="F2F2F2"/>
          </a:solidFill>
          <a:ln/>
        </p:spPr>
      </p:sp>
      <p:sp>
        <p:nvSpPr>
          <p:cNvPr id="5" name="Shape 2"/>
          <p:cNvSpPr/>
          <p:nvPr/>
        </p:nvSpPr>
        <p:spPr>
          <a:xfrm>
            <a:off x="7816469" y="-889"/>
            <a:ext cx="4154551" cy="962660"/>
          </a:xfrm>
          <a:prstGeom prst="rect">
            <a:avLst/>
          </a:prstGeom>
          <a:solidFill>
            <a:srgbClr val="F2F2F2"/>
          </a:solidFill>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942209" cy="962660"/>
          </a:xfrm>
          <a:prstGeom prst="rect">
            <a:avLst/>
          </a:prstGeom>
          <a:solidFill>
            <a:srgbClr val="04579A"/>
          </a:solidFill>
          <a:ln w="12700">
            <a:solidFill>
              <a:srgbClr val="04579A"/>
            </a:solidFill>
            <a:prstDash val="solid"/>
          </a:ln>
        </p:spPr>
      </p:sp>
      <p:sp>
        <p:nvSpPr>
          <p:cNvPr id="8" name="Text 5"/>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选题背景及意义</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国内外研究现状</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主要研究内容及预期目标</a:t>
            </a:r>
            <a:pPr algn="l">
              <a:lnSpc>
                <a:spcPct val="120000"/>
              </a:lnSpc>
            </a:pPr>
            <a:r>
              <a:rPr lang="en-US" sz="2400" dirty="0">
                <a:solidFill>
                  <a:srgbClr val="000000"/>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工作计划与进度安排</a:t>
            </a:r>
            <a:endParaRPr lang="en-US" sz="2400" dirty="0"/>
          </a:p>
        </p:txBody>
      </p:sp>
      <p:pic>
        <p:nvPicPr>
          <p:cNvPr id="9"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0" name="Shape 6"/>
          <p:cNvSpPr/>
          <p:nvPr/>
        </p:nvSpPr>
        <p:spPr>
          <a:xfrm rot="10800000">
            <a:off x="3496691" y="961771"/>
            <a:ext cx="389509" cy="304800"/>
          </a:xfrm>
          <a:prstGeom prst="triangle">
            <a:avLst>
              <a:gd name="adj" fmla="val 50000"/>
            </a:avLst>
          </a:prstGeom>
          <a:solidFill>
            <a:srgbClr val="04579A"/>
          </a:solidFill>
          <a:ln/>
        </p:spPr>
      </p:sp>
      <p:sp>
        <p:nvSpPr>
          <p:cNvPr id="11" name="Text 7"/>
          <p:cNvSpPr/>
          <p:nvPr/>
        </p:nvSpPr>
        <p:spPr>
          <a:xfrm>
            <a:off x="643509" y="1196340"/>
            <a:ext cx="14772640" cy="531749"/>
          </a:xfrm>
          <a:prstGeom prst="rect">
            <a:avLst/>
          </a:prstGeom>
          <a:noFill/>
          <a:ln/>
        </p:spPr>
        <p:txBody>
          <a:bodyPr wrap="square" lIns="0" tIns="0" rIns="0" bIns="0" rtlCol="0" anchor="t"/>
          <a:lstStyle/>
          <a:p>
            <a:pPr algn="l">
              <a:lnSpc>
                <a:spcPct val="120000"/>
              </a:lnSpc>
            </a:pPr>
            <a:r>
              <a:rPr lang="en-US" sz="2670" dirty="0">
                <a:solidFill>
                  <a:srgbClr val="000000"/>
                </a:solidFill>
                <a:latin typeface="Arial" pitchFamily="34" charset="0"/>
                <a:ea typeface="Arial" pitchFamily="34" charset="-122"/>
                <a:cs typeface="Arial" pitchFamily="34" charset="-120"/>
              </a:rPr>
              <a:t>数字资产市场为区块链提供了新的</a:t>
            </a:r>
            <a:pPr algn="l">
              <a:lnSpc>
                <a:spcPct val="120000"/>
              </a:lnSpc>
            </a:pPr>
            <a:r>
              <a:rPr lang="en-US" sz="2670" b="1" dirty="0">
                <a:solidFill>
                  <a:srgbClr val="04579A"/>
                </a:solidFill>
                <a:latin typeface="Arial" pitchFamily="34" charset="0"/>
                <a:ea typeface="Arial" pitchFamily="34" charset="-122"/>
                <a:cs typeface="Arial" pitchFamily="34" charset="-120"/>
              </a:rPr>
              <a:t>应用方向</a:t>
            </a:r>
            <a:pPr algn="l">
              <a:lnSpc>
                <a:spcPct val="120000"/>
              </a:lnSpc>
            </a:pPr>
            <a:r>
              <a:rPr lang="en-US" sz="2670" dirty="0">
                <a:solidFill>
                  <a:srgbClr val="000000"/>
                </a:solidFill>
                <a:latin typeface="Arial" pitchFamily="34" charset="0"/>
                <a:ea typeface="Arial" pitchFamily="34" charset="-122"/>
                <a:cs typeface="Arial" pitchFamily="34" charset="-120"/>
              </a:rPr>
              <a:t>，但同时也带来了新的</a:t>
            </a:r>
            <a:pPr algn="l">
              <a:lnSpc>
                <a:spcPct val="120000"/>
              </a:lnSpc>
            </a:pPr>
            <a:r>
              <a:rPr lang="en-US" sz="2670" b="1" dirty="0">
                <a:solidFill>
                  <a:srgbClr val="04579A"/>
                </a:solidFill>
                <a:latin typeface="Arial" pitchFamily="34" charset="0"/>
                <a:ea typeface="Arial" pitchFamily="34" charset="-122"/>
                <a:cs typeface="Arial" pitchFamily="34" charset="-120"/>
              </a:rPr>
              <a:t>技术需求</a:t>
            </a:r>
            <a:pPr algn="l">
              <a:lnSpc>
                <a:spcPct val="120000"/>
              </a:lnSpc>
            </a:pPr>
            <a:r>
              <a:rPr lang="en-US" sz="2670" dirty="0">
                <a:solidFill>
                  <a:srgbClr val="000000"/>
                </a:solidFill>
                <a:latin typeface="Arial" pitchFamily="34" charset="0"/>
                <a:ea typeface="Arial" pitchFamily="34" charset="-122"/>
                <a:cs typeface="Arial" pitchFamily="34" charset="-120"/>
              </a:rPr>
              <a:t>：</a:t>
            </a:r>
            <a:endParaRPr lang="en-US" sz="2670" dirty="0"/>
          </a:p>
        </p:txBody>
      </p:sp>
      <p:sp>
        <p:nvSpPr>
          <p:cNvPr id="12" name="Text 8"/>
          <p:cNvSpPr/>
          <p:nvPr/>
        </p:nvSpPr>
        <p:spPr>
          <a:xfrm>
            <a:off x="1010920" y="7786751"/>
            <a:ext cx="14037691" cy="531749"/>
          </a:xfrm>
          <a:prstGeom prst="rect">
            <a:avLst/>
          </a:prstGeom>
          <a:noFill/>
          <a:ln/>
        </p:spPr>
        <p:txBody>
          <a:bodyPr wrap="square" lIns="0" tIns="0" rIns="0" bIns="0" rtlCol="0" anchor="t"/>
          <a:lstStyle/>
          <a:p>
            <a:pPr algn="ctr">
              <a:lnSpc>
                <a:spcPct val="120000"/>
              </a:lnSpc>
            </a:pPr>
            <a:r>
              <a:rPr lang="en-US" sz="2670" b="1" dirty="0">
                <a:solidFill>
                  <a:srgbClr val="000000"/>
                </a:solidFill>
                <a:latin typeface="Arial" pitchFamily="34" charset="0"/>
                <a:ea typeface="Arial" pitchFamily="34" charset="-122"/>
                <a:cs typeface="Arial" pitchFamily="34" charset="-120"/>
              </a:rPr>
              <a:t>要应对新场景下特有的技术挑战，构建安全高效的分布式数字资产交易协议</a:t>
            </a:r>
            <a:endParaRPr lang="en-US" sz="2670" dirty="0"/>
          </a:p>
        </p:txBody>
      </p:sp>
      <p:sp>
        <p:nvSpPr>
          <p:cNvPr id="13" name="Shape 9"/>
          <p:cNvSpPr/>
          <p:nvPr/>
        </p:nvSpPr>
        <p:spPr>
          <a:xfrm>
            <a:off x="643509" y="5382260"/>
            <a:ext cx="14037691" cy="762889"/>
          </a:xfrm>
          <a:prstGeom prst="rect">
            <a:avLst/>
          </a:prstGeom>
          <a:solidFill>
            <a:srgbClr val="F2F2F2"/>
          </a:solidFill>
          <a:ln/>
        </p:spPr>
      </p:sp>
      <p:sp>
        <p:nvSpPr>
          <p:cNvPr id="14" name="Shape 10"/>
          <p:cNvSpPr/>
          <p:nvPr/>
        </p:nvSpPr>
        <p:spPr>
          <a:xfrm>
            <a:off x="654431" y="3809111"/>
            <a:ext cx="14037691" cy="762889"/>
          </a:xfrm>
          <a:prstGeom prst="rect">
            <a:avLst/>
          </a:prstGeom>
          <a:solidFill>
            <a:srgbClr val="F2F2F2"/>
          </a:solidFill>
          <a:ln/>
        </p:spPr>
      </p:sp>
      <p:sp>
        <p:nvSpPr>
          <p:cNvPr id="15" name="Shape 11"/>
          <p:cNvSpPr/>
          <p:nvPr/>
        </p:nvSpPr>
        <p:spPr>
          <a:xfrm>
            <a:off x="1358900" y="4713351"/>
            <a:ext cx="486029" cy="343789"/>
          </a:xfrm>
          <a:prstGeom prst="chevron">
            <a:avLst>
              <a:gd name="adj" fmla="val 50000"/>
            </a:avLst>
          </a:prstGeom>
          <a:solidFill>
            <a:srgbClr val="04579A"/>
          </a:solidFill>
          <a:ln w="12700">
            <a:solidFill>
              <a:srgbClr val="304B73"/>
            </a:solidFill>
            <a:prstDash val="solid"/>
          </a:ln>
        </p:spPr>
      </p:sp>
      <p:sp>
        <p:nvSpPr>
          <p:cNvPr id="16" name="Shape 12"/>
          <p:cNvSpPr/>
          <p:nvPr/>
        </p:nvSpPr>
        <p:spPr>
          <a:xfrm>
            <a:off x="643509" y="2236089"/>
            <a:ext cx="14037691" cy="762889"/>
          </a:xfrm>
          <a:prstGeom prst="rect">
            <a:avLst/>
          </a:prstGeom>
          <a:solidFill>
            <a:srgbClr val="F2F2F2"/>
          </a:solidFill>
          <a:ln/>
        </p:spPr>
      </p:sp>
      <p:sp>
        <p:nvSpPr>
          <p:cNvPr id="17" name="Text 13"/>
          <p:cNvSpPr/>
          <p:nvPr/>
        </p:nvSpPr>
        <p:spPr>
          <a:xfrm>
            <a:off x="742569" y="2218309"/>
            <a:ext cx="14771751" cy="5333111"/>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现实网络环境对分布式数字资产交易协议的安全性和健壮性提出了更高的要求</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分布式数字资产交易协议需要去除可信假设，建立更强的安全模型</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大规模、高并发的交易场景要求分布式数字资产交易协议具有可扩展性</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分布式数字资产交易协议需要高性能的链下方案构造</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异构区块链系统间的互联互通要求分布式数字资产交易协议具有互操作性</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分布式数字资产交易协议需要高效的跨链证明协议</a:t>
            </a:r>
            <a:endParaRPr lang="en-US" sz="2670" dirty="0"/>
          </a:p>
          <a:p>
            <a:pPr algn="l">
              <a:lnSpc>
                <a:spcPct val="150000"/>
              </a:lnSpc>
            </a:pPr>
            <a:r>
              <a:rPr lang="en-US" sz="2670" dirty="0">
                <a:solidFill>
                  <a:srgbClr val="262626"/>
                </a:solidFill>
                <a:latin typeface="Arial" pitchFamily="34" charset="0"/>
                <a:ea typeface="Arial" pitchFamily="34" charset="-122"/>
                <a:cs typeface="Arial" pitchFamily="34" charset="-120"/>
              </a:rPr>
              <a:t> </a:t>
            </a:r>
            <a:endParaRPr lang="en-US" sz="2670" dirty="0"/>
          </a:p>
        </p:txBody>
      </p:sp>
      <p:sp>
        <p:nvSpPr>
          <p:cNvPr id="18" name="Shape 14"/>
          <p:cNvSpPr/>
          <p:nvPr/>
        </p:nvSpPr>
        <p:spPr>
          <a:xfrm>
            <a:off x="1358900" y="3120009"/>
            <a:ext cx="486029" cy="343789"/>
          </a:xfrm>
          <a:prstGeom prst="chevron">
            <a:avLst>
              <a:gd name="adj" fmla="val 50000"/>
            </a:avLst>
          </a:prstGeom>
          <a:solidFill>
            <a:srgbClr val="04579A"/>
          </a:solidFill>
          <a:ln w="12700">
            <a:solidFill>
              <a:srgbClr val="304B73"/>
            </a:solidFill>
            <a:prstDash val="solid"/>
          </a:ln>
        </p:spPr>
      </p:sp>
      <p:sp>
        <p:nvSpPr>
          <p:cNvPr id="19" name="Shape 15"/>
          <p:cNvSpPr/>
          <p:nvPr/>
        </p:nvSpPr>
        <p:spPr>
          <a:xfrm>
            <a:off x="1358900" y="6223000"/>
            <a:ext cx="486029" cy="343789"/>
          </a:xfrm>
          <a:prstGeom prst="chevron">
            <a:avLst>
              <a:gd name="adj" fmla="val 50000"/>
            </a:avLst>
          </a:prstGeom>
          <a:solidFill>
            <a:srgbClr val="04579A"/>
          </a:solidFill>
          <a:ln w="12700">
            <a:solidFill>
              <a:srgbClr val="304B73"/>
            </a:solidFill>
            <a:prstDash val="solid"/>
          </a:ln>
        </p:spPr>
      </p:sp>
      <p:sp>
        <p:nvSpPr>
          <p:cNvPr id="20" name="Text 16"/>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13</a:t>
            </a:r>
            <a:endParaRPr lang="en-US" sz="2400" dirty="0"/>
          </a:p>
        </p:txBody>
      </p:sp>
    </p:spTree>
  </p:cSld>
  <p:clrMapOvr>
    <a:masterClrMapping/>
  </p:clrMapOvr>
  <p:transition>
    <p:fade/>
    <p:spd val="med"/>
  </p:transition>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275971" y="2037969"/>
            <a:ext cx="14771751" cy="4981702"/>
          </a:xfrm>
          <a:prstGeom prst="rect">
            <a:avLst/>
          </a:prstGeom>
          <a:noFill/>
          <a:ln/>
        </p:spPr>
        <p:txBody>
          <a:bodyPr wrap="square" lIns="0" tIns="0" rIns="0" bIns="0" rtlCol="0" anchor="t"/>
          <a:lstStyle/>
          <a:p>
            <a:pPr algn="l" marL="338138" indent="-338138">
              <a:lnSpc>
                <a:spcPct val="150000"/>
              </a:lnSpc>
              <a:spcBef>
                <a:spcPts val="10"/>
              </a:spcBef>
              <a:buSzPct val="100000"/>
              <a:buFont typeface="+mj-lt"/>
              <a:buAutoNum type="arabicPeriod" startAt="1"/>
            </a:pPr>
            <a:r>
              <a:rPr lang="en-US" sz="2130" dirty="0">
                <a:solidFill>
                  <a:srgbClr val="FFFFFF"/>
                </a:solidFill>
                <a:latin typeface="Arial" pitchFamily="34" charset="0"/>
                <a:ea typeface="Arial" pitchFamily="34" charset="-122"/>
                <a:cs typeface="Arial" pitchFamily="34" charset="-120"/>
              </a:rPr>
              <a:t>广域网环境中延迟、丢包以及窃听等攻击对共识协议的健壮性提出了更高的要求</a:t>
            </a:r>
            <a:endParaRPr lang="en-US" sz="2130" dirty="0"/>
          </a:p>
          <a:p>
            <a:pPr algn="l">
              <a:lnSpc>
                <a:spcPct val="150000"/>
              </a:lnSpc>
            </a:pPr>
            <a:r>
              <a:rPr lang="en-US" sz="2130" b="1" dirty="0">
                <a:solidFill>
                  <a:srgbClr val="04579A"/>
                </a:solidFill>
                <a:latin typeface="Arial" pitchFamily="34" charset="0"/>
                <a:ea typeface="Arial" pitchFamily="34" charset="-122"/>
                <a:cs typeface="Arial" pitchFamily="34" charset="-120"/>
              </a:rPr>
              <a:t>分布式数字资产交易协议需要去除可信假设，</a:t>
            </a:r>
            <a:endParaRPr lang="en-US" sz="2130" dirty="0"/>
          </a:p>
          <a:p>
            <a:pPr algn="l">
              <a:lnSpc>
                <a:spcPct val="150000"/>
              </a:lnSpc>
              <a:spcBef>
                <a:spcPts val="1600"/>
              </a:spcBef>
            </a:pPr>
            <a:r>
              <a:rPr lang="en-US" sz="2130" b="1" dirty="0">
                <a:solidFill>
                  <a:srgbClr val="04579A"/>
                </a:solidFill>
                <a:latin typeface="Arial" pitchFamily="34" charset="0"/>
                <a:ea typeface="Arial" pitchFamily="34" charset="-122"/>
                <a:cs typeface="Arial" pitchFamily="34" charset="-120"/>
              </a:rPr>
              <a:t>建立更强的安全模型</a:t>
            </a:r>
            <a:pPr algn="l">
              <a:lnSpc>
                <a:spcPct val="150000"/>
              </a:lnSpc>
              <a:spcBef>
                <a:spcPts val="1600"/>
              </a:spcBef>
            </a:pPr>
            <a:r>
              <a:rPr lang="en-US" sz="2130" dirty="0">
                <a:solidFill>
                  <a:srgbClr val="FFFFFF"/>
                </a:solidFill>
                <a:latin typeface="Arial" pitchFamily="34" charset="0"/>
                <a:ea typeface="Arial" pitchFamily="34" charset="-122"/>
                <a:cs typeface="Arial" pitchFamily="34" charset="-120"/>
              </a:rPr>
              <a:t>有</a:t>
            </a:r>
            <a:endParaRPr lang="en-US" sz="2130" dirty="0"/>
          </a:p>
          <a:p>
            <a:pPr algn="l">
              <a:lnSpc>
                <a:spcPct val="150000"/>
              </a:lnSpc>
              <a:spcBef>
                <a:spcPts val="1600"/>
              </a:spcBef>
            </a:pPr>
            <a:r>
              <a:rPr lang="en-US" sz="2130" dirty="0">
                <a:solidFill>
                  <a:srgbClr val="FFFFFF"/>
                </a:solidFill>
                <a:latin typeface="Arial" pitchFamily="34" charset="0"/>
                <a:ea typeface="Arial" pitchFamily="34" charset="-122"/>
                <a:cs typeface="Arial" pitchFamily="34" charset="-120"/>
              </a:rPr>
              <a:t>长期部署的需要</a:t>
            </a:r>
            <a:endParaRPr lang="en-US" sz="2130" dirty="0"/>
          </a:p>
          <a:p>
            <a:pPr algn="l">
              <a:lnSpc>
                <a:spcPct val="150000"/>
              </a:lnSpc>
              <a:spcBef>
                <a:spcPts val="1600"/>
              </a:spcBef>
            </a:pPr>
            <a:r>
              <a:rPr lang="en-US" sz="2130" b="1" dirty="0">
                <a:solidFill>
                  <a:srgbClr val="04579A"/>
                </a:solidFill>
                <a:latin typeface="Arial" pitchFamily="34" charset="0"/>
                <a:ea typeface="Arial" pitchFamily="34" charset="-122"/>
                <a:cs typeface="Arial" pitchFamily="34" charset="-120"/>
              </a:rPr>
              <a:t>分布式数字资产交易协议需要高性能的链下</a:t>
            </a:r>
            <a:endParaRPr lang="en-US" sz="2130" dirty="0"/>
          </a:p>
          <a:p>
            <a:pPr algn="l">
              <a:lnSpc>
                <a:spcPct val="150000"/>
              </a:lnSpc>
              <a:spcBef>
                <a:spcPts val="1600"/>
              </a:spcBef>
            </a:pPr>
            <a:r>
              <a:rPr lang="en-US" sz="2130" b="1" dirty="0">
                <a:solidFill>
                  <a:srgbClr val="04579A"/>
                </a:solidFill>
                <a:latin typeface="Arial" pitchFamily="34" charset="0"/>
                <a:ea typeface="Arial" pitchFamily="34" charset="-122"/>
                <a:cs typeface="Arial" pitchFamily="34" charset="-120"/>
              </a:rPr>
              <a:t>方案构造</a:t>
            </a:r>
            <a:endParaRPr lang="en-US" sz="2130" dirty="0"/>
          </a:p>
          <a:p>
            <a:pPr algn="l">
              <a:lnSpc>
                <a:spcPct val="150000"/>
              </a:lnSpc>
              <a:spcBef>
                <a:spcPts val="1600"/>
              </a:spcBef>
            </a:pPr>
            <a:r>
              <a:rPr lang="en-US" sz="130" dirty="0">
                <a:solidFill>
                  <a:srgbClr val="FFFFFF"/>
                </a:solidFill>
                <a:latin typeface="Arial" pitchFamily="34" charset="0"/>
                <a:ea typeface="Arial" pitchFamily="34" charset="-122"/>
                <a:cs typeface="Arial" pitchFamily="34" charset="-120"/>
              </a:rPr>
              <a:t>三方设置的门限密码系统减弱了区块链</a:t>
            </a:r>
            <a:pPr algn="l">
              <a:lnSpc>
                <a:spcPct val="150000"/>
              </a:lnSpc>
              <a:spcBef>
                <a:spcPts val="1600"/>
              </a:spcBef>
            </a:pPr>
            <a:r>
              <a:rPr lang="en-US" sz="800" dirty="0">
                <a:solidFill>
                  <a:srgbClr val="FFFFFF"/>
                </a:solidFill>
                <a:latin typeface="Arial" pitchFamily="34" charset="0"/>
                <a:ea typeface="Arial" pitchFamily="34" charset="-122"/>
                <a:cs typeface="Arial" pitchFamily="34" charset="-120"/>
              </a:rPr>
              <a:t>系统去中心化的特性</a:t>
            </a:r>
            <a:endParaRPr lang="en-US" sz="2130" dirty="0"/>
          </a:p>
          <a:p>
            <a:pPr algn="l">
              <a:lnSpc>
                <a:spcPct val="150000"/>
              </a:lnSpc>
              <a:spcBef>
                <a:spcPts val="1600"/>
              </a:spcBef>
            </a:pPr>
            <a:r>
              <a:rPr lang="en-US" sz="2130" b="1" dirty="0">
                <a:solidFill>
                  <a:srgbClr val="04579A"/>
                </a:solidFill>
                <a:latin typeface="Arial" pitchFamily="34" charset="0"/>
                <a:ea typeface="Arial" pitchFamily="34" charset="-122"/>
                <a:cs typeface="Arial" pitchFamily="34" charset="-120"/>
              </a:rPr>
              <a:t>分布式数字资产交易协议需要高效的跨链证</a:t>
            </a:r>
            <a:endParaRPr lang="en-US" sz="2130" dirty="0"/>
          </a:p>
          <a:p>
            <a:pPr algn="l">
              <a:lnSpc>
                <a:spcPct val="150000"/>
              </a:lnSpc>
            </a:pPr>
            <a:r>
              <a:rPr lang="en-US" sz="2130" b="1" dirty="0">
                <a:solidFill>
                  <a:srgbClr val="04579A"/>
                </a:solidFill>
                <a:latin typeface="Arial" pitchFamily="34" charset="0"/>
                <a:ea typeface="Arial" pitchFamily="34" charset="-122"/>
                <a:cs typeface="Arial" pitchFamily="34" charset="-120"/>
              </a:rPr>
              <a:t>明协议</a:t>
            </a:r>
            <a:endParaRPr lang="en-US" sz="2130" dirty="0"/>
          </a:p>
        </p:txBody>
      </p:sp>
      <p:sp>
        <p:nvSpPr>
          <p:cNvPr id="4" name="Shape 1"/>
          <p:cNvSpPr/>
          <p:nvPr/>
        </p:nvSpPr>
        <p:spPr>
          <a:xfrm>
            <a:off x="5162169" y="-889"/>
            <a:ext cx="2654300" cy="962660"/>
          </a:xfrm>
          <a:prstGeom prst="rect">
            <a:avLst/>
          </a:prstGeom>
          <a:solidFill>
            <a:srgbClr val="F2F2F2"/>
          </a:solidFill>
          <a:ln w="12700">
            <a:solidFill>
              <a:srgbClr val="F2F2F2"/>
            </a:solidFill>
            <a:prstDash val="solid"/>
          </a:ln>
        </p:spPr>
      </p:sp>
      <p:sp>
        <p:nvSpPr>
          <p:cNvPr id="5" name="Shape 2"/>
          <p:cNvSpPr/>
          <p:nvPr/>
        </p:nvSpPr>
        <p:spPr>
          <a:xfrm>
            <a:off x="5162169" y="-889"/>
            <a:ext cx="2654300" cy="962660"/>
          </a:xfrm>
          <a:prstGeom prst="rect">
            <a:avLst/>
          </a:prstGeom>
          <a:solidFill>
            <a:srgbClr val="04579A"/>
          </a:solidFill>
          <a:ln w="12700">
            <a:solidFill>
              <a:srgbClr val="04579A"/>
            </a:solidFill>
            <a:prstDash val="solid"/>
          </a:ln>
        </p:spPr>
      </p:sp>
      <p:sp>
        <p:nvSpPr>
          <p:cNvPr id="6" name="Shape 3"/>
          <p:cNvSpPr/>
          <p:nvPr/>
        </p:nvSpPr>
        <p:spPr>
          <a:xfrm>
            <a:off x="7816469" y="-889"/>
            <a:ext cx="4154551" cy="962660"/>
          </a:xfrm>
          <a:prstGeom prst="rect">
            <a:avLst/>
          </a:prstGeom>
          <a:solidFill>
            <a:srgbClr val="F2F2F2"/>
          </a:solidFill>
          <a:ln/>
        </p:spPr>
      </p:sp>
      <p:sp>
        <p:nvSpPr>
          <p:cNvPr id="7" name="Shape 4"/>
          <p:cNvSpPr/>
          <p:nvPr/>
        </p:nvSpPr>
        <p:spPr>
          <a:xfrm>
            <a:off x="11971020" y="0"/>
            <a:ext cx="4284980" cy="961771"/>
          </a:xfrm>
          <a:prstGeom prst="rect">
            <a:avLst/>
          </a:prstGeom>
          <a:solidFill>
            <a:srgbClr val="F2F2F2"/>
          </a:solidFill>
          <a:ln/>
        </p:spPr>
      </p:sp>
      <p:sp>
        <p:nvSpPr>
          <p:cNvPr id="8" name="Shape 5"/>
          <p:cNvSpPr/>
          <p:nvPr/>
        </p:nvSpPr>
        <p:spPr>
          <a:xfrm>
            <a:off x="2219960" y="-889"/>
            <a:ext cx="2942209" cy="962660"/>
          </a:xfrm>
          <a:prstGeom prst="rect">
            <a:avLst/>
          </a:prstGeom>
          <a:solidFill>
            <a:srgbClr val="F2F2F2"/>
          </a:solidFill>
          <a:ln w="12700">
            <a:solidFill>
              <a:srgbClr val="F2F2F2"/>
            </a:solidFill>
            <a:prstDash val="solid"/>
          </a:ln>
        </p:spPr>
      </p:sp>
      <p:sp>
        <p:nvSpPr>
          <p:cNvPr id="9" name="Text 6"/>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选题背景及意义       </a:t>
            </a:r>
            <a:pPr algn="l">
              <a:lnSpc>
                <a:spcPct val="120000"/>
              </a:lnSpc>
            </a:pPr>
            <a:r>
              <a:rPr lang="en-US" sz="2400" dirty="0">
                <a:solidFill>
                  <a:srgbClr val="FFFFFF"/>
                </a:solidFill>
                <a:latin typeface="Arial" pitchFamily="34" charset="0"/>
                <a:ea typeface="Arial" pitchFamily="34" charset="-122"/>
                <a:cs typeface="Arial" pitchFamily="34" charset="-120"/>
              </a:rPr>
              <a:t>国内外研究现状</a:t>
            </a:r>
            <a:pPr algn="l">
              <a:lnSpc>
                <a:spcPct val="120000"/>
              </a:lnSpc>
            </a:pPr>
            <a:r>
              <a:rPr lang="en-US" sz="2400" dirty="0">
                <a:solidFill>
                  <a:srgbClr val="000000"/>
                </a:solidFill>
                <a:latin typeface="Arial" pitchFamily="34" charset="0"/>
                <a:ea typeface="Arial" pitchFamily="34" charset="-122"/>
                <a:cs typeface="Arial" pitchFamily="34" charset="-120"/>
              </a:rPr>
              <a:t>       主要研究内容及预期目标             工作计划与进度安排</a:t>
            </a:r>
            <a:endParaRPr lang="en-US" sz="2400" dirty="0"/>
          </a:p>
        </p:txBody>
      </p:sp>
      <p:pic>
        <p:nvPicPr>
          <p:cNvPr id="10"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1" name="Shape 7"/>
          <p:cNvSpPr/>
          <p:nvPr/>
        </p:nvSpPr>
        <p:spPr>
          <a:xfrm rot="10800000">
            <a:off x="6121400" y="961771"/>
            <a:ext cx="389509" cy="304800"/>
          </a:xfrm>
          <a:prstGeom prst="triangle">
            <a:avLst>
              <a:gd name="adj" fmla="val 50000"/>
            </a:avLst>
          </a:prstGeom>
          <a:solidFill>
            <a:srgbClr val="04579A"/>
          </a:solidFill>
          <a:ln/>
        </p:spPr>
      </p:sp>
      <p:sp>
        <p:nvSpPr>
          <p:cNvPr id="12" name="Shape 8"/>
          <p:cNvSpPr/>
          <p:nvPr/>
        </p:nvSpPr>
        <p:spPr>
          <a:xfrm>
            <a:off x="988949" y="2846451"/>
            <a:ext cx="385191" cy="272669"/>
          </a:xfrm>
          <a:prstGeom prst="chevron">
            <a:avLst>
              <a:gd name="adj" fmla="val 50000"/>
            </a:avLst>
          </a:prstGeom>
          <a:solidFill>
            <a:srgbClr val="04579A"/>
          </a:solidFill>
          <a:ln w="12700">
            <a:solidFill>
              <a:srgbClr val="304B73"/>
            </a:solidFill>
            <a:prstDash val="solid"/>
          </a:ln>
        </p:spPr>
      </p:sp>
      <p:sp>
        <p:nvSpPr>
          <p:cNvPr id="13" name="Shape 9"/>
          <p:cNvSpPr/>
          <p:nvPr/>
        </p:nvSpPr>
        <p:spPr>
          <a:xfrm>
            <a:off x="988441" y="4487037"/>
            <a:ext cx="385191" cy="272669"/>
          </a:xfrm>
          <a:prstGeom prst="chevron">
            <a:avLst>
              <a:gd name="adj" fmla="val 50000"/>
            </a:avLst>
          </a:prstGeom>
          <a:solidFill>
            <a:srgbClr val="04579A"/>
          </a:solidFill>
          <a:ln w="12700">
            <a:solidFill>
              <a:srgbClr val="304B73"/>
            </a:solidFill>
            <a:prstDash val="solid"/>
          </a:ln>
        </p:spPr>
      </p:sp>
      <p:sp>
        <p:nvSpPr>
          <p:cNvPr id="14" name="Shape 10"/>
          <p:cNvSpPr/>
          <p:nvPr/>
        </p:nvSpPr>
        <p:spPr>
          <a:xfrm>
            <a:off x="988441" y="6038723"/>
            <a:ext cx="385191" cy="272669"/>
          </a:xfrm>
          <a:prstGeom prst="chevron">
            <a:avLst>
              <a:gd name="adj" fmla="val 50000"/>
            </a:avLst>
          </a:prstGeom>
          <a:solidFill>
            <a:srgbClr val="04579A"/>
          </a:solidFill>
          <a:ln w="12700">
            <a:solidFill>
              <a:srgbClr val="304B73"/>
            </a:solidFill>
            <a:prstDash val="solid"/>
          </a:ln>
        </p:spPr>
      </p:sp>
      <p:sp>
        <p:nvSpPr>
          <p:cNvPr id="15" name="Text 11"/>
          <p:cNvSpPr/>
          <p:nvPr/>
        </p:nvSpPr>
        <p:spPr>
          <a:xfrm>
            <a:off x="9259189" y="2427732"/>
            <a:ext cx="5571871" cy="1107948"/>
          </a:xfrm>
          <a:prstGeom prst="rect">
            <a:avLst/>
          </a:prstGeom>
          <a:noFill/>
          <a:ln/>
        </p:spPr>
        <p:txBody>
          <a:bodyPr wrap="square" lIns="0" tIns="0" rIns="0" bIns="0" rtlCol="0" anchor="t"/>
          <a:lstStyle/>
          <a:p>
            <a:pPr algn="l">
              <a:lnSpc>
                <a:spcPct val="120000"/>
              </a:lnSpc>
            </a:pPr>
            <a:r>
              <a:rPr lang="en-US" sz="3730" b="1" dirty="0">
                <a:solidFill>
                  <a:srgbClr val="262626"/>
                </a:solidFill>
                <a:latin typeface="Arial" pitchFamily="34" charset="0"/>
                <a:ea typeface="Arial" pitchFamily="34" charset="-122"/>
                <a:cs typeface="Arial" pitchFamily="34" charset="-120"/>
              </a:rPr>
              <a:t>1. </a:t>
            </a:r>
            <a:pPr algn="l">
              <a:lnSpc>
                <a:spcPct val="120000"/>
              </a:lnSpc>
            </a:pPr>
            <a:r>
              <a:rPr lang="en-US" sz="2670" b="1" dirty="0">
                <a:solidFill>
                  <a:srgbClr val="262626"/>
                </a:solidFill>
                <a:latin typeface="MiSans" pitchFamily="34" charset="0"/>
                <a:ea typeface="MiSans" pitchFamily="34" charset="-122"/>
                <a:cs typeface="MiSans" pitchFamily="34" charset="-120"/>
              </a:rPr>
              <a:t>恶意场景下分布式数字资产交易安全性</a:t>
            </a:r>
            <a:endParaRPr lang="en-US" sz="3730" dirty="0"/>
          </a:p>
        </p:txBody>
      </p:sp>
      <p:sp>
        <p:nvSpPr>
          <p:cNvPr id="16" name="Text 12"/>
          <p:cNvSpPr/>
          <p:nvPr/>
        </p:nvSpPr>
        <p:spPr>
          <a:xfrm>
            <a:off x="9325991" y="4187698"/>
            <a:ext cx="5571871" cy="697611"/>
          </a:xfrm>
          <a:prstGeom prst="rect">
            <a:avLst/>
          </a:prstGeom>
          <a:noFill/>
          <a:ln/>
        </p:spPr>
        <p:txBody>
          <a:bodyPr wrap="square" lIns="0" tIns="0" rIns="0" bIns="0" rtlCol="0" anchor="t"/>
          <a:lstStyle/>
          <a:p>
            <a:pPr algn="l">
              <a:lnSpc>
                <a:spcPct val="120000"/>
              </a:lnSpc>
            </a:pPr>
            <a:r>
              <a:rPr lang="en-US" sz="3730" b="1" dirty="0">
                <a:solidFill>
                  <a:srgbClr val="262626"/>
                </a:solidFill>
                <a:latin typeface="Arial" pitchFamily="34" charset="0"/>
                <a:ea typeface="Arial" pitchFamily="34" charset="-122"/>
                <a:cs typeface="Arial" pitchFamily="34" charset="-120"/>
              </a:rPr>
              <a:t>2. </a:t>
            </a:r>
            <a:pPr algn="l">
              <a:lnSpc>
                <a:spcPct val="120000"/>
              </a:lnSpc>
            </a:pPr>
            <a:r>
              <a:rPr lang="en-US" sz="2670" b="1" dirty="0">
                <a:solidFill>
                  <a:srgbClr val="262626"/>
                </a:solidFill>
                <a:latin typeface="MiSans" pitchFamily="34" charset="0"/>
                <a:ea typeface="MiSans" pitchFamily="34" charset="-122"/>
                <a:cs typeface="MiSans" pitchFamily="34" charset="-120"/>
              </a:rPr>
              <a:t>链下数字资产交易方案性能</a:t>
            </a:r>
            <a:endParaRPr lang="en-US" sz="3730" dirty="0"/>
          </a:p>
        </p:txBody>
      </p:sp>
      <p:sp>
        <p:nvSpPr>
          <p:cNvPr id="17" name="Text 13"/>
          <p:cNvSpPr/>
          <p:nvPr/>
        </p:nvSpPr>
        <p:spPr>
          <a:xfrm>
            <a:off x="9325991" y="5769737"/>
            <a:ext cx="5941441" cy="697611"/>
          </a:xfrm>
          <a:prstGeom prst="rect">
            <a:avLst/>
          </a:prstGeom>
          <a:noFill/>
          <a:ln/>
        </p:spPr>
        <p:txBody>
          <a:bodyPr wrap="square" lIns="0" tIns="0" rIns="0" bIns="0" rtlCol="0" anchor="t"/>
          <a:lstStyle/>
          <a:p>
            <a:pPr algn="l">
              <a:lnSpc>
                <a:spcPct val="120000"/>
              </a:lnSpc>
            </a:pPr>
            <a:r>
              <a:rPr lang="en-US" sz="3730" b="1" dirty="0">
                <a:solidFill>
                  <a:srgbClr val="262626"/>
                </a:solidFill>
                <a:latin typeface="Arial" pitchFamily="34" charset="0"/>
                <a:ea typeface="Arial" pitchFamily="34" charset="-122"/>
                <a:cs typeface="Arial" pitchFamily="34" charset="-120"/>
              </a:rPr>
              <a:t>3. </a:t>
            </a:r>
            <a:pPr algn="l">
              <a:lnSpc>
                <a:spcPct val="120000"/>
              </a:lnSpc>
            </a:pPr>
            <a:r>
              <a:rPr lang="en-US" sz="2670" b="1" dirty="0">
                <a:solidFill>
                  <a:srgbClr val="262626"/>
                </a:solidFill>
                <a:latin typeface="Arial" pitchFamily="34" charset="0"/>
                <a:ea typeface="Arial" pitchFamily="34" charset="-122"/>
                <a:cs typeface="Arial" pitchFamily="34" charset="-120"/>
              </a:rPr>
              <a:t>跨链</a:t>
            </a:r>
            <a:pPr algn="l">
              <a:lnSpc>
                <a:spcPct val="120000"/>
              </a:lnSpc>
            </a:pPr>
            <a:r>
              <a:rPr lang="en-US" sz="2670" b="1" dirty="0">
                <a:solidFill>
                  <a:srgbClr val="262626"/>
                </a:solidFill>
                <a:latin typeface="MiSans" pitchFamily="34" charset="0"/>
                <a:ea typeface="MiSans" pitchFamily="34" charset="-122"/>
                <a:cs typeface="MiSans" pitchFamily="34" charset="-120"/>
              </a:rPr>
              <a:t>数字资产交易协议证明机制</a:t>
            </a:r>
            <a:endParaRPr lang="en-US" sz="3730" dirty="0"/>
          </a:p>
        </p:txBody>
      </p:sp>
      <p:sp>
        <p:nvSpPr>
          <p:cNvPr id="18" name="Shape 14"/>
          <p:cNvSpPr/>
          <p:nvPr/>
        </p:nvSpPr>
        <p:spPr>
          <a:xfrm>
            <a:off x="8332089" y="2675001"/>
            <a:ext cx="412369" cy="615569"/>
          </a:xfrm>
          <a:prstGeom prst="stripedRightArrow">
            <a:avLst>
              <a:gd name="adj1" fmla="val 50000"/>
              <a:gd name="adj2" fmla="val 50000"/>
            </a:avLst>
          </a:prstGeom>
          <a:solidFill>
            <a:srgbClr val="7F7F7F"/>
          </a:solidFill>
          <a:ln/>
        </p:spPr>
      </p:sp>
      <p:sp>
        <p:nvSpPr>
          <p:cNvPr id="19" name="Shape 15"/>
          <p:cNvSpPr/>
          <p:nvPr/>
        </p:nvSpPr>
        <p:spPr>
          <a:xfrm>
            <a:off x="8332089" y="4270629"/>
            <a:ext cx="412369" cy="615569"/>
          </a:xfrm>
          <a:prstGeom prst="stripedRightArrow">
            <a:avLst>
              <a:gd name="adj1" fmla="val 50000"/>
              <a:gd name="adj2" fmla="val 50000"/>
            </a:avLst>
          </a:prstGeom>
          <a:solidFill>
            <a:srgbClr val="7F7F7F"/>
          </a:solidFill>
          <a:ln/>
        </p:spPr>
      </p:sp>
      <p:sp>
        <p:nvSpPr>
          <p:cNvPr id="20" name="Shape 16"/>
          <p:cNvSpPr/>
          <p:nvPr/>
        </p:nvSpPr>
        <p:spPr>
          <a:xfrm>
            <a:off x="8367522" y="5867273"/>
            <a:ext cx="412369" cy="615569"/>
          </a:xfrm>
          <a:prstGeom prst="stripedRightArrow">
            <a:avLst>
              <a:gd name="adj1" fmla="val 50000"/>
              <a:gd name="adj2" fmla="val 50000"/>
            </a:avLst>
          </a:prstGeom>
          <a:solidFill>
            <a:srgbClr val="7F7F7F"/>
          </a:solidFill>
          <a:ln/>
        </p:spPr>
      </p:sp>
      <p:sp>
        <p:nvSpPr>
          <p:cNvPr id="21" name="Text 17"/>
          <p:cNvSpPr/>
          <p:nvPr/>
        </p:nvSpPr>
        <p:spPr>
          <a:xfrm>
            <a:off x="1010920" y="7786751"/>
            <a:ext cx="14037691" cy="531749"/>
          </a:xfrm>
          <a:prstGeom prst="rect">
            <a:avLst/>
          </a:prstGeom>
          <a:noFill/>
          <a:ln/>
        </p:spPr>
        <p:txBody>
          <a:bodyPr wrap="square" lIns="0" tIns="0" rIns="0" bIns="0" rtlCol="0" anchor="t"/>
          <a:lstStyle/>
          <a:p>
            <a:pPr algn="ctr">
              <a:lnSpc>
                <a:spcPct val="120000"/>
              </a:lnSpc>
            </a:pPr>
            <a:r>
              <a:rPr lang="en-US" sz="2670" b="1" dirty="0">
                <a:solidFill>
                  <a:srgbClr val="000000"/>
                </a:solidFill>
                <a:latin typeface="Arial" pitchFamily="34" charset="0"/>
                <a:ea typeface="Arial" pitchFamily="34" charset="-122"/>
                <a:cs typeface="Arial" pitchFamily="34" charset="-120"/>
              </a:rPr>
              <a:t>要应对新场景下特有的技术挑战，构建安全高效的分布式数字资产交易协议</a:t>
            </a:r>
            <a:endParaRPr lang="en-US" sz="2670" dirty="0"/>
          </a:p>
        </p:txBody>
      </p:sp>
      <p:sp>
        <p:nvSpPr>
          <p:cNvPr id="22" name="Text 18"/>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14</a:t>
            </a:r>
            <a:endParaRPr lang="en-US" sz="2400" dirty="0"/>
          </a:p>
        </p:txBody>
      </p:sp>
    </p:spTree>
  </p:cSld>
  <p:clrMapOvr>
    <a:masterClrMapping/>
  </p:clrMapOvr>
  <p:transition>
    <p:fade/>
    <p:spd val="med"/>
  </p:transition>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162169" y="-889"/>
            <a:ext cx="2654300" cy="962660"/>
          </a:xfrm>
          <a:prstGeom prst="rect">
            <a:avLst/>
          </a:prstGeom>
          <a:solidFill>
            <a:srgbClr val="F2F2F2"/>
          </a:solidFill>
          <a:ln w="12700">
            <a:solidFill>
              <a:srgbClr val="F2F2F2"/>
            </a:solidFill>
            <a:prstDash val="solid"/>
          </a:ln>
        </p:spPr>
      </p:sp>
      <p:sp>
        <p:nvSpPr>
          <p:cNvPr id="4" name="Shape 1"/>
          <p:cNvSpPr/>
          <p:nvPr/>
        </p:nvSpPr>
        <p:spPr>
          <a:xfrm>
            <a:off x="5162169" y="-889"/>
            <a:ext cx="2654300" cy="962660"/>
          </a:xfrm>
          <a:prstGeom prst="rect">
            <a:avLst/>
          </a:prstGeom>
          <a:solidFill>
            <a:srgbClr val="04579A"/>
          </a:solidFill>
          <a:ln w="12700">
            <a:solidFill>
              <a:srgbClr val="04579A"/>
            </a:solidFill>
            <a:prstDash val="solid"/>
          </a:ln>
        </p:spPr>
      </p:sp>
      <p:sp>
        <p:nvSpPr>
          <p:cNvPr id="5" name="Shape 2"/>
          <p:cNvSpPr/>
          <p:nvPr/>
        </p:nvSpPr>
        <p:spPr>
          <a:xfrm>
            <a:off x="7816469" y="-889"/>
            <a:ext cx="4154551" cy="962660"/>
          </a:xfrm>
          <a:prstGeom prst="rect">
            <a:avLst/>
          </a:prstGeom>
          <a:solidFill>
            <a:srgbClr val="F2F2F2"/>
          </a:solidFill>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942209" cy="962660"/>
          </a:xfrm>
          <a:prstGeom prst="rect">
            <a:avLst/>
          </a:prstGeom>
          <a:solidFill>
            <a:srgbClr val="F2F2F2"/>
          </a:solidFill>
          <a:ln w="12700">
            <a:solidFill>
              <a:srgbClr val="F2F2F2"/>
            </a:solidFill>
            <a:prstDash val="solid"/>
          </a:ln>
        </p:spPr>
      </p:sp>
      <p:sp>
        <p:nvSpPr>
          <p:cNvPr id="8" name="Text 5"/>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选题背景及意义       </a:t>
            </a:r>
            <a:pPr algn="l">
              <a:lnSpc>
                <a:spcPct val="120000"/>
              </a:lnSpc>
            </a:pPr>
            <a:r>
              <a:rPr lang="en-US" sz="2400" dirty="0">
                <a:solidFill>
                  <a:srgbClr val="FFFFFF"/>
                </a:solidFill>
                <a:latin typeface="Arial" pitchFamily="34" charset="0"/>
                <a:ea typeface="Arial" pitchFamily="34" charset="-122"/>
                <a:cs typeface="Arial" pitchFamily="34" charset="-120"/>
              </a:rPr>
              <a:t>国内外研究现状</a:t>
            </a:r>
            <a:pPr algn="l">
              <a:lnSpc>
                <a:spcPct val="120000"/>
              </a:lnSpc>
            </a:pPr>
            <a:r>
              <a:rPr lang="en-US" sz="2400" dirty="0">
                <a:solidFill>
                  <a:srgbClr val="000000"/>
                </a:solidFill>
                <a:latin typeface="Arial" pitchFamily="34" charset="0"/>
                <a:ea typeface="Arial" pitchFamily="34" charset="-122"/>
                <a:cs typeface="Arial" pitchFamily="34" charset="-120"/>
              </a:rPr>
              <a:t>       主要研究内容及预期目标             工作计划与进度安排</a:t>
            </a:r>
            <a:endParaRPr lang="en-US" sz="2400" dirty="0"/>
          </a:p>
        </p:txBody>
      </p:sp>
      <p:pic>
        <p:nvPicPr>
          <p:cNvPr id="9"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0" name="Shape 6"/>
          <p:cNvSpPr/>
          <p:nvPr/>
        </p:nvSpPr>
        <p:spPr>
          <a:xfrm rot="10800000">
            <a:off x="6121400" y="961771"/>
            <a:ext cx="389509" cy="304800"/>
          </a:xfrm>
          <a:prstGeom prst="triangle">
            <a:avLst>
              <a:gd name="adj" fmla="val 50000"/>
            </a:avLst>
          </a:prstGeom>
          <a:solidFill>
            <a:srgbClr val="04579A"/>
          </a:solidFill>
          <a:ln/>
        </p:spPr>
      </p:sp>
      <p:sp>
        <p:nvSpPr>
          <p:cNvPr id="11" name="Text 7"/>
          <p:cNvSpPr/>
          <p:nvPr/>
        </p:nvSpPr>
        <p:spPr>
          <a:xfrm>
            <a:off x="544449" y="1266571"/>
            <a:ext cx="10275316" cy="984885"/>
          </a:xfrm>
          <a:prstGeom prst="rect">
            <a:avLst/>
          </a:prstGeom>
          <a:noFill/>
          <a:ln/>
        </p:spPr>
        <p:txBody>
          <a:bodyPr wrap="square" lIns="0" tIns="0" rIns="0" bIns="0" rtlCol="0" anchor="t"/>
          <a:lstStyle/>
          <a:p>
            <a:pPr algn="l" marL="508000" indent="-508000">
              <a:lnSpc>
                <a:spcPct val="120000"/>
              </a:lnSpc>
              <a:spcBef>
                <a:spcPts val="10"/>
              </a:spcBef>
              <a:buSzPct val="100000"/>
              <a:buFont typeface="+mj-lt"/>
              <a:buAutoNum type="arabicPeriod" startAt="1"/>
            </a:pPr>
            <a:r>
              <a:rPr lang="en-US" sz="3200" b="1" dirty="0">
                <a:solidFill>
                  <a:srgbClr val="262626"/>
                </a:solidFill>
                <a:latin typeface="MiSans" pitchFamily="34" charset="0"/>
                <a:ea typeface="MiSans" pitchFamily="34" charset="-122"/>
                <a:cs typeface="MiSans" pitchFamily="34" charset="-120"/>
              </a:rPr>
              <a:t>恶意场景下分布式数字资产交易安全性</a:t>
            </a:r>
            <a:endParaRPr lang="en-US" sz="3200" dirty="0"/>
          </a:p>
          <a:p>
            <a:pPr algn="l">
              <a:lnSpc>
                <a:spcPct val="120000"/>
              </a:lnSpc>
            </a:pPr>
            <a:r>
              <a:rPr lang="en-US" sz="2400" b="1" dirty="0">
                <a:solidFill>
                  <a:srgbClr val="595959"/>
                </a:solidFill>
                <a:latin typeface="MiSans" pitchFamily="34" charset="0"/>
                <a:ea typeface="MiSans" pitchFamily="34" charset="-122"/>
                <a:cs typeface="MiSans" pitchFamily="34" charset="-120"/>
              </a:rPr>
              <a:t>      </a:t>
            </a:r>
            <a:pPr algn="l">
              <a:lnSpc>
                <a:spcPct val="120000"/>
              </a:lnSpc>
            </a:pPr>
            <a:r>
              <a:rPr lang="en-US" sz="2400" b="1" dirty="0">
                <a:solidFill>
                  <a:srgbClr val="595959"/>
                </a:solidFill>
                <a:latin typeface="MiSans" pitchFamily="34" charset="0"/>
                <a:ea typeface="MiSans" pitchFamily="34" charset="-122"/>
                <a:cs typeface="MiSans" pitchFamily="34" charset="-120"/>
              </a:rPr>
              <a:t>设计难点</a:t>
            </a:r>
            <a:endParaRPr lang="en-US" sz="3200" dirty="0"/>
          </a:p>
        </p:txBody>
      </p:sp>
      <p:pic>
        <p:nvPicPr>
          <p:cNvPr id="12" name="Image 1" descr="https://kimi-img.moonshot.cn/pub/slides/okc/flfuysioo4gzm/mnt/agents/output/yuan_pptd/images/image_28.png">    </p:cNvPr>
          <p:cNvPicPr>
            <a:picLocks noChangeAspect="1"/>
          </p:cNvPicPr>
          <p:nvPr/>
        </p:nvPicPr>
        <p:blipFill>
          <a:blip r:embed="rId2"/>
          <a:stretch>
            <a:fillRect/>
          </a:stretch>
        </p:blipFill>
        <p:spPr>
          <a:xfrm>
            <a:off x="1986280" y="2646680"/>
            <a:ext cx="604520" cy="604520"/>
          </a:xfrm>
          <a:prstGeom prst="rect">
            <a:avLst/>
          </a:prstGeom>
        </p:spPr>
      </p:pic>
      <p:pic>
        <p:nvPicPr>
          <p:cNvPr id="13" name="Image 2" descr="https://kimi-img.moonshot.cn/pub/slides/okc/flfuysioo4gzm/mnt/agents/output/yuan_pptd/images/image_20.jpg">    </p:cNvPr>
          <p:cNvPicPr>
            <a:picLocks noChangeAspect="1"/>
          </p:cNvPicPr>
          <p:nvPr/>
        </p:nvPicPr>
        <p:blipFill>
          <a:blip r:embed="rId3"/>
          <a:srcRect l="14590" r="60610" t="10800" b="21090"/>
          <a:stretch/>
        </p:blipFill>
        <p:spPr>
          <a:xfrm>
            <a:off x="1027049" y="3975989"/>
            <a:ext cx="791591" cy="864489"/>
          </a:xfrm>
          <a:prstGeom prst="rect">
            <a:avLst/>
          </a:prstGeom>
        </p:spPr>
      </p:pic>
      <p:pic>
        <p:nvPicPr>
          <p:cNvPr id="14" name="Image 3" descr="https://kimi-img.moonshot.cn/pub/slides/okc/flfuysioo4gzm/mnt/agents/output/yuan_pptd/images/image_20.jpg">    </p:cNvPr>
          <p:cNvPicPr>
            <a:picLocks noChangeAspect="1"/>
          </p:cNvPicPr>
          <p:nvPr/>
        </p:nvPicPr>
        <p:blipFill>
          <a:blip r:embed="rId4"/>
          <a:srcRect l="14590" r="60610" t="10800" b="21090"/>
          <a:stretch/>
        </p:blipFill>
        <p:spPr>
          <a:xfrm>
            <a:off x="2810891" y="3975989"/>
            <a:ext cx="791591" cy="864489"/>
          </a:xfrm>
          <a:prstGeom prst="rect">
            <a:avLst/>
          </a:prstGeom>
        </p:spPr>
      </p:pic>
      <p:pic>
        <p:nvPicPr>
          <p:cNvPr id="15" name="Image 4" descr="https://kimi-img.moonshot.cn/pub/slides/okc/flfuysioo4gzm/mnt/agents/output/yuan_pptd/images/image_20.jpg">    </p:cNvPr>
          <p:cNvPicPr>
            <a:picLocks noChangeAspect="1"/>
          </p:cNvPicPr>
          <p:nvPr/>
        </p:nvPicPr>
        <p:blipFill>
          <a:blip r:embed="rId5"/>
          <a:srcRect l="14590" r="60610" t="10800" b="21090"/>
          <a:stretch/>
        </p:blipFill>
        <p:spPr>
          <a:xfrm>
            <a:off x="5241671" y="3950589"/>
            <a:ext cx="791591" cy="864489"/>
          </a:xfrm>
          <a:prstGeom prst="rect">
            <a:avLst/>
          </a:prstGeom>
        </p:spPr>
      </p:pic>
      <p:pic>
        <p:nvPicPr>
          <p:cNvPr id="16" name="Image 5" descr="https://kimi-img.moonshot.cn/pub/slides/okc/flfuysioo4gzm/mnt/agents/output/yuan_pptd/images/image_20.jpg">    </p:cNvPr>
          <p:cNvPicPr>
            <a:picLocks noChangeAspect="1"/>
          </p:cNvPicPr>
          <p:nvPr/>
        </p:nvPicPr>
        <p:blipFill>
          <a:blip r:embed="rId6"/>
          <a:srcRect l="14590" r="60610" t="10800" b="21090"/>
          <a:stretch/>
        </p:blipFill>
        <p:spPr>
          <a:xfrm>
            <a:off x="7025640" y="3950589"/>
            <a:ext cx="791591" cy="864489"/>
          </a:xfrm>
          <a:prstGeom prst="rect">
            <a:avLst/>
          </a:prstGeom>
        </p:spPr>
      </p:pic>
      <p:sp>
        <p:nvSpPr>
          <p:cNvPr id="17" name="Shape 8"/>
          <p:cNvSpPr/>
          <p:nvPr/>
        </p:nvSpPr>
        <p:spPr>
          <a:xfrm flipH="1">
            <a:off x="5878449" y="3375660"/>
            <a:ext cx="243840" cy="393700"/>
          </a:xfrm>
          <a:prstGeom prst="straightConnector1">
            <a:avLst/>
          </a:prstGeom>
          <a:noFill/>
          <a:ln w="12700">
            <a:solidFill>
              <a:srgbClr val="005C8F"/>
            </a:solidFill>
            <a:prstDash val="solid"/>
            <a:headEnd type="none"/>
            <a:tailEnd type="arrow"/>
          </a:ln>
        </p:spPr>
      </p:sp>
      <p:sp>
        <p:nvSpPr>
          <p:cNvPr id="18" name="Shape 9"/>
          <p:cNvSpPr/>
          <p:nvPr/>
        </p:nvSpPr>
        <p:spPr>
          <a:xfrm>
            <a:off x="6863080" y="3348609"/>
            <a:ext cx="238760" cy="417449"/>
          </a:xfrm>
          <a:prstGeom prst="straightConnector1">
            <a:avLst/>
          </a:prstGeom>
          <a:noFill/>
          <a:ln w="12700">
            <a:solidFill>
              <a:srgbClr val="005C8F"/>
            </a:solidFill>
            <a:prstDash val="solid"/>
            <a:headEnd type="arrow"/>
            <a:tailEnd type="none"/>
          </a:ln>
        </p:spPr>
      </p:sp>
      <p:sp>
        <p:nvSpPr>
          <p:cNvPr id="19" name="Shape 10"/>
          <p:cNvSpPr/>
          <p:nvPr/>
        </p:nvSpPr>
        <p:spPr>
          <a:xfrm>
            <a:off x="8244840" y="2688209"/>
            <a:ext cx="7051929" cy="751840"/>
          </a:xfrm>
          <a:prstGeom prst="roundRect">
            <a:avLst>
              <a:gd name="adj" fmla="val 16667"/>
            </a:avLst>
          </a:prstGeom>
          <a:solidFill>
            <a:srgbClr val="04579A"/>
          </a:solidFill>
          <a:ln/>
        </p:spPr>
      </p:sp>
      <p:sp>
        <p:nvSpPr>
          <p:cNvPr id="20" name="Text 11"/>
          <p:cNvSpPr/>
          <p:nvPr/>
        </p:nvSpPr>
        <p:spPr>
          <a:xfrm>
            <a:off x="8281543" y="2724912"/>
            <a:ext cx="6978523" cy="678434"/>
          </a:xfrm>
          <a:prstGeom prst="rect">
            <a:avLst/>
          </a:prstGeom>
          <a:noFill/>
          <a:ln/>
        </p:spPr>
        <p:txBody>
          <a:bodyPr wrap="square" lIns="0" tIns="0" rIns="0" bIns="0" rtlCol="0" anchor="ctr"/>
          <a:lstStyle/>
          <a:p>
            <a:pPr algn="ctr">
              <a:lnSpc>
                <a:spcPct val="120000"/>
              </a:lnSpc>
            </a:pPr>
            <a:r>
              <a:rPr lang="en-US" sz="2670" dirty="0">
                <a:solidFill>
                  <a:srgbClr val="FFFFFF"/>
                </a:solidFill>
                <a:latin typeface="MiSans" pitchFamily="34" charset="0"/>
                <a:ea typeface="MiSans" pitchFamily="34" charset="-122"/>
                <a:cs typeface="MiSans" pitchFamily="34" charset="-120"/>
              </a:rPr>
              <a:t>矿工有动机和能力对链上交易顺序进行排序</a:t>
            </a:r>
            <a:endParaRPr lang="en-US" sz="2670" dirty="0"/>
          </a:p>
        </p:txBody>
      </p:sp>
      <p:sp>
        <p:nvSpPr>
          <p:cNvPr id="21" name="Text 12"/>
          <p:cNvSpPr/>
          <p:nvPr/>
        </p:nvSpPr>
        <p:spPr>
          <a:xfrm>
            <a:off x="8245729" y="3583051"/>
            <a:ext cx="7051040" cy="613791"/>
          </a:xfrm>
          <a:prstGeom prst="rect">
            <a:avLst/>
          </a:prstGeom>
          <a:noFill/>
          <a:ln/>
        </p:spPr>
        <p:txBody>
          <a:bodyPr wrap="square" lIns="0" tIns="0" rIns="0" bIns="0" rtlCol="0" anchor="t"/>
          <a:lstStyle/>
          <a:p>
            <a:pPr algn="ctr">
              <a:lnSpc>
                <a:spcPct val="120000"/>
              </a:lnSpc>
            </a:pPr>
            <a:r>
              <a:rPr lang="en-US" sz="3200" b="1" dirty="0">
                <a:solidFill>
                  <a:srgbClr val="04579A"/>
                </a:solidFill>
                <a:latin typeface="Arial" pitchFamily="34" charset="0"/>
                <a:ea typeface="Arial" pitchFamily="34" charset="-122"/>
                <a:cs typeface="Arial" pitchFamily="34" charset="-120"/>
              </a:rPr>
              <a:t>诚实矿工假设在实践中并不安全</a:t>
            </a:r>
            <a:endParaRPr lang="en-US" sz="3200" dirty="0"/>
          </a:p>
        </p:txBody>
      </p:sp>
      <p:sp>
        <p:nvSpPr>
          <p:cNvPr id="22" name="Text 13"/>
          <p:cNvSpPr/>
          <p:nvPr/>
        </p:nvSpPr>
        <p:spPr>
          <a:xfrm>
            <a:off x="9472549" y="8258810"/>
            <a:ext cx="3529711" cy="451358"/>
          </a:xfrm>
          <a:prstGeom prst="rect">
            <a:avLst/>
          </a:prstGeom>
          <a:noFill/>
          <a:ln/>
        </p:spPr>
        <p:txBody>
          <a:bodyPr wrap="square" lIns="0" tIns="0" rIns="0" bIns="0" rtlCol="0" anchor="t"/>
          <a:lstStyle/>
          <a:p>
            <a:pPr algn="ctr">
              <a:lnSpc>
                <a:spcPct val="120000"/>
              </a:lnSpc>
            </a:pPr>
            <a:r>
              <a:rPr lang="en-US" sz="2130" dirty="0">
                <a:solidFill>
                  <a:srgbClr val="000000"/>
                </a:solidFill>
                <a:latin typeface="MiSans" pitchFamily="34" charset="0"/>
                <a:ea typeface="MiSans" pitchFamily="34" charset="-122"/>
                <a:cs typeface="MiSans" pitchFamily="34" charset="-120"/>
              </a:rPr>
              <a:t>链上托管资产不再安全</a:t>
            </a:r>
            <a:endParaRPr lang="en-US" sz="2130" dirty="0"/>
          </a:p>
        </p:txBody>
      </p:sp>
      <p:sp>
        <p:nvSpPr>
          <p:cNvPr id="23" name="Text 14"/>
          <p:cNvSpPr/>
          <p:nvPr/>
        </p:nvSpPr>
        <p:spPr>
          <a:xfrm>
            <a:off x="2056257" y="8258810"/>
            <a:ext cx="4103243" cy="451358"/>
          </a:xfrm>
          <a:prstGeom prst="rect">
            <a:avLst/>
          </a:prstGeom>
          <a:noFill/>
          <a:ln/>
        </p:spPr>
        <p:txBody>
          <a:bodyPr wrap="square" lIns="0" tIns="0" rIns="0" bIns="0" rtlCol="0" anchor="t"/>
          <a:lstStyle/>
          <a:p>
            <a:pPr algn="ctr">
              <a:lnSpc>
                <a:spcPct val="120000"/>
              </a:lnSpc>
            </a:pPr>
            <a:r>
              <a:rPr lang="en-US" sz="2130" dirty="0">
                <a:solidFill>
                  <a:srgbClr val="000000"/>
                </a:solidFill>
                <a:latin typeface="MiSans" pitchFamily="34" charset="0"/>
                <a:ea typeface="MiSans" pitchFamily="34" charset="-122"/>
                <a:cs typeface="MiSans" pitchFamily="34" charset="-120"/>
              </a:rPr>
              <a:t>按交易时间/顺序保证资产安全</a:t>
            </a:r>
            <a:endParaRPr lang="en-US" sz="2130" dirty="0"/>
          </a:p>
        </p:txBody>
      </p:sp>
      <p:sp>
        <p:nvSpPr>
          <p:cNvPr id="24" name="Shape 15"/>
          <p:cNvSpPr/>
          <p:nvPr/>
        </p:nvSpPr>
        <p:spPr>
          <a:xfrm>
            <a:off x="1027049" y="5226431"/>
            <a:ext cx="13912469" cy="0"/>
          </a:xfrm>
          <a:prstGeom prst="line">
            <a:avLst/>
          </a:prstGeom>
          <a:noFill/>
          <a:ln w="12700">
            <a:solidFill>
              <a:srgbClr val="7F7F7F"/>
            </a:solidFill>
            <a:prstDash val="solid"/>
            <a:headEnd type="none"/>
            <a:tailEnd type="none"/>
          </a:ln>
        </p:spPr>
      </p:sp>
      <p:pic>
        <p:nvPicPr>
          <p:cNvPr id="25" name="Image 6" descr="https://kimi-img.moonshot.cn/pub/slides/okc/flfuysioo4gzm/mnt/agents/output/yuan_pptd/images/image_28.png">    </p:cNvPr>
          <p:cNvPicPr>
            <a:picLocks noChangeAspect="1"/>
          </p:cNvPicPr>
          <p:nvPr/>
        </p:nvPicPr>
        <p:blipFill>
          <a:blip r:embed="rId7"/>
          <a:stretch>
            <a:fillRect/>
          </a:stretch>
        </p:blipFill>
        <p:spPr>
          <a:xfrm>
            <a:off x="6187059" y="2646680"/>
            <a:ext cx="604520" cy="604520"/>
          </a:xfrm>
          <a:prstGeom prst="rect">
            <a:avLst/>
          </a:prstGeom>
        </p:spPr>
      </p:pic>
      <p:sp>
        <p:nvSpPr>
          <p:cNvPr id="26" name="Shape 16"/>
          <p:cNvSpPr/>
          <p:nvPr/>
        </p:nvSpPr>
        <p:spPr>
          <a:xfrm flipH="1">
            <a:off x="1652270" y="3450971"/>
            <a:ext cx="243840" cy="393700"/>
          </a:xfrm>
          <a:prstGeom prst="straightConnector1">
            <a:avLst/>
          </a:prstGeom>
          <a:noFill/>
          <a:ln w="12700">
            <a:solidFill>
              <a:srgbClr val="005C8F"/>
            </a:solidFill>
            <a:prstDash val="solid"/>
            <a:headEnd type="none"/>
            <a:tailEnd type="arrow"/>
          </a:ln>
        </p:spPr>
      </p:sp>
      <p:sp>
        <p:nvSpPr>
          <p:cNvPr id="27" name="Shape 17"/>
          <p:cNvSpPr/>
          <p:nvPr/>
        </p:nvSpPr>
        <p:spPr>
          <a:xfrm>
            <a:off x="2636901" y="3423920"/>
            <a:ext cx="238760" cy="417449"/>
          </a:xfrm>
          <a:prstGeom prst="straightConnector1">
            <a:avLst/>
          </a:prstGeom>
          <a:noFill/>
          <a:ln w="12700">
            <a:solidFill>
              <a:srgbClr val="005C8F"/>
            </a:solidFill>
            <a:prstDash val="solid"/>
            <a:headEnd type="arrow"/>
            <a:tailEnd type="none"/>
          </a:ln>
        </p:spPr>
      </p:sp>
      <p:sp>
        <p:nvSpPr>
          <p:cNvPr id="28" name="Text 18"/>
          <p:cNvSpPr/>
          <p:nvPr/>
        </p:nvSpPr>
        <p:spPr>
          <a:xfrm>
            <a:off x="1040257" y="3450971"/>
            <a:ext cx="751713" cy="348869"/>
          </a:xfrm>
          <a:prstGeom prst="rect">
            <a:avLst/>
          </a:prstGeom>
          <a:noFill/>
          <a:ln/>
        </p:spPr>
        <p:txBody>
          <a:bodyPr wrap="square" lIns="0" tIns="0" rIns="0" bIns="0" rtlCol="0" anchor="t"/>
          <a:lstStyle/>
          <a:p>
            <a:pPr algn="l">
              <a:lnSpc>
                <a:spcPct val="120000"/>
              </a:lnSpc>
            </a:pPr>
            <a:r>
              <a:rPr lang="en-US" sz="1470" dirty="0">
                <a:solidFill>
                  <a:srgbClr val="000000"/>
                </a:solidFill>
                <a:latin typeface="Arial" pitchFamily="34" charset="0"/>
                <a:ea typeface="Arial" pitchFamily="34" charset="-122"/>
                <a:cs typeface="Arial" pitchFamily="34" charset="-120"/>
              </a:rPr>
              <a:t>交易A</a:t>
            </a:r>
            <a:endParaRPr lang="en-US" sz="1470" dirty="0"/>
          </a:p>
        </p:txBody>
      </p:sp>
      <p:sp>
        <p:nvSpPr>
          <p:cNvPr id="29" name="Text 19"/>
          <p:cNvSpPr/>
          <p:nvPr/>
        </p:nvSpPr>
        <p:spPr>
          <a:xfrm>
            <a:off x="2772156" y="3450971"/>
            <a:ext cx="948563" cy="348869"/>
          </a:xfrm>
          <a:prstGeom prst="rect">
            <a:avLst/>
          </a:prstGeom>
          <a:noFill/>
          <a:ln/>
        </p:spPr>
        <p:txBody>
          <a:bodyPr wrap="square" lIns="0" tIns="0" rIns="0" bIns="0" rtlCol="0" anchor="t"/>
          <a:lstStyle/>
          <a:p>
            <a:pPr algn="l">
              <a:lnSpc>
                <a:spcPct val="120000"/>
              </a:lnSpc>
            </a:pPr>
            <a:r>
              <a:rPr lang="en-US" sz="1470" dirty="0">
                <a:solidFill>
                  <a:srgbClr val="000000"/>
                </a:solidFill>
                <a:latin typeface="Arial" pitchFamily="34" charset="0"/>
                <a:ea typeface="Arial" pitchFamily="34" charset="-122"/>
                <a:cs typeface="Arial" pitchFamily="34" charset="-120"/>
              </a:rPr>
              <a:t>交易B +</a:t>
            </a:r>
            <a:endParaRPr lang="en-US" sz="1470" dirty="0"/>
          </a:p>
        </p:txBody>
      </p:sp>
      <p:pic>
        <p:nvPicPr>
          <p:cNvPr id="30" name="Image 7" descr="https://kimi-img.moonshot.cn/pub/slides/okc/flfuysioo4gzm/mnt/agents/output/yuan_pptd/images/image_29.sv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flipH="1">
            <a:off x="3576066" y="3418840"/>
            <a:ext cx="354076" cy="354076"/>
          </a:xfrm>
          <a:prstGeom prst="rect">
            <a:avLst/>
          </a:prstGeom>
        </p:spPr>
      </p:pic>
      <p:pic>
        <p:nvPicPr>
          <p:cNvPr id="31" name="Image 8" descr="https://kimi-img.moonshot.cn/pub/slides/okc/flfuysioo4gzm/mnt/agents/output/yuan_pptd/images/image_30.sv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699506" y="3222625"/>
            <a:ext cx="354076" cy="354076"/>
          </a:xfrm>
          <a:prstGeom prst="rect">
            <a:avLst/>
          </a:prstGeom>
        </p:spPr>
      </p:pic>
      <p:pic>
        <p:nvPicPr>
          <p:cNvPr id="32" name="Image 9" descr="https://kimi-img.moonshot.cn/pub/slides/okc/flfuysioo4gzm/mnt/agents/output/yuan_pptd/images/image_31.sv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938264" y="3222625"/>
            <a:ext cx="354076" cy="354076"/>
          </a:xfrm>
          <a:prstGeom prst="rect">
            <a:avLst/>
          </a:prstGeom>
        </p:spPr>
      </p:pic>
      <p:sp>
        <p:nvSpPr>
          <p:cNvPr id="33" name="Shape 20"/>
          <p:cNvSpPr/>
          <p:nvPr/>
        </p:nvSpPr>
        <p:spPr>
          <a:xfrm>
            <a:off x="7342251" y="6463919"/>
            <a:ext cx="474091" cy="694309"/>
          </a:xfrm>
          <a:prstGeom prst="rightArrow">
            <a:avLst>
              <a:gd name="adj1" fmla="val 50000"/>
              <a:gd name="adj2" fmla="val 50000"/>
            </a:avLst>
          </a:prstGeom>
          <a:solidFill>
            <a:srgbClr val="FFFFFF"/>
          </a:solidFill>
          <a:ln w="12700">
            <a:solidFill>
              <a:srgbClr val="04579A"/>
            </a:solidFill>
            <a:prstDash val="solid"/>
          </a:ln>
        </p:spPr>
      </p:sp>
      <p:sp>
        <p:nvSpPr>
          <p:cNvPr id="34" name="Shape 21"/>
          <p:cNvSpPr/>
          <p:nvPr/>
        </p:nvSpPr>
        <p:spPr>
          <a:xfrm>
            <a:off x="2530856" y="6056757"/>
            <a:ext cx="0" cy="2005584"/>
          </a:xfrm>
          <a:prstGeom prst="line">
            <a:avLst/>
          </a:prstGeom>
          <a:noFill/>
          <a:ln w="12700">
            <a:solidFill>
              <a:srgbClr val="005C8F"/>
            </a:solidFill>
            <a:prstDash val="solid"/>
            <a:headEnd type="none"/>
            <a:tailEnd type="none"/>
          </a:ln>
        </p:spPr>
      </p:sp>
      <p:sp>
        <p:nvSpPr>
          <p:cNvPr id="35" name="Shape 22"/>
          <p:cNvSpPr/>
          <p:nvPr/>
        </p:nvSpPr>
        <p:spPr>
          <a:xfrm flipH="1">
            <a:off x="4107942" y="5990209"/>
            <a:ext cx="0" cy="2072132"/>
          </a:xfrm>
          <a:prstGeom prst="line">
            <a:avLst/>
          </a:prstGeom>
          <a:noFill/>
          <a:ln w="12700">
            <a:solidFill>
              <a:srgbClr val="005C8F"/>
            </a:solidFill>
            <a:prstDash val="solid"/>
            <a:headEnd type="none"/>
            <a:tailEnd type="none"/>
          </a:ln>
        </p:spPr>
      </p:sp>
      <p:sp>
        <p:nvSpPr>
          <p:cNvPr id="36" name="Shape 23"/>
          <p:cNvSpPr/>
          <p:nvPr/>
        </p:nvSpPr>
        <p:spPr>
          <a:xfrm>
            <a:off x="5758307" y="6044311"/>
            <a:ext cx="0" cy="2018030"/>
          </a:xfrm>
          <a:prstGeom prst="line">
            <a:avLst/>
          </a:prstGeom>
          <a:noFill/>
          <a:ln w="12700">
            <a:solidFill>
              <a:srgbClr val="005C8F"/>
            </a:solidFill>
            <a:prstDash val="solid"/>
            <a:headEnd type="none"/>
            <a:tailEnd type="none"/>
          </a:ln>
        </p:spPr>
      </p:sp>
      <p:sp>
        <p:nvSpPr>
          <p:cNvPr id="37" name="Text 24"/>
          <p:cNvSpPr/>
          <p:nvPr/>
        </p:nvSpPr>
        <p:spPr>
          <a:xfrm>
            <a:off x="1947545" y="5617210"/>
            <a:ext cx="1189609" cy="451358"/>
          </a:xfrm>
          <a:prstGeom prst="rect">
            <a:avLst/>
          </a:prstGeom>
          <a:noFill/>
          <a:ln/>
        </p:spPr>
        <p:txBody>
          <a:bodyPr wrap="square" lIns="0" tIns="0" rIns="0" bIns="0" rtlCol="0" anchor="t"/>
          <a:lstStyle/>
          <a:p>
            <a:pPr algn="ctr">
              <a:lnSpc>
                <a:spcPct val="120000"/>
              </a:lnSpc>
            </a:pPr>
            <a:r>
              <a:rPr lang="en-US" sz="2130" dirty="0">
                <a:solidFill>
                  <a:srgbClr val="000000"/>
                </a:solidFill>
                <a:latin typeface="Arial" pitchFamily="34" charset="0"/>
                <a:ea typeface="Arial" pitchFamily="34" charset="-122"/>
                <a:cs typeface="Arial" pitchFamily="34" charset="-120"/>
              </a:rPr>
              <a:t>用户A</a:t>
            </a:r>
            <a:endParaRPr lang="en-US" sz="2130" dirty="0"/>
          </a:p>
        </p:txBody>
      </p:sp>
      <p:sp>
        <p:nvSpPr>
          <p:cNvPr id="38" name="Text 25"/>
          <p:cNvSpPr/>
          <p:nvPr/>
        </p:nvSpPr>
        <p:spPr>
          <a:xfrm>
            <a:off x="3513201" y="5531993"/>
            <a:ext cx="1189609" cy="451358"/>
          </a:xfrm>
          <a:prstGeom prst="rect">
            <a:avLst/>
          </a:prstGeom>
          <a:noFill/>
          <a:ln/>
        </p:spPr>
        <p:txBody>
          <a:bodyPr wrap="square" lIns="0" tIns="0" rIns="0" bIns="0" rtlCol="0" anchor="t"/>
          <a:lstStyle/>
          <a:p>
            <a:pPr algn="ctr">
              <a:lnSpc>
                <a:spcPct val="120000"/>
              </a:lnSpc>
            </a:pPr>
            <a:r>
              <a:rPr lang="en-US" sz="2130" dirty="0">
                <a:solidFill>
                  <a:srgbClr val="000000"/>
                </a:solidFill>
                <a:latin typeface="Arial" pitchFamily="34" charset="0"/>
                <a:ea typeface="Arial" pitchFamily="34" charset="-122"/>
                <a:cs typeface="Arial" pitchFamily="34" charset="-120"/>
              </a:rPr>
              <a:t>区块链</a:t>
            </a:r>
            <a:endParaRPr lang="en-US" sz="2130" dirty="0"/>
          </a:p>
        </p:txBody>
      </p:sp>
      <p:sp>
        <p:nvSpPr>
          <p:cNvPr id="39" name="Text 26"/>
          <p:cNvSpPr/>
          <p:nvPr/>
        </p:nvSpPr>
        <p:spPr>
          <a:xfrm>
            <a:off x="5117338" y="5610479"/>
            <a:ext cx="1189609" cy="451358"/>
          </a:xfrm>
          <a:prstGeom prst="rect">
            <a:avLst/>
          </a:prstGeom>
          <a:noFill/>
          <a:ln/>
        </p:spPr>
        <p:txBody>
          <a:bodyPr wrap="square" lIns="0" tIns="0" rIns="0" bIns="0" rtlCol="0" anchor="t"/>
          <a:lstStyle/>
          <a:p>
            <a:pPr algn="ctr">
              <a:lnSpc>
                <a:spcPct val="120000"/>
              </a:lnSpc>
            </a:pPr>
            <a:r>
              <a:rPr lang="en-US" sz="2130" dirty="0">
                <a:solidFill>
                  <a:srgbClr val="000000"/>
                </a:solidFill>
                <a:latin typeface="Arial" pitchFamily="34" charset="0"/>
                <a:ea typeface="Arial" pitchFamily="34" charset="-122"/>
                <a:cs typeface="Arial" pitchFamily="34" charset="-120"/>
              </a:rPr>
              <a:t>用户B</a:t>
            </a:r>
            <a:endParaRPr lang="en-US" sz="2130" dirty="0"/>
          </a:p>
        </p:txBody>
      </p:sp>
      <p:sp>
        <p:nvSpPr>
          <p:cNvPr id="40" name="Shape 27"/>
          <p:cNvSpPr/>
          <p:nvPr/>
        </p:nvSpPr>
        <p:spPr>
          <a:xfrm>
            <a:off x="2585847" y="6568694"/>
            <a:ext cx="1456563" cy="0"/>
          </a:xfrm>
          <a:prstGeom prst="straightConnector1">
            <a:avLst/>
          </a:prstGeom>
          <a:noFill/>
          <a:ln w="12700">
            <a:solidFill>
              <a:srgbClr val="000000"/>
            </a:solidFill>
            <a:prstDash val="solid"/>
            <a:headEnd type="none"/>
            <a:tailEnd type="arrow"/>
          </a:ln>
        </p:spPr>
      </p:sp>
      <p:sp>
        <p:nvSpPr>
          <p:cNvPr id="41" name="Text 28"/>
          <p:cNvSpPr/>
          <p:nvPr/>
        </p:nvSpPr>
        <p:spPr>
          <a:xfrm>
            <a:off x="2709926" y="6206490"/>
            <a:ext cx="1189609" cy="369316"/>
          </a:xfrm>
          <a:prstGeom prst="rect">
            <a:avLst/>
          </a:prstGeom>
          <a:noFill/>
          <a:ln/>
        </p:spPr>
        <p:txBody>
          <a:bodyPr wrap="square" lIns="0" tIns="0" rIns="0" bIns="0" rtlCol="0" anchor="t"/>
          <a:lstStyle/>
          <a:p>
            <a:pPr algn="l">
              <a:lnSpc>
                <a:spcPct val="120000"/>
              </a:lnSpc>
            </a:pPr>
            <a:r>
              <a:rPr lang="en-US" sz="1600" dirty="0">
                <a:solidFill>
                  <a:srgbClr val="000000"/>
                </a:solidFill>
                <a:latin typeface="Arial" pitchFamily="34" charset="0"/>
                <a:ea typeface="Arial" pitchFamily="34" charset="-122"/>
                <a:cs typeface="Arial" pitchFamily="34" charset="-120"/>
              </a:rPr>
              <a:t>在时间T前</a:t>
            </a:r>
            <a:endParaRPr lang="en-US" sz="1600" dirty="0"/>
          </a:p>
        </p:txBody>
      </p:sp>
      <p:sp>
        <p:nvSpPr>
          <p:cNvPr id="42" name="Shape 29"/>
          <p:cNvSpPr/>
          <p:nvPr/>
        </p:nvSpPr>
        <p:spPr>
          <a:xfrm>
            <a:off x="4172458" y="7494016"/>
            <a:ext cx="1539621" cy="0"/>
          </a:xfrm>
          <a:prstGeom prst="straightConnector1">
            <a:avLst/>
          </a:prstGeom>
          <a:noFill/>
          <a:ln w="12700">
            <a:solidFill>
              <a:srgbClr val="000000"/>
            </a:solidFill>
            <a:prstDash val="solid"/>
            <a:headEnd type="arrow"/>
            <a:tailEnd type="none"/>
          </a:ln>
        </p:spPr>
      </p:sp>
      <p:sp>
        <p:nvSpPr>
          <p:cNvPr id="43" name="Text 30"/>
          <p:cNvSpPr/>
          <p:nvPr/>
        </p:nvSpPr>
        <p:spPr>
          <a:xfrm>
            <a:off x="4330700" y="7112254"/>
            <a:ext cx="1189609" cy="369316"/>
          </a:xfrm>
          <a:prstGeom prst="rect">
            <a:avLst/>
          </a:prstGeom>
          <a:noFill/>
          <a:ln/>
        </p:spPr>
        <p:txBody>
          <a:bodyPr wrap="square" lIns="0" tIns="0" rIns="0" bIns="0" rtlCol="0" anchor="t"/>
          <a:lstStyle/>
          <a:p>
            <a:pPr algn="l">
              <a:lnSpc>
                <a:spcPct val="120000"/>
              </a:lnSpc>
            </a:pPr>
            <a:r>
              <a:rPr lang="en-US" sz="1600" dirty="0">
                <a:solidFill>
                  <a:srgbClr val="000000"/>
                </a:solidFill>
                <a:latin typeface="Arial" pitchFamily="34" charset="0"/>
                <a:ea typeface="Arial" pitchFamily="34" charset="-122"/>
                <a:cs typeface="Arial" pitchFamily="34" charset="-120"/>
              </a:rPr>
              <a:t>在时间T后</a:t>
            </a:r>
            <a:endParaRPr lang="en-US" sz="1600" dirty="0"/>
          </a:p>
        </p:txBody>
      </p:sp>
      <p:sp>
        <p:nvSpPr>
          <p:cNvPr id="44" name="Shape 31"/>
          <p:cNvSpPr/>
          <p:nvPr/>
        </p:nvSpPr>
        <p:spPr>
          <a:xfrm>
            <a:off x="9640951" y="6042914"/>
            <a:ext cx="0" cy="2005584"/>
          </a:xfrm>
          <a:prstGeom prst="line">
            <a:avLst/>
          </a:prstGeom>
          <a:noFill/>
          <a:ln w="12700">
            <a:solidFill>
              <a:srgbClr val="005C8F"/>
            </a:solidFill>
            <a:prstDash val="solid"/>
            <a:headEnd type="none"/>
            <a:tailEnd type="none"/>
          </a:ln>
        </p:spPr>
      </p:sp>
      <p:sp>
        <p:nvSpPr>
          <p:cNvPr id="45" name="Shape 32"/>
          <p:cNvSpPr/>
          <p:nvPr/>
        </p:nvSpPr>
        <p:spPr>
          <a:xfrm flipH="1">
            <a:off x="11218164" y="5976366"/>
            <a:ext cx="0" cy="2072132"/>
          </a:xfrm>
          <a:prstGeom prst="line">
            <a:avLst/>
          </a:prstGeom>
          <a:noFill/>
          <a:ln w="12700">
            <a:solidFill>
              <a:srgbClr val="005C8F"/>
            </a:solidFill>
            <a:prstDash val="solid"/>
            <a:headEnd type="none"/>
            <a:tailEnd type="none"/>
          </a:ln>
        </p:spPr>
      </p:sp>
      <p:sp>
        <p:nvSpPr>
          <p:cNvPr id="46" name="Shape 33"/>
          <p:cNvSpPr/>
          <p:nvPr/>
        </p:nvSpPr>
        <p:spPr>
          <a:xfrm>
            <a:off x="12868402" y="6030468"/>
            <a:ext cx="0" cy="2018030"/>
          </a:xfrm>
          <a:prstGeom prst="line">
            <a:avLst/>
          </a:prstGeom>
          <a:noFill/>
          <a:ln w="12700">
            <a:solidFill>
              <a:srgbClr val="005C8F"/>
            </a:solidFill>
            <a:prstDash val="solid"/>
            <a:headEnd type="none"/>
            <a:tailEnd type="none"/>
          </a:ln>
        </p:spPr>
      </p:sp>
      <p:sp>
        <p:nvSpPr>
          <p:cNvPr id="47" name="Text 34"/>
          <p:cNvSpPr/>
          <p:nvPr/>
        </p:nvSpPr>
        <p:spPr>
          <a:xfrm>
            <a:off x="9057640" y="5603367"/>
            <a:ext cx="1189609" cy="451358"/>
          </a:xfrm>
          <a:prstGeom prst="rect">
            <a:avLst/>
          </a:prstGeom>
          <a:noFill/>
          <a:ln/>
        </p:spPr>
        <p:txBody>
          <a:bodyPr wrap="square" lIns="0" tIns="0" rIns="0" bIns="0" rtlCol="0" anchor="t"/>
          <a:lstStyle/>
          <a:p>
            <a:pPr algn="ctr">
              <a:lnSpc>
                <a:spcPct val="120000"/>
              </a:lnSpc>
            </a:pPr>
            <a:r>
              <a:rPr lang="en-US" sz="2130" dirty="0">
                <a:solidFill>
                  <a:srgbClr val="000000"/>
                </a:solidFill>
                <a:latin typeface="Arial" pitchFamily="34" charset="0"/>
                <a:ea typeface="Arial" pitchFamily="34" charset="-122"/>
                <a:cs typeface="Arial" pitchFamily="34" charset="-120"/>
              </a:rPr>
              <a:t>用户A</a:t>
            </a:r>
            <a:endParaRPr lang="en-US" sz="2130" dirty="0"/>
          </a:p>
        </p:txBody>
      </p:sp>
      <p:sp>
        <p:nvSpPr>
          <p:cNvPr id="48" name="Text 35"/>
          <p:cNvSpPr/>
          <p:nvPr/>
        </p:nvSpPr>
        <p:spPr>
          <a:xfrm>
            <a:off x="10623296" y="5518150"/>
            <a:ext cx="1189609" cy="451358"/>
          </a:xfrm>
          <a:prstGeom prst="rect">
            <a:avLst/>
          </a:prstGeom>
          <a:noFill/>
          <a:ln/>
        </p:spPr>
        <p:txBody>
          <a:bodyPr wrap="square" lIns="0" tIns="0" rIns="0" bIns="0" rtlCol="0" anchor="t"/>
          <a:lstStyle/>
          <a:p>
            <a:pPr algn="ctr">
              <a:lnSpc>
                <a:spcPct val="120000"/>
              </a:lnSpc>
            </a:pPr>
            <a:r>
              <a:rPr lang="en-US" sz="2130" dirty="0">
                <a:solidFill>
                  <a:srgbClr val="000000"/>
                </a:solidFill>
                <a:latin typeface="Arial" pitchFamily="34" charset="0"/>
                <a:ea typeface="Arial" pitchFamily="34" charset="-122"/>
                <a:cs typeface="Arial" pitchFamily="34" charset="-120"/>
              </a:rPr>
              <a:t>区块链</a:t>
            </a:r>
            <a:endParaRPr lang="en-US" sz="2130" dirty="0"/>
          </a:p>
        </p:txBody>
      </p:sp>
      <p:sp>
        <p:nvSpPr>
          <p:cNvPr id="49" name="Text 36"/>
          <p:cNvSpPr/>
          <p:nvPr/>
        </p:nvSpPr>
        <p:spPr>
          <a:xfrm>
            <a:off x="12227560" y="5596636"/>
            <a:ext cx="1189609" cy="451358"/>
          </a:xfrm>
          <a:prstGeom prst="rect">
            <a:avLst/>
          </a:prstGeom>
          <a:noFill/>
          <a:ln/>
        </p:spPr>
        <p:txBody>
          <a:bodyPr wrap="square" lIns="0" tIns="0" rIns="0" bIns="0" rtlCol="0" anchor="t"/>
          <a:lstStyle/>
          <a:p>
            <a:pPr algn="ctr">
              <a:lnSpc>
                <a:spcPct val="120000"/>
              </a:lnSpc>
            </a:pPr>
            <a:r>
              <a:rPr lang="en-US" sz="2130" dirty="0">
                <a:solidFill>
                  <a:srgbClr val="000000"/>
                </a:solidFill>
                <a:latin typeface="Arial" pitchFamily="34" charset="0"/>
                <a:ea typeface="Arial" pitchFamily="34" charset="-122"/>
                <a:cs typeface="Arial" pitchFamily="34" charset="-120"/>
              </a:rPr>
              <a:t>用户B</a:t>
            </a:r>
            <a:endParaRPr lang="en-US" sz="2130" dirty="0"/>
          </a:p>
        </p:txBody>
      </p:sp>
      <p:sp>
        <p:nvSpPr>
          <p:cNvPr id="50" name="Shape 37"/>
          <p:cNvSpPr/>
          <p:nvPr/>
        </p:nvSpPr>
        <p:spPr>
          <a:xfrm>
            <a:off x="9696069" y="6554851"/>
            <a:ext cx="1456563" cy="0"/>
          </a:xfrm>
          <a:prstGeom prst="straightConnector1">
            <a:avLst/>
          </a:prstGeom>
          <a:noFill/>
          <a:ln w="12700">
            <a:solidFill>
              <a:srgbClr val="000000"/>
            </a:solidFill>
            <a:prstDash val="solid"/>
            <a:headEnd type="none"/>
            <a:tailEnd type="arrow"/>
          </a:ln>
        </p:spPr>
      </p:sp>
      <p:sp>
        <p:nvSpPr>
          <p:cNvPr id="51" name="Text 38"/>
          <p:cNvSpPr/>
          <p:nvPr/>
        </p:nvSpPr>
        <p:spPr>
          <a:xfrm>
            <a:off x="9820148" y="6192647"/>
            <a:ext cx="1189609" cy="369316"/>
          </a:xfrm>
          <a:prstGeom prst="rect">
            <a:avLst/>
          </a:prstGeom>
          <a:noFill/>
          <a:ln/>
        </p:spPr>
        <p:txBody>
          <a:bodyPr wrap="square" lIns="0" tIns="0" rIns="0" bIns="0" rtlCol="0" anchor="t"/>
          <a:lstStyle/>
          <a:p>
            <a:pPr algn="l">
              <a:lnSpc>
                <a:spcPct val="120000"/>
              </a:lnSpc>
            </a:pPr>
            <a:r>
              <a:rPr lang="en-US" sz="1600" dirty="0">
                <a:solidFill>
                  <a:srgbClr val="000000"/>
                </a:solidFill>
                <a:latin typeface="Arial" pitchFamily="34" charset="0"/>
                <a:ea typeface="Arial" pitchFamily="34" charset="-122"/>
                <a:cs typeface="Arial" pitchFamily="34" charset="-120"/>
              </a:rPr>
              <a:t>在时间T前</a:t>
            </a:r>
            <a:endParaRPr lang="en-US" sz="1600" dirty="0"/>
          </a:p>
        </p:txBody>
      </p:sp>
      <p:sp>
        <p:nvSpPr>
          <p:cNvPr id="52" name="Shape 39"/>
          <p:cNvSpPr/>
          <p:nvPr/>
        </p:nvSpPr>
        <p:spPr>
          <a:xfrm>
            <a:off x="11290300" y="7494016"/>
            <a:ext cx="1539621" cy="0"/>
          </a:xfrm>
          <a:prstGeom prst="straightConnector1">
            <a:avLst/>
          </a:prstGeom>
          <a:noFill/>
          <a:ln w="12700">
            <a:solidFill>
              <a:srgbClr val="000000"/>
            </a:solidFill>
            <a:prstDash val="solid"/>
            <a:headEnd type="arrow"/>
            <a:tailEnd type="none"/>
          </a:ln>
        </p:spPr>
      </p:sp>
      <p:sp>
        <p:nvSpPr>
          <p:cNvPr id="53" name="Text 40"/>
          <p:cNvSpPr/>
          <p:nvPr/>
        </p:nvSpPr>
        <p:spPr>
          <a:xfrm>
            <a:off x="11448542" y="7112254"/>
            <a:ext cx="1189609" cy="369316"/>
          </a:xfrm>
          <a:prstGeom prst="rect">
            <a:avLst/>
          </a:prstGeom>
          <a:noFill/>
          <a:ln/>
        </p:spPr>
        <p:txBody>
          <a:bodyPr wrap="square" lIns="0" tIns="0" rIns="0" bIns="0" rtlCol="0" anchor="t"/>
          <a:lstStyle/>
          <a:p>
            <a:pPr algn="l">
              <a:lnSpc>
                <a:spcPct val="120000"/>
              </a:lnSpc>
            </a:pPr>
            <a:r>
              <a:rPr lang="en-US" sz="1600" dirty="0">
                <a:solidFill>
                  <a:srgbClr val="000000"/>
                </a:solidFill>
                <a:latin typeface="Arial" pitchFamily="34" charset="0"/>
                <a:ea typeface="Arial" pitchFamily="34" charset="-122"/>
                <a:cs typeface="Arial" pitchFamily="34" charset="-120"/>
              </a:rPr>
              <a:t>在时间T后</a:t>
            </a:r>
            <a:endParaRPr lang="en-US" sz="1600" dirty="0"/>
          </a:p>
        </p:txBody>
      </p:sp>
      <p:sp>
        <p:nvSpPr>
          <p:cNvPr id="54" name="Shape 41"/>
          <p:cNvSpPr/>
          <p:nvPr/>
        </p:nvSpPr>
        <p:spPr>
          <a:xfrm>
            <a:off x="9710674" y="7229221"/>
            <a:ext cx="1456563" cy="0"/>
          </a:xfrm>
          <a:prstGeom prst="straightConnector1">
            <a:avLst/>
          </a:prstGeom>
          <a:noFill/>
          <a:ln w="12700">
            <a:solidFill>
              <a:srgbClr val="000000"/>
            </a:solidFill>
            <a:prstDash val="solid"/>
            <a:headEnd type="none"/>
            <a:tailEnd type="arrow"/>
          </a:ln>
        </p:spPr>
      </p:sp>
      <p:sp>
        <p:nvSpPr>
          <p:cNvPr id="55" name="Text 42"/>
          <p:cNvSpPr/>
          <p:nvPr/>
        </p:nvSpPr>
        <p:spPr>
          <a:xfrm>
            <a:off x="9834753" y="6867017"/>
            <a:ext cx="1189609" cy="369316"/>
          </a:xfrm>
          <a:prstGeom prst="rect">
            <a:avLst/>
          </a:prstGeom>
          <a:noFill/>
          <a:ln/>
        </p:spPr>
        <p:txBody>
          <a:bodyPr wrap="square" lIns="0" tIns="0" rIns="0" bIns="0" rtlCol="0" anchor="t"/>
          <a:lstStyle/>
          <a:p>
            <a:pPr algn="l">
              <a:lnSpc>
                <a:spcPct val="120000"/>
              </a:lnSpc>
            </a:pPr>
            <a:r>
              <a:rPr lang="en-US" sz="1600" dirty="0">
                <a:solidFill>
                  <a:srgbClr val="000000"/>
                </a:solidFill>
                <a:latin typeface="Arial" pitchFamily="34" charset="0"/>
                <a:ea typeface="Arial" pitchFamily="34" charset="-122"/>
                <a:cs typeface="Arial" pitchFamily="34" charset="-120"/>
              </a:rPr>
              <a:t>在时间T前</a:t>
            </a:r>
            <a:endParaRPr lang="en-US" sz="1600" dirty="0"/>
          </a:p>
        </p:txBody>
      </p:sp>
      <p:sp>
        <p:nvSpPr>
          <p:cNvPr id="56" name="Text 43"/>
          <p:cNvSpPr/>
          <p:nvPr/>
        </p:nvSpPr>
        <p:spPr>
          <a:xfrm>
            <a:off x="9737852" y="6431788"/>
            <a:ext cx="1383284"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a:t>
            </a:r>
            <a:endParaRPr lang="en-US" sz="2400" dirty="0"/>
          </a:p>
        </p:txBody>
      </p:sp>
      <p:pic>
        <p:nvPicPr>
          <p:cNvPr id="57" name="Image 10" descr="https://kimi-img.moonshot.cn/pub/slides/okc/flfuysioo4gzm/mnt/agents/output/yuan_pptd/images/image_30.svg">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971403" y="6375019"/>
            <a:ext cx="354076" cy="354076"/>
          </a:xfrm>
          <a:prstGeom prst="rect">
            <a:avLst/>
          </a:prstGeom>
        </p:spPr>
      </p:pic>
      <p:pic>
        <p:nvPicPr>
          <p:cNvPr id="58" name="Image 11" descr="https://kimi-img.moonshot.cn/pub/slides/okc/flfuysioo4gzm/mnt/agents/output/yuan_pptd/images/image_30.svg">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971403" y="7050151"/>
            <a:ext cx="354076" cy="354076"/>
          </a:xfrm>
          <a:prstGeom prst="rect">
            <a:avLst/>
          </a:prstGeom>
        </p:spPr>
      </p:pic>
      <p:sp>
        <p:nvSpPr>
          <p:cNvPr id="59" name="Text 44"/>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15</a:t>
            </a:r>
            <a:endParaRPr lang="en-US" sz="2400" dirty="0"/>
          </a:p>
        </p:txBody>
      </p:sp>
    </p:spTree>
  </p:cSld>
  <p:clrMapOvr>
    <a:masterClrMapping/>
  </p:clrMapOvr>
  <p:transition>
    <p:fade/>
    <p:spd val="med"/>
  </p:transition>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3" name="Shape 0"/>
          <p:cNvSpPr/>
          <p:nvPr/>
        </p:nvSpPr>
        <p:spPr>
          <a:xfrm rot="16200000">
            <a:off x="7468489" y="-29591"/>
            <a:ext cx="3791331" cy="13785469"/>
          </a:xfrm>
          <a:prstGeom prst="trapezoid">
            <a:avLst>
              <a:gd name="adj" fmla="val 25000"/>
            </a:avLst>
          </a:prstGeom>
          <a:gradFill rotWithShape="1" flip="none">
            <a:gsLst>
              <a:gs pos="0">
                <a:srgbClr val="F2F2F2"/>
              </a:gs>
              <a:gs pos="100000">
                <a:srgbClr val="FFFFFF">
                  <a:alpha val="48000"/>
                </a:srgbClr>
              </a:gs>
            </a:gsLst>
            <a:lin ang="16200000" scaled="1"/>
          </a:gradFill>
          <a:ln/>
        </p:spPr>
      </p:sp>
      <p:sp>
        <p:nvSpPr>
          <p:cNvPr id="4" name="Shape 1"/>
          <p:cNvSpPr/>
          <p:nvPr/>
        </p:nvSpPr>
        <p:spPr>
          <a:xfrm rot="16200000">
            <a:off x="7115429" y="-4200271"/>
            <a:ext cx="2694940" cy="15588869"/>
          </a:xfrm>
          <a:prstGeom prst="trapezoid">
            <a:avLst>
              <a:gd name="adj" fmla="val 25000"/>
            </a:avLst>
          </a:prstGeom>
          <a:gradFill rotWithShape="1" flip="none">
            <a:gsLst>
              <a:gs pos="0">
                <a:srgbClr val="F2F2F2"/>
              </a:gs>
              <a:gs pos="100000">
                <a:srgbClr val="FFFFFF">
                  <a:alpha val="48000"/>
                </a:srgbClr>
              </a:gs>
            </a:gsLst>
            <a:lin ang="16200000" scaled="1"/>
          </a:gradFill>
          <a:ln/>
        </p:spPr>
      </p:sp>
      <p:sp>
        <p:nvSpPr>
          <p:cNvPr id="5" name="Shape 2"/>
          <p:cNvSpPr/>
          <p:nvPr/>
        </p:nvSpPr>
        <p:spPr>
          <a:xfrm flipV="1">
            <a:off x="11171809" y="4941570"/>
            <a:ext cx="2752471" cy="25781"/>
          </a:xfrm>
          <a:prstGeom prst="line">
            <a:avLst/>
          </a:prstGeom>
          <a:noFill/>
          <a:ln w="12700">
            <a:solidFill>
              <a:srgbClr val="7F7F7F"/>
            </a:solidFill>
            <a:prstDash val="dash"/>
            <a:headEnd type="none"/>
            <a:tailEnd type="none"/>
          </a:ln>
        </p:spPr>
      </p:sp>
      <p:sp>
        <p:nvSpPr>
          <p:cNvPr id="6" name="Shape 3"/>
          <p:cNvSpPr/>
          <p:nvPr/>
        </p:nvSpPr>
        <p:spPr>
          <a:xfrm flipV="1">
            <a:off x="14037691" y="4936109"/>
            <a:ext cx="0" cy="2599309"/>
          </a:xfrm>
          <a:prstGeom prst="line">
            <a:avLst/>
          </a:prstGeom>
          <a:noFill/>
          <a:ln w="12700">
            <a:solidFill>
              <a:srgbClr val="7F7F7F"/>
            </a:solidFill>
            <a:prstDash val="solid"/>
            <a:headEnd type="none"/>
            <a:tailEnd type="none"/>
          </a:ln>
        </p:spPr>
      </p:sp>
      <p:sp>
        <p:nvSpPr>
          <p:cNvPr id="7" name="Shape 4"/>
          <p:cNvSpPr/>
          <p:nvPr/>
        </p:nvSpPr>
        <p:spPr>
          <a:xfrm flipV="1">
            <a:off x="11058271" y="2780919"/>
            <a:ext cx="0" cy="2186940"/>
          </a:xfrm>
          <a:prstGeom prst="line">
            <a:avLst/>
          </a:prstGeom>
          <a:noFill/>
          <a:ln w="12700">
            <a:solidFill>
              <a:srgbClr val="7F7F7F"/>
            </a:solidFill>
            <a:prstDash val="solid"/>
            <a:headEnd type="none"/>
            <a:tailEnd type="none"/>
          </a:ln>
        </p:spPr>
      </p:sp>
      <p:sp>
        <p:nvSpPr>
          <p:cNvPr id="8" name="Shape 5"/>
          <p:cNvSpPr/>
          <p:nvPr/>
        </p:nvSpPr>
        <p:spPr>
          <a:xfrm flipH="1">
            <a:off x="9294241" y="5111369"/>
            <a:ext cx="0" cy="2079625"/>
          </a:xfrm>
          <a:prstGeom prst="bentConnector3">
            <a:avLst/>
          </a:prstGeom>
          <a:noFill/>
          <a:ln w="12700">
            <a:solidFill>
              <a:srgbClr val="7F7F7F"/>
            </a:solidFill>
            <a:prstDash val="solid"/>
            <a:headEnd type="none"/>
            <a:tailEnd type="none"/>
          </a:ln>
        </p:spPr>
      </p:sp>
      <p:sp>
        <p:nvSpPr>
          <p:cNvPr id="9" name="Shape 6"/>
          <p:cNvSpPr/>
          <p:nvPr/>
        </p:nvSpPr>
        <p:spPr>
          <a:xfrm>
            <a:off x="0" y="4888611"/>
            <a:ext cx="126111" cy="126111"/>
          </a:xfrm>
          <a:prstGeom prst="ellipse">
            <a:avLst/>
          </a:prstGeom>
          <a:solidFill>
            <a:srgbClr val="A5A5A5"/>
          </a:solidFill>
          <a:ln/>
        </p:spPr>
      </p:sp>
      <p:sp>
        <p:nvSpPr>
          <p:cNvPr id="10" name="Shape 7"/>
          <p:cNvSpPr/>
          <p:nvPr/>
        </p:nvSpPr>
        <p:spPr>
          <a:xfrm>
            <a:off x="295529" y="4888611"/>
            <a:ext cx="126111" cy="126111"/>
          </a:xfrm>
          <a:prstGeom prst="ellipse">
            <a:avLst/>
          </a:prstGeom>
          <a:solidFill>
            <a:srgbClr val="A5A5A5"/>
          </a:solidFill>
          <a:ln/>
        </p:spPr>
      </p:sp>
      <p:sp>
        <p:nvSpPr>
          <p:cNvPr id="11" name="Shape 8"/>
          <p:cNvSpPr/>
          <p:nvPr/>
        </p:nvSpPr>
        <p:spPr>
          <a:xfrm>
            <a:off x="886460" y="4888611"/>
            <a:ext cx="126111" cy="126111"/>
          </a:xfrm>
          <a:prstGeom prst="ellipse">
            <a:avLst/>
          </a:prstGeom>
          <a:solidFill>
            <a:srgbClr val="BFBFBF"/>
          </a:solidFill>
          <a:ln/>
        </p:spPr>
      </p:sp>
      <p:sp>
        <p:nvSpPr>
          <p:cNvPr id="12" name="Shape 9"/>
          <p:cNvSpPr/>
          <p:nvPr/>
        </p:nvSpPr>
        <p:spPr>
          <a:xfrm>
            <a:off x="1253109" y="4888611"/>
            <a:ext cx="126111" cy="126111"/>
          </a:xfrm>
          <a:prstGeom prst="ellipse">
            <a:avLst/>
          </a:prstGeom>
          <a:solidFill>
            <a:srgbClr val="BFBFBF"/>
          </a:solidFill>
          <a:ln/>
        </p:spPr>
      </p:sp>
      <p:sp>
        <p:nvSpPr>
          <p:cNvPr id="13" name="Shape 10"/>
          <p:cNvSpPr/>
          <p:nvPr/>
        </p:nvSpPr>
        <p:spPr>
          <a:xfrm>
            <a:off x="1548511" y="4889500"/>
            <a:ext cx="126111" cy="126111"/>
          </a:xfrm>
          <a:prstGeom prst="ellipse">
            <a:avLst/>
          </a:prstGeom>
          <a:solidFill>
            <a:srgbClr val="BFBFBF"/>
          </a:solidFill>
          <a:ln/>
        </p:spPr>
      </p:sp>
      <p:sp>
        <p:nvSpPr>
          <p:cNvPr id="14" name="Shape 11"/>
          <p:cNvSpPr/>
          <p:nvPr/>
        </p:nvSpPr>
        <p:spPr>
          <a:xfrm>
            <a:off x="1844040" y="4890389"/>
            <a:ext cx="126111" cy="126111"/>
          </a:xfrm>
          <a:prstGeom prst="ellipse">
            <a:avLst/>
          </a:prstGeom>
          <a:solidFill>
            <a:srgbClr val="BFBFBF"/>
          </a:solidFill>
          <a:ln/>
        </p:spPr>
      </p:sp>
      <p:sp>
        <p:nvSpPr>
          <p:cNvPr id="15" name="Shape 12"/>
          <p:cNvSpPr/>
          <p:nvPr/>
        </p:nvSpPr>
        <p:spPr>
          <a:xfrm>
            <a:off x="2139569" y="4891151"/>
            <a:ext cx="126111" cy="126111"/>
          </a:xfrm>
          <a:prstGeom prst="ellipse">
            <a:avLst/>
          </a:prstGeom>
          <a:solidFill>
            <a:srgbClr val="BFBFBF"/>
          </a:solidFill>
          <a:ln/>
        </p:spPr>
      </p:sp>
      <p:sp>
        <p:nvSpPr>
          <p:cNvPr id="16" name="Shape 13"/>
          <p:cNvSpPr/>
          <p:nvPr/>
        </p:nvSpPr>
        <p:spPr>
          <a:xfrm>
            <a:off x="2434971" y="4892040"/>
            <a:ext cx="126111" cy="126111"/>
          </a:xfrm>
          <a:prstGeom prst="ellipse">
            <a:avLst/>
          </a:prstGeom>
          <a:solidFill>
            <a:srgbClr val="BFBFBF"/>
          </a:solidFill>
          <a:ln/>
        </p:spPr>
      </p:sp>
      <p:sp>
        <p:nvSpPr>
          <p:cNvPr id="17" name="Shape 14"/>
          <p:cNvSpPr/>
          <p:nvPr/>
        </p:nvSpPr>
        <p:spPr>
          <a:xfrm>
            <a:off x="2730500" y="4892040"/>
            <a:ext cx="126111" cy="126111"/>
          </a:xfrm>
          <a:prstGeom prst="ellipse">
            <a:avLst/>
          </a:prstGeom>
          <a:solidFill>
            <a:srgbClr val="BFBFBF"/>
          </a:solidFill>
          <a:ln/>
        </p:spPr>
      </p:sp>
      <p:sp>
        <p:nvSpPr>
          <p:cNvPr id="18" name="Shape 15"/>
          <p:cNvSpPr/>
          <p:nvPr/>
        </p:nvSpPr>
        <p:spPr>
          <a:xfrm>
            <a:off x="3026029" y="4892040"/>
            <a:ext cx="126111" cy="126111"/>
          </a:xfrm>
          <a:prstGeom prst="ellipse">
            <a:avLst/>
          </a:prstGeom>
          <a:solidFill>
            <a:srgbClr val="BFBFBF"/>
          </a:solidFill>
          <a:ln/>
        </p:spPr>
      </p:sp>
      <p:sp>
        <p:nvSpPr>
          <p:cNvPr id="19" name="Shape 16"/>
          <p:cNvSpPr/>
          <p:nvPr/>
        </p:nvSpPr>
        <p:spPr>
          <a:xfrm>
            <a:off x="3321431" y="4892040"/>
            <a:ext cx="126111" cy="126111"/>
          </a:xfrm>
          <a:prstGeom prst="ellipse">
            <a:avLst/>
          </a:prstGeom>
          <a:solidFill>
            <a:srgbClr val="BFBFBF"/>
          </a:solidFill>
          <a:ln/>
        </p:spPr>
      </p:sp>
      <p:sp>
        <p:nvSpPr>
          <p:cNvPr id="20" name="Shape 17"/>
          <p:cNvSpPr/>
          <p:nvPr/>
        </p:nvSpPr>
        <p:spPr>
          <a:xfrm>
            <a:off x="3616960" y="4892040"/>
            <a:ext cx="126111" cy="126111"/>
          </a:xfrm>
          <a:prstGeom prst="ellipse">
            <a:avLst/>
          </a:prstGeom>
          <a:solidFill>
            <a:srgbClr val="BFBFBF"/>
          </a:solidFill>
          <a:ln/>
        </p:spPr>
      </p:sp>
      <p:sp>
        <p:nvSpPr>
          <p:cNvPr id="21" name="Shape 18"/>
          <p:cNvSpPr/>
          <p:nvPr/>
        </p:nvSpPr>
        <p:spPr>
          <a:xfrm>
            <a:off x="3912489" y="4892040"/>
            <a:ext cx="126111" cy="126111"/>
          </a:xfrm>
          <a:prstGeom prst="ellipse">
            <a:avLst/>
          </a:prstGeom>
          <a:solidFill>
            <a:srgbClr val="BFBFBF"/>
          </a:solidFill>
          <a:ln/>
        </p:spPr>
      </p:sp>
      <p:sp>
        <p:nvSpPr>
          <p:cNvPr id="22" name="Shape 19"/>
          <p:cNvSpPr/>
          <p:nvPr/>
        </p:nvSpPr>
        <p:spPr>
          <a:xfrm>
            <a:off x="4207891" y="4892040"/>
            <a:ext cx="126111" cy="126111"/>
          </a:xfrm>
          <a:prstGeom prst="ellipse">
            <a:avLst/>
          </a:prstGeom>
          <a:solidFill>
            <a:srgbClr val="BFBFBF"/>
          </a:solidFill>
          <a:ln/>
        </p:spPr>
      </p:sp>
      <p:sp>
        <p:nvSpPr>
          <p:cNvPr id="23" name="Shape 20"/>
          <p:cNvSpPr/>
          <p:nvPr/>
        </p:nvSpPr>
        <p:spPr>
          <a:xfrm>
            <a:off x="5389880" y="4892040"/>
            <a:ext cx="126111" cy="126111"/>
          </a:xfrm>
          <a:prstGeom prst="ellipse">
            <a:avLst/>
          </a:prstGeom>
          <a:solidFill>
            <a:srgbClr val="BFBFBF"/>
          </a:solidFill>
          <a:ln/>
        </p:spPr>
      </p:sp>
      <p:sp>
        <p:nvSpPr>
          <p:cNvPr id="24" name="Shape 21"/>
          <p:cNvSpPr/>
          <p:nvPr/>
        </p:nvSpPr>
        <p:spPr>
          <a:xfrm>
            <a:off x="5685409" y="4892040"/>
            <a:ext cx="126111" cy="126111"/>
          </a:xfrm>
          <a:prstGeom prst="ellipse">
            <a:avLst/>
          </a:prstGeom>
          <a:solidFill>
            <a:srgbClr val="BFBFBF"/>
          </a:solidFill>
          <a:ln/>
        </p:spPr>
      </p:sp>
      <p:sp>
        <p:nvSpPr>
          <p:cNvPr id="25" name="Shape 22"/>
          <p:cNvSpPr/>
          <p:nvPr/>
        </p:nvSpPr>
        <p:spPr>
          <a:xfrm>
            <a:off x="5980811" y="4892040"/>
            <a:ext cx="126111" cy="126111"/>
          </a:xfrm>
          <a:prstGeom prst="ellipse">
            <a:avLst/>
          </a:prstGeom>
          <a:solidFill>
            <a:srgbClr val="BFBFBF"/>
          </a:solidFill>
          <a:ln/>
        </p:spPr>
      </p:sp>
      <p:sp>
        <p:nvSpPr>
          <p:cNvPr id="26" name="Shape 23"/>
          <p:cNvSpPr/>
          <p:nvPr/>
        </p:nvSpPr>
        <p:spPr>
          <a:xfrm>
            <a:off x="6276340" y="4892040"/>
            <a:ext cx="126111" cy="126111"/>
          </a:xfrm>
          <a:prstGeom prst="ellipse">
            <a:avLst/>
          </a:prstGeom>
          <a:solidFill>
            <a:srgbClr val="BFBFBF"/>
          </a:solidFill>
          <a:ln/>
        </p:spPr>
      </p:sp>
      <p:sp>
        <p:nvSpPr>
          <p:cNvPr id="27" name="Shape 24"/>
          <p:cNvSpPr/>
          <p:nvPr/>
        </p:nvSpPr>
        <p:spPr>
          <a:xfrm>
            <a:off x="6571869" y="4892040"/>
            <a:ext cx="126111" cy="126111"/>
          </a:xfrm>
          <a:prstGeom prst="ellipse">
            <a:avLst/>
          </a:prstGeom>
          <a:solidFill>
            <a:srgbClr val="BFBFBF"/>
          </a:solidFill>
          <a:ln/>
        </p:spPr>
      </p:sp>
      <p:sp>
        <p:nvSpPr>
          <p:cNvPr id="28" name="Shape 25"/>
          <p:cNvSpPr/>
          <p:nvPr/>
        </p:nvSpPr>
        <p:spPr>
          <a:xfrm>
            <a:off x="7162800" y="4892040"/>
            <a:ext cx="126111" cy="126111"/>
          </a:xfrm>
          <a:prstGeom prst="ellipse">
            <a:avLst/>
          </a:prstGeom>
          <a:solidFill>
            <a:srgbClr val="BFBFBF"/>
          </a:solidFill>
          <a:ln/>
        </p:spPr>
      </p:sp>
      <p:sp>
        <p:nvSpPr>
          <p:cNvPr id="29" name="Shape 26"/>
          <p:cNvSpPr/>
          <p:nvPr/>
        </p:nvSpPr>
        <p:spPr>
          <a:xfrm>
            <a:off x="7458329" y="4892040"/>
            <a:ext cx="126111" cy="126111"/>
          </a:xfrm>
          <a:prstGeom prst="ellipse">
            <a:avLst/>
          </a:prstGeom>
          <a:solidFill>
            <a:srgbClr val="BFBFBF"/>
          </a:solidFill>
          <a:ln/>
        </p:spPr>
      </p:sp>
      <p:sp>
        <p:nvSpPr>
          <p:cNvPr id="30" name="Shape 27"/>
          <p:cNvSpPr/>
          <p:nvPr/>
        </p:nvSpPr>
        <p:spPr>
          <a:xfrm>
            <a:off x="7753731" y="4892040"/>
            <a:ext cx="126111" cy="126111"/>
          </a:xfrm>
          <a:prstGeom prst="ellipse">
            <a:avLst/>
          </a:prstGeom>
          <a:solidFill>
            <a:srgbClr val="BFBFBF"/>
          </a:solidFill>
          <a:ln/>
        </p:spPr>
      </p:sp>
      <p:sp>
        <p:nvSpPr>
          <p:cNvPr id="31" name="Shape 28"/>
          <p:cNvSpPr/>
          <p:nvPr/>
        </p:nvSpPr>
        <p:spPr>
          <a:xfrm>
            <a:off x="8344789" y="4892040"/>
            <a:ext cx="126111" cy="126111"/>
          </a:xfrm>
          <a:prstGeom prst="ellipse">
            <a:avLst/>
          </a:prstGeom>
          <a:solidFill>
            <a:srgbClr val="BFBFBF"/>
          </a:solidFill>
          <a:ln/>
        </p:spPr>
      </p:sp>
      <p:sp>
        <p:nvSpPr>
          <p:cNvPr id="32" name="Shape 29"/>
          <p:cNvSpPr/>
          <p:nvPr/>
        </p:nvSpPr>
        <p:spPr>
          <a:xfrm>
            <a:off x="8640191" y="4892040"/>
            <a:ext cx="126111" cy="126111"/>
          </a:xfrm>
          <a:prstGeom prst="ellipse">
            <a:avLst/>
          </a:prstGeom>
          <a:solidFill>
            <a:srgbClr val="BFBFBF"/>
          </a:solidFill>
          <a:ln/>
        </p:spPr>
      </p:sp>
      <p:sp>
        <p:nvSpPr>
          <p:cNvPr id="33" name="Shape 30"/>
          <p:cNvSpPr/>
          <p:nvPr/>
        </p:nvSpPr>
        <p:spPr>
          <a:xfrm>
            <a:off x="8935720" y="4892040"/>
            <a:ext cx="126111" cy="126111"/>
          </a:xfrm>
          <a:prstGeom prst="ellipse">
            <a:avLst/>
          </a:prstGeom>
          <a:solidFill>
            <a:srgbClr val="BFBFBF"/>
          </a:solidFill>
          <a:ln/>
        </p:spPr>
      </p:sp>
      <p:sp>
        <p:nvSpPr>
          <p:cNvPr id="34" name="Shape 31"/>
          <p:cNvSpPr/>
          <p:nvPr/>
        </p:nvSpPr>
        <p:spPr>
          <a:xfrm>
            <a:off x="9526651" y="4892040"/>
            <a:ext cx="126111" cy="126111"/>
          </a:xfrm>
          <a:prstGeom prst="ellipse">
            <a:avLst/>
          </a:prstGeom>
          <a:solidFill>
            <a:srgbClr val="BFBFBF"/>
          </a:solidFill>
          <a:ln/>
        </p:spPr>
      </p:sp>
      <p:sp>
        <p:nvSpPr>
          <p:cNvPr id="35" name="Shape 32"/>
          <p:cNvSpPr/>
          <p:nvPr/>
        </p:nvSpPr>
        <p:spPr>
          <a:xfrm>
            <a:off x="9822180" y="4892040"/>
            <a:ext cx="126111" cy="126111"/>
          </a:xfrm>
          <a:prstGeom prst="ellipse">
            <a:avLst/>
          </a:prstGeom>
          <a:solidFill>
            <a:srgbClr val="BFBFBF"/>
          </a:solidFill>
          <a:ln/>
        </p:spPr>
      </p:sp>
      <p:sp>
        <p:nvSpPr>
          <p:cNvPr id="36" name="Shape 33"/>
          <p:cNvSpPr/>
          <p:nvPr/>
        </p:nvSpPr>
        <p:spPr>
          <a:xfrm>
            <a:off x="10117709" y="4892040"/>
            <a:ext cx="126111" cy="126111"/>
          </a:xfrm>
          <a:prstGeom prst="ellipse">
            <a:avLst/>
          </a:prstGeom>
          <a:solidFill>
            <a:srgbClr val="BFBFBF"/>
          </a:solidFill>
          <a:ln/>
        </p:spPr>
      </p:sp>
      <p:sp>
        <p:nvSpPr>
          <p:cNvPr id="37" name="Shape 34"/>
          <p:cNvSpPr/>
          <p:nvPr/>
        </p:nvSpPr>
        <p:spPr>
          <a:xfrm>
            <a:off x="10413111" y="4892040"/>
            <a:ext cx="126111" cy="126111"/>
          </a:xfrm>
          <a:prstGeom prst="ellipse">
            <a:avLst/>
          </a:prstGeom>
          <a:solidFill>
            <a:srgbClr val="BFBFBF"/>
          </a:solidFill>
          <a:ln/>
        </p:spPr>
      </p:sp>
      <p:sp>
        <p:nvSpPr>
          <p:cNvPr id="38" name="Shape 35"/>
          <p:cNvSpPr/>
          <p:nvPr/>
        </p:nvSpPr>
        <p:spPr>
          <a:xfrm>
            <a:off x="10708640" y="4892040"/>
            <a:ext cx="126111" cy="126111"/>
          </a:xfrm>
          <a:prstGeom prst="ellipse">
            <a:avLst/>
          </a:prstGeom>
          <a:solidFill>
            <a:srgbClr val="BFBFBF"/>
          </a:solidFill>
          <a:ln/>
        </p:spPr>
      </p:sp>
      <p:sp>
        <p:nvSpPr>
          <p:cNvPr id="39" name="Shape 36"/>
          <p:cNvSpPr/>
          <p:nvPr/>
        </p:nvSpPr>
        <p:spPr>
          <a:xfrm>
            <a:off x="11299571" y="4892040"/>
            <a:ext cx="126111" cy="126111"/>
          </a:xfrm>
          <a:prstGeom prst="ellipse">
            <a:avLst/>
          </a:prstGeom>
          <a:solidFill>
            <a:srgbClr val="BFBFBF"/>
          </a:solidFill>
          <a:ln/>
        </p:spPr>
      </p:sp>
      <p:sp>
        <p:nvSpPr>
          <p:cNvPr id="40" name="Shape 37"/>
          <p:cNvSpPr/>
          <p:nvPr/>
        </p:nvSpPr>
        <p:spPr>
          <a:xfrm>
            <a:off x="11595100" y="4892040"/>
            <a:ext cx="126111" cy="126111"/>
          </a:xfrm>
          <a:prstGeom prst="ellipse">
            <a:avLst/>
          </a:prstGeom>
          <a:solidFill>
            <a:srgbClr val="BFBFBF"/>
          </a:solidFill>
          <a:ln/>
        </p:spPr>
      </p:sp>
      <p:sp>
        <p:nvSpPr>
          <p:cNvPr id="41" name="Shape 38"/>
          <p:cNvSpPr/>
          <p:nvPr/>
        </p:nvSpPr>
        <p:spPr>
          <a:xfrm>
            <a:off x="11890629" y="4892040"/>
            <a:ext cx="126111" cy="126111"/>
          </a:xfrm>
          <a:prstGeom prst="ellipse">
            <a:avLst/>
          </a:prstGeom>
          <a:solidFill>
            <a:srgbClr val="BFBFBF"/>
          </a:solidFill>
          <a:ln/>
        </p:spPr>
      </p:sp>
      <p:sp>
        <p:nvSpPr>
          <p:cNvPr id="42" name="Shape 39"/>
          <p:cNvSpPr/>
          <p:nvPr/>
        </p:nvSpPr>
        <p:spPr>
          <a:xfrm>
            <a:off x="12186031" y="4892040"/>
            <a:ext cx="126111" cy="126111"/>
          </a:xfrm>
          <a:prstGeom prst="ellipse">
            <a:avLst/>
          </a:prstGeom>
          <a:solidFill>
            <a:srgbClr val="BFBFBF"/>
          </a:solidFill>
          <a:ln/>
        </p:spPr>
      </p:sp>
      <p:sp>
        <p:nvSpPr>
          <p:cNvPr id="43" name="Shape 40"/>
          <p:cNvSpPr/>
          <p:nvPr/>
        </p:nvSpPr>
        <p:spPr>
          <a:xfrm>
            <a:off x="12481560" y="4892040"/>
            <a:ext cx="126111" cy="126111"/>
          </a:xfrm>
          <a:prstGeom prst="ellipse">
            <a:avLst/>
          </a:prstGeom>
          <a:solidFill>
            <a:srgbClr val="BFBFBF"/>
          </a:solidFill>
          <a:ln/>
        </p:spPr>
      </p:sp>
      <p:sp>
        <p:nvSpPr>
          <p:cNvPr id="44" name="Shape 41"/>
          <p:cNvSpPr/>
          <p:nvPr/>
        </p:nvSpPr>
        <p:spPr>
          <a:xfrm>
            <a:off x="12777089" y="4892040"/>
            <a:ext cx="126111" cy="126111"/>
          </a:xfrm>
          <a:prstGeom prst="ellipse">
            <a:avLst/>
          </a:prstGeom>
          <a:solidFill>
            <a:srgbClr val="BFBFBF"/>
          </a:solidFill>
          <a:ln/>
        </p:spPr>
      </p:sp>
      <p:sp>
        <p:nvSpPr>
          <p:cNvPr id="45" name="Shape 42"/>
          <p:cNvSpPr/>
          <p:nvPr/>
        </p:nvSpPr>
        <p:spPr>
          <a:xfrm>
            <a:off x="11045571" y="4917821"/>
            <a:ext cx="126111" cy="126111"/>
          </a:xfrm>
          <a:prstGeom prst="ellipse">
            <a:avLst/>
          </a:prstGeom>
          <a:solidFill>
            <a:srgbClr val="BFBFBF"/>
          </a:solidFill>
          <a:ln/>
        </p:spPr>
      </p:sp>
      <p:sp>
        <p:nvSpPr>
          <p:cNvPr id="46" name="Shape 43"/>
          <p:cNvSpPr/>
          <p:nvPr/>
        </p:nvSpPr>
        <p:spPr>
          <a:xfrm>
            <a:off x="13368020" y="4892040"/>
            <a:ext cx="126111" cy="126111"/>
          </a:xfrm>
          <a:prstGeom prst="ellipse">
            <a:avLst/>
          </a:prstGeom>
          <a:solidFill>
            <a:srgbClr val="BFBFBF"/>
          </a:solidFill>
          <a:ln/>
        </p:spPr>
      </p:sp>
      <p:sp>
        <p:nvSpPr>
          <p:cNvPr id="47" name="Shape 44"/>
          <p:cNvSpPr/>
          <p:nvPr/>
        </p:nvSpPr>
        <p:spPr>
          <a:xfrm>
            <a:off x="13663549" y="4892040"/>
            <a:ext cx="126111" cy="126111"/>
          </a:xfrm>
          <a:prstGeom prst="ellipse">
            <a:avLst/>
          </a:prstGeom>
          <a:solidFill>
            <a:srgbClr val="BFBFBF"/>
          </a:solidFill>
          <a:ln/>
        </p:spPr>
      </p:sp>
      <p:sp>
        <p:nvSpPr>
          <p:cNvPr id="48" name="Shape 45"/>
          <p:cNvSpPr/>
          <p:nvPr/>
        </p:nvSpPr>
        <p:spPr>
          <a:xfrm>
            <a:off x="13958951" y="4892040"/>
            <a:ext cx="126111" cy="126111"/>
          </a:xfrm>
          <a:prstGeom prst="ellipse">
            <a:avLst/>
          </a:prstGeom>
          <a:solidFill>
            <a:srgbClr val="BFBFBF"/>
          </a:solidFill>
          <a:ln/>
        </p:spPr>
      </p:sp>
      <p:sp>
        <p:nvSpPr>
          <p:cNvPr id="49" name="Shape 46"/>
          <p:cNvSpPr/>
          <p:nvPr/>
        </p:nvSpPr>
        <p:spPr>
          <a:xfrm>
            <a:off x="14254480" y="4892040"/>
            <a:ext cx="126111" cy="126111"/>
          </a:xfrm>
          <a:prstGeom prst="ellipse">
            <a:avLst/>
          </a:prstGeom>
          <a:solidFill>
            <a:srgbClr val="BFBFBF"/>
          </a:solidFill>
          <a:ln/>
        </p:spPr>
      </p:sp>
      <p:sp>
        <p:nvSpPr>
          <p:cNvPr id="50" name="Shape 47"/>
          <p:cNvSpPr/>
          <p:nvPr/>
        </p:nvSpPr>
        <p:spPr>
          <a:xfrm>
            <a:off x="14550009" y="4892040"/>
            <a:ext cx="126111" cy="126111"/>
          </a:xfrm>
          <a:prstGeom prst="ellipse">
            <a:avLst/>
          </a:prstGeom>
          <a:solidFill>
            <a:srgbClr val="BFBFBF"/>
          </a:solidFill>
          <a:ln/>
        </p:spPr>
      </p:sp>
      <p:sp>
        <p:nvSpPr>
          <p:cNvPr id="51" name="Shape 48"/>
          <p:cNvSpPr/>
          <p:nvPr/>
        </p:nvSpPr>
        <p:spPr>
          <a:xfrm>
            <a:off x="14845411" y="4892040"/>
            <a:ext cx="126111" cy="126111"/>
          </a:xfrm>
          <a:prstGeom prst="ellipse">
            <a:avLst/>
          </a:prstGeom>
          <a:solidFill>
            <a:srgbClr val="BFBFBF"/>
          </a:solidFill>
          <a:ln/>
        </p:spPr>
      </p:sp>
      <p:sp>
        <p:nvSpPr>
          <p:cNvPr id="52" name="Shape 49"/>
          <p:cNvSpPr/>
          <p:nvPr/>
        </p:nvSpPr>
        <p:spPr>
          <a:xfrm>
            <a:off x="15140940" y="4892040"/>
            <a:ext cx="126111" cy="126111"/>
          </a:xfrm>
          <a:prstGeom prst="ellipse">
            <a:avLst/>
          </a:prstGeom>
          <a:solidFill>
            <a:srgbClr val="BFBFBF"/>
          </a:solidFill>
          <a:ln/>
        </p:spPr>
      </p:sp>
      <p:sp>
        <p:nvSpPr>
          <p:cNvPr id="53" name="Shape 50"/>
          <p:cNvSpPr/>
          <p:nvPr/>
        </p:nvSpPr>
        <p:spPr>
          <a:xfrm>
            <a:off x="15436469" y="4892040"/>
            <a:ext cx="126111" cy="126111"/>
          </a:xfrm>
          <a:prstGeom prst="ellipse">
            <a:avLst/>
          </a:prstGeom>
          <a:solidFill>
            <a:srgbClr val="BFBFBF"/>
          </a:solidFill>
          <a:ln/>
        </p:spPr>
      </p:sp>
      <p:sp>
        <p:nvSpPr>
          <p:cNvPr id="54" name="Shape 51"/>
          <p:cNvSpPr/>
          <p:nvPr/>
        </p:nvSpPr>
        <p:spPr>
          <a:xfrm>
            <a:off x="15731871" y="4892040"/>
            <a:ext cx="126111" cy="126111"/>
          </a:xfrm>
          <a:prstGeom prst="ellipse">
            <a:avLst/>
          </a:prstGeom>
          <a:solidFill>
            <a:srgbClr val="BFBFBF"/>
          </a:solidFill>
          <a:ln/>
        </p:spPr>
      </p:sp>
      <p:sp>
        <p:nvSpPr>
          <p:cNvPr id="55" name="Shape 52"/>
          <p:cNvSpPr/>
          <p:nvPr/>
        </p:nvSpPr>
        <p:spPr>
          <a:xfrm>
            <a:off x="16027400" y="4892040"/>
            <a:ext cx="126111" cy="126111"/>
          </a:xfrm>
          <a:prstGeom prst="ellipse">
            <a:avLst/>
          </a:prstGeom>
          <a:solidFill>
            <a:srgbClr val="BFBFBF"/>
          </a:solidFill>
          <a:ln/>
        </p:spPr>
      </p:sp>
      <p:sp>
        <p:nvSpPr>
          <p:cNvPr id="56" name="Shape 53"/>
          <p:cNvSpPr/>
          <p:nvPr/>
        </p:nvSpPr>
        <p:spPr>
          <a:xfrm flipV="1">
            <a:off x="674751" y="2460371"/>
            <a:ext cx="0" cy="2374011"/>
          </a:xfrm>
          <a:prstGeom prst="line">
            <a:avLst/>
          </a:prstGeom>
          <a:noFill/>
          <a:ln w="12700">
            <a:solidFill>
              <a:srgbClr val="7F7F7F"/>
            </a:solidFill>
            <a:prstDash val="solid"/>
            <a:headEnd type="none"/>
            <a:tailEnd type="none"/>
          </a:ln>
        </p:spPr>
      </p:sp>
      <p:sp>
        <p:nvSpPr>
          <p:cNvPr id="57" name="Shape 54"/>
          <p:cNvSpPr/>
          <p:nvPr/>
        </p:nvSpPr>
        <p:spPr>
          <a:xfrm>
            <a:off x="608711" y="3876929"/>
            <a:ext cx="126111" cy="126111"/>
          </a:xfrm>
          <a:prstGeom prst="ellipse">
            <a:avLst/>
          </a:prstGeom>
          <a:solidFill>
            <a:srgbClr val="A5A5A5"/>
          </a:solidFill>
          <a:ln/>
        </p:spPr>
      </p:sp>
      <p:sp>
        <p:nvSpPr>
          <p:cNvPr id="58" name="Text 55"/>
          <p:cNvSpPr/>
          <p:nvPr/>
        </p:nvSpPr>
        <p:spPr>
          <a:xfrm>
            <a:off x="665480" y="2632075"/>
            <a:ext cx="2483231" cy="1744091"/>
          </a:xfrm>
          <a:prstGeom prst="rect">
            <a:avLst/>
          </a:prstGeom>
          <a:noFill/>
          <a:ln/>
        </p:spPr>
        <p:txBody>
          <a:bodyPr wrap="square" lIns="0" tIns="0" rIns="0" bIns="0" rtlCol="0" anchor="t"/>
          <a:lstStyle/>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理性矿工模型下，通过部署贿赂合约延迟特定交易的攻击行为</a:t>
            </a:r>
            <a:endParaRPr lang="en-US" sz="1600" dirty="0"/>
          </a:p>
          <a:p>
            <a:pPr algn="l">
              <a:lnSpc>
                <a:spcPct val="120000"/>
              </a:lnSpc>
              <a:spcBef>
                <a:spcPts val="800"/>
              </a:spcBef>
            </a:pPr>
            <a:r>
              <a:rPr lang="en-US" sz="1600" b="1" dirty="0">
                <a:solidFill>
                  <a:srgbClr val="595959"/>
                </a:solidFill>
                <a:latin typeface="Arial" pitchFamily="34" charset="0"/>
                <a:ea typeface="Arial" pitchFamily="34" charset="-122"/>
                <a:cs typeface="Arial" pitchFamily="34" charset="-120"/>
              </a:rPr>
              <a:t>  </a:t>
            </a:r>
            <a:pPr algn="l">
              <a:lnSpc>
                <a:spcPct val="120000"/>
              </a:lnSpc>
              <a:spcBef>
                <a:spcPts val="800"/>
              </a:spcBef>
            </a:pPr>
            <a:r>
              <a:rPr lang="en-US" sz="1600" b="1" dirty="0">
                <a:solidFill>
                  <a:srgbClr val="595959"/>
                </a:solidFill>
                <a:latin typeface="Arial" pitchFamily="34" charset="0"/>
                <a:ea typeface="Arial" pitchFamily="34" charset="-122"/>
                <a:cs typeface="Arial" pitchFamily="34" charset="-120"/>
              </a:rPr>
              <a:t>Bride Attack</a:t>
            </a:r>
            <a:endParaRPr lang="en-US" sz="1600" dirty="0"/>
          </a:p>
          <a:p>
            <a:pPr algn="l">
              <a:lnSpc>
                <a:spcPct val="120000"/>
              </a:lnSpc>
              <a:spcBef>
                <a:spcPts val="800"/>
              </a:spcBef>
            </a:pPr>
            <a:r>
              <a:rPr lang="en-US" sz="1600" b="1" dirty="0">
                <a:solidFill>
                  <a:srgbClr val="595959"/>
                </a:solidFill>
                <a:latin typeface="Arial" pitchFamily="34" charset="0"/>
                <a:ea typeface="Arial" pitchFamily="34" charset="-122"/>
                <a:cs typeface="Arial" pitchFamily="34" charset="-120"/>
              </a:rPr>
              <a:t>  EuroS&amp;PW</a:t>
            </a:r>
            <a:pPr algn="l">
              <a:lnSpc>
                <a:spcPct val="120000"/>
              </a:lnSpc>
              <a:spcBef>
                <a:spcPts val="800"/>
              </a:spcBef>
            </a:pPr>
            <a:r>
              <a:rPr lang="en-US" sz="1600" b="1" dirty="0">
                <a:solidFill>
                  <a:srgbClr val="595959"/>
                </a:solidFill>
                <a:latin typeface="MiSans" pitchFamily="34" charset="0"/>
                <a:ea typeface="MiSans" pitchFamily="34" charset="-122"/>
                <a:cs typeface="MiSans" pitchFamily="34" charset="-120"/>
              </a:rPr>
              <a:t>'</a:t>
            </a:r>
            <a:pPr algn="l">
              <a:lnSpc>
                <a:spcPct val="120000"/>
              </a:lnSpc>
              <a:spcBef>
                <a:spcPts val="800"/>
              </a:spcBef>
            </a:pPr>
            <a:r>
              <a:rPr lang="en-US" sz="1600" b="1" dirty="0">
                <a:solidFill>
                  <a:srgbClr val="595959"/>
                </a:solidFill>
                <a:latin typeface="Arial" pitchFamily="34" charset="0"/>
                <a:ea typeface="Arial" pitchFamily="34" charset="-122"/>
                <a:cs typeface="Arial" pitchFamily="34" charset="-120"/>
              </a:rPr>
              <a:t>19</a:t>
            </a:r>
            <a:endParaRPr lang="en-US" sz="1600" dirty="0"/>
          </a:p>
        </p:txBody>
      </p:sp>
      <p:sp>
        <p:nvSpPr>
          <p:cNvPr id="59" name="Shape 56"/>
          <p:cNvSpPr/>
          <p:nvPr/>
        </p:nvSpPr>
        <p:spPr>
          <a:xfrm flipH="1" flipV="1">
            <a:off x="2472309" y="5048631"/>
            <a:ext cx="25781" cy="2739009"/>
          </a:xfrm>
          <a:prstGeom prst="line">
            <a:avLst/>
          </a:prstGeom>
          <a:noFill/>
          <a:ln w="12700">
            <a:solidFill>
              <a:srgbClr val="7F7F7F"/>
            </a:solidFill>
            <a:prstDash val="solid"/>
            <a:headEnd type="none"/>
            <a:tailEnd type="none"/>
          </a:ln>
        </p:spPr>
      </p:sp>
      <p:sp>
        <p:nvSpPr>
          <p:cNvPr id="60" name="Shape 57"/>
          <p:cNvSpPr/>
          <p:nvPr/>
        </p:nvSpPr>
        <p:spPr>
          <a:xfrm>
            <a:off x="2370709" y="4846320"/>
            <a:ext cx="214249" cy="214249"/>
          </a:xfrm>
          <a:prstGeom prst="ellipse">
            <a:avLst/>
          </a:prstGeom>
          <a:solidFill>
            <a:srgbClr val="00B0F0"/>
          </a:solidFill>
          <a:ln/>
        </p:spPr>
      </p:sp>
      <p:sp>
        <p:nvSpPr>
          <p:cNvPr id="61" name="Text 58"/>
          <p:cNvSpPr/>
          <p:nvPr/>
        </p:nvSpPr>
        <p:spPr>
          <a:xfrm>
            <a:off x="2471420" y="5163693"/>
            <a:ext cx="3397250" cy="943864"/>
          </a:xfrm>
          <a:prstGeom prst="rect">
            <a:avLst/>
          </a:prstGeom>
          <a:noFill/>
          <a:ln/>
        </p:spPr>
        <p:txBody>
          <a:bodyPr wrap="square" lIns="0" tIns="0" rIns="0" bIns="0" rtlCol="0" anchor="t"/>
          <a:lstStyle/>
          <a:p>
            <a:pPr algn="l">
              <a:lnSpc>
                <a:spcPct val="120000"/>
              </a:lnSpc>
            </a:pPr>
            <a:r>
              <a:rPr lang="en-US" sz="2670" b="1" dirty="0">
                <a:solidFill>
                  <a:srgbClr val="595959"/>
                </a:solidFill>
                <a:latin typeface="MiSans" pitchFamily="34" charset="0"/>
                <a:ea typeface="MiSans" pitchFamily="34" charset="-122"/>
                <a:cs typeface="MiSans" pitchFamily="34" charset="-120"/>
              </a:rPr>
              <a:t>SP</a:t>
            </a:r>
            <a:pPr algn="l">
              <a:lnSpc>
                <a:spcPct val="120000"/>
              </a:lnSpc>
            </a:pPr>
            <a:r>
              <a:rPr lang="en-US" sz="2670" b="1" dirty="0">
                <a:solidFill>
                  <a:srgbClr val="595959"/>
                </a:solidFill>
                <a:latin typeface="MiSans" pitchFamily="34" charset="0"/>
                <a:ea typeface="MiSans" pitchFamily="34" charset="-122"/>
                <a:cs typeface="MiSans" pitchFamily="34" charset="-120"/>
              </a:rPr>
              <a:t>'</a:t>
            </a:r>
            <a:pPr algn="l">
              <a:lnSpc>
                <a:spcPct val="120000"/>
              </a:lnSpc>
            </a:pPr>
            <a:r>
              <a:rPr lang="en-US" sz="2670" b="1" dirty="0">
                <a:solidFill>
                  <a:srgbClr val="595959"/>
                </a:solidFill>
                <a:latin typeface="MiSans" pitchFamily="34" charset="0"/>
                <a:ea typeface="MiSans" pitchFamily="34" charset="-122"/>
                <a:cs typeface="MiSans" pitchFamily="34" charset="-120"/>
              </a:rPr>
              <a:t>21</a:t>
            </a:r>
            <a:endParaRPr lang="en-US" sz="2670" dirty="0"/>
          </a:p>
          <a:p>
            <a:pPr algn="l">
              <a:lnSpc>
                <a:spcPct val="120000"/>
              </a:lnSpc>
            </a:pPr>
            <a:r>
              <a:rPr lang="en-US" sz="2670" b="1" dirty="0">
                <a:solidFill>
                  <a:srgbClr val="595959"/>
                </a:solidFill>
                <a:latin typeface="MiSans" pitchFamily="34" charset="0"/>
                <a:ea typeface="MiSans" pitchFamily="34" charset="-122"/>
                <a:cs typeface="MiSans" pitchFamily="34" charset="-120"/>
              </a:rPr>
              <a:t>MAD-HTLC</a:t>
            </a:r>
            <a:endParaRPr lang="en-US" sz="2670" dirty="0"/>
          </a:p>
        </p:txBody>
      </p:sp>
      <p:sp>
        <p:nvSpPr>
          <p:cNvPr id="62" name="Text 59"/>
          <p:cNvSpPr/>
          <p:nvPr/>
        </p:nvSpPr>
        <p:spPr>
          <a:xfrm>
            <a:off x="2472309" y="5979160"/>
            <a:ext cx="3804031" cy="1809750"/>
          </a:xfrm>
          <a:prstGeom prst="rect">
            <a:avLst/>
          </a:prstGeom>
          <a:noFill/>
          <a:ln/>
        </p:spPr>
        <p:txBody>
          <a:bodyPr wrap="square" lIns="0" tIns="0" rIns="0" bIns="0" rtlCol="0" anchor="t"/>
          <a:lstStyle/>
          <a:p>
            <a:pPr algn="l">
              <a:lnSpc>
                <a:spcPct val="120000"/>
              </a:lnSpc>
              <a:spcBef>
                <a:spcPts val="800"/>
              </a:spcBef>
            </a:pPr>
            <a:r>
              <a:rPr lang="en-US" sz="2400" b="1" dirty="0">
                <a:solidFill>
                  <a:srgbClr val="595959"/>
                </a:solidFill>
                <a:latin typeface="Arial" pitchFamily="34" charset="0"/>
                <a:ea typeface="Arial" pitchFamily="34" charset="-122"/>
                <a:cs typeface="Arial" pitchFamily="34" charset="-120"/>
              </a:rPr>
              <a:t>抗贿赂攻击的</a:t>
            </a:r>
            <a:pPr algn="l">
              <a:lnSpc>
                <a:spcPct val="120000"/>
              </a:lnSpc>
              <a:spcBef>
                <a:spcPts val="800"/>
              </a:spcBef>
            </a:pPr>
            <a:r>
              <a:rPr lang="en-US" sz="2400" b="1" dirty="0">
                <a:solidFill>
                  <a:srgbClr val="595959"/>
                </a:solidFill>
                <a:latin typeface="Arial" pitchFamily="34" charset="0"/>
                <a:ea typeface="Arial" pitchFamily="34" charset="-122"/>
                <a:cs typeface="Arial" pitchFamily="34" charset="-120"/>
              </a:rPr>
              <a:t>HTLC-Spec</a:t>
            </a:r>
            <a:endParaRPr lang="en-US" sz="2400" dirty="0"/>
          </a:p>
          <a:p>
            <a:pPr algn="l" marL="381000" indent="-381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抽象出哈希时间锁范式</a:t>
            </a:r>
            <a:pPr algn="l">
              <a:lnSpc>
                <a:spcPct val="120000"/>
              </a:lnSpc>
              <a:spcBef>
                <a:spcPts val="10"/>
              </a:spcBef>
            </a:pPr>
            <a:r>
              <a:rPr lang="en-US" sz="1600" dirty="0">
                <a:solidFill>
                  <a:srgbClr val="595959"/>
                </a:solidFill>
                <a:latin typeface="Arial" pitchFamily="34" charset="0"/>
                <a:ea typeface="Arial" pitchFamily="34" charset="-122"/>
                <a:cs typeface="Arial" pitchFamily="34" charset="-120"/>
              </a:rPr>
              <a:t>HTLC-Spec</a:t>
            </a:r>
            <a:endParaRPr lang="en-US" sz="2400" dirty="0"/>
          </a:p>
          <a:p>
            <a:pPr algn="l" marL="381000" indent="-381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抗贿赂攻击的交易结构</a:t>
            </a:r>
            <a:endParaRPr lang="en-US" sz="2400" dirty="0"/>
          </a:p>
          <a:p>
            <a:pPr algn="l" marL="381000" indent="-381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兼容于现有区块链系统</a:t>
            </a:r>
            <a:endParaRPr lang="en-US" sz="2400" dirty="0"/>
          </a:p>
          <a:p>
            <a:pPr algn="l" marL="381000" indent="-381000">
              <a:lnSpc>
                <a:spcPct val="120000"/>
              </a:lnSpc>
              <a:spcBef>
                <a:spcPts val="10"/>
              </a:spcBef>
              <a:buSzPct val="100000"/>
              <a:buChar char="•"/>
            </a:pPr>
            <a:r>
              <a:rPr lang="en-US" sz="2400" dirty="0">
                <a:solidFill>
                  <a:srgbClr val="595959"/>
                </a:solidFill>
                <a:latin typeface="Arial" pitchFamily="34" charset="0"/>
                <a:ea typeface="Arial" pitchFamily="34" charset="-122"/>
                <a:cs typeface="Arial" pitchFamily="34" charset="-120"/>
              </a:rPr>
              <a:t> </a:t>
            </a:r>
            <a:endParaRPr lang="en-US" sz="2400" dirty="0"/>
          </a:p>
        </p:txBody>
      </p:sp>
      <p:sp>
        <p:nvSpPr>
          <p:cNvPr id="63" name="Shape 60"/>
          <p:cNvSpPr/>
          <p:nvPr/>
        </p:nvSpPr>
        <p:spPr>
          <a:xfrm>
            <a:off x="2412111" y="5785231"/>
            <a:ext cx="126111" cy="126111"/>
          </a:xfrm>
          <a:prstGeom prst="ellipse">
            <a:avLst/>
          </a:prstGeom>
          <a:solidFill>
            <a:srgbClr val="A5A5A5"/>
          </a:solidFill>
          <a:ln/>
        </p:spPr>
      </p:sp>
      <p:sp>
        <p:nvSpPr>
          <p:cNvPr id="64" name="Text 61"/>
          <p:cNvSpPr/>
          <p:nvPr/>
        </p:nvSpPr>
        <p:spPr>
          <a:xfrm>
            <a:off x="6941820" y="3462655"/>
            <a:ext cx="3302000" cy="861822"/>
          </a:xfrm>
          <a:prstGeom prst="rect">
            <a:avLst/>
          </a:prstGeom>
          <a:noFill/>
          <a:ln/>
        </p:spPr>
        <p:txBody>
          <a:bodyPr wrap="square" lIns="0" tIns="0" rIns="0" bIns="0" rtlCol="0" anchor="t"/>
          <a:lstStyle/>
          <a:p>
            <a:pPr algn="l">
              <a:lnSpc>
                <a:spcPct val="120000"/>
              </a:lnSpc>
            </a:pPr>
            <a:r>
              <a:rPr lang="en-US" sz="2400" b="1" dirty="0">
                <a:solidFill>
                  <a:srgbClr val="595959"/>
                </a:solidFill>
                <a:latin typeface="MiSans" pitchFamily="34" charset="0"/>
                <a:ea typeface="MiSans" pitchFamily="34" charset="-122"/>
                <a:cs typeface="MiSans" pitchFamily="34" charset="-120"/>
              </a:rPr>
              <a:t>He-HTLC</a:t>
            </a:r>
            <a:endParaRPr lang="en-US" sz="2400" dirty="0"/>
          </a:p>
          <a:p>
            <a:pPr algn="l">
              <a:lnSpc>
                <a:spcPct val="120000"/>
              </a:lnSpc>
            </a:pPr>
            <a:r>
              <a:rPr lang="en-US" sz="2400" b="1" dirty="0">
                <a:solidFill>
                  <a:srgbClr val="595959"/>
                </a:solidFill>
                <a:latin typeface="MiSans" pitchFamily="34" charset="0"/>
                <a:ea typeface="MiSans" pitchFamily="34" charset="-122"/>
                <a:cs typeface="MiSans" pitchFamily="34" charset="-120"/>
              </a:rPr>
              <a:t>NDSS'23</a:t>
            </a:r>
            <a:endParaRPr lang="en-US" sz="2400" dirty="0"/>
          </a:p>
        </p:txBody>
      </p:sp>
      <p:sp>
        <p:nvSpPr>
          <p:cNvPr id="65" name="Text 62"/>
          <p:cNvSpPr/>
          <p:nvPr/>
        </p:nvSpPr>
        <p:spPr>
          <a:xfrm>
            <a:off x="6885559" y="2573528"/>
            <a:ext cx="2918460" cy="982345"/>
          </a:xfrm>
          <a:prstGeom prst="rect">
            <a:avLst/>
          </a:prstGeom>
          <a:noFill/>
          <a:ln/>
        </p:spPr>
        <p:txBody>
          <a:bodyPr wrap="square" lIns="0" tIns="0" rIns="0" bIns="0" rtlCol="0" anchor="t"/>
          <a:lstStyle/>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抗贿赂攻击+反向贿赂攻击</a:t>
            </a:r>
            <a:endParaRPr lang="en-US" sz="1600" dirty="0"/>
          </a:p>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提出主动理性矿工模型</a:t>
            </a:r>
            <a:endParaRPr lang="en-US" sz="1600" dirty="0"/>
          </a:p>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更轻量级的HTLC-Spec</a:t>
            </a:r>
            <a:endParaRPr lang="en-US" sz="1600" dirty="0"/>
          </a:p>
        </p:txBody>
      </p:sp>
      <p:sp>
        <p:nvSpPr>
          <p:cNvPr id="66" name="Text 63"/>
          <p:cNvSpPr/>
          <p:nvPr/>
        </p:nvSpPr>
        <p:spPr>
          <a:xfrm>
            <a:off x="14069314" y="5205476"/>
            <a:ext cx="1612011" cy="860171"/>
          </a:xfrm>
          <a:prstGeom prst="rect">
            <a:avLst/>
          </a:prstGeom>
          <a:noFill/>
          <a:ln/>
        </p:spPr>
        <p:txBody>
          <a:bodyPr wrap="square" lIns="0" tIns="0" rIns="0" bIns="0" rtlCol="0" anchor="t"/>
          <a:lstStyle/>
          <a:p>
            <a:pPr algn="l">
              <a:lnSpc>
                <a:spcPct val="120000"/>
              </a:lnSpc>
            </a:pPr>
            <a:r>
              <a:rPr lang="en-US" sz="2400" b="1" dirty="0">
                <a:solidFill>
                  <a:srgbClr val="595959"/>
                </a:solidFill>
                <a:latin typeface="MiSans" pitchFamily="34" charset="0"/>
                <a:ea typeface="MiSans" pitchFamily="34" charset="-122"/>
                <a:cs typeface="MiSans" pitchFamily="34" charset="-120"/>
              </a:rPr>
              <a:t>CCS'24</a:t>
            </a:r>
            <a:endParaRPr lang="en-US" sz="2400" dirty="0"/>
          </a:p>
          <a:p>
            <a:pPr algn="l">
              <a:lnSpc>
                <a:spcPct val="120000"/>
              </a:lnSpc>
            </a:pPr>
            <a:r>
              <a:rPr lang="en-US" sz="2400" b="1" dirty="0">
                <a:solidFill>
                  <a:srgbClr val="595959"/>
                </a:solidFill>
                <a:latin typeface="MiSans" pitchFamily="34" charset="0"/>
                <a:ea typeface="MiSans" pitchFamily="34" charset="-122"/>
                <a:cs typeface="MiSans" pitchFamily="34" charset="-120"/>
              </a:rPr>
              <a:t>CRAB</a:t>
            </a:r>
            <a:endParaRPr lang="en-US" sz="2400" dirty="0"/>
          </a:p>
        </p:txBody>
      </p:sp>
      <p:sp>
        <p:nvSpPr>
          <p:cNvPr id="67" name="Text 64"/>
          <p:cNvSpPr/>
          <p:nvPr/>
        </p:nvSpPr>
        <p:spPr>
          <a:xfrm>
            <a:off x="14042009" y="6037707"/>
            <a:ext cx="2213991" cy="1279525"/>
          </a:xfrm>
          <a:prstGeom prst="rect">
            <a:avLst/>
          </a:prstGeom>
          <a:noFill/>
          <a:ln/>
        </p:spPr>
        <p:txBody>
          <a:bodyPr wrap="square" lIns="0" tIns="0" rIns="0" bIns="0" rtlCol="0" anchor="t"/>
          <a:lstStyle/>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抗贿赂攻击和反向贿赂攻击的信道</a:t>
            </a:r>
            <a:endParaRPr lang="en-US" sz="1600" dirty="0"/>
          </a:p>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理性矿工、拜占庭节点模型</a:t>
            </a:r>
            <a:endParaRPr lang="en-US" sz="1600" dirty="0"/>
          </a:p>
        </p:txBody>
      </p:sp>
      <p:sp>
        <p:nvSpPr>
          <p:cNvPr id="68" name="Shape 65"/>
          <p:cNvSpPr/>
          <p:nvPr/>
        </p:nvSpPr>
        <p:spPr>
          <a:xfrm>
            <a:off x="10957560" y="4860290"/>
            <a:ext cx="214249" cy="214249"/>
          </a:xfrm>
          <a:prstGeom prst="ellipse">
            <a:avLst/>
          </a:prstGeom>
          <a:solidFill>
            <a:srgbClr val="00B0F0"/>
          </a:solidFill>
          <a:ln/>
        </p:spPr>
      </p:sp>
      <p:sp>
        <p:nvSpPr>
          <p:cNvPr id="69" name="Text 66"/>
          <p:cNvSpPr/>
          <p:nvPr/>
        </p:nvSpPr>
        <p:spPr>
          <a:xfrm>
            <a:off x="11193018" y="3210941"/>
            <a:ext cx="2774442" cy="1272159"/>
          </a:xfrm>
          <a:prstGeom prst="rect">
            <a:avLst/>
          </a:prstGeom>
          <a:noFill/>
          <a:ln/>
        </p:spPr>
        <p:txBody>
          <a:bodyPr wrap="square" lIns="0" tIns="0" rIns="0" bIns="0" rtlCol="0" anchor="t"/>
          <a:lstStyle/>
          <a:p>
            <a:pPr algn="l">
              <a:lnSpc>
                <a:spcPct val="120000"/>
              </a:lnSpc>
            </a:pPr>
            <a:r>
              <a:rPr lang="en-US" sz="2400" b="1" dirty="0">
                <a:solidFill>
                  <a:srgbClr val="595959"/>
                </a:solidFill>
                <a:latin typeface="MiSans" pitchFamily="34" charset="0"/>
                <a:ea typeface="MiSans" pitchFamily="34" charset="-122"/>
                <a:cs typeface="MiSans" pitchFamily="34" charset="-120"/>
              </a:rPr>
              <a:t>Blockchain Bribing Attacks</a:t>
            </a:r>
            <a:endParaRPr lang="en-US" sz="2400" dirty="0"/>
          </a:p>
          <a:p>
            <a:pPr algn="l">
              <a:lnSpc>
                <a:spcPct val="120000"/>
              </a:lnSpc>
            </a:pPr>
            <a:r>
              <a:rPr lang="en-US" sz="2400" b="1" dirty="0">
                <a:solidFill>
                  <a:srgbClr val="595959"/>
                </a:solidFill>
                <a:latin typeface="MiSans" pitchFamily="34" charset="0"/>
                <a:ea typeface="MiSans" pitchFamily="34" charset="-122"/>
                <a:cs typeface="MiSans" pitchFamily="34" charset="-120"/>
              </a:rPr>
              <a:t>CCS'24</a:t>
            </a:r>
            <a:pPr algn="l">
              <a:lnSpc>
                <a:spcPct val="120000"/>
              </a:lnSpc>
            </a:pPr>
            <a:r>
              <a:rPr lang="en-US" sz="2670" b="1" dirty="0">
                <a:solidFill>
                  <a:srgbClr val="595959"/>
                </a:solidFill>
                <a:latin typeface="MiSans" pitchFamily="34" charset="0"/>
                <a:ea typeface="MiSans" pitchFamily="34" charset="-122"/>
                <a:cs typeface="MiSans" pitchFamily="34" charset="-120"/>
              </a:rPr>
              <a:t> </a:t>
            </a:r>
            <a:endParaRPr lang="en-US" sz="2400" dirty="0"/>
          </a:p>
        </p:txBody>
      </p:sp>
      <p:sp>
        <p:nvSpPr>
          <p:cNvPr id="70" name="Text 67"/>
          <p:cNvSpPr/>
          <p:nvPr/>
        </p:nvSpPr>
        <p:spPr>
          <a:xfrm>
            <a:off x="11045571" y="2632710"/>
            <a:ext cx="2476500" cy="688594"/>
          </a:xfrm>
          <a:prstGeom prst="rect">
            <a:avLst/>
          </a:prstGeom>
          <a:noFill/>
          <a:ln/>
        </p:spPr>
        <p:txBody>
          <a:bodyPr wrap="square" lIns="0" tIns="0" rIns="0" bIns="0" rtlCol="0" anchor="t"/>
          <a:lstStyle/>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PoS链贿赂攻击分析</a:t>
            </a:r>
            <a:endParaRPr lang="en-US" sz="1600" dirty="0"/>
          </a:p>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细化贿赂攻击分类</a:t>
            </a:r>
            <a:endParaRPr lang="en-US" sz="1600" dirty="0"/>
          </a:p>
        </p:txBody>
      </p:sp>
      <p:sp>
        <p:nvSpPr>
          <p:cNvPr id="71" name="Shape 68"/>
          <p:cNvSpPr/>
          <p:nvPr/>
        </p:nvSpPr>
        <p:spPr>
          <a:xfrm>
            <a:off x="10994771" y="3700399"/>
            <a:ext cx="126111" cy="126111"/>
          </a:xfrm>
          <a:prstGeom prst="ellipse">
            <a:avLst/>
          </a:prstGeom>
          <a:solidFill>
            <a:srgbClr val="A5A5A5"/>
          </a:solidFill>
          <a:ln/>
        </p:spPr>
      </p:sp>
      <p:sp>
        <p:nvSpPr>
          <p:cNvPr id="72" name="Shape 69"/>
          <p:cNvSpPr/>
          <p:nvPr/>
        </p:nvSpPr>
        <p:spPr>
          <a:xfrm>
            <a:off x="13924280" y="4834509"/>
            <a:ext cx="214249" cy="214249"/>
          </a:xfrm>
          <a:prstGeom prst="ellipse">
            <a:avLst/>
          </a:prstGeom>
          <a:solidFill>
            <a:srgbClr val="00B0F0"/>
          </a:solidFill>
          <a:ln/>
        </p:spPr>
      </p:sp>
      <p:sp>
        <p:nvSpPr>
          <p:cNvPr id="73" name="Shape 70"/>
          <p:cNvSpPr/>
          <p:nvPr/>
        </p:nvSpPr>
        <p:spPr>
          <a:xfrm>
            <a:off x="13986891" y="5785231"/>
            <a:ext cx="126111" cy="126111"/>
          </a:xfrm>
          <a:prstGeom prst="ellipse">
            <a:avLst/>
          </a:prstGeom>
          <a:solidFill>
            <a:srgbClr val="A5A5A5"/>
          </a:solidFill>
          <a:ln/>
        </p:spPr>
      </p:sp>
      <p:sp>
        <p:nvSpPr>
          <p:cNvPr id="74" name="Shape 71"/>
          <p:cNvSpPr/>
          <p:nvPr/>
        </p:nvSpPr>
        <p:spPr>
          <a:xfrm>
            <a:off x="590931" y="4892040"/>
            <a:ext cx="126111" cy="126111"/>
          </a:xfrm>
          <a:prstGeom prst="ellipse">
            <a:avLst/>
          </a:prstGeom>
          <a:solidFill>
            <a:srgbClr val="BFBFBF"/>
          </a:solidFill>
          <a:ln/>
        </p:spPr>
      </p:sp>
      <p:sp>
        <p:nvSpPr>
          <p:cNvPr id="75" name="Shape 72"/>
          <p:cNvSpPr/>
          <p:nvPr/>
        </p:nvSpPr>
        <p:spPr>
          <a:xfrm>
            <a:off x="567309" y="4834509"/>
            <a:ext cx="214249" cy="214249"/>
          </a:xfrm>
          <a:prstGeom prst="ellipse">
            <a:avLst/>
          </a:prstGeom>
          <a:solidFill>
            <a:srgbClr val="00B0F0"/>
          </a:solidFill>
          <a:ln/>
        </p:spPr>
      </p:sp>
      <p:sp>
        <p:nvSpPr>
          <p:cNvPr id="76" name="Shape 73"/>
          <p:cNvSpPr/>
          <p:nvPr/>
        </p:nvSpPr>
        <p:spPr>
          <a:xfrm>
            <a:off x="4511040" y="4955540"/>
            <a:ext cx="651891" cy="0"/>
          </a:xfrm>
          <a:prstGeom prst="line">
            <a:avLst/>
          </a:prstGeom>
          <a:noFill/>
          <a:ln w="41275">
            <a:solidFill>
              <a:srgbClr val="A5A5A5"/>
            </a:solidFill>
            <a:prstDash val="sysDot"/>
            <a:headEnd type="none"/>
            <a:tailEnd type="none"/>
          </a:ln>
        </p:spPr>
      </p:sp>
      <p:sp>
        <p:nvSpPr>
          <p:cNvPr id="77" name="Text 74"/>
          <p:cNvSpPr/>
          <p:nvPr/>
        </p:nvSpPr>
        <p:spPr>
          <a:xfrm>
            <a:off x="544449" y="1266571"/>
            <a:ext cx="10164191" cy="615569"/>
          </a:xfrm>
          <a:prstGeom prst="rect">
            <a:avLst/>
          </a:prstGeom>
          <a:noFill/>
          <a:ln/>
        </p:spPr>
        <p:txBody>
          <a:bodyPr wrap="square" lIns="0" tIns="0" rIns="0" bIns="0" rtlCol="0" anchor="t"/>
          <a:lstStyle/>
          <a:p>
            <a:pPr algn="l" marL="508000" indent="-508000">
              <a:lnSpc>
                <a:spcPct val="120000"/>
              </a:lnSpc>
              <a:spcBef>
                <a:spcPts val="10"/>
              </a:spcBef>
              <a:buSzPct val="100000"/>
              <a:buFont typeface="+mj-lt"/>
              <a:buAutoNum type="arabicPeriod" startAt="1"/>
            </a:pPr>
            <a:r>
              <a:rPr lang="en-US" sz="3200" b="1" dirty="0">
                <a:solidFill>
                  <a:srgbClr val="262626"/>
                </a:solidFill>
                <a:latin typeface="MiSans" pitchFamily="34" charset="0"/>
                <a:ea typeface="MiSans" pitchFamily="34" charset="-122"/>
                <a:cs typeface="MiSans" pitchFamily="34" charset="-120"/>
              </a:rPr>
              <a:t>恶意场景下分布式数字资产交易安全性</a:t>
            </a:r>
            <a:endParaRPr lang="en-US" sz="3200" dirty="0"/>
          </a:p>
        </p:txBody>
      </p:sp>
      <p:sp>
        <p:nvSpPr>
          <p:cNvPr id="78" name="Shape 75"/>
          <p:cNvSpPr/>
          <p:nvPr/>
        </p:nvSpPr>
        <p:spPr>
          <a:xfrm>
            <a:off x="5162169" y="-889"/>
            <a:ext cx="2654300" cy="962660"/>
          </a:xfrm>
          <a:prstGeom prst="rect">
            <a:avLst/>
          </a:prstGeom>
          <a:solidFill>
            <a:srgbClr val="F2F2F2"/>
          </a:solidFill>
          <a:ln w="12700">
            <a:solidFill>
              <a:srgbClr val="F2F2F2"/>
            </a:solidFill>
            <a:prstDash val="solid"/>
          </a:ln>
        </p:spPr>
      </p:sp>
      <p:sp>
        <p:nvSpPr>
          <p:cNvPr id="79" name="Shape 76"/>
          <p:cNvSpPr/>
          <p:nvPr/>
        </p:nvSpPr>
        <p:spPr>
          <a:xfrm>
            <a:off x="5162169" y="-889"/>
            <a:ext cx="2654300" cy="962660"/>
          </a:xfrm>
          <a:prstGeom prst="rect">
            <a:avLst/>
          </a:prstGeom>
          <a:solidFill>
            <a:srgbClr val="04579A"/>
          </a:solidFill>
          <a:ln w="12700">
            <a:solidFill>
              <a:srgbClr val="04579A"/>
            </a:solidFill>
            <a:prstDash val="solid"/>
          </a:ln>
        </p:spPr>
      </p:sp>
      <p:sp>
        <p:nvSpPr>
          <p:cNvPr id="80" name="Shape 77"/>
          <p:cNvSpPr/>
          <p:nvPr/>
        </p:nvSpPr>
        <p:spPr>
          <a:xfrm>
            <a:off x="7816469" y="-889"/>
            <a:ext cx="4154551" cy="962660"/>
          </a:xfrm>
          <a:prstGeom prst="rect">
            <a:avLst/>
          </a:prstGeom>
          <a:solidFill>
            <a:srgbClr val="F2F2F2"/>
          </a:solidFill>
          <a:ln/>
        </p:spPr>
      </p:sp>
      <p:sp>
        <p:nvSpPr>
          <p:cNvPr id="81" name="Shape 78"/>
          <p:cNvSpPr/>
          <p:nvPr/>
        </p:nvSpPr>
        <p:spPr>
          <a:xfrm>
            <a:off x="11971020" y="0"/>
            <a:ext cx="4284980" cy="961771"/>
          </a:xfrm>
          <a:prstGeom prst="rect">
            <a:avLst/>
          </a:prstGeom>
          <a:solidFill>
            <a:srgbClr val="F2F2F2"/>
          </a:solidFill>
          <a:ln/>
        </p:spPr>
      </p:sp>
      <p:sp>
        <p:nvSpPr>
          <p:cNvPr id="82" name="Shape 79"/>
          <p:cNvSpPr/>
          <p:nvPr/>
        </p:nvSpPr>
        <p:spPr>
          <a:xfrm>
            <a:off x="2219960" y="-889"/>
            <a:ext cx="2942209" cy="962660"/>
          </a:xfrm>
          <a:prstGeom prst="rect">
            <a:avLst/>
          </a:prstGeom>
          <a:solidFill>
            <a:srgbClr val="F2F2F2"/>
          </a:solidFill>
          <a:ln w="12700">
            <a:solidFill>
              <a:srgbClr val="F2F2F2"/>
            </a:solidFill>
            <a:prstDash val="solid"/>
          </a:ln>
        </p:spPr>
      </p:sp>
      <p:sp>
        <p:nvSpPr>
          <p:cNvPr id="83" name="Text 80"/>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选题背景及意义       </a:t>
            </a:r>
            <a:pPr algn="l">
              <a:lnSpc>
                <a:spcPct val="120000"/>
              </a:lnSpc>
            </a:pPr>
            <a:r>
              <a:rPr lang="en-US" sz="2400" dirty="0">
                <a:solidFill>
                  <a:srgbClr val="FFFFFF"/>
                </a:solidFill>
                <a:latin typeface="Arial" pitchFamily="34" charset="0"/>
                <a:ea typeface="Arial" pitchFamily="34" charset="-122"/>
                <a:cs typeface="Arial" pitchFamily="34" charset="-120"/>
              </a:rPr>
              <a:t>国内外研究现状</a:t>
            </a:r>
            <a:pPr algn="l">
              <a:lnSpc>
                <a:spcPct val="120000"/>
              </a:lnSpc>
            </a:pPr>
            <a:r>
              <a:rPr lang="en-US" sz="2400" dirty="0">
                <a:solidFill>
                  <a:srgbClr val="000000"/>
                </a:solidFill>
                <a:latin typeface="Arial" pitchFamily="34" charset="0"/>
                <a:ea typeface="Arial" pitchFamily="34" charset="-122"/>
                <a:cs typeface="Arial" pitchFamily="34" charset="-120"/>
              </a:rPr>
              <a:t>       主要研究内容及预期目标             工作计划与进度安排</a:t>
            </a:r>
            <a:endParaRPr lang="en-US" sz="2400" dirty="0"/>
          </a:p>
        </p:txBody>
      </p:sp>
      <p:pic>
        <p:nvPicPr>
          <p:cNvPr id="84"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85" name="Shape 81"/>
          <p:cNvSpPr/>
          <p:nvPr/>
        </p:nvSpPr>
        <p:spPr>
          <a:xfrm rot="10800000">
            <a:off x="6121400" y="961771"/>
            <a:ext cx="389509" cy="304800"/>
          </a:xfrm>
          <a:prstGeom prst="triangle">
            <a:avLst>
              <a:gd name="adj" fmla="val 50000"/>
            </a:avLst>
          </a:prstGeom>
          <a:solidFill>
            <a:srgbClr val="04579A"/>
          </a:solidFill>
          <a:ln/>
        </p:spPr>
      </p:sp>
      <p:sp>
        <p:nvSpPr>
          <p:cNvPr id="86" name="Shape 82"/>
          <p:cNvSpPr/>
          <p:nvPr/>
        </p:nvSpPr>
        <p:spPr>
          <a:xfrm>
            <a:off x="6835140" y="4895469"/>
            <a:ext cx="126111" cy="126111"/>
          </a:xfrm>
          <a:prstGeom prst="ellipse">
            <a:avLst/>
          </a:prstGeom>
          <a:solidFill>
            <a:srgbClr val="BFBFBF"/>
          </a:solidFill>
          <a:ln/>
        </p:spPr>
      </p:sp>
      <p:sp>
        <p:nvSpPr>
          <p:cNvPr id="87" name="Shape 83"/>
          <p:cNvSpPr/>
          <p:nvPr/>
        </p:nvSpPr>
        <p:spPr>
          <a:xfrm flipV="1">
            <a:off x="6910451" y="2669540"/>
            <a:ext cx="0" cy="2168271"/>
          </a:xfrm>
          <a:prstGeom prst="line">
            <a:avLst/>
          </a:prstGeom>
          <a:noFill/>
          <a:ln w="12700">
            <a:solidFill>
              <a:srgbClr val="7F7F7F"/>
            </a:solidFill>
            <a:prstDash val="solid"/>
            <a:headEnd type="none"/>
            <a:tailEnd type="none"/>
          </a:ln>
        </p:spPr>
      </p:sp>
      <p:sp>
        <p:nvSpPr>
          <p:cNvPr id="88" name="Shape 84"/>
          <p:cNvSpPr/>
          <p:nvPr/>
        </p:nvSpPr>
        <p:spPr>
          <a:xfrm>
            <a:off x="6850380" y="3674491"/>
            <a:ext cx="126111" cy="126111"/>
          </a:xfrm>
          <a:prstGeom prst="ellipse">
            <a:avLst/>
          </a:prstGeom>
          <a:solidFill>
            <a:srgbClr val="A5A5A5"/>
          </a:solidFill>
          <a:ln/>
        </p:spPr>
      </p:sp>
      <p:sp>
        <p:nvSpPr>
          <p:cNvPr id="89" name="Shape 85"/>
          <p:cNvSpPr/>
          <p:nvPr/>
        </p:nvSpPr>
        <p:spPr>
          <a:xfrm>
            <a:off x="6803009" y="4837811"/>
            <a:ext cx="214249" cy="214249"/>
          </a:xfrm>
          <a:prstGeom prst="ellipse">
            <a:avLst/>
          </a:prstGeom>
          <a:solidFill>
            <a:srgbClr val="00B0F0"/>
          </a:solidFill>
          <a:ln/>
        </p:spPr>
      </p:sp>
      <p:sp>
        <p:nvSpPr>
          <p:cNvPr id="90" name="Shape 86"/>
          <p:cNvSpPr/>
          <p:nvPr/>
        </p:nvSpPr>
        <p:spPr>
          <a:xfrm>
            <a:off x="8051038" y="4892802"/>
            <a:ext cx="126111" cy="126111"/>
          </a:xfrm>
          <a:prstGeom prst="ellipse">
            <a:avLst/>
          </a:prstGeom>
          <a:solidFill>
            <a:srgbClr val="BFBFBF"/>
          </a:solidFill>
          <a:ln/>
        </p:spPr>
      </p:sp>
      <p:sp>
        <p:nvSpPr>
          <p:cNvPr id="91" name="Shape 87"/>
          <p:cNvSpPr/>
          <p:nvPr/>
        </p:nvSpPr>
        <p:spPr>
          <a:xfrm>
            <a:off x="9202801" y="4903851"/>
            <a:ext cx="126111" cy="126111"/>
          </a:xfrm>
          <a:prstGeom prst="ellipse">
            <a:avLst/>
          </a:prstGeom>
          <a:solidFill>
            <a:srgbClr val="BFBFBF"/>
          </a:solidFill>
          <a:ln/>
        </p:spPr>
      </p:sp>
      <p:sp>
        <p:nvSpPr>
          <p:cNvPr id="92" name="Shape 88"/>
          <p:cNvSpPr/>
          <p:nvPr/>
        </p:nvSpPr>
        <p:spPr>
          <a:xfrm>
            <a:off x="9179179" y="4846320"/>
            <a:ext cx="214249" cy="214249"/>
          </a:xfrm>
          <a:prstGeom prst="ellipse">
            <a:avLst/>
          </a:prstGeom>
          <a:solidFill>
            <a:srgbClr val="00B0F0"/>
          </a:solidFill>
          <a:ln/>
        </p:spPr>
      </p:sp>
      <p:sp>
        <p:nvSpPr>
          <p:cNvPr id="93" name="Shape 89"/>
          <p:cNvSpPr/>
          <p:nvPr/>
        </p:nvSpPr>
        <p:spPr>
          <a:xfrm>
            <a:off x="9224391" y="5696839"/>
            <a:ext cx="126111" cy="126111"/>
          </a:xfrm>
          <a:prstGeom prst="ellipse">
            <a:avLst/>
          </a:prstGeom>
          <a:solidFill>
            <a:srgbClr val="A5A5A5"/>
          </a:solidFill>
          <a:ln/>
        </p:spPr>
      </p:sp>
      <p:sp>
        <p:nvSpPr>
          <p:cNvPr id="94" name="Shape 90"/>
          <p:cNvSpPr/>
          <p:nvPr/>
        </p:nvSpPr>
        <p:spPr>
          <a:xfrm>
            <a:off x="13067411" y="4897501"/>
            <a:ext cx="126111" cy="126111"/>
          </a:xfrm>
          <a:prstGeom prst="ellipse">
            <a:avLst/>
          </a:prstGeom>
          <a:solidFill>
            <a:srgbClr val="BFBFBF"/>
          </a:solidFill>
          <a:ln/>
        </p:spPr>
      </p:sp>
      <p:sp>
        <p:nvSpPr>
          <p:cNvPr id="95" name="Text 91"/>
          <p:cNvSpPr/>
          <p:nvPr/>
        </p:nvSpPr>
        <p:spPr>
          <a:xfrm>
            <a:off x="9327769" y="5399786"/>
            <a:ext cx="1780921" cy="861822"/>
          </a:xfrm>
          <a:prstGeom prst="rect">
            <a:avLst/>
          </a:prstGeom>
          <a:noFill/>
          <a:ln/>
        </p:spPr>
        <p:txBody>
          <a:bodyPr wrap="square" lIns="0" tIns="0" rIns="0" bIns="0" rtlCol="0" anchor="t"/>
          <a:lstStyle/>
          <a:p>
            <a:pPr algn="l">
              <a:lnSpc>
                <a:spcPct val="120000"/>
              </a:lnSpc>
            </a:pPr>
            <a:r>
              <a:rPr lang="en-US" sz="2400" b="1" dirty="0">
                <a:solidFill>
                  <a:srgbClr val="595959"/>
                </a:solidFill>
                <a:latin typeface="MiSans" pitchFamily="34" charset="0"/>
                <a:ea typeface="MiSans" pitchFamily="34" charset="-122"/>
                <a:cs typeface="MiSans" pitchFamily="34" charset="-120"/>
              </a:rPr>
              <a:t>Usenix'23</a:t>
            </a:r>
            <a:endParaRPr lang="en-US" sz="2400" dirty="0"/>
          </a:p>
          <a:p>
            <a:pPr algn="l">
              <a:lnSpc>
                <a:spcPct val="120000"/>
              </a:lnSpc>
            </a:pPr>
            <a:r>
              <a:rPr lang="en-US" sz="2400" b="1" dirty="0">
                <a:solidFill>
                  <a:srgbClr val="595959"/>
                </a:solidFill>
                <a:latin typeface="MiSans" pitchFamily="34" charset="0"/>
                <a:ea typeface="MiSans" pitchFamily="34" charset="-122"/>
                <a:cs typeface="MiSans" pitchFamily="34" charset="-120"/>
              </a:rPr>
              <a:t>Glimpse</a:t>
            </a:r>
            <a:endParaRPr lang="en-US" sz="2400" dirty="0"/>
          </a:p>
        </p:txBody>
      </p:sp>
      <p:sp>
        <p:nvSpPr>
          <p:cNvPr id="96" name="Text 92"/>
          <p:cNvSpPr/>
          <p:nvPr/>
        </p:nvSpPr>
        <p:spPr>
          <a:xfrm>
            <a:off x="9276461" y="6201283"/>
            <a:ext cx="1934591" cy="861822"/>
          </a:xfrm>
          <a:prstGeom prst="rect">
            <a:avLst/>
          </a:prstGeom>
          <a:noFill/>
          <a:ln/>
        </p:spPr>
        <p:txBody>
          <a:bodyPr wrap="square" lIns="0" tIns="0" rIns="0" bIns="0" rtlCol="0" anchor="t"/>
          <a:lstStyle/>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以MAD-HTLC作为安全模块构建跨链桥</a:t>
            </a:r>
            <a:endParaRPr lang="en-US" sz="1600" dirty="0"/>
          </a:p>
        </p:txBody>
      </p:sp>
      <p:sp>
        <p:nvSpPr>
          <p:cNvPr id="97" name="Text 93"/>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16</a:t>
            </a:r>
            <a:endParaRPr lang="en-US" sz="2400" dirty="0"/>
          </a:p>
        </p:txBody>
      </p:sp>
    </p:spTree>
  </p:cSld>
  <p:clrMapOvr>
    <a:masterClrMapping/>
  </p:clrMapOvr>
  <p:transition>
    <p:fade/>
    <p:spd val="med"/>
  </p:transition>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944231" y="3096260"/>
            <a:ext cx="8034909" cy="4947920"/>
          </a:xfrm>
          <a:prstGeom prst="rect">
            <a:avLst/>
          </a:prstGeom>
          <a:solidFill>
            <a:srgbClr val="FFFFFF"/>
          </a:solidFill>
          <a:ln/>
          <a:effectLst>
            <a:outerShdw sx="100000" sy="100000" kx="0" ky="0" algn="bl" rotWithShape="0" blurRad="63500" dist="50800" dir="2700000">
              <a:srgbClr val="000000">
                <a:alpha val="40000"/>
              </a:srgbClr>
            </a:outerShdw>
          </a:effectLst>
        </p:spPr>
      </p:sp>
      <p:sp>
        <p:nvSpPr>
          <p:cNvPr id="4" name="Shape 1"/>
          <p:cNvSpPr/>
          <p:nvPr/>
        </p:nvSpPr>
        <p:spPr>
          <a:xfrm>
            <a:off x="324231" y="2440051"/>
            <a:ext cx="7649591" cy="6292469"/>
          </a:xfrm>
          <a:prstGeom prst="rect">
            <a:avLst/>
          </a:prstGeom>
          <a:solidFill>
            <a:srgbClr val="FFFFFF"/>
          </a:solidFill>
          <a:ln/>
          <a:effectLst>
            <a:outerShdw sx="100000" sy="100000" kx="0" ky="0" algn="bl" rotWithShape="0" blurRad="63500" dist="50800" dir="2700000">
              <a:srgbClr val="000000">
                <a:alpha val="40000"/>
              </a:srgbClr>
            </a:outerShdw>
          </a:effectLst>
        </p:spPr>
      </p:sp>
      <p:sp>
        <p:nvSpPr>
          <p:cNvPr id="5" name="Shape 2"/>
          <p:cNvSpPr/>
          <p:nvPr/>
        </p:nvSpPr>
        <p:spPr>
          <a:xfrm>
            <a:off x="324231" y="3329940"/>
            <a:ext cx="7649591" cy="2195449"/>
          </a:xfrm>
          <a:prstGeom prst="roundRect">
            <a:avLst>
              <a:gd name="adj" fmla="val 16667"/>
            </a:avLst>
          </a:prstGeom>
          <a:solidFill>
            <a:srgbClr val="F2F2F2"/>
          </a:solidFill>
          <a:ln/>
        </p:spPr>
      </p:sp>
      <p:sp>
        <p:nvSpPr>
          <p:cNvPr id="6" name="Text 3"/>
          <p:cNvSpPr/>
          <p:nvPr/>
        </p:nvSpPr>
        <p:spPr>
          <a:xfrm>
            <a:off x="544449" y="1266571"/>
            <a:ext cx="11067034" cy="984885"/>
          </a:xfrm>
          <a:prstGeom prst="rect">
            <a:avLst/>
          </a:prstGeom>
          <a:noFill/>
          <a:ln/>
        </p:spPr>
        <p:txBody>
          <a:bodyPr wrap="square" lIns="0" tIns="0" rIns="0" bIns="0" rtlCol="0" anchor="t"/>
          <a:lstStyle/>
          <a:p>
            <a:pPr algn="l" marL="508000" indent="-508000">
              <a:lnSpc>
                <a:spcPct val="120000"/>
              </a:lnSpc>
              <a:spcBef>
                <a:spcPts val="10"/>
              </a:spcBef>
              <a:buSzPct val="100000"/>
              <a:buFont typeface="+mj-lt"/>
              <a:buAutoNum type="arabicPeriod" startAt="1"/>
            </a:pPr>
            <a:r>
              <a:rPr lang="en-US" sz="3200" b="1" dirty="0">
                <a:solidFill>
                  <a:srgbClr val="262626"/>
                </a:solidFill>
                <a:latin typeface="MiSans" pitchFamily="34" charset="0"/>
                <a:ea typeface="MiSans" pitchFamily="34" charset="-122"/>
                <a:cs typeface="MiSans" pitchFamily="34" charset="-120"/>
              </a:rPr>
              <a:t>恶意场景下分布式数字资产交易安全性</a:t>
            </a:r>
            <a:endParaRPr lang="en-US" sz="3200" dirty="0"/>
          </a:p>
          <a:p>
            <a:pPr algn="l">
              <a:lnSpc>
                <a:spcPct val="120000"/>
              </a:lnSpc>
            </a:pPr>
            <a:r>
              <a:rPr lang="en-US" sz="2400" b="1" dirty="0">
                <a:solidFill>
                  <a:srgbClr val="595959"/>
                </a:solidFill>
                <a:latin typeface="MiSans" pitchFamily="34" charset="0"/>
                <a:ea typeface="MiSans" pitchFamily="34" charset="-122"/>
                <a:cs typeface="MiSans" pitchFamily="34" charset="-120"/>
              </a:rPr>
              <a:t>      </a:t>
            </a:r>
            <a:pPr algn="l">
              <a:lnSpc>
                <a:spcPct val="120000"/>
              </a:lnSpc>
            </a:pPr>
            <a:r>
              <a:rPr lang="en-US" sz="3200" b="1" dirty="0">
                <a:solidFill>
                  <a:srgbClr val="595959"/>
                </a:solidFill>
                <a:latin typeface="MiSans" pitchFamily="34" charset="0"/>
                <a:ea typeface="MiSans" pitchFamily="34" charset="-122"/>
                <a:cs typeface="MiSans" pitchFamily="34" charset="-120"/>
              </a:rPr>
              <a:t>系统优化</a:t>
            </a:r>
            <a:endParaRPr lang="en-US" sz="3200" dirty="0"/>
          </a:p>
        </p:txBody>
      </p:sp>
      <p:sp>
        <p:nvSpPr>
          <p:cNvPr id="7" name="Shape 4"/>
          <p:cNvSpPr/>
          <p:nvPr/>
        </p:nvSpPr>
        <p:spPr>
          <a:xfrm>
            <a:off x="5162169" y="-889"/>
            <a:ext cx="2654300" cy="962660"/>
          </a:xfrm>
          <a:prstGeom prst="rect">
            <a:avLst/>
          </a:prstGeom>
          <a:solidFill>
            <a:srgbClr val="F2F2F2"/>
          </a:solidFill>
          <a:ln w="12700">
            <a:solidFill>
              <a:srgbClr val="F2F2F2"/>
            </a:solidFill>
            <a:prstDash val="solid"/>
          </a:ln>
        </p:spPr>
      </p:sp>
      <p:sp>
        <p:nvSpPr>
          <p:cNvPr id="8" name="Shape 5"/>
          <p:cNvSpPr/>
          <p:nvPr/>
        </p:nvSpPr>
        <p:spPr>
          <a:xfrm>
            <a:off x="5162169" y="-889"/>
            <a:ext cx="2654300" cy="962660"/>
          </a:xfrm>
          <a:prstGeom prst="rect">
            <a:avLst/>
          </a:prstGeom>
          <a:solidFill>
            <a:srgbClr val="04579A"/>
          </a:solidFill>
          <a:ln w="12700">
            <a:solidFill>
              <a:srgbClr val="04579A"/>
            </a:solidFill>
            <a:prstDash val="solid"/>
          </a:ln>
        </p:spPr>
      </p:sp>
      <p:sp>
        <p:nvSpPr>
          <p:cNvPr id="9" name="Shape 6"/>
          <p:cNvSpPr/>
          <p:nvPr/>
        </p:nvSpPr>
        <p:spPr>
          <a:xfrm>
            <a:off x="7816469" y="-889"/>
            <a:ext cx="4154551" cy="962660"/>
          </a:xfrm>
          <a:prstGeom prst="rect">
            <a:avLst/>
          </a:prstGeom>
          <a:solidFill>
            <a:srgbClr val="F2F2F2"/>
          </a:solidFill>
          <a:ln/>
        </p:spPr>
      </p:sp>
      <p:sp>
        <p:nvSpPr>
          <p:cNvPr id="10" name="Shape 7"/>
          <p:cNvSpPr/>
          <p:nvPr/>
        </p:nvSpPr>
        <p:spPr>
          <a:xfrm>
            <a:off x="11971020" y="0"/>
            <a:ext cx="4284980" cy="961771"/>
          </a:xfrm>
          <a:prstGeom prst="rect">
            <a:avLst/>
          </a:prstGeom>
          <a:solidFill>
            <a:srgbClr val="F2F2F2"/>
          </a:solidFill>
          <a:ln/>
        </p:spPr>
      </p:sp>
      <p:sp>
        <p:nvSpPr>
          <p:cNvPr id="11" name="Shape 8"/>
          <p:cNvSpPr/>
          <p:nvPr/>
        </p:nvSpPr>
        <p:spPr>
          <a:xfrm>
            <a:off x="2219960" y="-889"/>
            <a:ext cx="2942209" cy="962660"/>
          </a:xfrm>
          <a:prstGeom prst="rect">
            <a:avLst/>
          </a:prstGeom>
          <a:solidFill>
            <a:srgbClr val="F2F2F2"/>
          </a:solidFill>
          <a:ln w="12700">
            <a:solidFill>
              <a:srgbClr val="F2F2F2"/>
            </a:solidFill>
            <a:prstDash val="solid"/>
          </a:ln>
        </p:spPr>
      </p:sp>
      <p:sp>
        <p:nvSpPr>
          <p:cNvPr id="12" name="Text 9"/>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选题背景及意义       </a:t>
            </a:r>
            <a:pPr algn="l">
              <a:lnSpc>
                <a:spcPct val="120000"/>
              </a:lnSpc>
            </a:pPr>
            <a:r>
              <a:rPr lang="en-US" sz="2400" dirty="0">
                <a:solidFill>
                  <a:srgbClr val="FFFFFF"/>
                </a:solidFill>
                <a:latin typeface="Arial" pitchFamily="34" charset="0"/>
                <a:ea typeface="Arial" pitchFamily="34" charset="-122"/>
                <a:cs typeface="Arial" pitchFamily="34" charset="-120"/>
              </a:rPr>
              <a:t>国内外研究现状</a:t>
            </a:r>
            <a:pPr algn="l">
              <a:lnSpc>
                <a:spcPct val="120000"/>
              </a:lnSpc>
            </a:pPr>
            <a:r>
              <a:rPr lang="en-US" sz="2400" dirty="0">
                <a:solidFill>
                  <a:srgbClr val="000000"/>
                </a:solidFill>
                <a:latin typeface="Arial" pitchFamily="34" charset="0"/>
                <a:ea typeface="Arial" pitchFamily="34" charset="-122"/>
                <a:cs typeface="Arial" pitchFamily="34" charset="-120"/>
              </a:rPr>
              <a:t>       主要研究内容及预期目标             工作计划与进度安排</a:t>
            </a:r>
            <a:endParaRPr lang="en-US" sz="2400" dirty="0"/>
          </a:p>
        </p:txBody>
      </p:sp>
      <p:pic>
        <p:nvPicPr>
          <p:cNvPr id="13"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4" name="Shape 10"/>
          <p:cNvSpPr/>
          <p:nvPr/>
        </p:nvSpPr>
        <p:spPr>
          <a:xfrm rot="10800000">
            <a:off x="6121400" y="961771"/>
            <a:ext cx="389509" cy="304800"/>
          </a:xfrm>
          <a:prstGeom prst="triangle">
            <a:avLst>
              <a:gd name="adj" fmla="val 50000"/>
            </a:avLst>
          </a:prstGeom>
          <a:solidFill>
            <a:srgbClr val="04579A"/>
          </a:solidFill>
          <a:ln/>
        </p:spPr>
      </p:sp>
      <p:sp>
        <p:nvSpPr>
          <p:cNvPr id="15" name="Text 11"/>
          <p:cNvSpPr/>
          <p:nvPr/>
        </p:nvSpPr>
        <p:spPr>
          <a:xfrm>
            <a:off x="544449" y="2698369"/>
            <a:ext cx="7271131" cy="5824220"/>
          </a:xfrm>
          <a:prstGeom prst="rect">
            <a:avLst/>
          </a:prstGeom>
          <a:noFill/>
          <a:ln/>
        </p:spPr>
        <p:txBody>
          <a:bodyPr wrap="square" lIns="0" tIns="0" rIns="0" bIns="0" rtlCol="0" anchor="t"/>
          <a:lstStyle/>
          <a:p>
            <a:pPr algn="l" marL="423863" indent="-423863">
              <a:lnSpc>
                <a:spcPct val="120000"/>
              </a:lnSpc>
              <a:spcBef>
                <a:spcPts val="10"/>
              </a:spcBef>
              <a:buSzPct val="100000"/>
              <a:buChar char="•"/>
            </a:pPr>
            <a:r>
              <a:rPr lang="en-US" sz="2670" b="1" dirty="0">
                <a:solidFill>
                  <a:srgbClr val="04579A"/>
                </a:solidFill>
                <a:latin typeface="Arial" pitchFamily="34" charset="0"/>
                <a:ea typeface="Arial" pitchFamily="34" charset="-122"/>
                <a:cs typeface="Arial" pitchFamily="34" charset="-120"/>
              </a:rPr>
              <a:t>激励机制优化矿工事务处理逻辑</a:t>
            </a:r>
            <a:endParaRPr lang="en-US" sz="2670" dirty="0"/>
          </a:p>
          <a:p>
            <a:pPr algn="l">
              <a:lnSpc>
                <a:spcPct val="120000"/>
              </a:lnSpc>
            </a:pPr>
            <a:r>
              <a:rPr lang="en-US" sz="2670" dirty="0">
                <a:solidFill>
                  <a:srgbClr val="04579A"/>
                </a:solidFill>
                <a:latin typeface="Arial" pitchFamily="34" charset="0"/>
                <a:ea typeface="Arial" pitchFamily="34" charset="-122"/>
                <a:cs typeface="Arial" pitchFamily="34" charset="-120"/>
              </a:rPr>
              <a:t> </a:t>
            </a:r>
            <a:endParaRPr lang="en-US" sz="2670" dirty="0"/>
          </a:p>
          <a:p>
            <a:pPr algn="l">
              <a:lnSpc>
                <a:spcPct val="120000"/>
              </a:lnSpc>
            </a:pPr>
            <a:r>
              <a:rPr lang="en-US" sz="2670" b="1" dirty="0">
                <a:solidFill>
                  <a:srgbClr val="04579A"/>
                </a:solidFill>
                <a:latin typeface="Arial" pitchFamily="34" charset="0"/>
                <a:ea typeface="Arial" pitchFamily="34" charset="-122"/>
                <a:cs typeface="Arial" pitchFamily="34" charset="-120"/>
              </a:rPr>
              <a:t>理性矿工模型</a:t>
            </a:r>
            <a:endParaRPr lang="en-US" sz="2670" dirty="0"/>
          </a:p>
          <a:p>
            <a:pPr algn="l" marL="423863" indent="-423863">
              <a:lnSpc>
                <a:spcPct val="120000"/>
              </a:lnSpc>
              <a:spcBef>
                <a:spcPts val="10"/>
              </a:spcBef>
              <a:buSzPct val="100000"/>
              <a:buChar char="•"/>
            </a:pPr>
            <a:r>
              <a:rPr lang="en-US" sz="2670" b="1" dirty="0">
                <a:solidFill>
                  <a:srgbClr val="04579A"/>
                </a:solidFill>
                <a:latin typeface="Arial" pitchFamily="34" charset="0"/>
                <a:ea typeface="Arial" pitchFamily="34" charset="-122"/>
                <a:cs typeface="Arial" pitchFamily="34" charset="-120"/>
              </a:rPr>
              <a:t>被动理性矿工：</a:t>
            </a:r>
            <a:pPr algn="l">
              <a:lnSpc>
                <a:spcPct val="120000"/>
              </a:lnSpc>
              <a:spcBef>
                <a:spcPts val="10"/>
              </a:spcBef>
            </a:pPr>
            <a:r>
              <a:rPr lang="en-US" sz="2670" dirty="0">
                <a:solidFill>
                  <a:srgbClr val="04579A"/>
                </a:solidFill>
                <a:latin typeface="Arial" pitchFamily="34" charset="0"/>
                <a:ea typeface="Arial" pitchFamily="34" charset="-122"/>
                <a:cs typeface="Arial" pitchFamily="34" charset="-120"/>
              </a:rPr>
              <a:t>只筛选当前发布上链交易</a:t>
            </a:r>
            <a:endParaRPr lang="en-US" sz="2670" dirty="0"/>
          </a:p>
          <a:p>
            <a:pPr algn="l" marL="423863" indent="-423863">
              <a:lnSpc>
                <a:spcPct val="120000"/>
              </a:lnSpc>
              <a:spcBef>
                <a:spcPts val="10"/>
              </a:spcBef>
              <a:buSzPct val="100000"/>
              <a:buChar char="•"/>
            </a:pPr>
            <a:r>
              <a:rPr lang="en-US" sz="2670" dirty="0">
                <a:solidFill>
                  <a:srgbClr val="04579A"/>
                </a:solidFill>
                <a:latin typeface="Arial" pitchFamily="34" charset="0"/>
                <a:ea typeface="Arial" pitchFamily="34" charset="-122"/>
                <a:cs typeface="Arial" pitchFamily="34" charset="-120"/>
              </a:rPr>
              <a:t>主动理性矿工：主动参与到协议流程中谋取利益更高的交易</a:t>
            </a:r>
            <a:endParaRPr lang="en-US" sz="2670" dirty="0"/>
          </a:p>
          <a:p>
            <a:pPr algn="l">
              <a:lnSpc>
                <a:spcPct val="120000"/>
              </a:lnSpc>
            </a:pPr>
            <a:r>
              <a:rPr lang="en-US" sz="2670" dirty="0">
                <a:solidFill>
                  <a:srgbClr val="04579A"/>
                </a:solidFill>
                <a:latin typeface="Arial" pitchFamily="34" charset="0"/>
                <a:ea typeface="Arial" pitchFamily="34" charset="-122"/>
                <a:cs typeface="Arial" pitchFamily="34" charset="-120"/>
              </a:rPr>
              <a:t> </a:t>
            </a:r>
            <a:endParaRPr lang="en-US" sz="2670" dirty="0"/>
          </a:p>
          <a:p>
            <a:pPr algn="l">
              <a:lnSpc>
                <a:spcPct val="120000"/>
              </a:lnSpc>
            </a:pPr>
            <a:r>
              <a:rPr lang="en-US" sz="2670" b="1" dirty="0">
                <a:solidFill>
                  <a:srgbClr val="04579A"/>
                </a:solidFill>
                <a:latin typeface="MiSans" pitchFamily="34" charset="0"/>
                <a:ea typeface="MiSans" pitchFamily="34" charset="-122"/>
                <a:cs typeface="MiSans" pitchFamily="34" charset="-120"/>
              </a:rPr>
              <a:t>MAD-HTLC SP</a:t>
            </a:r>
            <a:pPr algn="l">
              <a:lnSpc>
                <a:spcPct val="120000"/>
              </a:lnSpc>
            </a:pPr>
            <a:r>
              <a:rPr lang="en-US" sz="2670" b="1" dirty="0">
                <a:solidFill>
                  <a:srgbClr val="595959"/>
                </a:solidFill>
                <a:latin typeface="MiSans" pitchFamily="34" charset="0"/>
                <a:ea typeface="MiSans" pitchFamily="34" charset="-122"/>
                <a:cs typeface="MiSans" pitchFamily="34" charset="-120"/>
              </a:rPr>
              <a:t>'</a:t>
            </a:r>
            <a:pPr algn="l">
              <a:lnSpc>
                <a:spcPct val="120000"/>
              </a:lnSpc>
            </a:pPr>
            <a:r>
              <a:rPr lang="en-US" sz="2670" b="1" dirty="0">
                <a:solidFill>
                  <a:srgbClr val="04579A"/>
                </a:solidFill>
                <a:latin typeface="MiSans" pitchFamily="34" charset="0"/>
                <a:ea typeface="MiSans" pitchFamily="34" charset="-122"/>
                <a:cs typeface="MiSans" pitchFamily="34" charset="-120"/>
              </a:rPr>
              <a:t>21</a:t>
            </a:r>
            <a:endParaRPr lang="en-US" sz="2670" dirty="0"/>
          </a:p>
          <a:p>
            <a:pPr algn="l">
              <a:lnSpc>
                <a:spcPct val="120000"/>
              </a:lnSpc>
            </a:pPr>
            <a:r>
              <a:rPr lang="en-US" sz="2670" dirty="0">
                <a:solidFill>
                  <a:srgbClr val="04579A"/>
                </a:solidFill>
                <a:latin typeface="MiSans" pitchFamily="34" charset="0"/>
                <a:ea typeface="MiSans" pitchFamily="34" charset="-122"/>
                <a:cs typeface="MiSans" pitchFamily="34" charset="-120"/>
              </a:rPr>
              <a:t>将被动理性矿工选择交易的行为作为惩罚机制</a:t>
            </a:r>
            <a:pPr algn="l">
              <a:lnSpc>
                <a:spcPct val="120000"/>
              </a:lnSpc>
            </a:pPr>
            <a:r>
              <a:rPr lang="en-US" sz="2670" dirty="0">
                <a:solidFill>
                  <a:srgbClr val="04579A"/>
                </a:solidFill>
                <a:latin typeface="MiSans" pitchFamily="34" charset="0"/>
                <a:ea typeface="MiSans" pitchFamily="34" charset="-122"/>
                <a:cs typeface="MiSans" pitchFamily="34" charset="-120"/>
              </a:rPr>
              <a:t>，</a:t>
            </a:r>
            <a:pPr algn="l">
              <a:lnSpc>
                <a:spcPct val="120000"/>
              </a:lnSpc>
            </a:pPr>
            <a:r>
              <a:rPr lang="en-US" sz="2670" dirty="0">
                <a:solidFill>
                  <a:srgbClr val="04579A"/>
                </a:solidFill>
                <a:latin typeface="MiSans" pitchFamily="34" charset="0"/>
                <a:ea typeface="MiSans" pitchFamily="34" charset="-122"/>
                <a:cs typeface="MiSans" pitchFamily="34" charset="-120"/>
              </a:rPr>
              <a:t>使恶意节点出现违反协议行为时，其财产被矿工没收</a:t>
            </a:r>
            <a:endParaRPr lang="en-US" sz="2670" dirty="0"/>
          </a:p>
          <a:p>
            <a:pPr algn="l">
              <a:lnSpc>
                <a:spcPct val="120000"/>
              </a:lnSpc>
              <a:spcBef>
                <a:spcPts val="800"/>
              </a:spcBef>
            </a:pPr>
            <a:r>
              <a:rPr lang="en-US" sz="2670" b="1" dirty="0">
                <a:solidFill>
                  <a:srgbClr val="04579A"/>
                </a:solidFill>
                <a:latin typeface="MiSans" pitchFamily="34" charset="0"/>
                <a:ea typeface="MiSans" pitchFamily="34" charset="-122"/>
                <a:cs typeface="MiSans" pitchFamily="34" charset="-120"/>
              </a:rPr>
              <a:t>CRAB CCS</a:t>
            </a:r>
            <a:pPr algn="l">
              <a:lnSpc>
                <a:spcPct val="120000"/>
              </a:lnSpc>
              <a:spcBef>
                <a:spcPts val="800"/>
              </a:spcBef>
            </a:pPr>
            <a:r>
              <a:rPr lang="en-US" sz="2670" b="1" dirty="0">
                <a:solidFill>
                  <a:srgbClr val="595959"/>
                </a:solidFill>
                <a:latin typeface="MiSans" pitchFamily="34" charset="0"/>
                <a:ea typeface="MiSans" pitchFamily="34" charset="-122"/>
                <a:cs typeface="MiSans" pitchFamily="34" charset="-120"/>
              </a:rPr>
              <a:t>'</a:t>
            </a:r>
            <a:pPr algn="l">
              <a:lnSpc>
                <a:spcPct val="120000"/>
              </a:lnSpc>
              <a:spcBef>
                <a:spcPts val="800"/>
              </a:spcBef>
            </a:pPr>
            <a:r>
              <a:rPr lang="en-US" sz="2670" b="1" dirty="0">
                <a:solidFill>
                  <a:srgbClr val="04579A"/>
                </a:solidFill>
                <a:latin typeface="MiSans" pitchFamily="34" charset="0"/>
                <a:ea typeface="MiSans" pitchFamily="34" charset="-122"/>
                <a:cs typeface="MiSans" pitchFamily="34" charset="-120"/>
              </a:rPr>
              <a:t>24</a:t>
            </a:r>
            <a:endParaRPr lang="en-US" sz="2670" dirty="0"/>
          </a:p>
          <a:p>
            <a:pPr algn="l">
              <a:lnSpc>
                <a:spcPct val="120000"/>
              </a:lnSpc>
            </a:pPr>
            <a:r>
              <a:rPr lang="en-US" sz="2670" dirty="0">
                <a:solidFill>
                  <a:srgbClr val="04579A"/>
                </a:solidFill>
                <a:latin typeface="MiSans" pitchFamily="34" charset="0"/>
                <a:ea typeface="MiSans" pitchFamily="34" charset="-122"/>
                <a:cs typeface="MiSans" pitchFamily="34" charset="-120"/>
              </a:rPr>
              <a:t>利用主动理性矿工积极参与到协议的行为设计即时惩罚机制，拜占庭节点作恶时诚实节点获得补偿</a:t>
            </a:r>
            <a:endParaRPr lang="en-US" sz="2670" dirty="0"/>
          </a:p>
          <a:p>
            <a:pPr algn="l">
              <a:lnSpc>
                <a:spcPct val="120000"/>
              </a:lnSpc>
              <a:spcBef>
                <a:spcPts val="800"/>
              </a:spcBef>
            </a:pPr>
            <a:r>
              <a:rPr lang="en-US" sz="2670" dirty="0">
                <a:solidFill>
                  <a:srgbClr val="04579A"/>
                </a:solidFill>
                <a:latin typeface="Arial" pitchFamily="34" charset="0"/>
                <a:ea typeface="Arial" pitchFamily="34" charset="-122"/>
                <a:cs typeface="Arial" pitchFamily="34" charset="-120"/>
              </a:rPr>
              <a:t> </a:t>
            </a:r>
            <a:endParaRPr lang="en-US" sz="2670" dirty="0"/>
          </a:p>
        </p:txBody>
      </p:sp>
      <p:pic>
        <p:nvPicPr>
          <p:cNvPr id="16" name="Image 1" descr="https://kimi-img.moonshot.cn/pub/slides/okc/flfuysioo4gzm/mnt/agents/output/yuan_pptd/images/image_32.png">    </p:cNvPr>
          <p:cNvPicPr>
            <a:picLocks noChangeAspect="1"/>
          </p:cNvPicPr>
          <p:nvPr/>
        </p:nvPicPr>
        <p:blipFill>
          <a:blip r:embed="rId2"/>
          <a:stretch>
            <a:fillRect/>
          </a:stretch>
        </p:blipFill>
        <p:spPr>
          <a:xfrm>
            <a:off x="8204327" y="4060317"/>
            <a:ext cx="7514717" cy="3682365"/>
          </a:xfrm>
          <a:prstGeom prst="rect">
            <a:avLst/>
          </a:prstGeom>
        </p:spPr>
      </p:pic>
      <p:sp>
        <p:nvSpPr>
          <p:cNvPr id="17" name="Shape 12"/>
          <p:cNvSpPr/>
          <p:nvPr/>
        </p:nvSpPr>
        <p:spPr>
          <a:xfrm>
            <a:off x="13338302" y="3958209"/>
            <a:ext cx="2465832" cy="2428240"/>
          </a:xfrm>
          <a:prstGeom prst="ellipse">
            <a:avLst/>
          </a:prstGeom>
          <a:noFill/>
          <a:ln/>
        </p:spPr>
      </p:sp>
      <p:sp>
        <p:nvSpPr>
          <p:cNvPr id="18" name="Text 13"/>
          <p:cNvSpPr/>
          <p:nvPr/>
        </p:nvSpPr>
        <p:spPr>
          <a:xfrm>
            <a:off x="10831576" y="3465703"/>
            <a:ext cx="2753106" cy="492506"/>
          </a:xfrm>
          <a:prstGeom prst="rect">
            <a:avLst/>
          </a:prstGeom>
          <a:noFill/>
          <a:ln/>
        </p:spPr>
        <p:txBody>
          <a:bodyPr wrap="square" lIns="0" tIns="0" rIns="0" bIns="0" rtlCol="0" anchor="t"/>
          <a:lstStyle/>
          <a:p>
            <a:pPr algn="r">
              <a:lnSpc>
                <a:spcPct val="120000"/>
              </a:lnSpc>
            </a:pPr>
            <a:r>
              <a:rPr lang="en-US" sz="2400" dirty="0">
                <a:solidFill>
                  <a:srgbClr val="000000"/>
                </a:solidFill>
                <a:latin typeface="Arial" pitchFamily="34" charset="0"/>
                <a:ea typeface="Arial" pitchFamily="34" charset="-122"/>
                <a:cs typeface="Arial" pitchFamily="34" charset="-120"/>
              </a:rPr>
              <a:t>矿工事务处理逻辑</a:t>
            </a:r>
            <a:endParaRPr lang="en-US" sz="2400" dirty="0"/>
          </a:p>
        </p:txBody>
      </p:sp>
      <p:sp>
        <p:nvSpPr>
          <p:cNvPr id="19" name="Shape 14"/>
          <p:cNvSpPr/>
          <p:nvPr/>
        </p:nvSpPr>
        <p:spPr>
          <a:xfrm>
            <a:off x="13617067" y="3710432"/>
            <a:ext cx="686181" cy="212217"/>
          </a:xfrm>
          <a:prstGeom prst="straightConnector1">
            <a:avLst/>
          </a:prstGeom>
          <a:noFill/>
          <a:ln w="19050">
            <a:solidFill>
              <a:srgbClr val="005C8F"/>
            </a:solidFill>
            <a:prstDash val="solid"/>
            <a:headEnd type="none"/>
            <a:tailEnd type="arrow"/>
          </a:ln>
        </p:spPr>
      </p:sp>
      <p:sp>
        <p:nvSpPr>
          <p:cNvPr id="20" name="Text 15"/>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17</a:t>
            </a:r>
            <a:endParaRPr lang="en-US" sz="2400" dirty="0"/>
          </a:p>
        </p:txBody>
      </p:sp>
    </p:spTree>
  </p:cSld>
  <p:clrMapOvr>
    <a:masterClrMapping/>
  </p:clrMapOvr>
  <p:transition>
    <p:fade/>
    <p:spd val="med"/>
  </p:transition>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162169" y="-889"/>
            <a:ext cx="2654300" cy="962660"/>
          </a:xfrm>
          <a:prstGeom prst="rect">
            <a:avLst/>
          </a:prstGeom>
          <a:solidFill>
            <a:srgbClr val="F2F2F2"/>
          </a:solidFill>
          <a:ln w="12700">
            <a:solidFill>
              <a:srgbClr val="F2F2F2"/>
            </a:solidFill>
            <a:prstDash val="solid"/>
          </a:ln>
        </p:spPr>
      </p:sp>
      <p:sp>
        <p:nvSpPr>
          <p:cNvPr id="4" name="Shape 1"/>
          <p:cNvSpPr/>
          <p:nvPr/>
        </p:nvSpPr>
        <p:spPr>
          <a:xfrm>
            <a:off x="5162169" y="-889"/>
            <a:ext cx="2654300" cy="962660"/>
          </a:xfrm>
          <a:prstGeom prst="rect">
            <a:avLst/>
          </a:prstGeom>
          <a:solidFill>
            <a:srgbClr val="04579A"/>
          </a:solidFill>
          <a:ln w="12700">
            <a:solidFill>
              <a:srgbClr val="04579A"/>
            </a:solidFill>
            <a:prstDash val="solid"/>
          </a:ln>
        </p:spPr>
      </p:sp>
      <p:sp>
        <p:nvSpPr>
          <p:cNvPr id="5" name="Shape 2"/>
          <p:cNvSpPr/>
          <p:nvPr/>
        </p:nvSpPr>
        <p:spPr>
          <a:xfrm>
            <a:off x="7816469" y="-889"/>
            <a:ext cx="4154551" cy="962660"/>
          </a:xfrm>
          <a:prstGeom prst="rect">
            <a:avLst/>
          </a:prstGeom>
          <a:solidFill>
            <a:srgbClr val="F2F2F2"/>
          </a:solidFill>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942209" cy="962660"/>
          </a:xfrm>
          <a:prstGeom prst="rect">
            <a:avLst/>
          </a:prstGeom>
          <a:solidFill>
            <a:srgbClr val="F2F2F2"/>
          </a:solidFill>
          <a:ln w="12700">
            <a:solidFill>
              <a:srgbClr val="F2F2F2"/>
            </a:solidFill>
            <a:prstDash val="solid"/>
          </a:ln>
        </p:spPr>
      </p:sp>
      <p:sp>
        <p:nvSpPr>
          <p:cNvPr id="8" name="Text 5"/>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选题背景及意义       </a:t>
            </a:r>
            <a:pPr algn="l">
              <a:lnSpc>
                <a:spcPct val="120000"/>
              </a:lnSpc>
            </a:pPr>
            <a:r>
              <a:rPr lang="en-US" sz="2400" dirty="0">
                <a:solidFill>
                  <a:srgbClr val="FFFFFF"/>
                </a:solidFill>
                <a:latin typeface="Arial" pitchFamily="34" charset="0"/>
                <a:ea typeface="Arial" pitchFamily="34" charset="-122"/>
                <a:cs typeface="Arial" pitchFamily="34" charset="-120"/>
              </a:rPr>
              <a:t>国内外研究现状</a:t>
            </a:r>
            <a:pPr algn="l">
              <a:lnSpc>
                <a:spcPct val="120000"/>
              </a:lnSpc>
            </a:pPr>
            <a:r>
              <a:rPr lang="en-US" sz="2400" dirty="0">
                <a:solidFill>
                  <a:srgbClr val="000000"/>
                </a:solidFill>
                <a:latin typeface="Arial" pitchFamily="34" charset="0"/>
                <a:ea typeface="Arial" pitchFamily="34" charset="-122"/>
                <a:cs typeface="Arial" pitchFamily="34" charset="-120"/>
              </a:rPr>
              <a:t>       主要研究内容及预期目标             工作计划与进度安排</a:t>
            </a:r>
            <a:endParaRPr lang="en-US" sz="2400" dirty="0"/>
          </a:p>
        </p:txBody>
      </p:sp>
      <p:pic>
        <p:nvPicPr>
          <p:cNvPr id="9"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0" name="Shape 6"/>
          <p:cNvSpPr/>
          <p:nvPr/>
        </p:nvSpPr>
        <p:spPr>
          <a:xfrm rot="10800000">
            <a:off x="6121400" y="961771"/>
            <a:ext cx="389509" cy="304800"/>
          </a:xfrm>
          <a:prstGeom prst="triangle">
            <a:avLst>
              <a:gd name="adj" fmla="val 50000"/>
            </a:avLst>
          </a:prstGeom>
          <a:solidFill>
            <a:srgbClr val="04579A"/>
          </a:solidFill>
          <a:ln/>
        </p:spPr>
      </p:sp>
      <p:sp>
        <p:nvSpPr>
          <p:cNvPr id="11" name="Text 7"/>
          <p:cNvSpPr/>
          <p:nvPr/>
        </p:nvSpPr>
        <p:spPr>
          <a:xfrm>
            <a:off x="544449" y="1266571"/>
            <a:ext cx="8431911" cy="613791"/>
          </a:xfrm>
          <a:prstGeom prst="rect">
            <a:avLst/>
          </a:prstGeom>
          <a:noFill/>
          <a:ln/>
        </p:spPr>
        <p:txBody>
          <a:bodyPr wrap="square" lIns="0" tIns="0" rIns="0" bIns="0" rtlCol="0" anchor="t"/>
          <a:lstStyle/>
          <a:p>
            <a:pPr algn="l" marL="508000" indent="-508000">
              <a:lnSpc>
                <a:spcPct val="120000"/>
              </a:lnSpc>
              <a:spcBef>
                <a:spcPts val="10"/>
              </a:spcBef>
              <a:buSzPct val="100000"/>
              <a:buFont typeface="+mj-lt"/>
              <a:buAutoNum type="arabicPeriod" startAt="1"/>
            </a:pPr>
            <a:r>
              <a:rPr lang="en-US" sz="3200" b="1" dirty="0">
                <a:solidFill>
                  <a:srgbClr val="262626"/>
                </a:solidFill>
                <a:latin typeface="MiSans" pitchFamily="34" charset="0"/>
                <a:ea typeface="MiSans" pitchFamily="34" charset="-122"/>
                <a:cs typeface="MiSans" pitchFamily="34" charset="-120"/>
              </a:rPr>
              <a:t>链下数字资产交易方案性能</a:t>
            </a:r>
            <a:endParaRPr lang="en-US" sz="3200" dirty="0"/>
          </a:p>
        </p:txBody>
      </p:sp>
      <p:sp>
        <p:nvSpPr>
          <p:cNvPr id="12" name="Text 8"/>
          <p:cNvSpPr/>
          <p:nvPr/>
        </p:nvSpPr>
        <p:spPr>
          <a:xfrm>
            <a:off x="1018667" y="2126996"/>
            <a:ext cx="7162165" cy="492506"/>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支付信道方案</a:t>
            </a:r>
            <a:endParaRPr lang="en-US" sz="2400" dirty="0"/>
          </a:p>
        </p:txBody>
      </p:sp>
      <p:sp>
        <p:nvSpPr>
          <p:cNvPr id="13" name="Text 9"/>
          <p:cNvSpPr/>
          <p:nvPr/>
        </p:nvSpPr>
        <p:spPr>
          <a:xfrm>
            <a:off x="1018667" y="5537073"/>
            <a:ext cx="7162165" cy="492506"/>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支付信道网络方案</a:t>
            </a:r>
            <a:endParaRPr lang="en-US" sz="2400" dirty="0"/>
          </a:p>
        </p:txBody>
      </p:sp>
      <p:pic>
        <p:nvPicPr>
          <p:cNvPr id="14" name="Image 1" descr="https://kimi-img.moonshot.cn/pub/slides/okc/flfuysioo4gzm/mnt/agents/output/yuan_pptd/images/image_33.png">    </p:cNvPr>
          <p:cNvPicPr>
            <a:picLocks noChangeAspect="1"/>
          </p:cNvPicPr>
          <p:nvPr/>
        </p:nvPicPr>
        <p:blipFill>
          <a:blip r:embed="rId2"/>
          <a:stretch>
            <a:fillRect/>
          </a:stretch>
        </p:blipFill>
        <p:spPr>
          <a:xfrm>
            <a:off x="2553335" y="2866009"/>
            <a:ext cx="11149203" cy="2376551"/>
          </a:xfrm>
          <a:prstGeom prst="rect">
            <a:avLst/>
          </a:prstGeom>
        </p:spPr>
      </p:pic>
      <p:pic>
        <p:nvPicPr>
          <p:cNvPr id="15" name="Image 2" descr="https://kimi-img.moonshot.cn/pub/slides/okc/flfuysioo4gzm/mnt/agents/output/yuan_pptd/images/image_34.png">    </p:cNvPr>
          <p:cNvPicPr>
            <a:picLocks noChangeAspect="1"/>
          </p:cNvPicPr>
          <p:nvPr/>
        </p:nvPicPr>
        <p:blipFill>
          <a:blip r:embed="rId3"/>
          <a:stretch>
            <a:fillRect/>
          </a:stretch>
        </p:blipFill>
        <p:spPr>
          <a:xfrm>
            <a:off x="7398258" y="5939790"/>
            <a:ext cx="7279640" cy="2553208"/>
          </a:xfrm>
          <a:prstGeom prst="rect">
            <a:avLst/>
          </a:prstGeom>
        </p:spPr>
      </p:pic>
      <p:sp>
        <p:nvSpPr>
          <p:cNvPr id="16" name="Shape 10"/>
          <p:cNvSpPr/>
          <p:nvPr/>
        </p:nvSpPr>
        <p:spPr>
          <a:xfrm>
            <a:off x="1097788" y="6483350"/>
            <a:ext cx="5299075" cy="1712341"/>
          </a:xfrm>
          <a:prstGeom prst="roundRect">
            <a:avLst>
              <a:gd name="adj" fmla="val 16667"/>
            </a:avLst>
          </a:prstGeom>
          <a:noFill/>
          <a:ln w="12700">
            <a:solidFill>
              <a:srgbClr val="0E1622"/>
            </a:solidFill>
            <a:prstDash val="solid"/>
          </a:ln>
        </p:spPr>
      </p:sp>
      <p:sp>
        <p:nvSpPr>
          <p:cNvPr id="17" name="Shape 11"/>
          <p:cNvSpPr/>
          <p:nvPr/>
        </p:nvSpPr>
        <p:spPr>
          <a:xfrm>
            <a:off x="1108329" y="6237097"/>
            <a:ext cx="1551686" cy="492506"/>
          </a:xfrm>
          <a:prstGeom prst="roundRect">
            <a:avLst>
              <a:gd name="adj" fmla="val 16667"/>
            </a:avLst>
          </a:prstGeom>
          <a:solidFill>
            <a:srgbClr val="04579A"/>
          </a:solidFill>
          <a:ln w="12700">
            <a:solidFill>
              <a:srgbClr val="0E1622"/>
            </a:solidFill>
            <a:prstDash val="solid"/>
          </a:ln>
        </p:spPr>
      </p:sp>
      <p:sp>
        <p:nvSpPr>
          <p:cNvPr id="18" name="Text 12"/>
          <p:cNvSpPr/>
          <p:nvPr/>
        </p:nvSpPr>
        <p:spPr>
          <a:xfrm>
            <a:off x="1097788" y="6237097"/>
            <a:ext cx="1606677" cy="492506"/>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闪电网络</a:t>
            </a:r>
            <a:endParaRPr lang="en-US" sz="2400" dirty="0"/>
          </a:p>
        </p:txBody>
      </p:sp>
      <p:sp>
        <p:nvSpPr>
          <p:cNvPr id="19" name="Text 13"/>
          <p:cNvSpPr/>
          <p:nvPr/>
        </p:nvSpPr>
        <p:spPr>
          <a:xfrm>
            <a:off x="1097788" y="6777228"/>
            <a:ext cx="5413121" cy="1231138"/>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2016年部署在比特币上，是已知最大的支付信道网络，拥有近2万个活跃节点和8万个支付信道</a:t>
            </a:r>
            <a:endParaRPr lang="en-US" sz="2400" dirty="0"/>
          </a:p>
        </p:txBody>
      </p:sp>
      <p:sp>
        <p:nvSpPr>
          <p:cNvPr id="20" name="Text 14"/>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18</a:t>
            </a:r>
            <a:endParaRPr lang="en-US" sz="2400" dirty="0"/>
          </a:p>
        </p:txBody>
      </p:sp>
    </p:spTree>
  </p:cSld>
  <p:clrMapOvr>
    <a:masterClrMapping/>
  </p:clrMapOvr>
  <p:transition>
    <p:fade/>
    <p:spd val="med"/>
  </p:transition>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162169" y="-889"/>
            <a:ext cx="2654300" cy="962660"/>
          </a:xfrm>
          <a:prstGeom prst="rect">
            <a:avLst/>
          </a:prstGeom>
          <a:solidFill>
            <a:srgbClr val="F2F2F2"/>
          </a:solidFill>
          <a:ln w="12700">
            <a:solidFill>
              <a:srgbClr val="F2F2F2"/>
            </a:solidFill>
            <a:prstDash val="solid"/>
          </a:ln>
        </p:spPr>
      </p:sp>
      <p:sp>
        <p:nvSpPr>
          <p:cNvPr id="4" name="Shape 1"/>
          <p:cNvSpPr/>
          <p:nvPr/>
        </p:nvSpPr>
        <p:spPr>
          <a:xfrm>
            <a:off x="5162169" y="-889"/>
            <a:ext cx="2654300" cy="962660"/>
          </a:xfrm>
          <a:prstGeom prst="rect">
            <a:avLst/>
          </a:prstGeom>
          <a:solidFill>
            <a:srgbClr val="04579A"/>
          </a:solidFill>
          <a:ln w="12700">
            <a:solidFill>
              <a:srgbClr val="04579A"/>
            </a:solidFill>
            <a:prstDash val="solid"/>
          </a:ln>
        </p:spPr>
      </p:sp>
      <p:sp>
        <p:nvSpPr>
          <p:cNvPr id="5" name="Shape 2"/>
          <p:cNvSpPr/>
          <p:nvPr/>
        </p:nvSpPr>
        <p:spPr>
          <a:xfrm>
            <a:off x="7816469" y="-889"/>
            <a:ext cx="4154551" cy="962660"/>
          </a:xfrm>
          <a:prstGeom prst="rect">
            <a:avLst/>
          </a:prstGeom>
          <a:solidFill>
            <a:srgbClr val="F2F2F2"/>
          </a:solidFill>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942209" cy="962660"/>
          </a:xfrm>
          <a:prstGeom prst="rect">
            <a:avLst/>
          </a:prstGeom>
          <a:solidFill>
            <a:srgbClr val="F2F2F2"/>
          </a:solidFill>
          <a:ln w="12700">
            <a:solidFill>
              <a:srgbClr val="F2F2F2"/>
            </a:solidFill>
            <a:prstDash val="solid"/>
          </a:ln>
        </p:spPr>
      </p:sp>
      <p:sp>
        <p:nvSpPr>
          <p:cNvPr id="8" name="Text 5"/>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选题背景及意义       </a:t>
            </a:r>
            <a:pPr algn="l">
              <a:lnSpc>
                <a:spcPct val="120000"/>
              </a:lnSpc>
            </a:pPr>
            <a:r>
              <a:rPr lang="en-US" sz="2400" dirty="0">
                <a:solidFill>
                  <a:srgbClr val="FFFFFF"/>
                </a:solidFill>
                <a:latin typeface="Arial" pitchFamily="34" charset="0"/>
                <a:ea typeface="Arial" pitchFamily="34" charset="-122"/>
                <a:cs typeface="Arial" pitchFamily="34" charset="-120"/>
              </a:rPr>
              <a:t>国内外研究现状</a:t>
            </a:r>
            <a:pPr algn="l">
              <a:lnSpc>
                <a:spcPct val="120000"/>
              </a:lnSpc>
            </a:pPr>
            <a:r>
              <a:rPr lang="en-US" sz="2400" dirty="0">
                <a:solidFill>
                  <a:srgbClr val="000000"/>
                </a:solidFill>
                <a:latin typeface="Arial" pitchFamily="34" charset="0"/>
                <a:ea typeface="Arial" pitchFamily="34" charset="-122"/>
                <a:cs typeface="Arial" pitchFamily="34" charset="-120"/>
              </a:rPr>
              <a:t>       主要研究内容及预期目标             工作计划与进度安排</a:t>
            </a:r>
            <a:endParaRPr lang="en-US" sz="2400" dirty="0"/>
          </a:p>
        </p:txBody>
      </p:sp>
      <p:pic>
        <p:nvPicPr>
          <p:cNvPr id="9"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0" name="Shape 6"/>
          <p:cNvSpPr/>
          <p:nvPr/>
        </p:nvSpPr>
        <p:spPr>
          <a:xfrm rot="10800000">
            <a:off x="6121400" y="961771"/>
            <a:ext cx="389509" cy="304800"/>
          </a:xfrm>
          <a:prstGeom prst="triangle">
            <a:avLst>
              <a:gd name="adj" fmla="val 50000"/>
            </a:avLst>
          </a:prstGeom>
          <a:solidFill>
            <a:srgbClr val="04579A"/>
          </a:solidFill>
          <a:ln/>
        </p:spPr>
      </p:sp>
      <p:sp>
        <p:nvSpPr>
          <p:cNvPr id="11" name="Text 7"/>
          <p:cNvSpPr/>
          <p:nvPr/>
        </p:nvSpPr>
        <p:spPr>
          <a:xfrm>
            <a:off x="544449" y="1266571"/>
            <a:ext cx="8431911" cy="613791"/>
          </a:xfrm>
          <a:prstGeom prst="rect">
            <a:avLst/>
          </a:prstGeom>
          <a:noFill/>
          <a:ln/>
        </p:spPr>
        <p:txBody>
          <a:bodyPr wrap="square" lIns="0" tIns="0" rIns="0" bIns="0" rtlCol="0" anchor="t"/>
          <a:lstStyle/>
          <a:p>
            <a:pPr algn="l" marL="508000" indent="-508000">
              <a:lnSpc>
                <a:spcPct val="120000"/>
              </a:lnSpc>
              <a:spcBef>
                <a:spcPts val="10"/>
              </a:spcBef>
              <a:buSzPct val="100000"/>
              <a:buFont typeface="+mj-lt"/>
              <a:buAutoNum type="arabicPeriod" startAt="1"/>
            </a:pPr>
            <a:r>
              <a:rPr lang="en-US" sz="3200" b="1" dirty="0">
                <a:solidFill>
                  <a:srgbClr val="262626"/>
                </a:solidFill>
                <a:latin typeface="MiSans" pitchFamily="34" charset="0"/>
                <a:ea typeface="MiSans" pitchFamily="34" charset="-122"/>
                <a:cs typeface="MiSans" pitchFamily="34" charset="-120"/>
              </a:rPr>
              <a:t>链下数字资产交易方案性能</a:t>
            </a:r>
            <a:endParaRPr lang="en-US" sz="3200" dirty="0"/>
          </a:p>
        </p:txBody>
      </p:sp>
      <p:sp>
        <p:nvSpPr>
          <p:cNvPr id="12" name="Shape 8"/>
          <p:cNvSpPr/>
          <p:nvPr/>
        </p:nvSpPr>
        <p:spPr>
          <a:xfrm>
            <a:off x="1653921" y="4927854"/>
            <a:ext cx="13753592" cy="1291082"/>
          </a:xfrm>
          <a:custGeom>
            <a:avLst/>
            <a:gdLst/>
            <a:ahLst/>
            <a:cxnLst/>
            <a:rect l="l" t="t" r="r" b="b"/>
            <a:pathLst>
              <a:path w="13753592" h="1291082">
                <a:moveTo>
                  <a:pt x="5227270" y="1291084"/>
                </a:moveTo>
                <a:cubicBezTo>
                  <a:pt x="4578818" y="1291084"/>
                  <a:pt x="4078871" y="989369"/>
                  <a:pt x="3559422" y="675608"/>
                </a:cubicBezTo>
                <a:cubicBezTo>
                  <a:pt x="2910111" y="283737"/>
                  <a:pt x="2238729" y="-121687"/>
                  <a:pt x="1221261" y="58250"/>
                </a:cubicBezTo>
                <a:cubicBezTo>
                  <a:pt x="798030" y="132974"/>
                  <a:pt x="456447" y="375776"/>
                  <a:pt x="126005" y="610673"/>
                </a:cubicBezTo>
                <a:cubicBezTo>
                  <a:pt x="87004" y="638341"/>
                  <a:pt x="48429" y="665820"/>
                  <a:pt x="10072" y="692736"/>
                </a:cubicBezTo>
                <a:lnTo>
                  <a:pt x="0" y="681631"/>
                </a:lnTo>
                <a:cubicBezTo>
                  <a:pt x="38359" y="654717"/>
                  <a:pt x="76932" y="627236"/>
                  <a:pt x="115932" y="599567"/>
                </a:cubicBezTo>
                <a:cubicBezTo>
                  <a:pt x="447873" y="363730"/>
                  <a:pt x="790959" y="119798"/>
                  <a:pt x="1218046" y="44323"/>
                </a:cubicBezTo>
                <a:cubicBezTo>
                  <a:pt x="2242157" y="-136745"/>
                  <a:pt x="2916541" y="270185"/>
                  <a:pt x="3568422" y="663751"/>
                </a:cubicBezTo>
                <a:cubicBezTo>
                  <a:pt x="4329593" y="1123193"/>
                  <a:pt x="5048550" y="1557224"/>
                  <a:pt x="6256524" y="1045269"/>
                </a:cubicBezTo>
                <a:cubicBezTo>
                  <a:pt x="6408244" y="981087"/>
                  <a:pt x="6565964" y="877943"/>
                  <a:pt x="6748756" y="758614"/>
                </a:cubicBezTo>
                <a:cubicBezTo>
                  <a:pt x="7093771" y="533314"/>
                  <a:pt x="7523002" y="253057"/>
                  <a:pt x="8102236" y="129963"/>
                </a:cubicBezTo>
                <a:cubicBezTo>
                  <a:pt x="8780264" y="-14026"/>
                  <a:pt x="9526864" y="82154"/>
                  <a:pt x="10384681" y="424525"/>
                </a:cubicBezTo>
                <a:cubicBezTo>
                  <a:pt x="10454112" y="452193"/>
                  <a:pt x="10525044" y="480803"/>
                  <a:pt x="10597047" y="509975"/>
                </a:cubicBezTo>
                <a:cubicBezTo>
                  <a:pt x="11554298" y="897143"/>
                  <a:pt x="12745556" y="1378983"/>
                  <a:pt x="13745452" y="872298"/>
                </a:cubicBezTo>
                <a:lnTo>
                  <a:pt x="13753594" y="884531"/>
                </a:lnTo>
                <a:cubicBezTo>
                  <a:pt x="12746413" y="1394793"/>
                  <a:pt x="11550869" y="911257"/>
                  <a:pt x="10590403" y="522774"/>
                </a:cubicBezTo>
                <a:cubicBezTo>
                  <a:pt x="10518400" y="493602"/>
                  <a:pt x="10447684" y="464992"/>
                  <a:pt x="10378253" y="437324"/>
                </a:cubicBezTo>
                <a:cubicBezTo>
                  <a:pt x="8447678" y="-333055"/>
                  <a:pt x="7471355" y="304440"/>
                  <a:pt x="6758615" y="769907"/>
                </a:cubicBezTo>
                <a:cubicBezTo>
                  <a:pt x="6575179" y="889614"/>
                  <a:pt x="6416816" y="993133"/>
                  <a:pt x="6263811" y="1057880"/>
                </a:cubicBezTo>
                <a:cubicBezTo>
                  <a:pt x="5873366" y="1223701"/>
                  <a:pt x="5533711" y="1291084"/>
                  <a:pt x="5227270" y="1291084"/>
                </a:cubicBezTo>
                <a:close/>
              </a:path>
            </a:pathLst>
          </a:custGeom>
          <a:gradFill rotWithShape="1" flip="none">
            <a:gsLst>
              <a:gs pos="0">
                <a:srgbClr val="DFEAF9">
                  <a:alpha val="12000"/>
                </a:srgbClr>
              </a:gs>
              <a:gs pos="8000">
                <a:srgbClr val="DFEAF9">
                  <a:alpha val="12000"/>
                </a:srgbClr>
              </a:gs>
              <a:gs pos="43000">
                <a:srgbClr val="E5EEFB">
                  <a:alpha val="67000"/>
                </a:srgbClr>
              </a:gs>
              <a:gs pos="71000">
                <a:srgbClr val="CCE0FF">
                  <a:alpha val="50000"/>
                </a:srgbClr>
              </a:gs>
              <a:gs pos="100000">
                <a:srgbClr val="DFEAF9">
                  <a:alpha val="0"/>
                </a:srgbClr>
              </a:gs>
            </a:gsLst>
            <a:lin ang="0" scaled="1"/>
          </a:gradFill>
          <a:ln/>
        </p:spPr>
      </p:sp>
      <p:sp>
        <p:nvSpPr>
          <p:cNvPr id="13" name="Shape 9"/>
          <p:cNvSpPr/>
          <p:nvPr/>
        </p:nvSpPr>
        <p:spPr>
          <a:xfrm>
            <a:off x="1573784" y="5015230"/>
            <a:ext cx="13450062" cy="1093724"/>
          </a:xfrm>
          <a:custGeom>
            <a:avLst/>
            <a:gdLst/>
            <a:ahLst/>
            <a:cxnLst/>
            <a:rect l="l" t="t" r="r" b="b"/>
            <a:pathLst>
              <a:path w="13450062" h="1093724">
                <a:moveTo>
                  <a:pt x="5000514" y="1093726"/>
                </a:moveTo>
                <a:cubicBezTo>
                  <a:pt x="4931510" y="1093726"/>
                  <a:pt x="4863153" y="1090527"/>
                  <a:pt x="4795220" y="1084317"/>
                </a:cubicBezTo>
                <a:cubicBezTo>
                  <a:pt x="4292705" y="1040840"/>
                  <a:pt x="3887478" y="834562"/>
                  <a:pt x="3458252" y="616052"/>
                </a:cubicBezTo>
                <a:cubicBezTo>
                  <a:pt x="2839375" y="301176"/>
                  <a:pt x="2199497" y="-24614"/>
                  <a:pt x="1215466" y="136493"/>
                </a:cubicBezTo>
                <a:cubicBezTo>
                  <a:pt x="822883" y="201614"/>
                  <a:pt x="491588" y="405821"/>
                  <a:pt x="171220" y="603064"/>
                </a:cubicBezTo>
                <a:cubicBezTo>
                  <a:pt x="117646" y="636001"/>
                  <a:pt x="62360" y="670254"/>
                  <a:pt x="8144" y="702628"/>
                </a:cubicBezTo>
                <a:lnTo>
                  <a:pt x="0" y="692088"/>
                </a:lnTo>
                <a:cubicBezTo>
                  <a:pt x="54002" y="659716"/>
                  <a:pt x="109290" y="625649"/>
                  <a:pt x="162862" y="592714"/>
                </a:cubicBezTo>
                <a:cubicBezTo>
                  <a:pt x="484515" y="394528"/>
                  <a:pt x="817096" y="189756"/>
                  <a:pt x="1212895" y="124072"/>
                </a:cubicBezTo>
                <a:cubicBezTo>
                  <a:pt x="2202498" y="-37976"/>
                  <a:pt x="2844732" y="288943"/>
                  <a:pt x="3465750" y="605135"/>
                </a:cubicBezTo>
                <a:cubicBezTo>
                  <a:pt x="3893478" y="822705"/>
                  <a:pt x="4297421" y="1028417"/>
                  <a:pt x="4796721" y="1071706"/>
                </a:cubicBezTo>
                <a:cubicBezTo>
                  <a:pt x="5206448" y="1109723"/>
                  <a:pt x="5637177" y="1032371"/>
                  <a:pt x="6113763" y="834938"/>
                </a:cubicBezTo>
                <a:cubicBezTo>
                  <a:pt x="6257124" y="775464"/>
                  <a:pt x="6410558" y="682489"/>
                  <a:pt x="6572777" y="584055"/>
                </a:cubicBezTo>
                <a:cubicBezTo>
                  <a:pt x="6865715" y="406198"/>
                  <a:pt x="7197867" y="204813"/>
                  <a:pt x="7623023" y="95652"/>
                </a:cubicBezTo>
                <a:cubicBezTo>
                  <a:pt x="8374547" y="-97450"/>
                  <a:pt x="9174286" y="231"/>
                  <a:pt x="10139675" y="403187"/>
                </a:cubicBezTo>
                <a:cubicBezTo>
                  <a:pt x="10187677" y="423326"/>
                  <a:pt x="10236533" y="443652"/>
                  <a:pt x="10285822" y="464542"/>
                </a:cubicBezTo>
                <a:cubicBezTo>
                  <a:pt x="11220136" y="856958"/>
                  <a:pt x="12383102" y="1345361"/>
                  <a:pt x="13443421" y="868815"/>
                </a:cubicBezTo>
                <a:lnTo>
                  <a:pt x="13450064" y="880298"/>
                </a:lnTo>
                <a:cubicBezTo>
                  <a:pt x="12383316" y="1359855"/>
                  <a:pt x="11216708" y="869946"/>
                  <a:pt x="10279608" y="476212"/>
                </a:cubicBezTo>
                <a:cubicBezTo>
                  <a:pt x="10230319" y="455508"/>
                  <a:pt x="10181461" y="434994"/>
                  <a:pt x="10133459" y="415044"/>
                </a:cubicBezTo>
                <a:cubicBezTo>
                  <a:pt x="9171501" y="13593"/>
                  <a:pt x="8375190" y="-83899"/>
                  <a:pt x="7627095" y="108262"/>
                </a:cubicBezTo>
                <a:cubicBezTo>
                  <a:pt x="7204297" y="216859"/>
                  <a:pt x="6873216" y="417678"/>
                  <a:pt x="6580921" y="594970"/>
                </a:cubicBezTo>
                <a:cubicBezTo>
                  <a:pt x="6418059" y="693782"/>
                  <a:pt x="6264195" y="787134"/>
                  <a:pt x="6119764" y="846983"/>
                </a:cubicBezTo>
                <a:cubicBezTo>
                  <a:pt x="5719679" y="1012044"/>
                  <a:pt x="5351310" y="1093726"/>
                  <a:pt x="5000514" y="1093726"/>
                </a:cubicBezTo>
                <a:close/>
              </a:path>
            </a:pathLst>
          </a:custGeom>
          <a:gradFill rotWithShape="1" flip="none">
            <a:gsLst>
              <a:gs pos="0">
                <a:srgbClr val="DFEAF9">
                  <a:alpha val="12000"/>
                </a:srgbClr>
              </a:gs>
              <a:gs pos="8000">
                <a:srgbClr val="DFEAF9">
                  <a:alpha val="12000"/>
                </a:srgbClr>
              </a:gs>
              <a:gs pos="43000">
                <a:srgbClr val="E5EEFB">
                  <a:alpha val="67000"/>
                </a:srgbClr>
              </a:gs>
              <a:gs pos="71000">
                <a:srgbClr val="CCE0FF">
                  <a:alpha val="50000"/>
                </a:srgbClr>
              </a:gs>
              <a:gs pos="100000">
                <a:srgbClr val="DFEAF9">
                  <a:alpha val="0"/>
                </a:srgbClr>
              </a:gs>
            </a:gsLst>
            <a:lin ang="0" scaled="1"/>
          </a:gradFill>
          <a:ln/>
        </p:spPr>
      </p:sp>
      <p:sp>
        <p:nvSpPr>
          <p:cNvPr id="14" name="Shape 10"/>
          <p:cNvSpPr/>
          <p:nvPr/>
        </p:nvSpPr>
        <p:spPr>
          <a:xfrm>
            <a:off x="1493647" y="5026660"/>
            <a:ext cx="13146913" cy="1127506"/>
          </a:xfrm>
          <a:custGeom>
            <a:avLst/>
            <a:gdLst/>
            <a:ahLst/>
            <a:cxnLst/>
            <a:rect l="l" t="t" r="r" b="b"/>
            <a:pathLst>
              <a:path w="13146913" h="1127506">
                <a:moveTo>
                  <a:pt x="12199308" y="1127506"/>
                </a:moveTo>
                <a:cubicBezTo>
                  <a:pt x="11396135" y="1127506"/>
                  <a:pt x="10623607" y="788902"/>
                  <a:pt x="9966798" y="501119"/>
                </a:cubicBezTo>
                <a:lnTo>
                  <a:pt x="9889009" y="467052"/>
                </a:lnTo>
                <a:cubicBezTo>
                  <a:pt x="8961546" y="61443"/>
                  <a:pt x="8193945" y="-68616"/>
                  <a:pt x="7473061" y="58056"/>
                </a:cubicBezTo>
                <a:cubicBezTo>
                  <a:pt x="7045117" y="133153"/>
                  <a:pt x="6703748" y="324194"/>
                  <a:pt x="6402666" y="492837"/>
                </a:cubicBezTo>
                <a:cubicBezTo>
                  <a:pt x="6252874" y="576593"/>
                  <a:pt x="6111441" y="655834"/>
                  <a:pt x="5976434" y="710416"/>
                </a:cubicBezTo>
                <a:cubicBezTo>
                  <a:pt x="5506919" y="900327"/>
                  <a:pt x="5086474" y="988790"/>
                  <a:pt x="4690245" y="980696"/>
                </a:cubicBezTo>
                <a:cubicBezTo>
                  <a:pt x="4181297" y="975804"/>
                  <a:pt x="3777354" y="810548"/>
                  <a:pt x="3350052" y="635507"/>
                </a:cubicBezTo>
                <a:cubicBezTo>
                  <a:pt x="2762887" y="395152"/>
                  <a:pt x="2155580" y="146517"/>
                  <a:pt x="1209903" y="290693"/>
                </a:cubicBezTo>
                <a:cubicBezTo>
                  <a:pt x="848603" y="345840"/>
                  <a:pt x="530591" y="513542"/>
                  <a:pt x="223079" y="675972"/>
                </a:cubicBezTo>
                <a:cubicBezTo>
                  <a:pt x="152147" y="713428"/>
                  <a:pt x="78646" y="752202"/>
                  <a:pt x="6644" y="788527"/>
                </a:cubicBezTo>
                <a:lnTo>
                  <a:pt x="0" y="778552"/>
                </a:lnTo>
                <a:cubicBezTo>
                  <a:pt x="71789" y="742414"/>
                  <a:pt x="145290" y="703640"/>
                  <a:pt x="216222" y="666185"/>
                </a:cubicBezTo>
                <a:cubicBezTo>
                  <a:pt x="524805" y="503377"/>
                  <a:pt x="843887" y="334922"/>
                  <a:pt x="1207545" y="279400"/>
                </a:cubicBezTo>
                <a:cubicBezTo>
                  <a:pt x="2157508" y="134659"/>
                  <a:pt x="2766532" y="384048"/>
                  <a:pt x="3355624" y="625154"/>
                </a:cubicBezTo>
                <a:cubicBezTo>
                  <a:pt x="3781854" y="799632"/>
                  <a:pt x="4184299" y="964321"/>
                  <a:pt x="4690673" y="969216"/>
                </a:cubicBezTo>
                <a:cubicBezTo>
                  <a:pt x="5084759" y="977120"/>
                  <a:pt x="5503490" y="889224"/>
                  <a:pt x="5971078" y="700064"/>
                </a:cubicBezTo>
                <a:cubicBezTo>
                  <a:pt x="6105224" y="645857"/>
                  <a:pt x="6246231" y="566806"/>
                  <a:pt x="6395593" y="483237"/>
                </a:cubicBezTo>
                <a:cubicBezTo>
                  <a:pt x="6697748" y="314032"/>
                  <a:pt x="7040404" y="122425"/>
                  <a:pt x="7470490" y="46763"/>
                </a:cubicBezTo>
                <a:cubicBezTo>
                  <a:pt x="8194375" y="-80284"/>
                  <a:pt x="8964761" y="49962"/>
                  <a:pt x="9894795" y="456887"/>
                </a:cubicBezTo>
                <a:lnTo>
                  <a:pt x="9972582" y="490956"/>
                </a:lnTo>
                <a:cubicBezTo>
                  <a:pt x="10882904" y="889977"/>
                  <a:pt x="12015872" y="1386493"/>
                  <a:pt x="13141556" y="940042"/>
                </a:cubicBezTo>
                <a:lnTo>
                  <a:pt x="13146915" y="950582"/>
                </a:lnTo>
                <a:cubicBezTo>
                  <a:pt x="12829761" y="1076123"/>
                  <a:pt x="12512176" y="1127506"/>
                  <a:pt x="12199308" y="1127506"/>
                </a:cubicBezTo>
                <a:close/>
              </a:path>
            </a:pathLst>
          </a:custGeom>
          <a:gradFill rotWithShape="1" flip="none">
            <a:gsLst>
              <a:gs pos="0">
                <a:srgbClr val="DFEAF9">
                  <a:alpha val="12000"/>
                </a:srgbClr>
              </a:gs>
              <a:gs pos="8000">
                <a:srgbClr val="DFEAF9">
                  <a:alpha val="12000"/>
                </a:srgbClr>
              </a:gs>
              <a:gs pos="43000">
                <a:srgbClr val="E5EEFB">
                  <a:alpha val="67000"/>
                </a:srgbClr>
              </a:gs>
              <a:gs pos="71000">
                <a:srgbClr val="CCE0FF">
                  <a:alpha val="50000"/>
                </a:srgbClr>
              </a:gs>
              <a:gs pos="100000">
                <a:srgbClr val="DFEAF9">
                  <a:alpha val="0"/>
                </a:srgbClr>
              </a:gs>
            </a:gsLst>
            <a:lin ang="0" scaled="1"/>
          </a:gradFill>
          <a:ln/>
        </p:spPr>
      </p:sp>
      <p:sp>
        <p:nvSpPr>
          <p:cNvPr id="15" name="Shape 11"/>
          <p:cNvSpPr/>
          <p:nvPr/>
        </p:nvSpPr>
        <p:spPr>
          <a:xfrm>
            <a:off x="1413510" y="5022342"/>
            <a:ext cx="12843891" cy="1192530"/>
          </a:xfrm>
          <a:custGeom>
            <a:avLst/>
            <a:gdLst/>
            <a:ahLst/>
            <a:cxnLst/>
            <a:rect l="l" t="t" r="r" b="b"/>
            <a:pathLst>
              <a:path w="12843891" h="1192530">
                <a:moveTo>
                  <a:pt x="11913860" y="1192530"/>
                </a:moveTo>
                <a:cubicBezTo>
                  <a:pt x="11074045" y="1192530"/>
                  <a:pt x="10304301" y="838697"/>
                  <a:pt x="9651778" y="538693"/>
                </a:cubicBezTo>
                <a:lnTo>
                  <a:pt x="9644493" y="535492"/>
                </a:lnTo>
                <a:cubicBezTo>
                  <a:pt x="8732674" y="116350"/>
                  <a:pt x="8015433" y="-41368"/>
                  <a:pt x="7318980" y="24128"/>
                </a:cubicBezTo>
                <a:cubicBezTo>
                  <a:pt x="6886965" y="64781"/>
                  <a:pt x="6532308" y="246403"/>
                  <a:pt x="6219226" y="406757"/>
                </a:cubicBezTo>
                <a:cubicBezTo>
                  <a:pt x="6084006" y="476018"/>
                  <a:pt x="5956287" y="541514"/>
                  <a:pt x="5832854" y="590261"/>
                </a:cubicBezTo>
                <a:cubicBezTo>
                  <a:pt x="5379409" y="769436"/>
                  <a:pt x="4959608" y="871257"/>
                  <a:pt x="4585453" y="892901"/>
                </a:cubicBezTo>
                <a:cubicBezTo>
                  <a:pt x="4063861" y="929790"/>
                  <a:pt x="3657775" y="806702"/>
                  <a:pt x="3228117" y="676462"/>
                </a:cubicBezTo>
                <a:cubicBezTo>
                  <a:pt x="2675240" y="508767"/>
                  <a:pt x="2103505" y="335427"/>
                  <a:pt x="1204329" y="460773"/>
                </a:cubicBezTo>
                <a:cubicBezTo>
                  <a:pt x="873890" y="506884"/>
                  <a:pt x="571308" y="641266"/>
                  <a:pt x="278582" y="771319"/>
                </a:cubicBezTo>
                <a:cubicBezTo>
                  <a:pt x="189008" y="811219"/>
                  <a:pt x="96217" y="852248"/>
                  <a:pt x="4929" y="890078"/>
                </a:cubicBezTo>
                <a:lnTo>
                  <a:pt x="0" y="880856"/>
                </a:lnTo>
                <a:cubicBezTo>
                  <a:pt x="91290" y="843214"/>
                  <a:pt x="183865" y="801996"/>
                  <a:pt x="273438" y="762285"/>
                </a:cubicBezTo>
                <a:cubicBezTo>
                  <a:pt x="566806" y="631855"/>
                  <a:pt x="870245" y="496909"/>
                  <a:pt x="1202615" y="450799"/>
                </a:cubicBezTo>
                <a:cubicBezTo>
                  <a:pt x="2104576" y="325075"/>
                  <a:pt x="2677597" y="498980"/>
                  <a:pt x="3231975" y="667050"/>
                </a:cubicBezTo>
                <a:cubicBezTo>
                  <a:pt x="3660562" y="797103"/>
                  <a:pt x="4065576" y="919816"/>
                  <a:pt x="4584809" y="882927"/>
                </a:cubicBezTo>
                <a:cubicBezTo>
                  <a:pt x="4957680" y="861282"/>
                  <a:pt x="5376195" y="759837"/>
                  <a:pt x="5828355" y="581227"/>
                </a:cubicBezTo>
                <a:cubicBezTo>
                  <a:pt x="5951144" y="532670"/>
                  <a:pt x="6078650" y="467361"/>
                  <a:pt x="6213653" y="398288"/>
                </a:cubicBezTo>
                <a:cubicBezTo>
                  <a:pt x="6527593" y="237369"/>
                  <a:pt x="6883536" y="55182"/>
                  <a:pt x="7317907" y="14341"/>
                </a:cubicBezTo>
                <a:cubicBezTo>
                  <a:pt x="8016720" y="-51343"/>
                  <a:pt x="8735889" y="106753"/>
                  <a:pt x="9650063" y="526835"/>
                </a:cubicBezTo>
                <a:lnTo>
                  <a:pt x="9657351" y="530222"/>
                </a:lnTo>
                <a:cubicBezTo>
                  <a:pt x="10542168" y="936943"/>
                  <a:pt x="11643209" y="1443224"/>
                  <a:pt x="12839607" y="1027659"/>
                </a:cubicBezTo>
                <a:lnTo>
                  <a:pt x="12843893" y="1037258"/>
                </a:lnTo>
                <a:cubicBezTo>
                  <a:pt x="12526311" y="1146984"/>
                  <a:pt x="12215371" y="1192530"/>
                  <a:pt x="11913860" y="1192530"/>
                </a:cubicBezTo>
                <a:close/>
              </a:path>
            </a:pathLst>
          </a:custGeom>
          <a:gradFill rotWithShape="1" flip="none">
            <a:gsLst>
              <a:gs pos="0">
                <a:srgbClr val="DFEAF9">
                  <a:alpha val="12000"/>
                </a:srgbClr>
              </a:gs>
              <a:gs pos="8000">
                <a:srgbClr val="DFEAF9">
                  <a:alpha val="12000"/>
                </a:srgbClr>
              </a:gs>
              <a:gs pos="43000">
                <a:srgbClr val="E5EEFB">
                  <a:alpha val="67000"/>
                </a:srgbClr>
              </a:gs>
              <a:gs pos="71000">
                <a:srgbClr val="CCE0FF">
                  <a:alpha val="50000"/>
                </a:srgbClr>
              </a:gs>
              <a:gs pos="100000">
                <a:srgbClr val="DFEAF9">
                  <a:alpha val="0"/>
                </a:srgbClr>
              </a:gs>
            </a:gsLst>
            <a:lin ang="0" scaled="1"/>
          </a:gradFill>
          <a:ln/>
        </p:spPr>
      </p:sp>
      <p:sp>
        <p:nvSpPr>
          <p:cNvPr id="16" name="Shape 12"/>
          <p:cNvSpPr/>
          <p:nvPr/>
        </p:nvSpPr>
        <p:spPr>
          <a:xfrm>
            <a:off x="1332865" y="4988941"/>
            <a:ext cx="12541123" cy="1286764"/>
          </a:xfrm>
          <a:custGeom>
            <a:avLst/>
            <a:gdLst/>
            <a:ahLst/>
            <a:cxnLst/>
            <a:rect l="l" t="t" r="r" b="b"/>
            <a:pathLst>
              <a:path w="12541123" h="1286764">
                <a:moveTo>
                  <a:pt x="11635732" y="1286766"/>
                </a:moveTo>
                <a:cubicBezTo>
                  <a:pt x="11369793" y="1286766"/>
                  <a:pt x="11098498" y="1253075"/>
                  <a:pt x="10818416" y="1186069"/>
                </a:cubicBezTo>
                <a:cubicBezTo>
                  <a:pt x="10311397" y="1064480"/>
                  <a:pt x="9858379" y="854994"/>
                  <a:pt x="9400219" y="633085"/>
                </a:cubicBezTo>
                <a:cubicBezTo>
                  <a:pt x="8502113" y="197926"/>
                  <a:pt x="7823016" y="107206"/>
                  <a:pt x="7166203" y="19308"/>
                </a:cubicBezTo>
                <a:lnTo>
                  <a:pt x="7164489" y="19120"/>
                </a:lnTo>
                <a:cubicBezTo>
                  <a:pt x="6743832" y="-37157"/>
                  <a:pt x="6376960" y="155012"/>
                  <a:pt x="6053375" y="324598"/>
                </a:cubicBezTo>
                <a:cubicBezTo>
                  <a:pt x="5926086" y="391226"/>
                  <a:pt x="5805865" y="454279"/>
                  <a:pt x="5689505" y="499074"/>
                </a:cubicBezTo>
                <a:cubicBezTo>
                  <a:pt x="5245272" y="670353"/>
                  <a:pt x="4838330" y="782906"/>
                  <a:pt x="4480458" y="834101"/>
                </a:cubicBezTo>
                <a:cubicBezTo>
                  <a:pt x="3935080" y="918612"/>
                  <a:pt x="3519778" y="838996"/>
                  <a:pt x="3080046" y="754674"/>
                </a:cubicBezTo>
                <a:cubicBezTo>
                  <a:pt x="2590385" y="660753"/>
                  <a:pt x="2035365" y="554411"/>
                  <a:pt x="1198975" y="659435"/>
                </a:cubicBezTo>
                <a:cubicBezTo>
                  <a:pt x="900035" y="696891"/>
                  <a:pt x="616096" y="800787"/>
                  <a:pt x="341370" y="901296"/>
                </a:cubicBezTo>
                <a:cubicBezTo>
                  <a:pt x="231224" y="941574"/>
                  <a:pt x="117433" y="983170"/>
                  <a:pt x="3642" y="1020250"/>
                </a:cubicBezTo>
                <a:lnTo>
                  <a:pt x="0" y="1011779"/>
                </a:lnTo>
                <a:cubicBezTo>
                  <a:pt x="113361" y="974888"/>
                  <a:pt x="227152" y="933292"/>
                  <a:pt x="337298" y="893015"/>
                </a:cubicBezTo>
                <a:cubicBezTo>
                  <a:pt x="612667" y="792318"/>
                  <a:pt x="897249" y="688234"/>
                  <a:pt x="1197475" y="650401"/>
                </a:cubicBezTo>
                <a:cubicBezTo>
                  <a:pt x="2035579" y="545189"/>
                  <a:pt x="2591672" y="651719"/>
                  <a:pt x="3082190" y="745640"/>
                </a:cubicBezTo>
                <a:cubicBezTo>
                  <a:pt x="3520851" y="829774"/>
                  <a:pt x="3935080" y="909201"/>
                  <a:pt x="4478744" y="824879"/>
                </a:cubicBezTo>
                <a:cubicBezTo>
                  <a:pt x="4835972" y="773872"/>
                  <a:pt x="5241844" y="661506"/>
                  <a:pt x="5685433" y="490605"/>
                </a:cubicBezTo>
                <a:cubicBezTo>
                  <a:pt x="5801152" y="445998"/>
                  <a:pt x="5921157" y="383132"/>
                  <a:pt x="6048019" y="316692"/>
                </a:cubicBezTo>
                <a:cubicBezTo>
                  <a:pt x="6373102" y="146355"/>
                  <a:pt x="6741474" y="-46567"/>
                  <a:pt x="7165990" y="10086"/>
                </a:cubicBezTo>
                <a:lnTo>
                  <a:pt x="7167704" y="10273"/>
                </a:lnTo>
                <a:cubicBezTo>
                  <a:pt x="7825372" y="98172"/>
                  <a:pt x="8505542" y="189081"/>
                  <a:pt x="9405146" y="624993"/>
                </a:cubicBezTo>
                <a:cubicBezTo>
                  <a:pt x="10190322" y="1005568"/>
                  <a:pt x="11265648" y="1526742"/>
                  <a:pt x="12537697" y="1143531"/>
                </a:cubicBezTo>
                <a:lnTo>
                  <a:pt x="12541125" y="1152002"/>
                </a:lnTo>
                <a:cubicBezTo>
                  <a:pt x="12243042" y="1241781"/>
                  <a:pt x="11943030" y="1286766"/>
                  <a:pt x="11635732" y="1286766"/>
                </a:cubicBezTo>
                <a:close/>
              </a:path>
            </a:pathLst>
          </a:custGeom>
          <a:gradFill rotWithShape="1" flip="none">
            <a:gsLst>
              <a:gs pos="0">
                <a:srgbClr val="DFEAF9">
                  <a:alpha val="12000"/>
                </a:srgbClr>
              </a:gs>
              <a:gs pos="8000">
                <a:srgbClr val="DFEAF9">
                  <a:alpha val="12000"/>
                </a:srgbClr>
              </a:gs>
              <a:gs pos="43000">
                <a:srgbClr val="E5EEFB">
                  <a:alpha val="67000"/>
                </a:srgbClr>
              </a:gs>
              <a:gs pos="71000">
                <a:srgbClr val="CCE0FF">
                  <a:alpha val="50000"/>
                </a:srgbClr>
              </a:gs>
              <a:gs pos="100000">
                <a:srgbClr val="DFEAF9">
                  <a:alpha val="0"/>
                </a:srgbClr>
              </a:gs>
            </a:gsLst>
            <a:lin ang="0" scaled="1"/>
          </a:gradFill>
          <a:ln/>
        </p:spPr>
      </p:sp>
      <p:sp>
        <p:nvSpPr>
          <p:cNvPr id="17" name="Shape 13"/>
          <p:cNvSpPr/>
          <p:nvPr/>
        </p:nvSpPr>
        <p:spPr>
          <a:xfrm>
            <a:off x="1252347" y="4935601"/>
            <a:ext cx="12238228" cy="1401699"/>
          </a:xfrm>
          <a:custGeom>
            <a:avLst/>
            <a:gdLst/>
            <a:ahLst/>
            <a:cxnLst/>
            <a:rect l="l" t="t" r="r" b="b"/>
            <a:pathLst>
              <a:path w="12238228" h="1401699">
                <a:moveTo>
                  <a:pt x="11359418" y="1401701"/>
                </a:moveTo>
                <a:cubicBezTo>
                  <a:pt x="11079765" y="1401701"/>
                  <a:pt x="10799471" y="1366880"/>
                  <a:pt x="10514464" y="1297236"/>
                </a:cubicBezTo>
                <a:cubicBezTo>
                  <a:pt x="9999948" y="1171502"/>
                  <a:pt x="9543505" y="949022"/>
                  <a:pt x="9156065" y="750445"/>
                </a:cubicBezTo>
                <a:cubicBezTo>
                  <a:pt x="8375611" y="350279"/>
                  <a:pt x="7776236" y="211370"/>
                  <a:pt x="7141504" y="64178"/>
                </a:cubicBezTo>
                <a:cubicBezTo>
                  <a:pt x="7098216" y="54203"/>
                  <a:pt x="7054714" y="44040"/>
                  <a:pt x="7010998" y="33874"/>
                </a:cubicBezTo>
                <a:cubicBezTo>
                  <a:pt x="6600630" y="-61931"/>
                  <a:pt x="6214261" y="121211"/>
                  <a:pt x="5873535" y="282896"/>
                </a:cubicBezTo>
                <a:cubicBezTo>
                  <a:pt x="5759104" y="337104"/>
                  <a:pt x="5651101" y="388489"/>
                  <a:pt x="5546313" y="427827"/>
                </a:cubicBezTo>
                <a:cubicBezTo>
                  <a:pt x="5110227" y="591584"/>
                  <a:pt x="4716357" y="715246"/>
                  <a:pt x="4375634" y="795054"/>
                </a:cubicBezTo>
                <a:cubicBezTo>
                  <a:pt x="3781616" y="939422"/>
                  <a:pt x="3360746" y="906860"/>
                  <a:pt x="2873444" y="869025"/>
                </a:cubicBezTo>
                <a:cubicBezTo>
                  <a:pt x="2432432" y="834769"/>
                  <a:pt x="1932488" y="796184"/>
                  <a:pt x="1193609" y="878250"/>
                </a:cubicBezTo>
                <a:cubicBezTo>
                  <a:pt x="927886" y="907800"/>
                  <a:pt x="678021" y="980644"/>
                  <a:pt x="413585" y="1057627"/>
                </a:cubicBezTo>
                <a:cubicBezTo>
                  <a:pt x="280081" y="1096400"/>
                  <a:pt x="142076" y="1136681"/>
                  <a:pt x="2358" y="1170562"/>
                </a:cubicBezTo>
                <a:lnTo>
                  <a:pt x="0" y="1163220"/>
                </a:lnTo>
                <a:cubicBezTo>
                  <a:pt x="139505" y="1129340"/>
                  <a:pt x="277295" y="1089249"/>
                  <a:pt x="410798" y="1050473"/>
                </a:cubicBezTo>
                <a:cubicBezTo>
                  <a:pt x="675663" y="973302"/>
                  <a:pt x="925956" y="900459"/>
                  <a:pt x="1192536" y="870908"/>
                </a:cubicBezTo>
                <a:cubicBezTo>
                  <a:pt x="1932488" y="788655"/>
                  <a:pt x="2432859" y="827428"/>
                  <a:pt x="2874301" y="861686"/>
                </a:cubicBezTo>
                <a:cubicBezTo>
                  <a:pt x="3360746" y="899331"/>
                  <a:pt x="3780972" y="931893"/>
                  <a:pt x="4373276" y="787902"/>
                </a:cubicBezTo>
                <a:cubicBezTo>
                  <a:pt x="4713572" y="708095"/>
                  <a:pt x="5107012" y="584620"/>
                  <a:pt x="5542884" y="421051"/>
                </a:cubicBezTo>
                <a:cubicBezTo>
                  <a:pt x="5647245" y="381901"/>
                  <a:pt x="5755246" y="330704"/>
                  <a:pt x="5869465" y="276495"/>
                </a:cubicBezTo>
                <a:cubicBezTo>
                  <a:pt x="6211689" y="114247"/>
                  <a:pt x="6599559" y="-69838"/>
                  <a:pt x="7013356" y="26723"/>
                </a:cubicBezTo>
                <a:cubicBezTo>
                  <a:pt x="7056858" y="36886"/>
                  <a:pt x="7100360" y="47051"/>
                  <a:pt x="7143646" y="57027"/>
                </a:cubicBezTo>
                <a:cubicBezTo>
                  <a:pt x="7778808" y="204217"/>
                  <a:pt x="8379040" y="343315"/>
                  <a:pt x="9160350" y="744044"/>
                </a:cubicBezTo>
                <a:cubicBezTo>
                  <a:pt x="10033378" y="1191830"/>
                  <a:pt x="10990192" y="1601972"/>
                  <a:pt x="12235659" y="1280485"/>
                </a:cubicBezTo>
                <a:lnTo>
                  <a:pt x="12238230" y="1287826"/>
                </a:lnTo>
                <a:cubicBezTo>
                  <a:pt x="11943364" y="1363679"/>
                  <a:pt x="11651713" y="1401701"/>
                  <a:pt x="11359418" y="1401701"/>
                </a:cubicBezTo>
                <a:close/>
              </a:path>
            </a:pathLst>
          </a:custGeom>
          <a:gradFill rotWithShape="1" flip="none">
            <a:gsLst>
              <a:gs pos="0">
                <a:srgbClr val="DFEAF9">
                  <a:alpha val="12000"/>
                </a:srgbClr>
              </a:gs>
              <a:gs pos="8000">
                <a:srgbClr val="DFEAF9">
                  <a:alpha val="12000"/>
                </a:srgbClr>
              </a:gs>
              <a:gs pos="43000">
                <a:srgbClr val="E5EEFB">
                  <a:alpha val="67000"/>
                </a:srgbClr>
              </a:gs>
              <a:gs pos="71000">
                <a:srgbClr val="CCE0FF">
                  <a:alpha val="50000"/>
                </a:srgbClr>
              </a:gs>
              <a:gs pos="100000">
                <a:srgbClr val="DFEAF9">
                  <a:alpha val="0"/>
                </a:srgbClr>
              </a:gs>
            </a:gsLst>
            <a:lin ang="0" scaled="1"/>
          </a:gradFill>
          <a:ln/>
        </p:spPr>
      </p:sp>
      <p:sp>
        <p:nvSpPr>
          <p:cNvPr id="18" name="Shape 14"/>
          <p:cNvSpPr/>
          <p:nvPr/>
        </p:nvSpPr>
        <p:spPr>
          <a:xfrm>
            <a:off x="1172210" y="4907153"/>
            <a:ext cx="11935460" cy="1492250"/>
          </a:xfrm>
          <a:custGeom>
            <a:avLst/>
            <a:gdLst/>
            <a:ahLst/>
            <a:cxnLst/>
            <a:rect l="l" t="t" r="r" b="b"/>
            <a:pathLst>
              <a:path w="11935460" h="1492250">
                <a:moveTo>
                  <a:pt x="11087077" y="1492252"/>
                </a:moveTo>
                <a:cubicBezTo>
                  <a:pt x="10195833" y="1492252"/>
                  <a:pt x="9505597" y="1166440"/>
                  <a:pt x="8911577" y="842886"/>
                </a:cubicBezTo>
                <a:cubicBezTo>
                  <a:pt x="8159839" y="433503"/>
                  <a:pt x="7572677" y="134984"/>
                  <a:pt x="6858224" y="23932"/>
                </a:cubicBezTo>
                <a:cubicBezTo>
                  <a:pt x="6396638" y="-47780"/>
                  <a:pt x="5964838" y="117480"/>
                  <a:pt x="5583611" y="263350"/>
                </a:cubicBezTo>
                <a:cubicBezTo>
                  <a:pt x="5521037" y="287255"/>
                  <a:pt x="5462106" y="309842"/>
                  <a:pt x="5402961" y="331488"/>
                </a:cubicBezTo>
                <a:cubicBezTo>
                  <a:pt x="4963019" y="492418"/>
                  <a:pt x="4582008" y="626807"/>
                  <a:pt x="4270425" y="731083"/>
                </a:cubicBezTo>
                <a:cubicBezTo>
                  <a:pt x="3561758" y="968806"/>
                  <a:pt x="3114315" y="981229"/>
                  <a:pt x="2495010" y="998358"/>
                </a:cubicBezTo>
                <a:cubicBezTo>
                  <a:pt x="2139285" y="1008146"/>
                  <a:pt x="1736198" y="1019439"/>
                  <a:pt x="1188252" y="1072141"/>
                </a:cubicBezTo>
                <a:cubicBezTo>
                  <a:pt x="958531" y="1094162"/>
                  <a:pt x="736096" y="1143288"/>
                  <a:pt x="500374" y="1195425"/>
                </a:cubicBezTo>
                <a:cubicBezTo>
                  <a:pt x="339440" y="1231000"/>
                  <a:pt x="172935" y="1267702"/>
                  <a:pt x="1285" y="1295936"/>
                </a:cubicBezTo>
                <a:lnTo>
                  <a:pt x="0" y="1289536"/>
                </a:lnTo>
                <a:cubicBezTo>
                  <a:pt x="171434" y="1261491"/>
                  <a:pt x="337725" y="1224787"/>
                  <a:pt x="498660" y="1189214"/>
                </a:cubicBezTo>
                <a:cubicBezTo>
                  <a:pt x="734595" y="1137077"/>
                  <a:pt x="957460" y="1087952"/>
                  <a:pt x="1187611" y="1065740"/>
                </a:cubicBezTo>
                <a:cubicBezTo>
                  <a:pt x="1735985" y="1013038"/>
                  <a:pt x="2139071" y="1001933"/>
                  <a:pt x="2495010" y="991957"/>
                </a:cubicBezTo>
                <a:cubicBezTo>
                  <a:pt x="3113458" y="974829"/>
                  <a:pt x="3560474" y="962407"/>
                  <a:pt x="4268067" y="725060"/>
                </a:cubicBezTo>
                <a:cubicBezTo>
                  <a:pt x="4579650" y="620784"/>
                  <a:pt x="4960447" y="486395"/>
                  <a:pt x="5400390" y="325465"/>
                </a:cubicBezTo>
                <a:cubicBezTo>
                  <a:pt x="5459535" y="303819"/>
                  <a:pt x="5518466" y="281232"/>
                  <a:pt x="5581039" y="257327"/>
                </a:cubicBezTo>
                <a:cubicBezTo>
                  <a:pt x="5963124" y="111080"/>
                  <a:pt x="6396209" y="-54556"/>
                  <a:pt x="6859724" y="17346"/>
                </a:cubicBezTo>
                <a:cubicBezTo>
                  <a:pt x="7575462" y="128584"/>
                  <a:pt x="8163267" y="427292"/>
                  <a:pt x="8915647" y="837050"/>
                </a:cubicBezTo>
                <a:cubicBezTo>
                  <a:pt x="9684316" y="1255845"/>
                  <a:pt x="10614990" y="1678403"/>
                  <a:pt x="11933748" y="1391175"/>
                </a:cubicBezTo>
                <a:lnTo>
                  <a:pt x="11935462" y="1397388"/>
                </a:lnTo>
                <a:cubicBezTo>
                  <a:pt x="11633095" y="1463642"/>
                  <a:pt x="11351299" y="1492252"/>
                  <a:pt x="11087077" y="1492252"/>
                </a:cubicBezTo>
                <a:close/>
              </a:path>
            </a:pathLst>
          </a:custGeom>
          <a:gradFill rotWithShape="1" flip="none">
            <a:gsLst>
              <a:gs pos="0">
                <a:srgbClr val="DFEAF9">
                  <a:alpha val="12000"/>
                </a:srgbClr>
              </a:gs>
              <a:gs pos="8000">
                <a:srgbClr val="DFEAF9">
                  <a:alpha val="12000"/>
                </a:srgbClr>
              </a:gs>
              <a:gs pos="43000">
                <a:srgbClr val="E5EEFB">
                  <a:alpha val="67000"/>
                </a:srgbClr>
              </a:gs>
              <a:gs pos="71000">
                <a:srgbClr val="CCE0FF">
                  <a:alpha val="50000"/>
                </a:srgbClr>
              </a:gs>
              <a:gs pos="100000">
                <a:srgbClr val="DFEAF9">
                  <a:alpha val="0"/>
                </a:srgbClr>
              </a:gs>
            </a:gsLst>
            <a:lin ang="0" scaled="1"/>
          </a:gradFill>
          <a:ln/>
        </p:spPr>
      </p:sp>
      <p:sp>
        <p:nvSpPr>
          <p:cNvPr id="19" name="Shape 15"/>
          <p:cNvSpPr/>
          <p:nvPr/>
        </p:nvSpPr>
        <p:spPr>
          <a:xfrm>
            <a:off x="1091565" y="4848098"/>
            <a:ext cx="11632692" cy="1614170"/>
          </a:xfrm>
          <a:custGeom>
            <a:avLst/>
            <a:gdLst/>
            <a:ahLst/>
            <a:cxnLst/>
            <a:rect l="l" t="t" r="r" b="b"/>
            <a:pathLst>
              <a:path w="11632692" h="1614170">
                <a:moveTo>
                  <a:pt x="10826092" y="1614170"/>
                </a:moveTo>
                <a:cubicBezTo>
                  <a:pt x="10508511" y="1614170"/>
                  <a:pt x="10203785" y="1576527"/>
                  <a:pt x="9906132" y="1501052"/>
                </a:cubicBezTo>
                <a:cubicBezTo>
                  <a:pt x="9409186" y="1375135"/>
                  <a:pt x="9001172" y="1160002"/>
                  <a:pt x="8667731" y="966137"/>
                </a:cubicBezTo>
                <a:cubicBezTo>
                  <a:pt x="8602372" y="928118"/>
                  <a:pt x="8538298" y="890662"/>
                  <a:pt x="8475725" y="854149"/>
                </a:cubicBezTo>
                <a:cubicBezTo>
                  <a:pt x="7855775" y="491454"/>
                  <a:pt x="7366116" y="205176"/>
                  <a:pt x="6705235" y="44815"/>
                </a:cubicBezTo>
                <a:cubicBezTo>
                  <a:pt x="6214716" y="-74139"/>
                  <a:pt x="5731701" y="98079"/>
                  <a:pt x="5305686" y="249970"/>
                </a:cubicBezTo>
                <a:lnTo>
                  <a:pt x="5260042" y="266158"/>
                </a:lnTo>
                <a:cubicBezTo>
                  <a:pt x="4859742" y="408450"/>
                  <a:pt x="4481299" y="557894"/>
                  <a:pt x="4165646" y="698116"/>
                </a:cubicBezTo>
                <a:cubicBezTo>
                  <a:pt x="3140254" y="1141368"/>
                  <a:pt x="2734167" y="1173741"/>
                  <a:pt x="1388406" y="1280649"/>
                </a:cubicBezTo>
                <a:cubicBezTo>
                  <a:pt x="1322404" y="1285919"/>
                  <a:pt x="1254044" y="1291377"/>
                  <a:pt x="1183328" y="1297024"/>
                </a:cubicBezTo>
                <a:cubicBezTo>
                  <a:pt x="995605" y="1312082"/>
                  <a:pt x="809385" y="1340878"/>
                  <a:pt x="612021" y="1371558"/>
                </a:cubicBezTo>
                <a:cubicBezTo>
                  <a:pt x="416586" y="1401861"/>
                  <a:pt x="214293" y="1433106"/>
                  <a:pt x="643" y="1452115"/>
                </a:cubicBezTo>
                <a:lnTo>
                  <a:pt x="0" y="1447033"/>
                </a:lnTo>
                <a:cubicBezTo>
                  <a:pt x="213436" y="1428211"/>
                  <a:pt x="415515" y="1396778"/>
                  <a:pt x="610950" y="1366476"/>
                </a:cubicBezTo>
                <a:cubicBezTo>
                  <a:pt x="808314" y="1335986"/>
                  <a:pt x="994748" y="1306999"/>
                  <a:pt x="1182685" y="1291942"/>
                </a:cubicBezTo>
                <a:cubicBezTo>
                  <a:pt x="1253400" y="1286296"/>
                  <a:pt x="1321760" y="1280837"/>
                  <a:pt x="1387763" y="1275566"/>
                </a:cubicBezTo>
                <a:cubicBezTo>
                  <a:pt x="2732667" y="1168659"/>
                  <a:pt x="3138539" y="1136475"/>
                  <a:pt x="4162859" y="693598"/>
                </a:cubicBezTo>
                <a:cubicBezTo>
                  <a:pt x="4478728" y="553377"/>
                  <a:pt x="4857384" y="403933"/>
                  <a:pt x="5257684" y="261451"/>
                </a:cubicBezTo>
                <a:lnTo>
                  <a:pt x="5303328" y="245266"/>
                </a:lnTo>
                <a:cubicBezTo>
                  <a:pt x="5730414" y="92998"/>
                  <a:pt x="6214289" y="-79599"/>
                  <a:pt x="6706736" y="39920"/>
                </a:cubicBezTo>
                <a:cubicBezTo>
                  <a:pt x="7368687" y="200469"/>
                  <a:pt x="7858560" y="487124"/>
                  <a:pt x="8478940" y="850007"/>
                </a:cubicBezTo>
                <a:cubicBezTo>
                  <a:pt x="8541513" y="886710"/>
                  <a:pt x="8605371" y="923976"/>
                  <a:pt x="8670946" y="961997"/>
                </a:cubicBezTo>
                <a:cubicBezTo>
                  <a:pt x="9424615" y="1400167"/>
                  <a:pt x="10304931" y="1772650"/>
                  <a:pt x="11631621" y="1533990"/>
                </a:cubicBezTo>
                <a:lnTo>
                  <a:pt x="11632692" y="1539071"/>
                </a:lnTo>
                <a:cubicBezTo>
                  <a:pt x="11353467" y="1589138"/>
                  <a:pt x="11085386" y="1614170"/>
                  <a:pt x="10826092" y="1614170"/>
                </a:cubicBezTo>
                <a:close/>
              </a:path>
            </a:pathLst>
          </a:custGeom>
          <a:gradFill rotWithShape="1" flip="none">
            <a:gsLst>
              <a:gs pos="0">
                <a:srgbClr val="DFEAF9">
                  <a:alpha val="12000"/>
                </a:srgbClr>
              </a:gs>
              <a:gs pos="8000">
                <a:srgbClr val="DFEAF9">
                  <a:alpha val="12000"/>
                </a:srgbClr>
              </a:gs>
              <a:gs pos="43000">
                <a:srgbClr val="E5EEFB">
                  <a:alpha val="67000"/>
                </a:srgbClr>
              </a:gs>
              <a:gs pos="71000">
                <a:srgbClr val="CCE0FF">
                  <a:alpha val="50000"/>
                </a:srgbClr>
              </a:gs>
              <a:gs pos="100000">
                <a:srgbClr val="DFEAF9">
                  <a:alpha val="0"/>
                </a:srgbClr>
              </a:gs>
            </a:gsLst>
            <a:lin ang="0" scaled="1"/>
          </a:gradFill>
          <a:ln/>
        </p:spPr>
      </p:sp>
      <p:sp>
        <p:nvSpPr>
          <p:cNvPr id="20" name="Shape 16"/>
          <p:cNvSpPr/>
          <p:nvPr/>
        </p:nvSpPr>
        <p:spPr>
          <a:xfrm>
            <a:off x="1010793" y="4779899"/>
            <a:ext cx="11330686" cy="1746250"/>
          </a:xfrm>
          <a:custGeom>
            <a:avLst/>
            <a:gdLst/>
            <a:ahLst/>
            <a:cxnLst/>
            <a:rect l="l" t="t" r="r" b="b"/>
            <a:pathLst>
              <a:path w="11330686" h="1746250">
                <a:moveTo>
                  <a:pt x="10574452" y="1746252"/>
                </a:moveTo>
                <a:cubicBezTo>
                  <a:pt x="10229655" y="1746252"/>
                  <a:pt x="9907576" y="1706914"/>
                  <a:pt x="9601781" y="1627862"/>
                </a:cubicBezTo>
                <a:cubicBezTo>
                  <a:pt x="9103552" y="1499119"/>
                  <a:pt x="8710540" y="1277394"/>
                  <a:pt x="8423602" y="1098396"/>
                </a:cubicBezTo>
                <a:cubicBezTo>
                  <a:pt x="8290957" y="1015579"/>
                  <a:pt x="8164524" y="933704"/>
                  <a:pt x="8042163" y="854462"/>
                </a:cubicBezTo>
                <a:cubicBezTo>
                  <a:pt x="7559150" y="541263"/>
                  <a:pt x="7141923" y="270978"/>
                  <a:pt x="6552191" y="74476"/>
                </a:cubicBezTo>
                <a:cubicBezTo>
                  <a:pt x="6061891" y="-88899"/>
                  <a:pt x="5554234" y="58666"/>
                  <a:pt x="5116865" y="209807"/>
                </a:cubicBezTo>
                <a:cubicBezTo>
                  <a:pt x="4722781" y="345891"/>
                  <a:pt x="4357414" y="506443"/>
                  <a:pt x="4060190" y="674148"/>
                </a:cubicBezTo>
                <a:lnTo>
                  <a:pt x="3989473" y="711980"/>
                </a:lnTo>
                <a:cubicBezTo>
                  <a:pt x="2999660" y="1241068"/>
                  <a:pt x="2629148" y="1439076"/>
                  <a:pt x="1178176" y="1530740"/>
                </a:cubicBezTo>
                <a:cubicBezTo>
                  <a:pt x="1045101" y="1539209"/>
                  <a:pt x="911383" y="1551821"/>
                  <a:pt x="769737" y="1565373"/>
                </a:cubicBezTo>
                <a:cubicBezTo>
                  <a:pt x="526945" y="1588522"/>
                  <a:pt x="275794" y="1612427"/>
                  <a:pt x="0" y="1616944"/>
                </a:cubicBezTo>
                <a:lnTo>
                  <a:pt x="0" y="1613180"/>
                </a:lnTo>
                <a:cubicBezTo>
                  <a:pt x="275794" y="1608662"/>
                  <a:pt x="526731" y="1584758"/>
                  <a:pt x="769523" y="1561608"/>
                </a:cubicBezTo>
                <a:cubicBezTo>
                  <a:pt x="911169" y="1548056"/>
                  <a:pt x="1045101" y="1535255"/>
                  <a:pt x="1178176" y="1526976"/>
                </a:cubicBezTo>
                <a:cubicBezTo>
                  <a:pt x="2628077" y="1435312"/>
                  <a:pt x="2998373" y="1237491"/>
                  <a:pt x="3987545" y="708780"/>
                </a:cubicBezTo>
                <a:lnTo>
                  <a:pt x="4058262" y="670946"/>
                </a:lnTo>
                <a:cubicBezTo>
                  <a:pt x="4355484" y="503243"/>
                  <a:pt x="4721281" y="342502"/>
                  <a:pt x="5115578" y="206420"/>
                </a:cubicBezTo>
                <a:cubicBezTo>
                  <a:pt x="5323442" y="134707"/>
                  <a:pt x="5569449" y="56407"/>
                  <a:pt x="5819742" y="20646"/>
                </a:cubicBezTo>
                <a:cubicBezTo>
                  <a:pt x="6094036" y="-18504"/>
                  <a:pt x="6334257" y="-2128"/>
                  <a:pt x="6554119" y="71089"/>
                </a:cubicBezTo>
                <a:cubicBezTo>
                  <a:pt x="7144494" y="267779"/>
                  <a:pt x="7582079" y="551238"/>
                  <a:pt x="8045164" y="851640"/>
                </a:cubicBezTo>
                <a:cubicBezTo>
                  <a:pt x="8167525" y="930881"/>
                  <a:pt x="8293956" y="1012945"/>
                  <a:pt x="8426604" y="1095574"/>
                </a:cubicBezTo>
                <a:cubicBezTo>
                  <a:pt x="9108695" y="1520952"/>
                  <a:pt x="9932434" y="1886853"/>
                  <a:pt x="11330045" y="1685456"/>
                </a:cubicBezTo>
                <a:lnTo>
                  <a:pt x="11330688" y="1689221"/>
                </a:lnTo>
                <a:cubicBezTo>
                  <a:pt x="11065823" y="1727242"/>
                  <a:pt x="10814673" y="1746252"/>
                  <a:pt x="10574452" y="1746252"/>
                </a:cubicBezTo>
                <a:close/>
              </a:path>
            </a:pathLst>
          </a:custGeom>
          <a:gradFill rotWithShape="1" flip="none">
            <a:gsLst>
              <a:gs pos="0">
                <a:srgbClr val="DFEAF9">
                  <a:alpha val="12000"/>
                </a:srgbClr>
              </a:gs>
              <a:gs pos="8000">
                <a:srgbClr val="DFEAF9">
                  <a:alpha val="12000"/>
                </a:srgbClr>
              </a:gs>
              <a:gs pos="43000">
                <a:srgbClr val="E5EEFB">
                  <a:alpha val="67000"/>
                </a:srgbClr>
              </a:gs>
              <a:gs pos="71000">
                <a:srgbClr val="CCE0FF">
                  <a:alpha val="50000"/>
                </a:srgbClr>
              </a:gs>
              <a:gs pos="100000">
                <a:srgbClr val="DFEAF9">
                  <a:alpha val="0"/>
                </a:srgbClr>
              </a:gs>
            </a:gsLst>
            <a:lin ang="0" scaled="1"/>
          </a:gradFill>
          <a:ln/>
        </p:spPr>
      </p:sp>
      <p:sp>
        <p:nvSpPr>
          <p:cNvPr id="21" name="Shape 17"/>
          <p:cNvSpPr/>
          <p:nvPr/>
        </p:nvSpPr>
        <p:spPr>
          <a:xfrm>
            <a:off x="929767" y="4702302"/>
            <a:ext cx="11028807" cy="1888744"/>
          </a:xfrm>
          <a:custGeom>
            <a:avLst/>
            <a:gdLst/>
            <a:ahLst/>
            <a:cxnLst/>
            <a:rect l="l" t="t" r="r" b="b"/>
            <a:pathLst>
              <a:path w="11028807" h="1888744">
                <a:moveTo>
                  <a:pt x="10339213" y="1888746"/>
                </a:moveTo>
                <a:cubicBezTo>
                  <a:pt x="9957985" y="1888746"/>
                  <a:pt x="9613831" y="1847337"/>
                  <a:pt x="9297749" y="1764332"/>
                </a:cubicBezTo>
                <a:cubicBezTo>
                  <a:pt x="8804017" y="1634458"/>
                  <a:pt x="8441006" y="1416121"/>
                  <a:pt x="8180210" y="1240323"/>
                </a:cubicBezTo>
                <a:cubicBezTo>
                  <a:pt x="8019705" y="1132283"/>
                  <a:pt x="7867771" y="1021044"/>
                  <a:pt x="7720551" y="913571"/>
                </a:cubicBezTo>
                <a:cubicBezTo>
                  <a:pt x="7321753" y="622204"/>
                  <a:pt x="6945240" y="347023"/>
                  <a:pt x="6399863" y="113816"/>
                </a:cubicBezTo>
                <a:cubicBezTo>
                  <a:pt x="6016709" y="-50123"/>
                  <a:pt x="5563692" y="-34502"/>
                  <a:pt x="4974385" y="162944"/>
                </a:cubicBezTo>
                <a:cubicBezTo>
                  <a:pt x="4594658" y="290181"/>
                  <a:pt x="4232717" y="466544"/>
                  <a:pt x="3955423" y="659659"/>
                </a:cubicBezTo>
                <a:cubicBezTo>
                  <a:pt x="3781844" y="770898"/>
                  <a:pt x="3632483" y="872350"/>
                  <a:pt x="3488048" y="970413"/>
                </a:cubicBezTo>
                <a:cubicBezTo>
                  <a:pt x="2800596" y="1437202"/>
                  <a:pt x="2385724" y="1718971"/>
                  <a:pt x="1173683" y="1773930"/>
                </a:cubicBezTo>
                <a:cubicBezTo>
                  <a:pt x="1127609" y="1776001"/>
                  <a:pt x="1080894" y="1778259"/>
                  <a:pt x="1033536" y="1780518"/>
                </a:cubicBezTo>
                <a:cubicBezTo>
                  <a:pt x="730311" y="1795200"/>
                  <a:pt x="386798" y="1811764"/>
                  <a:pt x="0" y="1791436"/>
                </a:cubicBezTo>
                <a:lnTo>
                  <a:pt x="214" y="1788800"/>
                </a:lnTo>
                <a:cubicBezTo>
                  <a:pt x="386798" y="1809128"/>
                  <a:pt x="730311" y="1792377"/>
                  <a:pt x="1033536" y="1777884"/>
                </a:cubicBezTo>
                <a:cubicBezTo>
                  <a:pt x="1080894" y="1775625"/>
                  <a:pt x="1127609" y="1773367"/>
                  <a:pt x="1173683" y="1771296"/>
                </a:cubicBezTo>
                <a:cubicBezTo>
                  <a:pt x="2384867" y="1716523"/>
                  <a:pt x="2799525" y="1434943"/>
                  <a:pt x="3486550" y="968342"/>
                </a:cubicBezTo>
                <a:cubicBezTo>
                  <a:pt x="3624338" y="874796"/>
                  <a:pt x="3780344" y="768827"/>
                  <a:pt x="3953922" y="657590"/>
                </a:cubicBezTo>
                <a:cubicBezTo>
                  <a:pt x="4231432" y="464286"/>
                  <a:pt x="4593587" y="287733"/>
                  <a:pt x="4973528" y="160495"/>
                </a:cubicBezTo>
                <a:cubicBezTo>
                  <a:pt x="5238394" y="71844"/>
                  <a:pt x="5470688" y="21024"/>
                  <a:pt x="5683910" y="5213"/>
                </a:cubicBezTo>
                <a:cubicBezTo>
                  <a:pt x="5949206" y="-14362"/>
                  <a:pt x="6190712" y="21211"/>
                  <a:pt x="6401577" y="111558"/>
                </a:cubicBezTo>
                <a:cubicBezTo>
                  <a:pt x="6947382" y="344952"/>
                  <a:pt x="7324110" y="620321"/>
                  <a:pt x="7722909" y="911688"/>
                </a:cubicBezTo>
                <a:cubicBezTo>
                  <a:pt x="7869913" y="1019163"/>
                  <a:pt x="8022062" y="1130402"/>
                  <a:pt x="8182354" y="1238252"/>
                </a:cubicBezTo>
                <a:cubicBezTo>
                  <a:pt x="8793088" y="1649704"/>
                  <a:pt x="9560687" y="2008077"/>
                  <a:pt x="11028380" y="1846019"/>
                </a:cubicBezTo>
                <a:lnTo>
                  <a:pt x="11028809" y="1848655"/>
                </a:lnTo>
                <a:cubicBezTo>
                  <a:pt x="10785800" y="1875382"/>
                  <a:pt x="10556507" y="1888746"/>
                  <a:pt x="10339213" y="1888746"/>
                </a:cubicBezTo>
                <a:close/>
              </a:path>
            </a:pathLst>
          </a:custGeom>
          <a:gradFill rotWithShape="1" flip="none">
            <a:gsLst>
              <a:gs pos="0">
                <a:srgbClr val="DFEAF9">
                  <a:alpha val="12000"/>
                </a:srgbClr>
              </a:gs>
              <a:gs pos="8000">
                <a:srgbClr val="DFEAF9">
                  <a:alpha val="12000"/>
                </a:srgbClr>
              </a:gs>
              <a:gs pos="43000">
                <a:srgbClr val="E5EEFB">
                  <a:alpha val="67000"/>
                </a:srgbClr>
              </a:gs>
              <a:gs pos="71000">
                <a:srgbClr val="CCE0FF">
                  <a:alpha val="50000"/>
                </a:srgbClr>
              </a:gs>
              <a:gs pos="100000">
                <a:srgbClr val="DFEAF9">
                  <a:alpha val="0"/>
                </a:srgbClr>
              </a:gs>
            </a:gsLst>
            <a:lin ang="0" scaled="1"/>
          </a:gradFill>
          <a:ln/>
        </p:spPr>
      </p:sp>
      <p:sp>
        <p:nvSpPr>
          <p:cNvPr id="22" name="Shape 18"/>
          <p:cNvSpPr/>
          <p:nvPr/>
        </p:nvSpPr>
        <p:spPr>
          <a:xfrm>
            <a:off x="848614" y="4614926"/>
            <a:ext cx="10726674" cy="2042668"/>
          </a:xfrm>
          <a:custGeom>
            <a:avLst/>
            <a:gdLst/>
            <a:ahLst/>
            <a:cxnLst/>
            <a:rect l="l" t="t" r="r" b="b"/>
            <a:pathLst>
              <a:path w="10726674" h="2042668">
                <a:moveTo>
                  <a:pt x="10129224" y="2042668"/>
                </a:moveTo>
                <a:cubicBezTo>
                  <a:pt x="9906359" y="2042668"/>
                  <a:pt x="9698709" y="2031000"/>
                  <a:pt x="9504558" y="2007661"/>
                </a:cubicBezTo>
                <a:cubicBezTo>
                  <a:pt x="9846786" y="2048691"/>
                  <a:pt x="10246229" y="2054338"/>
                  <a:pt x="10726460" y="2016508"/>
                </a:cubicBezTo>
                <a:lnTo>
                  <a:pt x="10726674" y="2017824"/>
                </a:lnTo>
                <a:cubicBezTo>
                  <a:pt x="10516239" y="2034387"/>
                  <a:pt x="10317159" y="2042668"/>
                  <a:pt x="10129224" y="2042668"/>
                </a:cubicBezTo>
                <a:close/>
                <a:moveTo>
                  <a:pt x="926178" y="2029870"/>
                </a:moveTo>
                <a:cubicBezTo>
                  <a:pt x="682740" y="2029870"/>
                  <a:pt x="369014" y="2019142"/>
                  <a:pt x="0" y="1975477"/>
                </a:cubicBezTo>
                <a:lnTo>
                  <a:pt x="214" y="1974159"/>
                </a:lnTo>
                <a:cubicBezTo>
                  <a:pt x="507233" y="2034199"/>
                  <a:pt x="910105" y="2031940"/>
                  <a:pt x="1169185" y="2025165"/>
                </a:cubicBezTo>
                <a:cubicBezTo>
                  <a:pt x="2268939" y="1996181"/>
                  <a:pt x="2680596" y="1639894"/>
                  <a:pt x="3250190" y="1146777"/>
                </a:cubicBezTo>
                <a:cubicBezTo>
                  <a:pt x="3422268" y="997713"/>
                  <a:pt x="3617488" y="828887"/>
                  <a:pt x="3849568" y="653849"/>
                </a:cubicBezTo>
                <a:cubicBezTo>
                  <a:pt x="4112077" y="432513"/>
                  <a:pt x="4460733" y="244488"/>
                  <a:pt x="4831462" y="124408"/>
                </a:cubicBezTo>
                <a:cubicBezTo>
                  <a:pt x="5083041" y="42912"/>
                  <a:pt x="5323693" y="1130"/>
                  <a:pt x="5546772" y="0"/>
                </a:cubicBezTo>
                <a:cubicBezTo>
                  <a:pt x="5549773" y="0"/>
                  <a:pt x="5552559" y="0"/>
                  <a:pt x="5555558" y="0"/>
                </a:cubicBezTo>
                <a:cubicBezTo>
                  <a:pt x="5811853" y="0"/>
                  <a:pt x="6045006" y="54393"/>
                  <a:pt x="6248584" y="161675"/>
                </a:cubicBezTo>
                <a:cubicBezTo>
                  <a:pt x="6766103" y="434394"/>
                  <a:pt x="7119043" y="727252"/>
                  <a:pt x="7460414" y="1010512"/>
                </a:cubicBezTo>
                <a:cubicBezTo>
                  <a:pt x="7621133" y="1143766"/>
                  <a:pt x="7772639" y="1269681"/>
                  <a:pt x="7937860" y="1390700"/>
                </a:cubicBezTo>
                <a:cubicBezTo>
                  <a:pt x="8294872" y="1652504"/>
                  <a:pt x="8680816" y="1856714"/>
                  <a:pt x="9216977" y="1962303"/>
                </a:cubicBezTo>
                <a:cubicBezTo>
                  <a:pt x="9140259" y="1947246"/>
                  <a:pt x="9065901" y="1930118"/>
                  <a:pt x="8993682" y="1910732"/>
                </a:cubicBezTo>
                <a:cubicBezTo>
                  <a:pt x="8786889" y="1855396"/>
                  <a:pt x="8596597" y="1782560"/>
                  <a:pt x="8411877" y="1688266"/>
                </a:cubicBezTo>
                <a:cubicBezTo>
                  <a:pt x="8254157" y="1607711"/>
                  <a:pt x="8103294" y="1513605"/>
                  <a:pt x="7937003" y="1391641"/>
                </a:cubicBezTo>
                <a:cubicBezTo>
                  <a:pt x="7771782" y="1270434"/>
                  <a:pt x="7620062" y="1144519"/>
                  <a:pt x="7459343" y="1011264"/>
                </a:cubicBezTo>
                <a:cubicBezTo>
                  <a:pt x="7118186" y="728193"/>
                  <a:pt x="6765246" y="435335"/>
                  <a:pt x="6247727" y="162615"/>
                </a:cubicBezTo>
                <a:cubicBezTo>
                  <a:pt x="5766209" y="-91282"/>
                  <a:pt x="5212047" y="2259"/>
                  <a:pt x="4831889" y="125538"/>
                </a:cubicBezTo>
                <a:cubicBezTo>
                  <a:pt x="4461376" y="245617"/>
                  <a:pt x="4112934" y="433454"/>
                  <a:pt x="3850639" y="654791"/>
                </a:cubicBezTo>
                <a:cubicBezTo>
                  <a:pt x="3618561" y="829828"/>
                  <a:pt x="3423339" y="998656"/>
                  <a:pt x="3251261" y="1147720"/>
                </a:cubicBezTo>
                <a:cubicBezTo>
                  <a:pt x="2964537" y="1395970"/>
                  <a:pt x="2717027" y="1610157"/>
                  <a:pt x="2406301" y="1763738"/>
                </a:cubicBezTo>
                <a:cubicBezTo>
                  <a:pt x="2242367" y="1844669"/>
                  <a:pt x="2069431" y="1904709"/>
                  <a:pt x="1877641" y="1947246"/>
                </a:cubicBezTo>
                <a:cubicBezTo>
                  <a:pt x="1668918" y="1993545"/>
                  <a:pt x="1437267" y="2019330"/>
                  <a:pt x="1169399" y="2026483"/>
                </a:cubicBezTo>
                <a:cubicBezTo>
                  <a:pt x="1098467" y="2028364"/>
                  <a:pt x="1017252" y="2029870"/>
                  <a:pt x="926178" y="2029870"/>
                </a:cubicBezTo>
                <a:close/>
              </a:path>
            </a:pathLst>
          </a:custGeom>
          <a:gradFill rotWithShape="1" flip="none">
            <a:gsLst>
              <a:gs pos="0">
                <a:srgbClr val="DFEAF9">
                  <a:alpha val="12000"/>
                </a:srgbClr>
              </a:gs>
              <a:gs pos="8000">
                <a:srgbClr val="DFEAF9">
                  <a:alpha val="12000"/>
                </a:srgbClr>
              </a:gs>
              <a:gs pos="43000">
                <a:srgbClr val="E5EEFB">
                  <a:alpha val="67000"/>
                </a:srgbClr>
              </a:gs>
              <a:gs pos="71000">
                <a:srgbClr val="CCE0FF">
                  <a:alpha val="50000"/>
                </a:srgbClr>
              </a:gs>
              <a:gs pos="100000">
                <a:srgbClr val="DFEAF9">
                  <a:alpha val="0"/>
                </a:srgbClr>
              </a:gs>
            </a:gsLst>
            <a:lin ang="0" scaled="1"/>
          </a:gradFill>
          <a:ln/>
        </p:spPr>
      </p:sp>
      <p:sp>
        <p:nvSpPr>
          <p:cNvPr id="23" name="Shape 19"/>
          <p:cNvSpPr/>
          <p:nvPr/>
        </p:nvSpPr>
        <p:spPr>
          <a:xfrm>
            <a:off x="891921" y="3602355"/>
            <a:ext cx="13250037" cy="2530094"/>
          </a:xfrm>
          <a:custGeom>
            <a:avLst/>
            <a:gdLst/>
            <a:ahLst/>
            <a:cxnLst/>
            <a:rect l="l" t="t" r="r" b="b"/>
            <a:pathLst>
              <a:path w="13250037" h="2530094">
                <a:moveTo>
                  <a:pt x="0" y="2530094"/>
                </a:moveTo>
                <a:cubicBezTo>
                  <a:pt x="696275" y="1997191"/>
                  <a:pt x="1924017" y="1066963"/>
                  <a:pt x="2795072" y="993589"/>
                </a:cubicBezTo>
                <a:cubicBezTo>
                  <a:pt x="3666126" y="920214"/>
                  <a:pt x="4407348" y="2077666"/>
                  <a:pt x="5226329" y="2089847"/>
                </a:cubicBezTo>
                <a:cubicBezTo>
                  <a:pt x="6045310" y="2102027"/>
                  <a:pt x="6870047" y="1062409"/>
                  <a:pt x="7708952" y="1066673"/>
                </a:cubicBezTo>
                <a:cubicBezTo>
                  <a:pt x="8547858" y="1070937"/>
                  <a:pt x="9311320" y="2400406"/>
                  <a:pt x="10259763" y="2115429"/>
                </a:cubicBezTo>
                <a:cubicBezTo>
                  <a:pt x="11208206" y="1830453"/>
                  <a:pt x="12802662" y="674806"/>
                  <a:pt x="13250037" y="0"/>
                </a:cubicBezTo>
              </a:path>
            </a:pathLst>
          </a:custGeom>
          <a:noFill/>
          <a:ln w="12700">
            <a:solidFill>
              <a:srgbClr val="FFFFFF"/>
            </a:solidFill>
            <a:prstDash val="solid"/>
          </a:ln>
        </p:spPr>
      </p:sp>
      <p:sp>
        <p:nvSpPr>
          <p:cNvPr id="24" name="Shape 20"/>
          <p:cNvSpPr/>
          <p:nvPr/>
        </p:nvSpPr>
        <p:spPr>
          <a:xfrm rot="18545400">
            <a:off x="14027785" y="3356610"/>
            <a:ext cx="359283" cy="232410"/>
          </a:xfrm>
          <a:prstGeom prst="triangle">
            <a:avLst>
              <a:gd name="adj" fmla="val 0"/>
            </a:avLst>
          </a:prstGeom>
          <a:solidFill>
            <a:srgbClr val="005C8F"/>
          </a:solidFill>
          <a:ln/>
        </p:spPr>
      </p:sp>
      <p:sp>
        <p:nvSpPr>
          <p:cNvPr id="25" name="Shape 21"/>
          <p:cNvSpPr/>
          <p:nvPr/>
        </p:nvSpPr>
        <p:spPr>
          <a:xfrm rot="18545400">
            <a:off x="14151864" y="3600831"/>
            <a:ext cx="380365" cy="248412"/>
          </a:xfrm>
          <a:prstGeom prst="triangle">
            <a:avLst>
              <a:gd name="adj" fmla="val 0"/>
            </a:avLst>
          </a:prstGeom>
          <a:solidFill>
            <a:srgbClr val="16458C">
              <a:alpha val="467"/>
            </a:srgbClr>
          </a:solidFill>
          <a:ln/>
        </p:spPr>
      </p:sp>
      <p:sp>
        <p:nvSpPr>
          <p:cNvPr id="26" name="Text 22"/>
          <p:cNvSpPr/>
          <p:nvPr/>
        </p:nvSpPr>
        <p:spPr>
          <a:xfrm>
            <a:off x="2801366" y="5632577"/>
            <a:ext cx="2831846" cy="1206500"/>
          </a:xfrm>
          <a:prstGeom prst="rect">
            <a:avLst/>
          </a:prstGeom>
          <a:noFill/>
          <a:ln/>
        </p:spPr>
        <p:txBody>
          <a:bodyPr wrap="square" lIns="0" tIns="0" rIns="0" bIns="0" rtlCol="0" anchor="t"/>
          <a:lstStyle/>
          <a:p>
            <a:pPr algn="l" marL="296863" indent="-296863">
              <a:lnSpc>
                <a:spcPct val="130000"/>
              </a:lnSpc>
              <a:spcBef>
                <a:spcPts val="10"/>
              </a:spcBef>
              <a:buSzPct val="100000"/>
              <a:buChar char="•"/>
            </a:pPr>
            <a:r>
              <a:rPr lang="en-US" sz="1870" dirty="0">
                <a:solidFill>
                  <a:srgbClr val="3F3F3F"/>
                </a:solidFill>
                <a:latin typeface="Arial" pitchFamily="34" charset="0"/>
                <a:ea typeface="Arial" pitchFamily="34" charset="-122"/>
                <a:cs typeface="Arial" pitchFamily="34" charset="-120"/>
              </a:rPr>
              <a:t>路由复杂</a:t>
            </a:r>
            <a:endParaRPr lang="en-US" sz="1870" dirty="0"/>
          </a:p>
          <a:p>
            <a:pPr algn="l" marL="296863" indent="-296863">
              <a:lnSpc>
                <a:spcPct val="130000"/>
              </a:lnSpc>
              <a:spcBef>
                <a:spcPts val="10"/>
              </a:spcBef>
              <a:buSzPct val="100000"/>
              <a:buChar char="•"/>
            </a:pPr>
            <a:r>
              <a:rPr lang="en-US" sz="1870" dirty="0">
                <a:solidFill>
                  <a:srgbClr val="3F3F3F"/>
                </a:solidFill>
                <a:latin typeface="Arial" pitchFamily="34" charset="0"/>
                <a:ea typeface="Arial" pitchFamily="34" charset="-122"/>
                <a:cs typeface="Arial" pitchFamily="34" charset="-120"/>
              </a:rPr>
              <a:t>路径抵押成本高</a:t>
            </a:r>
            <a:endParaRPr lang="en-US" sz="1870" dirty="0"/>
          </a:p>
          <a:p>
            <a:pPr algn="l" marL="296863" indent="-296863">
              <a:lnSpc>
                <a:spcPct val="130000"/>
              </a:lnSpc>
              <a:spcBef>
                <a:spcPts val="10"/>
              </a:spcBef>
              <a:buSzPct val="100000"/>
              <a:buChar char="•"/>
            </a:pPr>
            <a:r>
              <a:rPr lang="en-US" sz="1870" dirty="0">
                <a:solidFill>
                  <a:srgbClr val="3F3F3F"/>
                </a:solidFill>
                <a:latin typeface="Arial" pitchFamily="34" charset="0"/>
                <a:ea typeface="Arial" pitchFamily="34" charset="-122"/>
                <a:cs typeface="Arial" pitchFamily="34" charset="-120"/>
              </a:rPr>
              <a:t>信道再平衡问题</a:t>
            </a:r>
            <a:endParaRPr lang="en-US" sz="1870" dirty="0"/>
          </a:p>
        </p:txBody>
      </p:sp>
      <p:sp>
        <p:nvSpPr>
          <p:cNvPr id="27" name="Text 23"/>
          <p:cNvSpPr/>
          <p:nvPr/>
        </p:nvSpPr>
        <p:spPr>
          <a:xfrm>
            <a:off x="2801366" y="5118481"/>
            <a:ext cx="2109216" cy="492506"/>
          </a:xfrm>
          <a:prstGeom prst="rect">
            <a:avLst/>
          </a:prstGeom>
          <a:noFill/>
          <a:ln/>
        </p:spPr>
        <p:txBody>
          <a:bodyPr wrap="square" lIns="0" tIns="0" rIns="0" bIns="0" rtlCol="0" anchor="t"/>
          <a:lstStyle/>
          <a:p>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闪电网络</a:t>
            </a:r>
            <a:endParaRPr lang="en-US" sz="2400" dirty="0"/>
          </a:p>
        </p:txBody>
      </p:sp>
      <p:sp>
        <p:nvSpPr>
          <p:cNvPr id="28" name="Shape 24"/>
          <p:cNvSpPr/>
          <p:nvPr/>
        </p:nvSpPr>
        <p:spPr>
          <a:xfrm>
            <a:off x="2538476" y="4877689"/>
            <a:ext cx="260223" cy="260223"/>
          </a:xfrm>
          <a:prstGeom prst="ellipse">
            <a:avLst/>
          </a:prstGeom>
          <a:gradFill rotWithShape="1" flip="none">
            <a:gsLst>
              <a:gs pos="0">
                <a:srgbClr val="005C8F"/>
              </a:gs>
              <a:gs pos="8000">
                <a:srgbClr val="005C8F"/>
              </a:gs>
              <a:gs pos="69000">
                <a:srgbClr val="58B6E5"/>
              </a:gs>
              <a:gs pos="100000">
                <a:srgbClr val="58B6E5"/>
              </a:gs>
            </a:gsLst>
            <a:path path="circle"/>
          </a:gradFill>
          <a:ln w="12700">
            <a:solidFill>
              <a:srgbClr val="FFFFFF"/>
            </a:solidFill>
            <a:prstDash val="solid"/>
          </a:ln>
          <a:effectLst>
            <a:outerShdw sx="100000" sy="100000" kx="0" ky="0" algn="bl" rotWithShape="0" blurRad="50800" dist="26924" dir="2700000">
              <a:srgbClr val="000000">
                <a:alpha val="20000"/>
              </a:srgbClr>
            </a:outerShdw>
          </a:effectLst>
        </p:spPr>
      </p:sp>
      <p:sp>
        <p:nvSpPr>
          <p:cNvPr id="29" name="Shape 25"/>
          <p:cNvSpPr/>
          <p:nvPr/>
        </p:nvSpPr>
        <p:spPr>
          <a:xfrm>
            <a:off x="2668524" y="5204079"/>
            <a:ext cx="0" cy="1969389"/>
          </a:xfrm>
          <a:prstGeom prst="line">
            <a:avLst/>
          </a:prstGeom>
          <a:noFill/>
          <a:ln w="9525">
            <a:solidFill>
              <a:srgbClr val="BFBFBF"/>
            </a:solidFill>
            <a:prstDash val="dash"/>
            <a:headEnd type="none"/>
            <a:tailEnd type="none"/>
          </a:ln>
        </p:spPr>
      </p:sp>
      <p:sp>
        <p:nvSpPr>
          <p:cNvPr id="30" name="Text 26"/>
          <p:cNvSpPr/>
          <p:nvPr/>
        </p:nvSpPr>
        <p:spPr>
          <a:xfrm>
            <a:off x="7552055" y="5721604"/>
            <a:ext cx="2831846" cy="1206500"/>
          </a:xfrm>
          <a:prstGeom prst="rect">
            <a:avLst/>
          </a:prstGeom>
          <a:noFill/>
          <a:ln/>
        </p:spPr>
        <p:txBody>
          <a:bodyPr wrap="square" lIns="0" tIns="0" rIns="0" bIns="0" rtlCol="0" anchor="t"/>
          <a:lstStyle/>
          <a:p>
            <a:pPr algn="l" marL="296863" indent="-296863">
              <a:lnSpc>
                <a:spcPct val="130000"/>
              </a:lnSpc>
              <a:spcBef>
                <a:spcPts val="10"/>
              </a:spcBef>
              <a:buSzPct val="100000"/>
              <a:buChar char="•"/>
            </a:pPr>
            <a:r>
              <a:rPr lang="en-US" sz="1870" dirty="0">
                <a:solidFill>
                  <a:srgbClr val="3F3F3F"/>
                </a:solidFill>
                <a:latin typeface="Arial" pitchFamily="34" charset="0"/>
                <a:ea typeface="Arial" pitchFamily="34" charset="-122"/>
                <a:cs typeface="Arial" pitchFamily="34" charset="-120"/>
              </a:rPr>
              <a:t>LVPC (SP'21)</a:t>
            </a:r>
            <a:endParaRPr lang="en-US" sz="1870" dirty="0"/>
          </a:p>
          <a:p>
            <a:pPr algn="l" marL="296863" indent="-296863">
              <a:lnSpc>
                <a:spcPct val="130000"/>
              </a:lnSpc>
              <a:spcBef>
                <a:spcPts val="10"/>
              </a:spcBef>
              <a:buSzPct val="100000"/>
              <a:buChar char="•"/>
            </a:pPr>
            <a:r>
              <a:rPr lang="en-US" sz="1870" dirty="0">
                <a:solidFill>
                  <a:srgbClr val="3F3F3F"/>
                </a:solidFill>
                <a:latin typeface="Arial" pitchFamily="34" charset="0"/>
                <a:ea typeface="Arial" pitchFamily="34" charset="-122"/>
                <a:cs typeface="Arial" pitchFamily="34" charset="-120"/>
              </a:rPr>
              <a:t>Blitz (Usenix'21)</a:t>
            </a:r>
            <a:endParaRPr lang="en-US" sz="1870" dirty="0"/>
          </a:p>
          <a:p>
            <a:pPr algn="l" marL="296863" indent="-296863">
              <a:lnSpc>
                <a:spcPct val="130000"/>
              </a:lnSpc>
              <a:spcBef>
                <a:spcPts val="10"/>
              </a:spcBef>
              <a:buSzPct val="100000"/>
              <a:buChar char="•"/>
            </a:pPr>
            <a:r>
              <a:rPr lang="en-US" sz="1870" dirty="0">
                <a:solidFill>
                  <a:srgbClr val="3F3F3F"/>
                </a:solidFill>
                <a:latin typeface="Arial" pitchFamily="34" charset="0"/>
                <a:ea typeface="Arial" pitchFamily="34" charset="-122"/>
                <a:cs typeface="Arial" pitchFamily="34" charset="-120"/>
              </a:rPr>
              <a:t>Donner (NDSS'23)</a:t>
            </a:r>
            <a:endParaRPr lang="en-US" sz="1870" dirty="0"/>
          </a:p>
        </p:txBody>
      </p:sp>
      <p:sp>
        <p:nvSpPr>
          <p:cNvPr id="31" name="Text 27"/>
          <p:cNvSpPr/>
          <p:nvPr/>
        </p:nvSpPr>
        <p:spPr>
          <a:xfrm>
            <a:off x="7597521" y="5024374"/>
            <a:ext cx="2421763" cy="861822"/>
          </a:xfrm>
          <a:prstGeom prst="rect">
            <a:avLst/>
          </a:prstGeom>
          <a:noFill/>
          <a:ln/>
        </p:spPr>
        <p:txBody>
          <a:bodyPr wrap="square" lIns="0" tIns="0" rIns="0" bIns="0" rtlCol="0" anchor="t"/>
          <a:lstStyle/>
          <a:p>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AMCU</a:t>
            </a:r>
            <a:endParaRPr lang="en-US" sz="2400" dirty="0"/>
          </a:p>
          <a:p>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(CCS</a:t>
            </a:r>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a:t>
            </a:r>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19)</a:t>
            </a:r>
            <a:endParaRPr lang="en-US" sz="2400" dirty="0"/>
          </a:p>
        </p:txBody>
      </p:sp>
      <p:sp>
        <p:nvSpPr>
          <p:cNvPr id="32" name="Shape 28"/>
          <p:cNvSpPr/>
          <p:nvPr/>
        </p:nvSpPr>
        <p:spPr>
          <a:xfrm>
            <a:off x="7392543" y="4961128"/>
            <a:ext cx="260223" cy="260223"/>
          </a:xfrm>
          <a:prstGeom prst="ellipse">
            <a:avLst/>
          </a:prstGeom>
          <a:gradFill rotWithShape="1" flip="none">
            <a:gsLst>
              <a:gs pos="0">
                <a:srgbClr val="005C8F"/>
              </a:gs>
              <a:gs pos="8000">
                <a:srgbClr val="005C8F"/>
              </a:gs>
              <a:gs pos="69000">
                <a:srgbClr val="58B6E5"/>
              </a:gs>
              <a:gs pos="100000">
                <a:srgbClr val="58B6E5"/>
              </a:gs>
            </a:gsLst>
            <a:path path="circle"/>
          </a:gradFill>
          <a:ln w="12700">
            <a:solidFill>
              <a:srgbClr val="FFFFFF"/>
            </a:solidFill>
            <a:prstDash val="solid"/>
          </a:ln>
          <a:effectLst>
            <a:outerShdw sx="100000" sy="100000" kx="0" ky="0" algn="bl" rotWithShape="0" blurRad="50800" dist="26924" dir="2700000">
              <a:srgbClr val="000000">
                <a:alpha val="20000"/>
              </a:srgbClr>
            </a:outerShdw>
          </a:effectLst>
        </p:spPr>
      </p:sp>
      <p:sp>
        <p:nvSpPr>
          <p:cNvPr id="33" name="Shape 29"/>
          <p:cNvSpPr/>
          <p:nvPr/>
        </p:nvSpPr>
        <p:spPr>
          <a:xfrm>
            <a:off x="7522591" y="5287518"/>
            <a:ext cx="0" cy="1969389"/>
          </a:xfrm>
          <a:prstGeom prst="line">
            <a:avLst/>
          </a:prstGeom>
          <a:noFill/>
          <a:ln w="9525">
            <a:solidFill>
              <a:srgbClr val="BFBFBF"/>
            </a:solidFill>
            <a:prstDash val="dash"/>
            <a:headEnd type="none"/>
            <a:tailEnd type="none"/>
          </a:ln>
        </p:spPr>
      </p:sp>
      <p:sp>
        <p:nvSpPr>
          <p:cNvPr id="34" name="Text 30"/>
          <p:cNvSpPr/>
          <p:nvPr/>
        </p:nvSpPr>
        <p:spPr>
          <a:xfrm>
            <a:off x="10263251" y="3548761"/>
            <a:ext cx="3050794" cy="1207008"/>
          </a:xfrm>
          <a:prstGeom prst="rect">
            <a:avLst/>
          </a:prstGeom>
          <a:noFill/>
          <a:ln/>
        </p:spPr>
        <p:txBody>
          <a:bodyPr wrap="square" lIns="0" tIns="0" rIns="0" bIns="0" rtlCol="0" anchor="t"/>
          <a:lstStyle/>
          <a:p>
            <a:pPr algn="l" marL="296863" indent="-296863">
              <a:lnSpc>
                <a:spcPct val="130000"/>
              </a:lnSpc>
              <a:spcBef>
                <a:spcPts val="10"/>
              </a:spcBef>
              <a:buSzPct val="100000"/>
              <a:buChar char="•"/>
            </a:pPr>
            <a:r>
              <a:rPr lang="en-US" sz="1870" dirty="0">
                <a:solidFill>
                  <a:srgbClr val="3F3F3F"/>
                </a:solidFill>
                <a:latin typeface="Arial" pitchFamily="34" charset="0"/>
                <a:ea typeface="Arial" pitchFamily="34" charset="-122"/>
                <a:cs typeface="Arial" pitchFamily="34" charset="-120"/>
              </a:rPr>
              <a:t>Wiser (AFT'23)</a:t>
            </a:r>
            <a:endParaRPr lang="en-US" sz="1870" dirty="0"/>
          </a:p>
          <a:p>
            <a:pPr algn="l" marL="296863" indent="-296863">
              <a:lnSpc>
                <a:spcPct val="130000"/>
              </a:lnSpc>
              <a:spcBef>
                <a:spcPts val="10"/>
              </a:spcBef>
              <a:buSzPct val="100000"/>
              <a:buChar char="•"/>
            </a:pPr>
            <a:r>
              <a:rPr lang="en-US" sz="1870" dirty="0">
                <a:solidFill>
                  <a:srgbClr val="3F3F3F"/>
                </a:solidFill>
                <a:latin typeface="Arial" pitchFamily="34" charset="0"/>
                <a:ea typeface="Arial" pitchFamily="34" charset="-122"/>
                <a:cs typeface="Arial" pitchFamily="34" charset="-120"/>
              </a:rPr>
              <a:t>Thora (CCS'22)</a:t>
            </a:r>
            <a:endParaRPr lang="en-US" sz="1870" dirty="0"/>
          </a:p>
          <a:p>
            <a:pPr algn="l" marL="296863" indent="-296863">
              <a:lnSpc>
                <a:spcPct val="130000"/>
              </a:lnSpc>
              <a:spcBef>
                <a:spcPts val="10"/>
              </a:spcBef>
              <a:buSzPct val="100000"/>
              <a:buChar char="•"/>
            </a:pPr>
            <a:r>
              <a:rPr lang="en-US" sz="1870" dirty="0">
                <a:solidFill>
                  <a:srgbClr val="3F3F3F"/>
                </a:solidFill>
                <a:latin typeface="Arial" pitchFamily="34" charset="0"/>
                <a:ea typeface="Arial" pitchFamily="34" charset="-122"/>
                <a:cs typeface="Arial" pitchFamily="34" charset="-120"/>
              </a:rPr>
              <a:t>Shaduf (NDSS'22)</a:t>
            </a:r>
            <a:endParaRPr lang="en-US" sz="1870" dirty="0"/>
          </a:p>
        </p:txBody>
      </p:sp>
      <p:sp>
        <p:nvSpPr>
          <p:cNvPr id="35" name="Text 31"/>
          <p:cNvSpPr/>
          <p:nvPr/>
        </p:nvSpPr>
        <p:spPr>
          <a:xfrm>
            <a:off x="10298684" y="4673346"/>
            <a:ext cx="2109216" cy="861822"/>
          </a:xfrm>
          <a:prstGeom prst="rect">
            <a:avLst/>
          </a:prstGeom>
          <a:noFill/>
          <a:ln/>
        </p:spPr>
        <p:txBody>
          <a:bodyPr wrap="square" lIns="0" tIns="0" rIns="0" bIns="0" rtlCol="0" anchor="t"/>
          <a:lstStyle/>
          <a:p>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Revive (CCS</a:t>
            </a:r>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'17</a:t>
            </a:r>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a:t>
            </a:r>
            <a:endParaRPr lang="en-US" sz="2400" dirty="0"/>
          </a:p>
        </p:txBody>
      </p:sp>
      <p:sp>
        <p:nvSpPr>
          <p:cNvPr id="36" name="Shape 32"/>
          <p:cNvSpPr/>
          <p:nvPr/>
        </p:nvSpPr>
        <p:spPr>
          <a:xfrm flipV="1">
            <a:off x="10139680" y="5408168"/>
            <a:ext cx="260223" cy="260223"/>
          </a:xfrm>
          <a:prstGeom prst="ellipse">
            <a:avLst/>
          </a:prstGeom>
          <a:gradFill rotWithShape="1" flip="none">
            <a:gsLst>
              <a:gs pos="0">
                <a:srgbClr val="005C8F"/>
              </a:gs>
              <a:gs pos="8000">
                <a:srgbClr val="005C8F"/>
              </a:gs>
              <a:gs pos="69000">
                <a:srgbClr val="58B6E5"/>
              </a:gs>
              <a:gs pos="100000">
                <a:srgbClr val="58B6E5"/>
              </a:gs>
            </a:gsLst>
            <a:path path="circle"/>
          </a:gradFill>
          <a:ln w="12700">
            <a:solidFill>
              <a:srgbClr val="FFFFFF"/>
            </a:solidFill>
            <a:prstDash val="solid"/>
          </a:ln>
          <a:effectLst>
            <a:outerShdw sx="100000" sy="100000" kx="0" ky="0" algn="bl" rotWithShape="0" blurRad="50800" dist="26924" dir="2700000">
              <a:srgbClr val="000000">
                <a:alpha val="20000"/>
              </a:srgbClr>
            </a:outerShdw>
          </a:effectLst>
        </p:spPr>
      </p:sp>
      <p:sp>
        <p:nvSpPr>
          <p:cNvPr id="37" name="Shape 33"/>
          <p:cNvSpPr/>
          <p:nvPr/>
        </p:nvSpPr>
        <p:spPr>
          <a:xfrm flipV="1">
            <a:off x="10269855" y="3090545"/>
            <a:ext cx="0" cy="2317623"/>
          </a:xfrm>
          <a:prstGeom prst="line">
            <a:avLst/>
          </a:prstGeom>
          <a:noFill/>
          <a:ln w="9525">
            <a:solidFill>
              <a:srgbClr val="BFBFBF"/>
            </a:solidFill>
            <a:prstDash val="dash"/>
            <a:headEnd type="none"/>
            <a:tailEnd type="none"/>
          </a:ln>
        </p:spPr>
      </p:sp>
      <p:sp>
        <p:nvSpPr>
          <p:cNvPr id="38" name="Text 34"/>
          <p:cNvSpPr/>
          <p:nvPr/>
        </p:nvSpPr>
        <p:spPr>
          <a:xfrm>
            <a:off x="5089144" y="4504817"/>
            <a:ext cx="1756537" cy="861822"/>
          </a:xfrm>
          <a:prstGeom prst="rect">
            <a:avLst/>
          </a:prstGeom>
          <a:noFill/>
          <a:ln/>
        </p:spPr>
        <p:txBody>
          <a:bodyPr wrap="square" lIns="0" tIns="0" rIns="0" bIns="0" rtlCol="0" anchor="t"/>
          <a:lstStyle/>
          <a:p>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Tumbit</a:t>
            </a:r>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 (NDSS</a:t>
            </a:r>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a:t>
            </a:r>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17)</a:t>
            </a:r>
            <a:endParaRPr lang="en-US" sz="2400" dirty="0"/>
          </a:p>
        </p:txBody>
      </p:sp>
      <p:sp>
        <p:nvSpPr>
          <p:cNvPr id="39" name="Shape 35"/>
          <p:cNvSpPr/>
          <p:nvPr/>
        </p:nvSpPr>
        <p:spPr>
          <a:xfrm flipV="1">
            <a:off x="4828921" y="5041646"/>
            <a:ext cx="260223" cy="260223"/>
          </a:xfrm>
          <a:prstGeom prst="ellipse">
            <a:avLst/>
          </a:prstGeom>
          <a:gradFill rotWithShape="1" flip="none">
            <a:gsLst>
              <a:gs pos="0">
                <a:srgbClr val="005C8F"/>
              </a:gs>
              <a:gs pos="8000">
                <a:srgbClr val="005C8F"/>
              </a:gs>
              <a:gs pos="69000">
                <a:srgbClr val="58B6E5"/>
              </a:gs>
              <a:gs pos="100000">
                <a:srgbClr val="58B6E5"/>
              </a:gs>
            </a:gsLst>
            <a:path path="circle"/>
          </a:gradFill>
          <a:ln w="12700">
            <a:solidFill>
              <a:srgbClr val="FFFFFF"/>
            </a:solidFill>
            <a:prstDash val="solid"/>
          </a:ln>
          <a:effectLst>
            <a:outerShdw sx="100000" sy="100000" kx="0" ky="0" algn="bl" rotWithShape="0" blurRad="50800" dist="26924" dir="2700000">
              <a:srgbClr val="000000">
                <a:alpha val="20000"/>
              </a:srgbClr>
            </a:outerShdw>
          </a:effectLst>
        </p:spPr>
      </p:sp>
      <p:sp>
        <p:nvSpPr>
          <p:cNvPr id="40" name="Shape 36"/>
          <p:cNvSpPr/>
          <p:nvPr/>
        </p:nvSpPr>
        <p:spPr>
          <a:xfrm flipV="1">
            <a:off x="4959096" y="3006090"/>
            <a:ext cx="0" cy="1969389"/>
          </a:xfrm>
          <a:prstGeom prst="line">
            <a:avLst/>
          </a:prstGeom>
          <a:noFill/>
          <a:ln w="9525">
            <a:solidFill>
              <a:srgbClr val="BFBFBF"/>
            </a:solidFill>
            <a:prstDash val="dash"/>
            <a:headEnd type="none"/>
            <a:tailEnd type="none"/>
          </a:ln>
        </p:spPr>
      </p:sp>
      <p:sp>
        <p:nvSpPr>
          <p:cNvPr id="41" name="Text 37"/>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19</a:t>
            </a:r>
            <a:endParaRPr lang="en-US" sz="2400" dirty="0"/>
          </a:p>
        </p:txBody>
      </p:sp>
    </p:spTree>
  </p:cSld>
  <p:clrMapOvr>
    <a:masterClrMapping/>
  </p:clrMapOvr>
  <p:transition>
    <p:fade/>
    <p:spd val="med"/>
  </p:transition>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162169" y="-889"/>
            <a:ext cx="2654300" cy="962660"/>
          </a:xfrm>
          <a:prstGeom prst="rect">
            <a:avLst/>
          </a:prstGeom>
          <a:solidFill>
            <a:srgbClr val="F2F2F2"/>
          </a:solidFill>
          <a:ln w="12700">
            <a:solidFill>
              <a:srgbClr val="F2F2F2"/>
            </a:solidFill>
            <a:prstDash val="solid"/>
          </a:ln>
        </p:spPr>
      </p:sp>
      <p:sp>
        <p:nvSpPr>
          <p:cNvPr id="4" name="Shape 1"/>
          <p:cNvSpPr/>
          <p:nvPr/>
        </p:nvSpPr>
        <p:spPr>
          <a:xfrm>
            <a:off x="5162169" y="-889"/>
            <a:ext cx="2654300" cy="962660"/>
          </a:xfrm>
          <a:prstGeom prst="rect">
            <a:avLst/>
          </a:prstGeom>
          <a:solidFill>
            <a:srgbClr val="04579A"/>
          </a:solidFill>
          <a:ln w="12700">
            <a:solidFill>
              <a:srgbClr val="04579A"/>
            </a:solidFill>
            <a:prstDash val="solid"/>
          </a:ln>
        </p:spPr>
      </p:sp>
      <p:sp>
        <p:nvSpPr>
          <p:cNvPr id="5" name="Shape 2"/>
          <p:cNvSpPr/>
          <p:nvPr/>
        </p:nvSpPr>
        <p:spPr>
          <a:xfrm>
            <a:off x="7816469" y="-889"/>
            <a:ext cx="4154551" cy="962660"/>
          </a:xfrm>
          <a:prstGeom prst="rect">
            <a:avLst/>
          </a:prstGeom>
          <a:solidFill>
            <a:srgbClr val="F2F2F2"/>
          </a:solidFill>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942209" cy="962660"/>
          </a:xfrm>
          <a:prstGeom prst="rect">
            <a:avLst/>
          </a:prstGeom>
          <a:solidFill>
            <a:srgbClr val="F2F2F2"/>
          </a:solidFill>
          <a:ln w="12700">
            <a:solidFill>
              <a:srgbClr val="F2F2F2"/>
            </a:solidFill>
            <a:prstDash val="solid"/>
          </a:ln>
        </p:spPr>
      </p:sp>
      <p:sp>
        <p:nvSpPr>
          <p:cNvPr id="8" name="Text 5"/>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选题背景及意义       </a:t>
            </a:r>
            <a:pPr algn="l">
              <a:lnSpc>
                <a:spcPct val="120000"/>
              </a:lnSpc>
            </a:pPr>
            <a:r>
              <a:rPr lang="en-US" sz="2400" dirty="0">
                <a:solidFill>
                  <a:srgbClr val="FFFFFF"/>
                </a:solidFill>
                <a:latin typeface="Arial" pitchFamily="34" charset="0"/>
                <a:ea typeface="Arial" pitchFamily="34" charset="-122"/>
                <a:cs typeface="Arial" pitchFamily="34" charset="-120"/>
              </a:rPr>
              <a:t>国内外研究现状</a:t>
            </a:r>
            <a:pPr algn="l">
              <a:lnSpc>
                <a:spcPct val="120000"/>
              </a:lnSpc>
            </a:pPr>
            <a:r>
              <a:rPr lang="en-US" sz="2400" dirty="0">
                <a:solidFill>
                  <a:srgbClr val="000000"/>
                </a:solidFill>
                <a:latin typeface="Arial" pitchFamily="34" charset="0"/>
                <a:ea typeface="Arial" pitchFamily="34" charset="-122"/>
                <a:cs typeface="Arial" pitchFamily="34" charset="-120"/>
              </a:rPr>
              <a:t>       主要研究内容及预期目标             工作计划与进度安排</a:t>
            </a:r>
            <a:endParaRPr lang="en-US" sz="2400" dirty="0"/>
          </a:p>
        </p:txBody>
      </p:sp>
      <p:pic>
        <p:nvPicPr>
          <p:cNvPr id="9"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0" name="Shape 6"/>
          <p:cNvSpPr/>
          <p:nvPr/>
        </p:nvSpPr>
        <p:spPr>
          <a:xfrm rot="10800000">
            <a:off x="6121400" y="961771"/>
            <a:ext cx="389509" cy="304800"/>
          </a:xfrm>
          <a:prstGeom prst="triangle">
            <a:avLst>
              <a:gd name="adj" fmla="val 50000"/>
            </a:avLst>
          </a:prstGeom>
          <a:solidFill>
            <a:srgbClr val="04579A"/>
          </a:solidFill>
          <a:ln/>
        </p:spPr>
      </p:sp>
      <p:sp>
        <p:nvSpPr>
          <p:cNvPr id="11" name="Text 7"/>
          <p:cNvSpPr/>
          <p:nvPr/>
        </p:nvSpPr>
        <p:spPr>
          <a:xfrm>
            <a:off x="544449" y="1266571"/>
            <a:ext cx="8431911" cy="613791"/>
          </a:xfrm>
          <a:prstGeom prst="rect">
            <a:avLst/>
          </a:prstGeom>
          <a:noFill/>
          <a:ln/>
        </p:spPr>
        <p:txBody>
          <a:bodyPr wrap="square" lIns="0" tIns="0" rIns="0" bIns="0" rtlCol="0" anchor="t"/>
          <a:lstStyle/>
          <a:p>
            <a:pPr algn="l" marL="508000" indent="-508000">
              <a:lnSpc>
                <a:spcPct val="120000"/>
              </a:lnSpc>
              <a:spcBef>
                <a:spcPts val="10"/>
              </a:spcBef>
              <a:buSzPct val="100000"/>
              <a:buFont typeface="+mj-lt"/>
              <a:buAutoNum type="arabicPeriod" startAt="1"/>
            </a:pPr>
            <a:r>
              <a:rPr lang="en-US" sz="3200" b="1" dirty="0">
                <a:solidFill>
                  <a:srgbClr val="262626"/>
                </a:solidFill>
                <a:latin typeface="MiSans" pitchFamily="34" charset="0"/>
                <a:ea typeface="MiSans" pitchFamily="34" charset="-122"/>
                <a:cs typeface="MiSans" pitchFamily="34" charset="-120"/>
              </a:rPr>
              <a:t>跨链数字资产交易协议证明机制</a:t>
            </a:r>
            <a:endParaRPr lang="en-US" sz="3200" dirty="0"/>
          </a:p>
        </p:txBody>
      </p:sp>
      <p:sp>
        <p:nvSpPr>
          <p:cNvPr id="12" name="Shape 8"/>
          <p:cNvSpPr/>
          <p:nvPr/>
        </p:nvSpPr>
        <p:spPr>
          <a:xfrm>
            <a:off x="951611" y="3401949"/>
            <a:ext cx="1866011" cy="577469"/>
          </a:xfrm>
          <a:prstGeom prst="rect">
            <a:avLst/>
          </a:prstGeom>
          <a:solidFill>
            <a:srgbClr val="FFFFFF"/>
          </a:solidFill>
          <a:ln w="12700">
            <a:solidFill>
              <a:srgbClr val="304B73"/>
            </a:solidFill>
            <a:prstDash val="solid"/>
          </a:ln>
        </p:spPr>
      </p:sp>
      <p:sp>
        <p:nvSpPr>
          <p:cNvPr id="13" name="Text 9"/>
          <p:cNvSpPr/>
          <p:nvPr/>
        </p:nvSpPr>
        <p:spPr>
          <a:xfrm>
            <a:off x="951611" y="3401949"/>
            <a:ext cx="1866011" cy="577469"/>
          </a:xfrm>
          <a:prstGeom prst="rect">
            <a:avLst/>
          </a:prstGeom>
          <a:noFill/>
          <a:ln/>
        </p:spPr>
        <p:txBody>
          <a:bodyPr wrap="square" lIns="0" tIns="0" rIns="0" bIns="0" rtlCol="0" anchor="ctr"/>
          <a:lstStyle/>
          <a:p>
            <a:pPr algn="ctr">
              <a:lnSpc>
                <a:spcPct val="120000"/>
              </a:lnSpc>
            </a:pPr>
            <a:r>
              <a:rPr lang="en-US" sz="2400" dirty="0">
                <a:solidFill>
                  <a:srgbClr val="04579A"/>
                </a:solidFill>
                <a:latin typeface="Arial" pitchFamily="34" charset="0"/>
                <a:ea typeface="Arial" pitchFamily="34" charset="-122"/>
                <a:cs typeface="Arial" pitchFamily="34" charset="-120"/>
              </a:rPr>
              <a:t>最长链证明</a:t>
            </a:r>
            <a:endParaRPr lang="en-US" sz="2400" dirty="0"/>
          </a:p>
        </p:txBody>
      </p:sp>
      <p:sp>
        <p:nvSpPr>
          <p:cNvPr id="14" name="Shape 10"/>
          <p:cNvSpPr/>
          <p:nvPr/>
        </p:nvSpPr>
        <p:spPr>
          <a:xfrm>
            <a:off x="951611" y="4148709"/>
            <a:ext cx="1866011" cy="762127"/>
          </a:xfrm>
          <a:prstGeom prst="rect">
            <a:avLst/>
          </a:prstGeom>
          <a:solidFill>
            <a:srgbClr val="FFFFFF"/>
          </a:solidFill>
          <a:ln w="12700">
            <a:solidFill>
              <a:srgbClr val="304B73"/>
            </a:solidFill>
            <a:prstDash val="solid"/>
          </a:ln>
        </p:spPr>
      </p:sp>
      <p:sp>
        <p:nvSpPr>
          <p:cNvPr id="15" name="Text 11"/>
          <p:cNvSpPr/>
          <p:nvPr/>
        </p:nvSpPr>
        <p:spPr>
          <a:xfrm>
            <a:off x="951611" y="4148709"/>
            <a:ext cx="1866011" cy="762127"/>
          </a:xfrm>
          <a:prstGeom prst="rect">
            <a:avLst/>
          </a:prstGeom>
          <a:noFill/>
          <a:ln/>
        </p:spPr>
        <p:txBody>
          <a:bodyPr wrap="square" lIns="0" tIns="0" rIns="0" bIns="0" rtlCol="0" anchor="ctr"/>
          <a:lstStyle/>
          <a:p>
            <a:pPr algn="ctr">
              <a:lnSpc>
                <a:spcPct val="120000"/>
              </a:lnSpc>
            </a:pPr>
            <a:r>
              <a:rPr lang="en-US" sz="2400" dirty="0">
                <a:solidFill>
                  <a:srgbClr val="04579A"/>
                </a:solidFill>
                <a:latin typeface="Arial" pitchFamily="34" charset="0"/>
                <a:ea typeface="Arial" pitchFamily="34" charset="-122"/>
                <a:cs typeface="Arial" pitchFamily="34" charset="-120"/>
              </a:rPr>
              <a:t>有效区块</a:t>
            </a:r>
            <a:endParaRPr lang="en-US" sz="2400" dirty="0"/>
          </a:p>
          <a:p>
            <a:pPr algn="ctr">
              <a:lnSpc>
                <a:spcPct val="120000"/>
              </a:lnSpc>
            </a:pPr>
            <a:r>
              <a:rPr lang="en-US" sz="2400" dirty="0">
                <a:solidFill>
                  <a:srgbClr val="04579A"/>
                </a:solidFill>
                <a:latin typeface="Arial" pitchFamily="34" charset="0"/>
                <a:ea typeface="Arial" pitchFamily="34" charset="-122"/>
                <a:cs typeface="Arial" pitchFamily="34" charset="-120"/>
              </a:rPr>
              <a:t>证明</a:t>
            </a:r>
            <a:endParaRPr lang="en-US" sz="2400" dirty="0"/>
          </a:p>
        </p:txBody>
      </p:sp>
      <p:sp>
        <p:nvSpPr>
          <p:cNvPr id="16" name="Shape 12"/>
          <p:cNvSpPr/>
          <p:nvPr/>
        </p:nvSpPr>
        <p:spPr>
          <a:xfrm>
            <a:off x="951611" y="6067679"/>
            <a:ext cx="1866011" cy="762127"/>
          </a:xfrm>
          <a:prstGeom prst="rect">
            <a:avLst/>
          </a:prstGeom>
          <a:solidFill>
            <a:srgbClr val="FFFFFF"/>
          </a:solidFill>
          <a:ln w="12700">
            <a:solidFill>
              <a:srgbClr val="304B73"/>
            </a:solidFill>
            <a:prstDash val="solid"/>
          </a:ln>
        </p:spPr>
      </p:sp>
      <p:sp>
        <p:nvSpPr>
          <p:cNvPr id="17" name="Text 13"/>
          <p:cNvSpPr/>
          <p:nvPr/>
        </p:nvSpPr>
        <p:spPr>
          <a:xfrm>
            <a:off x="951611" y="6067679"/>
            <a:ext cx="1866011" cy="762127"/>
          </a:xfrm>
          <a:prstGeom prst="rect">
            <a:avLst/>
          </a:prstGeom>
          <a:noFill/>
          <a:ln/>
        </p:spPr>
        <p:txBody>
          <a:bodyPr wrap="square" lIns="0" tIns="0" rIns="0" bIns="0" rtlCol="0" anchor="ctr"/>
          <a:lstStyle/>
          <a:p>
            <a:pPr algn="ctr">
              <a:lnSpc>
                <a:spcPct val="120000"/>
              </a:lnSpc>
            </a:pPr>
            <a:r>
              <a:rPr lang="en-US" sz="2400" dirty="0">
                <a:solidFill>
                  <a:srgbClr val="04579A"/>
                </a:solidFill>
                <a:latin typeface="Arial" pitchFamily="34" charset="0"/>
                <a:ea typeface="Arial" pitchFamily="34" charset="-122"/>
                <a:cs typeface="Arial" pitchFamily="34" charset="-120"/>
              </a:rPr>
              <a:t>交易内数据</a:t>
            </a:r>
            <a:endParaRPr lang="en-US" sz="2400" dirty="0"/>
          </a:p>
          <a:p>
            <a:pPr algn="ctr">
              <a:lnSpc>
                <a:spcPct val="120000"/>
              </a:lnSpc>
            </a:pPr>
            <a:r>
              <a:rPr lang="en-US" sz="2400" dirty="0">
                <a:solidFill>
                  <a:srgbClr val="04579A"/>
                </a:solidFill>
                <a:latin typeface="Arial" pitchFamily="34" charset="0"/>
                <a:ea typeface="Arial" pitchFamily="34" charset="-122"/>
                <a:cs typeface="Arial" pitchFamily="34" charset="-120"/>
              </a:rPr>
              <a:t>正确性证明</a:t>
            </a:r>
            <a:endParaRPr lang="en-US" sz="2400" dirty="0"/>
          </a:p>
        </p:txBody>
      </p:sp>
      <p:sp>
        <p:nvSpPr>
          <p:cNvPr id="18" name="Shape 14"/>
          <p:cNvSpPr/>
          <p:nvPr/>
        </p:nvSpPr>
        <p:spPr>
          <a:xfrm>
            <a:off x="3035300" y="3401949"/>
            <a:ext cx="1866900" cy="3427857"/>
          </a:xfrm>
          <a:prstGeom prst="rect">
            <a:avLst/>
          </a:prstGeom>
          <a:solidFill>
            <a:srgbClr val="04579A"/>
          </a:solidFill>
          <a:ln/>
        </p:spPr>
      </p:sp>
      <p:sp>
        <p:nvSpPr>
          <p:cNvPr id="19" name="Text 15"/>
          <p:cNvSpPr/>
          <p:nvPr/>
        </p:nvSpPr>
        <p:spPr>
          <a:xfrm>
            <a:off x="3035300" y="3401949"/>
            <a:ext cx="1866900" cy="3427857"/>
          </a:xfrm>
          <a:prstGeom prst="rect">
            <a:avLst/>
          </a:prstGeom>
          <a:noFill/>
          <a:ln/>
        </p:spPr>
        <p:txBody>
          <a:bodyPr wrap="square" lIns="0" tIns="0" rIns="0" bIns="0" rtlCol="0" anchor="ctr"/>
          <a:lstStyle/>
          <a:p>
            <a:pPr algn="ctr">
              <a:lnSpc>
                <a:spcPct val="120000"/>
              </a:lnSpc>
            </a:pPr>
            <a:r>
              <a:rPr lang="en-US" sz="2670" b="1" dirty="0">
                <a:solidFill>
                  <a:srgbClr val="FFFFFF"/>
                </a:solidFill>
                <a:latin typeface="Arial" pitchFamily="34" charset="0"/>
                <a:ea typeface="Arial" pitchFamily="34" charset="-122"/>
                <a:cs typeface="Arial" pitchFamily="34" charset="-120"/>
              </a:rPr>
              <a:t>跨链证明</a:t>
            </a:r>
            <a:endParaRPr lang="en-US" sz="2670" dirty="0"/>
          </a:p>
        </p:txBody>
      </p:sp>
      <p:sp>
        <p:nvSpPr>
          <p:cNvPr id="20" name="Text 16"/>
          <p:cNvSpPr/>
          <p:nvPr/>
        </p:nvSpPr>
        <p:spPr>
          <a:xfrm>
            <a:off x="5616067" y="3220212"/>
            <a:ext cx="9890760" cy="4337050"/>
          </a:xfrm>
          <a:prstGeom prst="rect">
            <a:avLst/>
          </a:prstGeom>
          <a:noFill/>
          <a:ln/>
        </p:spPr>
        <p:txBody>
          <a:bodyPr wrap="square" lIns="0" tIns="0" rIns="0" bIns="0" rtlCol="0" anchor="t"/>
          <a:lstStyle/>
          <a:p>
            <a:pPr algn="l" marL="508000" indent="-508000">
              <a:lnSpc>
                <a:spcPct val="120000"/>
              </a:lnSpc>
              <a:spcBef>
                <a:spcPts val="10"/>
              </a:spcBef>
              <a:buSzPct val="100000"/>
              <a:buChar char="•"/>
            </a:pPr>
            <a:r>
              <a:rPr lang="en-US" sz="3200" b="1" dirty="0">
                <a:solidFill>
                  <a:srgbClr val="000000"/>
                </a:solidFill>
                <a:latin typeface="Arial" pitchFamily="34" charset="0"/>
                <a:ea typeface="Arial" pitchFamily="34" charset="-122"/>
                <a:cs typeface="Arial" pitchFamily="34" charset="-120"/>
              </a:rPr>
              <a:t>基于</a:t>
            </a:r>
            <a:pPr algn="l">
              <a:lnSpc>
                <a:spcPct val="120000"/>
              </a:lnSpc>
              <a:spcBef>
                <a:spcPts val="10"/>
              </a:spcBef>
            </a:pPr>
            <a:r>
              <a:rPr lang="en-US" sz="3200" b="1" dirty="0">
                <a:solidFill>
                  <a:srgbClr val="000000"/>
                </a:solidFill>
                <a:latin typeface="Arial" pitchFamily="34" charset="0"/>
                <a:ea typeface="Arial" pitchFamily="34" charset="-122"/>
                <a:cs typeface="Arial" pitchFamily="34" charset="-120"/>
              </a:rPr>
              <a:t>SPV</a:t>
            </a:r>
            <a:pPr algn="l">
              <a:lnSpc>
                <a:spcPct val="120000"/>
              </a:lnSpc>
              <a:spcBef>
                <a:spcPts val="10"/>
              </a:spcBef>
            </a:pPr>
            <a:r>
              <a:rPr lang="en-US" sz="3200" b="1" dirty="0">
                <a:solidFill>
                  <a:srgbClr val="000000"/>
                </a:solidFill>
                <a:latin typeface="Arial" pitchFamily="34" charset="0"/>
                <a:ea typeface="Arial" pitchFamily="34" charset="-122"/>
                <a:cs typeface="Arial" pitchFamily="34" charset="-120"/>
              </a:rPr>
              <a:t>和轻客户端</a:t>
            </a:r>
            <a:endParaRPr lang="en-US" sz="3200" dirty="0"/>
          </a:p>
          <a:p>
            <a:pPr algn="l">
              <a:lnSpc>
                <a:spcPct val="120000"/>
              </a:lnSpc>
            </a:pPr>
            <a:r>
              <a:rPr lang="en-US" sz="3200" dirty="0">
                <a:solidFill>
                  <a:srgbClr val="000000"/>
                </a:solidFill>
                <a:latin typeface="MiSans" pitchFamily="34" charset="0"/>
                <a:ea typeface="MiSans" pitchFamily="34" charset="-122"/>
                <a:cs typeface="MiSans" pitchFamily="34" charset="-120"/>
              </a:rPr>
              <a:t>轻客户端在链上仅存储和验证区块头，跨链验证时：</a:t>
            </a:r>
            <a:endParaRPr lang="en-US" sz="3200" dirty="0"/>
          </a:p>
          <a:p>
            <a:pPr algn="l" marL="508000" indent="-508000">
              <a:lnSpc>
                <a:spcPct val="120000"/>
              </a:lnSpc>
              <a:spcBef>
                <a:spcPts val="10"/>
              </a:spcBef>
              <a:buSzPct val="100000"/>
              <a:buChar char="•"/>
            </a:pPr>
            <a:r>
              <a:rPr lang="en-US" sz="3200" dirty="0">
                <a:solidFill>
                  <a:srgbClr val="000000"/>
                </a:solidFill>
                <a:latin typeface="MiSans" pitchFamily="34" charset="0"/>
                <a:ea typeface="MiSans" pitchFamily="34" charset="-122"/>
                <a:cs typeface="MiSans" pitchFamily="34" charset="-120"/>
              </a:rPr>
              <a:t>基于</a:t>
            </a:r>
            <a:pPr algn="l">
              <a:lnSpc>
                <a:spcPct val="120000"/>
              </a:lnSpc>
              <a:spcBef>
                <a:spcPts val="10"/>
              </a:spcBef>
            </a:pPr>
            <a:r>
              <a:rPr lang="en-US" sz="3200" dirty="0">
                <a:solidFill>
                  <a:srgbClr val="000000"/>
                </a:solidFill>
                <a:latin typeface="MiSans" pitchFamily="34" charset="0"/>
                <a:ea typeface="MiSans" pitchFamily="34" charset="-122"/>
                <a:cs typeface="MiSans" pitchFamily="34" charset="-120"/>
              </a:rPr>
              <a:t>PoW</a:t>
            </a:r>
            <a:pPr algn="l">
              <a:lnSpc>
                <a:spcPct val="120000"/>
              </a:lnSpc>
              <a:spcBef>
                <a:spcPts val="10"/>
              </a:spcBef>
            </a:pPr>
            <a:r>
              <a:rPr lang="en-US" sz="3200" dirty="0">
                <a:solidFill>
                  <a:srgbClr val="000000"/>
                </a:solidFill>
                <a:latin typeface="MiSans" pitchFamily="34" charset="0"/>
                <a:ea typeface="MiSans" pitchFamily="34" charset="-122"/>
                <a:cs typeface="MiSans" pitchFamily="34" charset="-120"/>
              </a:rPr>
              <a:t>机制的最长链证明（和链长线性相关）</a:t>
            </a:r>
            <a:endParaRPr lang="en-US" sz="3200" dirty="0"/>
          </a:p>
          <a:p>
            <a:pPr algn="l" marL="508000" indent="-508000">
              <a:lnSpc>
                <a:spcPct val="120000"/>
              </a:lnSpc>
              <a:spcBef>
                <a:spcPts val="10"/>
              </a:spcBef>
              <a:buSzPct val="100000"/>
              <a:buChar char="•"/>
            </a:pPr>
            <a:r>
              <a:rPr lang="en-US" sz="3200" dirty="0">
                <a:solidFill>
                  <a:srgbClr val="000000"/>
                </a:solidFill>
                <a:latin typeface="MiSans" pitchFamily="34" charset="0"/>
                <a:ea typeface="MiSans" pitchFamily="34" charset="-122"/>
                <a:cs typeface="MiSans" pitchFamily="34" charset="-120"/>
              </a:rPr>
              <a:t>交易所在区块的</a:t>
            </a:r>
            <a:pPr algn="l">
              <a:lnSpc>
                <a:spcPct val="120000"/>
              </a:lnSpc>
              <a:spcBef>
                <a:spcPts val="10"/>
              </a:spcBef>
            </a:pPr>
            <a:r>
              <a:rPr lang="en-US" sz="3200" dirty="0">
                <a:solidFill>
                  <a:srgbClr val="000000"/>
                </a:solidFill>
                <a:latin typeface="MiSans" pitchFamily="34" charset="0"/>
                <a:ea typeface="MiSans" pitchFamily="34" charset="-122"/>
                <a:cs typeface="MiSans" pitchFamily="34" charset="-120"/>
              </a:rPr>
              <a:t>Merkle Tree</a:t>
            </a:r>
            <a:pPr algn="l">
              <a:lnSpc>
                <a:spcPct val="120000"/>
              </a:lnSpc>
              <a:spcBef>
                <a:spcPts val="10"/>
              </a:spcBef>
            </a:pPr>
            <a:r>
              <a:rPr lang="en-US" sz="3200" dirty="0">
                <a:solidFill>
                  <a:srgbClr val="000000"/>
                </a:solidFill>
                <a:latin typeface="MiSans" pitchFamily="34" charset="0"/>
                <a:ea typeface="MiSans" pitchFamily="34" charset="-122"/>
                <a:cs typeface="MiSans" pitchFamily="34" charset="-120"/>
              </a:rPr>
              <a:t>证明</a:t>
            </a:r>
            <a:endParaRPr lang="en-US" sz="3200" dirty="0"/>
          </a:p>
          <a:p>
            <a:pPr algn="l">
              <a:lnSpc>
                <a:spcPct val="120000"/>
              </a:lnSpc>
              <a:spcBef>
                <a:spcPts val="800"/>
              </a:spcBef>
            </a:pPr>
            <a:r>
              <a:rPr lang="en-US" sz="3200" dirty="0">
                <a:solidFill>
                  <a:srgbClr val="000000"/>
                </a:solidFill>
                <a:latin typeface="Arial" pitchFamily="34" charset="0"/>
                <a:ea typeface="Arial" pitchFamily="34" charset="-122"/>
                <a:cs typeface="Arial" pitchFamily="34" charset="-120"/>
              </a:rPr>
              <a:t> </a:t>
            </a:r>
            <a:endParaRPr lang="en-US" sz="3200" dirty="0"/>
          </a:p>
          <a:p>
            <a:pPr algn="l" marL="508000" indent="-508000">
              <a:lnSpc>
                <a:spcPct val="120000"/>
              </a:lnSpc>
              <a:spcBef>
                <a:spcPts val="10"/>
              </a:spcBef>
              <a:buSzPct val="100000"/>
              <a:buChar char="•"/>
            </a:pPr>
            <a:r>
              <a:rPr lang="en-US" sz="3200" b="1" dirty="0">
                <a:solidFill>
                  <a:srgbClr val="000000"/>
                </a:solidFill>
                <a:latin typeface="MiSans" pitchFamily="34" charset="0"/>
                <a:ea typeface="MiSans" pitchFamily="34" charset="-122"/>
                <a:cs typeface="MiSans" pitchFamily="34" charset="-120"/>
              </a:rPr>
              <a:t>基于零知识证明</a:t>
            </a:r>
            <a:endParaRPr lang="en-US" sz="3200" dirty="0"/>
          </a:p>
          <a:p>
            <a:pPr algn="l">
              <a:lnSpc>
                <a:spcPct val="120000"/>
              </a:lnSpc>
            </a:pPr>
            <a:r>
              <a:rPr lang="en-US" sz="3200" dirty="0">
                <a:solidFill>
                  <a:srgbClr val="000000"/>
                </a:solidFill>
                <a:latin typeface="MiSans" pitchFamily="34" charset="0"/>
                <a:ea typeface="MiSans" pitchFamily="34" charset="-122"/>
                <a:cs typeface="MiSans" pitchFamily="34" charset="-120"/>
              </a:rPr>
              <a:t>       </a:t>
            </a:r>
            <a:pPr algn="l">
              <a:lnSpc>
                <a:spcPct val="120000"/>
              </a:lnSpc>
            </a:pPr>
            <a:r>
              <a:rPr lang="en-US" sz="3200" dirty="0">
                <a:solidFill>
                  <a:srgbClr val="000000"/>
                </a:solidFill>
                <a:latin typeface="MiSans" pitchFamily="34" charset="0"/>
                <a:ea typeface="MiSans" pitchFamily="34" charset="-122"/>
                <a:cs typeface="MiSans" pitchFamily="34" charset="-120"/>
              </a:rPr>
              <a:t>针对特定区块链结构设计零知识证明方案，跨链验证时：</a:t>
            </a:r>
            <a:endParaRPr lang="en-US" sz="3200" dirty="0"/>
          </a:p>
          <a:p>
            <a:pPr algn="l">
              <a:lnSpc>
                <a:spcPct val="120000"/>
              </a:lnSpc>
            </a:pPr>
            <a:r>
              <a:rPr lang="en-US" sz="3200" dirty="0">
                <a:solidFill>
                  <a:srgbClr val="000000"/>
                </a:solidFill>
                <a:latin typeface="MiSans" pitchFamily="34" charset="0"/>
                <a:ea typeface="MiSans" pitchFamily="34" charset="-122"/>
                <a:cs typeface="MiSans" pitchFamily="34" charset="-120"/>
              </a:rPr>
              <a:t>       </a:t>
            </a:r>
            <a:pPr algn="l">
              <a:lnSpc>
                <a:spcPct val="120000"/>
              </a:lnSpc>
            </a:pPr>
            <a:r>
              <a:rPr lang="en-US" sz="3200" dirty="0">
                <a:solidFill>
                  <a:srgbClr val="000000"/>
                </a:solidFill>
                <a:latin typeface="MiSans" pitchFamily="34" charset="0"/>
                <a:ea typeface="MiSans" pitchFamily="34" charset="-122"/>
                <a:cs typeface="MiSans" pitchFamily="34" charset="-120"/>
              </a:rPr>
              <a:t>在链下计算得到零知识证明</a:t>
            </a:r>
            <a:endParaRPr lang="en-US" sz="3200" dirty="0"/>
          </a:p>
        </p:txBody>
      </p:sp>
      <p:sp>
        <p:nvSpPr>
          <p:cNvPr id="21" name="Shape 17"/>
          <p:cNvSpPr/>
          <p:nvPr/>
        </p:nvSpPr>
        <p:spPr>
          <a:xfrm>
            <a:off x="951611" y="5122545"/>
            <a:ext cx="1866011" cy="762127"/>
          </a:xfrm>
          <a:prstGeom prst="rect">
            <a:avLst/>
          </a:prstGeom>
          <a:solidFill>
            <a:srgbClr val="FFFFFF"/>
          </a:solidFill>
          <a:ln w="12700">
            <a:solidFill>
              <a:srgbClr val="304B73"/>
            </a:solidFill>
            <a:prstDash val="solid"/>
          </a:ln>
        </p:spPr>
      </p:sp>
      <p:sp>
        <p:nvSpPr>
          <p:cNvPr id="22" name="Text 18"/>
          <p:cNvSpPr/>
          <p:nvPr/>
        </p:nvSpPr>
        <p:spPr>
          <a:xfrm>
            <a:off x="951611" y="5122545"/>
            <a:ext cx="1866011" cy="762127"/>
          </a:xfrm>
          <a:prstGeom prst="rect">
            <a:avLst/>
          </a:prstGeom>
          <a:noFill/>
          <a:ln/>
        </p:spPr>
        <p:txBody>
          <a:bodyPr wrap="square" lIns="0" tIns="0" rIns="0" bIns="0" rtlCol="0" anchor="ctr"/>
          <a:lstStyle/>
          <a:p>
            <a:pPr algn="ctr">
              <a:lnSpc>
                <a:spcPct val="120000"/>
              </a:lnSpc>
            </a:pPr>
            <a:r>
              <a:rPr lang="en-US" sz="2400" dirty="0">
                <a:solidFill>
                  <a:srgbClr val="04579A"/>
                </a:solidFill>
                <a:latin typeface="Arial" pitchFamily="34" charset="0"/>
                <a:ea typeface="Arial" pitchFamily="34" charset="-122"/>
                <a:cs typeface="Arial" pitchFamily="34" charset="-120"/>
              </a:rPr>
              <a:t>交易有效性证明</a:t>
            </a:r>
            <a:endParaRPr lang="en-US" sz="2400" dirty="0"/>
          </a:p>
        </p:txBody>
      </p:sp>
      <p:sp>
        <p:nvSpPr>
          <p:cNvPr id="23" name="Text 19"/>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20</a:t>
            </a:r>
            <a:endParaRPr lang="en-US" sz="2400" dirty="0"/>
          </a:p>
        </p:txBody>
      </p:sp>
    </p:spTree>
  </p:cSld>
  <p:clrMapOvr>
    <a:masterClrMapping/>
  </p:clrMapOvr>
  <p:transition>
    <p:fade/>
    <p:spd val="med"/>
  </p:transition>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7919720" y="2530729"/>
            <a:ext cx="1878711"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基于零知识</a:t>
            </a:r>
            <a:endParaRPr lang="en-US" sz="2400" dirty="0"/>
          </a:p>
        </p:txBody>
      </p:sp>
      <p:sp>
        <p:nvSpPr>
          <p:cNvPr id="4" name="Text 1"/>
          <p:cNvSpPr/>
          <p:nvPr/>
        </p:nvSpPr>
        <p:spPr>
          <a:xfrm>
            <a:off x="6041009" y="2523109"/>
            <a:ext cx="1878711" cy="491109"/>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基于SPV</a:t>
            </a:r>
            <a:endParaRPr lang="en-US" sz="2400" dirty="0"/>
          </a:p>
        </p:txBody>
      </p:sp>
      <p:sp>
        <p:nvSpPr>
          <p:cNvPr id="5" name="Shape 2"/>
          <p:cNvSpPr/>
          <p:nvPr/>
        </p:nvSpPr>
        <p:spPr>
          <a:xfrm>
            <a:off x="5162169" y="-889"/>
            <a:ext cx="2654300" cy="962660"/>
          </a:xfrm>
          <a:prstGeom prst="rect">
            <a:avLst/>
          </a:prstGeom>
          <a:solidFill>
            <a:srgbClr val="F2F2F2"/>
          </a:solidFill>
          <a:ln w="12700">
            <a:solidFill>
              <a:srgbClr val="F2F2F2"/>
            </a:solidFill>
            <a:prstDash val="solid"/>
          </a:ln>
        </p:spPr>
      </p:sp>
      <p:sp>
        <p:nvSpPr>
          <p:cNvPr id="6" name="Shape 3"/>
          <p:cNvSpPr/>
          <p:nvPr/>
        </p:nvSpPr>
        <p:spPr>
          <a:xfrm>
            <a:off x="5162169" y="-889"/>
            <a:ext cx="2654300" cy="962660"/>
          </a:xfrm>
          <a:prstGeom prst="rect">
            <a:avLst/>
          </a:prstGeom>
          <a:solidFill>
            <a:srgbClr val="04579A"/>
          </a:solidFill>
          <a:ln w="12700">
            <a:solidFill>
              <a:srgbClr val="04579A"/>
            </a:solidFill>
            <a:prstDash val="solid"/>
          </a:ln>
        </p:spPr>
      </p:sp>
      <p:sp>
        <p:nvSpPr>
          <p:cNvPr id="7" name="Shape 4"/>
          <p:cNvSpPr/>
          <p:nvPr/>
        </p:nvSpPr>
        <p:spPr>
          <a:xfrm>
            <a:off x="7816469" y="-889"/>
            <a:ext cx="4154551" cy="962660"/>
          </a:xfrm>
          <a:prstGeom prst="rect">
            <a:avLst/>
          </a:prstGeom>
          <a:solidFill>
            <a:srgbClr val="F2F2F2"/>
          </a:solidFill>
          <a:ln/>
        </p:spPr>
      </p:sp>
      <p:sp>
        <p:nvSpPr>
          <p:cNvPr id="8" name="Shape 5"/>
          <p:cNvSpPr/>
          <p:nvPr/>
        </p:nvSpPr>
        <p:spPr>
          <a:xfrm>
            <a:off x="11971020" y="0"/>
            <a:ext cx="4284980" cy="961771"/>
          </a:xfrm>
          <a:prstGeom prst="rect">
            <a:avLst/>
          </a:prstGeom>
          <a:solidFill>
            <a:srgbClr val="F2F2F2"/>
          </a:solidFill>
          <a:ln/>
        </p:spPr>
      </p:sp>
      <p:sp>
        <p:nvSpPr>
          <p:cNvPr id="9" name="Shape 6"/>
          <p:cNvSpPr/>
          <p:nvPr/>
        </p:nvSpPr>
        <p:spPr>
          <a:xfrm>
            <a:off x="2219960" y="-889"/>
            <a:ext cx="2942209" cy="962660"/>
          </a:xfrm>
          <a:prstGeom prst="rect">
            <a:avLst/>
          </a:prstGeom>
          <a:solidFill>
            <a:srgbClr val="F2F2F2"/>
          </a:solidFill>
          <a:ln w="12700">
            <a:solidFill>
              <a:srgbClr val="F2F2F2"/>
            </a:solidFill>
            <a:prstDash val="solid"/>
          </a:ln>
        </p:spPr>
      </p:sp>
      <p:sp>
        <p:nvSpPr>
          <p:cNvPr id="10" name="Text 7"/>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选题背景及意义       </a:t>
            </a:r>
            <a:pPr algn="l">
              <a:lnSpc>
                <a:spcPct val="120000"/>
              </a:lnSpc>
            </a:pPr>
            <a:r>
              <a:rPr lang="en-US" sz="2400" dirty="0">
                <a:solidFill>
                  <a:srgbClr val="FFFFFF"/>
                </a:solidFill>
                <a:latin typeface="Arial" pitchFamily="34" charset="0"/>
                <a:ea typeface="Arial" pitchFamily="34" charset="-122"/>
                <a:cs typeface="Arial" pitchFamily="34" charset="-120"/>
              </a:rPr>
              <a:t>国内外研究现状</a:t>
            </a:r>
            <a:pPr algn="l">
              <a:lnSpc>
                <a:spcPct val="120000"/>
              </a:lnSpc>
            </a:pPr>
            <a:r>
              <a:rPr lang="en-US" sz="2400" dirty="0">
                <a:solidFill>
                  <a:srgbClr val="000000"/>
                </a:solidFill>
                <a:latin typeface="Arial" pitchFamily="34" charset="0"/>
                <a:ea typeface="Arial" pitchFamily="34" charset="-122"/>
                <a:cs typeface="Arial" pitchFamily="34" charset="-120"/>
              </a:rPr>
              <a:t>       主要研究内容及预期目标             工作计划与进度安排</a:t>
            </a:r>
            <a:endParaRPr lang="en-US" sz="2400" dirty="0"/>
          </a:p>
        </p:txBody>
      </p:sp>
      <p:pic>
        <p:nvPicPr>
          <p:cNvPr id="11"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2" name="Shape 8"/>
          <p:cNvSpPr/>
          <p:nvPr/>
        </p:nvSpPr>
        <p:spPr>
          <a:xfrm rot="10800000">
            <a:off x="6121400" y="961771"/>
            <a:ext cx="389509" cy="304800"/>
          </a:xfrm>
          <a:prstGeom prst="triangle">
            <a:avLst>
              <a:gd name="adj" fmla="val 50000"/>
            </a:avLst>
          </a:prstGeom>
          <a:solidFill>
            <a:srgbClr val="04579A"/>
          </a:solidFill>
          <a:ln/>
        </p:spPr>
      </p:sp>
      <p:sp>
        <p:nvSpPr>
          <p:cNvPr id="13" name="Shape 9"/>
          <p:cNvSpPr/>
          <p:nvPr/>
        </p:nvSpPr>
        <p:spPr>
          <a:xfrm>
            <a:off x="7919720" y="2112391"/>
            <a:ext cx="0" cy="6022340"/>
          </a:xfrm>
          <a:prstGeom prst="line">
            <a:avLst/>
          </a:prstGeom>
          <a:noFill/>
          <a:ln w="63500">
            <a:solidFill>
              <a:srgbClr val="7F7F7F"/>
            </a:solidFill>
            <a:prstDash val="solid"/>
            <a:headEnd type="none"/>
            <a:tailEnd type="none"/>
          </a:ln>
        </p:spPr>
      </p:sp>
      <p:sp>
        <p:nvSpPr>
          <p:cNvPr id="14" name="Text 10"/>
          <p:cNvSpPr/>
          <p:nvPr/>
        </p:nvSpPr>
        <p:spPr>
          <a:xfrm>
            <a:off x="1874520" y="3402711"/>
            <a:ext cx="5418709" cy="531749"/>
          </a:xfrm>
          <a:prstGeom prst="rect">
            <a:avLst/>
          </a:prstGeom>
          <a:noFill/>
          <a:ln/>
        </p:spPr>
        <p:txBody>
          <a:bodyPr wrap="square" lIns="0" tIns="0" rIns="0" bIns="0" rtlCol="0" anchor="t"/>
          <a:lstStyle/>
          <a:p>
            <a:pPr algn="l">
              <a:lnSpc>
                <a:spcPct val="120000"/>
              </a:lnSpc>
            </a:pPr>
            <a:r>
              <a:rPr lang="en-US" sz="2670" b="1" dirty="0">
                <a:solidFill>
                  <a:srgbClr val="04579A"/>
                </a:solidFill>
                <a:latin typeface="MiSans" pitchFamily="34" charset="0"/>
                <a:ea typeface="MiSans" pitchFamily="34" charset="-122"/>
                <a:cs typeface="MiSans" pitchFamily="34" charset="-120"/>
              </a:rPr>
              <a:t>Flyclient</a:t>
            </a:r>
            <a:pPr algn="l">
              <a:lnSpc>
                <a:spcPct val="120000"/>
              </a:lnSpc>
            </a:pPr>
            <a:r>
              <a:rPr lang="en-US" sz="2670" b="1" dirty="0">
                <a:solidFill>
                  <a:srgbClr val="04579A"/>
                </a:solidFill>
                <a:latin typeface="MiSans" pitchFamily="34" charset="0"/>
                <a:ea typeface="MiSans" pitchFamily="34" charset="-122"/>
                <a:cs typeface="MiSans" pitchFamily="34" charset="-120"/>
              </a:rPr>
              <a:t> SP</a:t>
            </a:r>
            <a:pPr algn="l">
              <a:lnSpc>
                <a:spcPct val="120000"/>
              </a:lnSpc>
            </a:pPr>
            <a:r>
              <a:rPr lang="en-US" sz="2670" b="1" dirty="0">
                <a:solidFill>
                  <a:srgbClr val="04579A"/>
                </a:solidFill>
                <a:latin typeface="MiSans" pitchFamily="34" charset="0"/>
                <a:ea typeface="MiSans" pitchFamily="34" charset="-122"/>
                <a:cs typeface="MiSans" pitchFamily="34" charset="-120"/>
              </a:rPr>
              <a:t>'</a:t>
            </a:r>
            <a:pPr algn="l">
              <a:lnSpc>
                <a:spcPct val="120000"/>
              </a:lnSpc>
            </a:pPr>
            <a:r>
              <a:rPr lang="en-US" sz="2670" b="1" dirty="0">
                <a:solidFill>
                  <a:srgbClr val="04579A"/>
                </a:solidFill>
                <a:latin typeface="MiSans" pitchFamily="34" charset="0"/>
                <a:ea typeface="MiSans" pitchFamily="34" charset="-122"/>
                <a:cs typeface="MiSans" pitchFamily="34" charset="-120"/>
              </a:rPr>
              <a:t>20</a:t>
            </a:r>
            <a:endParaRPr lang="en-US" sz="2670" dirty="0"/>
          </a:p>
        </p:txBody>
      </p:sp>
      <p:sp>
        <p:nvSpPr>
          <p:cNvPr id="15" name="Text 11"/>
          <p:cNvSpPr/>
          <p:nvPr/>
        </p:nvSpPr>
        <p:spPr>
          <a:xfrm>
            <a:off x="11231880" y="4753229"/>
            <a:ext cx="3610229" cy="531749"/>
          </a:xfrm>
          <a:prstGeom prst="rect">
            <a:avLst/>
          </a:prstGeom>
          <a:noFill/>
          <a:ln/>
        </p:spPr>
        <p:txBody>
          <a:bodyPr wrap="square" lIns="0" tIns="0" rIns="0" bIns="0" rtlCol="0" anchor="t"/>
          <a:lstStyle/>
          <a:p>
            <a:pPr algn="l">
              <a:lnSpc>
                <a:spcPct val="120000"/>
              </a:lnSpc>
            </a:pPr>
            <a:r>
              <a:rPr lang="en-US" sz="2670" b="1" dirty="0">
                <a:solidFill>
                  <a:srgbClr val="33A470"/>
                </a:solidFill>
                <a:latin typeface="MiSans" pitchFamily="34" charset="0"/>
                <a:ea typeface="MiSans" pitchFamily="34" charset="-122"/>
                <a:cs typeface="MiSans" pitchFamily="34" charset="-120"/>
              </a:rPr>
              <a:t>Zk</a:t>
            </a:r>
            <a:pPr algn="l">
              <a:lnSpc>
                <a:spcPct val="120000"/>
              </a:lnSpc>
            </a:pPr>
            <a:r>
              <a:rPr lang="en-US" sz="2670" b="1" dirty="0">
                <a:solidFill>
                  <a:srgbClr val="33A470"/>
                </a:solidFill>
                <a:latin typeface="MiSans" pitchFamily="34" charset="0"/>
                <a:ea typeface="MiSans" pitchFamily="34" charset="-122"/>
                <a:cs typeface="MiSans" pitchFamily="34" charset="-120"/>
              </a:rPr>
              <a:t>-bridge CCS</a:t>
            </a:r>
            <a:pPr algn="l">
              <a:lnSpc>
                <a:spcPct val="120000"/>
              </a:lnSpc>
            </a:pPr>
            <a:r>
              <a:rPr lang="en-US" sz="2670" b="1" dirty="0">
                <a:solidFill>
                  <a:srgbClr val="33A470"/>
                </a:solidFill>
                <a:latin typeface="MiSans" pitchFamily="34" charset="0"/>
                <a:ea typeface="MiSans" pitchFamily="34" charset="-122"/>
                <a:cs typeface="MiSans" pitchFamily="34" charset="-120"/>
              </a:rPr>
              <a:t>'</a:t>
            </a:r>
            <a:pPr algn="l">
              <a:lnSpc>
                <a:spcPct val="120000"/>
              </a:lnSpc>
            </a:pPr>
            <a:r>
              <a:rPr lang="en-US" sz="2670" b="1" dirty="0">
                <a:solidFill>
                  <a:srgbClr val="33A470"/>
                </a:solidFill>
                <a:latin typeface="MiSans" pitchFamily="34" charset="0"/>
                <a:ea typeface="MiSans" pitchFamily="34" charset="-122"/>
                <a:cs typeface="MiSans" pitchFamily="34" charset="-120"/>
              </a:rPr>
              <a:t>22</a:t>
            </a:r>
            <a:endParaRPr lang="en-US" sz="2670" dirty="0"/>
          </a:p>
        </p:txBody>
      </p:sp>
      <p:sp>
        <p:nvSpPr>
          <p:cNvPr id="16" name="Text 12"/>
          <p:cNvSpPr/>
          <p:nvPr/>
        </p:nvSpPr>
        <p:spPr>
          <a:xfrm>
            <a:off x="1477772" y="6184011"/>
            <a:ext cx="5815330" cy="531749"/>
          </a:xfrm>
          <a:prstGeom prst="rect">
            <a:avLst/>
          </a:prstGeom>
          <a:noFill/>
          <a:ln/>
        </p:spPr>
        <p:txBody>
          <a:bodyPr wrap="square" lIns="0" tIns="0" rIns="0" bIns="0" rtlCol="0" anchor="t"/>
          <a:lstStyle/>
          <a:p>
            <a:pPr algn="l">
              <a:lnSpc>
                <a:spcPct val="120000"/>
              </a:lnSpc>
            </a:pPr>
            <a:r>
              <a:rPr lang="en-US" sz="2670" b="1" dirty="0">
                <a:solidFill>
                  <a:srgbClr val="04579A"/>
                </a:solidFill>
                <a:latin typeface="MiSans" pitchFamily="34" charset="0"/>
                <a:ea typeface="MiSans" pitchFamily="34" charset="-122"/>
                <a:cs typeface="MiSans" pitchFamily="34" charset="-120"/>
              </a:rPr>
              <a:t>Glimpse Usenix</a:t>
            </a:r>
            <a:pPr algn="l">
              <a:lnSpc>
                <a:spcPct val="120000"/>
              </a:lnSpc>
            </a:pPr>
            <a:r>
              <a:rPr lang="en-US" sz="2670" b="1" dirty="0">
                <a:solidFill>
                  <a:srgbClr val="04579A"/>
                </a:solidFill>
                <a:latin typeface="MiSans" pitchFamily="34" charset="0"/>
                <a:ea typeface="MiSans" pitchFamily="34" charset="-122"/>
                <a:cs typeface="MiSans" pitchFamily="34" charset="-120"/>
              </a:rPr>
              <a:t>'</a:t>
            </a:r>
            <a:pPr algn="l">
              <a:lnSpc>
                <a:spcPct val="120000"/>
              </a:lnSpc>
            </a:pPr>
            <a:r>
              <a:rPr lang="en-US" sz="2670" b="1" dirty="0">
                <a:solidFill>
                  <a:srgbClr val="04579A"/>
                </a:solidFill>
                <a:latin typeface="MiSans" pitchFamily="34" charset="0"/>
                <a:ea typeface="MiSans" pitchFamily="34" charset="-122"/>
                <a:cs typeface="MiSans" pitchFamily="34" charset="-120"/>
              </a:rPr>
              <a:t>23</a:t>
            </a:r>
            <a:endParaRPr lang="en-US" sz="2670" dirty="0"/>
          </a:p>
        </p:txBody>
      </p:sp>
      <p:sp>
        <p:nvSpPr>
          <p:cNvPr id="17" name="Shape 13"/>
          <p:cNvSpPr/>
          <p:nvPr/>
        </p:nvSpPr>
        <p:spPr>
          <a:xfrm>
            <a:off x="7513320" y="3402711"/>
            <a:ext cx="750189" cy="750189"/>
          </a:xfrm>
          <a:prstGeom prst="ellipse">
            <a:avLst/>
          </a:prstGeom>
          <a:solidFill>
            <a:srgbClr val="FFFFFF"/>
          </a:solidFill>
          <a:ln w="12700">
            <a:solidFill>
              <a:srgbClr val="04579A"/>
            </a:solidFill>
            <a:prstDash val="solid"/>
          </a:ln>
          <a:effectLst>
            <a:outerShdw sx="100000" sy="100000" kx="0" ky="0" algn="bl" rotWithShape="0" blurRad="50800" dist="26924" dir="2700000">
              <a:srgbClr val="000000">
                <a:alpha val="40000"/>
              </a:srgbClr>
            </a:outerShdw>
          </a:effectLst>
        </p:spPr>
      </p:sp>
      <p:sp>
        <p:nvSpPr>
          <p:cNvPr id="18" name="Text 14"/>
          <p:cNvSpPr/>
          <p:nvPr/>
        </p:nvSpPr>
        <p:spPr>
          <a:xfrm>
            <a:off x="7513320" y="3402711"/>
            <a:ext cx="750189" cy="750189"/>
          </a:xfrm>
          <a:prstGeom prst="rect">
            <a:avLst/>
          </a:prstGeom>
          <a:noFill/>
          <a:ln/>
          <a:effectLst>
            <a:outerShdw sx="100000" sy="100000" kx="0" ky="0" algn="bl" rotWithShape="0" blurRad="38100" dist="26924" dir="2700000">
              <a:srgbClr val="000000">
                <a:alpha val="42745"/>
              </a:srgbClr>
            </a:outerShdw>
          </a:effectLst>
        </p:spPr>
        <p:txBody>
          <a:bodyPr wrap="square" lIns="0" tIns="0" rIns="0" bIns="0" rtlCol="0" anchor="ctr"/>
          <a:lstStyle/>
          <a:p>
            <a:pPr algn="ctr">
              <a:lnSpc>
                <a:spcPct val="120000"/>
              </a:lnSpc>
            </a:pPr>
            <a:r>
              <a:rPr lang="en-US" sz="3730" b="1" dirty="0">
                <a:solidFill>
                  <a:srgbClr val="04579A"/>
                </a:solidFill>
                <a:latin typeface="Arial" pitchFamily="34" charset="0"/>
                <a:ea typeface="Arial" pitchFamily="34" charset="-122"/>
                <a:cs typeface="Arial" pitchFamily="34" charset="-120"/>
              </a:rPr>
              <a:t>1</a:t>
            </a:r>
            <a:endParaRPr lang="en-US" sz="3730" dirty="0"/>
          </a:p>
        </p:txBody>
      </p:sp>
      <p:sp>
        <p:nvSpPr>
          <p:cNvPr id="19" name="Shape 15"/>
          <p:cNvSpPr/>
          <p:nvPr/>
        </p:nvSpPr>
        <p:spPr>
          <a:xfrm>
            <a:off x="7513320" y="6146800"/>
            <a:ext cx="750189" cy="750189"/>
          </a:xfrm>
          <a:prstGeom prst="ellipse">
            <a:avLst/>
          </a:prstGeom>
          <a:solidFill>
            <a:srgbClr val="FFFFFF"/>
          </a:solidFill>
          <a:ln w="12700">
            <a:solidFill>
              <a:srgbClr val="04579A"/>
            </a:solidFill>
            <a:prstDash val="solid"/>
          </a:ln>
          <a:effectLst>
            <a:outerShdw sx="100000" sy="100000" kx="0" ky="0" algn="bl" rotWithShape="0" blurRad="50800" dist="26924" dir="2700000">
              <a:srgbClr val="000000">
                <a:alpha val="40000"/>
              </a:srgbClr>
            </a:outerShdw>
          </a:effectLst>
        </p:spPr>
      </p:sp>
      <p:sp>
        <p:nvSpPr>
          <p:cNvPr id="20" name="Text 16"/>
          <p:cNvSpPr/>
          <p:nvPr/>
        </p:nvSpPr>
        <p:spPr>
          <a:xfrm>
            <a:off x="7513320" y="6146800"/>
            <a:ext cx="750189" cy="750189"/>
          </a:xfrm>
          <a:prstGeom prst="rect">
            <a:avLst/>
          </a:prstGeom>
          <a:noFill/>
          <a:ln/>
          <a:effectLst>
            <a:outerShdw sx="100000" sy="100000" kx="0" ky="0" algn="bl" rotWithShape="0" blurRad="38100" dist="26924" dir="2700000">
              <a:srgbClr val="000000">
                <a:alpha val="42745"/>
              </a:srgbClr>
            </a:outerShdw>
          </a:effectLst>
        </p:spPr>
        <p:txBody>
          <a:bodyPr wrap="square" lIns="0" tIns="0" rIns="0" bIns="0" rtlCol="0" anchor="ctr"/>
          <a:lstStyle/>
          <a:p>
            <a:pPr algn="ctr">
              <a:lnSpc>
                <a:spcPct val="120000"/>
              </a:lnSpc>
            </a:pPr>
            <a:r>
              <a:rPr lang="en-US" sz="3730" b="1" dirty="0">
                <a:solidFill>
                  <a:srgbClr val="04579A"/>
                </a:solidFill>
                <a:latin typeface="Arial" pitchFamily="34" charset="0"/>
                <a:ea typeface="Arial" pitchFamily="34" charset="-122"/>
                <a:cs typeface="Arial" pitchFamily="34" charset="-120"/>
              </a:rPr>
              <a:t>3</a:t>
            </a:r>
            <a:endParaRPr lang="en-US" sz="3730" dirty="0"/>
          </a:p>
        </p:txBody>
      </p:sp>
      <p:sp>
        <p:nvSpPr>
          <p:cNvPr id="21" name="Shape 17"/>
          <p:cNvSpPr/>
          <p:nvPr/>
        </p:nvSpPr>
        <p:spPr>
          <a:xfrm>
            <a:off x="7513320" y="4774311"/>
            <a:ext cx="750189" cy="750189"/>
          </a:xfrm>
          <a:prstGeom prst="ellipse">
            <a:avLst/>
          </a:prstGeom>
          <a:solidFill>
            <a:srgbClr val="FFFFFF"/>
          </a:solidFill>
          <a:ln w="12700">
            <a:solidFill>
              <a:srgbClr val="33A470"/>
            </a:solidFill>
            <a:prstDash val="solid"/>
          </a:ln>
          <a:effectLst>
            <a:outerShdw sx="100000" sy="100000" kx="0" ky="0" algn="bl" rotWithShape="0" blurRad="50800" dist="26924" dir="2700000">
              <a:srgbClr val="000000">
                <a:alpha val="40000"/>
              </a:srgbClr>
            </a:outerShdw>
          </a:effectLst>
        </p:spPr>
      </p:sp>
      <p:sp>
        <p:nvSpPr>
          <p:cNvPr id="22" name="Text 18"/>
          <p:cNvSpPr/>
          <p:nvPr/>
        </p:nvSpPr>
        <p:spPr>
          <a:xfrm>
            <a:off x="7513320" y="4774311"/>
            <a:ext cx="750189" cy="750189"/>
          </a:xfrm>
          <a:prstGeom prst="rect">
            <a:avLst/>
          </a:prstGeom>
          <a:noFill/>
          <a:ln/>
          <a:effectLst>
            <a:outerShdw sx="100000" sy="100000" kx="0" ky="0" algn="bl" rotWithShape="0" blurRad="38100" dist="26924" dir="2700000">
              <a:srgbClr val="000000">
                <a:alpha val="42745"/>
              </a:srgbClr>
            </a:outerShdw>
          </a:effectLst>
        </p:spPr>
        <p:txBody>
          <a:bodyPr wrap="square" lIns="0" tIns="0" rIns="0" bIns="0" rtlCol="0" anchor="ctr"/>
          <a:lstStyle/>
          <a:p>
            <a:pPr algn="ctr">
              <a:lnSpc>
                <a:spcPct val="120000"/>
              </a:lnSpc>
            </a:pPr>
            <a:r>
              <a:rPr lang="en-US" sz="3730" b="1" dirty="0">
                <a:solidFill>
                  <a:srgbClr val="33A470"/>
                </a:solidFill>
                <a:latin typeface="Arial" pitchFamily="34" charset="0"/>
                <a:ea typeface="Arial" pitchFamily="34" charset="-122"/>
                <a:cs typeface="Arial" pitchFamily="34" charset="-120"/>
              </a:rPr>
              <a:t>2</a:t>
            </a:r>
            <a:endParaRPr lang="en-US" sz="3730" dirty="0"/>
          </a:p>
        </p:txBody>
      </p:sp>
      <p:sp>
        <p:nvSpPr>
          <p:cNvPr id="23" name="Shape 19"/>
          <p:cNvSpPr/>
          <p:nvPr/>
        </p:nvSpPr>
        <p:spPr>
          <a:xfrm>
            <a:off x="4936871" y="3656711"/>
            <a:ext cx="2356231" cy="11811"/>
          </a:xfrm>
          <a:prstGeom prst="line">
            <a:avLst/>
          </a:prstGeom>
          <a:noFill/>
          <a:ln w="15875">
            <a:solidFill>
              <a:srgbClr val="7F7F7F"/>
            </a:solidFill>
            <a:prstDash val="dash"/>
            <a:headEnd type="none"/>
            <a:tailEnd type="none"/>
          </a:ln>
        </p:spPr>
      </p:sp>
      <p:sp>
        <p:nvSpPr>
          <p:cNvPr id="24" name="Shape 20"/>
          <p:cNvSpPr/>
          <p:nvPr/>
        </p:nvSpPr>
        <p:spPr>
          <a:xfrm>
            <a:off x="8647049" y="5013071"/>
            <a:ext cx="2356231" cy="11811"/>
          </a:xfrm>
          <a:prstGeom prst="line">
            <a:avLst/>
          </a:prstGeom>
          <a:noFill/>
          <a:ln w="15875">
            <a:solidFill>
              <a:srgbClr val="7F7F7F"/>
            </a:solidFill>
            <a:prstDash val="dash"/>
            <a:headEnd type="none"/>
            <a:tailEnd type="none"/>
          </a:ln>
        </p:spPr>
      </p:sp>
      <p:sp>
        <p:nvSpPr>
          <p:cNvPr id="25" name="Shape 21"/>
          <p:cNvSpPr/>
          <p:nvPr/>
        </p:nvSpPr>
        <p:spPr>
          <a:xfrm>
            <a:off x="4936871" y="6443980"/>
            <a:ext cx="2356231" cy="11811"/>
          </a:xfrm>
          <a:prstGeom prst="line">
            <a:avLst/>
          </a:prstGeom>
          <a:noFill/>
          <a:ln w="15875">
            <a:solidFill>
              <a:srgbClr val="7F7F7F"/>
            </a:solidFill>
            <a:prstDash val="dash"/>
            <a:headEnd type="none"/>
            <a:tailEnd type="none"/>
          </a:ln>
        </p:spPr>
      </p:sp>
      <p:sp>
        <p:nvSpPr>
          <p:cNvPr id="26" name="Text 22"/>
          <p:cNvSpPr/>
          <p:nvPr/>
        </p:nvSpPr>
        <p:spPr>
          <a:xfrm>
            <a:off x="1873631" y="3934460"/>
            <a:ext cx="5639689" cy="1271651"/>
          </a:xfrm>
          <a:prstGeom prst="rect">
            <a:avLst/>
          </a:prstGeom>
          <a:noFill/>
          <a:ln/>
        </p:spPr>
        <p:txBody>
          <a:bodyPr wrap="square" lIns="0" tIns="0" rIns="0" bIns="0" rtlCol="0" anchor="t"/>
          <a:lstStyle/>
          <a:p>
            <a:pPr algn="l" marL="338138" indent="-338138">
              <a:lnSpc>
                <a:spcPct val="120000"/>
              </a:lnSpc>
              <a:spcBef>
                <a:spcPts val="10"/>
              </a:spcBef>
              <a:buSzPct val="100000"/>
              <a:buChar char="•"/>
            </a:pPr>
            <a:r>
              <a:rPr lang="en-US" sz="2130" dirty="0">
                <a:solidFill>
                  <a:srgbClr val="262626"/>
                </a:solidFill>
                <a:latin typeface="MiSans" pitchFamily="34" charset="0"/>
                <a:ea typeface="MiSans" pitchFamily="34" charset="-122"/>
                <a:cs typeface="MiSans" pitchFamily="34" charset="-120"/>
              </a:rPr>
              <a:t>以非交互的抽样分布进行证明</a:t>
            </a:r>
            <a:endParaRPr lang="en-US" sz="2130" dirty="0"/>
          </a:p>
          <a:p>
            <a:pPr algn="l" marL="338138" indent="-338138">
              <a:lnSpc>
                <a:spcPct val="120000"/>
              </a:lnSpc>
              <a:spcBef>
                <a:spcPts val="10"/>
              </a:spcBef>
              <a:buSzPct val="100000"/>
              <a:buChar char="•"/>
            </a:pPr>
            <a:r>
              <a:rPr lang="en-US" sz="2130" dirty="0">
                <a:solidFill>
                  <a:srgbClr val="262626"/>
                </a:solidFill>
                <a:latin typeface="MiSans" pitchFamily="34" charset="0"/>
                <a:ea typeface="MiSans" pitchFamily="34" charset="-122"/>
                <a:cs typeface="MiSans" pitchFamily="34" charset="-120"/>
              </a:rPr>
              <a:t>对数级储存复杂度</a:t>
            </a:r>
            <a:endParaRPr lang="en-US" sz="2130" dirty="0"/>
          </a:p>
          <a:p>
            <a:pPr algn="l" marL="338138" indent="-338138">
              <a:lnSpc>
                <a:spcPct val="120000"/>
              </a:lnSpc>
              <a:spcBef>
                <a:spcPts val="10"/>
              </a:spcBef>
              <a:buSzPct val="100000"/>
              <a:buChar char="•"/>
            </a:pPr>
            <a:r>
              <a:rPr lang="en-US" sz="2130" b="1" dirty="0">
                <a:solidFill>
                  <a:srgbClr val="262626"/>
                </a:solidFill>
                <a:latin typeface="MiSans" pitchFamily="34" charset="0"/>
                <a:ea typeface="MiSans" pitchFamily="34" charset="-122"/>
                <a:cs typeface="MiSans" pitchFamily="34" charset="-120"/>
              </a:rPr>
              <a:t>缺乏后向兼容性</a:t>
            </a:r>
            <a:endParaRPr lang="en-US" sz="2130" dirty="0"/>
          </a:p>
        </p:txBody>
      </p:sp>
      <p:sp>
        <p:nvSpPr>
          <p:cNvPr id="27" name="Text 23"/>
          <p:cNvSpPr/>
          <p:nvPr/>
        </p:nvSpPr>
        <p:spPr>
          <a:xfrm>
            <a:off x="8647049" y="5288280"/>
            <a:ext cx="6849491" cy="1107948"/>
          </a:xfrm>
          <a:prstGeom prst="rect">
            <a:avLst/>
          </a:prstGeom>
          <a:noFill/>
          <a:ln/>
        </p:spPr>
        <p:txBody>
          <a:bodyPr wrap="square" lIns="0" tIns="0" rIns="0" bIns="0" rtlCol="0" anchor="t"/>
          <a:lstStyle/>
          <a:p>
            <a:pPr algn="l" marL="338138" indent="-338138">
              <a:lnSpc>
                <a:spcPct val="120000"/>
              </a:lnSpc>
              <a:spcBef>
                <a:spcPts val="10"/>
              </a:spcBef>
              <a:buSzPct val="100000"/>
              <a:buChar char="•"/>
            </a:pPr>
            <a:r>
              <a:rPr lang="en-US" sz="2130" dirty="0">
                <a:solidFill>
                  <a:srgbClr val="262626"/>
                </a:solidFill>
                <a:latin typeface="Arial" pitchFamily="34" charset="0"/>
                <a:ea typeface="Arial" pitchFamily="34" charset="-122"/>
                <a:cs typeface="Arial" pitchFamily="34" charset="-120"/>
              </a:rPr>
              <a:t>模块化设计支持消息传递/资产跨链/跨链状态计算</a:t>
            </a:r>
            <a:endParaRPr lang="en-US" sz="2130" dirty="0"/>
          </a:p>
          <a:p>
            <a:pPr algn="l" marL="338138" indent="-338138">
              <a:lnSpc>
                <a:spcPct val="120000"/>
              </a:lnSpc>
              <a:spcBef>
                <a:spcPts val="10"/>
              </a:spcBef>
              <a:buSzPct val="100000"/>
              <a:buChar char="•"/>
            </a:pPr>
            <a:r>
              <a:rPr lang="en-US" sz="2130" dirty="0">
                <a:solidFill>
                  <a:srgbClr val="262626"/>
                </a:solidFill>
                <a:latin typeface="MiSans" pitchFamily="34" charset="0"/>
                <a:ea typeface="MiSans" pitchFamily="34" charset="-122"/>
                <a:cs typeface="MiSans" pitchFamily="34" charset="-120"/>
              </a:rPr>
              <a:t>恒定储存复杂度</a:t>
            </a:r>
            <a:endParaRPr lang="en-US" sz="2130" dirty="0"/>
          </a:p>
          <a:p>
            <a:pPr algn="l" marL="338138" indent="-338138">
              <a:lnSpc>
                <a:spcPct val="120000"/>
              </a:lnSpc>
              <a:spcBef>
                <a:spcPts val="10"/>
              </a:spcBef>
              <a:buSzPct val="100000"/>
              <a:buChar char="•"/>
            </a:pPr>
            <a:r>
              <a:rPr lang="en-US" sz="2130" b="1" dirty="0">
                <a:solidFill>
                  <a:srgbClr val="262626"/>
                </a:solidFill>
                <a:latin typeface="Arial" pitchFamily="34" charset="0"/>
                <a:ea typeface="Arial" pitchFamily="34" charset="-122"/>
                <a:cs typeface="Arial" pitchFamily="34" charset="-120"/>
              </a:rPr>
              <a:t>零知识证明的生成和验证都需要大量计算资源</a:t>
            </a:r>
            <a:endParaRPr lang="en-US" sz="2130" dirty="0"/>
          </a:p>
        </p:txBody>
      </p:sp>
      <p:sp>
        <p:nvSpPr>
          <p:cNvPr id="28" name="Text 24"/>
          <p:cNvSpPr/>
          <p:nvPr/>
        </p:nvSpPr>
        <p:spPr>
          <a:xfrm>
            <a:off x="1874520" y="6758940"/>
            <a:ext cx="5638800" cy="1501902"/>
          </a:xfrm>
          <a:prstGeom prst="rect">
            <a:avLst/>
          </a:prstGeom>
          <a:noFill/>
          <a:ln/>
        </p:spPr>
        <p:txBody>
          <a:bodyPr wrap="square" lIns="0" tIns="0" rIns="0" bIns="0" rtlCol="0" anchor="t"/>
          <a:lstStyle/>
          <a:p>
            <a:pPr algn="l" marL="338138" indent="-338138">
              <a:lnSpc>
                <a:spcPct val="120000"/>
              </a:lnSpc>
              <a:spcBef>
                <a:spcPts val="10"/>
              </a:spcBef>
              <a:buSzPct val="100000"/>
              <a:buChar char="•"/>
            </a:pPr>
            <a:r>
              <a:rPr lang="en-US" sz="2130" dirty="0">
                <a:solidFill>
                  <a:srgbClr val="262626"/>
                </a:solidFill>
                <a:latin typeface="Arial" pitchFamily="34" charset="0"/>
                <a:ea typeface="Arial" pitchFamily="34" charset="-122"/>
                <a:cs typeface="Arial" pitchFamily="34" charset="-120"/>
              </a:rPr>
              <a:t>使用无状态SPV按需证明</a:t>
            </a:r>
            <a:endParaRPr lang="en-US" sz="2130" dirty="0"/>
          </a:p>
          <a:p>
            <a:pPr algn="l" marL="338138" indent="-338138">
              <a:lnSpc>
                <a:spcPct val="120000"/>
              </a:lnSpc>
              <a:spcBef>
                <a:spcPts val="10"/>
              </a:spcBef>
              <a:buSzPct val="100000"/>
              <a:buChar char="•"/>
            </a:pPr>
            <a:r>
              <a:rPr lang="en-US" sz="2130" dirty="0">
                <a:solidFill>
                  <a:srgbClr val="262626"/>
                </a:solidFill>
                <a:latin typeface="MiSans" pitchFamily="34" charset="0"/>
                <a:ea typeface="MiSans" pitchFamily="34" charset="-122"/>
                <a:cs typeface="MiSans" pitchFamily="34" charset="-120"/>
              </a:rPr>
              <a:t>恒定储存复杂度</a:t>
            </a:r>
            <a:endParaRPr lang="en-US" sz="2130" dirty="0"/>
          </a:p>
          <a:p>
            <a:pPr algn="l" marL="338138" indent="-338138">
              <a:lnSpc>
                <a:spcPct val="120000"/>
              </a:lnSpc>
              <a:spcBef>
                <a:spcPts val="10"/>
              </a:spcBef>
              <a:buSzPct val="100000"/>
              <a:buChar char="•"/>
            </a:pPr>
            <a:r>
              <a:rPr lang="en-US" sz="2130" b="1" dirty="0">
                <a:solidFill>
                  <a:srgbClr val="262626"/>
                </a:solidFill>
                <a:latin typeface="MiSans" pitchFamily="34" charset="0"/>
                <a:ea typeface="MiSans" pitchFamily="34" charset="-122"/>
                <a:cs typeface="MiSans" pitchFamily="34" charset="-120"/>
              </a:rPr>
              <a:t>需要特定脚本语言，不兼容于比特币</a:t>
            </a:r>
            <a:endParaRPr lang="en-US" sz="2130" dirty="0"/>
          </a:p>
          <a:p>
            <a:pPr algn="l">
              <a:lnSpc>
                <a:spcPct val="120000"/>
              </a:lnSpc>
            </a:pPr>
            <a:r>
              <a:rPr lang="en-US" sz="2130" dirty="0">
                <a:solidFill>
                  <a:srgbClr val="262626"/>
                </a:solidFill>
                <a:latin typeface="Arial" pitchFamily="34" charset="0"/>
                <a:ea typeface="Arial" pitchFamily="34" charset="-122"/>
                <a:cs typeface="Arial" pitchFamily="34" charset="-120"/>
              </a:rPr>
              <a:t> </a:t>
            </a:r>
            <a:endParaRPr lang="en-US" sz="2130" dirty="0"/>
          </a:p>
        </p:txBody>
      </p:sp>
      <p:sp>
        <p:nvSpPr>
          <p:cNvPr id="29" name="Text 25"/>
          <p:cNvSpPr/>
          <p:nvPr/>
        </p:nvSpPr>
        <p:spPr>
          <a:xfrm>
            <a:off x="544449" y="1266571"/>
            <a:ext cx="8431911" cy="613791"/>
          </a:xfrm>
          <a:prstGeom prst="rect">
            <a:avLst/>
          </a:prstGeom>
          <a:noFill/>
          <a:ln/>
        </p:spPr>
        <p:txBody>
          <a:bodyPr wrap="square" lIns="0" tIns="0" rIns="0" bIns="0" rtlCol="0" anchor="t"/>
          <a:lstStyle/>
          <a:p>
            <a:pPr algn="l" marL="508000" indent="-508000">
              <a:lnSpc>
                <a:spcPct val="120000"/>
              </a:lnSpc>
              <a:spcBef>
                <a:spcPts val="10"/>
              </a:spcBef>
              <a:buSzPct val="100000"/>
              <a:buFont typeface="+mj-lt"/>
              <a:buAutoNum type="arabicPeriod" startAt="1"/>
            </a:pPr>
            <a:r>
              <a:rPr lang="en-US" sz="3200" b="1" dirty="0">
                <a:solidFill>
                  <a:srgbClr val="262626"/>
                </a:solidFill>
                <a:latin typeface="MiSans" pitchFamily="34" charset="0"/>
                <a:ea typeface="MiSans" pitchFamily="34" charset="-122"/>
                <a:cs typeface="MiSans" pitchFamily="34" charset="-120"/>
              </a:rPr>
              <a:t>跨链数字资产交易协议证明机制</a:t>
            </a:r>
            <a:endParaRPr lang="en-US" sz="3200" dirty="0"/>
          </a:p>
        </p:txBody>
      </p:sp>
      <p:sp>
        <p:nvSpPr>
          <p:cNvPr id="30" name="Text 26"/>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21</a:t>
            </a:r>
            <a:endParaRPr lang="en-US" sz="2400" dirty="0"/>
          </a:p>
        </p:txBody>
      </p:sp>
    </p:spTree>
  </p:cSld>
  <p:clrMapOvr>
    <a:masterClrMapping/>
  </p:clrMapOvr>
  <p:transition>
    <p:fade/>
    <p:spd val="med"/>
  </p:transition>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816469" y="-889"/>
            <a:ext cx="4154551" cy="962660"/>
          </a:xfrm>
          <a:prstGeom prst="rect">
            <a:avLst/>
          </a:prstGeom>
          <a:solidFill>
            <a:srgbClr val="F2F2F2"/>
          </a:solidFill>
          <a:ln w="12700">
            <a:solidFill>
              <a:srgbClr val="F2F2F2"/>
            </a:solidFill>
            <a:prstDash val="solid"/>
          </a:ln>
        </p:spPr>
      </p:sp>
      <p:sp>
        <p:nvSpPr>
          <p:cNvPr id="4" name="Shape 1"/>
          <p:cNvSpPr/>
          <p:nvPr/>
        </p:nvSpPr>
        <p:spPr>
          <a:xfrm>
            <a:off x="7816469" y="4191"/>
            <a:ext cx="4152900" cy="962660"/>
          </a:xfrm>
          <a:prstGeom prst="rect">
            <a:avLst/>
          </a:prstGeom>
          <a:solidFill>
            <a:srgbClr val="04579A"/>
          </a:solidFill>
          <a:ln w="12700">
            <a:solidFill>
              <a:srgbClr val="04579A"/>
            </a:solidFill>
            <a:prstDash val="solid"/>
          </a:ln>
        </p:spPr>
      </p:sp>
      <p:sp>
        <p:nvSpPr>
          <p:cNvPr id="5" name="Shape 2"/>
          <p:cNvSpPr/>
          <p:nvPr/>
        </p:nvSpPr>
        <p:spPr>
          <a:xfrm>
            <a:off x="5162169" y="-889"/>
            <a:ext cx="2654300" cy="962660"/>
          </a:xfrm>
          <a:prstGeom prst="rect">
            <a:avLst/>
          </a:prstGeom>
          <a:solidFill>
            <a:srgbClr val="F2F2F2"/>
          </a:solidFill>
          <a:ln w="12700">
            <a:solidFill>
              <a:srgbClr val="F2F2F2"/>
            </a:solidFill>
            <a:prstDash val="solid"/>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942209" cy="962660"/>
          </a:xfrm>
          <a:prstGeom prst="rect">
            <a:avLst/>
          </a:prstGeom>
          <a:solidFill>
            <a:srgbClr val="F2F2F2"/>
          </a:solidFill>
          <a:ln w="12700">
            <a:solidFill>
              <a:srgbClr val="F2F2F2"/>
            </a:solidFill>
            <a:prstDash val="solid"/>
          </a:ln>
        </p:spPr>
      </p:sp>
      <p:sp>
        <p:nvSpPr>
          <p:cNvPr id="8" name="Text 5"/>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选题背景及意义       国内外研究现状       </a:t>
            </a:r>
            <a:pPr algn="l">
              <a:lnSpc>
                <a:spcPct val="120000"/>
              </a:lnSpc>
            </a:pPr>
            <a:r>
              <a:rPr lang="en-US" sz="2400" dirty="0">
                <a:solidFill>
                  <a:srgbClr val="FFFFFF"/>
                </a:solidFill>
                <a:latin typeface="Arial" pitchFamily="34" charset="0"/>
                <a:ea typeface="Arial" pitchFamily="34" charset="-122"/>
                <a:cs typeface="Arial" pitchFamily="34" charset="-120"/>
              </a:rPr>
              <a:t>主要研究内容及预期目标</a:t>
            </a:r>
            <a:pPr algn="l">
              <a:lnSpc>
                <a:spcPct val="120000"/>
              </a:lnSpc>
            </a:pPr>
            <a:r>
              <a:rPr lang="en-US" sz="2400" dirty="0">
                <a:solidFill>
                  <a:srgbClr val="000000"/>
                </a:solidFill>
                <a:latin typeface="Arial" pitchFamily="34" charset="0"/>
                <a:ea typeface="Arial" pitchFamily="34" charset="-122"/>
                <a:cs typeface="Arial" pitchFamily="34" charset="-120"/>
              </a:rPr>
              <a:t>             工作计划与进度安排</a:t>
            </a:r>
            <a:endParaRPr lang="en-US" sz="2400" dirty="0"/>
          </a:p>
        </p:txBody>
      </p:sp>
      <p:pic>
        <p:nvPicPr>
          <p:cNvPr id="9"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0" name="Shape 6"/>
          <p:cNvSpPr/>
          <p:nvPr/>
        </p:nvSpPr>
        <p:spPr>
          <a:xfrm rot="10800000">
            <a:off x="9699371" y="961009"/>
            <a:ext cx="389509" cy="304800"/>
          </a:xfrm>
          <a:prstGeom prst="triangle">
            <a:avLst>
              <a:gd name="adj" fmla="val 50000"/>
            </a:avLst>
          </a:prstGeom>
          <a:solidFill>
            <a:srgbClr val="04579A"/>
          </a:solidFill>
          <a:ln/>
        </p:spPr>
      </p:sp>
      <p:sp>
        <p:nvSpPr>
          <p:cNvPr id="11" name="Shape 7"/>
          <p:cNvSpPr/>
          <p:nvPr/>
        </p:nvSpPr>
        <p:spPr>
          <a:xfrm>
            <a:off x="5586730" y="2680970"/>
            <a:ext cx="474091" cy="694309"/>
          </a:xfrm>
          <a:prstGeom prst="rightArrow">
            <a:avLst>
              <a:gd name="adj1" fmla="val 50000"/>
              <a:gd name="adj2" fmla="val 50000"/>
            </a:avLst>
          </a:prstGeom>
          <a:solidFill>
            <a:srgbClr val="FFFFFF"/>
          </a:solidFill>
          <a:ln w="12700">
            <a:solidFill>
              <a:srgbClr val="04579A"/>
            </a:solidFill>
            <a:prstDash val="solid"/>
          </a:ln>
        </p:spPr>
      </p:sp>
      <p:sp>
        <p:nvSpPr>
          <p:cNvPr id="12" name="Shape 8"/>
          <p:cNvSpPr/>
          <p:nvPr/>
        </p:nvSpPr>
        <p:spPr>
          <a:xfrm>
            <a:off x="5586730" y="4102481"/>
            <a:ext cx="474091" cy="694309"/>
          </a:xfrm>
          <a:prstGeom prst="rightArrow">
            <a:avLst>
              <a:gd name="adj1" fmla="val 50000"/>
              <a:gd name="adj2" fmla="val 50000"/>
            </a:avLst>
          </a:prstGeom>
          <a:solidFill>
            <a:srgbClr val="FFFFFF"/>
          </a:solidFill>
          <a:ln w="12700">
            <a:solidFill>
              <a:srgbClr val="04579A"/>
            </a:solidFill>
            <a:prstDash val="solid"/>
          </a:ln>
        </p:spPr>
      </p:sp>
      <p:sp>
        <p:nvSpPr>
          <p:cNvPr id="13" name="Shape 9"/>
          <p:cNvSpPr/>
          <p:nvPr/>
        </p:nvSpPr>
        <p:spPr>
          <a:xfrm>
            <a:off x="5586730" y="5412359"/>
            <a:ext cx="474091" cy="694309"/>
          </a:xfrm>
          <a:prstGeom prst="rightArrow">
            <a:avLst>
              <a:gd name="adj1" fmla="val 50000"/>
              <a:gd name="adj2" fmla="val 50000"/>
            </a:avLst>
          </a:prstGeom>
          <a:solidFill>
            <a:srgbClr val="FFFFFF"/>
          </a:solidFill>
          <a:ln w="12700">
            <a:solidFill>
              <a:srgbClr val="04579A"/>
            </a:solidFill>
            <a:prstDash val="solid"/>
          </a:ln>
        </p:spPr>
      </p:sp>
      <p:sp>
        <p:nvSpPr>
          <p:cNvPr id="14" name="Text 10"/>
          <p:cNvSpPr/>
          <p:nvPr/>
        </p:nvSpPr>
        <p:spPr>
          <a:xfrm>
            <a:off x="6592570" y="2761361"/>
            <a:ext cx="8409559" cy="533527"/>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恶意环境下分布式数字资产交易协议设计与分析</a:t>
            </a:r>
            <a:pPr algn="l">
              <a:lnSpc>
                <a:spcPct val="120000"/>
              </a:lnSpc>
            </a:pPr>
            <a:r>
              <a:rPr lang="en-US" sz="2670" b="1" dirty="0">
                <a:solidFill>
                  <a:srgbClr val="04579A"/>
                </a:solidFill>
                <a:latin typeface="MiSans" pitchFamily="34" charset="0"/>
                <a:ea typeface="MiSans" pitchFamily="34" charset="-122"/>
                <a:cs typeface="MiSans" pitchFamily="34" charset="-120"/>
              </a:rPr>
              <a:t>	</a:t>
            </a:r>
            <a:endParaRPr lang="en-US" sz="2670" dirty="0"/>
          </a:p>
        </p:txBody>
      </p:sp>
      <p:sp>
        <p:nvSpPr>
          <p:cNvPr id="15" name="Text 11"/>
          <p:cNvSpPr/>
          <p:nvPr/>
        </p:nvSpPr>
        <p:spPr>
          <a:xfrm>
            <a:off x="6592570" y="4217670"/>
            <a:ext cx="8741791" cy="943864"/>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大规模环境下可扩展分布式数字资产交易协议设计与分析</a:t>
            </a:r>
            <a:pPr algn="l">
              <a:lnSpc>
                <a:spcPct val="120000"/>
              </a:lnSpc>
            </a:pPr>
            <a:r>
              <a:rPr lang="en-US" sz="2670" b="1" dirty="0">
                <a:solidFill>
                  <a:srgbClr val="04579A"/>
                </a:solidFill>
                <a:latin typeface="MiSans" pitchFamily="34" charset="0"/>
                <a:ea typeface="MiSans" pitchFamily="34" charset="-122"/>
                <a:cs typeface="MiSans" pitchFamily="34" charset="-120"/>
              </a:rPr>
              <a:t>	</a:t>
            </a:r>
            <a:endParaRPr lang="en-US" sz="2670" dirty="0"/>
          </a:p>
        </p:txBody>
      </p:sp>
      <p:sp>
        <p:nvSpPr>
          <p:cNvPr id="16" name="Text 12"/>
          <p:cNvSpPr/>
          <p:nvPr/>
        </p:nvSpPr>
        <p:spPr>
          <a:xfrm>
            <a:off x="6592570" y="5513832"/>
            <a:ext cx="8921369" cy="531749"/>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多源异构环境下分布式数字资产跨链验证协议设计与分析</a:t>
            </a:r>
            <a:endParaRPr lang="en-US" sz="2670" dirty="0"/>
          </a:p>
        </p:txBody>
      </p:sp>
      <p:sp>
        <p:nvSpPr>
          <p:cNvPr id="17" name="Text 13"/>
          <p:cNvSpPr/>
          <p:nvPr/>
        </p:nvSpPr>
        <p:spPr>
          <a:xfrm>
            <a:off x="743839" y="2556129"/>
            <a:ext cx="4312920" cy="943864"/>
          </a:xfrm>
          <a:prstGeom prst="rect">
            <a:avLst/>
          </a:prstGeom>
          <a:noFill/>
          <a:ln/>
        </p:spPr>
        <p:txBody>
          <a:bodyPr wrap="square" lIns="0" tIns="0" rIns="0" bIns="0" rtlCol="0" anchor="t"/>
          <a:lstStyle/>
          <a:p>
            <a:pPr algn="ctr" marL="423863" indent="-423863">
              <a:lnSpc>
                <a:spcPct val="120000"/>
              </a:lnSpc>
              <a:spcBef>
                <a:spcPts val="10"/>
              </a:spcBef>
              <a:buSzPct val="100000"/>
              <a:buFont typeface="+mj-lt"/>
              <a:buAutoNum type="arabicPeriod" startAt="1"/>
            </a:pPr>
            <a:r>
              <a:rPr lang="en-US" sz="2670" b="1" dirty="0">
                <a:solidFill>
                  <a:srgbClr val="262626"/>
                </a:solidFill>
                <a:latin typeface="MiSans" pitchFamily="34" charset="0"/>
                <a:ea typeface="MiSans" pitchFamily="34" charset="-122"/>
                <a:cs typeface="MiSans" pitchFamily="34" charset="-120"/>
              </a:rPr>
              <a:t>恶意场景下分布式数字</a:t>
            </a:r>
            <a:endParaRPr lang="en-US" sz="2670" dirty="0"/>
          </a:p>
          <a:p>
            <a:pPr algn="ctr">
              <a:lnSpc>
                <a:spcPct val="120000"/>
              </a:lnSpc>
            </a:pPr>
            <a:r>
              <a:rPr lang="en-US" sz="2670" b="1" dirty="0">
                <a:solidFill>
                  <a:srgbClr val="262626"/>
                </a:solidFill>
                <a:latin typeface="MiSans" pitchFamily="34" charset="0"/>
                <a:ea typeface="MiSans" pitchFamily="34" charset="-122"/>
                <a:cs typeface="MiSans" pitchFamily="34" charset="-120"/>
              </a:rPr>
              <a:t>资产交易安全性</a:t>
            </a:r>
            <a:endParaRPr lang="en-US" sz="2670" dirty="0"/>
          </a:p>
        </p:txBody>
      </p:sp>
      <p:sp>
        <p:nvSpPr>
          <p:cNvPr id="18" name="Text 14"/>
          <p:cNvSpPr/>
          <p:nvPr/>
        </p:nvSpPr>
        <p:spPr>
          <a:xfrm>
            <a:off x="742061" y="3940937"/>
            <a:ext cx="4314571" cy="943864"/>
          </a:xfrm>
          <a:prstGeom prst="rect">
            <a:avLst/>
          </a:prstGeom>
          <a:noFill/>
          <a:ln/>
        </p:spPr>
        <p:txBody>
          <a:bodyPr wrap="square" lIns="0" tIns="0" rIns="0" bIns="0" rtlCol="0" anchor="t"/>
          <a:lstStyle/>
          <a:p>
            <a:pPr algn="ctr">
              <a:lnSpc>
                <a:spcPct val="120000"/>
              </a:lnSpc>
            </a:pPr>
            <a:r>
              <a:rPr lang="en-US" sz="2670" b="1" dirty="0">
                <a:solidFill>
                  <a:srgbClr val="262626"/>
                </a:solidFill>
                <a:latin typeface="MiSans" pitchFamily="34" charset="0"/>
                <a:ea typeface="MiSans" pitchFamily="34" charset="-122"/>
                <a:cs typeface="MiSans" pitchFamily="34" charset="-120"/>
              </a:rPr>
              <a:t>2.   </a:t>
            </a:r>
            <a:pPr algn="ctr">
              <a:lnSpc>
                <a:spcPct val="120000"/>
              </a:lnSpc>
            </a:pPr>
            <a:r>
              <a:rPr lang="en-US" sz="2670" b="1" dirty="0">
                <a:solidFill>
                  <a:srgbClr val="262626"/>
                </a:solidFill>
                <a:latin typeface="MiSans" pitchFamily="34" charset="0"/>
                <a:ea typeface="MiSans" pitchFamily="34" charset="-122"/>
                <a:cs typeface="MiSans" pitchFamily="34" charset="-120"/>
              </a:rPr>
              <a:t>链下数字资产交易协议性能</a:t>
            </a:r>
            <a:endParaRPr lang="en-US" sz="2670" dirty="0"/>
          </a:p>
        </p:txBody>
      </p:sp>
      <p:sp>
        <p:nvSpPr>
          <p:cNvPr id="19" name="Text 15"/>
          <p:cNvSpPr/>
          <p:nvPr/>
        </p:nvSpPr>
        <p:spPr>
          <a:xfrm>
            <a:off x="742061" y="5364861"/>
            <a:ext cx="4316349" cy="1354201"/>
          </a:xfrm>
          <a:prstGeom prst="rect">
            <a:avLst/>
          </a:prstGeom>
          <a:noFill/>
          <a:ln/>
        </p:spPr>
        <p:txBody>
          <a:bodyPr wrap="square" lIns="0" tIns="0" rIns="0" bIns="0" rtlCol="0" anchor="t"/>
          <a:lstStyle/>
          <a:p>
            <a:pPr algn="l">
              <a:lnSpc>
                <a:spcPct val="120000"/>
              </a:lnSpc>
            </a:pPr>
            <a:r>
              <a:rPr lang="en-US" sz="2670" b="1" dirty="0">
                <a:solidFill>
                  <a:srgbClr val="262626"/>
                </a:solidFill>
                <a:latin typeface="Arial" pitchFamily="34" charset="0"/>
                <a:ea typeface="Arial" pitchFamily="34" charset="-122"/>
                <a:cs typeface="Arial" pitchFamily="34" charset="-120"/>
              </a:rPr>
              <a:t>3.    </a:t>
            </a:r>
            <a:pPr algn="l">
              <a:lnSpc>
                <a:spcPct val="120000"/>
              </a:lnSpc>
            </a:pPr>
            <a:r>
              <a:rPr lang="en-US" sz="2670" b="1" dirty="0">
                <a:solidFill>
                  <a:srgbClr val="262626"/>
                </a:solidFill>
                <a:latin typeface="Arial" pitchFamily="34" charset="0"/>
                <a:ea typeface="Arial" pitchFamily="34" charset="-122"/>
                <a:cs typeface="Arial" pitchFamily="34" charset="-120"/>
              </a:rPr>
              <a:t>跨链数字资产交易协议</a:t>
            </a:r>
            <a:endParaRPr lang="en-US" sz="2670" dirty="0"/>
          </a:p>
          <a:p>
            <a:pPr algn="ctr">
              <a:lnSpc>
                <a:spcPct val="120000"/>
              </a:lnSpc>
            </a:pPr>
            <a:r>
              <a:rPr lang="en-US" sz="2670" b="1" dirty="0">
                <a:solidFill>
                  <a:srgbClr val="262626"/>
                </a:solidFill>
                <a:latin typeface="Arial" pitchFamily="34" charset="0"/>
                <a:ea typeface="Arial" pitchFamily="34" charset="-122"/>
                <a:cs typeface="Arial" pitchFamily="34" charset="-120"/>
              </a:rPr>
              <a:t>证明机制</a:t>
            </a:r>
            <a:endParaRPr lang="en-US" sz="2670" dirty="0"/>
          </a:p>
          <a:p>
            <a:pPr algn="ctr">
              <a:lnSpc>
                <a:spcPct val="120000"/>
              </a:lnSpc>
            </a:pPr>
            <a:r>
              <a:rPr lang="en-US" sz="2670" dirty="0">
                <a:solidFill>
                  <a:srgbClr val="262626"/>
                </a:solidFill>
                <a:latin typeface="Arial" pitchFamily="34" charset="0"/>
                <a:ea typeface="Arial" pitchFamily="34" charset="-122"/>
                <a:cs typeface="Arial" pitchFamily="34" charset="-120"/>
              </a:rPr>
              <a:t> </a:t>
            </a:r>
            <a:endParaRPr lang="en-US" sz="2670" dirty="0"/>
          </a:p>
        </p:txBody>
      </p:sp>
      <p:sp>
        <p:nvSpPr>
          <p:cNvPr id="20" name="Text 16"/>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22</a:t>
            </a:r>
            <a:endParaRPr lang="en-US" sz="2400" dirty="0"/>
          </a:p>
        </p:txBody>
      </p:sp>
    </p:spTree>
  </p:cSld>
  <p:clrMapOvr>
    <a:masterClrMapping/>
  </p:clrMapOvr>
  <p:transition>
    <p:fade/>
    <p:spd val="med"/>
  </p:transition>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573772" y="3430651"/>
            <a:ext cx="3668141" cy="2586228"/>
          </a:xfrm>
          <a:prstGeom prst="roundRect">
            <a:avLst>
              <a:gd name="adj" fmla="val 16667"/>
            </a:avLst>
          </a:prstGeom>
          <a:noFill/>
          <a:ln w="12700">
            <a:solidFill>
              <a:srgbClr val="0070C0"/>
            </a:solidFill>
            <a:prstDash val="solid"/>
          </a:ln>
        </p:spPr>
      </p:sp>
      <p:sp>
        <p:nvSpPr>
          <p:cNvPr id="4" name="Shape 1"/>
          <p:cNvSpPr/>
          <p:nvPr/>
        </p:nvSpPr>
        <p:spPr>
          <a:xfrm>
            <a:off x="7816469" y="-889"/>
            <a:ext cx="4154551" cy="962660"/>
          </a:xfrm>
          <a:prstGeom prst="rect">
            <a:avLst/>
          </a:prstGeom>
          <a:solidFill>
            <a:srgbClr val="F2F2F2"/>
          </a:solidFill>
          <a:ln w="12700">
            <a:solidFill>
              <a:srgbClr val="F2F2F2"/>
            </a:solidFill>
            <a:prstDash val="solid"/>
          </a:ln>
        </p:spPr>
      </p:sp>
      <p:sp>
        <p:nvSpPr>
          <p:cNvPr id="5" name="Shape 2"/>
          <p:cNvSpPr/>
          <p:nvPr/>
        </p:nvSpPr>
        <p:spPr>
          <a:xfrm>
            <a:off x="7816469" y="4191"/>
            <a:ext cx="4152900" cy="962660"/>
          </a:xfrm>
          <a:prstGeom prst="rect">
            <a:avLst/>
          </a:prstGeom>
          <a:solidFill>
            <a:srgbClr val="04579A"/>
          </a:solidFill>
          <a:ln w="12700">
            <a:solidFill>
              <a:srgbClr val="04579A"/>
            </a:solidFill>
            <a:prstDash val="solid"/>
          </a:ln>
        </p:spPr>
      </p:sp>
      <p:sp>
        <p:nvSpPr>
          <p:cNvPr id="6" name="Shape 3"/>
          <p:cNvSpPr/>
          <p:nvPr/>
        </p:nvSpPr>
        <p:spPr>
          <a:xfrm>
            <a:off x="5162169" y="-889"/>
            <a:ext cx="2654300" cy="962660"/>
          </a:xfrm>
          <a:prstGeom prst="rect">
            <a:avLst/>
          </a:prstGeom>
          <a:solidFill>
            <a:srgbClr val="F2F2F2"/>
          </a:solidFill>
          <a:ln w="12700">
            <a:solidFill>
              <a:srgbClr val="F2F2F2"/>
            </a:solidFill>
            <a:prstDash val="solid"/>
          </a:ln>
        </p:spPr>
      </p:sp>
      <p:sp>
        <p:nvSpPr>
          <p:cNvPr id="7" name="Shape 4"/>
          <p:cNvSpPr/>
          <p:nvPr/>
        </p:nvSpPr>
        <p:spPr>
          <a:xfrm>
            <a:off x="11971020" y="0"/>
            <a:ext cx="4284980" cy="961771"/>
          </a:xfrm>
          <a:prstGeom prst="rect">
            <a:avLst/>
          </a:prstGeom>
          <a:solidFill>
            <a:srgbClr val="F2F2F2"/>
          </a:solidFill>
          <a:ln/>
        </p:spPr>
      </p:sp>
      <p:sp>
        <p:nvSpPr>
          <p:cNvPr id="8" name="Shape 5"/>
          <p:cNvSpPr/>
          <p:nvPr/>
        </p:nvSpPr>
        <p:spPr>
          <a:xfrm>
            <a:off x="2219960" y="-889"/>
            <a:ext cx="2942209" cy="962660"/>
          </a:xfrm>
          <a:prstGeom prst="rect">
            <a:avLst/>
          </a:prstGeom>
          <a:solidFill>
            <a:srgbClr val="F2F2F2"/>
          </a:solidFill>
          <a:ln w="12700">
            <a:solidFill>
              <a:srgbClr val="F2F2F2"/>
            </a:solidFill>
            <a:prstDash val="solid"/>
          </a:ln>
        </p:spPr>
      </p:sp>
      <p:sp>
        <p:nvSpPr>
          <p:cNvPr id="9" name="Text 6"/>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选题背景及意义       国内外研究现状       </a:t>
            </a:r>
            <a:pPr algn="l">
              <a:lnSpc>
                <a:spcPct val="120000"/>
              </a:lnSpc>
            </a:pPr>
            <a:r>
              <a:rPr lang="en-US" sz="2400" dirty="0">
                <a:solidFill>
                  <a:srgbClr val="FFFFFF"/>
                </a:solidFill>
                <a:latin typeface="Arial" pitchFamily="34" charset="0"/>
                <a:ea typeface="Arial" pitchFamily="34" charset="-122"/>
                <a:cs typeface="Arial" pitchFamily="34" charset="-120"/>
              </a:rPr>
              <a:t>主要研究内容及预期目标</a:t>
            </a:r>
            <a:pPr algn="l">
              <a:lnSpc>
                <a:spcPct val="120000"/>
              </a:lnSpc>
            </a:pPr>
            <a:r>
              <a:rPr lang="en-US" sz="2400" dirty="0">
                <a:solidFill>
                  <a:srgbClr val="000000"/>
                </a:solidFill>
                <a:latin typeface="Arial" pitchFamily="34" charset="0"/>
                <a:ea typeface="Arial" pitchFamily="34" charset="-122"/>
                <a:cs typeface="Arial" pitchFamily="34" charset="-120"/>
              </a:rPr>
              <a:t>             工作计划与进度安排</a:t>
            </a:r>
            <a:endParaRPr lang="en-US" sz="2400" dirty="0"/>
          </a:p>
        </p:txBody>
      </p:sp>
      <p:pic>
        <p:nvPicPr>
          <p:cNvPr id="10"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1" name="Shape 7"/>
          <p:cNvSpPr/>
          <p:nvPr/>
        </p:nvSpPr>
        <p:spPr>
          <a:xfrm rot="10800000">
            <a:off x="9699371" y="961009"/>
            <a:ext cx="389509" cy="304800"/>
          </a:xfrm>
          <a:prstGeom prst="triangle">
            <a:avLst>
              <a:gd name="adj" fmla="val 50000"/>
            </a:avLst>
          </a:prstGeom>
          <a:solidFill>
            <a:srgbClr val="04579A"/>
          </a:solidFill>
          <a:ln/>
        </p:spPr>
      </p:sp>
      <p:sp>
        <p:nvSpPr>
          <p:cNvPr id="12" name="Text 8"/>
          <p:cNvSpPr/>
          <p:nvPr/>
        </p:nvSpPr>
        <p:spPr>
          <a:xfrm>
            <a:off x="793369" y="1895729"/>
            <a:ext cx="14411960" cy="531749"/>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恶意环境下分布式数字资产交易协议设计与分析</a:t>
            </a:r>
            <a:pPr algn="l">
              <a:lnSpc>
                <a:spcPct val="120000"/>
              </a:lnSpc>
            </a:pPr>
            <a:r>
              <a:rPr lang="en-US" sz="2670" b="1" dirty="0">
                <a:solidFill>
                  <a:srgbClr val="04579A"/>
                </a:solidFill>
                <a:latin typeface="MiSans" pitchFamily="34" charset="0"/>
                <a:ea typeface="MiSans" pitchFamily="34" charset="-122"/>
                <a:cs typeface="MiSans" pitchFamily="34" charset="-120"/>
              </a:rPr>
              <a:t>	</a:t>
            </a:r>
            <a:endParaRPr lang="en-US" sz="2670" dirty="0"/>
          </a:p>
        </p:txBody>
      </p:sp>
      <p:sp>
        <p:nvSpPr>
          <p:cNvPr id="13" name="Shape 9"/>
          <p:cNvSpPr/>
          <p:nvPr/>
        </p:nvSpPr>
        <p:spPr>
          <a:xfrm>
            <a:off x="793369" y="2685669"/>
            <a:ext cx="2152269" cy="550291"/>
          </a:xfrm>
          <a:prstGeom prst="parallelogram">
            <a:avLst>
              <a:gd name="adj" fmla="val 25000"/>
            </a:avLst>
          </a:prstGeom>
          <a:solidFill>
            <a:srgbClr val="04579A"/>
          </a:solidFill>
          <a:ln w="12700">
            <a:solidFill>
              <a:srgbClr val="304B73"/>
            </a:solidFill>
            <a:prstDash val="solid"/>
          </a:ln>
        </p:spPr>
      </p:sp>
      <p:sp>
        <p:nvSpPr>
          <p:cNvPr id="14" name="Text 10"/>
          <p:cNvSpPr/>
          <p:nvPr/>
        </p:nvSpPr>
        <p:spPr>
          <a:xfrm>
            <a:off x="793369" y="2685669"/>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研究内容</a:t>
            </a:r>
            <a:endParaRPr lang="en-US" sz="2400" dirty="0"/>
          </a:p>
        </p:txBody>
      </p:sp>
      <p:sp>
        <p:nvSpPr>
          <p:cNvPr id="15" name="Shape 11"/>
          <p:cNvSpPr/>
          <p:nvPr/>
        </p:nvSpPr>
        <p:spPr>
          <a:xfrm>
            <a:off x="793369" y="6864731"/>
            <a:ext cx="2152269" cy="550291"/>
          </a:xfrm>
          <a:prstGeom prst="parallelogram">
            <a:avLst>
              <a:gd name="adj" fmla="val 25000"/>
            </a:avLst>
          </a:prstGeom>
          <a:solidFill>
            <a:srgbClr val="04579A"/>
          </a:solidFill>
          <a:ln w="12700">
            <a:solidFill>
              <a:srgbClr val="304B73"/>
            </a:solidFill>
            <a:prstDash val="solid"/>
          </a:ln>
        </p:spPr>
      </p:sp>
      <p:sp>
        <p:nvSpPr>
          <p:cNvPr id="16" name="Text 12"/>
          <p:cNvSpPr/>
          <p:nvPr/>
        </p:nvSpPr>
        <p:spPr>
          <a:xfrm>
            <a:off x="793369" y="6864731"/>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预期目标</a:t>
            </a:r>
            <a:endParaRPr lang="en-US" sz="2400" dirty="0"/>
          </a:p>
        </p:txBody>
      </p:sp>
      <p:sp>
        <p:nvSpPr>
          <p:cNvPr id="17" name="Text 13"/>
          <p:cNvSpPr/>
          <p:nvPr/>
        </p:nvSpPr>
        <p:spPr>
          <a:xfrm>
            <a:off x="1253871" y="7546340"/>
            <a:ext cx="13355320" cy="1440180"/>
          </a:xfrm>
          <a:prstGeom prst="rect">
            <a:avLst/>
          </a:prstGeom>
          <a:noFill/>
          <a:ln/>
        </p:spPr>
        <p:txBody>
          <a:bodyPr wrap="square" lIns="0" tIns="0" rIns="0" bIns="0" rtlCol="0" anchor="t"/>
          <a:lstStyle/>
          <a:p>
            <a:pPr algn="l">
              <a:lnSpc>
                <a:spcPct val="120000"/>
              </a:lnSpc>
              <a:spcBef>
                <a:spcPts val="800"/>
              </a:spcBef>
            </a:pPr>
            <a:r>
              <a:rPr lang="en-US" sz="2400" dirty="0">
                <a:solidFill>
                  <a:srgbClr val="000000"/>
                </a:solidFill>
                <a:latin typeface="MiSans" pitchFamily="34" charset="0"/>
                <a:ea typeface="MiSans" pitchFamily="34" charset="-122"/>
                <a:cs typeface="MiSans" pitchFamily="34" charset="-120"/>
              </a:rPr>
              <a:t>提出可证明安全的分布式数字资产交易协议</a:t>
            </a:r>
            <a:endParaRPr lang="en-US" sz="2400" dirty="0"/>
          </a:p>
        </p:txBody>
      </p:sp>
      <p:sp>
        <p:nvSpPr>
          <p:cNvPr id="18" name="Text 14"/>
          <p:cNvSpPr/>
          <p:nvPr/>
        </p:nvSpPr>
        <p:spPr>
          <a:xfrm>
            <a:off x="793369" y="3657600"/>
            <a:ext cx="6217920" cy="2744724"/>
          </a:xfrm>
          <a:prstGeom prst="rect">
            <a:avLst/>
          </a:prstGeom>
          <a:noFill/>
          <a:ln/>
        </p:spPr>
        <p:txBody>
          <a:bodyPr wrap="square" lIns="0" tIns="0" rIns="0" bIns="0" rtlCol="0" anchor="t"/>
          <a:lstStyle/>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现有的分布式资产交易协议资产兑换机制依赖于诚实矿工假设，难以应对现实中恶意攻击</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分析现有协议的安全漏洞及潜在攻击，重构现有资产兑换范式</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完成安全性分析与证明</a:t>
            </a:r>
            <a:endParaRPr lang="en-US" sz="2400" dirty="0"/>
          </a:p>
        </p:txBody>
      </p:sp>
      <p:sp>
        <p:nvSpPr>
          <p:cNvPr id="19" name="Text 15"/>
          <p:cNvSpPr/>
          <p:nvPr/>
        </p:nvSpPr>
        <p:spPr>
          <a:xfrm>
            <a:off x="7471791" y="6328029"/>
            <a:ext cx="7641463" cy="997712"/>
          </a:xfrm>
          <a:prstGeom prst="rect">
            <a:avLst/>
          </a:prstGeom>
          <a:noFill/>
          <a:ln/>
        </p:spPr>
        <p:txBody>
          <a:bodyPr wrap="square" lIns="0" tIns="0" rIns="0" bIns="0" rtlCol="0" anchor="t"/>
          <a:lstStyle/>
          <a:p>
            <a:pPr algn="l">
              <a:lnSpc>
                <a:spcPct val="150000"/>
              </a:lnSpc>
            </a:pPr>
            <a:r>
              <a:rPr lang="en-US" sz="1870" dirty="0">
                <a:solidFill>
                  <a:srgbClr val="000000"/>
                </a:solidFill>
                <a:latin typeface="MiSans" pitchFamily="34" charset="0"/>
                <a:ea typeface="MiSans" pitchFamily="34" charset="-122"/>
                <a:cs typeface="MiSans" pitchFamily="34" charset="-120"/>
              </a:rPr>
              <a:t>分布式资产交易协议的基础构建范式HTLC范式通过时间锁定保证资产的合法兑换，但在贿赂矿工的前提下恶意用户抢先侵占诚实用户的资产</a:t>
            </a:r>
            <a:endParaRPr lang="en-US" sz="1870" dirty="0"/>
          </a:p>
        </p:txBody>
      </p:sp>
      <p:pic>
        <p:nvPicPr>
          <p:cNvPr id="20" name="Image 1" descr="https://kimi-img.moonshot.cn/pub/slides/okc/flfuysioo4gzm/mnt/agents/output/yuan_pptd/images/image_9.png">    </p:cNvPr>
          <p:cNvPicPr>
            <a:picLocks noChangeAspect="1"/>
          </p:cNvPicPr>
          <p:nvPr/>
        </p:nvPicPr>
        <p:blipFill>
          <a:blip r:embed="rId2"/>
          <a:stretch>
            <a:fillRect/>
          </a:stretch>
        </p:blipFill>
        <p:spPr>
          <a:xfrm>
            <a:off x="7653020" y="3523742"/>
            <a:ext cx="3645408" cy="2435479"/>
          </a:xfrm>
          <a:prstGeom prst="rect">
            <a:avLst/>
          </a:prstGeom>
        </p:spPr>
      </p:pic>
      <p:pic>
        <p:nvPicPr>
          <p:cNvPr id="21" name="Image 2" descr="https://kimi-img.moonshot.cn/pub/slides/okc/flfuysioo4gzm/mnt/agents/output/yuan_pptd/images/image_10.png">    </p:cNvPr>
          <p:cNvPicPr>
            <a:picLocks noChangeAspect="1"/>
          </p:cNvPicPr>
          <p:nvPr/>
        </p:nvPicPr>
        <p:blipFill>
          <a:blip r:embed="rId3"/>
          <a:stretch>
            <a:fillRect/>
          </a:stretch>
        </p:blipFill>
        <p:spPr>
          <a:xfrm>
            <a:off x="11605387" y="3542411"/>
            <a:ext cx="3455035" cy="2369185"/>
          </a:xfrm>
          <a:prstGeom prst="rect">
            <a:avLst/>
          </a:prstGeom>
        </p:spPr>
      </p:pic>
      <p:sp>
        <p:nvSpPr>
          <p:cNvPr id="22" name="Shape 16"/>
          <p:cNvSpPr/>
          <p:nvPr/>
        </p:nvSpPr>
        <p:spPr>
          <a:xfrm>
            <a:off x="11445113" y="3430651"/>
            <a:ext cx="3668141" cy="2586228"/>
          </a:xfrm>
          <a:prstGeom prst="roundRect">
            <a:avLst>
              <a:gd name="adj" fmla="val 16667"/>
            </a:avLst>
          </a:prstGeom>
          <a:noFill/>
          <a:ln w="12700">
            <a:solidFill>
              <a:srgbClr val="0070C0"/>
            </a:solidFill>
            <a:prstDash val="solid"/>
          </a:ln>
        </p:spPr>
      </p:sp>
      <p:sp>
        <p:nvSpPr>
          <p:cNvPr id="23" name="Text 17"/>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23</a:t>
            </a:r>
            <a:endParaRPr lang="en-US" sz="2400" dirty="0"/>
          </a:p>
        </p:txBody>
      </p:sp>
    </p:spTree>
  </p:cSld>
  <p:clrMapOvr>
    <a:masterClrMapping/>
  </p:clrMapOvr>
  <p:transition>
    <p:fade/>
    <p:spd val="med"/>
  </p:transition>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816469" y="-889"/>
            <a:ext cx="4154551" cy="962660"/>
          </a:xfrm>
          <a:prstGeom prst="rect">
            <a:avLst/>
          </a:prstGeom>
          <a:solidFill>
            <a:srgbClr val="F2F2F2"/>
          </a:solidFill>
          <a:ln w="12700">
            <a:solidFill>
              <a:srgbClr val="F2F2F2"/>
            </a:solidFill>
            <a:prstDash val="solid"/>
          </a:ln>
        </p:spPr>
      </p:sp>
      <p:sp>
        <p:nvSpPr>
          <p:cNvPr id="4" name="Shape 1"/>
          <p:cNvSpPr/>
          <p:nvPr/>
        </p:nvSpPr>
        <p:spPr>
          <a:xfrm>
            <a:off x="7816469" y="4191"/>
            <a:ext cx="4152900" cy="962660"/>
          </a:xfrm>
          <a:prstGeom prst="rect">
            <a:avLst/>
          </a:prstGeom>
          <a:solidFill>
            <a:srgbClr val="04579A"/>
          </a:solidFill>
          <a:ln w="12700">
            <a:solidFill>
              <a:srgbClr val="04579A"/>
            </a:solidFill>
            <a:prstDash val="solid"/>
          </a:ln>
        </p:spPr>
      </p:sp>
      <p:sp>
        <p:nvSpPr>
          <p:cNvPr id="5" name="Shape 2"/>
          <p:cNvSpPr/>
          <p:nvPr/>
        </p:nvSpPr>
        <p:spPr>
          <a:xfrm>
            <a:off x="5162169" y="-889"/>
            <a:ext cx="2654300" cy="962660"/>
          </a:xfrm>
          <a:prstGeom prst="rect">
            <a:avLst/>
          </a:prstGeom>
          <a:solidFill>
            <a:srgbClr val="F2F2F2"/>
          </a:solidFill>
          <a:ln w="12700">
            <a:solidFill>
              <a:srgbClr val="F2F2F2"/>
            </a:solidFill>
            <a:prstDash val="solid"/>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942209" cy="962660"/>
          </a:xfrm>
          <a:prstGeom prst="rect">
            <a:avLst/>
          </a:prstGeom>
          <a:solidFill>
            <a:srgbClr val="F2F2F2"/>
          </a:solidFill>
          <a:ln w="12700">
            <a:solidFill>
              <a:srgbClr val="F2F2F2"/>
            </a:solidFill>
            <a:prstDash val="solid"/>
          </a:ln>
        </p:spPr>
      </p:sp>
      <p:sp>
        <p:nvSpPr>
          <p:cNvPr id="8" name="Text 5"/>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选题背景及意义       国内外研究现状       </a:t>
            </a:r>
            <a:pPr algn="l">
              <a:lnSpc>
                <a:spcPct val="120000"/>
              </a:lnSpc>
            </a:pPr>
            <a:r>
              <a:rPr lang="en-US" sz="2400" dirty="0">
                <a:solidFill>
                  <a:srgbClr val="FFFFFF"/>
                </a:solidFill>
                <a:latin typeface="Arial" pitchFamily="34" charset="0"/>
                <a:ea typeface="Arial" pitchFamily="34" charset="-122"/>
                <a:cs typeface="Arial" pitchFamily="34" charset="-120"/>
              </a:rPr>
              <a:t>主要研究内容及预期目标</a:t>
            </a:r>
            <a:pPr algn="l">
              <a:lnSpc>
                <a:spcPct val="120000"/>
              </a:lnSpc>
            </a:pPr>
            <a:r>
              <a:rPr lang="en-US" sz="2400" dirty="0">
                <a:solidFill>
                  <a:srgbClr val="000000"/>
                </a:solidFill>
                <a:latin typeface="Arial" pitchFamily="34" charset="0"/>
                <a:ea typeface="Arial" pitchFamily="34" charset="-122"/>
                <a:cs typeface="Arial" pitchFamily="34" charset="-120"/>
              </a:rPr>
              <a:t>             工作计划与进度安排</a:t>
            </a:r>
            <a:endParaRPr lang="en-US" sz="2400" dirty="0"/>
          </a:p>
        </p:txBody>
      </p:sp>
      <p:pic>
        <p:nvPicPr>
          <p:cNvPr id="9"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0" name="Shape 6"/>
          <p:cNvSpPr/>
          <p:nvPr/>
        </p:nvSpPr>
        <p:spPr>
          <a:xfrm rot="10800000">
            <a:off x="9699371" y="961009"/>
            <a:ext cx="389509" cy="304800"/>
          </a:xfrm>
          <a:prstGeom prst="triangle">
            <a:avLst>
              <a:gd name="adj" fmla="val 50000"/>
            </a:avLst>
          </a:prstGeom>
          <a:solidFill>
            <a:srgbClr val="04579A"/>
          </a:solidFill>
          <a:ln/>
        </p:spPr>
      </p:sp>
      <p:sp>
        <p:nvSpPr>
          <p:cNvPr id="11" name="Text 7"/>
          <p:cNvSpPr/>
          <p:nvPr/>
        </p:nvSpPr>
        <p:spPr>
          <a:xfrm>
            <a:off x="793369" y="1895729"/>
            <a:ext cx="14411960" cy="531749"/>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大规模环境下可扩展分布式数字资产交易协议设计与分析</a:t>
            </a:r>
            <a:endParaRPr lang="en-US" sz="2670" dirty="0"/>
          </a:p>
        </p:txBody>
      </p:sp>
      <p:sp>
        <p:nvSpPr>
          <p:cNvPr id="12" name="Text 8"/>
          <p:cNvSpPr/>
          <p:nvPr/>
        </p:nvSpPr>
        <p:spPr>
          <a:xfrm>
            <a:off x="1253871" y="7546340"/>
            <a:ext cx="13355320" cy="1440180"/>
          </a:xfrm>
          <a:prstGeom prst="rect">
            <a:avLst/>
          </a:prstGeom>
          <a:noFill/>
          <a:ln/>
        </p:spPr>
        <p:txBody>
          <a:bodyPr wrap="square" lIns="0" tIns="0" rIns="0" bIns="0" rtlCol="0" anchor="t"/>
          <a:lstStyle/>
          <a:p>
            <a:pPr algn="l" marL="381000" indent="-381000">
              <a:lnSpc>
                <a:spcPct val="120000"/>
              </a:lnSpc>
              <a:spcBef>
                <a:spcPts val="10"/>
              </a:spcBef>
              <a:buSzPct val="100000"/>
              <a:buChar char="•"/>
            </a:pPr>
            <a:r>
              <a:rPr lang="en-US" sz="2400" dirty="0">
                <a:solidFill>
                  <a:srgbClr val="000000"/>
                </a:solidFill>
                <a:latin typeface="Arial" pitchFamily="34" charset="0"/>
                <a:ea typeface="Arial" pitchFamily="34" charset="-122"/>
                <a:cs typeface="Arial" pitchFamily="34" charset="-120"/>
              </a:rPr>
              <a:t>提出强可靠的可扩展分布式数字资产交易协议</a:t>
            </a:r>
            <a:endParaRPr lang="en-US" sz="2400" dirty="0"/>
          </a:p>
        </p:txBody>
      </p:sp>
      <p:sp>
        <p:nvSpPr>
          <p:cNvPr id="13" name="Shape 9"/>
          <p:cNvSpPr/>
          <p:nvPr/>
        </p:nvSpPr>
        <p:spPr>
          <a:xfrm>
            <a:off x="793369" y="2685669"/>
            <a:ext cx="2152269" cy="550291"/>
          </a:xfrm>
          <a:prstGeom prst="parallelogram">
            <a:avLst>
              <a:gd name="adj" fmla="val 25000"/>
            </a:avLst>
          </a:prstGeom>
          <a:solidFill>
            <a:srgbClr val="04579A"/>
          </a:solidFill>
          <a:ln w="12700">
            <a:solidFill>
              <a:srgbClr val="304B73"/>
            </a:solidFill>
            <a:prstDash val="solid"/>
          </a:ln>
        </p:spPr>
      </p:sp>
      <p:sp>
        <p:nvSpPr>
          <p:cNvPr id="14" name="Text 10"/>
          <p:cNvSpPr/>
          <p:nvPr/>
        </p:nvSpPr>
        <p:spPr>
          <a:xfrm>
            <a:off x="793369" y="2685669"/>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研究内容</a:t>
            </a:r>
            <a:endParaRPr lang="en-US" sz="2400" dirty="0"/>
          </a:p>
        </p:txBody>
      </p:sp>
      <p:sp>
        <p:nvSpPr>
          <p:cNvPr id="15" name="Shape 11"/>
          <p:cNvSpPr/>
          <p:nvPr/>
        </p:nvSpPr>
        <p:spPr>
          <a:xfrm>
            <a:off x="793369" y="6864731"/>
            <a:ext cx="2152269" cy="550291"/>
          </a:xfrm>
          <a:prstGeom prst="parallelogram">
            <a:avLst>
              <a:gd name="adj" fmla="val 25000"/>
            </a:avLst>
          </a:prstGeom>
          <a:solidFill>
            <a:srgbClr val="04579A"/>
          </a:solidFill>
          <a:ln w="12700">
            <a:solidFill>
              <a:srgbClr val="304B73"/>
            </a:solidFill>
            <a:prstDash val="solid"/>
          </a:ln>
        </p:spPr>
      </p:sp>
      <p:sp>
        <p:nvSpPr>
          <p:cNvPr id="16" name="Text 12"/>
          <p:cNvSpPr/>
          <p:nvPr/>
        </p:nvSpPr>
        <p:spPr>
          <a:xfrm>
            <a:off x="793369" y="6864731"/>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预期目标</a:t>
            </a:r>
            <a:endParaRPr lang="en-US" sz="2400" dirty="0"/>
          </a:p>
        </p:txBody>
      </p:sp>
      <p:sp>
        <p:nvSpPr>
          <p:cNvPr id="17" name="Text 13"/>
          <p:cNvSpPr/>
          <p:nvPr/>
        </p:nvSpPr>
        <p:spPr>
          <a:xfrm>
            <a:off x="793369" y="3657600"/>
            <a:ext cx="5968111" cy="1858391"/>
          </a:xfrm>
          <a:prstGeom prst="rect">
            <a:avLst/>
          </a:prstGeom>
          <a:noFill/>
          <a:ln/>
        </p:spPr>
        <p:txBody>
          <a:bodyPr wrap="square" lIns="0" tIns="0" rIns="0" bIns="0" rtlCol="0" anchor="t"/>
          <a:lstStyle/>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研究满足信道资产流动性的再平衡机制</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设计高效虚拟信道协议</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设计多方信道安全更新协议</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完成实验并在真实网络中进行测试</a:t>
            </a:r>
            <a:endParaRPr lang="en-US" sz="2400" dirty="0"/>
          </a:p>
        </p:txBody>
      </p:sp>
      <p:pic>
        <p:nvPicPr>
          <p:cNvPr id="18" name="Image 1" descr="https://kimi-img.moonshot.cn/pub/slides/okc/flfuysioo4gzm/mnt/agents/output/yuan_pptd/images/image_11.png">    </p:cNvPr>
          <p:cNvPicPr>
            <a:picLocks noChangeAspect="1"/>
          </p:cNvPicPr>
          <p:nvPr/>
        </p:nvPicPr>
        <p:blipFill>
          <a:blip r:embed="rId2"/>
          <a:stretch>
            <a:fillRect/>
          </a:stretch>
        </p:blipFill>
        <p:spPr>
          <a:xfrm>
            <a:off x="8594217" y="3162554"/>
            <a:ext cx="5738876" cy="2918206"/>
          </a:xfrm>
          <a:prstGeom prst="rect">
            <a:avLst/>
          </a:prstGeom>
        </p:spPr>
      </p:pic>
      <p:sp>
        <p:nvSpPr>
          <p:cNvPr id="19" name="Text 14"/>
          <p:cNvSpPr/>
          <p:nvPr/>
        </p:nvSpPr>
        <p:spPr>
          <a:xfrm>
            <a:off x="8402701" y="6211951"/>
            <a:ext cx="6121908" cy="997712"/>
          </a:xfrm>
          <a:prstGeom prst="rect">
            <a:avLst/>
          </a:prstGeom>
          <a:noFill/>
          <a:ln/>
        </p:spPr>
        <p:txBody>
          <a:bodyPr wrap="square" lIns="0" tIns="0" rIns="0" bIns="0" rtlCol="0" anchor="t"/>
          <a:lstStyle/>
          <a:p>
            <a:pPr algn="l">
              <a:lnSpc>
                <a:spcPct val="150000"/>
              </a:lnSpc>
            </a:pPr>
            <a:r>
              <a:rPr lang="en-US" sz="1870" dirty="0">
                <a:solidFill>
                  <a:srgbClr val="000000"/>
                </a:solidFill>
                <a:latin typeface="MiSans" pitchFamily="34" charset="0"/>
                <a:ea typeface="MiSans" pitchFamily="34" charset="-122"/>
                <a:cs typeface="MiSans" pitchFamily="34" charset="-120"/>
              </a:rPr>
              <a:t>现有链下可扩展性方案对于多跳支付导致的方向性永久流量衰减只起到暂时的缓解作用，不能释放其理想性能</a:t>
            </a:r>
            <a:endParaRPr lang="en-US" sz="1870" dirty="0"/>
          </a:p>
        </p:txBody>
      </p:sp>
      <p:sp>
        <p:nvSpPr>
          <p:cNvPr id="20" name="Text 15"/>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24</a:t>
            </a:r>
            <a:endParaRPr lang="en-US" sz="2400" dirty="0"/>
          </a:p>
        </p:txBody>
      </p:sp>
    </p:spTree>
  </p:cSld>
  <p:clrMapOvr>
    <a:masterClrMapping/>
  </p:clrMapOvr>
  <p:transition>
    <p:fade/>
    <p:spd val="med"/>
  </p:transition>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816469" y="-889"/>
            <a:ext cx="4154551" cy="962660"/>
          </a:xfrm>
          <a:prstGeom prst="rect">
            <a:avLst/>
          </a:prstGeom>
          <a:solidFill>
            <a:srgbClr val="F2F2F2"/>
          </a:solidFill>
          <a:ln w="12700">
            <a:solidFill>
              <a:srgbClr val="F2F2F2"/>
            </a:solidFill>
            <a:prstDash val="solid"/>
          </a:ln>
        </p:spPr>
      </p:sp>
      <p:sp>
        <p:nvSpPr>
          <p:cNvPr id="4" name="Shape 1"/>
          <p:cNvSpPr/>
          <p:nvPr/>
        </p:nvSpPr>
        <p:spPr>
          <a:xfrm>
            <a:off x="7816469" y="4191"/>
            <a:ext cx="4152900" cy="962660"/>
          </a:xfrm>
          <a:prstGeom prst="rect">
            <a:avLst/>
          </a:prstGeom>
          <a:solidFill>
            <a:srgbClr val="04579A"/>
          </a:solidFill>
          <a:ln w="12700">
            <a:solidFill>
              <a:srgbClr val="04579A"/>
            </a:solidFill>
            <a:prstDash val="solid"/>
          </a:ln>
        </p:spPr>
      </p:sp>
      <p:sp>
        <p:nvSpPr>
          <p:cNvPr id="5" name="Shape 2"/>
          <p:cNvSpPr/>
          <p:nvPr/>
        </p:nvSpPr>
        <p:spPr>
          <a:xfrm>
            <a:off x="5162169" y="-889"/>
            <a:ext cx="2654300" cy="962660"/>
          </a:xfrm>
          <a:prstGeom prst="rect">
            <a:avLst/>
          </a:prstGeom>
          <a:solidFill>
            <a:srgbClr val="F2F2F2"/>
          </a:solidFill>
          <a:ln w="12700">
            <a:solidFill>
              <a:srgbClr val="F2F2F2"/>
            </a:solidFill>
            <a:prstDash val="solid"/>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942209" cy="962660"/>
          </a:xfrm>
          <a:prstGeom prst="rect">
            <a:avLst/>
          </a:prstGeom>
          <a:solidFill>
            <a:srgbClr val="F2F2F2"/>
          </a:solidFill>
          <a:ln w="12700">
            <a:solidFill>
              <a:srgbClr val="F2F2F2"/>
            </a:solidFill>
            <a:prstDash val="solid"/>
          </a:ln>
        </p:spPr>
      </p:sp>
      <p:sp>
        <p:nvSpPr>
          <p:cNvPr id="8" name="Text 5"/>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选题背景及意义       国内外研究现状       </a:t>
            </a:r>
            <a:pPr algn="l">
              <a:lnSpc>
                <a:spcPct val="120000"/>
              </a:lnSpc>
            </a:pPr>
            <a:r>
              <a:rPr lang="en-US" sz="2400" dirty="0">
                <a:solidFill>
                  <a:srgbClr val="FFFFFF"/>
                </a:solidFill>
                <a:latin typeface="Arial" pitchFamily="34" charset="0"/>
                <a:ea typeface="Arial" pitchFamily="34" charset="-122"/>
                <a:cs typeface="Arial" pitchFamily="34" charset="-120"/>
              </a:rPr>
              <a:t>主要研究内容及预期目标</a:t>
            </a:r>
            <a:pPr algn="l">
              <a:lnSpc>
                <a:spcPct val="120000"/>
              </a:lnSpc>
            </a:pPr>
            <a:r>
              <a:rPr lang="en-US" sz="2400" dirty="0">
                <a:solidFill>
                  <a:srgbClr val="000000"/>
                </a:solidFill>
                <a:latin typeface="Arial" pitchFamily="34" charset="0"/>
                <a:ea typeface="Arial" pitchFamily="34" charset="-122"/>
                <a:cs typeface="Arial" pitchFamily="34" charset="-120"/>
              </a:rPr>
              <a:t>             工作计划与进度安排</a:t>
            </a:r>
            <a:endParaRPr lang="en-US" sz="2400" dirty="0"/>
          </a:p>
        </p:txBody>
      </p:sp>
      <p:pic>
        <p:nvPicPr>
          <p:cNvPr id="9"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0" name="Shape 6"/>
          <p:cNvSpPr/>
          <p:nvPr/>
        </p:nvSpPr>
        <p:spPr>
          <a:xfrm rot="10800000">
            <a:off x="9699371" y="961009"/>
            <a:ext cx="389509" cy="304800"/>
          </a:xfrm>
          <a:prstGeom prst="triangle">
            <a:avLst>
              <a:gd name="adj" fmla="val 50000"/>
            </a:avLst>
          </a:prstGeom>
          <a:solidFill>
            <a:srgbClr val="04579A"/>
          </a:solidFill>
          <a:ln/>
        </p:spPr>
      </p:sp>
      <p:sp>
        <p:nvSpPr>
          <p:cNvPr id="11" name="Text 7"/>
          <p:cNvSpPr/>
          <p:nvPr/>
        </p:nvSpPr>
        <p:spPr>
          <a:xfrm>
            <a:off x="793369" y="1895729"/>
            <a:ext cx="14411960" cy="533527"/>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多源异构环境下分布式数字资产跨链验证协议设计与分析</a:t>
            </a:r>
            <a:pPr algn="l">
              <a:lnSpc>
                <a:spcPct val="120000"/>
              </a:lnSpc>
            </a:pPr>
            <a:r>
              <a:rPr lang="en-US" sz="2670" b="1" dirty="0">
                <a:solidFill>
                  <a:srgbClr val="04579A"/>
                </a:solidFill>
                <a:latin typeface="MiSans" pitchFamily="34" charset="0"/>
                <a:ea typeface="MiSans" pitchFamily="34" charset="-122"/>
                <a:cs typeface="MiSans" pitchFamily="34" charset="-120"/>
              </a:rPr>
              <a:t>	</a:t>
            </a:r>
            <a:endParaRPr lang="en-US" sz="2670" dirty="0"/>
          </a:p>
        </p:txBody>
      </p:sp>
      <p:sp>
        <p:nvSpPr>
          <p:cNvPr id="12" name="Shape 8"/>
          <p:cNvSpPr/>
          <p:nvPr/>
        </p:nvSpPr>
        <p:spPr>
          <a:xfrm>
            <a:off x="793369" y="6864731"/>
            <a:ext cx="2152269" cy="550291"/>
          </a:xfrm>
          <a:prstGeom prst="parallelogram">
            <a:avLst>
              <a:gd name="adj" fmla="val 25000"/>
            </a:avLst>
          </a:prstGeom>
          <a:solidFill>
            <a:srgbClr val="04579A"/>
          </a:solidFill>
          <a:ln w="12700">
            <a:solidFill>
              <a:srgbClr val="304B73"/>
            </a:solidFill>
            <a:prstDash val="solid"/>
          </a:ln>
        </p:spPr>
      </p:sp>
      <p:sp>
        <p:nvSpPr>
          <p:cNvPr id="13" name="Text 9"/>
          <p:cNvSpPr/>
          <p:nvPr/>
        </p:nvSpPr>
        <p:spPr>
          <a:xfrm>
            <a:off x="793369" y="6864731"/>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预期目标</a:t>
            </a:r>
            <a:endParaRPr lang="en-US" sz="2400" dirty="0"/>
          </a:p>
        </p:txBody>
      </p:sp>
      <p:sp>
        <p:nvSpPr>
          <p:cNvPr id="14" name="Text 10"/>
          <p:cNvSpPr/>
          <p:nvPr/>
        </p:nvSpPr>
        <p:spPr>
          <a:xfrm>
            <a:off x="1253871" y="7546340"/>
            <a:ext cx="13355320" cy="1440180"/>
          </a:xfrm>
          <a:prstGeom prst="rect">
            <a:avLst/>
          </a:prstGeom>
          <a:noFill/>
          <a:ln/>
        </p:spPr>
        <p:txBody>
          <a:bodyPr wrap="square" lIns="0" tIns="0" rIns="0" bIns="0" rtlCol="0" anchor="t"/>
          <a:lstStyle/>
          <a:p>
            <a:pPr algn="l" marL="381000" indent="-381000">
              <a:lnSpc>
                <a:spcPct val="120000"/>
              </a:lnSpc>
              <a:spcBef>
                <a:spcPts val="10"/>
              </a:spcBef>
              <a:buSzPct val="100000"/>
              <a:buChar char="•"/>
            </a:pPr>
            <a:r>
              <a:rPr lang="en-US" sz="2400" dirty="0">
                <a:solidFill>
                  <a:srgbClr val="000000"/>
                </a:solidFill>
                <a:latin typeface="Arial" pitchFamily="34" charset="0"/>
                <a:ea typeface="Arial" pitchFamily="34" charset="-122"/>
                <a:cs typeface="Arial" pitchFamily="34" charset="-120"/>
              </a:rPr>
              <a:t>设计互操作性增强的高效分布式数字资产交易协议</a:t>
            </a:r>
            <a:endParaRPr lang="en-US" sz="2400" dirty="0"/>
          </a:p>
        </p:txBody>
      </p:sp>
      <p:sp>
        <p:nvSpPr>
          <p:cNvPr id="15" name="Shape 11"/>
          <p:cNvSpPr/>
          <p:nvPr/>
        </p:nvSpPr>
        <p:spPr>
          <a:xfrm>
            <a:off x="793369" y="2685669"/>
            <a:ext cx="2152269" cy="550291"/>
          </a:xfrm>
          <a:prstGeom prst="parallelogram">
            <a:avLst>
              <a:gd name="adj" fmla="val 25000"/>
            </a:avLst>
          </a:prstGeom>
          <a:solidFill>
            <a:srgbClr val="04579A"/>
          </a:solidFill>
          <a:ln w="12700">
            <a:solidFill>
              <a:srgbClr val="304B73"/>
            </a:solidFill>
            <a:prstDash val="solid"/>
          </a:ln>
        </p:spPr>
      </p:sp>
      <p:sp>
        <p:nvSpPr>
          <p:cNvPr id="16" name="Text 12"/>
          <p:cNvSpPr/>
          <p:nvPr/>
        </p:nvSpPr>
        <p:spPr>
          <a:xfrm>
            <a:off x="793369" y="2685669"/>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研究内容</a:t>
            </a:r>
            <a:endParaRPr lang="en-US" sz="2400" dirty="0"/>
          </a:p>
        </p:txBody>
      </p:sp>
      <p:sp>
        <p:nvSpPr>
          <p:cNvPr id="17" name="Text 13"/>
          <p:cNvSpPr/>
          <p:nvPr/>
        </p:nvSpPr>
        <p:spPr>
          <a:xfrm>
            <a:off x="793369" y="3657600"/>
            <a:ext cx="6474333" cy="2301621"/>
          </a:xfrm>
          <a:prstGeom prst="rect">
            <a:avLst/>
          </a:prstGeom>
          <a:noFill/>
          <a:ln/>
        </p:spPr>
        <p:txBody>
          <a:bodyPr wrap="square" lIns="0" tIns="0" rIns="0" bIns="0" rtlCol="0" anchor="t"/>
          <a:lstStyle/>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研究异构区块链之间通用跨链交易验证机制</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使用基础数字签名技术结合随机化承诺方案弱化目标链上条件支付的脚本语言需求</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实现链下状态更新和条件支付之间的双向绑定机制</a:t>
            </a:r>
            <a:endParaRPr lang="en-US" sz="2400" dirty="0"/>
          </a:p>
        </p:txBody>
      </p:sp>
      <p:pic>
        <p:nvPicPr>
          <p:cNvPr id="18" name="Image 1" descr="https://kimi-img.moonshot.cn/pub/slides/okc/flfuysioo4gzm/mnt/agents/output/yuan_pptd/images/image_12.png">    </p:cNvPr>
          <p:cNvPicPr>
            <a:picLocks noChangeAspect="1"/>
          </p:cNvPicPr>
          <p:nvPr/>
        </p:nvPicPr>
        <p:blipFill>
          <a:blip r:embed="rId2"/>
          <a:stretch>
            <a:fillRect/>
          </a:stretch>
        </p:blipFill>
        <p:spPr>
          <a:xfrm>
            <a:off x="7891018" y="2852928"/>
            <a:ext cx="7630414" cy="3911727"/>
          </a:xfrm>
          <a:prstGeom prst="rect">
            <a:avLst/>
          </a:prstGeom>
        </p:spPr>
      </p:pic>
      <p:sp>
        <p:nvSpPr>
          <p:cNvPr id="19" name="Text 14"/>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25</a:t>
            </a:r>
            <a:endParaRPr lang="en-US" sz="2400" dirty="0"/>
          </a:p>
        </p:txBody>
      </p:sp>
    </p:spTree>
  </p:cSld>
  <p:clrMapOvr>
    <a:masterClrMapping/>
  </p:clrMapOvr>
  <p:transition>
    <p:fade/>
    <p:spd val="med"/>
  </p:transition>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1971020" y="0"/>
            <a:ext cx="4284980" cy="961771"/>
          </a:xfrm>
          <a:prstGeom prst="rect">
            <a:avLst/>
          </a:prstGeom>
          <a:solidFill>
            <a:srgbClr val="F2F2F2"/>
          </a:solidFill>
          <a:ln/>
        </p:spPr>
      </p:sp>
      <p:sp>
        <p:nvSpPr>
          <p:cNvPr id="4" name="Shape 1"/>
          <p:cNvSpPr/>
          <p:nvPr/>
        </p:nvSpPr>
        <p:spPr>
          <a:xfrm>
            <a:off x="11970131" y="4191"/>
            <a:ext cx="4285869" cy="962660"/>
          </a:xfrm>
          <a:prstGeom prst="rect">
            <a:avLst/>
          </a:prstGeom>
          <a:solidFill>
            <a:srgbClr val="04579A"/>
          </a:solidFill>
          <a:ln w="12700">
            <a:solidFill>
              <a:srgbClr val="04579A"/>
            </a:solidFill>
            <a:prstDash val="solid"/>
          </a:ln>
        </p:spPr>
      </p:sp>
      <p:sp>
        <p:nvSpPr>
          <p:cNvPr id="5" name="Shape 2"/>
          <p:cNvSpPr/>
          <p:nvPr/>
        </p:nvSpPr>
        <p:spPr>
          <a:xfrm>
            <a:off x="7816469" y="-889"/>
            <a:ext cx="4154551" cy="962660"/>
          </a:xfrm>
          <a:prstGeom prst="rect">
            <a:avLst/>
          </a:prstGeom>
          <a:solidFill>
            <a:srgbClr val="F2F2F2"/>
          </a:solidFill>
          <a:ln w="12700">
            <a:solidFill>
              <a:srgbClr val="F2F2F2"/>
            </a:solidFill>
            <a:prstDash val="solid"/>
          </a:ln>
        </p:spPr>
      </p:sp>
      <p:sp>
        <p:nvSpPr>
          <p:cNvPr id="6" name="Shape 3"/>
          <p:cNvSpPr/>
          <p:nvPr/>
        </p:nvSpPr>
        <p:spPr>
          <a:xfrm>
            <a:off x="5162169" y="-889"/>
            <a:ext cx="2654300" cy="962660"/>
          </a:xfrm>
          <a:prstGeom prst="rect">
            <a:avLst/>
          </a:prstGeom>
          <a:solidFill>
            <a:srgbClr val="F2F2F2"/>
          </a:solidFill>
          <a:ln w="12700">
            <a:solidFill>
              <a:srgbClr val="F2F2F2"/>
            </a:solidFill>
            <a:prstDash val="solid"/>
          </a:ln>
        </p:spPr>
      </p:sp>
      <p:sp>
        <p:nvSpPr>
          <p:cNvPr id="7" name="Shape 4"/>
          <p:cNvSpPr/>
          <p:nvPr/>
        </p:nvSpPr>
        <p:spPr>
          <a:xfrm>
            <a:off x="2219960" y="-889"/>
            <a:ext cx="2942209" cy="962660"/>
          </a:xfrm>
          <a:prstGeom prst="rect">
            <a:avLst/>
          </a:prstGeom>
          <a:solidFill>
            <a:srgbClr val="F2F2F2"/>
          </a:solidFill>
          <a:ln w="12700">
            <a:solidFill>
              <a:srgbClr val="F2F2F2"/>
            </a:solidFill>
            <a:prstDash val="solid"/>
          </a:ln>
        </p:spPr>
      </p:sp>
      <p:sp>
        <p:nvSpPr>
          <p:cNvPr id="8" name="Text 5"/>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选题背景及意义       国内外研究现状       主要研究内容及预期目标             </a:t>
            </a:r>
            <a:pPr algn="l">
              <a:lnSpc>
                <a:spcPct val="120000"/>
              </a:lnSpc>
            </a:pPr>
            <a:r>
              <a:rPr lang="en-US" sz="2400" dirty="0">
                <a:solidFill>
                  <a:srgbClr val="FFFFFF"/>
                </a:solidFill>
                <a:latin typeface="Arial" pitchFamily="34" charset="0"/>
                <a:ea typeface="Arial" pitchFamily="34" charset="-122"/>
                <a:cs typeface="Arial" pitchFamily="34" charset="-120"/>
              </a:rPr>
              <a:t>工作计划与进度安排</a:t>
            </a:r>
            <a:endParaRPr lang="en-US" sz="2400" dirty="0"/>
          </a:p>
        </p:txBody>
      </p:sp>
      <p:pic>
        <p:nvPicPr>
          <p:cNvPr id="9"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0" name="Shape 6"/>
          <p:cNvSpPr/>
          <p:nvPr/>
        </p:nvSpPr>
        <p:spPr>
          <a:xfrm rot="10800000">
            <a:off x="14222349" y="961009"/>
            <a:ext cx="389509" cy="304800"/>
          </a:xfrm>
          <a:prstGeom prst="triangle">
            <a:avLst>
              <a:gd name="adj" fmla="val 50000"/>
            </a:avLst>
          </a:prstGeom>
          <a:solidFill>
            <a:srgbClr val="04579A"/>
          </a:solidFill>
          <a:ln/>
        </p:spPr>
      </p:sp>
      <p:sp>
        <p:nvSpPr>
          <p:cNvPr id="11" name="Text 7"/>
          <p:cNvSpPr/>
          <p:nvPr/>
        </p:nvSpPr>
        <p:spPr>
          <a:xfrm>
            <a:off x="545211" y="1636649"/>
            <a:ext cx="15306929" cy="2841117"/>
          </a:xfrm>
          <a:prstGeom prst="rect">
            <a:avLst/>
          </a:prstGeom>
          <a:noFill/>
          <a:ln/>
        </p:spPr>
        <p:txBody>
          <a:bodyPr wrap="square" lIns="0" tIns="0" rIns="0" bIns="0" rtlCol="0" anchor="t"/>
          <a:lstStyle/>
          <a:p>
            <a:pPr algn="l">
              <a:lnSpc>
                <a:spcPct val="120000"/>
              </a:lnSpc>
              <a:spcBef>
                <a:spcPts val="800"/>
              </a:spcBef>
            </a:pPr>
            <a:r>
              <a:rPr lang="en-US" sz="3200" b="1" dirty="0">
                <a:solidFill>
                  <a:srgbClr val="000000"/>
                </a:solidFill>
                <a:latin typeface="Arial" pitchFamily="34" charset="0"/>
                <a:ea typeface="Arial" pitchFamily="34" charset="-122"/>
                <a:cs typeface="Arial" pitchFamily="34" charset="-120"/>
              </a:rPr>
              <a:t>已有工作</a:t>
            </a:r>
            <a:pPr algn="l">
              <a:lnSpc>
                <a:spcPct val="120000"/>
              </a:lnSpc>
              <a:spcBef>
                <a:spcPts val="800"/>
              </a:spcBef>
            </a:pPr>
            <a:r>
              <a:rPr lang="en-US" sz="3200" dirty="0">
                <a:solidFill>
                  <a:srgbClr val="000000"/>
                </a:solidFill>
                <a:latin typeface="Arial" pitchFamily="34" charset="0"/>
                <a:ea typeface="Arial" pitchFamily="34" charset="-122"/>
                <a:cs typeface="Arial" pitchFamily="34" charset="-120"/>
              </a:rPr>
              <a:t> </a:t>
            </a:r>
            <a:endParaRPr lang="en-US" sz="3200" dirty="0"/>
          </a:p>
          <a:p>
            <a:pPr algn="l" marL="508000" indent="-508000">
              <a:lnSpc>
                <a:spcPct val="120000"/>
              </a:lnSpc>
              <a:spcBef>
                <a:spcPts val="10"/>
              </a:spcBef>
              <a:buSzPct val="100000"/>
              <a:buFont typeface="+mj-lt"/>
              <a:buAutoNum type="arabicPeriod" startAt="1"/>
            </a:pPr>
            <a:r>
              <a:rPr lang="en-US" sz="2130" dirty="0">
                <a:solidFill>
                  <a:srgbClr val="262626"/>
                </a:solidFill>
                <a:latin typeface="Arial" pitchFamily="34" charset="0"/>
                <a:ea typeface="Arial" pitchFamily="34" charset="-122"/>
                <a:cs typeface="Arial" pitchFamily="34" charset="-120"/>
              </a:rPr>
              <a:t>Tian A, Ni P, Gao Y, et al. Horcrux: Synthesize, Split, Shift and Stay Alive Preventing Channel Depletion via Universal and Enhanced Multi-hop Payments[J]. Cryptology </a:t>
            </a:r>
            <a:pPr algn="l">
              <a:lnSpc>
                <a:spcPct val="120000"/>
              </a:lnSpc>
              <a:spcBef>
                <a:spcPts val="10"/>
              </a:spcBef>
            </a:pPr>
            <a:r>
              <a:rPr lang="en-US" sz="2130" dirty="0">
                <a:solidFill>
                  <a:srgbClr val="262626"/>
                </a:solidFill>
                <a:latin typeface="Arial" pitchFamily="34" charset="0"/>
                <a:ea typeface="Arial" pitchFamily="34" charset="-122"/>
                <a:cs typeface="Arial" pitchFamily="34" charset="-120"/>
              </a:rPr>
              <a:t>ePrint</a:t>
            </a:r>
            <a:pPr algn="l">
              <a:lnSpc>
                <a:spcPct val="120000"/>
              </a:lnSpc>
              <a:spcBef>
                <a:spcPts val="10"/>
              </a:spcBef>
            </a:pPr>
            <a:r>
              <a:rPr lang="en-US" sz="2130" dirty="0">
                <a:solidFill>
                  <a:srgbClr val="262626"/>
                </a:solidFill>
                <a:latin typeface="Arial" pitchFamily="34" charset="0"/>
                <a:ea typeface="Arial" pitchFamily="34" charset="-122"/>
                <a:cs typeface="Arial" pitchFamily="34" charset="-120"/>
              </a:rPr>
              <a:t> Archive, 2024.</a:t>
            </a:r>
            <a:endParaRPr lang="en-US" sz="3200" dirty="0"/>
          </a:p>
          <a:p>
            <a:pPr algn="l">
              <a:lnSpc>
                <a:spcPct val="120000"/>
              </a:lnSpc>
              <a:spcBef>
                <a:spcPts val="800"/>
              </a:spcBef>
            </a:pPr>
            <a:r>
              <a:rPr lang="en-US" sz="3200" dirty="0">
                <a:solidFill>
                  <a:srgbClr val="04579A"/>
                </a:solidFill>
                <a:latin typeface="Arial" pitchFamily="34" charset="0"/>
                <a:ea typeface="Arial" pitchFamily="34" charset="-122"/>
                <a:cs typeface="Arial" pitchFamily="34" charset="-120"/>
              </a:rPr>
              <a:t>     </a:t>
            </a:r>
            <a:pPr algn="l">
              <a:lnSpc>
                <a:spcPct val="120000"/>
              </a:lnSpc>
              <a:spcBef>
                <a:spcPts val="800"/>
              </a:spcBef>
            </a:pPr>
            <a:r>
              <a:rPr lang="en-US" sz="3200" dirty="0">
                <a:solidFill>
                  <a:srgbClr val="04579A"/>
                </a:solidFill>
                <a:latin typeface="Arial" pitchFamily="34" charset="0"/>
                <a:ea typeface="Arial" pitchFamily="34" charset="-122"/>
                <a:cs typeface="Arial" pitchFamily="34" charset="-120"/>
              </a:rPr>
              <a:t>该工作设计了无额外信任假设的抗信道干涸的多方虚拟信道协议</a:t>
            </a:r>
            <a:endParaRPr lang="en-US" sz="3200" dirty="0"/>
          </a:p>
          <a:p>
            <a:pPr algn="l" marL="508000" indent="-508000">
              <a:lnSpc>
                <a:spcPct val="120000"/>
              </a:lnSpc>
              <a:spcBef>
                <a:spcPts val="10"/>
              </a:spcBef>
              <a:buSzPct val="100000"/>
              <a:buFont typeface="+mj-lt"/>
              <a:buAutoNum type="arabicPeriod" startAt="1"/>
            </a:pPr>
            <a:r>
              <a:rPr lang="en-US" sz="3200" dirty="0">
                <a:solidFill>
                  <a:srgbClr val="000000"/>
                </a:solidFill>
                <a:latin typeface="Arial" pitchFamily="34" charset="0"/>
                <a:ea typeface="Arial" pitchFamily="34" charset="-122"/>
                <a:cs typeface="Arial" pitchFamily="34" charset="-120"/>
              </a:rPr>
              <a:t> </a:t>
            </a:r>
            <a:endParaRPr lang="en-US" sz="3200" dirty="0"/>
          </a:p>
        </p:txBody>
      </p:sp>
      <p:pic>
        <p:nvPicPr>
          <p:cNvPr id="12" name="Image 1" descr="https://kimi-img.moonshot.cn/pub/slides/okc/flfuysioo4gzm/mnt/agents/output/yuan_pptd/images/image_35.png">    </p:cNvPr>
          <p:cNvPicPr>
            <a:picLocks noChangeAspect="1"/>
          </p:cNvPicPr>
          <p:nvPr/>
        </p:nvPicPr>
        <p:blipFill>
          <a:blip r:embed="rId2"/>
          <a:stretch>
            <a:fillRect/>
          </a:stretch>
        </p:blipFill>
        <p:spPr>
          <a:xfrm>
            <a:off x="1393317" y="4356354"/>
            <a:ext cx="13144119" cy="3667760"/>
          </a:xfrm>
          <a:prstGeom prst="rect">
            <a:avLst/>
          </a:prstGeom>
        </p:spPr>
      </p:pic>
      <p:sp>
        <p:nvSpPr>
          <p:cNvPr id="13" name="Shape 8"/>
          <p:cNvSpPr/>
          <p:nvPr/>
        </p:nvSpPr>
        <p:spPr>
          <a:xfrm>
            <a:off x="6617970" y="8024114"/>
            <a:ext cx="3161411" cy="408940"/>
          </a:xfrm>
          <a:prstGeom prst="rect">
            <a:avLst/>
          </a:prstGeom>
          <a:solidFill>
            <a:srgbClr val="04579A"/>
          </a:solidFill>
          <a:ln/>
          <a:effectLst>
            <a:outerShdw sx="100000" sy="100000" kx="0" ky="0" algn="bl" rotWithShape="0" blurRad="50800" dist="26924" dir="2700000">
              <a:srgbClr val="000000">
                <a:alpha val="40000"/>
              </a:srgbClr>
            </a:outerShdw>
          </a:effectLst>
        </p:spPr>
      </p:sp>
      <p:sp>
        <p:nvSpPr>
          <p:cNvPr id="14" name="Text 9"/>
          <p:cNvSpPr/>
          <p:nvPr/>
        </p:nvSpPr>
        <p:spPr>
          <a:xfrm>
            <a:off x="6617970" y="8024114"/>
            <a:ext cx="3161411" cy="408940"/>
          </a:xfrm>
          <a:prstGeom prst="rect">
            <a:avLst/>
          </a:prstGeom>
          <a:noFill/>
          <a:ln/>
        </p:spPr>
        <p:txBody>
          <a:bodyPr wrap="square" lIns="0" tIns="0" rIns="0" bIns="0" rtlCol="0" anchor="t"/>
          <a:lstStyle/>
          <a:p>
            <a:pPr algn="ctr">
              <a:lnSpc>
                <a:spcPct val="120000"/>
              </a:lnSpc>
            </a:pPr>
            <a:r>
              <a:rPr lang="en-US" sz="1870" dirty="0">
                <a:solidFill>
                  <a:srgbClr val="FFFFFF"/>
                </a:solidFill>
                <a:latin typeface="Arial" pitchFamily="34" charset="0"/>
                <a:ea typeface="Arial" pitchFamily="34" charset="-122"/>
                <a:cs typeface="Arial" pitchFamily="34" charset="-120"/>
              </a:rPr>
              <a:t>实测结果</a:t>
            </a:r>
            <a:endParaRPr lang="en-US" sz="1870" dirty="0"/>
          </a:p>
        </p:txBody>
      </p:sp>
      <p:sp>
        <p:nvSpPr>
          <p:cNvPr id="15" name="Text 10"/>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26</a:t>
            </a:r>
            <a:endParaRPr lang="en-US" sz="2400" dirty="0"/>
          </a:p>
        </p:txBody>
      </p:sp>
    </p:spTree>
  </p:cSld>
  <p:clrMapOvr>
    <a:masterClrMapping/>
  </p:clrMapOvr>
  <p:transition>
    <p:fade/>
    <p:spd val="med"/>
  </p:transition>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1971020" y="0"/>
            <a:ext cx="4284980" cy="961771"/>
          </a:xfrm>
          <a:prstGeom prst="rect">
            <a:avLst/>
          </a:prstGeom>
          <a:solidFill>
            <a:srgbClr val="F2F2F2"/>
          </a:solidFill>
          <a:ln/>
        </p:spPr>
      </p:sp>
      <p:sp>
        <p:nvSpPr>
          <p:cNvPr id="4" name="Shape 1"/>
          <p:cNvSpPr/>
          <p:nvPr/>
        </p:nvSpPr>
        <p:spPr>
          <a:xfrm>
            <a:off x="11970131" y="4191"/>
            <a:ext cx="4285869" cy="962660"/>
          </a:xfrm>
          <a:prstGeom prst="rect">
            <a:avLst/>
          </a:prstGeom>
          <a:solidFill>
            <a:srgbClr val="04579A"/>
          </a:solidFill>
          <a:ln w="12700">
            <a:solidFill>
              <a:srgbClr val="04579A"/>
            </a:solidFill>
            <a:prstDash val="solid"/>
          </a:ln>
        </p:spPr>
      </p:sp>
      <p:sp>
        <p:nvSpPr>
          <p:cNvPr id="5" name="Shape 2"/>
          <p:cNvSpPr/>
          <p:nvPr/>
        </p:nvSpPr>
        <p:spPr>
          <a:xfrm>
            <a:off x="7816469" y="-889"/>
            <a:ext cx="4154551" cy="962660"/>
          </a:xfrm>
          <a:prstGeom prst="rect">
            <a:avLst/>
          </a:prstGeom>
          <a:solidFill>
            <a:srgbClr val="F2F2F2"/>
          </a:solidFill>
          <a:ln w="12700">
            <a:solidFill>
              <a:srgbClr val="F2F2F2"/>
            </a:solidFill>
            <a:prstDash val="solid"/>
          </a:ln>
        </p:spPr>
      </p:sp>
      <p:sp>
        <p:nvSpPr>
          <p:cNvPr id="6" name="Shape 3"/>
          <p:cNvSpPr/>
          <p:nvPr/>
        </p:nvSpPr>
        <p:spPr>
          <a:xfrm>
            <a:off x="5162169" y="-889"/>
            <a:ext cx="2654300" cy="962660"/>
          </a:xfrm>
          <a:prstGeom prst="rect">
            <a:avLst/>
          </a:prstGeom>
          <a:solidFill>
            <a:srgbClr val="F2F2F2"/>
          </a:solidFill>
          <a:ln w="12700">
            <a:solidFill>
              <a:srgbClr val="F2F2F2"/>
            </a:solidFill>
            <a:prstDash val="solid"/>
          </a:ln>
        </p:spPr>
      </p:sp>
      <p:sp>
        <p:nvSpPr>
          <p:cNvPr id="7" name="Shape 4"/>
          <p:cNvSpPr/>
          <p:nvPr/>
        </p:nvSpPr>
        <p:spPr>
          <a:xfrm>
            <a:off x="2219960" y="-889"/>
            <a:ext cx="2942209" cy="962660"/>
          </a:xfrm>
          <a:prstGeom prst="rect">
            <a:avLst/>
          </a:prstGeom>
          <a:solidFill>
            <a:srgbClr val="F2F2F2"/>
          </a:solidFill>
          <a:ln w="12700">
            <a:solidFill>
              <a:srgbClr val="F2F2F2"/>
            </a:solidFill>
            <a:prstDash val="solid"/>
          </a:ln>
        </p:spPr>
      </p:sp>
      <p:sp>
        <p:nvSpPr>
          <p:cNvPr id="8" name="Text 5"/>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选题背景及意义       国内外研究现状       主要研究内容及预期目标             </a:t>
            </a:r>
            <a:pPr algn="l">
              <a:lnSpc>
                <a:spcPct val="120000"/>
              </a:lnSpc>
            </a:pPr>
            <a:r>
              <a:rPr lang="en-US" sz="2400" dirty="0">
                <a:solidFill>
                  <a:srgbClr val="FFFFFF"/>
                </a:solidFill>
                <a:latin typeface="Arial" pitchFamily="34" charset="0"/>
                <a:ea typeface="Arial" pitchFamily="34" charset="-122"/>
                <a:cs typeface="Arial" pitchFamily="34" charset="-120"/>
              </a:rPr>
              <a:t>工作计划与进度安排</a:t>
            </a:r>
            <a:endParaRPr lang="en-US" sz="2400" dirty="0"/>
          </a:p>
        </p:txBody>
      </p:sp>
      <p:pic>
        <p:nvPicPr>
          <p:cNvPr id="9"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0" name="Shape 6"/>
          <p:cNvSpPr/>
          <p:nvPr/>
        </p:nvSpPr>
        <p:spPr>
          <a:xfrm rot="10800000">
            <a:off x="14222349" y="961009"/>
            <a:ext cx="389509" cy="304800"/>
          </a:xfrm>
          <a:prstGeom prst="triangle">
            <a:avLst>
              <a:gd name="adj" fmla="val 50000"/>
            </a:avLst>
          </a:prstGeom>
          <a:solidFill>
            <a:srgbClr val="04579A"/>
          </a:solidFill>
          <a:ln/>
        </p:spPr>
      </p:sp>
      <p:sp>
        <p:nvSpPr>
          <p:cNvPr id="11" name="Text 7"/>
          <p:cNvSpPr/>
          <p:nvPr/>
        </p:nvSpPr>
        <p:spPr>
          <a:xfrm>
            <a:off x="545211" y="1636649"/>
            <a:ext cx="15306929" cy="2782189"/>
          </a:xfrm>
          <a:prstGeom prst="rect">
            <a:avLst/>
          </a:prstGeom>
          <a:noFill/>
          <a:ln/>
        </p:spPr>
        <p:txBody>
          <a:bodyPr wrap="square" lIns="0" tIns="0" rIns="0" bIns="0" rtlCol="0" anchor="t"/>
          <a:lstStyle/>
          <a:p>
            <a:pPr algn="l">
              <a:lnSpc>
                <a:spcPct val="120000"/>
              </a:lnSpc>
              <a:spcBef>
                <a:spcPts val="800"/>
              </a:spcBef>
            </a:pPr>
            <a:r>
              <a:rPr lang="en-US" sz="3200" b="1" dirty="0">
                <a:solidFill>
                  <a:srgbClr val="000000"/>
                </a:solidFill>
                <a:latin typeface="Arial" pitchFamily="34" charset="0"/>
                <a:ea typeface="Arial" pitchFamily="34" charset="-122"/>
                <a:cs typeface="Arial" pitchFamily="34" charset="-120"/>
              </a:rPr>
              <a:t>已有工作</a:t>
            </a:r>
            <a:pPr algn="l">
              <a:lnSpc>
                <a:spcPct val="120000"/>
              </a:lnSpc>
              <a:spcBef>
                <a:spcPts val="800"/>
              </a:spcBef>
            </a:pPr>
            <a:r>
              <a:rPr lang="en-US" sz="3200" dirty="0">
                <a:solidFill>
                  <a:srgbClr val="000000"/>
                </a:solidFill>
                <a:latin typeface="Arial" pitchFamily="34" charset="0"/>
                <a:ea typeface="Arial" pitchFamily="34" charset="-122"/>
                <a:cs typeface="Arial" pitchFamily="34" charset="-120"/>
              </a:rPr>
              <a:t> </a:t>
            </a:r>
            <a:endParaRPr lang="en-US" sz="3200" dirty="0"/>
          </a:p>
          <a:p>
            <a:pPr algn="l" marL="508000" indent="-508000">
              <a:lnSpc>
                <a:spcPct val="120000"/>
              </a:lnSpc>
              <a:spcBef>
                <a:spcPts val="10"/>
              </a:spcBef>
              <a:buSzPct val="100000"/>
              <a:buFont typeface="+mj-lt"/>
              <a:buAutoNum type="arabicPeriod" startAt="1"/>
            </a:pPr>
            <a:r>
              <a:rPr lang="en-US" sz="2130" dirty="0">
                <a:solidFill>
                  <a:srgbClr val="262626"/>
                </a:solidFill>
                <a:latin typeface="Arial" pitchFamily="34" charset="0"/>
                <a:ea typeface="Arial" pitchFamily="34" charset="-122"/>
                <a:cs typeface="Arial" pitchFamily="34" charset="-120"/>
              </a:rPr>
              <a:t>Ni P, Tian A, Xu J. Warning! The Timeout T Cannot Protect You From Losing Coins: PipeSwap: Forcing the Timely Release of a Secret for Atomic Cross-Chain Swaps[C]//2025 IEEE Symposium on Security and Privacy (SP). IEEE, 2025: 1566-1583</a:t>
            </a:r>
            <a:pPr algn="l">
              <a:lnSpc>
                <a:spcPct val="120000"/>
              </a:lnSpc>
              <a:spcBef>
                <a:spcPts val="10"/>
              </a:spcBef>
            </a:pPr>
            <a:r>
              <a:rPr lang="en-US" sz="2130" dirty="0">
                <a:solidFill>
                  <a:srgbClr val="262626"/>
                </a:solidFill>
                <a:latin typeface="Arial" pitchFamily="34" charset="0"/>
                <a:ea typeface="Arial" pitchFamily="34" charset="-122"/>
                <a:cs typeface="Arial" pitchFamily="34" charset="-120"/>
              </a:rPr>
              <a:t>.</a:t>
            </a:r>
            <a:endParaRPr lang="en-US" sz="3200" dirty="0"/>
          </a:p>
          <a:p>
            <a:pPr algn="l">
              <a:lnSpc>
                <a:spcPct val="120000"/>
              </a:lnSpc>
              <a:spcBef>
                <a:spcPts val="800"/>
              </a:spcBef>
            </a:pPr>
            <a:r>
              <a:rPr lang="en-US" sz="3200" dirty="0">
                <a:solidFill>
                  <a:srgbClr val="04579A"/>
                </a:solidFill>
                <a:latin typeface="Arial" pitchFamily="34" charset="0"/>
                <a:ea typeface="Arial" pitchFamily="34" charset="-122"/>
                <a:cs typeface="Arial" pitchFamily="34" charset="-120"/>
              </a:rPr>
              <a:t>该工作设计了抗</a:t>
            </a:r>
            <a:pPr algn="l">
              <a:lnSpc>
                <a:spcPct val="120000"/>
              </a:lnSpc>
              <a:spcBef>
                <a:spcPts val="800"/>
              </a:spcBef>
            </a:pPr>
            <a:r>
              <a:rPr lang="en-US" sz="3200" dirty="0">
                <a:solidFill>
                  <a:srgbClr val="04579A"/>
                </a:solidFill>
                <a:latin typeface="Arial" pitchFamily="34" charset="0"/>
                <a:ea typeface="Arial" pitchFamily="34" charset="-122"/>
                <a:cs typeface="Arial" pitchFamily="34" charset="-120"/>
              </a:rPr>
              <a:t>double-claiming</a:t>
            </a:r>
            <a:pPr algn="l">
              <a:lnSpc>
                <a:spcPct val="120000"/>
              </a:lnSpc>
              <a:spcBef>
                <a:spcPts val="800"/>
              </a:spcBef>
            </a:pPr>
            <a:r>
              <a:rPr lang="en-US" sz="3200" dirty="0">
                <a:solidFill>
                  <a:srgbClr val="04579A"/>
                </a:solidFill>
                <a:latin typeface="Arial" pitchFamily="34" charset="0"/>
                <a:ea typeface="Arial" pitchFamily="34" charset="-122"/>
                <a:cs typeface="Arial" pitchFamily="34" charset="-120"/>
              </a:rPr>
              <a:t>攻击的通用跨链原子交换协议。</a:t>
            </a:r>
            <a:endParaRPr lang="en-US" sz="3200" dirty="0"/>
          </a:p>
        </p:txBody>
      </p:sp>
      <p:pic>
        <p:nvPicPr>
          <p:cNvPr id="12" name="Image 1" descr="https://kimi-img.moonshot.cn/pub/slides/okc/flfuysioo4gzm/mnt/agents/output/yuan_pptd/images/image_36.png">    </p:cNvPr>
          <p:cNvPicPr>
            <a:picLocks noChangeAspect="1"/>
          </p:cNvPicPr>
          <p:nvPr/>
        </p:nvPicPr>
        <p:blipFill>
          <a:blip r:embed="rId2"/>
          <a:stretch>
            <a:fillRect/>
          </a:stretch>
        </p:blipFill>
        <p:spPr>
          <a:xfrm>
            <a:off x="4426585" y="5168900"/>
            <a:ext cx="7402957" cy="2115185"/>
          </a:xfrm>
          <a:prstGeom prst="rect">
            <a:avLst/>
          </a:prstGeom>
        </p:spPr>
      </p:pic>
      <p:sp>
        <p:nvSpPr>
          <p:cNvPr id="13" name="Text 8"/>
          <p:cNvSpPr/>
          <p:nvPr/>
        </p:nvSpPr>
        <p:spPr>
          <a:xfrm>
            <a:off x="4009517" y="7507351"/>
            <a:ext cx="823709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两阶段交易架构+可验证时间离散对数方案+两方适配器签名</a:t>
            </a:r>
            <a:endParaRPr lang="en-US" sz="2400" dirty="0"/>
          </a:p>
        </p:txBody>
      </p:sp>
      <p:sp>
        <p:nvSpPr>
          <p:cNvPr id="14" name="Text 9"/>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27</a:t>
            </a:r>
            <a:endParaRPr lang="en-US" sz="2400" dirty="0"/>
          </a:p>
        </p:txBody>
      </p:sp>
    </p:spTree>
  </p:cSld>
  <p:clrMapOvr>
    <a:masterClrMapping/>
  </p:clrMapOvr>
  <p:transition>
    <p:fade/>
    <p:spd val="med"/>
  </p:transition>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1971020" y="0"/>
            <a:ext cx="4284980" cy="961771"/>
          </a:xfrm>
          <a:prstGeom prst="rect">
            <a:avLst/>
          </a:prstGeom>
          <a:solidFill>
            <a:srgbClr val="F2F2F2"/>
          </a:solidFill>
          <a:ln/>
        </p:spPr>
      </p:sp>
      <p:sp>
        <p:nvSpPr>
          <p:cNvPr id="4" name="Shape 1"/>
          <p:cNvSpPr/>
          <p:nvPr/>
        </p:nvSpPr>
        <p:spPr>
          <a:xfrm>
            <a:off x="11970131" y="4191"/>
            <a:ext cx="4285869" cy="962660"/>
          </a:xfrm>
          <a:prstGeom prst="rect">
            <a:avLst/>
          </a:prstGeom>
          <a:solidFill>
            <a:srgbClr val="04579A"/>
          </a:solidFill>
          <a:ln w="12700">
            <a:solidFill>
              <a:srgbClr val="04579A"/>
            </a:solidFill>
            <a:prstDash val="solid"/>
          </a:ln>
        </p:spPr>
      </p:sp>
      <p:sp>
        <p:nvSpPr>
          <p:cNvPr id="5" name="Shape 2"/>
          <p:cNvSpPr/>
          <p:nvPr/>
        </p:nvSpPr>
        <p:spPr>
          <a:xfrm>
            <a:off x="7816469" y="-889"/>
            <a:ext cx="4154551" cy="962660"/>
          </a:xfrm>
          <a:prstGeom prst="rect">
            <a:avLst/>
          </a:prstGeom>
          <a:solidFill>
            <a:srgbClr val="F2F2F2"/>
          </a:solidFill>
          <a:ln w="12700">
            <a:solidFill>
              <a:srgbClr val="F2F2F2"/>
            </a:solidFill>
            <a:prstDash val="solid"/>
          </a:ln>
        </p:spPr>
      </p:sp>
      <p:sp>
        <p:nvSpPr>
          <p:cNvPr id="6" name="Shape 3"/>
          <p:cNvSpPr/>
          <p:nvPr/>
        </p:nvSpPr>
        <p:spPr>
          <a:xfrm>
            <a:off x="5162169" y="-889"/>
            <a:ext cx="2654300" cy="962660"/>
          </a:xfrm>
          <a:prstGeom prst="rect">
            <a:avLst/>
          </a:prstGeom>
          <a:solidFill>
            <a:srgbClr val="F2F2F2"/>
          </a:solidFill>
          <a:ln w="12700">
            <a:solidFill>
              <a:srgbClr val="F2F2F2"/>
            </a:solidFill>
            <a:prstDash val="solid"/>
          </a:ln>
        </p:spPr>
      </p:sp>
      <p:sp>
        <p:nvSpPr>
          <p:cNvPr id="7" name="Shape 4"/>
          <p:cNvSpPr/>
          <p:nvPr/>
        </p:nvSpPr>
        <p:spPr>
          <a:xfrm>
            <a:off x="2219960" y="-889"/>
            <a:ext cx="2942209" cy="962660"/>
          </a:xfrm>
          <a:prstGeom prst="rect">
            <a:avLst/>
          </a:prstGeom>
          <a:solidFill>
            <a:srgbClr val="F2F2F2"/>
          </a:solidFill>
          <a:ln w="12700">
            <a:solidFill>
              <a:srgbClr val="F2F2F2"/>
            </a:solidFill>
            <a:prstDash val="solid"/>
          </a:ln>
        </p:spPr>
      </p:sp>
      <p:sp>
        <p:nvSpPr>
          <p:cNvPr id="8" name="Text 5"/>
          <p:cNvSpPr/>
          <p:nvPr/>
        </p:nvSpPr>
        <p:spPr>
          <a:xfrm>
            <a:off x="2428240" y="215011"/>
            <a:ext cx="13423900" cy="491109"/>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  </a:t>
            </a:r>
            <a:pPr algn="l">
              <a:lnSpc>
                <a:spcPct val="120000"/>
              </a:lnSpc>
            </a:pPr>
            <a:r>
              <a:rPr lang="en-US" sz="2400" dirty="0">
                <a:solidFill>
                  <a:srgbClr val="000000"/>
                </a:solidFill>
                <a:latin typeface="Arial" pitchFamily="34" charset="0"/>
                <a:ea typeface="Arial" pitchFamily="34" charset="-122"/>
                <a:cs typeface="Arial" pitchFamily="34" charset="-120"/>
              </a:rPr>
              <a:t>选题背景及意义       国内外研究现状       主要研究内容及预期目标             </a:t>
            </a:r>
            <a:pPr algn="l">
              <a:lnSpc>
                <a:spcPct val="120000"/>
              </a:lnSpc>
            </a:pPr>
            <a:r>
              <a:rPr lang="en-US" sz="2400" dirty="0">
                <a:solidFill>
                  <a:srgbClr val="FFFFFF"/>
                </a:solidFill>
                <a:latin typeface="Arial" pitchFamily="34" charset="0"/>
                <a:ea typeface="Arial" pitchFamily="34" charset="-122"/>
                <a:cs typeface="Arial" pitchFamily="34" charset="-120"/>
              </a:rPr>
              <a:t>工作计划与进度安排</a:t>
            </a:r>
            <a:endParaRPr lang="en-US" sz="2400" dirty="0"/>
          </a:p>
        </p:txBody>
      </p:sp>
      <p:pic>
        <p:nvPicPr>
          <p:cNvPr id="9"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0" name="Shape 6"/>
          <p:cNvSpPr/>
          <p:nvPr/>
        </p:nvSpPr>
        <p:spPr>
          <a:xfrm rot="10800000">
            <a:off x="14222349" y="961009"/>
            <a:ext cx="389509" cy="304800"/>
          </a:xfrm>
          <a:prstGeom prst="triangle">
            <a:avLst>
              <a:gd name="adj" fmla="val 50000"/>
            </a:avLst>
          </a:prstGeom>
          <a:solidFill>
            <a:srgbClr val="04579A"/>
          </a:solidFill>
          <a:ln/>
        </p:spPr>
      </p:sp>
      <p:sp>
        <p:nvSpPr>
          <p:cNvPr id="11" name="Text 7"/>
          <p:cNvSpPr/>
          <p:nvPr/>
        </p:nvSpPr>
        <p:spPr>
          <a:xfrm>
            <a:off x="4593971" y="7057771"/>
            <a:ext cx="8128000" cy="564769"/>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撰写硕士论文，准备毕业答辩</a:t>
            </a:r>
            <a:endParaRPr lang="en-US" sz="2400" dirty="0"/>
          </a:p>
        </p:txBody>
      </p:sp>
      <p:sp>
        <p:nvSpPr>
          <p:cNvPr id="12" name="Shape 8"/>
          <p:cNvSpPr/>
          <p:nvPr/>
        </p:nvSpPr>
        <p:spPr>
          <a:xfrm>
            <a:off x="3628771" y="2262251"/>
            <a:ext cx="0" cy="6096000"/>
          </a:xfrm>
          <a:prstGeom prst="line">
            <a:avLst/>
          </a:prstGeom>
          <a:noFill/>
          <a:ln w="12700">
            <a:solidFill>
              <a:srgbClr val="7F7F7F"/>
            </a:solidFill>
            <a:prstDash val="solid"/>
            <a:headEnd type="none"/>
            <a:tailEnd type="none"/>
          </a:ln>
        </p:spPr>
      </p:sp>
      <p:sp>
        <p:nvSpPr>
          <p:cNvPr id="13" name="Text 9"/>
          <p:cNvSpPr/>
          <p:nvPr/>
        </p:nvSpPr>
        <p:spPr>
          <a:xfrm>
            <a:off x="4555109" y="2727071"/>
            <a:ext cx="9686671" cy="564769"/>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完成面向操作参数约束需求的智能体授权协议的设计</a:t>
            </a:r>
            <a:endParaRPr lang="en-US" sz="2400" dirty="0"/>
          </a:p>
        </p:txBody>
      </p:sp>
      <p:sp>
        <p:nvSpPr>
          <p:cNvPr id="14" name="Text 10"/>
          <p:cNvSpPr/>
          <p:nvPr/>
        </p:nvSpPr>
        <p:spPr>
          <a:xfrm>
            <a:off x="4555109" y="4170680"/>
            <a:ext cx="10530840" cy="564769"/>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完成面向任务执行顺序约束需求的智能体授权协议协议设计。</a:t>
            </a:r>
            <a:endParaRPr lang="en-US" sz="2400" dirty="0"/>
          </a:p>
        </p:txBody>
      </p:sp>
      <p:sp>
        <p:nvSpPr>
          <p:cNvPr id="15" name="Text 11"/>
          <p:cNvSpPr/>
          <p:nvPr/>
        </p:nvSpPr>
        <p:spPr>
          <a:xfrm>
            <a:off x="4555109" y="5614289"/>
            <a:ext cx="10531729" cy="1007491"/>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完成上述两项协议的代码实现并且集成到搭建的智能体中，进行安全测试，并测试开销。</a:t>
            </a:r>
            <a:endParaRPr lang="en-US" sz="2400" dirty="0"/>
          </a:p>
        </p:txBody>
      </p:sp>
      <p:sp>
        <p:nvSpPr>
          <p:cNvPr id="16" name="Shape 12"/>
          <p:cNvSpPr/>
          <p:nvPr/>
        </p:nvSpPr>
        <p:spPr>
          <a:xfrm>
            <a:off x="3527171" y="2881249"/>
            <a:ext cx="186309" cy="186309"/>
          </a:xfrm>
          <a:prstGeom prst="ellipse">
            <a:avLst/>
          </a:prstGeom>
          <a:solidFill>
            <a:srgbClr val="04579A"/>
          </a:solidFill>
          <a:ln/>
        </p:spPr>
      </p:sp>
      <p:sp>
        <p:nvSpPr>
          <p:cNvPr id="17" name="Shape 13"/>
          <p:cNvSpPr/>
          <p:nvPr/>
        </p:nvSpPr>
        <p:spPr>
          <a:xfrm>
            <a:off x="3527171" y="4337431"/>
            <a:ext cx="186309" cy="186309"/>
          </a:xfrm>
          <a:prstGeom prst="ellipse">
            <a:avLst/>
          </a:prstGeom>
          <a:solidFill>
            <a:srgbClr val="04579A"/>
          </a:solidFill>
          <a:ln/>
        </p:spPr>
      </p:sp>
      <p:sp>
        <p:nvSpPr>
          <p:cNvPr id="18" name="Shape 14"/>
          <p:cNvSpPr/>
          <p:nvPr/>
        </p:nvSpPr>
        <p:spPr>
          <a:xfrm>
            <a:off x="3527171" y="5793740"/>
            <a:ext cx="186309" cy="186309"/>
          </a:xfrm>
          <a:prstGeom prst="ellipse">
            <a:avLst/>
          </a:prstGeom>
          <a:solidFill>
            <a:srgbClr val="04579A"/>
          </a:solidFill>
          <a:ln/>
        </p:spPr>
      </p:sp>
      <p:sp>
        <p:nvSpPr>
          <p:cNvPr id="19" name="Shape 15"/>
          <p:cNvSpPr/>
          <p:nvPr/>
        </p:nvSpPr>
        <p:spPr>
          <a:xfrm>
            <a:off x="3527171" y="7250049"/>
            <a:ext cx="186309" cy="186309"/>
          </a:xfrm>
          <a:prstGeom prst="ellipse">
            <a:avLst/>
          </a:prstGeom>
          <a:solidFill>
            <a:srgbClr val="04579A"/>
          </a:solidFill>
          <a:ln/>
        </p:spPr>
      </p:sp>
      <p:sp>
        <p:nvSpPr>
          <p:cNvPr id="20" name="Shape 16"/>
          <p:cNvSpPr/>
          <p:nvPr/>
        </p:nvSpPr>
        <p:spPr>
          <a:xfrm>
            <a:off x="3713480" y="2974340"/>
            <a:ext cx="652780" cy="0"/>
          </a:xfrm>
          <a:prstGeom prst="line">
            <a:avLst/>
          </a:prstGeom>
          <a:noFill/>
          <a:ln w="12700">
            <a:solidFill>
              <a:srgbClr val="7F7F7F"/>
            </a:solidFill>
            <a:prstDash val="dash"/>
            <a:headEnd type="none"/>
            <a:tailEnd type="none"/>
          </a:ln>
        </p:spPr>
      </p:sp>
      <p:sp>
        <p:nvSpPr>
          <p:cNvPr id="21" name="Shape 17"/>
          <p:cNvSpPr/>
          <p:nvPr/>
        </p:nvSpPr>
        <p:spPr>
          <a:xfrm>
            <a:off x="3713480" y="4433189"/>
            <a:ext cx="737489" cy="0"/>
          </a:xfrm>
          <a:prstGeom prst="line">
            <a:avLst/>
          </a:prstGeom>
          <a:noFill/>
          <a:ln w="12700">
            <a:solidFill>
              <a:srgbClr val="7F7F7F"/>
            </a:solidFill>
            <a:prstDash val="dash"/>
            <a:headEnd type="none"/>
            <a:tailEnd type="none"/>
          </a:ln>
        </p:spPr>
      </p:sp>
      <p:sp>
        <p:nvSpPr>
          <p:cNvPr id="22" name="Shape 18"/>
          <p:cNvSpPr/>
          <p:nvPr/>
        </p:nvSpPr>
        <p:spPr>
          <a:xfrm>
            <a:off x="3713480" y="5891911"/>
            <a:ext cx="686689" cy="0"/>
          </a:xfrm>
          <a:prstGeom prst="line">
            <a:avLst/>
          </a:prstGeom>
          <a:noFill/>
          <a:ln w="12700">
            <a:solidFill>
              <a:srgbClr val="7F7F7F"/>
            </a:solidFill>
            <a:prstDash val="dash"/>
            <a:headEnd type="none"/>
            <a:tailEnd type="none"/>
          </a:ln>
        </p:spPr>
      </p:sp>
      <p:sp>
        <p:nvSpPr>
          <p:cNvPr id="23" name="Text 19"/>
          <p:cNvSpPr/>
          <p:nvPr/>
        </p:nvSpPr>
        <p:spPr>
          <a:xfrm>
            <a:off x="694309" y="2638171"/>
            <a:ext cx="2832100" cy="613791"/>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0</a:t>
            </a:r>
            <a:pPr algn="l">
              <a:lnSpc>
                <a:spcPct val="120000"/>
              </a:lnSpc>
            </a:pPr>
            <a:r>
              <a:rPr lang="en-US" sz="2670" b="1" dirty="0">
                <a:solidFill>
                  <a:srgbClr val="04579A"/>
                </a:solidFill>
                <a:latin typeface="Arial" pitchFamily="34" charset="0"/>
                <a:ea typeface="Arial" pitchFamily="34" charset="-122"/>
                <a:cs typeface="Arial" pitchFamily="34" charset="-120"/>
              </a:rPr>
              <a:t>6-202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08</a:t>
            </a:r>
            <a:endParaRPr lang="en-US" sz="2670" dirty="0"/>
          </a:p>
        </p:txBody>
      </p:sp>
      <p:sp>
        <p:nvSpPr>
          <p:cNvPr id="24" name="Text 20"/>
          <p:cNvSpPr/>
          <p:nvPr/>
        </p:nvSpPr>
        <p:spPr>
          <a:xfrm>
            <a:off x="694309" y="4076700"/>
            <a:ext cx="8128000" cy="613791"/>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09</a:t>
            </a:r>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10</a:t>
            </a:r>
            <a:endParaRPr lang="en-US" sz="2670" dirty="0"/>
          </a:p>
        </p:txBody>
      </p:sp>
      <p:sp>
        <p:nvSpPr>
          <p:cNvPr id="25" name="Text 21"/>
          <p:cNvSpPr/>
          <p:nvPr/>
        </p:nvSpPr>
        <p:spPr>
          <a:xfrm>
            <a:off x="694309" y="5534660"/>
            <a:ext cx="3020060" cy="613791"/>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11</a:t>
            </a:r>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/1</a:t>
            </a:r>
            <a:pPr algn="l">
              <a:lnSpc>
                <a:spcPct val="120000"/>
              </a:lnSpc>
            </a:pPr>
            <a:r>
              <a:rPr lang="en-US" sz="2670" b="1" dirty="0">
                <a:solidFill>
                  <a:srgbClr val="04579A"/>
                </a:solidFill>
                <a:latin typeface="Arial" pitchFamily="34" charset="0"/>
                <a:ea typeface="Arial" pitchFamily="34" charset="-122"/>
                <a:cs typeface="Arial" pitchFamily="34" charset="-120"/>
              </a:rPr>
              <a:t>2</a:t>
            </a:r>
            <a:endParaRPr lang="en-US" sz="2670" dirty="0"/>
          </a:p>
        </p:txBody>
      </p:sp>
      <p:sp>
        <p:nvSpPr>
          <p:cNvPr id="26" name="Text 22"/>
          <p:cNvSpPr/>
          <p:nvPr/>
        </p:nvSpPr>
        <p:spPr>
          <a:xfrm>
            <a:off x="694309" y="6992620"/>
            <a:ext cx="2833751" cy="613791"/>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7</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0</a:t>
            </a:r>
            <a:pPr algn="l">
              <a:lnSpc>
                <a:spcPct val="120000"/>
              </a:lnSpc>
            </a:pPr>
            <a:r>
              <a:rPr lang="en-US" sz="2670" b="1" dirty="0">
                <a:solidFill>
                  <a:srgbClr val="04579A"/>
                </a:solidFill>
                <a:latin typeface="Arial" pitchFamily="34" charset="0"/>
                <a:ea typeface="Arial" pitchFamily="34" charset="-122"/>
                <a:cs typeface="Arial" pitchFamily="34" charset="-120"/>
              </a:rPr>
              <a:t>1-202</a:t>
            </a:r>
            <a:pPr algn="l">
              <a:lnSpc>
                <a:spcPct val="120000"/>
              </a:lnSpc>
            </a:pPr>
            <a:r>
              <a:rPr lang="en-US" sz="2670" b="1" dirty="0">
                <a:solidFill>
                  <a:srgbClr val="04579A"/>
                </a:solidFill>
                <a:latin typeface="Arial" pitchFamily="34" charset="0"/>
                <a:ea typeface="Arial" pitchFamily="34" charset="-122"/>
                <a:cs typeface="Arial" pitchFamily="34" charset="-120"/>
              </a:rPr>
              <a:t>7</a:t>
            </a:r>
            <a:pPr algn="l">
              <a:lnSpc>
                <a:spcPct val="120000"/>
              </a:lnSpc>
            </a:pPr>
            <a:r>
              <a:rPr lang="en-US" sz="2670" b="1" dirty="0">
                <a:solidFill>
                  <a:srgbClr val="04579A"/>
                </a:solidFill>
                <a:latin typeface="Arial" pitchFamily="34" charset="0"/>
                <a:ea typeface="Arial" pitchFamily="34" charset="-122"/>
                <a:cs typeface="Arial" pitchFamily="34" charset="-120"/>
              </a:rPr>
              <a:t>/0</a:t>
            </a:r>
            <a:pPr algn="l">
              <a:lnSpc>
                <a:spcPct val="120000"/>
              </a:lnSpc>
            </a:pPr>
            <a:r>
              <a:rPr lang="en-US" sz="2670" b="1" dirty="0">
                <a:solidFill>
                  <a:srgbClr val="04579A"/>
                </a:solidFill>
                <a:latin typeface="Arial" pitchFamily="34" charset="0"/>
                <a:ea typeface="Arial" pitchFamily="34" charset="-122"/>
                <a:cs typeface="Arial" pitchFamily="34" charset="-120"/>
              </a:rPr>
              <a:t>4</a:t>
            </a:r>
            <a:endParaRPr lang="en-US" sz="2670" dirty="0"/>
          </a:p>
        </p:txBody>
      </p:sp>
      <p:sp>
        <p:nvSpPr>
          <p:cNvPr id="27" name="Shape 23"/>
          <p:cNvSpPr/>
          <p:nvPr/>
        </p:nvSpPr>
        <p:spPr>
          <a:xfrm>
            <a:off x="3729609" y="7333869"/>
            <a:ext cx="686689" cy="0"/>
          </a:xfrm>
          <a:prstGeom prst="line">
            <a:avLst/>
          </a:prstGeom>
          <a:noFill/>
          <a:ln w="12700">
            <a:solidFill>
              <a:srgbClr val="7F7F7F"/>
            </a:solidFill>
            <a:prstDash val="dash"/>
            <a:headEnd type="none"/>
            <a:tailEnd type="none"/>
          </a:ln>
        </p:spPr>
      </p:sp>
      <p:sp>
        <p:nvSpPr>
          <p:cNvPr id="28" name="Text 24"/>
          <p:cNvSpPr/>
          <p:nvPr/>
        </p:nvSpPr>
        <p:spPr>
          <a:xfrm>
            <a:off x="694309" y="1486789"/>
            <a:ext cx="8128000" cy="613791"/>
          </a:xfrm>
          <a:prstGeom prst="rect">
            <a:avLst/>
          </a:prstGeom>
          <a:noFill/>
          <a:ln/>
        </p:spPr>
        <p:txBody>
          <a:bodyPr wrap="square" lIns="0" tIns="0" rIns="0" bIns="0" rtlCol="0" anchor="t"/>
          <a:lstStyle/>
          <a:p>
            <a:pPr algn="l">
              <a:lnSpc>
                <a:spcPct val="120000"/>
              </a:lnSpc>
            </a:pPr>
            <a:r>
              <a:rPr lang="en-US" sz="3200" b="1" dirty="0">
                <a:solidFill>
                  <a:srgbClr val="000000"/>
                </a:solidFill>
                <a:latin typeface="Arial" pitchFamily="34" charset="0"/>
                <a:ea typeface="Arial" pitchFamily="34" charset="-122"/>
                <a:cs typeface="Arial" pitchFamily="34" charset="-120"/>
              </a:rPr>
              <a:t>未来进度安排</a:t>
            </a:r>
            <a:endParaRPr lang="en-US" sz="3200" dirty="0"/>
          </a:p>
        </p:txBody>
      </p:sp>
      <p:sp>
        <p:nvSpPr>
          <p:cNvPr id="29" name="Text 25"/>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28</a:t>
            </a:r>
            <a:endParaRPr lang="en-US" sz="2400" dirty="0"/>
          </a:p>
        </p:txBody>
      </p:sp>
    </p:spTree>
  </p:cSld>
  <p:clrMapOvr>
    <a:masterClrMapping/>
  </p:clrMapOvr>
  <p:transition>
    <p:fade/>
    <p:spd val="med"/>
  </p:transition>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pic>
        <p:nvPicPr>
          <p:cNvPr id="3"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4" name="Text 0"/>
          <p:cNvSpPr/>
          <p:nvPr/>
        </p:nvSpPr>
        <p:spPr>
          <a:xfrm>
            <a:off x="4311269" y="3496691"/>
            <a:ext cx="7634351" cy="778129"/>
          </a:xfrm>
          <a:prstGeom prst="rect">
            <a:avLst/>
          </a:prstGeom>
          <a:noFill/>
          <a:ln/>
        </p:spPr>
        <p:txBody>
          <a:bodyPr wrap="square" lIns="0" tIns="0" rIns="0" bIns="0" rtlCol="0" anchor="t"/>
          <a:lstStyle/>
          <a:p>
            <a:pPr algn="ctr">
              <a:lnSpc>
                <a:spcPct val="120000"/>
              </a:lnSpc>
            </a:pPr>
            <a:r>
              <a:rPr lang="en-US" sz="4270" b="1" dirty="0">
                <a:solidFill>
                  <a:srgbClr val="04579A"/>
                </a:solidFill>
                <a:latin typeface="Arial" pitchFamily="34" charset="0"/>
                <a:ea typeface="Arial" pitchFamily="34" charset="-122"/>
                <a:cs typeface="Arial" pitchFamily="34" charset="-120"/>
              </a:rPr>
              <a:t>恳请各位老师批评指正</a:t>
            </a:r>
            <a:endParaRPr lang="en-US" sz="4270" dirty="0"/>
          </a:p>
        </p:txBody>
      </p:sp>
      <p:sp>
        <p:nvSpPr>
          <p:cNvPr id="5" name="Shape 1"/>
          <p:cNvSpPr/>
          <p:nvPr/>
        </p:nvSpPr>
        <p:spPr>
          <a:xfrm>
            <a:off x="0" y="8559800"/>
            <a:ext cx="16255111" cy="584200"/>
          </a:xfrm>
          <a:prstGeom prst="rect">
            <a:avLst/>
          </a:prstGeom>
          <a:solidFill>
            <a:srgbClr val="04579A"/>
          </a:solidFill>
          <a:ln w="12700">
            <a:solidFill>
              <a:srgbClr val="304B73"/>
            </a:solidFill>
            <a:prstDash val="solid"/>
          </a:ln>
        </p:spPr>
      </p:sp>
      <p:sp>
        <p:nvSpPr>
          <p:cNvPr id="6" name="Text 2"/>
          <p:cNvSpPr/>
          <p:nvPr/>
        </p:nvSpPr>
        <p:spPr>
          <a:xfrm>
            <a:off x="5578729" y="5114671"/>
            <a:ext cx="5096891" cy="695960"/>
          </a:xfrm>
          <a:prstGeom prst="rect">
            <a:avLst/>
          </a:prstGeom>
          <a:noFill/>
          <a:ln/>
        </p:spPr>
        <p:txBody>
          <a:bodyPr wrap="square" lIns="0" tIns="0" rIns="0" bIns="0" rtlCol="0" anchor="t"/>
          <a:lstStyle/>
          <a:p>
            <a:pPr algn="ctr">
              <a:lnSpc>
                <a:spcPct val="120000"/>
              </a:lnSpc>
            </a:pPr>
            <a:r>
              <a:rPr lang="en-US" sz="3730" b="1" dirty="0">
                <a:solidFill>
                  <a:srgbClr val="3F3F3F"/>
                </a:solidFill>
                <a:latin typeface="Arial" pitchFamily="34" charset="0"/>
                <a:ea typeface="Arial" pitchFamily="34" charset="-122"/>
                <a:cs typeface="Arial" pitchFamily="34" charset="-120"/>
              </a:rPr>
              <a:t>  </a:t>
            </a:r>
            <a:pPr algn="ctr">
              <a:lnSpc>
                <a:spcPct val="120000"/>
              </a:lnSpc>
            </a:pPr>
            <a:r>
              <a:rPr lang="en-US" sz="3730" b="1" dirty="0">
                <a:solidFill>
                  <a:srgbClr val="3F3F3F"/>
                </a:solidFill>
                <a:latin typeface="Arial" pitchFamily="34" charset="0"/>
                <a:ea typeface="Arial" pitchFamily="34" charset="-122"/>
                <a:cs typeface="Arial" pitchFamily="34" charset="-120"/>
              </a:rPr>
              <a:t>谢谢！</a:t>
            </a:r>
            <a:endParaRPr lang="en-US" sz="3730" dirty="0"/>
          </a:p>
        </p:txBody>
      </p:sp>
    </p:spTree>
  </p:cSld>
  <p:clrMapOvr>
    <a:masterClrMapping/>
  </p:clrMapOvr>
  <p:transition>
    <p:fade/>
    <p:spd val="med"/>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未命名演示文稿</dc:title>
  <dc:subject>未命名演示文稿</dc:subject>
  <dc:creator>Kimi</dc:creator>
  <cp:lastModifiedBy>Kimi</cp:lastModifiedBy>
  <cp:revision>1</cp:revision>
  <dcterms:created xsi:type="dcterms:W3CDTF">2026-06-25T08:46:34Z</dcterms:created>
  <dcterms:modified xsi:type="dcterms:W3CDTF">2026-06-25T08:46:34Z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{"Label":"未命名演示文稿","ContentProducer":"001191110108MACG2KBH8F10000","ProduceID":"19efdb21-0c12-804e-8000-0000ab19942c","ReservedCode1":"","ContentPropagator":"001191110108MACG2KBH8F20000","PropagateID":"19ee528b-5122-8cdd-8000-091226114ca8","ReservedCode2":""}</vt:lpwstr>
  </property>
</Properties>
</file>