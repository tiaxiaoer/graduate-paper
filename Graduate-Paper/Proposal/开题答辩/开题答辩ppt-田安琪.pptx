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heme/theme2.xml" ContentType="application/vnd.openxmlformats-officedocument.theme+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notesSlides/notesSlide1.xml" ContentType="application/vnd.openxmlformats-officedocument.presentationml.notesSlide+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notesSlides/notesSlide2.xml" ContentType="application/vnd.openxmlformats-officedocument.presentationml.notesSlide+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notesSlides/notesSlide3.xml" ContentType="application/vnd.openxmlformats-officedocument.presentationml.notesSlide+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notesSlides/notesSlide4.xml" ContentType="application/vnd.openxmlformats-officedocument.presentationml.notesSlide+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notesSlides/notesSlide5.xml" ContentType="application/vnd.openxmlformats-officedocument.presentationml.notesSlide+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notesSlides/notesSlide6.xml" ContentType="application/vnd.openxmlformats-officedocument.presentationml.notesSlide+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notesSlides/notesSlide7.xml" ContentType="application/vnd.openxmlformats-officedocument.presentationml.notesSlide+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notesSlides/notesSlide8.xml" ContentType="application/vnd.openxmlformats-officedocument.presentationml.notesSlide+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notesSlides/notesSlide9.xml" ContentType="application/vnd.openxmlformats-officedocument.presentationml.notesSlide+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notesSlides/notesSlide10.xml" ContentType="application/vnd.openxmlformats-officedocument.presentationml.notesSlide+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notesSlides/notesSlide11.xml" ContentType="application/vnd.openxmlformats-officedocument.presentationml.notesSlide+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notesSlides/notesSlide12.xml" ContentType="application/vnd.openxmlformats-officedocument.presentationml.notesSlide+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notesSlides/notesSlide13.xml" ContentType="application/vnd.openxmlformats-officedocument.presentationml.notesSlide+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notesSlides/notesSlide14.xml" ContentType="application/vnd.openxmlformats-officedocument.presentationml.notesSlide+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notesSlides/notesSlide15.xml" ContentType="application/vnd.openxmlformats-officedocument.presentationml.notesSlide+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notesSlides/notesSlide16.xml" ContentType="application/vnd.openxmlformats-officedocument.presentationml.notesSlide+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notesSlides/notesSlide17.xml" ContentType="application/vnd.openxmlformats-officedocument.presentationml.notesSlide+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notesSlides/notesSlide18.xml" ContentType="application/vnd.openxmlformats-officedocument.presentationml.notesSlide+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notesSlides/notesSlide19.xml" ContentType="application/vnd.openxmlformats-officedocument.presentationml.notesSlide+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notesSlides/notesSlide20.xml" ContentType="application/vnd.openxmlformats-officedocument.presentationml.notesSlide+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notesSlides/notesSlide21.xml" ContentType="application/vnd.openxmlformats-officedocument.presentationml.notesSlide+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notesSlides/notesSlide22.xml" ContentType="application/vnd.openxmlformats-officedocument.presentationml.notesSlide+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notesSlides/notesSlide23.xml" ContentType="application/vnd.openxmlformats-officedocument.presentationml.notesSlide+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notesSlides/notesSlide24.xml" ContentType="application/vnd.openxmlformats-officedocument.presentationml.notesSlide+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notesSlides/notesSlide25.xml" ContentType="application/vnd.openxmlformats-officedocument.presentationml.notesSlide+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notesSlides/notesSlide26.xml" ContentType="application/vnd.openxmlformats-officedocument.presentationml.notesSlide+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notesSlides/notesSlide27.xml" ContentType="application/vnd.openxmlformats-officedocument.presentationml.notesSlide+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notesSlides/notesSlide28.xml" ContentType="application/vnd.openxmlformats-officedocument.presentationml.notesSlide+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notesSlides/notesSlide29.xml" ContentType="application/vnd.openxmlformats-officedocument.presentationml.notesSlide+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notesSlides/notesSlide30.xml" ContentType="application/vnd.openxmlformats-officedocument.presentationml.notesSlide+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33"/>
  </p:notesMasterIdLst>
  <p:sldIdLst>
    <p:sldId id="258" r:id="rId2"/>
    <p:sldId id="280" r:id="rId3"/>
    <p:sldId id="281" r:id="rId4"/>
    <p:sldId id="260" r:id="rId5"/>
    <p:sldId id="410" r:id="rId6"/>
    <p:sldId id="314" r:id="rId7"/>
    <p:sldId id="413" r:id="rId8"/>
    <p:sldId id="288" r:id="rId9"/>
    <p:sldId id="409" r:id="rId10"/>
    <p:sldId id="411" r:id="rId11"/>
    <p:sldId id="379" r:id="rId12"/>
    <p:sldId id="412" r:id="rId13"/>
    <p:sldId id="315" r:id="rId14"/>
    <p:sldId id="287" r:id="rId15"/>
    <p:sldId id="291" r:id="rId16"/>
    <p:sldId id="292" r:id="rId17"/>
    <p:sldId id="294" r:id="rId18"/>
    <p:sldId id="343" r:id="rId19"/>
    <p:sldId id="304" r:id="rId20"/>
    <p:sldId id="296" r:id="rId21"/>
    <p:sldId id="415" r:id="rId22"/>
    <p:sldId id="298" r:id="rId23"/>
    <p:sldId id="408" r:id="rId24"/>
    <p:sldId id="309" r:id="rId25"/>
    <p:sldId id="316" r:id="rId26"/>
    <p:sldId id="317" r:id="rId27"/>
    <p:sldId id="318" r:id="rId28"/>
    <p:sldId id="310" r:id="rId29"/>
    <p:sldId id="361" r:id="rId30"/>
    <p:sldId id="311" r:id="rId31"/>
    <p:sldId id="312" r:id="rId32"/>
  </p:sldIdLst>
  <p:sldSz cx="12192000" cy="6858000"/>
  <p:notesSz cx="6858000" cy="9144000"/>
  <p:custDataLst>
    <p:tags r:id="rId3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33" userDrawn="1">
          <p15:clr>
            <a:srgbClr val="A4A3A4"/>
          </p15:clr>
        </p15:guide>
        <p15:guide id="2" pos="3693"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579A"/>
    <a:srgbClr val="FFFFFF"/>
    <a:srgbClr val="404040"/>
    <a:srgbClr val="4D4D4D"/>
    <a:srgbClr val="46ACFB"/>
    <a:srgbClr val="057DD9"/>
    <a:srgbClr val="F2F2F2"/>
    <a:srgbClr val="D22910"/>
    <a:srgbClr val="D12910"/>
    <a:srgbClr val="325A6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778" autoAdjust="0"/>
    <p:restoredTop sz="68445" autoAdjust="0"/>
  </p:normalViewPr>
  <p:slideViewPr>
    <p:cSldViewPr snapToGrid="0" showGuides="1">
      <p:cViewPr varScale="1">
        <p:scale>
          <a:sx n="110" d="100"/>
          <a:sy n="110" d="100"/>
        </p:scale>
        <p:origin x="2152" y="56"/>
      </p:cViewPr>
      <p:guideLst>
        <p:guide orient="horz" pos="2333"/>
        <p:guide pos="3693"/>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2025/6/26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sym typeface="+mn-ea"/>
              </a:rPr>
              <a:t>各位老师好，我是</a:t>
            </a:r>
            <a:r>
              <a:rPr lang="en-US" altLang="zh-CN" dirty="0">
                <a:sym typeface="+mn-ea"/>
              </a:rPr>
              <a:t>23</a:t>
            </a:r>
            <a:r>
              <a:rPr lang="zh-CN" altLang="en-US" dirty="0">
                <a:sym typeface="+mn-ea"/>
              </a:rPr>
              <a:t>级博士生田安琪，我的开题报告题为分布式数字资产协议设计与分析，导师是徐静老师。</a:t>
            </a:r>
            <a:endParaRPr lang="zh-CN" altLang="en-US" dirty="0"/>
          </a:p>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我将分四个部分进行汇报</a:t>
            </a:r>
          </a:p>
          <a:p>
            <a:r>
              <a:rPr lang="zh-CN" altLang="en-US" dirty="0"/>
              <a:t>首先是第一部分，选题背景及意义</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相比于中心化架构，分布式架构能够不间断地提供高可用性、强可靠性服务，有效解决中心化架构中单点失效的安全隐患</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2008</a:t>
            </a:r>
            <a:r>
              <a:rPr lang="zh-CN" altLang="en-US" dirty="0"/>
              <a:t>年，由中本聪设计的区块链结构和加密货币系统比特币在全球范围内获得成功</a:t>
            </a:r>
          </a:p>
          <a:p>
            <a:r>
              <a:rPr lang="zh-CN" altLang="en-US" dirty="0"/>
              <a:t>比特币以去中心化的方式维护了一个线性排序且能持续增长的交易日志，允许互联网中的任何节点随时自由地加入系统。（点击）</a:t>
            </a:r>
          </a:p>
          <a:p>
            <a:endParaRPr lang="zh-CN"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sym typeface="+mn-ea"/>
              </a:rPr>
              <a:t>区块链以公开可验证、不可篡改以及去中心化的良好性质为数据确权提供了良好的基础设施</a:t>
            </a:r>
            <a:r>
              <a:rPr lang="zh-CN" altLang="en-US" dirty="0"/>
              <a:t>（点击）</a:t>
            </a:r>
            <a:endParaRPr lang="zh-CN" altLang="en-US" dirty="0">
              <a:sym typeface="+mn-ea"/>
            </a:endParaRPr>
          </a:p>
          <a:p>
            <a:endParaRPr lang="zh-CN" altLang="en-US" b="1" dirty="0"/>
          </a:p>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8688B-4E23-0173-C4D0-09EA98C9EF5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BE8C231-919E-5AC1-7628-D2E20D74F709}"/>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D463BF97-340D-C0DC-6154-6B3539ADDFD7}"/>
              </a:ext>
            </a:extLst>
          </p:cNvPr>
          <p:cNvSpPr>
            <a:spLocks noGrp="1"/>
          </p:cNvSpPr>
          <p:nvPr>
            <p:ph type="body" idx="3"/>
          </p:nvPr>
        </p:nvSpPr>
        <p:spPr/>
        <p:txBody>
          <a:bodyPr/>
          <a:lstStyle/>
          <a:p>
            <a:r>
              <a:rPr lang="zh-CN" altLang="en-US" dirty="0">
                <a:sym typeface="+mn-ea"/>
              </a:rPr>
              <a:t>在数据流通方面，比特币提供了链上点对点数字资产交易方案，允许用户在去中心化的、互不信任的环境中安全支付</a:t>
            </a:r>
            <a:endParaRPr lang="en-US" altLang="zh-CN" dirty="0">
              <a:sym typeface="+mn-ea"/>
            </a:endParaRPr>
          </a:p>
          <a:p>
            <a:endParaRPr lang="en-US" altLang="zh-CN" dirty="0">
              <a:sym typeface="+mn-ea"/>
            </a:endParaRPr>
          </a:p>
          <a:p>
            <a:r>
              <a:rPr lang="zh-CN" altLang="en-US" dirty="0">
                <a:sym typeface="+mn-ea"/>
              </a:rPr>
              <a:t>截止目前基于区块链的加密货币系统已超过</a:t>
            </a:r>
            <a:r>
              <a:rPr lang="en-US" altLang="zh-CN" dirty="0">
                <a:sym typeface="+mn-ea"/>
              </a:rPr>
              <a:t>200</a:t>
            </a:r>
            <a:r>
              <a:rPr lang="zh-CN" altLang="en-US" dirty="0">
                <a:sym typeface="+mn-ea"/>
              </a:rPr>
              <a:t>种</a:t>
            </a:r>
            <a:endParaRPr lang="zh-CN" altLang="en-US" dirty="0"/>
          </a:p>
          <a:p>
            <a:endParaRPr lang="zh-CN" altLang="en-US" dirty="0"/>
          </a:p>
        </p:txBody>
      </p:sp>
    </p:spTree>
    <p:extLst>
      <p:ext uri="{BB962C8B-B14F-4D97-AF65-F5344CB8AC3E}">
        <p14:creationId xmlns:p14="http://schemas.microsoft.com/office/powerpoint/2010/main" val="6426181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sz="1200" b="0" i="0" u="none" strike="noStrike" kern="1200" baseline="0" dirty="0">
                <a:solidFill>
                  <a:schemeClr val="tx1"/>
                </a:solidFill>
                <a:latin typeface="+mn-lt"/>
                <a:ea typeface="+mn-ea"/>
                <a:cs typeface="+mn-cs"/>
              </a:rPr>
              <a:t>用户规模与交易需求指数级增长的数字资产市场带来了新的技术需求。</a:t>
            </a:r>
            <a:endParaRPr lang="en-US" altLang="zh-CN" sz="1200" b="0" i="0" u="none" strike="noStrike" kern="1200" baseline="0" dirty="0">
              <a:solidFill>
                <a:schemeClr val="tx1"/>
              </a:solidFill>
              <a:latin typeface="+mn-lt"/>
              <a:ea typeface="+mn-ea"/>
              <a:cs typeface="+mn-cs"/>
            </a:endParaRPr>
          </a:p>
          <a:p>
            <a:endParaRPr lang="en-US" altLang="zh-CN"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u="none" strike="noStrike" kern="1200" baseline="0" dirty="0">
                <a:solidFill>
                  <a:schemeClr val="tx1"/>
                </a:solidFill>
                <a:latin typeface="+mn-lt"/>
                <a:ea typeface="+mn-ea"/>
                <a:cs typeface="+mn-cs"/>
              </a:rPr>
              <a:t>首先是</a:t>
            </a:r>
            <a:r>
              <a:rPr lang="zh-CN" altLang="en-US" sz="1200" dirty="0">
                <a:solidFill>
                  <a:schemeClr val="tx1">
                    <a:lumMod val="85000"/>
                    <a:lumOff val="15000"/>
                  </a:schemeClr>
                </a:solidFill>
                <a:sym typeface="+mn-ea"/>
              </a:rPr>
              <a:t>现实网络环境对分布式数字资产交易协议的安全性和健壮性提出了更高的要求。</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63E40-7389-FC2E-18A7-97EC6EEAA02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5EA8CCB-7FDD-74B3-86C1-0E31330BEFB5}"/>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61F77522-6557-5384-6BDF-3731216D7A90}"/>
              </a:ext>
            </a:extLst>
          </p:cNvPr>
          <p:cNvSpPr>
            <a:spLocks noGrp="1"/>
          </p:cNvSpPr>
          <p:nvPr>
            <p:ph type="body" idx="3"/>
          </p:nvPr>
        </p:nvSpPr>
        <p:spPr/>
        <p:txBody>
          <a:bodyPr/>
          <a:lstStyle/>
          <a:p>
            <a:r>
              <a:rPr lang="zh-CN" altLang="en-US" sz="1200" b="0" i="0" u="none" strike="noStrike" kern="1200" baseline="0" dirty="0">
                <a:solidFill>
                  <a:schemeClr val="tx1"/>
                </a:solidFill>
                <a:latin typeface="+mn-lt"/>
                <a:ea typeface="+mn-ea"/>
                <a:cs typeface="+mn-cs"/>
              </a:rPr>
              <a:t>尽管区块链对传统的网络攻击具有良好的抵抗性，但是现代网络犯罪分子对区块链及其应用系统的恶意攻击从未停止，数字资产交易协议安全性破坏将导致用户的直接经济损失</a:t>
            </a:r>
            <a:endParaRPr lang="zh-CN" altLang="en-US" dirty="0"/>
          </a:p>
        </p:txBody>
      </p:sp>
    </p:spTree>
    <p:extLst>
      <p:ext uri="{BB962C8B-B14F-4D97-AF65-F5344CB8AC3E}">
        <p14:creationId xmlns:p14="http://schemas.microsoft.com/office/powerpoint/2010/main" val="17432187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资产兑换协议是分布式数字资产交易协议的核心组件</a:t>
            </a:r>
            <a:endParaRPr lang="en-US" altLang="zh-CN" dirty="0"/>
          </a:p>
          <a:p>
            <a:r>
              <a:rPr lang="zh-CN" altLang="en-US" dirty="0"/>
              <a:t>现有的区块链协议中：资产兑换交易决定了托管资产的归属问题，用于保证诚实用户始终能得到合法财产。（点击）</a:t>
            </a:r>
          </a:p>
          <a:p>
            <a:endParaRPr lang="zh-CN" altLang="en-US" dirty="0"/>
          </a:p>
          <a:p>
            <a:r>
              <a:rPr lang="zh-CN" altLang="en-US" dirty="0"/>
              <a:t>然而现有资产兑换协议依赖于额外的可信假设，削弱了协议本身的安全性</a:t>
            </a:r>
            <a:r>
              <a:rPr lang="en-US" altLang="zh-CN" dirty="0"/>
              <a:t>(</a:t>
            </a:r>
            <a:r>
              <a:rPr lang="zh-CN" altLang="en-US" dirty="0"/>
              <a:t>点击）</a:t>
            </a:r>
            <a:endParaRPr lang="en-US" altLang="zh-CN" dirty="0"/>
          </a:p>
          <a:p>
            <a:endParaRPr lang="zh-CN" altLang="en-US" dirty="0"/>
          </a:p>
          <a:p>
            <a:r>
              <a:rPr lang="zh-CN" altLang="en-US" dirty="0"/>
              <a:t>因此，分布式数字资产交易协议需要去除可信假设并建立更贴合实际的安全模型。</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FBCF3-9955-9C73-2BDE-A229C04F613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F74FDE9-9D22-36CC-AEC9-26532358F1C5}"/>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40793699-D303-6213-1092-66B35EEDE323}"/>
              </a:ext>
            </a:extLst>
          </p:cNvPr>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第二，</a:t>
            </a:r>
            <a:r>
              <a:rPr lang="zh-CN" altLang="en-US" sz="1200" dirty="0">
                <a:solidFill>
                  <a:schemeClr val="tx1">
                    <a:lumMod val="85000"/>
                    <a:lumOff val="15000"/>
                  </a:schemeClr>
                </a:solidFill>
                <a:sym typeface="+mn-ea"/>
              </a:rPr>
              <a:t>大规模、高并发的交易场景要求分布式数字资产交易协议具有可扩展性</a:t>
            </a:r>
            <a:endParaRPr lang="zh-CN" altLang="en-US" sz="1200" dirty="0">
              <a:sym typeface="+mn-ea"/>
            </a:endParaRPr>
          </a:p>
          <a:p>
            <a:endParaRPr lang="zh-CN" altLang="en-US" dirty="0"/>
          </a:p>
        </p:txBody>
      </p:sp>
    </p:spTree>
    <p:extLst>
      <p:ext uri="{BB962C8B-B14F-4D97-AF65-F5344CB8AC3E}">
        <p14:creationId xmlns:p14="http://schemas.microsoft.com/office/powerpoint/2010/main" val="11468081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6A066-5EFA-1252-4CDC-364BE2213C7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3927618-AD26-C0AD-FFFD-1C027F71F9AC}"/>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9614FE6E-19D5-D1A8-7647-2B09B34877E0}"/>
              </a:ext>
            </a:extLst>
          </p:cNvPr>
          <p:cNvSpPr>
            <a:spLocks noGrp="1"/>
          </p:cNvSpPr>
          <p:nvPr>
            <p:ph type="body" idx="3"/>
          </p:nvPr>
        </p:nvSpPr>
        <p:spPr/>
        <p:txBody>
          <a:bodyPr/>
          <a:lstStyle/>
          <a:p>
            <a:r>
              <a:rPr lang="zh-CN" altLang="en-US" dirty="0"/>
              <a:t>和传统金融机构相比，基于区块链的密码货币系统的性能堪忧</a:t>
            </a:r>
            <a:endParaRPr lang="en-US" altLang="zh-CN" dirty="0"/>
          </a:p>
          <a:p>
            <a:r>
              <a:rPr lang="zh-CN" altLang="en-US" dirty="0"/>
              <a:t>这是由区块链的共识机制和密码学结构决定的，一个非常直觉的思路是优化共识方案</a:t>
            </a:r>
          </a:p>
        </p:txBody>
      </p:sp>
    </p:spTree>
    <p:extLst>
      <p:ext uri="{BB962C8B-B14F-4D97-AF65-F5344CB8AC3E}">
        <p14:creationId xmlns:p14="http://schemas.microsoft.com/office/powerpoint/2010/main" val="3003476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然而根据以太坊创始人所提出的区块链可扩展性三元悖论，即没有任何区块链系统能同时满足去中心化、可扩展性和安全性</a:t>
            </a:r>
            <a:endParaRPr lang="en-US" altLang="zh-CN" dirty="0"/>
          </a:p>
          <a:p>
            <a:r>
              <a:rPr lang="zh-CN" altLang="en-US" dirty="0"/>
              <a:t>在保证安全性的前提下，吞吐量和去中心化晨读相互制约 （点击）</a:t>
            </a:r>
            <a:endParaRPr lang="en-US" altLang="zh-CN" dirty="0"/>
          </a:p>
          <a:p>
            <a:r>
              <a:rPr lang="zh-CN" altLang="en-US" dirty="0"/>
              <a:t>现有共识机制优化方案只能做到有限的性能提升</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33593-159F-7A57-D528-B72474B9E3E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E2AF5F0-3BA4-7671-406D-92FE0914A205}"/>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D22B2822-E286-638F-4840-CB0A72853DA9}"/>
              </a:ext>
            </a:extLst>
          </p:cNvPr>
          <p:cNvSpPr>
            <a:spLocks noGrp="1"/>
          </p:cNvSpPr>
          <p:nvPr>
            <p:ph type="body" idx="3"/>
          </p:nvPr>
        </p:nvSpPr>
        <p:spPr/>
        <p:txBody>
          <a:bodyPr/>
          <a:lstStyle/>
          <a:p>
            <a:r>
              <a:rPr lang="zh-CN" altLang="en-US" dirty="0"/>
              <a:t>相比难以普及部署硬件层和网络层的性能优化方案（点击）和性能提升有限的区块链层方案（点击），</a:t>
            </a:r>
            <a:endParaRPr lang="en-US" altLang="zh-CN" dirty="0"/>
          </a:p>
          <a:p>
            <a:endParaRPr lang="en-US" altLang="zh-CN" dirty="0"/>
          </a:p>
          <a:p>
            <a:r>
              <a:rPr lang="zh-CN" altLang="en-US" dirty="0"/>
              <a:t>链下层方案允许用户之间通过一个经过认证的私下信道进行交易，只在链上记录初始交易和结束交易，展现出的性能提升和良好的向后兼容性。</a:t>
            </a:r>
            <a:endParaRPr lang="en-US" altLang="zh-CN" dirty="0"/>
          </a:p>
          <a:p>
            <a:endParaRPr lang="en-US" altLang="zh-CN" dirty="0"/>
          </a:p>
          <a:p>
            <a:r>
              <a:rPr lang="zh-CN" altLang="en-US" dirty="0"/>
              <a:t>因此分布式数字资产交易协议需要高性能的链下方案构造满足大规模场景下的高吞吐量、低延迟交易要求。</a:t>
            </a:r>
          </a:p>
        </p:txBody>
      </p:sp>
    </p:spTree>
    <p:extLst>
      <p:ext uri="{BB962C8B-B14F-4D97-AF65-F5344CB8AC3E}">
        <p14:creationId xmlns:p14="http://schemas.microsoft.com/office/powerpoint/2010/main" val="25182101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最后，</a:t>
            </a:r>
            <a:r>
              <a:rPr lang="zh-CN" altLang="en-US" sz="1200" dirty="0">
                <a:sym typeface="+mn-ea"/>
              </a:rPr>
              <a:t>异构区块链系统间的互联互通要求分布式数字资产交易协议具有互操作性</a:t>
            </a:r>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跨区块链协议可以按照操作模式分为数据传输、资产交换和资产转移三种。（点击）</a:t>
            </a:r>
            <a:endParaRPr lang="en-US" altLang="zh-CN" dirty="0"/>
          </a:p>
          <a:p>
            <a:endParaRPr lang="en-US" altLang="zh-CN" dirty="0"/>
          </a:p>
          <a:p>
            <a:r>
              <a:rPr lang="zh-CN" altLang="en-US" dirty="0"/>
              <a:t>跨链分布式资产交易协议的协议流程主要分为资产托管、证明生成、证明验证和条件交易四部分（点击）</a:t>
            </a:r>
            <a:endParaRPr lang="en-US" altLang="zh-CN" dirty="0"/>
          </a:p>
          <a:p>
            <a:endParaRPr lang="en-US" altLang="zh-CN" dirty="0"/>
          </a:p>
          <a:p>
            <a:r>
              <a:rPr lang="zh-CN" altLang="en-US" dirty="0"/>
              <a:t>其中跨链证明的生成和验证机制是核心，决定了跨链资产交易协议的性能表现</a:t>
            </a:r>
            <a:endParaRPr lang="en-US" altLang="zh-CN" dirty="0"/>
          </a:p>
          <a:p>
            <a:endParaRPr lang="en-US" altLang="zh-CN" dirty="0"/>
          </a:p>
          <a:p>
            <a:r>
              <a:rPr lang="zh-CN" altLang="en-US" dirty="0"/>
              <a:t>跨链资产交易协议需要高效通用的跨链证明机制，满足异构区块链系统间互联互通的需求</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以上三点，说明传统的分布式数字资产交易协议尚不足以支撑支撑大规模、高并发、异构化的区块链交易场景</a:t>
            </a:r>
            <a:endParaRPr lang="en-US" altLang="zh-CN" dirty="0"/>
          </a:p>
          <a:p>
            <a:endParaRPr lang="zh-CN" altLang="en-US" dirty="0"/>
          </a:p>
          <a:p>
            <a:r>
              <a:rPr lang="zh-CN" altLang="en-US" b="1" dirty="0">
                <a:sym typeface="+mn-ea"/>
              </a:rPr>
              <a:t>应对新场景下特有的技术挑战，需要构建兼具安全性与高性能的分布式数字资产交易协议体系</a:t>
            </a:r>
            <a:endParaRPr lang="en-US" altLang="zh-CN" b="1" dirty="0">
              <a:sym typeface="+mn-ea"/>
            </a:endParaRPr>
          </a:p>
          <a:p>
            <a:endParaRPr lang="zh-CN" altLang="en-US" b="1" dirty="0"/>
          </a:p>
          <a:p>
            <a:r>
              <a:rPr lang="zh-CN" altLang="en-US" dirty="0"/>
              <a:t>接下来，我将针对上述三点，（切下一页）</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分三部分介绍分布式数字资产交易协议的国内外研究现状</a:t>
            </a:r>
          </a:p>
          <a:p>
            <a:r>
              <a:rPr lang="zh-CN" altLang="en-US" dirty="0"/>
              <a:t>（点击）</a:t>
            </a:r>
          </a:p>
          <a:p>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区块链允许共识节点，也称为矿工，获取区块内交易的小费来激励矿工提出区块（点击）</a:t>
            </a:r>
            <a:endParaRPr lang="en-US" altLang="zh-CN" dirty="0"/>
          </a:p>
          <a:p>
            <a:r>
              <a:rPr lang="zh-CN" altLang="en-US" dirty="0"/>
              <a:t>在现实中比特币和以太坊的矿工均优先打包小费金额高的交易上链 </a:t>
            </a:r>
            <a:endParaRPr lang="en-US" altLang="zh-CN" dirty="0"/>
          </a:p>
          <a:p>
            <a:endParaRPr lang="en-US" altLang="zh-CN" dirty="0"/>
          </a:p>
          <a:p>
            <a:r>
              <a:rPr lang="zh-CN" altLang="en-US" dirty="0"/>
              <a:t>与传统方案里资产兑换协议依赖的诚实矿工假设矛盾（点击）</a:t>
            </a:r>
            <a:endParaRPr lang="en-US" altLang="zh-CN" dirty="0"/>
          </a:p>
          <a:p>
            <a:endParaRPr lang="zh-CN" altLang="en-US" dirty="0"/>
          </a:p>
          <a:p>
            <a:r>
              <a:rPr lang="zh-CN" altLang="en-US" dirty="0"/>
              <a:t>在现实中恶意节点可以通过贿赂矿工延迟诚实用户的交易，抢先兑换其资产，破坏了传统资产交易方案的安全性</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在</a:t>
            </a:r>
            <a:r>
              <a:rPr lang="en-US" altLang="zh-CN" dirty="0"/>
              <a:t>2019</a:t>
            </a:r>
            <a:r>
              <a:rPr lang="zh-CN" altLang="en-US" dirty="0"/>
              <a:t>年，</a:t>
            </a:r>
            <a:r>
              <a:rPr lang="en-US" altLang="zh-CN" sz="1200" b="0" i="0" u="none" strike="noStrike" kern="1200" baseline="0" dirty="0">
                <a:solidFill>
                  <a:schemeClr val="tx1"/>
                </a:solidFill>
                <a:latin typeface="+mn-lt"/>
                <a:ea typeface="+mn-ea"/>
                <a:cs typeface="+mn-cs"/>
              </a:rPr>
              <a:t>Winzer</a:t>
            </a:r>
            <a:r>
              <a:rPr lang="zh-CN" altLang="en-US" sz="1200" b="0" i="0" u="none" strike="noStrike" kern="1200" baseline="0" dirty="0">
                <a:solidFill>
                  <a:schemeClr val="tx1"/>
                </a:solidFill>
                <a:latin typeface="+mn-lt"/>
                <a:ea typeface="+mn-ea"/>
                <a:cs typeface="+mn-cs"/>
              </a:rPr>
              <a:t>首次提出理性矿工模型下的贿赂攻击</a:t>
            </a:r>
            <a:endParaRPr lang="en-US" altLang="zh-CN" sz="1200" b="0" i="0" u="none" strike="noStrike" kern="1200" baseline="0" dirty="0">
              <a:solidFill>
                <a:schemeClr val="tx1"/>
              </a:solidFill>
              <a:latin typeface="+mn-lt"/>
              <a:ea typeface="+mn-ea"/>
              <a:cs typeface="+mn-cs"/>
            </a:endParaRPr>
          </a:p>
          <a:p>
            <a:endParaRPr lang="zh-CN" altLang="en-US" dirty="0"/>
          </a:p>
          <a:p>
            <a:r>
              <a:rPr lang="zh-CN" altLang="en-US" dirty="0"/>
              <a:t>20</a:t>
            </a:r>
            <a:r>
              <a:rPr lang="en-US" altLang="zh-CN" dirty="0"/>
              <a:t>21</a:t>
            </a:r>
            <a:r>
              <a:rPr lang="zh-CN" altLang="en-US" dirty="0"/>
              <a:t> 年，</a:t>
            </a:r>
            <a:r>
              <a:rPr lang="en-US" altLang="zh-CN" dirty="0"/>
              <a:t>MAD-HTLC</a:t>
            </a:r>
            <a:r>
              <a:rPr lang="zh-CN" altLang="en-US" dirty="0"/>
              <a:t>团队对广泛作为基础组件使用的哈希时间锁范式进行改良，给出了抗贿赂攻击的资产兑换组件</a:t>
            </a:r>
            <a:endParaRPr lang="en-US" altLang="zh-CN" dirty="0"/>
          </a:p>
          <a:p>
            <a:endParaRPr lang="zh-CN" altLang="en-US" dirty="0">
              <a:sym typeface="+mn-ea"/>
            </a:endParaRPr>
          </a:p>
          <a:p>
            <a:r>
              <a:rPr lang="en-US" altLang="zh-CN" dirty="0"/>
              <a:t>2023</a:t>
            </a:r>
            <a:r>
              <a:rPr lang="zh-CN" altLang="en-US" dirty="0"/>
              <a:t>年，</a:t>
            </a:r>
            <a:r>
              <a:rPr lang="en-US" altLang="zh-CN" dirty="0"/>
              <a:t> He-HTLC</a:t>
            </a:r>
            <a:r>
              <a:rPr lang="zh-CN" altLang="en-US" dirty="0"/>
              <a:t>团队在此基础上建模了主动理性矿工和被动理性矿工，并进一步给出了抗反向贿赂攻击的轻量级哈希时间锁范式</a:t>
            </a:r>
            <a:endParaRPr lang="en-US" altLang="zh-CN" dirty="0"/>
          </a:p>
          <a:p>
            <a:endParaRPr lang="en-US" altLang="zh-CN" dirty="0"/>
          </a:p>
          <a:p>
            <a:r>
              <a:rPr lang="en-US" altLang="zh-CN" dirty="0"/>
              <a:t>Aumayr</a:t>
            </a:r>
            <a:r>
              <a:rPr lang="zh-CN" altLang="en-US" dirty="0"/>
              <a:t>等人分别在</a:t>
            </a:r>
            <a:r>
              <a:rPr lang="en-US" altLang="zh-CN" dirty="0"/>
              <a:t>23</a:t>
            </a:r>
            <a:r>
              <a:rPr lang="zh-CN" altLang="en-US" dirty="0"/>
              <a:t>年和</a:t>
            </a:r>
            <a:r>
              <a:rPr lang="en-US" altLang="zh-CN" dirty="0"/>
              <a:t>24</a:t>
            </a:r>
            <a:r>
              <a:rPr lang="zh-CN" altLang="en-US" dirty="0"/>
              <a:t>年对理性矿工假设下的分布式资产交易协议进行大胆尝试，给出了首个容忍拜占庭节点的链下资产交易协议</a:t>
            </a:r>
            <a:endParaRPr lang="en-US" altLang="zh-CN" dirty="0"/>
          </a:p>
          <a:p>
            <a:endParaRPr lang="en-US" altLang="zh-CN" dirty="0"/>
          </a:p>
          <a:p>
            <a:r>
              <a:rPr lang="zh-CN" altLang="en-US" dirty="0"/>
              <a:t>同年</a:t>
            </a:r>
            <a:r>
              <a:rPr lang="en-US" altLang="zh-CN" sz="1200" b="0" i="0" u="none" strike="noStrike" kern="1200" baseline="0" dirty="0">
                <a:solidFill>
                  <a:schemeClr val="tx1"/>
                </a:solidFill>
                <a:latin typeface="+mn-lt"/>
                <a:ea typeface="+mn-ea"/>
                <a:cs typeface="+mn-cs"/>
              </a:rPr>
              <a:t>Karakostas</a:t>
            </a:r>
            <a:r>
              <a:rPr lang="zh-CN" altLang="en-US" sz="1200" b="0" i="0" u="none" strike="noStrike" kern="1200" baseline="0" dirty="0">
                <a:solidFill>
                  <a:schemeClr val="tx1"/>
                </a:solidFill>
                <a:latin typeface="+mn-lt"/>
                <a:ea typeface="+mn-ea"/>
                <a:cs typeface="+mn-cs"/>
              </a:rPr>
              <a:t>等人发布了对贿赂攻击对</a:t>
            </a:r>
            <a:r>
              <a:rPr lang="en-US" altLang="zh-CN" sz="1200" b="0" i="0" u="none" strike="noStrike" kern="1200" baseline="0" dirty="0" err="1">
                <a:solidFill>
                  <a:schemeClr val="tx1"/>
                </a:solidFill>
                <a:latin typeface="+mn-lt"/>
                <a:ea typeface="+mn-ea"/>
                <a:cs typeface="+mn-cs"/>
              </a:rPr>
              <a:t>PoS</a:t>
            </a:r>
            <a:r>
              <a:rPr lang="zh-CN" altLang="en-US" sz="1200" b="0" i="0" u="none" strike="noStrike" kern="1200" baseline="0" dirty="0">
                <a:solidFill>
                  <a:schemeClr val="tx1"/>
                </a:solidFill>
                <a:latin typeface="+mn-lt"/>
                <a:ea typeface="+mn-ea"/>
                <a:cs typeface="+mn-cs"/>
              </a:rPr>
              <a:t>链的危害分析，为后续工作提供了可行的指南</a:t>
            </a:r>
            <a:endParaRPr lang="en-US" altLang="zh-CN" sz="1200" b="0" i="0" u="none" strike="noStrike" kern="1200" baseline="0" dirty="0">
              <a:solidFill>
                <a:schemeClr val="tx1"/>
              </a:solidFill>
              <a:latin typeface="+mn-lt"/>
              <a:ea typeface="+mn-ea"/>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此外，现有工作在理性矿工模型下通过矿工激励机制优化事务处理逻辑</a:t>
            </a:r>
            <a:endParaRPr lang="en-US" altLang="zh-CN" dirty="0"/>
          </a:p>
          <a:p>
            <a:r>
              <a:rPr lang="zh-CN" altLang="en-US" dirty="0"/>
              <a:t>去除了部分传统方案依赖的可信假设，如节点实时在线假设，因此方案的可靠性和性能也得到了提升。</a:t>
            </a:r>
            <a:endParaRPr lang="en-US" alt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支付信道是目前最流行的链下方案，以两个链上交易的代价允许用户间进行多次免交易费、低延迟的链下交易。</a:t>
            </a:r>
            <a:endParaRPr lang="en-US" altLang="zh-CN" dirty="0"/>
          </a:p>
          <a:p>
            <a:endParaRPr lang="en-US" altLang="zh-CN" dirty="0"/>
          </a:p>
          <a:p>
            <a:r>
              <a:rPr lang="zh-CN" altLang="en-US" dirty="0"/>
              <a:t>在此基础上支付信道网络方案使用多跳支付技术，允许两个节点利用其他节点作为中介进行链下支付，进一步减少了链上负载</a:t>
            </a:r>
            <a:endParaRPr lang="en-US" altLang="zh-CN" dirty="0"/>
          </a:p>
          <a:p>
            <a:endParaRPr lang="en-US" altLang="zh-CN" dirty="0"/>
          </a:p>
          <a:p>
            <a:r>
              <a:rPr lang="zh-CN" altLang="en-US" dirty="0"/>
              <a:t>闪电网络是目前最大的支付信道网络，被多个密码学货币系统使用</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EDE85-F171-5316-4093-8CC5F0473D0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8807968-517F-D386-3888-6A918B9EF950}"/>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AF3BFABA-B712-2B0C-67F6-41D8872BA454}"/>
              </a:ext>
            </a:extLst>
          </p:cNvPr>
          <p:cNvSpPr>
            <a:spLocks noGrp="1"/>
          </p:cNvSpPr>
          <p:nvPr>
            <p:ph type="body" idx="3"/>
          </p:nvPr>
        </p:nvSpPr>
        <p:spPr/>
        <p:txBody>
          <a:bodyPr/>
          <a:lstStyle/>
          <a:p>
            <a:r>
              <a:rPr lang="zh-CN" altLang="en-US" dirty="0"/>
              <a:t>然而</a:t>
            </a:r>
            <a:endParaRPr lang="en-US" altLang="zh-CN" dirty="0"/>
          </a:p>
          <a:p>
            <a:r>
              <a:rPr lang="en-US" altLang="zh-CN" dirty="0"/>
              <a:t>1. </a:t>
            </a:r>
            <a:r>
              <a:rPr lang="zh-CN" altLang="en-US" dirty="0"/>
              <a:t>多跳支付技术具有路由复杂以及中介抵押成本高的问题</a:t>
            </a:r>
            <a:endParaRPr lang="en-US" altLang="zh-CN" dirty="0"/>
          </a:p>
          <a:p>
            <a:r>
              <a:rPr lang="en-US" altLang="zh-CN" dirty="0"/>
              <a:t>2. </a:t>
            </a:r>
            <a:r>
              <a:rPr lang="zh-CN" altLang="en-US" dirty="0"/>
              <a:t>信道资金流动性的分布直接影响支付信道网络的整体支付能力</a:t>
            </a:r>
            <a:endParaRPr lang="en-US" altLang="zh-CN" dirty="0"/>
          </a:p>
          <a:p>
            <a:r>
              <a:rPr lang="zh-CN" altLang="en-US" dirty="0"/>
              <a:t>这两个核心问题制约了</a:t>
            </a:r>
            <a:r>
              <a:rPr lang="zh-CN" altLang="en-US" sz="1200" b="0" i="0" u="none" strike="noStrike" kern="1200" baseline="0" dirty="0">
                <a:solidFill>
                  <a:schemeClr val="tx1"/>
                </a:solidFill>
                <a:latin typeface="+mn-lt"/>
                <a:ea typeface="+mn-ea"/>
                <a:cs typeface="+mn-cs"/>
              </a:rPr>
              <a:t>支付信道网络的性能表现</a:t>
            </a:r>
            <a:endParaRPr lang="en-US" altLang="zh-CN" dirty="0"/>
          </a:p>
          <a:p>
            <a:endParaRPr lang="en-US" altLang="zh-CN" dirty="0"/>
          </a:p>
          <a:p>
            <a:r>
              <a:rPr lang="zh-CN" altLang="en-US" dirty="0"/>
              <a:t>目前的解决思路主要有</a:t>
            </a:r>
            <a:r>
              <a:rPr lang="en-US" altLang="zh-CN" dirty="0"/>
              <a:t>3</a:t>
            </a:r>
            <a:r>
              <a:rPr lang="zh-CN" altLang="en-US" dirty="0"/>
              <a:t>种：</a:t>
            </a:r>
            <a:endParaRPr lang="en-US" altLang="zh-CN" dirty="0"/>
          </a:p>
          <a:p>
            <a:r>
              <a:rPr lang="zh-CN" altLang="en-US" dirty="0"/>
              <a:t>首先是降低去中心化程度以缩短路由长度的支付信道枢纽方案：通过在网络中设置多个大型枢纽节点作为支付中介方便路由，由于中心化结构，该方向的工作致力于提升方案的隐私性，</a:t>
            </a:r>
            <a:endParaRPr lang="en-US" altLang="zh-CN" dirty="0"/>
          </a:p>
          <a:p>
            <a:r>
              <a:rPr lang="zh-CN" altLang="en-US" dirty="0"/>
              <a:t>目前最先进的工作是</a:t>
            </a:r>
            <a:r>
              <a:rPr lang="en-US" altLang="zh-CN" dirty="0"/>
              <a:t>23</a:t>
            </a:r>
            <a:r>
              <a:rPr lang="zh-CN" altLang="en-US" dirty="0"/>
              <a:t>年提出的</a:t>
            </a:r>
            <a:r>
              <a:rPr lang="en-US" altLang="zh-CN" dirty="0" err="1"/>
              <a:t>BlindHub</a:t>
            </a:r>
            <a:r>
              <a:rPr lang="zh-CN" altLang="en-US" dirty="0"/>
              <a:t>，利用非交互式零知识证明构建匿名资产凭证，实现了兼容大部分区块链的强隐私性可变额度的支付信道枢纽协议</a:t>
            </a:r>
            <a:endParaRPr lang="en-US" altLang="zh-CN" dirty="0"/>
          </a:p>
          <a:p>
            <a:endParaRPr lang="en-US" altLang="zh-CN" dirty="0"/>
          </a:p>
          <a:p>
            <a:r>
              <a:rPr lang="zh-CN" altLang="en-US" dirty="0"/>
              <a:t>其次是</a:t>
            </a:r>
            <a:r>
              <a:rPr lang="zh-CN" altLang="en-US" sz="1200" b="0" i="0" u="none" strike="noStrike" kern="1200" baseline="0" dirty="0">
                <a:solidFill>
                  <a:schemeClr val="tx1"/>
                </a:solidFill>
                <a:latin typeface="+mn-lt"/>
                <a:ea typeface="+mn-ea"/>
                <a:cs typeface="+mn-cs"/>
              </a:rPr>
              <a:t>将多跳支付多个中间节点抽象为仅在支付信道关闭时介入的中介的虚拟信道方案，由于减少了与中间节点的交互，方案的可靠性和抵押资产减少，</a:t>
            </a:r>
            <a:r>
              <a:rPr lang="zh-CN" altLang="en-US" dirty="0"/>
              <a:t>该方向的工作致力于实现多信道原子更新，</a:t>
            </a:r>
            <a:endParaRPr lang="en-US" altLang="zh-CN" dirty="0"/>
          </a:p>
          <a:p>
            <a:r>
              <a:rPr lang="zh-CN" altLang="en-US" dirty="0"/>
              <a:t>目前最先进的工作是</a:t>
            </a:r>
            <a:r>
              <a:rPr lang="en-US" altLang="zh-CN" dirty="0"/>
              <a:t>23</a:t>
            </a:r>
            <a:r>
              <a:rPr lang="zh-CN" altLang="en-US" dirty="0"/>
              <a:t>年提出的</a:t>
            </a:r>
            <a:r>
              <a:rPr lang="en-US" altLang="zh-CN" dirty="0"/>
              <a:t>Donner</a:t>
            </a:r>
            <a:r>
              <a:rPr lang="zh-CN" altLang="en-US" dirty="0"/>
              <a:t>，提出了首个非递归结构的虚拟信道，降低了方案复杂度，但目前的虚拟信道方案仍然没有解决多米诺攻击</a:t>
            </a:r>
            <a:endParaRPr lang="en-US" altLang="zh-CN" dirty="0"/>
          </a:p>
          <a:p>
            <a:endParaRPr lang="en-US" altLang="zh-CN" dirty="0"/>
          </a:p>
          <a:p>
            <a:r>
              <a:rPr lang="zh-CN" altLang="en-US" dirty="0"/>
              <a:t>最后是以</a:t>
            </a:r>
            <a:r>
              <a:rPr lang="en-US" altLang="zh-CN" dirty="0"/>
              <a:t>Revive</a:t>
            </a:r>
            <a:r>
              <a:rPr lang="zh-CN" altLang="en-US" dirty="0"/>
              <a:t>为代表的信道再平衡方案，通过组织环形的信道路径进行资产转移，从而使信道资产流动性提升，优化支付信道网络性能，该方向的工作致力于消除可信假设，</a:t>
            </a:r>
            <a:endParaRPr lang="en-US" altLang="zh-CN" dirty="0"/>
          </a:p>
          <a:p>
            <a:r>
              <a:rPr lang="zh-CN" altLang="en-US" dirty="0"/>
              <a:t>目前最先进的工作为</a:t>
            </a:r>
            <a:r>
              <a:rPr lang="en-US" altLang="zh-CN" dirty="0"/>
              <a:t>22</a:t>
            </a:r>
            <a:r>
              <a:rPr lang="zh-CN" altLang="en-US" dirty="0"/>
              <a:t>年提出的</a:t>
            </a:r>
            <a:r>
              <a:rPr lang="en-US" altLang="zh-CN" dirty="0"/>
              <a:t>Shaduf</a:t>
            </a:r>
            <a:r>
              <a:rPr lang="zh-CN" altLang="en-US" dirty="0"/>
              <a:t>，提出首个非环形结构的再平衡协议，但由于依赖于智能合约，该工作的安全性和通用性仍需优化</a:t>
            </a:r>
            <a:endParaRPr lang="en-US" altLang="zh-CN" dirty="0"/>
          </a:p>
        </p:txBody>
      </p:sp>
    </p:spTree>
    <p:extLst>
      <p:ext uri="{BB962C8B-B14F-4D97-AF65-F5344CB8AC3E}">
        <p14:creationId xmlns:p14="http://schemas.microsoft.com/office/powerpoint/2010/main" val="21935493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sz="12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跨链数字资产交易协议的跨链证明主要包括：最长链证明、区块有效性证明、交易有效性证明以及交易内数据正确性证明。</a:t>
            </a:r>
            <a:endParaRPr lang="en-US" altLang="zh-CN" sz="12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r>
              <a:rPr lang="zh-CN" altLang="en-US" sz="12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其难点在于前两项证明需要节点参与共识机制，这在跨链场景下是不可能的</a:t>
            </a:r>
            <a:endParaRPr lang="en-US" altLang="zh-CN" sz="12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endParaRPr lang="en-US" altLang="zh-CN" sz="12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r>
              <a:rPr lang="zh-CN" altLang="en-US" sz="12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目前的解决思路主要有两种：基于</a:t>
            </a:r>
            <a:r>
              <a:rPr lang="en-US" altLang="zh-CN" sz="12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SPV</a:t>
            </a:r>
            <a:r>
              <a:rPr lang="zh-CN" altLang="en-US" sz="12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和轻客户端的方案和基于零知识证明的方案</a:t>
            </a:r>
            <a:endParaRPr lang="en-US" altLang="zh-CN" sz="12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endParaRPr lang="en-US" altLang="zh-CN" sz="12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r>
              <a:rPr lang="zh-CN" altLang="en-US" sz="12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基于轻客户端的方案优点在于计算和验证简单，但需要和链长线性相关的储存资源同时只限定与</a:t>
            </a:r>
            <a:r>
              <a:rPr lang="en-US" altLang="zh-CN" sz="12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PoW</a:t>
            </a:r>
            <a:r>
              <a:rPr lang="zh-CN" altLang="en-US" sz="12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链</a:t>
            </a:r>
            <a:endParaRPr lang="en-US" altLang="zh-CN" sz="12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r>
              <a:rPr lang="zh-CN" altLang="en-US" sz="12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基于零知识证明的方面优点在于可以为特殊的区块链定制零知识证明，但代价是昂贵的零知识证明计算和验证</a:t>
            </a:r>
            <a:endParaRPr lang="en-US" altLang="zh-CN" sz="12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solidFill>
                  <a:schemeClr val="tx1">
                    <a:lumMod val="85000"/>
                    <a:lumOff val="15000"/>
                  </a:schemeClr>
                </a:solidFill>
                <a:sym typeface="+mn-ea"/>
              </a:rPr>
              <a:t>2020</a:t>
            </a:r>
            <a:r>
              <a:rPr lang="zh-CN" altLang="en-US" dirty="0">
                <a:solidFill>
                  <a:schemeClr val="tx1">
                    <a:lumMod val="85000"/>
                    <a:lumOff val="15000"/>
                  </a:schemeClr>
                </a:solidFill>
                <a:sym typeface="+mn-ea"/>
              </a:rPr>
              <a:t>年的</a:t>
            </a:r>
            <a:r>
              <a:rPr lang="en-US" altLang="zh-CN" dirty="0" err="1">
                <a:solidFill>
                  <a:schemeClr val="tx1">
                    <a:lumMod val="85000"/>
                    <a:lumOff val="15000"/>
                  </a:schemeClr>
                </a:solidFill>
                <a:sym typeface="+mn-ea"/>
              </a:rPr>
              <a:t>Flyclient</a:t>
            </a:r>
            <a:r>
              <a:rPr lang="zh-CN" altLang="en-US" dirty="0">
                <a:solidFill>
                  <a:schemeClr val="tx1">
                    <a:lumMod val="85000"/>
                    <a:lumOff val="15000"/>
                  </a:schemeClr>
                </a:solidFill>
                <a:sym typeface="+mn-ea"/>
              </a:rPr>
              <a:t>利用</a:t>
            </a:r>
            <a:r>
              <a:rPr lang="zh-CN" altLang="en-US"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以非交互的抽样分布生成证明</a:t>
            </a:r>
            <a:r>
              <a:rPr lang="zh-CN" altLang="en-US" dirty="0">
                <a:solidFill>
                  <a:schemeClr val="tx1">
                    <a:lumMod val="85000"/>
                    <a:lumOff val="15000"/>
                  </a:schemeClr>
                </a:solidFill>
                <a:sym typeface="+mn-ea"/>
              </a:rPr>
              <a:t>将</a:t>
            </a:r>
            <a:r>
              <a:rPr lang="en-US" altLang="zh-CN" dirty="0">
                <a:solidFill>
                  <a:schemeClr val="tx1">
                    <a:lumMod val="85000"/>
                    <a:lumOff val="15000"/>
                  </a:schemeClr>
                </a:solidFill>
                <a:sym typeface="+mn-ea"/>
              </a:rPr>
              <a:t>SPV</a:t>
            </a:r>
            <a:r>
              <a:rPr lang="zh-CN" altLang="en-US" dirty="0">
                <a:solidFill>
                  <a:schemeClr val="tx1">
                    <a:lumMod val="85000"/>
                    <a:lumOff val="15000"/>
                  </a:schemeClr>
                </a:solidFill>
                <a:sym typeface="+mn-ea"/>
              </a:rPr>
              <a:t>所需的储存复杂度降到对数级，但和区块链底层结构紧密相关，缺乏后向</a:t>
            </a:r>
            <a:r>
              <a:rPr lang="zh-CN" altLang="en-US" sz="1200" b="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兼容性</a:t>
            </a:r>
            <a:endParaRPr lang="en-US" altLang="zh-CN" sz="1200" b="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endParaRPr lang="en-US" altLang="zh-CN" sz="1200" b="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lumMod val="85000"/>
                    <a:lumOff val="15000"/>
                  </a:schemeClr>
                </a:solidFill>
                <a:sym typeface="+mn-ea"/>
              </a:rPr>
              <a:t>2022</a:t>
            </a:r>
            <a:r>
              <a:rPr lang="zh-CN" altLang="en-US" dirty="0">
                <a:solidFill>
                  <a:schemeClr val="tx1">
                    <a:lumMod val="85000"/>
                    <a:lumOff val="15000"/>
                  </a:schemeClr>
                </a:solidFill>
                <a:sym typeface="+mn-ea"/>
              </a:rPr>
              <a:t>年的</a:t>
            </a:r>
            <a:r>
              <a:rPr lang="en-US" altLang="zh-CN" dirty="0" err="1">
                <a:solidFill>
                  <a:schemeClr val="tx1">
                    <a:lumMod val="85000"/>
                    <a:lumOff val="15000"/>
                  </a:schemeClr>
                </a:solidFill>
                <a:sym typeface="+mn-ea"/>
              </a:rPr>
              <a:t>zk</a:t>
            </a:r>
            <a:r>
              <a:rPr lang="en-US" altLang="zh-CN" dirty="0">
                <a:solidFill>
                  <a:schemeClr val="tx1">
                    <a:lumMod val="85000"/>
                    <a:lumOff val="15000"/>
                  </a:schemeClr>
                </a:solidFill>
                <a:sym typeface="+mn-ea"/>
              </a:rPr>
              <a:t>-bridge</a:t>
            </a:r>
            <a:r>
              <a:rPr lang="zh-CN" altLang="en-US" dirty="0">
                <a:solidFill>
                  <a:schemeClr val="tx1">
                    <a:lumMod val="85000"/>
                    <a:lumOff val="15000"/>
                  </a:schemeClr>
                </a:solidFill>
                <a:sym typeface="+mn-ea"/>
              </a:rPr>
              <a:t>是基于零知识证明的跨链桥协议的代表性工作，</a:t>
            </a:r>
            <a:r>
              <a:rPr lang="zh-CN" altLang="en-US"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恒定储存复杂度，且支持不同应用事务的证明生成，但受限于昂贵的部署成本</a:t>
            </a:r>
            <a:endParaRPr lang="en-US" altLang="zh-CN"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23</a:t>
            </a:r>
            <a:r>
              <a:rPr lang="zh-CN" altLang="en-US"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年的</a:t>
            </a:r>
            <a:r>
              <a:rPr lang="en-US" altLang="zh-CN"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Glimpse</a:t>
            </a:r>
            <a:r>
              <a:rPr lang="zh-CN" altLang="en-US"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使用无状态</a:t>
            </a:r>
            <a:r>
              <a:rPr lang="en-US" altLang="zh-CN"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SPV</a:t>
            </a:r>
            <a:r>
              <a:rPr lang="zh-CN" altLang="en-US"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按需证明机制，实现了恒定链上存储，但由于特殊脚本语言需要，难以兼容到现有主流区块链系统上</a:t>
            </a:r>
            <a:endParaRPr lang="en-US" altLang="zh-CN"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下面我将简要介绍我的三项对应的研究内容</a:t>
            </a:r>
          </a:p>
          <a:p>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1 </a:t>
            </a:r>
            <a:r>
              <a:rPr lang="zh-CN" altLang="en-US" sz="1200" b="1" i="0" u="none" strike="noStrike" kern="1200" baseline="0" dirty="0">
                <a:solidFill>
                  <a:schemeClr val="tx1"/>
                </a:solidFill>
                <a:latin typeface="+mn-lt"/>
                <a:ea typeface="+mn-ea"/>
                <a:cs typeface="+mn-cs"/>
              </a:rPr>
              <a:t>恶意环境下分布式数字资产交易协议设计与分析</a:t>
            </a:r>
            <a:endParaRPr lang="en-US" altLang="zh-CN" sz="1200" b="1" i="0" u="none" strike="noStrike" kern="1200" baseline="0" dirty="0">
              <a:solidFill>
                <a:schemeClr val="tx1"/>
              </a:solidFill>
              <a:latin typeface="+mn-lt"/>
              <a:ea typeface="+mn-ea"/>
              <a:cs typeface="+mn-cs"/>
            </a:endParaRPr>
          </a:p>
          <a:p>
            <a:r>
              <a:rPr lang="zh-CN" altLang="en-US" dirty="0"/>
              <a:t>现有分布式资产交易协议通常依赖于底层区块链的诚实矿工假设，难以应对现实环境中日益复杂的恶意攻击场景。</a:t>
            </a:r>
            <a:endParaRPr lang="en-US" altLang="zh-CN" dirty="0"/>
          </a:p>
          <a:p>
            <a:r>
              <a:rPr lang="zh-CN" altLang="en-US" dirty="0"/>
              <a:t>基于已有工作对理性矿工和拜占庭节点的安全模型，需系统分析现有协议的安全漏洞及潜在攻击，</a:t>
            </a:r>
            <a:r>
              <a:rPr lang="zh-CN" altLang="en-US" dirty="0">
                <a:latin typeface="微软雅黑" panose="020B0503020204020204" charset="-122"/>
                <a:ea typeface="微软雅黑" panose="020B0503020204020204" charset="-122"/>
                <a:cs typeface="微软雅黑" panose="020B0503020204020204" charset="-122"/>
                <a:sym typeface="+mn-ea"/>
              </a:rPr>
              <a:t>重构现有资产兑换范式，</a:t>
            </a:r>
            <a:endParaRPr lang="en-US" altLang="zh-CN" dirty="0">
              <a:latin typeface="微软雅黑" panose="020B0503020204020204" charset="-122"/>
              <a:ea typeface="微软雅黑" panose="020B0503020204020204" charset="-122"/>
              <a:cs typeface="微软雅黑" panose="020B0503020204020204" charset="-122"/>
              <a:sym typeface="+mn-ea"/>
            </a:endParaRPr>
          </a:p>
          <a:p>
            <a:endParaRPr lang="en-US" altLang="zh-CN" dirty="0"/>
          </a:p>
          <a:p>
            <a:r>
              <a:rPr lang="zh-CN" altLang="en-US" dirty="0"/>
              <a:t>预期目标是</a:t>
            </a:r>
            <a:r>
              <a:rPr lang="zh-CN" altLang="en-US" dirty="0">
                <a:latin typeface="微软雅黑" panose="020B0503020204020204" charset="-122"/>
                <a:ea typeface="微软雅黑" panose="020B0503020204020204" charset="-122"/>
                <a:cs typeface="微软雅黑" panose="020B0503020204020204" charset="-122"/>
                <a:sym typeface="+mn-ea"/>
              </a:rPr>
              <a:t>设计</a:t>
            </a:r>
            <a:r>
              <a:rPr lang="zh-CN" altLang="en-US" b="1" dirty="0">
                <a:latin typeface="微软雅黑" panose="020B0503020204020204" charset="-122"/>
                <a:ea typeface="微软雅黑" panose="020B0503020204020204" charset="-122"/>
                <a:cs typeface="微软雅黑" panose="020B0503020204020204" charset="-122"/>
                <a:sym typeface="+mn-ea"/>
              </a:rPr>
              <a:t>可证明安全的分布式数字资产交易协议</a:t>
            </a:r>
            <a:endParaRPr lang="zh-CN" altLang="en-US" b="1"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2 </a:t>
            </a:r>
            <a:r>
              <a:rPr lang="zh-CN" altLang="en-US" sz="1200" b="1" i="0" u="none" strike="noStrike" kern="1200" baseline="0" dirty="0">
                <a:solidFill>
                  <a:schemeClr val="tx1"/>
                </a:solidFill>
                <a:latin typeface="+mn-lt"/>
                <a:ea typeface="+mn-ea"/>
                <a:cs typeface="+mn-cs"/>
              </a:rPr>
              <a:t>大规模环境下可扩展分布式数字资产交易协议设计与分析</a:t>
            </a:r>
            <a:endParaRPr lang="en-US" altLang="zh-CN" sz="1200" b="1" i="0" u="none" strike="noStrike" kern="1200" baseline="0" dirty="0">
              <a:solidFill>
                <a:schemeClr val="tx1"/>
              </a:solidFill>
              <a:latin typeface="+mn-lt"/>
              <a:ea typeface="+mn-ea"/>
              <a:cs typeface="+mn-cs"/>
            </a:endParaRPr>
          </a:p>
          <a:p>
            <a:r>
              <a:rPr lang="zh-CN" altLang="en-US" sz="1200" b="0" i="0" u="none" strike="noStrike" kern="1200" baseline="0" dirty="0">
                <a:solidFill>
                  <a:schemeClr val="tx1"/>
                </a:solidFill>
                <a:latin typeface="+mn-lt"/>
                <a:ea typeface="+mn-ea"/>
                <a:cs typeface="+mn-cs"/>
              </a:rPr>
              <a:t>当前链下交易协议通过链下支付信道、多跳路由及虚拟信道等技术已取得显著进展，但由于支付路径选择复杂、多跳支付成功率受限等因素，达不到理想性能</a:t>
            </a:r>
            <a:endParaRPr lang="en-US" altLang="zh-CN" sz="1200" b="0" i="0" u="none" strike="noStrike" kern="1200" baseline="0" dirty="0">
              <a:solidFill>
                <a:schemeClr val="tx1"/>
              </a:solidFill>
              <a:latin typeface="+mn-lt"/>
              <a:ea typeface="+mn-ea"/>
              <a:cs typeface="+mn-cs"/>
            </a:endParaRPr>
          </a:p>
          <a:p>
            <a:r>
              <a:rPr lang="zh-CN" altLang="en-US" dirty="0">
                <a:latin typeface="微软雅黑" panose="020B0503020204020204" charset="-122"/>
                <a:ea typeface="微软雅黑" panose="020B0503020204020204" charset="-122"/>
                <a:cs typeface="微软雅黑" panose="020B0503020204020204" charset="-122"/>
                <a:sym typeface="+mn-ea"/>
              </a:rPr>
              <a:t>因此探索支付信道资产流动性优化机制以延长信道生命周期，优化现有多跳支付结构，设计多方信道安全更新机制并完成实验测试。</a:t>
            </a:r>
            <a:endParaRPr lang="zh-CN" altLang="en-US" b="1" dirty="0">
              <a:latin typeface="微软雅黑" panose="020B0503020204020204" charset="-122"/>
              <a:ea typeface="微软雅黑" panose="020B0503020204020204" charset="-122"/>
              <a:cs typeface="微软雅黑" panose="020B0503020204020204" charset="-122"/>
              <a:sym typeface="+mn-ea"/>
            </a:endParaRPr>
          </a:p>
          <a:p>
            <a:pPr indent="0" fontAlgn="auto">
              <a:lnSpc>
                <a:spcPct val="120000"/>
              </a:lnSpc>
            </a:pPr>
            <a:endParaRPr lang="zh-CN" altLang="en-US" b="1" dirty="0">
              <a:latin typeface="微软雅黑" panose="020B0503020204020204" charset="-122"/>
              <a:ea typeface="微软雅黑" panose="020B0503020204020204" charset="-122"/>
              <a:cs typeface="微软雅黑" panose="020B0503020204020204" charset="-122"/>
              <a:sym typeface="+mn-ea"/>
            </a:endParaRPr>
          </a:p>
          <a:p>
            <a:pPr marL="0" marR="0" lvl="0" indent="0" algn="l" defTabSz="914400" rtl="0" eaLnBrk="1" fontAlgn="auto" latinLnBrk="0" hangingPunct="1">
              <a:lnSpc>
                <a:spcPct val="120000"/>
              </a:lnSpc>
              <a:spcBef>
                <a:spcPts val="0"/>
              </a:spcBef>
              <a:spcAft>
                <a:spcPts val="0"/>
              </a:spcAft>
              <a:buClrTx/>
              <a:buSzTx/>
              <a:buFontTx/>
              <a:buNone/>
              <a:tabLst/>
              <a:defRPr/>
            </a:pPr>
            <a:r>
              <a:rPr lang="zh-CN" altLang="en-US" dirty="0">
                <a:sym typeface="+mn-ea"/>
              </a:rPr>
              <a:t>预期目标是提出强可靠的可扩展分布式数字资产交易协议</a:t>
            </a:r>
            <a:endParaRPr lang="zh-CN" altLang="en-US" b="1"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dirty="0"/>
              <a:t>3 </a:t>
            </a:r>
            <a:r>
              <a:rPr lang="zh-CN" altLang="en-US" b="1" dirty="0">
                <a:solidFill>
                  <a:srgbClr val="04579A"/>
                </a:solidFill>
                <a:sym typeface="+mn-ea"/>
              </a:rPr>
              <a:t>多源异构环境下分布式数字资产跨链验证协议设计与分析</a:t>
            </a:r>
          </a:p>
          <a:p>
            <a:r>
              <a:rPr lang="zh-CN" altLang="en-US" dirty="0">
                <a:latin typeface="微软雅黑" panose="020B0503020204020204" charset="-122"/>
                <a:ea typeface="微软雅黑" panose="020B0503020204020204" charset="-122"/>
                <a:cs typeface="微软雅黑" panose="020B0503020204020204" charset="-122"/>
                <a:sym typeface="+mn-ea"/>
              </a:rPr>
              <a:t>现有跨链验证机制在证明生成与验证过程中仍面临较高的计算与存储开销，且面临异构区块链系统间的验证协议适配挑战，</a:t>
            </a:r>
          </a:p>
          <a:p>
            <a:r>
              <a:rPr lang="zh-CN" altLang="en-US" dirty="0"/>
              <a:t>此项研究基于基础数字签名技术和随机化承诺方案等密码学组件，优化跨链证明的生成和验证算法，实现恒定链下计算、低链上存储的跨链桥结构。</a:t>
            </a:r>
          </a:p>
          <a:p>
            <a:endParaRPr lang="zh-CN" altLang="en-US" dirty="0"/>
          </a:p>
          <a:p>
            <a:r>
              <a:rPr lang="zh-CN" altLang="en-US" dirty="0"/>
              <a:t>目标是</a:t>
            </a:r>
            <a:r>
              <a:rPr lang="zh-CN" altLang="en-US" sz="1200" b="0" i="0" u="none" strike="noStrike" kern="1200" baseline="0" dirty="0">
                <a:solidFill>
                  <a:schemeClr val="tx1"/>
                </a:solidFill>
                <a:latin typeface="+mn-lt"/>
                <a:ea typeface="+mn-ea"/>
                <a:cs typeface="+mn-cs"/>
              </a:rPr>
              <a:t>互操作性增强的高效分布式数字资产交易协议</a:t>
            </a:r>
            <a:endParaRPr lang="zh-CN"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已有工作两篇</a:t>
            </a:r>
          </a:p>
          <a:p>
            <a:r>
              <a:rPr lang="en-US" altLang="zh-CN" dirty="0"/>
              <a:t>1</a:t>
            </a:r>
            <a:r>
              <a:rPr lang="zh-CN" altLang="en-US" dirty="0"/>
              <a:t> 、 无额外信任假设的抗信道干涸的多方虚拟信道协议</a:t>
            </a:r>
            <a:endParaRPr lang="zh-CN" altLang="en-US" dirty="0">
              <a:solidFill>
                <a:srgbClr val="04579A"/>
              </a:solidFill>
              <a:sym typeface="+mn-ea"/>
            </a:endParaRPr>
          </a:p>
          <a:p>
            <a:r>
              <a:rPr lang="zh-CN" altLang="en-US" dirty="0">
                <a:solidFill>
                  <a:srgbClr val="04579A"/>
                </a:solidFill>
                <a:sym typeface="+mn-ea"/>
              </a:rPr>
              <a:t>通过设计高效的信道再平衡子协议以及时间切片技术，实现了高性能高可靠性的链下数字资产交易协议</a:t>
            </a:r>
            <a:endParaRPr lang="en-US" altLang="zh-CN" dirty="0">
              <a:solidFill>
                <a:srgbClr val="04579A"/>
              </a:solidFill>
              <a:sym typeface="+mn-ea"/>
            </a:endParaRPr>
          </a:p>
          <a:p>
            <a:r>
              <a:rPr lang="zh-CN" altLang="en-US" dirty="0">
                <a:solidFill>
                  <a:srgbClr val="04579A"/>
                </a:solidFill>
                <a:sym typeface="+mn-ea"/>
              </a:rPr>
              <a:t>目前该工作已被</a:t>
            </a:r>
            <a:r>
              <a:rPr lang="en-US" altLang="zh-CN" dirty="0">
                <a:solidFill>
                  <a:srgbClr val="04579A"/>
                </a:solidFill>
                <a:sym typeface="+mn-ea"/>
              </a:rPr>
              <a:t>NDSS</a:t>
            </a:r>
            <a:r>
              <a:rPr lang="zh-CN" altLang="en-US" dirty="0">
                <a:solidFill>
                  <a:srgbClr val="04579A"/>
                </a:solidFill>
                <a:sym typeface="+mn-ea"/>
              </a:rPr>
              <a:t>接收</a:t>
            </a:r>
          </a:p>
          <a:p>
            <a:endParaRPr lang="en-US" dirty="0">
              <a:solidFill>
                <a:srgbClr val="04579A"/>
              </a:solidFill>
              <a:sym typeface="+mn-ea"/>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solidFill>
                  <a:srgbClr val="04579A"/>
                </a:solidFill>
                <a:sym typeface="+mn-ea"/>
              </a:rPr>
              <a:t>2</a:t>
            </a:r>
            <a:r>
              <a:rPr lang="zh-CN" altLang="en-US" dirty="0">
                <a:solidFill>
                  <a:srgbClr val="04579A"/>
                </a:solidFill>
                <a:sym typeface="+mn-ea"/>
              </a:rPr>
              <a:t>、是</a:t>
            </a:r>
            <a:r>
              <a:rPr lang="zh-CN" altLang="en-US" dirty="0">
                <a:solidFill>
                  <a:srgbClr val="04579A"/>
                </a:solidFill>
              </a:rPr>
              <a:t>抗</a:t>
            </a:r>
            <a:r>
              <a:rPr lang="en-US" altLang="zh-CN" dirty="0">
                <a:solidFill>
                  <a:srgbClr val="04579A"/>
                </a:solidFill>
              </a:rPr>
              <a:t>double-claiming</a:t>
            </a:r>
            <a:r>
              <a:rPr lang="zh-CN" altLang="en-US" dirty="0">
                <a:solidFill>
                  <a:srgbClr val="04579A"/>
                </a:solidFill>
              </a:rPr>
              <a:t>攻击的通用跨链原子交换协议</a:t>
            </a:r>
            <a:r>
              <a:rPr lang="zh-CN" altLang="en-US" dirty="0">
                <a:solidFill>
                  <a:srgbClr val="04579A"/>
                </a:solidFill>
                <a:sym typeface="+mn-ea"/>
              </a:rPr>
              <a:t>，</a:t>
            </a:r>
          </a:p>
          <a:p>
            <a:r>
              <a:rPr lang="zh-CN" altLang="en-US" dirty="0">
                <a:solidFill>
                  <a:srgbClr val="04579A"/>
                </a:solidFill>
                <a:sym typeface="+mn-ea"/>
              </a:rPr>
              <a:t>在这个工作中，通过两阶段交易架构与可验证时间离散对数方案等密码学组件，实现了可证明安全的分布式数字资产交易协议</a:t>
            </a:r>
            <a:endParaRPr lang="en-US" altLang="zh-CN" dirty="0">
              <a:solidFill>
                <a:srgbClr val="04579A"/>
              </a:solidFill>
              <a:sym typeface="+mn-ea"/>
            </a:endParaRPr>
          </a:p>
          <a:p>
            <a:r>
              <a:rPr lang="zh-CN" altLang="en-US" dirty="0">
                <a:solidFill>
                  <a:srgbClr val="04579A"/>
                </a:solidFill>
                <a:sym typeface="+mn-ea"/>
              </a:rPr>
              <a:t>该工作目前已被</a:t>
            </a:r>
            <a:r>
              <a:rPr lang="en-US" altLang="zh-CN" dirty="0">
                <a:solidFill>
                  <a:srgbClr val="04579A"/>
                </a:solidFill>
                <a:sym typeface="+mn-ea"/>
              </a:rPr>
              <a:t>SP</a:t>
            </a:r>
            <a:r>
              <a:rPr lang="zh-CN" altLang="en-US" dirty="0">
                <a:solidFill>
                  <a:srgbClr val="04579A"/>
                </a:solidFill>
                <a:sym typeface="+mn-ea"/>
              </a:rPr>
              <a:t>接受</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进度安排</a:t>
            </a:r>
          </a:p>
          <a:p>
            <a:endParaRPr lang="zh-CN"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以上是我的开题报告内容，恳请各位老师批评指正，谢谢！</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slideMaster" Target="../slideMasters/slideMaster1.xml"/><Relationship Id="rId5" Type="http://schemas.openxmlformats.org/officeDocument/2006/relationships/tags" Target="../tags/tag12.xml"/><Relationship Id="rId4" Type="http://schemas.openxmlformats.org/officeDocument/2006/relationships/tags" Target="../tags/tag11.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slideMaster" Target="../slideMasters/slideMaster1.xml"/><Relationship Id="rId5" Type="http://schemas.openxmlformats.org/officeDocument/2006/relationships/tags" Target="../tags/tag17.xml"/><Relationship Id="rId4" Type="http://schemas.openxmlformats.org/officeDocument/2006/relationships/tags" Target="../tags/tag16.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slideMaster" Target="../slideMasters/slideMaster1.xml"/><Relationship Id="rId5" Type="http://schemas.openxmlformats.org/officeDocument/2006/relationships/tags" Target="../tags/tag22.xml"/><Relationship Id="rId4" Type="http://schemas.openxmlformats.org/officeDocument/2006/relationships/tags" Target="../tags/tag21.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5.xml"/><Relationship Id="rId7" Type="http://schemas.openxmlformats.org/officeDocument/2006/relationships/slideMaster" Target="../slideMasters/slideMaster1.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6.xml"/><Relationship Id="rId3" Type="http://schemas.openxmlformats.org/officeDocument/2006/relationships/tags" Target="../tags/tag31.xml"/><Relationship Id="rId7" Type="http://schemas.openxmlformats.org/officeDocument/2006/relationships/tags" Target="../tags/tag35.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 Id="rId5" Type="http://schemas.openxmlformats.org/officeDocument/2006/relationships/slideMaster" Target="../slideMasters/slideMaster1.xml"/><Relationship Id="rId4" Type="http://schemas.openxmlformats.org/officeDocument/2006/relationships/tags" Target="../tags/tag40.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3.xml"/><Relationship Id="rId2" Type="http://schemas.openxmlformats.org/officeDocument/2006/relationships/tags" Target="../tags/tag42.xml"/><Relationship Id="rId1" Type="http://schemas.openxmlformats.org/officeDocument/2006/relationships/tags" Target="../tags/tag41.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6.xml"/><Relationship Id="rId7" Type="http://schemas.openxmlformats.org/officeDocument/2006/relationships/slideMaster" Target="../slideMasters/slideMaster1.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slideMaster" Target="../slideMasters/slideMaster1.xml"/><Relationship Id="rId5" Type="http://schemas.openxmlformats.org/officeDocument/2006/relationships/tags" Target="../tags/tag54.xml"/><Relationship Id="rId4" Type="http://schemas.openxmlformats.org/officeDocument/2006/relationships/tags" Target="../tags/tag53.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tags" Target="../tags/tag55.xml"/><Relationship Id="rId5" Type="http://schemas.openxmlformats.org/officeDocument/2006/relationships/slideMaster" Target="../slideMasters/slideMaster1.xml"/><Relationship Id="rId4" Type="http://schemas.openxmlformats.org/officeDocument/2006/relationships/tags" Target="../tags/tag58.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slideMaster" Target="../slideMasters/slideMaster1.xml"/><Relationship Id="rId5" Type="http://schemas.openxmlformats.org/officeDocument/2006/relationships/tags" Target="../tags/tag63.xml"/><Relationship Id="rId4" Type="http://schemas.openxmlformats.org/officeDocument/2006/relationships/tags" Target="../tags/tag6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p>
        </p:txBody>
      </p:sp>
      <p:sp>
        <p:nvSpPr>
          <p:cNvPr id="3"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16" name="日期占位符 15"/>
          <p:cNvSpPr>
            <a:spLocks noGrp="1"/>
          </p:cNvSpPr>
          <p:nvPr>
            <p:ph type="dt" sz="half" idx="10"/>
            <p:custDataLst>
              <p:tags r:id="rId3"/>
            </p:custDataLst>
          </p:nvPr>
        </p:nvSpPr>
        <p:spPr/>
        <p:txBody>
          <a:bodyPr/>
          <a:lstStyle/>
          <a:p>
            <a:fld id="{93CBA602-00DB-4BC5-AF0E-E8CF46ADAD71}" type="datetime1">
              <a:rPr lang="zh-CN" altLang="en-US" smtClean="0"/>
              <a:t>2025/6/26</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p:txBody>
          <a:bodyPr/>
          <a:lstStyle/>
          <a:p>
            <a:fld id="{BB783FCE-1867-4ABE-9182-AA1F5203A584}" type="datetime1">
              <a:rPr lang="zh-CN" altLang="en-US" smtClean="0"/>
              <a:t>2025/6/26</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EBA70044-349B-4CB0-AEA1-32C388F900BD}" type="datetime1">
              <a:rPr lang="zh-CN" altLang="en-US" smtClean="0"/>
              <a:t>2025/6/26</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3F859AD3-2F77-4B31-B819-8A82CE118AFC}" type="datetime1">
              <a:rPr lang="zh-CN" altLang="en-US" smtClean="0"/>
              <a:t>2025/6/26</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custDataLst>
              <p:tags r:id="rId6"/>
            </p:custDataLst>
          </p:nvPr>
        </p:nvSpPr>
        <p:spPr/>
        <p:txBody>
          <a:bodyPr/>
          <a:lstStyle/>
          <a:p>
            <a:fld id="{BB6EE335-526E-4A49-8DAF-5D2F4503B09E}" type="datetime1">
              <a:rPr lang="zh-CN" altLang="en-US" smtClean="0"/>
              <a:t>2025/6/26</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日期占位符 2"/>
          <p:cNvSpPr>
            <a:spLocks noGrp="1"/>
          </p:cNvSpPr>
          <p:nvPr>
            <p:ph type="dt" sz="half" idx="10"/>
            <p:custDataLst>
              <p:tags r:id="rId2"/>
            </p:custDataLst>
          </p:nvPr>
        </p:nvSpPr>
        <p:spPr/>
        <p:txBody>
          <a:bodyPr/>
          <a:lstStyle/>
          <a:p>
            <a:fld id="{A21A5958-F07F-4C6E-8FE0-934E1BC4E0F3}" type="datetime1">
              <a:rPr lang="zh-CN" altLang="en-US" smtClean="0"/>
              <a:t>2025/6/26</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B3920A6A-99DC-4AD7-8503-E811CFB592AE}" type="datetime1">
              <a:rPr lang="zh-CN" altLang="en-US" smtClean="0"/>
              <a:t>2025/6/26</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31B1ED0E-FC92-4454-B589-9F9E6DF99D52}" type="datetime1">
              <a:rPr lang="zh-CN" altLang="en-US" smtClean="0"/>
              <a:t>2025/6/26</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C133A4C3-CEB2-48E7-A856-561358AA4111}" type="datetime1">
              <a:rPr lang="zh-CN" altLang="en-US" smtClean="0"/>
              <a:t>2025/6/26</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F535A735-B8E7-4566-B381-B2BA9A9A557A}" type="datetime1">
              <a:rPr lang="zh-CN" altLang="en-US" smtClean="0"/>
              <a:t>2025/6/26</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64C1EBFE-CC89-49A4-8EE2-00A08F47CF7E}" type="datetime1">
              <a:rPr lang="zh-CN" altLang="en-US" smtClean="0"/>
              <a:t>2025/6/26</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18" Type="http://schemas.openxmlformats.org/officeDocument/2006/relationships/tags" Target="../tags/tag7.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tags" Target="../tags/tag5.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4.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A57E0BB9-C111-40D4-BD59-529F54B5EA2B}" type="datetime1">
              <a:rPr lang="zh-CN" altLang="en-US" smtClean="0"/>
              <a:t>2025/6/26</a:t>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ustDataLst>
      <p:tags r:id="rId13"/>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notesSlide" Target="../notesSlides/notesSlide1.xml"/><Relationship Id="rId3" Type="http://schemas.openxmlformats.org/officeDocument/2006/relationships/tags" Target="../tags/tag66.xml"/><Relationship Id="rId7" Type="http://schemas.openxmlformats.org/officeDocument/2006/relationships/slideLayout" Target="../slideLayouts/slideLayout1.xml"/><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tags" Target="../tags/tag69.xml"/><Relationship Id="rId5" Type="http://schemas.openxmlformats.org/officeDocument/2006/relationships/tags" Target="../tags/tag68.xml"/><Relationship Id="rId10" Type="http://schemas.openxmlformats.org/officeDocument/2006/relationships/image" Target="../media/image2.jpeg"/><Relationship Id="rId4" Type="http://schemas.openxmlformats.org/officeDocument/2006/relationships/tags" Target="../tags/tag67.xml"/><Relationship Id="rId9"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tags" Target="../tags/tag77.xml"/><Relationship Id="rId13" Type="http://schemas.openxmlformats.org/officeDocument/2006/relationships/tags" Target="../tags/tag82.xml"/><Relationship Id="rId18" Type="http://schemas.openxmlformats.org/officeDocument/2006/relationships/tags" Target="../tags/tag87.xml"/><Relationship Id="rId3" Type="http://schemas.openxmlformats.org/officeDocument/2006/relationships/tags" Target="../tags/tag72.xml"/><Relationship Id="rId21" Type="http://schemas.openxmlformats.org/officeDocument/2006/relationships/image" Target="../media/image2.jpeg"/><Relationship Id="rId7" Type="http://schemas.openxmlformats.org/officeDocument/2006/relationships/tags" Target="../tags/tag76.xml"/><Relationship Id="rId12" Type="http://schemas.openxmlformats.org/officeDocument/2006/relationships/tags" Target="../tags/tag81.xml"/><Relationship Id="rId17" Type="http://schemas.openxmlformats.org/officeDocument/2006/relationships/tags" Target="../tags/tag86.xml"/><Relationship Id="rId2" Type="http://schemas.openxmlformats.org/officeDocument/2006/relationships/tags" Target="../tags/tag71.xml"/><Relationship Id="rId16" Type="http://schemas.openxmlformats.org/officeDocument/2006/relationships/tags" Target="../tags/tag85.xml"/><Relationship Id="rId20" Type="http://schemas.openxmlformats.org/officeDocument/2006/relationships/notesSlide" Target="../notesSlides/notesSlide2.xml"/><Relationship Id="rId1" Type="http://schemas.openxmlformats.org/officeDocument/2006/relationships/tags" Target="../tags/tag70.xml"/><Relationship Id="rId6" Type="http://schemas.openxmlformats.org/officeDocument/2006/relationships/tags" Target="../tags/tag75.xml"/><Relationship Id="rId11" Type="http://schemas.openxmlformats.org/officeDocument/2006/relationships/tags" Target="../tags/tag80.xml"/><Relationship Id="rId5" Type="http://schemas.openxmlformats.org/officeDocument/2006/relationships/tags" Target="../tags/tag74.xml"/><Relationship Id="rId15" Type="http://schemas.openxmlformats.org/officeDocument/2006/relationships/tags" Target="../tags/tag84.xml"/><Relationship Id="rId10" Type="http://schemas.openxmlformats.org/officeDocument/2006/relationships/tags" Target="../tags/tag79.xml"/><Relationship Id="rId19" Type="http://schemas.openxmlformats.org/officeDocument/2006/relationships/slideLayout" Target="../slideLayouts/slideLayout7.xml"/><Relationship Id="rId4" Type="http://schemas.openxmlformats.org/officeDocument/2006/relationships/tags" Target="../tags/tag73.xml"/><Relationship Id="rId9" Type="http://schemas.openxmlformats.org/officeDocument/2006/relationships/tags" Target="../tags/tag78.xml"/><Relationship Id="rId14" Type="http://schemas.openxmlformats.org/officeDocument/2006/relationships/tags" Target="../tags/tag83.xml"/></Relationships>
</file>

<file path=ppt/slides/_rels/slide3.xml.rels><?xml version="1.0" encoding="UTF-8" standalone="yes"?>
<Relationships xmlns="http://schemas.openxmlformats.org/package/2006/relationships"><Relationship Id="rId13" Type="http://schemas.openxmlformats.org/officeDocument/2006/relationships/tags" Target="../tags/tag100.xml"/><Relationship Id="rId18" Type="http://schemas.openxmlformats.org/officeDocument/2006/relationships/tags" Target="../tags/tag105.xml"/><Relationship Id="rId26" Type="http://schemas.openxmlformats.org/officeDocument/2006/relationships/tags" Target="../tags/tag113.xml"/><Relationship Id="rId3" Type="http://schemas.openxmlformats.org/officeDocument/2006/relationships/tags" Target="../tags/tag90.xml"/><Relationship Id="rId21" Type="http://schemas.openxmlformats.org/officeDocument/2006/relationships/tags" Target="../tags/tag108.xml"/><Relationship Id="rId34" Type="http://schemas.openxmlformats.org/officeDocument/2006/relationships/notesSlide" Target="../notesSlides/notesSlide3.xml"/><Relationship Id="rId7" Type="http://schemas.openxmlformats.org/officeDocument/2006/relationships/tags" Target="../tags/tag94.xml"/><Relationship Id="rId12" Type="http://schemas.openxmlformats.org/officeDocument/2006/relationships/tags" Target="../tags/tag99.xml"/><Relationship Id="rId17" Type="http://schemas.openxmlformats.org/officeDocument/2006/relationships/tags" Target="../tags/tag104.xml"/><Relationship Id="rId25" Type="http://schemas.openxmlformats.org/officeDocument/2006/relationships/tags" Target="../tags/tag112.xml"/><Relationship Id="rId33" Type="http://schemas.openxmlformats.org/officeDocument/2006/relationships/slideLayout" Target="../slideLayouts/slideLayout1.xml"/><Relationship Id="rId2" Type="http://schemas.openxmlformats.org/officeDocument/2006/relationships/tags" Target="../tags/tag89.xml"/><Relationship Id="rId16" Type="http://schemas.openxmlformats.org/officeDocument/2006/relationships/tags" Target="../tags/tag103.xml"/><Relationship Id="rId20" Type="http://schemas.openxmlformats.org/officeDocument/2006/relationships/tags" Target="../tags/tag107.xml"/><Relationship Id="rId29" Type="http://schemas.openxmlformats.org/officeDocument/2006/relationships/tags" Target="../tags/tag116.xml"/><Relationship Id="rId1" Type="http://schemas.openxmlformats.org/officeDocument/2006/relationships/tags" Target="../tags/tag88.xml"/><Relationship Id="rId6" Type="http://schemas.openxmlformats.org/officeDocument/2006/relationships/tags" Target="../tags/tag93.xml"/><Relationship Id="rId11" Type="http://schemas.openxmlformats.org/officeDocument/2006/relationships/tags" Target="../tags/tag98.xml"/><Relationship Id="rId24" Type="http://schemas.openxmlformats.org/officeDocument/2006/relationships/tags" Target="../tags/tag111.xml"/><Relationship Id="rId32" Type="http://schemas.openxmlformats.org/officeDocument/2006/relationships/tags" Target="../tags/tag119.xml"/><Relationship Id="rId5" Type="http://schemas.openxmlformats.org/officeDocument/2006/relationships/tags" Target="../tags/tag92.xml"/><Relationship Id="rId15" Type="http://schemas.openxmlformats.org/officeDocument/2006/relationships/tags" Target="../tags/tag102.xml"/><Relationship Id="rId23" Type="http://schemas.openxmlformats.org/officeDocument/2006/relationships/tags" Target="../tags/tag110.xml"/><Relationship Id="rId28" Type="http://schemas.openxmlformats.org/officeDocument/2006/relationships/tags" Target="../tags/tag115.xml"/><Relationship Id="rId36" Type="http://schemas.openxmlformats.org/officeDocument/2006/relationships/image" Target="../media/image3.jpeg"/><Relationship Id="rId10" Type="http://schemas.openxmlformats.org/officeDocument/2006/relationships/tags" Target="../tags/tag97.xml"/><Relationship Id="rId19" Type="http://schemas.openxmlformats.org/officeDocument/2006/relationships/tags" Target="../tags/tag106.xml"/><Relationship Id="rId31" Type="http://schemas.openxmlformats.org/officeDocument/2006/relationships/tags" Target="../tags/tag118.xml"/><Relationship Id="rId4" Type="http://schemas.openxmlformats.org/officeDocument/2006/relationships/tags" Target="../tags/tag91.xml"/><Relationship Id="rId9" Type="http://schemas.openxmlformats.org/officeDocument/2006/relationships/tags" Target="../tags/tag96.xml"/><Relationship Id="rId14" Type="http://schemas.openxmlformats.org/officeDocument/2006/relationships/tags" Target="../tags/tag101.xml"/><Relationship Id="rId22" Type="http://schemas.openxmlformats.org/officeDocument/2006/relationships/tags" Target="../tags/tag109.xml"/><Relationship Id="rId27" Type="http://schemas.openxmlformats.org/officeDocument/2006/relationships/tags" Target="../tags/tag114.xml"/><Relationship Id="rId30" Type="http://schemas.openxmlformats.org/officeDocument/2006/relationships/tags" Target="../tags/tag117.xml"/><Relationship Id="rId35" Type="http://schemas.openxmlformats.org/officeDocument/2006/relationships/image" Target="../media/image2.jpeg"/><Relationship Id="rId8" Type="http://schemas.openxmlformats.org/officeDocument/2006/relationships/tags" Target="../tags/tag95.xml"/></Relationships>
</file>

<file path=ppt/slides/_rels/slide4.xml.rels><?xml version="1.0" encoding="UTF-8" standalone="yes"?>
<Relationships xmlns="http://schemas.openxmlformats.org/package/2006/relationships"><Relationship Id="rId8" Type="http://schemas.openxmlformats.org/officeDocument/2006/relationships/tags" Target="../tags/tag127.xml"/><Relationship Id="rId13" Type="http://schemas.openxmlformats.org/officeDocument/2006/relationships/tags" Target="../tags/tag132.xml"/><Relationship Id="rId18" Type="http://schemas.openxmlformats.org/officeDocument/2006/relationships/tags" Target="../tags/tag137.xml"/><Relationship Id="rId3" Type="http://schemas.openxmlformats.org/officeDocument/2006/relationships/tags" Target="../tags/tag122.xml"/><Relationship Id="rId21" Type="http://schemas.openxmlformats.org/officeDocument/2006/relationships/notesSlide" Target="../notesSlides/notesSlide4.xml"/><Relationship Id="rId7" Type="http://schemas.openxmlformats.org/officeDocument/2006/relationships/tags" Target="../tags/tag126.xml"/><Relationship Id="rId12" Type="http://schemas.openxmlformats.org/officeDocument/2006/relationships/tags" Target="../tags/tag131.xml"/><Relationship Id="rId17" Type="http://schemas.openxmlformats.org/officeDocument/2006/relationships/tags" Target="../tags/tag136.xml"/><Relationship Id="rId2" Type="http://schemas.openxmlformats.org/officeDocument/2006/relationships/tags" Target="../tags/tag121.xml"/><Relationship Id="rId16" Type="http://schemas.openxmlformats.org/officeDocument/2006/relationships/tags" Target="../tags/tag135.xml"/><Relationship Id="rId20" Type="http://schemas.openxmlformats.org/officeDocument/2006/relationships/slideLayout" Target="../slideLayouts/slideLayout1.xml"/><Relationship Id="rId1" Type="http://schemas.openxmlformats.org/officeDocument/2006/relationships/tags" Target="../tags/tag120.xml"/><Relationship Id="rId6" Type="http://schemas.openxmlformats.org/officeDocument/2006/relationships/tags" Target="../tags/tag125.xml"/><Relationship Id="rId11" Type="http://schemas.openxmlformats.org/officeDocument/2006/relationships/tags" Target="../tags/tag130.xml"/><Relationship Id="rId5" Type="http://schemas.openxmlformats.org/officeDocument/2006/relationships/tags" Target="../tags/tag124.xml"/><Relationship Id="rId15" Type="http://schemas.openxmlformats.org/officeDocument/2006/relationships/tags" Target="../tags/tag134.xml"/><Relationship Id="rId23" Type="http://schemas.openxmlformats.org/officeDocument/2006/relationships/image" Target="../media/image2.jpeg"/><Relationship Id="rId10" Type="http://schemas.openxmlformats.org/officeDocument/2006/relationships/tags" Target="../tags/tag129.xml"/><Relationship Id="rId19" Type="http://schemas.openxmlformats.org/officeDocument/2006/relationships/tags" Target="../tags/tag138.xml"/><Relationship Id="rId4" Type="http://schemas.openxmlformats.org/officeDocument/2006/relationships/tags" Target="../tags/tag123.xml"/><Relationship Id="rId9" Type="http://schemas.openxmlformats.org/officeDocument/2006/relationships/tags" Target="../tags/tag128.xml"/><Relationship Id="rId14" Type="http://schemas.openxmlformats.org/officeDocument/2006/relationships/tags" Target="../tags/tag133.xml"/><Relationship Id="rId22" Type="http://schemas.openxmlformats.org/officeDocument/2006/relationships/image" Target="../media/image4.jpeg"/></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3" Type="http://schemas.openxmlformats.org/officeDocument/2006/relationships/tags" Target="../tags/tag141.xml"/><Relationship Id="rId7" Type="http://schemas.openxmlformats.org/officeDocument/2006/relationships/slideLayout" Target="../slideLayouts/slideLayout1.xml"/><Relationship Id="rId2" Type="http://schemas.openxmlformats.org/officeDocument/2006/relationships/tags" Target="../tags/tag140.xml"/><Relationship Id="rId1" Type="http://schemas.openxmlformats.org/officeDocument/2006/relationships/tags" Target="../tags/tag139.xml"/><Relationship Id="rId6" Type="http://schemas.openxmlformats.org/officeDocument/2006/relationships/tags" Target="../tags/tag144.xml"/><Relationship Id="rId11" Type="http://schemas.openxmlformats.org/officeDocument/2006/relationships/image" Target="../media/image6.png"/><Relationship Id="rId5" Type="http://schemas.openxmlformats.org/officeDocument/2006/relationships/tags" Target="../tags/tag143.xml"/><Relationship Id="rId10" Type="http://schemas.openxmlformats.org/officeDocument/2006/relationships/image" Target="../media/image2.jpeg"/><Relationship Id="rId4" Type="http://schemas.openxmlformats.org/officeDocument/2006/relationships/tags" Target="../tags/tag142.xml"/><Relationship Id="rId9"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tags" Target="../tags/tag152.xml"/><Relationship Id="rId13" Type="http://schemas.openxmlformats.org/officeDocument/2006/relationships/slideLayout" Target="../slideLayouts/slideLayout1.xml"/><Relationship Id="rId3" Type="http://schemas.openxmlformats.org/officeDocument/2006/relationships/tags" Target="../tags/tag147.xml"/><Relationship Id="rId7" Type="http://schemas.openxmlformats.org/officeDocument/2006/relationships/tags" Target="../tags/tag151.xml"/><Relationship Id="rId12" Type="http://schemas.openxmlformats.org/officeDocument/2006/relationships/tags" Target="../tags/tag156.xml"/><Relationship Id="rId2" Type="http://schemas.openxmlformats.org/officeDocument/2006/relationships/tags" Target="../tags/tag146.xml"/><Relationship Id="rId1" Type="http://schemas.openxmlformats.org/officeDocument/2006/relationships/tags" Target="../tags/tag145.xml"/><Relationship Id="rId6" Type="http://schemas.openxmlformats.org/officeDocument/2006/relationships/tags" Target="../tags/tag150.xml"/><Relationship Id="rId11" Type="http://schemas.openxmlformats.org/officeDocument/2006/relationships/tags" Target="../tags/tag155.xml"/><Relationship Id="rId5" Type="http://schemas.openxmlformats.org/officeDocument/2006/relationships/tags" Target="../tags/tag149.xml"/><Relationship Id="rId15" Type="http://schemas.openxmlformats.org/officeDocument/2006/relationships/image" Target="../media/image2.jpeg"/><Relationship Id="rId10" Type="http://schemas.openxmlformats.org/officeDocument/2006/relationships/tags" Target="../tags/tag154.xml"/><Relationship Id="rId4" Type="http://schemas.openxmlformats.org/officeDocument/2006/relationships/tags" Target="../tags/tag148.xml"/><Relationship Id="rId9" Type="http://schemas.openxmlformats.org/officeDocument/2006/relationships/tags" Target="../tags/tag153.xml"/><Relationship Id="rId1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8" Type="http://schemas.openxmlformats.org/officeDocument/2006/relationships/tags" Target="../tags/tag164.xml"/><Relationship Id="rId13" Type="http://schemas.openxmlformats.org/officeDocument/2006/relationships/image" Target="../media/image2.jpeg"/><Relationship Id="rId3" Type="http://schemas.openxmlformats.org/officeDocument/2006/relationships/tags" Target="../tags/tag159.xml"/><Relationship Id="rId7" Type="http://schemas.openxmlformats.org/officeDocument/2006/relationships/tags" Target="../tags/tag163.xml"/><Relationship Id="rId12" Type="http://schemas.openxmlformats.org/officeDocument/2006/relationships/notesSlide" Target="../notesSlides/notesSlide7.xml"/><Relationship Id="rId2" Type="http://schemas.openxmlformats.org/officeDocument/2006/relationships/tags" Target="../tags/tag158.xml"/><Relationship Id="rId1" Type="http://schemas.openxmlformats.org/officeDocument/2006/relationships/tags" Target="../tags/tag157.xml"/><Relationship Id="rId6" Type="http://schemas.openxmlformats.org/officeDocument/2006/relationships/tags" Target="../tags/tag162.xml"/><Relationship Id="rId11" Type="http://schemas.openxmlformats.org/officeDocument/2006/relationships/slideLayout" Target="../slideLayouts/slideLayout1.xml"/><Relationship Id="rId5" Type="http://schemas.openxmlformats.org/officeDocument/2006/relationships/tags" Target="../tags/tag161.xml"/><Relationship Id="rId15" Type="http://schemas.openxmlformats.org/officeDocument/2006/relationships/image" Target="../media/image8.png"/><Relationship Id="rId10" Type="http://schemas.openxmlformats.org/officeDocument/2006/relationships/tags" Target="../tags/tag166.xml"/><Relationship Id="rId4" Type="http://schemas.openxmlformats.org/officeDocument/2006/relationships/tags" Target="../tags/tag160.xml"/><Relationship Id="rId9" Type="http://schemas.openxmlformats.org/officeDocument/2006/relationships/tags" Target="../tags/tag165.xml"/><Relationship Id="rId14" Type="http://schemas.openxmlformats.org/officeDocument/2006/relationships/image" Target="../media/image7.png"/></Relationships>
</file>

<file path=ppt/slides/_rels/slide8.xml.rels><?xml version="1.0" encoding="UTF-8" standalone="yes"?>
<Relationships xmlns="http://schemas.openxmlformats.org/package/2006/relationships"><Relationship Id="rId13" Type="http://schemas.openxmlformats.org/officeDocument/2006/relationships/tags" Target="../tags/tag179.xml"/><Relationship Id="rId18" Type="http://schemas.openxmlformats.org/officeDocument/2006/relationships/tags" Target="../tags/tag184.xml"/><Relationship Id="rId26" Type="http://schemas.openxmlformats.org/officeDocument/2006/relationships/tags" Target="../tags/tag192.xml"/><Relationship Id="rId21" Type="http://schemas.openxmlformats.org/officeDocument/2006/relationships/tags" Target="../tags/tag187.xml"/><Relationship Id="rId34" Type="http://schemas.openxmlformats.org/officeDocument/2006/relationships/slideLayout" Target="../slideLayouts/slideLayout1.xml"/><Relationship Id="rId7" Type="http://schemas.openxmlformats.org/officeDocument/2006/relationships/tags" Target="../tags/tag173.xml"/><Relationship Id="rId12" Type="http://schemas.openxmlformats.org/officeDocument/2006/relationships/tags" Target="../tags/tag178.xml"/><Relationship Id="rId17" Type="http://schemas.openxmlformats.org/officeDocument/2006/relationships/tags" Target="../tags/tag183.xml"/><Relationship Id="rId25" Type="http://schemas.openxmlformats.org/officeDocument/2006/relationships/tags" Target="../tags/tag191.xml"/><Relationship Id="rId33" Type="http://schemas.openxmlformats.org/officeDocument/2006/relationships/tags" Target="../tags/tag199.xml"/><Relationship Id="rId38" Type="http://schemas.openxmlformats.org/officeDocument/2006/relationships/image" Target="../media/image2.jpeg"/><Relationship Id="rId2" Type="http://schemas.openxmlformats.org/officeDocument/2006/relationships/tags" Target="../tags/tag168.xml"/><Relationship Id="rId16" Type="http://schemas.openxmlformats.org/officeDocument/2006/relationships/tags" Target="../tags/tag182.xml"/><Relationship Id="rId20" Type="http://schemas.openxmlformats.org/officeDocument/2006/relationships/tags" Target="../tags/tag186.xml"/><Relationship Id="rId29" Type="http://schemas.openxmlformats.org/officeDocument/2006/relationships/tags" Target="../tags/tag195.xml"/><Relationship Id="rId1" Type="http://schemas.openxmlformats.org/officeDocument/2006/relationships/tags" Target="../tags/tag167.xml"/><Relationship Id="rId6" Type="http://schemas.openxmlformats.org/officeDocument/2006/relationships/tags" Target="../tags/tag172.xml"/><Relationship Id="rId11" Type="http://schemas.openxmlformats.org/officeDocument/2006/relationships/tags" Target="../tags/tag177.xml"/><Relationship Id="rId24" Type="http://schemas.openxmlformats.org/officeDocument/2006/relationships/tags" Target="../tags/tag190.xml"/><Relationship Id="rId32" Type="http://schemas.openxmlformats.org/officeDocument/2006/relationships/tags" Target="../tags/tag198.xml"/><Relationship Id="rId37" Type="http://schemas.openxmlformats.org/officeDocument/2006/relationships/image" Target="../media/image10.jpeg"/><Relationship Id="rId5" Type="http://schemas.openxmlformats.org/officeDocument/2006/relationships/tags" Target="../tags/tag171.xml"/><Relationship Id="rId15" Type="http://schemas.openxmlformats.org/officeDocument/2006/relationships/tags" Target="../tags/tag181.xml"/><Relationship Id="rId23" Type="http://schemas.openxmlformats.org/officeDocument/2006/relationships/tags" Target="../tags/tag189.xml"/><Relationship Id="rId28" Type="http://schemas.openxmlformats.org/officeDocument/2006/relationships/tags" Target="../tags/tag194.xml"/><Relationship Id="rId36" Type="http://schemas.openxmlformats.org/officeDocument/2006/relationships/image" Target="../media/image9.png"/><Relationship Id="rId10" Type="http://schemas.openxmlformats.org/officeDocument/2006/relationships/tags" Target="../tags/tag176.xml"/><Relationship Id="rId19" Type="http://schemas.openxmlformats.org/officeDocument/2006/relationships/tags" Target="../tags/tag185.xml"/><Relationship Id="rId31" Type="http://schemas.openxmlformats.org/officeDocument/2006/relationships/tags" Target="../tags/tag197.xml"/><Relationship Id="rId4" Type="http://schemas.openxmlformats.org/officeDocument/2006/relationships/tags" Target="../tags/tag170.xml"/><Relationship Id="rId9" Type="http://schemas.openxmlformats.org/officeDocument/2006/relationships/tags" Target="../tags/tag175.xml"/><Relationship Id="rId14" Type="http://schemas.openxmlformats.org/officeDocument/2006/relationships/tags" Target="../tags/tag180.xml"/><Relationship Id="rId22" Type="http://schemas.openxmlformats.org/officeDocument/2006/relationships/tags" Target="../tags/tag188.xml"/><Relationship Id="rId27" Type="http://schemas.openxmlformats.org/officeDocument/2006/relationships/tags" Target="../tags/tag193.xml"/><Relationship Id="rId30" Type="http://schemas.openxmlformats.org/officeDocument/2006/relationships/tags" Target="../tags/tag196.xml"/><Relationship Id="rId35" Type="http://schemas.openxmlformats.org/officeDocument/2006/relationships/notesSlide" Target="../notesSlides/notesSlide8.xml"/><Relationship Id="rId8" Type="http://schemas.openxmlformats.org/officeDocument/2006/relationships/tags" Target="../tags/tag174.xml"/><Relationship Id="rId3" Type="http://schemas.openxmlformats.org/officeDocument/2006/relationships/tags" Target="../tags/tag169.xml"/></Relationships>
</file>

<file path=ppt/slides/_rels/slide9.xml.rels><?xml version="1.0" encoding="UTF-8" standalone="yes"?>
<Relationships xmlns="http://schemas.openxmlformats.org/package/2006/relationships"><Relationship Id="rId8" Type="http://schemas.openxmlformats.org/officeDocument/2006/relationships/tags" Target="../tags/tag207.xml"/><Relationship Id="rId13" Type="http://schemas.openxmlformats.org/officeDocument/2006/relationships/slideLayout" Target="../slideLayouts/slideLayout1.xml"/><Relationship Id="rId3" Type="http://schemas.openxmlformats.org/officeDocument/2006/relationships/tags" Target="../tags/tag202.xml"/><Relationship Id="rId7" Type="http://schemas.openxmlformats.org/officeDocument/2006/relationships/tags" Target="../tags/tag206.xml"/><Relationship Id="rId12" Type="http://schemas.openxmlformats.org/officeDocument/2006/relationships/tags" Target="../tags/tag211.xml"/><Relationship Id="rId2" Type="http://schemas.openxmlformats.org/officeDocument/2006/relationships/tags" Target="../tags/tag201.xml"/><Relationship Id="rId1" Type="http://schemas.openxmlformats.org/officeDocument/2006/relationships/tags" Target="../tags/tag200.xml"/><Relationship Id="rId6" Type="http://schemas.openxmlformats.org/officeDocument/2006/relationships/tags" Target="../tags/tag205.xml"/><Relationship Id="rId11" Type="http://schemas.openxmlformats.org/officeDocument/2006/relationships/tags" Target="../tags/tag210.xml"/><Relationship Id="rId5" Type="http://schemas.openxmlformats.org/officeDocument/2006/relationships/tags" Target="../tags/tag204.xml"/><Relationship Id="rId15" Type="http://schemas.openxmlformats.org/officeDocument/2006/relationships/image" Target="../media/image2.jpeg"/><Relationship Id="rId10" Type="http://schemas.openxmlformats.org/officeDocument/2006/relationships/tags" Target="../tags/tag209.xml"/><Relationship Id="rId4" Type="http://schemas.openxmlformats.org/officeDocument/2006/relationships/tags" Target="../tags/tag203.xml"/><Relationship Id="rId9" Type="http://schemas.openxmlformats.org/officeDocument/2006/relationships/tags" Target="../tags/tag208.xml"/><Relationship Id="rId1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8" Type="http://schemas.openxmlformats.org/officeDocument/2006/relationships/tags" Target="../tags/tag219.xml"/><Relationship Id="rId13" Type="http://schemas.openxmlformats.org/officeDocument/2006/relationships/tags" Target="../tags/tag224.xml"/><Relationship Id="rId18" Type="http://schemas.openxmlformats.org/officeDocument/2006/relationships/notesSlide" Target="../notesSlides/notesSlide10.xml"/><Relationship Id="rId3" Type="http://schemas.openxmlformats.org/officeDocument/2006/relationships/tags" Target="../tags/tag214.xml"/><Relationship Id="rId21" Type="http://schemas.openxmlformats.org/officeDocument/2006/relationships/image" Target="../media/image13.png"/><Relationship Id="rId7" Type="http://schemas.openxmlformats.org/officeDocument/2006/relationships/tags" Target="../tags/tag218.xml"/><Relationship Id="rId12" Type="http://schemas.openxmlformats.org/officeDocument/2006/relationships/tags" Target="../tags/tag223.xml"/><Relationship Id="rId17" Type="http://schemas.openxmlformats.org/officeDocument/2006/relationships/slideLayout" Target="../slideLayouts/slideLayout2.xml"/><Relationship Id="rId2" Type="http://schemas.openxmlformats.org/officeDocument/2006/relationships/tags" Target="../tags/tag213.xml"/><Relationship Id="rId16" Type="http://schemas.openxmlformats.org/officeDocument/2006/relationships/tags" Target="../tags/tag227.xml"/><Relationship Id="rId20" Type="http://schemas.openxmlformats.org/officeDocument/2006/relationships/image" Target="../media/image12.png"/><Relationship Id="rId1" Type="http://schemas.openxmlformats.org/officeDocument/2006/relationships/tags" Target="../tags/tag212.xml"/><Relationship Id="rId6" Type="http://schemas.openxmlformats.org/officeDocument/2006/relationships/tags" Target="../tags/tag217.xml"/><Relationship Id="rId11" Type="http://schemas.openxmlformats.org/officeDocument/2006/relationships/tags" Target="../tags/tag222.xml"/><Relationship Id="rId5" Type="http://schemas.openxmlformats.org/officeDocument/2006/relationships/tags" Target="../tags/tag216.xml"/><Relationship Id="rId15" Type="http://schemas.openxmlformats.org/officeDocument/2006/relationships/tags" Target="../tags/tag226.xml"/><Relationship Id="rId10" Type="http://schemas.openxmlformats.org/officeDocument/2006/relationships/tags" Target="../tags/tag221.xml"/><Relationship Id="rId19" Type="http://schemas.openxmlformats.org/officeDocument/2006/relationships/image" Target="../media/image11.jpeg"/><Relationship Id="rId4" Type="http://schemas.openxmlformats.org/officeDocument/2006/relationships/tags" Target="../tags/tag215.xml"/><Relationship Id="rId9" Type="http://schemas.openxmlformats.org/officeDocument/2006/relationships/tags" Target="../tags/tag220.xml"/><Relationship Id="rId14" Type="http://schemas.openxmlformats.org/officeDocument/2006/relationships/tags" Target="../tags/tag225.xml"/></Relationships>
</file>

<file path=ppt/slides/_rels/slide11.xml.rels><?xml version="1.0" encoding="UTF-8" standalone="yes"?>
<Relationships xmlns="http://schemas.openxmlformats.org/package/2006/relationships"><Relationship Id="rId8" Type="http://schemas.openxmlformats.org/officeDocument/2006/relationships/tags" Target="../tags/tag235.xml"/><Relationship Id="rId13" Type="http://schemas.openxmlformats.org/officeDocument/2006/relationships/tags" Target="../tags/tag240.xml"/><Relationship Id="rId18" Type="http://schemas.openxmlformats.org/officeDocument/2006/relationships/notesSlide" Target="../notesSlides/notesSlide11.xml"/><Relationship Id="rId3" Type="http://schemas.openxmlformats.org/officeDocument/2006/relationships/tags" Target="../tags/tag230.xml"/><Relationship Id="rId7" Type="http://schemas.openxmlformats.org/officeDocument/2006/relationships/tags" Target="../tags/tag234.xml"/><Relationship Id="rId12" Type="http://schemas.openxmlformats.org/officeDocument/2006/relationships/tags" Target="../tags/tag239.xml"/><Relationship Id="rId17" Type="http://schemas.openxmlformats.org/officeDocument/2006/relationships/slideLayout" Target="../slideLayouts/slideLayout2.xml"/><Relationship Id="rId2" Type="http://schemas.openxmlformats.org/officeDocument/2006/relationships/tags" Target="../tags/tag229.xml"/><Relationship Id="rId16" Type="http://schemas.openxmlformats.org/officeDocument/2006/relationships/tags" Target="../tags/tag243.xml"/><Relationship Id="rId20" Type="http://schemas.openxmlformats.org/officeDocument/2006/relationships/image" Target="../media/image14.png"/><Relationship Id="rId1" Type="http://schemas.openxmlformats.org/officeDocument/2006/relationships/tags" Target="../tags/tag228.xml"/><Relationship Id="rId6" Type="http://schemas.openxmlformats.org/officeDocument/2006/relationships/tags" Target="../tags/tag233.xml"/><Relationship Id="rId11" Type="http://schemas.openxmlformats.org/officeDocument/2006/relationships/tags" Target="../tags/tag238.xml"/><Relationship Id="rId5" Type="http://schemas.openxmlformats.org/officeDocument/2006/relationships/tags" Target="../tags/tag232.xml"/><Relationship Id="rId15" Type="http://schemas.openxmlformats.org/officeDocument/2006/relationships/tags" Target="../tags/tag242.xml"/><Relationship Id="rId10" Type="http://schemas.openxmlformats.org/officeDocument/2006/relationships/tags" Target="../tags/tag237.xml"/><Relationship Id="rId19" Type="http://schemas.openxmlformats.org/officeDocument/2006/relationships/image" Target="../media/image11.jpeg"/><Relationship Id="rId4" Type="http://schemas.openxmlformats.org/officeDocument/2006/relationships/tags" Target="../tags/tag231.xml"/><Relationship Id="rId9" Type="http://schemas.openxmlformats.org/officeDocument/2006/relationships/tags" Target="../tags/tag236.xml"/><Relationship Id="rId14" Type="http://schemas.openxmlformats.org/officeDocument/2006/relationships/tags" Target="../tags/tag241.xml"/></Relationships>
</file>

<file path=ppt/slides/_rels/slide12.xml.rels><?xml version="1.0" encoding="UTF-8" standalone="yes"?>
<Relationships xmlns="http://schemas.openxmlformats.org/package/2006/relationships"><Relationship Id="rId8" Type="http://schemas.openxmlformats.org/officeDocument/2006/relationships/tags" Target="../tags/tag251.xml"/><Relationship Id="rId13" Type="http://schemas.openxmlformats.org/officeDocument/2006/relationships/tags" Target="../tags/tag256.xml"/><Relationship Id="rId3" Type="http://schemas.openxmlformats.org/officeDocument/2006/relationships/tags" Target="../tags/tag246.xml"/><Relationship Id="rId7" Type="http://schemas.openxmlformats.org/officeDocument/2006/relationships/tags" Target="../tags/tag250.xml"/><Relationship Id="rId12" Type="http://schemas.openxmlformats.org/officeDocument/2006/relationships/tags" Target="../tags/tag255.xml"/><Relationship Id="rId2" Type="http://schemas.openxmlformats.org/officeDocument/2006/relationships/tags" Target="../tags/tag245.xml"/><Relationship Id="rId16" Type="http://schemas.openxmlformats.org/officeDocument/2006/relationships/image" Target="../media/image11.jpeg"/><Relationship Id="rId1" Type="http://schemas.openxmlformats.org/officeDocument/2006/relationships/tags" Target="../tags/tag244.xml"/><Relationship Id="rId6" Type="http://schemas.openxmlformats.org/officeDocument/2006/relationships/tags" Target="../tags/tag249.xml"/><Relationship Id="rId11" Type="http://schemas.openxmlformats.org/officeDocument/2006/relationships/tags" Target="../tags/tag254.xml"/><Relationship Id="rId5" Type="http://schemas.openxmlformats.org/officeDocument/2006/relationships/tags" Target="../tags/tag248.xml"/><Relationship Id="rId15" Type="http://schemas.openxmlformats.org/officeDocument/2006/relationships/notesSlide" Target="../notesSlides/notesSlide12.xml"/><Relationship Id="rId10" Type="http://schemas.openxmlformats.org/officeDocument/2006/relationships/tags" Target="../tags/tag253.xml"/><Relationship Id="rId4" Type="http://schemas.openxmlformats.org/officeDocument/2006/relationships/tags" Target="../tags/tag247.xml"/><Relationship Id="rId9" Type="http://schemas.openxmlformats.org/officeDocument/2006/relationships/tags" Target="../tags/tag252.xml"/><Relationship Id="rId14"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tags" Target="../tags/tag264.xml"/><Relationship Id="rId13" Type="http://schemas.openxmlformats.org/officeDocument/2006/relationships/tags" Target="../tags/tag269.xml"/><Relationship Id="rId18" Type="http://schemas.openxmlformats.org/officeDocument/2006/relationships/image" Target="../media/image2.jpeg"/><Relationship Id="rId3" Type="http://schemas.openxmlformats.org/officeDocument/2006/relationships/tags" Target="../tags/tag259.xml"/><Relationship Id="rId7" Type="http://schemas.openxmlformats.org/officeDocument/2006/relationships/tags" Target="../tags/tag263.xml"/><Relationship Id="rId12" Type="http://schemas.openxmlformats.org/officeDocument/2006/relationships/tags" Target="../tags/tag268.xml"/><Relationship Id="rId17" Type="http://schemas.openxmlformats.org/officeDocument/2006/relationships/notesSlide" Target="../notesSlides/notesSlide13.xml"/><Relationship Id="rId2" Type="http://schemas.openxmlformats.org/officeDocument/2006/relationships/tags" Target="../tags/tag258.xml"/><Relationship Id="rId16" Type="http://schemas.openxmlformats.org/officeDocument/2006/relationships/slideLayout" Target="../slideLayouts/slideLayout1.xml"/><Relationship Id="rId1" Type="http://schemas.openxmlformats.org/officeDocument/2006/relationships/tags" Target="../tags/tag257.xml"/><Relationship Id="rId6" Type="http://schemas.openxmlformats.org/officeDocument/2006/relationships/tags" Target="../tags/tag262.xml"/><Relationship Id="rId11" Type="http://schemas.openxmlformats.org/officeDocument/2006/relationships/tags" Target="../tags/tag267.xml"/><Relationship Id="rId5" Type="http://schemas.openxmlformats.org/officeDocument/2006/relationships/tags" Target="../tags/tag261.xml"/><Relationship Id="rId15" Type="http://schemas.openxmlformats.org/officeDocument/2006/relationships/tags" Target="../tags/tag271.xml"/><Relationship Id="rId10" Type="http://schemas.openxmlformats.org/officeDocument/2006/relationships/tags" Target="../tags/tag266.xml"/><Relationship Id="rId4" Type="http://schemas.openxmlformats.org/officeDocument/2006/relationships/tags" Target="../tags/tag260.xml"/><Relationship Id="rId9" Type="http://schemas.openxmlformats.org/officeDocument/2006/relationships/tags" Target="../tags/tag265.xml"/><Relationship Id="rId14" Type="http://schemas.openxmlformats.org/officeDocument/2006/relationships/tags" Target="../tags/tag270.xml"/></Relationships>
</file>

<file path=ppt/slides/_rels/slide14.xml.rels><?xml version="1.0" encoding="UTF-8" standalone="yes"?>
<Relationships xmlns="http://schemas.openxmlformats.org/package/2006/relationships"><Relationship Id="rId8" Type="http://schemas.openxmlformats.org/officeDocument/2006/relationships/tags" Target="../tags/tag279.xml"/><Relationship Id="rId13" Type="http://schemas.openxmlformats.org/officeDocument/2006/relationships/tags" Target="../tags/tag284.xml"/><Relationship Id="rId18" Type="http://schemas.openxmlformats.org/officeDocument/2006/relationships/notesSlide" Target="../notesSlides/notesSlide14.xml"/><Relationship Id="rId3" Type="http://schemas.openxmlformats.org/officeDocument/2006/relationships/tags" Target="../tags/tag274.xml"/><Relationship Id="rId21" Type="http://schemas.openxmlformats.org/officeDocument/2006/relationships/image" Target="../media/image16.svg"/><Relationship Id="rId7" Type="http://schemas.openxmlformats.org/officeDocument/2006/relationships/tags" Target="../tags/tag278.xml"/><Relationship Id="rId12" Type="http://schemas.openxmlformats.org/officeDocument/2006/relationships/tags" Target="../tags/tag283.xml"/><Relationship Id="rId17" Type="http://schemas.openxmlformats.org/officeDocument/2006/relationships/slideLayout" Target="../slideLayouts/slideLayout1.xml"/><Relationship Id="rId25" Type="http://schemas.openxmlformats.org/officeDocument/2006/relationships/image" Target="../media/image20.svg"/><Relationship Id="rId2" Type="http://schemas.openxmlformats.org/officeDocument/2006/relationships/tags" Target="../tags/tag273.xml"/><Relationship Id="rId16" Type="http://schemas.openxmlformats.org/officeDocument/2006/relationships/tags" Target="../tags/tag287.xml"/><Relationship Id="rId20" Type="http://schemas.openxmlformats.org/officeDocument/2006/relationships/image" Target="../media/image15.png"/><Relationship Id="rId1" Type="http://schemas.openxmlformats.org/officeDocument/2006/relationships/tags" Target="../tags/tag272.xml"/><Relationship Id="rId6" Type="http://schemas.openxmlformats.org/officeDocument/2006/relationships/tags" Target="../tags/tag277.xml"/><Relationship Id="rId11" Type="http://schemas.openxmlformats.org/officeDocument/2006/relationships/tags" Target="../tags/tag282.xml"/><Relationship Id="rId24" Type="http://schemas.openxmlformats.org/officeDocument/2006/relationships/image" Target="../media/image19.png"/><Relationship Id="rId5" Type="http://schemas.openxmlformats.org/officeDocument/2006/relationships/tags" Target="../tags/tag276.xml"/><Relationship Id="rId15" Type="http://schemas.openxmlformats.org/officeDocument/2006/relationships/tags" Target="../tags/tag286.xml"/><Relationship Id="rId23" Type="http://schemas.openxmlformats.org/officeDocument/2006/relationships/image" Target="../media/image18.svg"/><Relationship Id="rId10" Type="http://schemas.openxmlformats.org/officeDocument/2006/relationships/tags" Target="../tags/tag281.xml"/><Relationship Id="rId19" Type="http://schemas.openxmlformats.org/officeDocument/2006/relationships/image" Target="../media/image2.jpeg"/><Relationship Id="rId4" Type="http://schemas.openxmlformats.org/officeDocument/2006/relationships/tags" Target="../tags/tag275.xml"/><Relationship Id="rId9" Type="http://schemas.openxmlformats.org/officeDocument/2006/relationships/tags" Target="../tags/tag280.xml"/><Relationship Id="rId14" Type="http://schemas.openxmlformats.org/officeDocument/2006/relationships/tags" Target="../tags/tag285.xml"/><Relationship Id="rId22" Type="http://schemas.openxmlformats.org/officeDocument/2006/relationships/image" Target="../media/image17.png"/></Relationships>
</file>

<file path=ppt/slides/_rels/slide15.xml.rels><?xml version="1.0" encoding="UTF-8" standalone="yes"?>
<Relationships xmlns="http://schemas.openxmlformats.org/package/2006/relationships"><Relationship Id="rId8" Type="http://schemas.openxmlformats.org/officeDocument/2006/relationships/tags" Target="../tags/tag295.xml"/><Relationship Id="rId13" Type="http://schemas.openxmlformats.org/officeDocument/2006/relationships/tags" Target="../tags/tag300.xml"/><Relationship Id="rId18" Type="http://schemas.openxmlformats.org/officeDocument/2006/relationships/notesSlide" Target="../notesSlides/notesSlide15.xml"/><Relationship Id="rId3" Type="http://schemas.openxmlformats.org/officeDocument/2006/relationships/tags" Target="../tags/tag290.xml"/><Relationship Id="rId7" Type="http://schemas.openxmlformats.org/officeDocument/2006/relationships/tags" Target="../tags/tag294.xml"/><Relationship Id="rId12" Type="http://schemas.openxmlformats.org/officeDocument/2006/relationships/tags" Target="../tags/tag299.xml"/><Relationship Id="rId17" Type="http://schemas.openxmlformats.org/officeDocument/2006/relationships/slideLayout" Target="../slideLayouts/slideLayout1.xml"/><Relationship Id="rId2" Type="http://schemas.openxmlformats.org/officeDocument/2006/relationships/tags" Target="../tags/tag289.xml"/><Relationship Id="rId16" Type="http://schemas.openxmlformats.org/officeDocument/2006/relationships/tags" Target="../tags/tag303.xml"/><Relationship Id="rId1" Type="http://schemas.openxmlformats.org/officeDocument/2006/relationships/tags" Target="../tags/tag288.xml"/><Relationship Id="rId6" Type="http://schemas.openxmlformats.org/officeDocument/2006/relationships/tags" Target="../tags/tag293.xml"/><Relationship Id="rId11" Type="http://schemas.openxmlformats.org/officeDocument/2006/relationships/tags" Target="../tags/tag298.xml"/><Relationship Id="rId5" Type="http://schemas.openxmlformats.org/officeDocument/2006/relationships/tags" Target="../tags/tag292.xml"/><Relationship Id="rId15" Type="http://schemas.openxmlformats.org/officeDocument/2006/relationships/tags" Target="../tags/tag302.xml"/><Relationship Id="rId10" Type="http://schemas.openxmlformats.org/officeDocument/2006/relationships/tags" Target="../tags/tag297.xml"/><Relationship Id="rId19" Type="http://schemas.openxmlformats.org/officeDocument/2006/relationships/image" Target="../media/image2.jpeg"/><Relationship Id="rId4" Type="http://schemas.openxmlformats.org/officeDocument/2006/relationships/tags" Target="../tags/tag291.xml"/><Relationship Id="rId9" Type="http://schemas.openxmlformats.org/officeDocument/2006/relationships/tags" Target="../tags/tag296.xml"/><Relationship Id="rId14" Type="http://schemas.openxmlformats.org/officeDocument/2006/relationships/tags" Target="../tags/tag301.xml"/></Relationships>
</file>

<file path=ppt/slides/_rels/slide16.xml.rels><?xml version="1.0" encoding="UTF-8" standalone="yes"?>
<Relationships xmlns="http://schemas.openxmlformats.org/package/2006/relationships"><Relationship Id="rId8" Type="http://schemas.openxmlformats.org/officeDocument/2006/relationships/tags" Target="../tags/tag311.xml"/><Relationship Id="rId13" Type="http://schemas.openxmlformats.org/officeDocument/2006/relationships/notesSlide" Target="../notesSlides/notesSlide16.xml"/><Relationship Id="rId3" Type="http://schemas.openxmlformats.org/officeDocument/2006/relationships/tags" Target="../tags/tag306.xml"/><Relationship Id="rId7" Type="http://schemas.openxmlformats.org/officeDocument/2006/relationships/tags" Target="../tags/tag310.xml"/><Relationship Id="rId12" Type="http://schemas.openxmlformats.org/officeDocument/2006/relationships/slideLayout" Target="../slideLayouts/slideLayout1.xml"/><Relationship Id="rId2" Type="http://schemas.openxmlformats.org/officeDocument/2006/relationships/tags" Target="../tags/tag305.xml"/><Relationship Id="rId1" Type="http://schemas.openxmlformats.org/officeDocument/2006/relationships/tags" Target="../tags/tag304.xml"/><Relationship Id="rId6" Type="http://schemas.openxmlformats.org/officeDocument/2006/relationships/tags" Target="../tags/tag309.xml"/><Relationship Id="rId11" Type="http://schemas.openxmlformats.org/officeDocument/2006/relationships/tags" Target="../tags/tag314.xml"/><Relationship Id="rId5" Type="http://schemas.openxmlformats.org/officeDocument/2006/relationships/tags" Target="../tags/tag308.xml"/><Relationship Id="rId10" Type="http://schemas.openxmlformats.org/officeDocument/2006/relationships/tags" Target="../tags/tag313.xml"/><Relationship Id="rId4" Type="http://schemas.openxmlformats.org/officeDocument/2006/relationships/tags" Target="../tags/tag307.xml"/><Relationship Id="rId9" Type="http://schemas.openxmlformats.org/officeDocument/2006/relationships/tags" Target="../tags/tag312.xml"/><Relationship Id="rId14" Type="http://schemas.openxmlformats.org/officeDocument/2006/relationships/image" Target="../media/image2.jpeg"/></Relationships>
</file>

<file path=ppt/slides/_rels/slide17.xml.rels><?xml version="1.0" encoding="UTF-8" standalone="yes"?>
<Relationships xmlns="http://schemas.openxmlformats.org/package/2006/relationships"><Relationship Id="rId8" Type="http://schemas.openxmlformats.org/officeDocument/2006/relationships/tags" Target="../tags/tag322.xml"/><Relationship Id="rId13" Type="http://schemas.openxmlformats.org/officeDocument/2006/relationships/tags" Target="../tags/tag327.xml"/><Relationship Id="rId18" Type="http://schemas.openxmlformats.org/officeDocument/2006/relationships/image" Target="../media/image2.jpeg"/><Relationship Id="rId26" Type="http://schemas.openxmlformats.org/officeDocument/2006/relationships/image" Target="../media/image27.svg"/><Relationship Id="rId3" Type="http://schemas.openxmlformats.org/officeDocument/2006/relationships/tags" Target="../tags/tag317.xml"/><Relationship Id="rId21" Type="http://schemas.openxmlformats.org/officeDocument/2006/relationships/image" Target="../media/image22.png"/><Relationship Id="rId7" Type="http://schemas.openxmlformats.org/officeDocument/2006/relationships/tags" Target="../tags/tag321.xml"/><Relationship Id="rId12" Type="http://schemas.openxmlformats.org/officeDocument/2006/relationships/tags" Target="../tags/tag326.xml"/><Relationship Id="rId17" Type="http://schemas.openxmlformats.org/officeDocument/2006/relationships/notesSlide" Target="../notesSlides/notesSlide17.xml"/><Relationship Id="rId25" Type="http://schemas.openxmlformats.org/officeDocument/2006/relationships/image" Target="../media/image26.png"/><Relationship Id="rId2" Type="http://schemas.openxmlformats.org/officeDocument/2006/relationships/tags" Target="../tags/tag316.xml"/><Relationship Id="rId16" Type="http://schemas.openxmlformats.org/officeDocument/2006/relationships/slideLayout" Target="../slideLayouts/slideLayout1.xml"/><Relationship Id="rId20" Type="http://schemas.openxmlformats.org/officeDocument/2006/relationships/image" Target="../media/image10.jpeg"/><Relationship Id="rId1" Type="http://schemas.openxmlformats.org/officeDocument/2006/relationships/tags" Target="../tags/tag315.xml"/><Relationship Id="rId6" Type="http://schemas.openxmlformats.org/officeDocument/2006/relationships/tags" Target="../tags/tag320.xml"/><Relationship Id="rId11" Type="http://schemas.openxmlformats.org/officeDocument/2006/relationships/tags" Target="../tags/tag325.xml"/><Relationship Id="rId24" Type="http://schemas.openxmlformats.org/officeDocument/2006/relationships/image" Target="../media/image25.svg"/><Relationship Id="rId5" Type="http://schemas.openxmlformats.org/officeDocument/2006/relationships/tags" Target="../tags/tag319.xml"/><Relationship Id="rId15" Type="http://schemas.openxmlformats.org/officeDocument/2006/relationships/tags" Target="../tags/tag329.xml"/><Relationship Id="rId23" Type="http://schemas.openxmlformats.org/officeDocument/2006/relationships/image" Target="../media/image24.png"/><Relationship Id="rId10" Type="http://schemas.openxmlformats.org/officeDocument/2006/relationships/tags" Target="../tags/tag324.xml"/><Relationship Id="rId19" Type="http://schemas.openxmlformats.org/officeDocument/2006/relationships/image" Target="../media/image21.png"/><Relationship Id="rId4" Type="http://schemas.openxmlformats.org/officeDocument/2006/relationships/tags" Target="../tags/tag318.xml"/><Relationship Id="rId9" Type="http://schemas.openxmlformats.org/officeDocument/2006/relationships/tags" Target="../tags/tag323.xml"/><Relationship Id="rId14" Type="http://schemas.openxmlformats.org/officeDocument/2006/relationships/tags" Target="../tags/tag328.xml"/><Relationship Id="rId22" Type="http://schemas.openxmlformats.org/officeDocument/2006/relationships/image" Target="../media/image23.svg"/></Relationships>
</file>

<file path=ppt/slides/_rels/slide18.xml.rels><?xml version="1.0" encoding="UTF-8" standalone="yes"?>
<Relationships xmlns="http://schemas.openxmlformats.org/package/2006/relationships"><Relationship Id="rId26" Type="http://schemas.openxmlformats.org/officeDocument/2006/relationships/tags" Target="../tags/tag355.xml"/><Relationship Id="rId21" Type="http://schemas.openxmlformats.org/officeDocument/2006/relationships/tags" Target="../tags/tag350.xml"/><Relationship Id="rId42" Type="http://schemas.openxmlformats.org/officeDocument/2006/relationships/tags" Target="../tags/tag371.xml"/><Relationship Id="rId47" Type="http://schemas.openxmlformats.org/officeDocument/2006/relationships/tags" Target="../tags/tag376.xml"/><Relationship Id="rId63" Type="http://schemas.openxmlformats.org/officeDocument/2006/relationships/tags" Target="../tags/tag392.xml"/><Relationship Id="rId68" Type="http://schemas.openxmlformats.org/officeDocument/2006/relationships/tags" Target="../tags/tag397.xml"/><Relationship Id="rId84" Type="http://schemas.openxmlformats.org/officeDocument/2006/relationships/tags" Target="../tags/tag413.xml"/><Relationship Id="rId89" Type="http://schemas.openxmlformats.org/officeDocument/2006/relationships/tags" Target="../tags/tag418.xml"/><Relationship Id="rId16" Type="http://schemas.openxmlformats.org/officeDocument/2006/relationships/tags" Target="../tags/tag345.xml"/><Relationship Id="rId11" Type="http://schemas.openxmlformats.org/officeDocument/2006/relationships/tags" Target="../tags/tag340.xml"/><Relationship Id="rId32" Type="http://schemas.openxmlformats.org/officeDocument/2006/relationships/tags" Target="../tags/tag361.xml"/><Relationship Id="rId37" Type="http://schemas.openxmlformats.org/officeDocument/2006/relationships/tags" Target="../tags/tag366.xml"/><Relationship Id="rId53" Type="http://schemas.openxmlformats.org/officeDocument/2006/relationships/tags" Target="../tags/tag382.xml"/><Relationship Id="rId58" Type="http://schemas.openxmlformats.org/officeDocument/2006/relationships/tags" Target="../tags/tag387.xml"/><Relationship Id="rId74" Type="http://schemas.openxmlformats.org/officeDocument/2006/relationships/tags" Target="../tags/tag403.xml"/><Relationship Id="rId79" Type="http://schemas.openxmlformats.org/officeDocument/2006/relationships/tags" Target="../tags/tag408.xml"/><Relationship Id="rId5" Type="http://schemas.openxmlformats.org/officeDocument/2006/relationships/tags" Target="../tags/tag334.xml"/><Relationship Id="rId90" Type="http://schemas.openxmlformats.org/officeDocument/2006/relationships/tags" Target="../tags/tag419.xml"/><Relationship Id="rId95" Type="http://schemas.openxmlformats.org/officeDocument/2006/relationships/tags" Target="../tags/tag424.xml"/><Relationship Id="rId22" Type="http://schemas.openxmlformats.org/officeDocument/2006/relationships/tags" Target="../tags/tag351.xml"/><Relationship Id="rId27" Type="http://schemas.openxmlformats.org/officeDocument/2006/relationships/tags" Target="../tags/tag356.xml"/><Relationship Id="rId43" Type="http://schemas.openxmlformats.org/officeDocument/2006/relationships/tags" Target="../tags/tag372.xml"/><Relationship Id="rId48" Type="http://schemas.openxmlformats.org/officeDocument/2006/relationships/tags" Target="../tags/tag377.xml"/><Relationship Id="rId64" Type="http://schemas.openxmlformats.org/officeDocument/2006/relationships/tags" Target="../tags/tag393.xml"/><Relationship Id="rId69" Type="http://schemas.openxmlformats.org/officeDocument/2006/relationships/tags" Target="../tags/tag398.xml"/><Relationship Id="rId80" Type="http://schemas.openxmlformats.org/officeDocument/2006/relationships/tags" Target="../tags/tag409.xml"/><Relationship Id="rId85" Type="http://schemas.openxmlformats.org/officeDocument/2006/relationships/tags" Target="../tags/tag414.xml"/><Relationship Id="rId3" Type="http://schemas.openxmlformats.org/officeDocument/2006/relationships/tags" Target="../tags/tag332.xml"/><Relationship Id="rId12" Type="http://schemas.openxmlformats.org/officeDocument/2006/relationships/tags" Target="../tags/tag341.xml"/><Relationship Id="rId17" Type="http://schemas.openxmlformats.org/officeDocument/2006/relationships/tags" Target="../tags/tag346.xml"/><Relationship Id="rId25" Type="http://schemas.openxmlformats.org/officeDocument/2006/relationships/tags" Target="../tags/tag354.xml"/><Relationship Id="rId33" Type="http://schemas.openxmlformats.org/officeDocument/2006/relationships/tags" Target="../tags/tag362.xml"/><Relationship Id="rId38" Type="http://schemas.openxmlformats.org/officeDocument/2006/relationships/tags" Target="../tags/tag367.xml"/><Relationship Id="rId46" Type="http://schemas.openxmlformats.org/officeDocument/2006/relationships/tags" Target="../tags/tag375.xml"/><Relationship Id="rId59" Type="http://schemas.openxmlformats.org/officeDocument/2006/relationships/tags" Target="../tags/tag388.xml"/><Relationship Id="rId67" Type="http://schemas.openxmlformats.org/officeDocument/2006/relationships/tags" Target="../tags/tag396.xml"/><Relationship Id="rId20" Type="http://schemas.openxmlformats.org/officeDocument/2006/relationships/tags" Target="../tags/tag349.xml"/><Relationship Id="rId41" Type="http://schemas.openxmlformats.org/officeDocument/2006/relationships/tags" Target="../tags/tag370.xml"/><Relationship Id="rId54" Type="http://schemas.openxmlformats.org/officeDocument/2006/relationships/tags" Target="../tags/tag383.xml"/><Relationship Id="rId62" Type="http://schemas.openxmlformats.org/officeDocument/2006/relationships/tags" Target="../tags/tag391.xml"/><Relationship Id="rId70" Type="http://schemas.openxmlformats.org/officeDocument/2006/relationships/tags" Target="../tags/tag399.xml"/><Relationship Id="rId75" Type="http://schemas.openxmlformats.org/officeDocument/2006/relationships/tags" Target="../tags/tag404.xml"/><Relationship Id="rId83" Type="http://schemas.openxmlformats.org/officeDocument/2006/relationships/tags" Target="../tags/tag412.xml"/><Relationship Id="rId88" Type="http://schemas.openxmlformats.org/officeDocument/2006/relationships/tags" Target="../tags/tag417.xml"/><Relationship Id="rId91" Type="http://schemas.openxmlformats.org/officeDocument/2006/relationships/tags" Target="../tags/tag420.xml"/><Relationship Id="rId96" Type="http://schemas.openxmlformats.org/officeDocument/2006/relationships/slideLayout" Target="../slideLayouts/slideLayout1.xml"/><Relationship Id="rId1" Type="http://schemas.openxmlformats.org/officeDocument/2006/relationships/tags" Target="../tags/tag330.xml"/><Relationship Id="rId6" Type="http://schemas.openxmlformats.org/officeDocument/2006/relationships/tags" Target="../tags/tag335.xml"/><Relationship Id="rId15" Type="http://schemas.openxmlformats.org/officeDocument/2006/relationships/tags" Target="../tags/tag344.xml"/><Relationship Id="rId23" Type="http://schemas.openxmlformats.org/officeDocument/2006/relationships/tags" Target="../tags/tag352.xml"/><Relationship Id="rId28" Type="http://schemas.openxmlformats.org/officeDocument/2006/relationships/tags" Target="../tags/tag357.xml"/><Relationship Id="rId36" Type="http://schemas.openxmlformats.org/officeDocument/2006/relationships/tags" Target="../tags/tag365.xml"/><Relationship Id="rId49" Type="http://schemas.openxmlformats.org/officeDocument/2006/relationships/tags" Target="../tags/tag378.xml"/><Relationship Id="rId57" Type="http://schemas.openxmlformats.org/officeDocument/2006/relationships/tags" Target="../tags/tag386.xml"/><Relationship Id="rId10" Type="http://schemas.openxmlformats.org/officeDocument/2006/relationships/tags" Target="../tags/tag339.xml"/><Relationship Id="rId31" Type="http://schemas.openxmlformats.org/officeDocument/2006/relationships/tags" Target="../tags/tag360.xml"/><Relationship Id="rId44" Type="http://schemas.openxmlformats.org/officeDocument/2006/relationships/tags" Target="../tags/tag373.xml"/><Relationship Id="rId52" Type="http://schemas.openxmlformats.org/officeDocument/2006/relationships/tags" Target="../tags/tag381.xml"/><Relationship Id="rId60" Type="http://schemas.openxmlformats.org/officeDocument/2006/relationships/tags" Target="../tags/tag389.xml"/><Relationship Id="rId65" Type="http://schemas.openxmlformats.org/officeDocument/2006/relationships/tags" Target="../tags/tag394.xml"/><Relationship Id="rId73" Type="http://schemas.openxmlformats.org/officeDocument/2006/relationships/tags" Target="../tags/tag402.xml"/><Relationship Id="rId78" Type="http://schemas.openxmlformats.org/officeDocument/2006/relationships/tags" Target="../tags/tag407.xml"/><Relationship Id="rId81" Type="http://schemas.openxmlformats.org/officeDocument/2006/relationships/tags" Target="../tags/tag410.xml"/><Relationship Id="rId86" Type="http://schemas.openxmlformats.org/officeDocument/2006/relationships/tags" Target="../tags/tag415.xml"/><Relationship Id="rId94" Type="http://schemas.openxmlformats.org/officeDocument/2006/relationships/tags" Target="../tags/tag423.xml"/><Relationship Id="rId4" Type="http://schemas.openxmlformats.org/officeDocument/2006/relationships/tags" Target="../tags/tag333.xml"/><Relationship Id="rId9" Type="http://schemas.openxmlformats.org/officeDocument/2006/relationships/tags" Target="../tags/tag338.xml"/><Relationship Id="rId13" Type="http://schemas.openxmlformats.org/officeDocument/2006/relationships/tags" Target="../tags/tag342.xml"/><Relationship Id="rId18" Type="http://schemas.openxmlformats.org/officeDocument/2006/relationships/tags" Target="../tags/tag347.xml"/><Relationship Id="rId39" Type="http://schemas.openxmlformats.org/officeDocument/2006/relationships/tags" Target="../tags/tag368.xml"/><Relationship Id="rId34" Type="http://schemas.openxmlformats.org/officeDocument/2006/relationships/tags" Target="../tags/tag363.xml"/><Relationship Id="rId50" Type="http://schemas.openxmlformats.org/officeDocument/2006/relationships/tags" Target="../tags/tag379.xml"/><Relationship Id="rId55" Type="http://schemas.openxmlformats.org/officeDocument/2006/relationships/tags" Target="../tags/tag384.xml"/><Relationship Id="rId76" Type="http://schemas.openxmlformats.org/officeDocument/2006/relationships/tags" Target="../tags/tag405.xml"/><Relationship Id="rId97" Type="http://schemas.openxmlformats.org/officeDocument/2006/relationships/notesSlide" Target="../notesSlides/notesSlide18.xml"/><Relationship Id="rId7" Type="http://schemas.openxmlformats.org/officeDocument/2006/relationships/tags" Target="../tags/tag336.xml"/><Relationship Id="rId71" Type="http://schemas.openxmlformats.org/officeDocument/2006/relationships/tags" Target="../tags/tag400.xml"/><Relationship Id="rId92" Type="http://schemas.openxmlformats.org/officeDocument/2006/relationships/tags" Target="../tags/tag421.xml"/><Relationship Id="rId2" Type="http://schemas.openxmlformats.org/officeDocument/2006/relationships/tags" Target="../tags/tag331.xml"/><Relationship Id="rId29" Type="http://schemas.openxmlformats.org/officeDocument/2006/relationships/tags" Target="../tags/tag358.xml"/><Relationship Id="rId24" Type="http://schemas.openxmlformats.org/officeDocument/2006/relationships/tags" Target="../tags/tag353.xml"/><Relationship Id="rId40" Type="http://schemas.openxmlformats.org/officeDocument/2006/relationships/tags" Target="../tags/tag369.xml"/><Relationship Id="rId45" Type="http://schemas.openxmlformats.org/officeDocument/2006/relationships/tags" Target="../tags/tag374.xml"/><Relationship Id="rId66" Type="http://schemas.openxmlformats.org/officeDocument/2006/relationships/tags" Target="../tags/tag395.xml"/><Relationship Id="rId87" Type="http://schemas.openxmlformats.org/officeDocument/2006/relationships/tags" Target="../tags/tag416.xml"/><Relationship Id="rId61" Type="http://schemas.openxmlformats.org/officeDocument/2006/relationships/tags" Target="../tags/tag390.xml"/><Relationship Id="rId82" Type="http://schemas.openxmlformats.org/officeDocument/2006/relationships/tags" Target="../tags/tag411.xml"/><Relationship Id="rId19" Type="http://schemas.openxmlformats.org/officeDocument/2006/relationships/tags" Target="../tags/tag348.xml"/><Relationship Id="rId14" Type="http://schemas.openxmlformats.org/officeDocument/2006/relationships/tags" Target="../tags/tag343.xml"/><Relationship Id="rId30" Type="http://schemas.openxmlformats.org/officeDocument/2006/relationships/tags" Target="../tags/tag359.xml"/><Relationship Id="rId35" Type="http://schemas.openxmlformats.org/officeDocument/2006/relationships/tags" Target="../tags/tag364.xml"/><Relationship Id="rId56" Type="http://schemas.openxmlformats.org/officeDocument/2006/relationships/tags" Target="../tags/tag385.xml"/><Relationship Id="rId77" Type="http://schemas.openxmlformats.org/officeDocument/2006/relationships/tags" Target="../tags/tag406.xml"/><Relationship Id="rId8" Type="http://schemas.openxmlformats.org/officeDocument/2006/relationships/tags" Target="../tags/tag337.xml"/><Relationship Id="rId51" Type="http://schemas.openxmlformats.org/officeDocument/2006/relationships/tags" Target="../tags/tag380.xml"/><Relationship Id="rId72" Type="http://schemas.openxmlformats.org/officeDocument/2006/relationships/tags" Target="../tags/tag401.xml"/><Relationship Id="rId93" Type="http://schemas.openxmlformats.org/officeDocument/2006/relationships/tags" Target="../tags/tag422.xml"/><Relationship Id="rId98" Type="http://schemas.openxmlformats.org/officeDocument/2006/relationships/image" Target="../media/image2.jpeg"/></Relationships>
</file>

<file path=ppt/slides/_rels/slide19.xml.rels><?xml version="1.0" encoding="UTF-8" standalone="yes"?>
<Relationships xmlns="http://schemas.openxmlformats.org/package/2006/relationships"><Relationship Id="rId8" Type="http://schemas.openxmlformats.org/officeDocument/2006/relationships/tags" Target="../tags/tag432.xml"/><Relationship Id="rId13" Type="http://schemas.openxmlformats.org/officeDocument/2006/relationships/tags" Target="../tags/tag437.xml"/><Relationship Id="rId3" Type="http://schemas.openxmlformats.org/officeDocument/2006/relationships/tags" Target="../tags/tag427.xml"/><Relationship Id="rId7" Type="http://schemas.openxmlformats.org/officeDocument/2006/relationships/tags" Target="../tags/tag431.xml"/><Relationship Id="rId12" Type="http://schemas.openxmlformats.org/officeDocument/2006/relationships/tags" Target="../tags/tag436.xml"/><Relationship Id="rId17" Type="http://schemas.openxmlformats.org/officeDocument/2006/relationships/image" Target="../media/image28.png"/><Relationship Id="rId2" Type="http://schemas.openxmlformats.org/officeDocument/2006/relationships/tags" Target="../tags/tag426.xml"/><Relationship Id="rId16" Type="http://schemas.openxmlformats.org/officeDocument/2006/relationships/image" Target="../media/image2.jpeg"/><Relationship Id="rId1" Type="http://schemas.openxmlformats.org/officeDocument/2006/relationships/tags" Target="../tags/tag425.xml"/><Relationship Id="rId6" Type="http://schemas.openxmlformats.org/officeDocument/2006/relationships/tags" Target="../tags/tag430.xml"/><Relationship Id="rId11" Type="http://schemas.openxmlformats.org/officeDocument/2006/relationships/tags" Target="../tags/tag435.xml"/><Relationship Id="rId5" Type="http://schemas.openxmlformats.org/officeDocument/2006/relationships/tags" Target="../tags/tag429.xml"/><Relationship Id="rId15" Type="http://schemas.openxmlformats.org/officeDocument/2006/relationships/notesSlide" Target="../notesSlides/notesSlide19.xml"/><Relationship Id="rId10" Type="http://schemas.openxmlformats.org/officeDocument/2006/relationships/tags" Target="../tags/tag434.xml"/><Relationship Id="rId4" Type="http://schemas.openxmlformats.org/officeDocument/2006/relationships/tags" Target="../tags/tag428.xml"/><Relationship Id="rId9" Type="http://schemas.openxmlformats.org/officeDocument/2006/relationships/tags" Target="../tags/tag433.xml"/><Relationship Id="rId14"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tags" Target="../tags/tag445.xml"/><Relationship Id="rId13" Type="http://schemas.openxmlformats.org/officeDocument/2006/relationships/image" Target="../media/image30.png"/><Relationship Id="rId3" Type="http://schemas.openxmlformats.org/officeDocument/2006/relationships/tags" Target="../tags/tag440.xml"/><Relationship Id="rId7" Type="http://schemas.openxmlformats.org/officeDocument/2006/relationships/tags" Target="../tags/tag444.xml"/><Relationship Id="rId12" Type="http://schemas.openxmlformats.org/officeDocument/2006/relationships/image" Target="../media/image29.png"/><Relationship Id="rId2" Type="http://schemas.openxmlformats.org/officeDocument/2006/relationships/tags" Target="../tags/tag439.xml"/><Relationship Id="rId1" Type="http://schemas.openxmlformats.org/officeDocument/2006/relationships/tags" Target="../tags/tag438.xml"/><Relationship Id="rId6" Type="http://schemas.openxmlformats.org/officeDocument/2006/relationships/tags" Target="../tags/tag443.xml"/><Relationship Id="rId11" Type="http://schemas.openxmlformats.org/officeDocument/2006/relationships/image" Target="../media/image2.jpeg"/><Relationship Id="rId5" Type="http://schemas.openxmlformats.org/officeDocument/2006/relationships/tags" Target="../tags/tag442.xml"/><Relationship Id="rId10" Type="http://schemas.openxmlformats.org/officeDocument/2006/relationships/notesSlide" Target="../notesSlides/notesSlide20.xml"/><Relationship Id="rId4" Type="http://schemas.openxmlformats.org/officeDocument/2006/relationships/tags" Target="../tags/tag441.xml"/><Relationship Id="rId9"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tags" Target="../tags/tag453.xml"/><Relationship Id="rId13" Type="http://schemas.openxmlformats.org/officeDocument/2006/relationships/tags" Target="../tags/tag458.xml"/><Relationship Id="rId18" Type="http://schemas.openxmlformats.org/officeDocument/2006/relationships/slideLayout" Target="../slideLayouts/slideLayout1.xml"/><Relationship Id="rId3" Type="http://schemas.openxmlformats.org/officeDocument/2006/relationships/tags" Target="../tags/tag448.xml"/><Relationship Id="rId21" Type="http://schemas.openxmlformats.org/officeDocument/2006/relationships/tags" Target="../tags/tag455.xml"/><Relationship Id="rId7" Type="http://schemas.openxmlformats.org/officeDocument/2006/relationships/tags" Target="../tags/tag452.xml"/><Relationship Id="rId12" Type="http://schemas.openxmlformats.org/officeDocument/2006/relationships/tags" Target="../tags/tag457.xml"/><Relationship Id="rId17" Type="http://schemas.openxmlformats.org/officeDocument/2006/relationships/tags" Target="../tags/tag462.xml"/><Relationship Id="rId2" Type="http://schemas.openxmlformats.org/officeDocument/2006/relationships/tags" Target="../tags/tag447.xml"/><Relationship Id="rId16" Type="http://schemas.openxmlformats.org/officeDocument/2006/relationships/tags" Target="../tags/tag461.xml"/><Relationship Id="rId20" Type="http://schemas.openxmlformats.org/officeDocument/2006/relationships/image" Target="../media/image2.jpeg"/><Relationship Id="rId1" Type="http://schemas.openxmlformats.org/officeDocument/2006/relationships/tags" Target="../tags/tag446.xml"/><Relationship Id="rId6" Type="http://schemas.openxmlformats.org/officeDocument/2006/relationships/tags" Target="../tags/tag451.xml"/><Relationship Id="rId11" Type="http://schemas.openxmlformats.org/officeDocument/2006/relationships/tags" Target="../tags/tag456.xml"/><Relationship Id="rId5" Type="http://schemas.openxmlformats.org/officeDocument/2006/relationships/tags" Target="../tags/tag450.xml"/><Relationship Id="rId15" Type="http://schemas.openxmlformats.org/officeDocument/2006/relationships/tags" Target="../tags/tag460.xml"/><Relationship Id="rId10" Type="http://schemas.openxmlformats.org/officeDocument/2006/relationships/tags" Target="../tags/tag455.xml"/><Relationship Id="rId19" Type="http://schemas.openxmlformats.org/officeDocument/2006/relationships/notesSlide" Target="../notesSlides/notesSlide21.xml"/><Relationship Id="rId4" Type="http://schemas.openxmlformats.org/officeDocument/2006/relationships/tags" Target="../tags/tag449.xml"/><Relationship Id="rId9" Type="http://schemas.openxmlformats.org/officeDocument/2006/relationships/tags" Target="../tags/tag454.xml"/><Relationship Id="rId14" Type="http://schemas.openxmlformats.org/officeDocument/2006/relationships/tags" Target="../tags/tag459.xml"/><Relationship Id="rId22" Type="http://schemas.openxmlformats.org/officeDocument/2006/relationships/image" Target="../media/image31.png"/></Relationships>
</file>

<file path=ppt/slides/_rels/slide22.xml.rels><?xml version="1.0" encoding="UTF-8" standalone="yes"?>
<Relationships xmlns="http://schemas.openxmlformats.org/package/2006/relationships"><Relationship Id="rId8" Type="http://schemas.openxmlformats.org/officeDocument/2006/relationships/tags" Target="../tags/tag470.xml"/><Relationship Id="rId13" Type="http://schemas.openxmlformats.org/officeDocument/2006/relationships/slideLayout" Target="../slideLayouts/slideLayout1.xml"/><Relationship Id="rId3" Type="http://schemas.openxmlformats.org/officeDocument/2006/relationships/tags" Target="../tags/tag465.xml"/><Relationship Id="rId7" Type="http://schemas.openxmlformats.org/officeDocument/2006/relationships/tags" Target="../tags/tag469.xml"/><Relationship Id="rId12" Type="http://schemas.openxmlformats.org/officeDocument/2006/relationships/tags" Target="../tags/tag474.xml"/><Relationship Id="rId2" Type="http://schemas.openxmlformats.org/officeDocument/2006/relationships/tags" Target="../tags/tag464.xml"/><Relationship Id="rId1" Type="http://schemas.openxmlformats.org/officeDocument/2006/relationships/tags" Target="../tags/tag463.xml"/><Relationship Id="rId6" Type="http://schemas.openxmlformats.org/officeDocument/2006/relationships/tags" Target="../tags/tag468.xml"/><Relationship Id="rId11" Type="http://schemas.openxmlformats.org/officeDocument/2006/relationships/tags" Target="../tags/tag473.xml"/><Relationship Id="rId5" Type="http://schemas.openxmlformats.org/officeDocument/2006/relationships/tags" Target="../tags/tag467.xml"/><Relationship Id="rId15" Type="http://schemas.openxmlformats.org/officeDocument/2006/relationships/image" Target="../media/image2.jpeg"/><Relationship Id="rId10" Type="http://schemas.openxmlformats.org/officeDocument/2006/relationships/tags" Target="../tags/tag472.xml"/><Relationship Id="rId4" Type="http://schemas.openxmlformats.org/officeDocument/2006/relationships/tags" Target="../tags/tag466.xml"/><Relationship Id="rId9" Type="http://schemas.openxmlformats.org/officeDocument/2006/relationships/tags" Target="../tags/tag471.xml"/><Relationship Id="rId1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8" Type="http://schemas.openxmlformats.org/officeDocument/2006/relationships/tags" Target="../tags/tag482.xml"/><Relationship Id="rId3" Type="http://schemas.openxmlformats.org/officeDocument/2006/relationships/tags" Target="../tags/tag477.xml"/><Relationship Id="rId7" Type="http://schemas.openxmlformats.org/officeDocument/2006/relationships/tags" Target="../tags/tag481.xml"/><Relationship Id="rId2" Type="http://schemas.openxmlformats.org/officeDocument/2006/relationships/tags" Target="../tags/tag476.xml"/><Relationship Id="rId1" Type="http://schemas.openxmlformats.org/officeDocument/2006/relationships/tags" Target="../tags/tag475.xml"/><Relationship Id="rId6" Type="http://schemas.openxmlformats.org/officeDocument/2006/relationships/tags" Target="../tags/tag480.xml"/><Relationship Id="rId11" Type="http://schemas.openxmlformats.org/officeDocument/2006/relationships/image" Target="../media/image2.jpeg"/><Relationship Id="rId5" Type="http://schemas.openxmlformats.org/officeDocument/2006/relationships/tags" Target="../tags/tag479.xml"/><Relationship Id="rId10" Type="http://schemas.openxmlformats.org/officeDocument/2006/relationships/notesSlide" Target="../notesSlides/notesSlide23.xml"/><Relationship Id="rId4" Type="http://schemas.openxmlformats.org/officeDocument/2006/relationships/tags" Target="../tags/tag478.xml"/><Relationship Id="rId9"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8" Type="http://schemas.openxmlformats.org/officeDocument/2006/relationships/tags" Target="../tags/tag490.xml"/><Relationship Id="rId13" Type="http://schemas.openxmlformats.org/officeDocument/2006/relationships/tags" Target="../tags/tag495.xml"/><Relationship Id="rId3" Type="http://schemas.openxmlformats.org/officeDocument/2006/relationships/tags" Target="../tags/tag485.xml"/><Relationship Id="rId7" Type="http://schemas.openxmlformats.org/officeDocument/2006/relationships/tags" Target="../tags/tag489.xml"/><Relationship Id="rId12" Type="http://schemas.openxmlformats.org/officeDocument/2006/relationships/tags" Target="../tags/tag494.xml"/><Relationship Id="rId2" Type="http://schemas.openxmlformats.org/officeDocument/2006/relationships/tags" Target="../tags/tag484.xml"/><Relationship Id="rId16" Type="http://schemas.openxmlformats.org/officeDocument/2006/relationships/image" Target="../media/image2.jpeg"/><Relationship Id="rId1" Type="http://schemas.openxmlformats.org/officeDocument/2006/relationships/tags" Target="../tags/tag483.xml"/><Relationship Id="rId6" Type="http://schemas.openxmlformats.org/officeDocument/2006/relationships/tags" Target="../tags/tag488.xml"/><Relationship Id="rId11" Type="http://schemas.openxmlformats.org/officeDocument/2006/relationships/tags" Target="../tags/tag493.xml"/><Relationship Id="rId5" Type="http://schemas.openxmlformats.org/officeDocument/2006/relationships/tags" Target="../tags/tag487.xml"/><Relationship Id="rId15" Type="http://schemas.openxmlformats.org/officeDocument/2006/relationships/notesSlide" Target="../notesSlides/notesSlide24.xml"/><Relationship Id="rId10" Type="http://schemas.openxmlformats.org/officeDocument/2006/relationships/tags" Target="../tags/tag492.xml"/><Relationship Id="rId4" Type="http://schemas.openxmlformats.org/officeDocument/2006/relationships/tags" Target="../tags/tag486.xml"/><Relationship Id="rId9" Type="http://schemas.openxmlformats.org/officeDocument/2006/relationships/tags" Target="../tags/tag491.xml"/><Relationship Id="rId14"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8" Type="http://schemas.openxmlformats.org/officeDocument/2006/relationships/tags" Target="../tags/tag503.xml"/><Relationship Id="rId13" Type="http://schemas.openxmlformats.org/officeDocument/2006/relationships/tags" Target="../tags/tag508.xml"/><Relationship Id="rId18" Type="http://schemas.openxmlformats.org/officeDocument/2006/relationships/image" Target="../media/image33.png"/><Relationship Id="rId3" Type="http://schemas.openxmlformats.org/officeDocument/2006/relationships/tags" Target="../tags/tag498.xml"/><Relationship Id="rId7" Type="http://schemas.openxmlformats.org/officeDocument/2006/relationships/tags" Target="../tags/tag502.xml"/><Relationship Id="rId12" Type="http://schemas.openxmlformats.org/officeDocument/2006/relationships/tags" Target="../tags/tag507.xml"/><Relationship Id="rId17" Type="http://schemas.openxmlformats.org/officeDocument/2006/relationships/image" Target="../media/image32.png"/><Relationship Id="rId2" Type="http://schemas.openxmlformats.org/officeDocument/2006/relationships/tags" Target="../tags/tag497.xml"/><Relationship Id="rId16" Type="http://schemas.openxmlformats.org/officeDocument/2006/relationships/image" Target="../media/image2.jpeg"/><Relationship Id="rId1" Type="http://schemas.openxmlformats.org/officeDocument/2006/relationships/tags" Target="../tags/tag496.xml"/><Relationship Id="rId6" Type="http://schemas.openxmlformats.org/officeDocument/2006/relationships/tags" Target="../tags/tag501.xml"/><Relationship Id="rId11" Type="http://schemas.openxmlformats.org/officeDocument/2006/relationships/tags" Target="../tags/tag506.xml"/><Relationship Id="rId5" Type="http://schemas.openxmlformats.org/officeDocument/2006/relationships/tags" Target="../tags/tag500.xml"/><Relationship Id="rId15" Type="http://schemas.openxmlformats.org/officeDocument/2006/relationships/notesSlide" Target="../notesSlides/notesSlide25.xml"/><Relationship Id="rId10" Type="http://schemas.openxmlformats.org/officeDocument/2006/relationships/tags" Target="../tags/tag505.xml"/><Relationship Id="rId4" Type="http://schemas.openxmlformats.org/officeDocument/2006/relationships/tags" Target="../tags/tag499.xml"/><Relationship Id="rId9" Type="http://schemas.openxmlformats.org/officeDocument/2006/relationships/tags" Target="../tags/tag504.xml"/><Relationship Id="rId14"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8" Type="http://schemas.openxmlformats.org/officeDocument/2006/relationships/tags" Target="../tags/tag516.xml"/><Relationship Id="rId13" Type="http://schemas.openxmlformats.org/officeDocument/2006/relationships/tags" Target="../tags/tag521.xml"/><Relationship Id="rId3" Type="http://schemas.openxmlformats.org/officeDocument/2006/relationships/tags" Target="../tags/tag511.xml"/><Relationship Id="rId7" Type="http://schemas.openxmlformats.org/officeDocument/2006/relationships/tags" Target="../tags/tag515.xml"/><Relationship Id="rId12" Type="http://schemas.openxmlformats.org/officeDocument/2006/relationships/tags" Target="../tags/tag520.xml"/><Relationship Id="rId17" Type="http://schemas.openxmlformats.org/officeDocument/2006/relationships/image" Target="../media/image34.png"/><Relationship Id="rId2" Type="http://schemas.openxmlformats.org/officeDocument/2006/relationships/tags" Target="../tags/tag510.xml"/><Relationship Id="rId16" Type="http://schemas.openxmlformats.org/officeDocument/2006/relationships/image" Target="../media/image2.jpeg"/><Relationship Id="rId1" Type="http://schemas.openxmlformats.org/officeDocument/2006/relationships/tags" Target="../tags/tag509.xml"/><Relationship Id="rId6" Type="http://schemas.openxmlformats.org/officeDocument/2006/relationships/tags" Target="../tags/tag514.xml"/><Relationship Id="rId11" Type="http://schemas.openxmlformats.org/officeDocument/2006/relationships/tags" Target="../tags/tag519.xml"/><Relationship Id="rId5" Type="http://schemas.openxmlformats.org/officeDocument/2006/relationships/tags" Target="../tags/tag513.xml"/><Relationship Id="rId15" Type="http://schemas.openxmlformats.org/officeDocument/2006/relationships/notesSlide" Target="../notesSlides/notesSlide26.xml"/><Relationship Id="rId10" Type="http://schemas.openxmlformats.org/officeDocument/2006/relationships/tags" Target="../tags/tag518.xml"/><Relationship Id="rId4" Type="http://schemas.openxmlformats.org/officeDocument/2006/relationships/tags" Target="../tags/tag512.xml"/><Relationship Id="rId9" Type="http://schemas.openxmlformats.org/officeDocument/2006/relationships/tags" Target="../tags/tag517.xml"/><Relationship Id="rId14"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8" Type="http://schemas.openxmlformats.org/officeDocument/2006/relationships/tags" Target="../tags/tag529.xml"/><Relationship Id="rId13" Type="http://schemas.openxmlformats.org/officeDocument/2006/relationships/image" Target="../media/image2.jpeg"/><Relationship Id="rId3" Type="http://schemas.openxmlformats.org/officeDocument/2006/relationships/tags" Target="../tags/tag524.xml"/><Relationship Id="rId7" Type="http://schemas.openxmlformats.org/officeDocument/2006/relationships/tags" Target="../tags/tag528.xml"/><Relationship Id="rId12" Type="http://schemas.openxmlformats.org/officeDocument/2006/relationships/notesSlide" Target="../notesSlides/notesSlide27.xml"/><Relationship Id="rId2" Type="http://schemas.openxmlformats.org/officeDocument/2006/relationships/tags" Target="../tags/tag523.xml"/><Relationship Id="rId1" Type="http://schemas.openxmlformats.org/officeDocument/2006/relationships/tags" Target="../tags/tag522.xml"/><Relationship Id="rId6" Type="http://schemas.openxmlformats.org/officeDocument/2006/relationships/tags" Target="../tags/tag527.xml"/><Relationship Id="rId11" Type="http://schemas.openxmlformats.org/officeDocument/2006/relationships/slideLayout" Target="../slideLayouts/slideLayout1.xml"/><Relationship Id="rId5" Type="http://schemas.openxmlformats.org/officeDocument/2006/relationships/tags" Target="../tags/tag526.xml"/><Relationship Id="rId10" Type="http://schemas.openxmlformats.org/officeDocument/2006/relationships/tags" Target="../tags/tag531.xml"/><Relationship Id="rId4" Type="http://schemas.openxmlformats.org/officeDocument/2006/relationships/tags" Target="../tags/tag525.xml"/><Relationship Id="rId9" Type="http://schemas.openxmlformats.org/officeDocument/2006/relationships/tags" Target="../tags/tag530.xml"/><Relationship Id="rId14" Type="http://schemas.openxmlformats.org/officeDocument/2006/relationships/image" Target="../media/image35.png"/></Relationships>
</file>

<file path=ppt/slides/_rels/slide28.xml.rels><?xml version="1.0" encoding="UTF-8" standalone="yes"?>
<Relationships xmlns="http://schemas.openxmlformats.org/package/2006/relationships"><Relationship Id="rId8" Type="http://schemas.openxmlformats.org/officeDocument/2006/relationships/tags" Target="../tags/tag539.xml"/><Relationship Id="rId3" Type="http://schemas.openxmlformats.org/officeDocument/2006/relationships/tags" Target="../tags/tag534.xml"/><Relationship Id="rId7" Type="http://schemas.openxmlformats.org/officeDocument/2006/relationships/tags" Target="../tags/tag538.xml"/><Relationship Id="rId12" Type="http://schemas.openxmlformats.org/officeDocument/2006/relationships/image" Target="../media/image36.png"/><Relationship Id="rId2" Type="http://schemas.openxmlformats.org/officeDocument/2006/relationships/tags" Target="../tags/tag533.xml"/><Relationship Id="rId1" Type="http://schemas.openxmlformats.org/officeDocument/2006/relationships/tags" Target="../tags/tag532.xml"/><Relationship Id="rId6" Type="http://schemas.openxmlformats.org/officeDocument/2006/relationships/tags" Target="../tags/tag537.xml"/><Relationship Id="rId11" Type="http://schemas.openxmlformats.org/officeDocument/2006/relationships/image" Target="../media/image2.jpeg"/><Relationship Id="rId5" Type="http://schemas.openxmlformats.org/officeDocument/2006/relationships/tags" Target="../tags/tag536.xml"/><Relationship Id="rId10" Type="http://schemas.openxmlformats.org/officeDocument/2006/relationships/notesSlide" Target="../notesSlides/notesSlide28.xml"/><Relationship Id="rId4" Type="http://schemas.openxmlformats.org/officeDocument/2006/relationships/tags" Target="../tags/tag535.xml"/><Relationship Id="rId9"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8" Type="http://schemas.openxmlformats.org/officeDocument/2006/relationships/slideLayout" Target="../slideLayouts/slideLayout1.xml"/><Relationship Id="rId3" Type="http://schemas.openxmlformats.org/officeDocument/2006/relationships/tags" Target="../tags/tag542.xml"/><Relationship Id="rId7" Type="http://schemas.openxmlformats.org/officeDocument/2006/relationships/tags" Target="../tags/tag546.xml"/><Relationship Id="rId2" Type="http://schemas.openxmlformats.org/officeDocument/2006/relationships/tags" Target="../tags/tag541.xml"/><Relationship Id="rId1" Type="http://schemas.openxmlformats.org/officeDocument/2006/relationships/tags" Target="../tags/tag540.xml"/><Relationship Id="rId6" Type="http://schemas.openxmlformats.org/officeDocument/2006/relationships/tags" Target="../tags/tag545.xml"/><Relationship Id="rId11" Type="http://schemas.openxmlformats.org/officeDocument/2006/relationships/image" Target="../media/image37.png"/><Relationship Id="rId5" Type="http://schemas.openxmlformats.org/officeDocument/2006/relationships/tags" Target="../tags/tag544.xml"/><Relationship Id="rId10" Type="http://schemas.openxmlformats.org/officeDocument/2006/relationships/image" Target="../media/image2.jpeg"/><Relationship Id="rId4" Type="http://schemas.openxmlformats.org/officeDocument/2006/relationships/tags" Target="../tags/tag543.xml"/><Relationship Id="rId9"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8" Type="http://schemas.openxmlformats.org/officeDocument/2006/relationships/tags" Target="../tags/tag554.xml"/><Relationship Id="rId13" Type="http://schemas.openxmlformats.org/officeDocument/2006/relationships/tags" Target="../tags/tag559.xml"/><Relationship Id="rId18" Type="http://schemas.openxmlformats.org/officeDocument/2006/relationships/tags" Target="../tags/tag564.xml"/><Relationship Id="rId26" Type="http://schemas.openxmlformats.org/officeDocument/2006/relationships/slideLayout" Target="../slideLayouts/slideLayout1.xml"/><Relationship Id="rId3" Type="http://schemas.openxmlformats.org/officeDocument/2006/relationships/tags" Target="../tags/tag549.xml"/><Relationship Id="rId21" Type="http://schemas.openxmlformats.org/officeDocument/2006/relationships/tags" Target="../tags/tag567.xml"/><Relationship Id="rId7" Type="http://schemas.openxmlformats.org/officeDocument/2006/relationships/tags" Target="../tags/tag553.xml"/><Relationship Id="rId12" Type="http://schemas.openxmlformats.org/officeDocument/2006/relationships/tags" Target="../tags/tag558.xml"/><Relationship Id="rId17" Type="http://schemas.openxmlformats.org/officeDocument/2006/relationships/tags" Target="../tags/tag563.xml"/><Relationship Id="rId25" Type="http://schemas.openxmlformats.org/officeDocument/2006/relationships/tags" Target="../tags/tag571.xml"/><Relationship Id="rId2" Type="http://schemas.openxmlformats.org/officeDocument/2006/relationships/tags" Target="../tags/tag548.xml"/><Relationship Id="rId16" Type="http://schemas.openxmlformats.org/officeDocument/2006/relationships/tags" Target="../tags/tag562.xml"/><Relationship Id="rId20" Type="http://schemas.openxmlformats.org/officeDocument/2006/relationships/tags" Target="../tags/tag566.xml"/><Relationship Id="rId1" Type="http://schemas.openxmlformats.org/officeDocument/2006/relationships/tags" Target="../tags/tag547.xml"/><Relationship Id="rId6" Type="http://schemas.openxmlformats.org/officeDocument/2006/relationships/tags" Target="../tags/tag552.xml"/><Relationship Id="rId11" Type="http://schemas.openxmlformats.org/officeDocument/2006/relationships/tags" Target="../tags/tag557.xml"/><Relationship Id="rId24" Type="http://schemas.openxmlformats.org/officeDocument/2006/relationships/tags" Target="../tags/tag570.xml"/><Relationship Id="rId5" Type="http://schemas.openxmlformats.org/officeDocument/2006/relationships/tags" Target="../tags/tag551.xml"/><Relationship Id="rId15" Type="http://schemas.openxmlformats.org/officeDocument/2006/relationships/tags" Target="../tags/tag561.xml"/><Relationship Id="rId23" Type="http://schemas.openxmlformats.org/officeDocument/2006/relationships/tags" Target="../tags/tag569.xml"/><Relationship Id="rId28" Type="http://schemas.openxmlformats.org/officeDocument/2006/relationships/image" Target="../media/image2.jpeg"/><Relationship Id="rId10" Type="http://schemas.openxmlformats.org/officeDocument/2006/relationships/tags" Target="../tags/tag556.xml"/><Relationship Id="rId19" Type="http://schemas.openxmlformats.org/officeDocument/2006/relationships/tags" Target="../tags/tag565.xml"/><Relationship Id="rId4" Type="http://schemas.openxmlformats.org/officeDocument/2006/relationships/tags" Target="../tags/tag550.xml"/><Relationship Id="rId9" Type="http://schemas.openxmlformats.org/officeDocument/2006/relationships/tags" Target="../tags/tag555.xml"/><Relationship Id="rId14" Type="http://schemas.openxmlformats.org/officeDocument/2006/relationships/tags" Target="../tags/tag560.xml"/><Relationship Id="rId22" Type="http://schemas.openxmlformats.org/officeDocument/2006/relationships/tags" Target="../tags/tag568.xml"/><Relationship Id="rId2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3" Type="http://schemas.openxmlformats.org/officeDocument/2006/relationships/tags" Target="../tags/tag574.xml"/><Relationship Id="rId2" Type="http://schemas.openxmlformats.org/officeDocument/2006/relationships/tags" Target="../tags/tag573.xml"/><Relationship Id="rId1" Type="http://schemas.openxmlformats.org/officeDocument/2006/relationships/tags" Target="../tags/tag572.xml"/><Relationship Id="rId6" Type="http://schemas.openxmlformats.org/officeDocument/2006/relationships/image" Target="../media/image2.jpeg"/><Relationship Id="rId5" Type="http://schemas.openxmlformats.org/officeDocument/2006/relationships/notesSlide" Target="../notesSlides/notesSlide31.xml"/><Relationship Id="rId4"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圆角矩形 1"/>
          <p:cNvSpPr/>
          <p:nvPr>
            <p:custDataLst>
              <p:tags r:id="rId2"/>
            </p:custDataLst>
          </p:nvPr>
        </p:nvSpPr>
        <p:spPr>
          <a:xfrm>
            <a:off x="4021455" y="4084320"/>
            <a:ext cx="1059180" cy="328295"/>
          </a:xfrm>
          <a:prstGeom prst="roundRect">
            <a:avLst>
              <a:gd name="adj" fmla="val 50000"/>
            </a:avLst>
          </a:prstGeom>
          <a:solidFill>
            <a:srgbClr val="03569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dirty="0">
                <a:solidFill>
                  <a:schemeClr val="bg1"/>
                </a:solidFill>
                <a:uFillTx/>
                <a:latin typeface="微软雅黑" panose="020B0503020204020204" charset="-122"/>
                <a:ea typeface="微软雅黑" panose="020B0503020204020204" charset="-122"/>
                <a:cs typeface="微软雅黑" panose="020B0503020204020204" charset="-122"/>
                <a:sym typeface="+mn-ea"/>
              </a:rPr>
              <a:t>报告人</a:t>
            </a:r>
            <a:r>
              <a:rPr lang="en-US" altLang="zh-CN" dirty="0">
                <a:solidFill>
                  <a:schemeClr val="bg1"/>
                </a:solidFill>
                <a:uFillTx/>
                <a:latin typeface="微软雅黑" panose="020B0503020204020204" charset="-122"/>
                <a:ea typeface="微软雅黑" panose="020B0503020204020204" charset="-122"/>
                <a:cs typeface="微软雅黑" panose="020B0503020204020204" charset="-122"/>
                <a:sym typeface="+mn-ea"/>
              </a:rPr>
              <a:t>  </a:t>
            </a:r>
            <a:endParaRPr lang="zh-CN" altLang="en-US"/>
          </a:p>
        </p:txBody>
      </p:sp>
      <p:pic>
        <p:nvPicPr>
          <p:cNvPr id="4" name="图片 3" descr="iscaslogo"/>
          <p:cNvPicPr>
            <a:picLocks noChangeAspect="1"/>
          </p:cNvPicPr>
          <p:nvPr/>
        </p:nvPicPr>
        <p:blipFill>
          <a:blip r:embed="rId9"/>
          <a:stretch>
            <a:fillRect/>
          </a:stretch>
        </p:blipFill>
        <p:spPr>
          <a:xfrm>
            <a:off x="8731250" y="394970"/>
            <a:ext cx="3222625" cy="299085"/>
          </a:xfrm>
          <a:prstGeom prst="rect">
            <a:avLst/>
          </a:prstGeom>
        </p:spPr>
      </p:pic>
      <p:sp>
        <p:nvSpPr>
          <p:cNvPr id="7" name="文本框 6"/>
          <p:cNvSpPr txBox="1"/>
          <p:nvPr/>
        </p:nvSpPr>
        <p:spPr>
          <a:xfrm>
            <a:off x="976799" y="2472908"/>
            <a:ext cx="10238402" cy="830997"/>
          </a:xfrm>
          <a:prstGeom prst="rect">
            <a:avLst/>
          </a:prstGeom>
          <a:noFill/>
        </p:spPr>
        <p:txBody>
          <a:bodyPr wrap="square" rtlCol="0" anchor="t">
            <a:spAutoFit/>
          </a:bodyPr>
          <a:lstStyle/>
          <a:p>
            <a:pPr algn="ctr"/>
            <a:r>
              <a:rPr lang="zh-CN" altLang="en-US" sz="4800" b="1" spc="100" dirty="0">
                <a:solidFill>
                  <a:srgbClr val="04579A"/>
                </a:solidFill>
                <a:uFillTx/>
                <a:latin typeface="黑体" panose="02010609060101010101" pitchFamily="49" charset="-122"/>
                <a:ea typeface="黑体" panose="02010609060101010101" pitchFamily="49" charset="-122"/>
              </a:rPr>
              <a:t>分布式数字资产协议设计与分析</a:t>
            </a:r>
          </a:p>
        </p:txBody>
      </p:sp>
      <p:sp>
        <p:nvSpPr>
          <p:cNvPr id="14" name="副标题 2"/>
          <p:cNvSpPr>
            <a:spLocks noGrp="1"/>
          </p:cNvSpPr>
          <p:nvPr>
            <p:ph type="subTitle" idx="1"/>
            <p:custDataLst>
              <p:tags r:id="rId3"/>
            </p:custDataLst>
          </p:nvPr>
        </p:nvSpPr>
        <p:spPr>
          <a:xfrm>
            <a:off x="5325110" y="3964305"/>
            <a:ext cx="3406140" cy="1330960"/>
          </a:xfrm>
        </p:spPr>
        <p:txBody>
          <a:bodyPr>
            <a:noAutofit/>
          </a:bodyPr>
          <a:lstStyle/>
          <a:p>
            <a:pPr algn="l">
              <a:lnSpc>
                <a:spcPct val="150000"/>
              </a:lnSpc>
              <a:spcAft>
                <a:spcPts val="0"/>
              </a:spcAft>
            </a:pPr>
            <a:r>
              <a:rPr lang="zh-CN" altLang="en-US" sz="1800" spc="0" dirty="0">
                <a:solidFill>
                  <a:schemeClr val="tx2">
                    <a:lumMod val="50000"/>
                  </a:schemeClr>
                </a:solidFill>
                <a:uFillTx/>
                <a:latin typeface="微软雅黑" panose="020B0503020204020204" charset="-122"/>
                <a:ea typeface="微软雅黑" panose="020B0503020204020204" charset="-122"/>
                <a:cs typeface="微软雅黑" panose="020B0503020204020204" charset="-122"/>
              </a:rPr>
              <a:t>田安琪</a:t>
            </a:r>
            <a:endParaRPr lang="en-US" altLang="zh-CN" sz="1800" spc="0" dirty="0">
              <a:solidFill>
                <a:schemeClr val="tx2">
                  <a:lumMod val="50000"/>
                </a:schemeClr>
              </a:solidFill>
              <a:uFillTx/>
              <a:latin typeface="微软雅黑" panose="020B0503020204020204" charset="-122"/>
              <a:ea typeface="微软雅黑" panose="020B0503020204020204" charset="-122"/>
              <a:cs typeface="微软雅黑" panose="020B0503020204020204" charset="-122"/>
            </a:endParaRPr>
          </a:p>
          <a:p>
            <a:pPr algn="l">
              <a:lnSpc>
                <a:spcPct val="150000"/>
              </a:lnSpc>
              <a:spcAft>
                <a:spcPts val="0"/>
              </a:spcAft>
            </a:pPr>
            <a:r>
              <a:rPr lang="en-US" altLang="zh-CN" sz="1800" spc="0" dirty="0">
                <a:solidFill>
                  <a:schemeClr val="tx2">
                    <a:lumMod val="50000"/>
                  </a:schemeClr>
                </a:solidFill>
                <a:uFillTx/>
                <a:latin typeface="微软雅黑" panose="020B0503020204020204" charset="-122"/>
                <a:ea typeface="微软雅黑" panose="020B0503020204020204" charset="-122"/>
                <a:cs typeface="微软雅黑" panose="020B0503020204020204" charset="-122"/>
              </a:rPr>
              <a:t>202318015070004</a:t>
            </a:r>
          </a:p>
          <a:p>
            <a:pPr algn="l">
              <a:lnSpc>
                <a:spcPct val="150000"/>
              </a:lnSpc>
              <a:spcAft>
                <a:spcPts val="0"/>
              </a:spcAft>
            </a:pPr>
            <a:r>
              <a:rPr lang="zh-CN" altLang="en-US" sz="1800" spc="0" dirty="0">
                <a:solidFill>
                  <a:schemeClr val="tx2">
                    <a:lumMod val="50000"/>
                  </a:schemeClr>
                </a:solidFill>
                <a:uFillTx/>
                <a:latin typeface="微软雅黑" panose="020B0503020204020204" charset="-122"/>
                <a:ea typeface="微软雅黑" panose="020B0503020204020204" charset="-122"/>
                <a:cs typeface="微软雅黑" panose="020B0503020204020204" charset="-122"/>
              </a:rPr>
              <a:t>徐静 研究员</a:t>
            </a:r>
          </a:p>
        </p:txBody>
      </p:sp>
      <p:cxnSp>
        <p:nvCxnSpPr>
          <p:cNvPr id="8" name="直接连接符 7"/>
          <p:cNvCxnSpPr/>
          <p:nvPr/>
        </p:nvCxnSpPr>
        <p:spPr>
          <a:xfrm>
            <a:off x="1059815" y="3402965"/>
            <a:ext cx="9986645"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6" name="组合 15"/>
          <p:cNvGrpSpPr/>
          <p:nvPr/>
        </p:nvGrpSpPr>
        <p:grpSpPr>
          <a:xfrm>
            <a:off x="4164965" y="1588770"/>
            <a:ext cx="3656330" cy="444500"/>
            <a:chOff x="6723" y="2920"/>
            <a:chExt cx="5758" cy="700"/>
          </a:xfrm>
        </p:grpSpPr>
        <p:sp>
          <p:nvSpPr>
            <p:cNvPr id="11" name="圆角矩形 10"/>
            <p:cNvSpPr/>
            <p:nvPr/>
          </p:nvSpPr>
          <p:spPr>
            <a:xfrm>
              <a:off x="6723" y="2920"/>
              <a:ext cx="5759" cy="700"/>
            </a:xfrm>
            <a:prstGeom prst="roundRect">
              <a:avLst>
                <a:gd name="adj" fmla="val 50000"/>
              </a:avLst>
            </a:prstGeom>
            <a:gradFill>
              <a:gsLst>
                <a:gs pos="0">
                  <a:srgbClr val="02589B"/>
                </a:gs>
                <a:gs pos="100000">
                  <a:srgbClr val="024171"/>
                </a:gs>
              </a:gsLst>
              <a:lin ang="20580000" scaled="0"/>
            </a:gradFill>
            <a:ln>
              <a:noFill/>
            </a:ln>
            <a:effectLst>
              <a:outerShdw blurRad="50800" dist="762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a:p>
          </p:txBody>
        </p:sp>
        <p:sp>
          <p:nvSpPr>
            <p:cNvPr id="6" name="文本框 5"/>
            <p:cNvSpPr txBox="1"/>
            <p:nvPr/>
          </p:nvSpPr>
          <p:spPr>
            <a:xfrm>
              <a:off x="7243" y="2988"/>
              <a:ext cx="5042" cy="580"/>
            </a:xfrm>
            <a:prstGeom prst="rect">
              <a:avLst/>
            </a:prstGeom>
            <a:noFill/>
          </p:spPr>
          <p:txBody>
            <a:bodyPr wrap="square" rtlCol="0">
              <a:spAutoFit/>
            </a:bodyPr>
            <a:lstStyle/>
            <a:p>
              <a:pPr algn="ctr"/>
              <a:r>
                <a:rPr lang="zh-CN" altLang="en-US">
                  <a:solidFill>
                    <a:schemeClr val="bg1"/>
                  </a:solidFill>
                  <a:latin typeface="微软雅黑" panose="020B0503020204020204" charset="-122"/>
                  <a:ea typeface="微软雅黑" panose="020B0503020204020204" charset="-122"/>
                  <a:cs typeface="微软雅黑" panose="020B0503020204020204" charset="-122"/>
                </a:rPr>
                <a:t>博士学位论文</a:t>
              </a:r>
              <a:r>
                <a:rPr lang="en-US" altLang="zh-CN">
                  <a:solidFill>
                    <a:schemeClr val="bg1"/>
                  </a:solidFill>
                  <a:latin typeface="微软雅黑" panose="020B0503020204020204" charset="-122"/>
                  <a:ea typeface="微软雅黑" panose="020B0503020204020204" charset="-122"/>
                  <a:cs typeface="微软雅黑" panose="020B0503020204020204" charset="-122"/>
                </a:rPr>
                <a:t> </a:t>
              </a:r>
              <a:r>
                <a:rPr lang="zh-CN" altLang="en-US">
                  <a:solidFill>
                    <a:schemeClr val="bg1"/>
                  </a:solidFill>
                  <a:latin typeface="微软雅黑" panose="020B0503020204020204" charset="-122"/>
                  <a:ea typeface="微软雅黑" panose="020B0503020204020204" charset="-122"/>
                  <a:cs typeface="微软雅黑" panose="020B0503020204020204" charset="-122"/>
                </a:rPr>
                <a:t>开题报告</a:t>
              </a:r>
            </a:p>
          </p:txBody>
        </p:sp>
        <p:sp>
          <p:nvSpPr>
            <p:cNvPr id="12" name="等腰三角形 11"/>
            <p:cNvSpPr/>
            <p:nvPr/>
          </p:nvSpPr>
          <p:spPr>
            <a:xfrm rot="5400000">
              <a:off x="7383" y="3120"/>
              <a:ext cx="300" cy="30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 name="圆角矩形 2"/>
          <p:cNvSpPr/>
          <p:nvPr>
            <p:custDataLst>
              <p:tags r:id="rId4"/>
            </p:custDataLst>
          </p:nvPr>
        </p:nvSpPr>
        <p:spPr>
          <a:xfrm>
            <a:off x="4021455" y="4511675"/>
            <a:ext cx="1059180" cy="328295"/>
          </a:xfrm>
          <a:prstGeom prst="roundRect">
            <a:avLst>
              <a:gd name="adj" fmla="val 50000"/>
            </a:avLst>
          </a:prstGeom>
          <a:solidFill>
            <a:srgbClr val="03569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a:t>学</a:t>
            </a:r>
            <a:r>
              <a:rPr lang="en-US" altLang="zh-CN"/>
              <a:t>  </a:t>
            </a:r>
            <a:r>
              <a:rPr lang="zh-CN" altLang="en-US"/>
              <a:t>号</a:t>
            </a:r>
          </a:p>
        </p:txBody>
      </p:sp>
      <p:sp>
        <p:nvSpPr>
          <p:cNvPr id="10" name="圆角矩形 9"/>
          <p:cNvSpPr/>
          <p:nvPr>
            <p:custDataLst>
              <p:tags r:id="rId5"/>
            </p:custDataLst>
          </p:nvPr>
        </p:nvSpPr>
        <p:spPr>
          <a:xfrm>
            <a:off x="4021455" y="4939030"/>
            <a:ext cx="1059180" cy="328295"/>
          </a:xfrm>
          <a:prstGeom prst="roundRect">
            <a:avLst>
              <a:gd name="adj" fmla="val 50000"/>
            </a:avLst>
          </a:prstGeom>
          <a:solidFill>
            <a:srgbClr val="03569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a:t>导</a:t>
            </a:r>
            <a:r>
              <a:rPr lang="en-US" altLang="zh-CN"/>
              <a:t>  </a:t>
            </a:r>
            <a:r>
              <a:rPr lang="zh-CN" altLang="en-US"/>
              <a:t>师</a:t>
            </a:r>
          </a:p>
        </p:txBody>
      </p:sp>
      <p:pic>
        <p:nvPicPr>
          <p:cNvPr id="18" name="Picture 2" descr="C:\Program Files\Apache Software Foundation\Tomcat 6.0\webapps\topo1\images\sklois1 (2).jpg"/>
          <p:cNvPicPr>
            <a:picLocks noChangeAspect="1" noChangeArrowheads="1"/>
          </p:cNvPicPr>
          <p:nvPr>
            <p:custDataLst>
              <p:tags r:id="rId6"/>
            </p:custDataLst>
          </p:nvPr>
        </p:nvPicPr>
        <p:blipFill>
          <a:blip r:embed="rId10"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ustDataLst>
      <p:tags r:id="rId1"/>
    </p:custData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4799856" y="2309198"/>
            <a:ext cx="1440160" cy="360099"/>
          </a:xfrm>
          <a:prstGeom prst="rect">
            <a:avLst/>
          </a:prstGeom>
        </p:spPr>
        <p:txBody>
          <a:bodyPr lIns="90000" tIns="0" rIns="90000" bIns="0" anchor="ctr">
            <a:noAutofit/>
          </a:bodyPr>
          <a:lstStyle/>
          <a:p>
            <a:pPr>
              <a:lnSpc>
                <a:spcPct val="130000"/>
              </a:lnSpc>
            </a:pPr>
            <a:r>
              <a:rPr lang="en-US" altLang="ko-KR" sz="2400" b="1" dirty="0">
                <a:solidFill>
                  <a:srgbClr val="04579A"/>
                </a:solidFill>
                <a:effectLst>
                  <a:outerShdw blurRad="50800" dist="38100" dir="2700000" algn="tl" rotWithShape="0">
                    <a:prstClr val="black">
                      <a:alpha val="40000"/>
                    </a:prstClr>
                  </a:outerShdw>
                </a:effectLst>
              </a:rPr>
              <a:t>01</a:t>
            </a:r>
          </a:p>
        </p:txBody>
      </p:sp>
      <p:sp>
        <p:nvSpPr>
          <p:cNvPr id="4" name="文本框 3"/>
          <p:cNvSpPr txBox="1"/>
          <p:nvPr>
            <p:custDataLst>
              <p:tags r:id="rId3"/>
            </p:custDataLst>
          </p:nvPr>
        </p:nvSpPr>
        <p:spPr>
          <a:xfrm>
            <a:off x="4791710" y="2682240"/>
            <a:ext cx="3104515" cy="383540"/>
          </a:xfrm>
          <a:prstGeom prst="rect">
            <a:avLst/>
          </a:prstGeom>
        </p:spPr>
        <p:txBody>
          <a:bodyPr wrap="square" lIns="90000" tIns="0" rIns="90000" bIns="0" anchor="b" anchorCtr="0"/>
          <a:lstStyle/>
          <a:p>
            <a:pPr indent="0" fontAlgn="auto">
              <a:lnSpc>
                <a:spcPct val="100000"/>
              </a:lnSpc>
            </a:pPr>
            <a:r>
              <a:rPr lang="zh-CN" altLang="en-US" dirty="0">
                <a:solidFill>
                  <a:prstClr val="black"/>
                </a:solidFill>
                <a:latin typeface="Arial" panose="020B0604020202020204" pitchFamily="34" charset="0"/>
                <a:sym typeface="+mn-ea"/>
              </a:rPr>
              <a:t>选题背景及意义</a:t>
            </a:r>
            <a:endParaRPr lang="zh-CN" altLang="en-US" b="0" dirty="0">
              <a:solidFill>
                <a:prstClr val="black"/>
              </a:solidFill>
              <a:latin typeface="Arial" panose="020B0604020202020204" pitchFamily="34" charset="0"/>
              <a:sym typeface="+mn-ea"/>
            </a:endParaRPr>
          </a:p>
        </p:txBody>
      </p:sp>
      <p:sp>
        <p:nvSpPr>
          <p:cNvPr id="5" name="文本框 4"/>
          <p:cNvSpPr txBox="1"/>
          <p:nvPr>
            <p:custDataLst>
              <p:tags r:id="rId4"/>
            </p:custDataLst>
          </p:nvPr>
        </p:nvSpPr>
        <p:spPr>
          <a:xfrm>
            <a:off x="4799856" y="3279022"/>
            <a:ext cx="1440160" cy="360099"/>
          </a:xfrm>
          <a:prstGeom prst="rect">
            <a:avLst/>
          </a:prstGeom>
        </p:spPr>
        <p:txBody>
          <a:bodyPr lIns="90000" tIns="0" rIns="90000" bIns="0" anchor="ctr">
            <a:noAutofit/>
          </a:bodyPr>
          <a:lstStyle/>
          <a:p>
            <a:pPr>
              <a:lnSpc>
                <a:spcPct val="130000"/>
              </a:lnSpc>
            </a:pPr>
            <a:r>
              <a:rPr lang="en-US" altLang="ko-KR" sz="2400" b="1">
                <a:solidFill>
                  <a:srgbClr val="04579A"/>
                </a:solidFill>
                <a:effectLst>
                  <a:outerShdw blurRad="50800" dist="38100" dir="2700000" algn="tl" rotWithShape="0">
                    <a:prstClr val="black">
                      <a:alpha val="40000"/>
                    </a:prstClr>
                  </a:outerShdw>
                </a:effectLst>
              </a:rPr>
              <a:t>02</a:t>
            </a:r>
          </a:p>
        </p:txBody>
      </p:sp>
      <p:sp>
        <p:nvSpPr>
          <p:cNvPr id="7" name="文本框 6"/>
          <p:cNvSpPr txBox="1"/>
          <p:nvPr>
            <p:custDataLst>
              <p:tags r:id="rId5"/>
            </p:custDataLst>
          </p:nvPr>
        </p:nvSpPr>
        <p:spPr>
          <a:xfrm>
            <a:off x="4799856" y="4243887"/>
            <a:ext cx="1440160" cy="360099"/>
          </a:xfrm>
          <a:prstGeom prst="rect">
            <a:avLst/>
          </a:prstGeom>
        </p:spPr>
        <p:txBody>
          <a:bodyPr lIns="90000" tIns="0" rIns="90000" bIns="0" anchor="ctr">
            <a:noAutofit/>
          </a:bodyPr>
          <a:lstStyle/>
          <a:p>
            <a:pPr>
              <a:lnSpc>
                <a:spcPct val="130000"/>
              </a:lnSpc>
            </a:pPr>
            <a:r>
              <a:rPr lang="en-US" altLang="ko-KR" sz="2400" b="1">
                <a:solidFill>
                  <a:srgbClr val="04579A"/>
                </a:solidFill>
                <a:effectLst>
                  <a:outerShdw blurRad="38100" dist="38100" dir="2700000" algn="tl">
                    <a:srgbClr val="000000">
                      <a:alpha val="43137"/>
                    </a:srgbClr>
                  </a:outerShdw>
                </a:effectLst>
              </a:rPr>
              <a:t>03</a:t>
            </a:r>
          </a:p>
        </p:txBody>
      </p:sp>
      <p:sp>
        <p:nvSpPr>
          <p:cNvPr id="9" name="文本框 8"/>
          <p:cNvSpPr txBox="1"/>
          <p:nvPr>
            <p:custDataLst>
              <p:tags r:id="rId6"/>
            </p:custDataLst>
          </p:nvPr>
        </p:nvSpPr>
        <p:spPr>
          <a:xfrm>
            <a:off x="4799856" y="5208750"/>
            <a:ext cx="1440160" cy="360099"/>
          </a:xfrm>
          <a:prstGeom prst="rect">
            <a:avLst/>
          </a:prstGeom>
        </p:spPr>
        <p:txBody>
          <a:bodyPr lIns="90000" tIns="0" rIns="90000" bIns="0" anchor="ctr">
            <a:noAutofit/>
          </a:bodyPr>
          <a:lstStyle/>
          <a:p>
            <a:pPr>
              <a:lnSpc>
                <a:spcPct val="130000"/>
              </a:lnSpc>
            </a:pPr>
            <a:r>
              <a:rPr lang="en-US" altLang="ko-KR" sz="2400" b="1">
                <a:solidFill>
                  <a:srgbClr val="04579A"/>
                </a:solidFill>
                <a:effectLst>
                  <a:outerShdw blurRad="38100" dist="38100" dir="2700000" algn="tl">
                    <a:srgbClr val="000000">
                      <a:alpha val="43137"/>
                    </a:srgbClr>
                  </a:outerShdw>
                </a:effectLst>
              </a:rPr>
              <a:t>04</a:t>
            </a:r>
          </a:p>
        </p:txBody>
      </p:sp>
      <p:sp>
        <p:nvSpPr>
          <p:cNvPr id="11" name="文本框 10"/>
          <p:cNvSpPr txBox="1"/>
          <p:nvPr>
            <p:custDataLst>
              <p:tags r:id="rId7"/>
            </p:custDataLst>
          </p:nvPr>
        </p:nvSpPr>
        <p:spPr>
          <a:xfrm>
            <a:off x="729087" y="1804710"/>
            <a:ext cx="2769267" cy="960263"/>
          </a:xfrm>
          <a:prstGeom prst="rect">
            <a:avLst/>
          </a:prstGeom>
        </p:spPr>
        <p:txBody>
          <a:bodyPr wrap="square" lIns="90000" tIns="0" rIns="90000" bIns="0" anchor="ctr" anchorCtr="0">
            <a:normAutofit/>
          </a:bodyPr>
          <a:lstStyle/>
          <a:p>
            <a:pPr marL="0" marR="0" lvl="0" indent="0" defTabSz="914400" rtl="0" eaLnBrk="1" fontAlgn="auto" latinLnBrk="1" hangingPunct="1">
              <a:lnSpc>
                <a:spcPct val="130000"/>
              </a:lnSpc>
              <a:buClrTx/>
              <a:buSzTx/>
              <a:buFontTx/>
              <a:buNone/>
              <a:defRPr/>
            </a:pPr>
            <a:r>
              <a:rPr lang="zh-CN" altLang="en-US" sz="2800" b="1" dirty="0">
                <a:solidFill>
                  <a:srgbClr val="04579A"/>
                </a:solidFill>
                <a:latin typeface="Arial" panose="020B0604020202020204" pitchFamily="34" charset="0"/>
                <a:ea typeface="微软雅黑" panose="020B0503020204020204" charset="-122"/>
                <a:cs typeface="+mn-ea"/>
              </a:rPr>
              <a:t>报告提纲</a:t>
            </a:r>
          </a:p>
        </p:txBody>
      </p:sp>
      <p:cxnSp>
        <p:nvCxnSpPr>
          <p:cNvPr id="12" name="直接连接符 11"/>
          <p:cNvCxnSpPr/>
          <p:nvPr>
            <p:custDataLst>
              <p:tags r:id="rId8"/>
            </p:custDataLst>
          </p:nvPr>
        </p:nvCxnSpPr>
        <p:spPr>
          <a:xfrm>
            <a:off x="758627" y="1644739"/>
            <a:ext cx="2739727" cy="0"/>
          </a:xfrm>
          <a:prstGeom prst="line">
            <a:avLst/>
          </a:prstGeom>
          <a:noFill/>
          <a:ln w="22225" cap="flat" cmpd="sng" algn="ctr">
            <a:solidFill>
              <a:srgbClr val="2A2824"/>
            </a:solidFill>
            <a:prstDash val="solid"/>
            <a:miter lim="800000"/>
          </a:ln>
          <a:effectLst/>
        </p:spPr>
      </p:cxnSp>
      <p:sp>
        <p:nvSpPr>
          <p:cNvPr id="13" name="文本框 12"/>
          <p:cNvSpPr txBox="1"/>
          <p:nvPr>
            <p:custDataLst>
              <p:tags r:id="rId9"/>
            </p:custDataLst>
          </p:nvPr>
        </p:nvSpPr>
        <p:spPr>
          <a:xfrm>
            <a:off x="669925" y="1340768"/>
            <a:ext cx="2969021" cy="246221"/>
          </a:xfrm>
          <a:prstGeom prst="rect">
            <a:avLst/>
          </a:prstGeom>
          <a:noFill/>
          <a:effectLst>
            <a:innerShdw blurRad="63500" dist="50800">
              <a:sysClr val="windowText" lastClr="000000">
                <a:alpha val="50000"/>
              </a:sysClr>
            </a:innerShdw>
          </a:effectLst>
        </p:spPr>
        <p:txBody>
          <a:bodyPr wrap="square">
            <a:noAutofit/>
          </a:bodyPr>
          <a:lstStyle/>
          <a:p>
            <a:pPr marL="0" marR="0" lvl="0" indent="0" defTabSz="914400" eaLnBrk="1" fontAlgn="auto" latinLnBrk="1" hangingPunct="1">
              <a:lnSpc>
                <a:spcPct val="130000"/>
              </a:lnSpc>
              <a:buClrTx/>
              <a:buSzTx/>
              <a:buFontTx/>
              <a:buNone/>
              <a:defRPr/>
            </a:pPr>
            <a:r>
              <a:rPr kumimoji="0" lang="en-US" altLang="zh-CN" sz="1200" b="1" i="0" u="none" strike="noStrike" kern="0" cap="none" spc="0" normalizeH="0" baseline="0" noProof="0">
                <a:ln>
                  <a:noFill/>
                </a:ln>
                <a:solidFill>
                  <a:srgbClr val="04579A"/>
                </a:solidFill>
                <a:effectLst/>
                <a:uLnTx/>
                <a:uFillTx/>
              </a:rPr>
              <a:t>OUTLINE</a:t>
            </a:r>
          </a:p>
        </p:txBody>
      </p:sp>
      <p:cxnSp>
        <p:nvCxnSpPr>
          <p:cNvPr id="14" name="直接连接符 13"/>
          <p:cNvCxnSpPr/>
          <p:nvPr>
            <p:custDataLst>
              <p:tags r:id="rId10"/>
            </p:custDataLst>
          </p:nvPr>
        </p:nvCxnSpPr>
        <p:spPr>
          <a:xfrm>
            <a:off x="762051" y="2924944"/>
            <a:ext cx="2592288" cy="0"/>
          </a:xfrm>
          <a:prstGeom prst="line">
            <a:avLst/>
          </a:prstGeom>
          <a:noFill/>
          <a:ln w="31750" cap="flat" cmpd="sng" algn="ctr">
            <a:solidFill>
              <a:srgbClr val="2A2824"/>
            </a:solidFill>
            <a:prstDash val="solid"/>
            <a:miter lim="800000"/>
          </a:ln>
          <a:effectLst/>
        </p:spPr>
      </p:cxnSp>
      <p:sp>
        <p:nvSpPr>
          <p:cNvPr id="15" name="文本框 14"/>
          <p:cNvSpPr txBox="1"/>
          <p:nvPr>
            <p:custDataLst>
              <p:tags r:id="rId11"/>
            </p:custDataLst>
          </p:nvPr>
        </p:nvSpPr>
        <p:spPr>
          <a:xfrm>
            <a:off x="752527" y="3056058"/>
            <a:ext cx="2308324" cy="720197"/>
          </a:xfrm>
          <a:prstGeom prst="rect">
            <a:avLst/>
          </a:prstGeom>
          <a:noFill/>
          <a:effectLst>
            <a:innerShdw blurRad="63500" dist="50800">
              <a:sysClr val="windowText" lastClr="000000">
                <a:alpha val="50000"/>
              </a:sysClr>
            </a:innerShdw>
          </a:effectLst>
        </p:spPr>
        <p:txBody>
          <a:bodyPr wrap="square" lIns="90000" tIns="0" rIns="90000" bIns="0">
            <a:normAutofit/>
          </a:bodyPr>
          <a:lstStyle/>
          <a:p>
            <a:pPr marL="0" marR="0" lvl="0" indent="0" algn="ctr" defTabSz="914400" eaLnBrk="1" fontAlgn="auto" latinLnBrk="1" hangingPunct="1">
              <a:lnSpc>
                <a:spcPct val="130000"/>
              </a:lnSpc>
              <a:buClrTx/>
              <a:buSzTx/>
              <a:buFontTx/>
              <a:buNone/>
              <a:defRPr/>
            </a:pPr>
            <a:r>
              <a:rPr kumimoji="0" lang="zh-CN" altLang="en-US" sz="1100" b="0" i="0" u="none" strike="noStrike" kern="0" cap="none" spc="0" normalizeH="0" baseline="0" noProof="0" dirty="0">
                <a:ln>
                  <a:noFill/>
                </a:ln>
                <a:solidFill>
                  <a:prstClr val="black"/>
                </a:solidFill>
                <a:effectLst/>
                <a:uLnTx/>
                <a:uFillTx/>
              </a:rPr>
              <a:t>分布式数字资产协议</a:t>
            </a:r>
            <a:endParaRPr kumimoji="0" lang="en-US" altLang="zh-CN" sz="1100" b="0" i="0" u="none" strike="noStrike" kern="0" cap="none" spc="0" normalizeH="0" baseline="0" noProof="0" dirty="0">
              <a:ln>
                <a:noFill/>
              </a:ln>
              <a:solidFill>
                <a:prstClr val="black"/>
              </a:solidFill>
              <a:effectLst/>
              <a:uLnTx/>
              <a:uFillTx/>
            </a:endParaRPr>
          </a:p>
          <a:p>
            <a:pPr marL="0" marR="0" lvl="0" indent="0" algn="ctr" defTabSz="914400" eaLnBrk="1" fontAlgn="auto" latinLnBrk="1" hangingPunct="1">
              <a:lnSpc>
                <a:spcPct val="130000"/>
              </a:lnSpc>
              <a:buClrTx/>
              <a:buSzTx/>
              <a:buFontTx/>
              <a:buNone/>
              <a:defRPr/>
            </a:pPr>
            <a:r>
              <a:rPr kumimoji="0" lang="zh-CN" altLang="en-US" sz="1100" b="0" i="0" u="none" strike="noStrike" kern="0" cap="none" spc="0" normalizeH="0" baseline="0" noProof="0" dirty="0">
                <a:ln>
                  <a:noFill/>
                </a:ln>
                <a:solidFill>
                  <a:prstClr val="black"/>
                </a:solidFill>
                <a:effectLst/>
                <a:uLnTx/>
                <a:uFillTx/>
              </a:rPr>
              <a:t>设计与分析</a:t>
            </a:r>
          </a:p>
        </p:txBody>
      </p:sp>
      <p:cxnSp>
        <p:nvCxnSpPr>
          <p:cNvPr id="17" name="直接连接符 16"/>
          <p:cNvCxnSpPr/>
          <p:nvPr>
            <p:custDataLst>
              <p:tags r:id="rId12"/>
            </p:custDataLst>
          </p:nvPr>
        </p:nvCxnSpPr>
        <p:spPr>
          <a:xfrm>
            <a:off x="4691844" y="3066129"/>
            <a:ext cx="5716426" cy="0"/>
          </a:xfrm>
          <a:prstGeom prst="line">
            <a:avLst/>
          </a:prstGeom>
          <a:ln>
            <a:solidFill>
              <a:srgbClr val="000000">
                <a:lumMod val="20000"/>
                <a:lumOff val="80000"/>
              </a:srgbClr>
            </a:solidFill>
          </a:ln>
        </p:spPr>
        <p:style>
          <a:lnRef idx="1">
            <a:srgbClr val="4276AA"/>
          </a:lnRef>
          <a:fillRef idx="0">
            <a:srgbClr val="4276AA"/>
          </a:fillRef>
          <a:effectRef idx="0">
            <a:srgbClr val="4276AA"/>
          </a:effectRef>
          <a:fontRef idx="minor">
            <a:srgbClr val="000000"/>
          </a:fontRef>
        </p:style>
      </p:cxnSp>
      <p:cxnSp>
        <p:nvCxnSpPr>
          <p:cNvPr id="18" name="直接连接符 17"/>
          <p:cNvCxnSpPr/>
          <p:nvPr>
            <p:custDataLst>
              <p:tags r:id="rId13"/>
            </p:custDataLst>
          </p:nvPr>
        </p:nvCxnSpPr>
        <p:spPr>
          <a:xfrm>
            <a:off x="4691844" y="4055943"/>
            <a:ext cx="5716426" cy="0"/>
          </a:xfrm>
          <a:prstGeom prst="line">
            <a:avLst/>
          </a:prstGeom>
          <a:ln>
            <a:solidFill>
              <a:srgbClr val="000000">
                <a:lumMod val="20000"/>
                <a:lumOff val="80000"/>
              </a:srgbClr>
            </a:solidFill>
          </a:ln>
        </p:spPr>
        <p:style>
          <a:lnRef idx="1">
            <a:srgbClr val="4276AA"/>
          </a:lnRef>
          <a:fillRef idx="0">
            <a:srgbClr val="4276AA"/>
          </a:fillRef>
          <a:effectRef idx="0">
            <a:srgbClr val="4276AA"/>
          </a:effectRef>
          <a:fontRef idx="minor">
            <a:srgbClr val="000000"/>
          </a:fontRef>
        </p:style>
      </p:cxnSp>
      <p:cxnSp>
        <p:nvCxnSpPr>
          <p:cNvPr id="19" name="直接连接符 18"/>
          <p:cNvCxnSpPr/>
          <p:nvPr>
            <p:custDataLst>
              <p:tags r:id="rId14"/>
            </p:custDataLst>
          </p:nvPr>
        </p:nvCxnSpPr>
        <p:spPr>
          <a:xfrm>
            <a:off x="4691844" y="5045757"/>
            <a:ext cx="5716426" cy="0"/>
          </a:xfrm>
          <a:prstGeom prst="line">
            <a:avLst/>
          </a:prstGeom>
          <a:ln>
            <a:solidFill>
              <a:srgbClr val="000000">
                <a:lumMod val="20000"/>
                <a:lumOff val="80000"/>
              </a:srgbClr>
            </a:solidFill>
          </a:ln>
        </p:spPr>
        <p:style>
          <a:lnRef idx="1">
            <a:srgbClr val="4276AA"/>
          </a:lnRef>
          <a:fillRef idx="0">
            <a:srgbClr val="4276AA"/>
          </a:fillRef>
          <a:effectRef idx="0">
            <a:srgbClr val="4276AA"/>
          </a:effectRef>
          <a:fontRef idx="minor">
            <a:srgbClr val="000000"/>
          </a:fontRef>
        </p:style>
      </p:cxnSp>
      <p:sp>
        <p:nvSpPr>
          <p:cNvPr id="2" name="文本框 1"/>
          <p:cNvSpPr txBox="1"/>
          <p:nvPr>
            <p:custDataLst>
              <p:tags r:id="rId15"/>
            </p:custDataLst>
          </p:nvPr>
        </p:nvSpPr>
        <p:spPr>
          <a:xfrm>
            <a:off x="4791710" y="3672840"/>
            <a:ext cx="3223260" cy="383540"/>
          </a:xfrm>
          <a:prstGeom prst="rect">
            <a:avLst/>
          </a:prstGeom>
        </p:spPr>
        <p:txBody>
          <a:bodyPr wrap="square" lIns="90000" tIns="0" rIns="90000" bIns="0" anchor="b" anchorCtr="0"/>
          <a:lstStyle/>
          <a:p>
            <a:pPr indent="0" fontAlgn="auto">
              <a:lnSpc>
                <a:spcPct val="100000"/>
              </a:lnSpc>
            </a:pPr>
            <a:r>
              <a:rPr lang="zh-CN" altLang="en-US" b="0" dirty="0">
                <a:solidFill>
                  <a:prstClr val="black"/>
                </a:solidFill>
                <a:latin typeface="Arial" panose="020B0604020202020204" pitchFamily="34" charset="0"/>
                <a:sym typeface="+mn-ea"/>
              </a:rPr>
              <a:t>国内外研究现状</a:t>
            </a:r>
          </a:p>
        </p:txBody>
      </p:sp>
      <p:sp>
        <p:nvSpPr>
          <p:cNvPr id="16" name="文本框 15"/>
          <p:cNvSpPr txBox="1"/>
          <p:nvPr>
            <p:custDataLst>
              <p:tags r:id="rId16"/>
            </p:custDataLst>
          </p:nvPr>
        </p:nvSpPr>
        <p:spPr>
          <a:xfrm>
            <a:off x="4799965" y="4664075"/>
            <a:ext cx="3223260" cy="383540"/>
          </a:xfrm>
          <a:prstGeom prst="rect">
            <a:avLst/>
          </a:prstGeom>
        </p:spPr>
        <p:txBody>
          <a:bodyPr wrap="square" lIns="90000" tIns="0" rIns="90000" bIns="0" anchor="b" anchorCtr="0"/>
          <a:lstStyle/>
          <a:p>
            <a:pPr indent="0" fontAlgn="auto">
              <a:lnSpc>
                <a:spcPct val="100000"/>
              </a:lnSpc>
            </a:pPr>
            <a:r>
              <a:rPr lang="zh-CN" altLang="en-US" dirty="0">
                <a:solidFill>
                  <a:prstClr val="black"/>
                </a:solidFill>
                <a:latin typeface="Arial" panose="020B0604020202020204" pitchFamily="34" charset="0"/>
                <a:sym typeface="+mn-ea"/>
              </a:rPr>
              <a:t>研究内容及预期目标</a:t>
            </a:r>
          </a:p>
        </p:txBody>
      </p:sp>
      <p:sp>
        <p:nvSpPr>
          <p:cNvPr id="20" name="文本框 19"/>
          <p:cNvSpPr txBox="1"/>
          <p:nvPr>
            <p:custDataLst>
              <p:tags r:id="rId17"/>
            </p:custDataLst>
          </p:nvPr>
        </p:nvSpPr>
        <p:spPr>
          <a:xfrm>
            <a:off x="4799965" y="5561965"/>
            <a:ext cx="3223260" cy="383540"/>
          </a:xfrm>
          <a:prstGeom prst="rect">
            <a:avLst/>
          </a:prstGeom>
        </p:spPr>
        <p:txBody>
          <a:bodyPr wrap="square" lIns="90000" tIns="0" rIns="90000" bIns="0" anchor="b" anchorCtr="0"/>
          <a:lstStyle/>
          <a:p>
            <a:pPr indent="0" fontAlgn="auto">
              <a:lnSpc>
                <a:spcPct val="100000"/>
              </a:lnSpc>
            </a:pPr>
            <a:r>
              <a:rPr lang="zh-CN" altLang="en-US" dirty="0">
                <a:solidFill>
                  <a:prstClr val="black"/>
                </a:solidFill>
                <a:latin typeface="Arial" panose="020B0604020202020204" pitchFamily="34" charset="0"/>
                <a:sym typeface="+mn-ea"/>
              </a:rPr>
              <a:t>工作计划与进度安排</a:t>
            </a:r>
            <a:endParaRPr lang="zh-CN" altLang="en-US" b="0" dirty="0">
              <a:solidFill>
                <a:prstClr val="black"/>
              </a:solidFill>
              <a:latin typeface="Arial" panose="020B0604020202020204" pitchFamily="34" charset="0"/>
              <a:sym typeface="+mn-ea"/>
            </a:endParaRPr>
          </a:p>
        </p:txBody>
      </p:sp>
      <p:pic>
        <p:nvPicPr>
          <p:cNvPr id="21" name="Picture 2" descr="C:\Program Files\Apache Software Foundation\Tomcat 6.0\webapps\topo1\images\sklois1 (2).jpg"/>
          <p:cNvPicPr>
            <a:picLocks noChangeAspect="1" noChangeArrowheads="1"/>
          </p:cNvPicPr>
          <p:nvPr>
            <p:custDataLst>
              <p:tags r:id="rId18"/>
            </p:custDataLst>
          </p:nvPr>
        </p:nvPicPr>
        <p:blipFill>
          <a:blip r:embed="rId21"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ustDataLst>
      <p:tags r:id="rId1"/>
    </p:custDataLst>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8" name="圆角矩形 57"/>
          <p:cNvSpPr/>
          <p:nvPr/>
        </p:nvSpPr>
        <p:spPr>
          <a:xfrm>
            <a:off x="382270" y="1819275"/>
            <a:ext cx="2379980" cy="3687445"/>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5969000" y="3531870"/>
            <a:ext cx="1772920" cy="402590"/>
          </a:xfrm>
          <a:prstGeom prst="rect">
            <a:avLst/>
          </a:prstGeom>
          <a:noFill/>
          <a:ln>
            <a:solidFill>
              <a:schemeClr val="accent1">
                <a:lumMod val="40000"/>
                <a:lumOff val="60000"/>
              </a:schemeClr>
            </a:solidFill>
          </a:ln>
          <a:extLst>
            <a:ext uri="{909E8E84-426E-40DD-AFC4-6F175D3DCCD1}">
              <a14:hiddenFill xmlns:a14="http://schemas.microsoft.com/office/drawing/2010/main">
                <a:solidFill>
                  <a:schemeClr val="accent1">
                    <a:lumMod val="40000"/>
                    <a:lumOff val="6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custDataLst>
              <p:tags r:id="rId2"/>
            </p:custDataLst>
          </p:nvPr>
        </p:nvSpPr>
        <p:spPr>
          <a:xfrm>
            <a:off x="3871595" y="-635"/>
            <a:ext cx="199072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custDataLst>
              <p:tags r:id="rId3"/>
            </p:custDataLst>
          </p:nvPr>
        </p:nvSpPr>
        <p:spPr>
          <a:xfrm>
            <a:off x="5862320" y="-635"/>
            <a:ext cx="311594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664970" y="-635"/>
            <a:ext cx="2206625" cy="721995"/>
          </a:xfrm>
          <a:prstGeom prst="rect">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4"/>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p>
        </p:txBody>
      </p:sp>
      <p:pic>
        <p:nvPicPr>
          <p:cNvPr id="21" name="Picture 2" descr="C:\Program Files\Apache Software Foundation\Tomcat 6.0\webapps\topo1\images\sklois1 (2).jpg"/>
          <p:cNvPicPr>
            <a:picLocks noChangeAspect="1" noChangeArrowheads="1"/>
          </p:cNvPicPr>
          <p:nvPr>
            <p:custDataLst>
              <p:tags r:id="rId5"/>
            </p:custDataLst>
          </p:nvPr>
        </p:nvPicPr>
        <p:blipFill>
          <a:blip r:embed="rId35"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 name="等腰三角形 14"/>
          <p:cNvSpPr/>
          <p:nvPr>
            <p:custDataLst>
              <p:tags r:id="rId6"/>
            </p:custDataLst>
          </p:nvPr>
        </p:nvSpPr>
        <p:spPr>
          <a:xfrm rot="10800000">
            <a:off x="2622550" y="721360"/>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6" name="组合 45"/>
          <p:cNvGrpSpPr/>
          <p:nvPr/>
        </p:nvGrpSpPr>
        <p:grpSpPr>
          <a:xfrm>
            <a:off x="781050" y="2736215"/>
            <a:ext cx="1669415" cy="1316355"/>
            <a:chOff x="2868" y="3032"/>
            <a:chExt cx="3442" cy="2714"/>
          </a:xfrm>
        </p:grpSpPr>
        <p:sp>
          <p:nvSpPr>
            <p:cNvPr id="43" name="圆角矩形 42"/>
            <p:cNvSpPr/>
            <p:nvPr/>
          </p:nvSpPr>
          <p:spPr>
            <a:xfrm>
              <a:off x="3899" y="3824"/>
              <a:ext cx="1337" cy="1112"/>
            </a:xfrm>
            <a:prstGeom prst="roundRect">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0" name="组合 29"/>
            <p:cNvGrpSpPr/>
            <p:nvPr/>
          </p:nvGrpSpPr>
          <p:grpSpPr>
            <a:xfrm>
              <a:off x="2868" y="3032"/>
              <a:ext cx="3443" cy="2715"/>
              <a:chOff x="2868" y="3032"/>
              <a:chExt cx="5223" cy="4118"/>
            </a:xfrm>
          </p:grpSpPr>
          <p:pic>
            <p:nvPicPr>
              <p:cNvPr id="16" name="图片 15" descr="whatisacomputer_pc"/>
              <p:cNvPicPr>
                <a:picLocks noChangeAspect="1"/>
              </p:cNvPicPr>
              <p:nvPr>
                <p:custDataLst>
                  <p:tags r:id="rId24"/>
                </p:custDataLst>
              </p:nvPr>
            </p:nvPicPr>
            <p:blipFill>
              <a:blip r:embed="rId36">
                <a:clrChange>
                  <a:clrFrom>
                    <a:srgbClr val="FFE3CB">
                      <a:alpha val="100000"/>
                    </a:srgbClr>
                  </a:clrFrom>
                  <a:clrTo>
                    <a:srgbClr val="FFE3CB">
                      <a:alpha val="100000"/>
                      <a:alpha val="0"/>
                    </a:srgbClr>
                  </a:clrTo>
                </a:clrChange>
              </a:blip>
              <a:srcRect l="20418" t="24707" r="50115" b="22236"/>
              <a:stretch>
                <a:fillRect/>
              </a:stretch>
            </p:blipFill>
            <p:spPr>
              <a:xfrm>
                <a:off x="2868" y="3032"/>
                <a:ext cx="1439" cy="1458"/>
              </a:xfrm>
              <a:prstGeom prst="rect">
                <a:avLst/>
              </a:prstGeom>
            </p:spPr>
          </p:pic>
          <p:pic>
            <p:nvPicPr>
              <p:cNvPr id="17" name="图片 16" descr="whatisacomputer_pc"/>
              <p:cNvPicPr>
                <a:picLocks noChangeAspect="1"/>
              </p:cNvPicPr>
              <p:nvPr>
                <p:custDataLst>
                  <p:tags r:id="rId25"/>
                </p:custDataLst>
              </p:nvPr>
            </p:nvPicPr>
            <p:blipFill>
              <a:blip r:embed="rId36">
                <a:clrChange>
                  <a:clrFrom>
                    <a:srgbClr val="FFE3CB">
                      <a:alpha val="100000"/>
                    </a:srgbClr>
                  </a:clrFrom>
                  <a:clrTo>
                    <a:srgbClr val="FFE3CB">
                      <a:alpha val="100000"/>
                      <a:alpha val="0"/>
                    </a:srgbClr>
                  </a:clrTo>
                </a:clrChange>
              </a:blip>
              <a:srcRect l="20418" t="24707" r="50115" b="22236"/>
              <a:stretch>
                <a:fillRect/>
              </a:stretch>
            </p:blipFill>
            <p:spPr>
              <a:xfrm>
                <a:off x="6653" y="3032"/>
                <a:ext cx="1439" cy="1458"/>
              </a:xfrm>
              <a:prstGeom prst="rect">
                <a:avLst/>
              </a:prstGeom>
            </p:spPr>
          </p:pic>
          <p:pic>
            <p:nvPicPr>
              <p:cNvPr id="18" name="图片 17" descr="whatisacomputer_pc"/>
              <p:cNvPicPr>
                <a:picLocks noChangeAspect="1"/>
              </p:cNvPicPr>
              <p:nvPr>
                <p:custDataLst>
                  <p:tags r:id="rId26"/>
                </p:custDataLst>
              </p:nvPr>
            </p:nvPicPr>
            <p:blipFill>
              <a:blip r:embed="rId36">
                <a:clrChange>
                  <a:clrFrom>
                    <a:srgbClr val="FFE3CB">
                      <a:alpha val="100000"/>
                    </a:srgbClr>
                  </a:clrFrom>
                  <a:clrTo>
                    <a:srgbClr val="FFE3CB">
                      <a:alpha val="100000"/>
                      <a:alpha val="0"/>
                    </a:srgbClr>
                  </a:clrTo>
                </a:clrChange>
              </a:blip>
              <a:srcRect l="20418" t="24707" r="50115" b="22236"/>
              <a:stretch>
                <a:fillRect/>
              </a:stretch>
            </p:blipFill>
            <p:spPr>
              <a:xfrm>
                <a:off x="2868" y="5692"/>
                <a:ext cx="1439" cy="1458"/>
              </a:xfrm>
              <a:prstGeom prst="rect">
                <a:avLst/>
              </a:prstGeom>
            </p:spPr>
          </p:pic>
          <p:pic>
            <p:nvPicPr>
              <p:cNvPr id="19" name="图片 18" descr="whatisacomputer_pc"/>
              <p:cNvPicPr>
                <a:picLocks noChangeAspect="1"/>
              </p:cNvPicPr>
              <p:nvPr>
                <p:custDataLst>
                  <p:tags r:id="rId27"/>
                </p:custDataLst>
              </p:nvPr>
            </p:nvPicPr>
            <p:blipFill>
              <a:blip r:embed="rId36">
                <a:clrChange>
                  <a:clrFrom>
                    <a:srgbClr val="FFE3CB">
                      <a:alpha val="100000"/>
                    </a:srgbClr>
                  </a:clrFrom>
                  <a:clrTo>
                    <a:srgbClr val="FFE3CB">
                      <a:alpha val="100000"/>
                      <a:alpha val="0"/>
                    </a:srgbClr>
                  </a:clrTo>
                </a:clrChange>
              </a:blip>
              <a:srcRect l="20418" t="24707" r="50115" b="22236"/>
              <a:stretch>
                <a:fillRect/>
              </a:stretch>
            </p:blipFill>
            <p:spPr>
              <a:xfrm>
                <a:off x="6653" y="5692"/>
                <a:ext cx="1439" cy="1458"/>
              </a:xfrm>
              <a:prstGeom prst="rect">
                <a:avLst/>
              </a:prstGeom>
            </p:spPr>
          </p:pic>
          <p:pic>
            <p:nvPicPr>
              <p:cNvPr id="20" name="图片 19" descr="whatisacomputer_pc"/>
              <p:cNvPicPr>
                <a:picLocks noChangeAspect="1"/>
              </p:cNvPicPr>
              <p:nvPr>
                <p:custDataLst>
                  <p:tags r:id="rId28"/>
                </p:custDataLst>
              </p:nvPr>
            </p:nvPicPr>
            <p:blipFill>
              <a:blip r:embed="rId36">
                <a:clrChange>
                  <a:clrFrom>
                    <a:srgbClr val="FFE3CB">
                      <a:alpha val="100000"/>
                    </a:srgbClr>
                  </a:clrFrom>
                  <a:clrTo>
                    <a:srgbClr val="FFE3CB">
                      <a:alpha val="100000"/>
                      <a:alpha val="0"/>
                    </a:srgbClr>
                  </a:clrTo>
                </a:clrChange>
              </a:blip>
              <a:srcRect l="49742" t="29547" r="17556" b="22236"/>
              <a:stretch>
                <a:fillRect/>
              </a:stretch>
            </p:blipFill>
            <p:spPr>
              <a:xfrm>
                <a:off x="4681" y="4367"/>
                <a:ext cx="1597" cy="1325"/>
              </a:xfrm>
              <a:prstGeom prst="rect">
                <a:avLst/>
              </a:prstGeom>
            </p:spPr>
          </p:pic>
          <p:cxnSp>
            <p:nvCxnSpPr>
              <p:cNvPr id="24" name="直接连接符 23"/>
              <p:cNvCxnSpPr>
                <a:stCxn id="19" idx="0"/>
                <a:endCxn id="17" idx="2"/>
              </p:cNvCxnSpPr>
              <p:nvPr>
                <p:custDataLst>
                  <p:tags r:id="rId29"/>
                </p:custDataLst>
              </p:nvPr>
            </p:nvCxnSpPr>
            <p:spPr>
              <a:xfrm flipV="1">
                <a:off x="7373" y="4490"/>
                <a:ext cx="0" cy="1202"/>
              </a:xfrm>
              <a:prstGeom prst="line">
                <a:avLst/>
              </a:prstGeom>
              <a:ln w="22225">
                <a:solidFill>
                  <a:srgbClr val="04579A"/>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18" idx="0"/>
                <a:endCxn id="16" idx="2"/>
              </p:cNvCxnSpPr>
              <p:nvPr>
                <p:custDataLst>
                  <p:tags r:id="rId30"/>
                </p:custDataLst>
              </p:nvPr>
            </p:nvCxnSpPr>
            <p:spPr>
              <a:xfrm flipV="1">
                <a:off x="3588" y="4490"/>
                <a:ext cx="0" cy="1202"/>
              </a:xfrm>
              <a:prstGeom prst="line">
                <a:avLst/>
              </a:prstGeom>
              <a:ln w="22225">
                <a:solidFill>
                  <a:srgbClr val="04579A"/>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20" idx="3"/>
              </p:cNvCxnSpPr>
              <p:nvPr>
                <p:custDataLst>
                  <p:tags r:id="rId31"/>
                </p:custDataLst>
              </p:nvPr>
            </p:nvCxnSpPr>
            <p:spPr>
              <a:xfrm>
                <a:off x="6278" y="5030"/>
                <a:ext cx="1096" cy="2"/>
              </a:xfrm>
              <a:prstGeom prst="line">
                <a:avLst/>
              </a:prstGeom>
              <a:ln w="22225">
                <a:solidFill>
                  <a:srgbClr val="04579A"/>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custDataLst>
                  <p:tags r:id="rId32"/>
                </p:custDataLst>
              </p:nvPr>
            </p:nvCxnSpPr>
            <p:spPr>
              <a:xfrm>
                <a:off x="3588" y="5090"/>
                <a:ext cx="1096" cy="2"/>
              </a:xfrm>
              <a:prstGeom prst="line">
                <a:avLst/>
              </a:prstGeom>
              <a:ln w="22225">
                <a:solidFill>
                  <a:srgbClr val="04579A"/>
                </a:solidFill>
              </a:ln>
            </p:spPr>
            <p:style>
              <a:lnRef idx="1">
                <a:schemeClr val="accent1"/>
              </a:lnRef>
              <a:fillRef idx="0">
                <a:schemeClr val="accent1"/>
              </a:fillRef>
              <a:effectRef idx="0">
                <a:schemeClr val="accent1"/>
              </a:effectRef>
              <a:fontRef idx="minor">
                <a:schemeClr val="tx1"/>
              </a:fontRef>
            </p:style>
          </p:cxnSp>
        </p:grpSp>
      </p:grpSp>
      <p:sp>
        <p:nvSpPr>
          <p:cNvPr id="44" name="文本框 43"/>
          <p:cNvSpPr txBox="1"/>
          <p:nvPr/>
        </p:nvSpPr>
        <p:spPr>
          <a:xfrm>
            <a:off x="847090" y="4619625"/>
            <a:ext cx="1528445" cy="527050"/>
          </a:xfrm>
          <a:prstGeom prst="rect">
            <a:avLst/>
          </a:prstGeom>
          <a:noFill/>
        </p:spPr>
        <p:txBody>
          <a:bodyPr wrap="square" rtlCol="0">
            <a:noAutofit/>
          </a:bodyPr>
          <a:lstStyle/>
          <a:p>
            <a:pPr algn="ctr"/>
            <a:r>
              <a:rPr lang="zh-CN" altLang="en-US" sz="1600" b="1">
                <a:solidFill>
                  <a:schemeClr val="tx1">
                    <a:lumMod val="50000"/>
                    <a:lumOff val="50000"/>
                  </a:schemeClr>
                </a:solidFill>
              </a:rPr>
              <a:t>中心化网络</a:t>
            </a:r>
          </a:p>
          <a:p>
            <a:pPr algn="ctr"/>
            <a:r>
              <a:rPr lang="zh-CN" altLang="en-US" sz="1600" b="1">
                <a:solidFill>
                  <a:schemeClr val="tx1">
                    <a:lumMod val="50000"/>
                    <a:lumOff val="50000"/>
                  </a:schemeClr>
                </a:solidFill>
              </a:rPr>
              <a:t>单点失效</a:t>
            </a:r>
          </a:p>
        </p:txBody>
      </p:sp>
      <p:sp>
        <p:nvSpPr>
          <p:cNvPr id="50" name="文本框 49"/>
          <p:cNvSpPr txBox="1"/>
          <p:nvPr/>
        </p:nvSpPr>
        <p:spPr>
          <a:xfrm>
            <a:off x="5946140" y="2637790"/>
            <a:ext cx="6226175" cy="461665"/>
          </a:xfrm>
          <a:prstGeom prst="rect">
            <a:avLst/>
          </a:prstGeom>
          <a:noFill/>
        </p:spPr>
        <p:txBody>
          <a:bodyPr wrap="square" rtlCol="0" anchor="t">
            <a:spAutoFit/>
          </a:bodyPr>
          <a:lstStyle/>
          <a:p>
            <a:r>
              <a:rPr lang="zh-CN" altLang="en-US" sz="2400" b="1" dirty="0">
                <a:solidFill>
                  <a:srgbClr val="04579A"/>
                </a:solidFill>
              </a:rPr>
              <a:t>分布式架构 </a:t>
            </a:r>
            <a:r>
              <a:rPr lang="en-US" altLang="zh-CN" sz="2400" b="1" dirty="0">
                <a:solidFill>
                  <a:srgbClr val="04579A"/>
                </a:solidFill>
              </a:rPr>
              <a:t>vs </a:t>
            </a:r>
            <a:r>
              <a:rPr lang="zh-CN" altLang="en-US" sz="2400" b="1" dirty="0">
                <a:solidFill>
                  <a:srgbClr val="04579A"/>
                </a:solidFill>
              </a:rPr>
              <a:t>中心化架构：</a:t>
            </a:r>
          </a:p>
        </p:txBody>
      </p:sp>
      <p:sp>
        <p:nvSpPr>
          <p:cNvPr id="53" name="矩形 52"/>
          <p:cNvSpPr/>
          <p:nvPr>
            <p:custDataLst>
              <p:tags r:id="rId7"/>
            </p:custDataLst>
          </p:nvPr>
        </p:nvSpPr>
        <p:spPr>
          <a:xfrm>
            <a:off x="7742555" y="3531870"/>
            <a:ext cx="2635250" cy="402590"/>
          </a:xfrm>
          <a:prstGeom prst="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54" name="矩形 53"/>
          <p:cNvSpPr/>
          <p:nvPr>
            <p:custDataLst>
              <p:tags r:id="rId8"/>
            </p:custDataLst>
          </p:nvPr>
        </p:nvSpPr>
        <p:spPr>
          <a:xfrm>
            <a:off x="5969000" y="4023360"/>
            <a:ext cx="1772920" cy="402590"/>
          </a:xfrm>
          <a:prstGeom prst="rect">
            <a:avLst/>
          </a:prstGeom>
          <a:noFill/>
          <a:ln>
            <a:solidFill>
              <a:schemeClr val="accent1">
                <a:lumMod val="40000"/>
                <a:lumOff val="60000"/>
              </a:schemeClr>
            </a:solidFill>
          </a:ln>
          <a:extLst>
            <a:ext uri="{909E8E84-426E-40DD-AFC4-6F175D3DCCD1}">
              <a14:hiddenFill xmlns:a14="http://schemas.microsoft.com/office/drawing/2010/main">
                <a:solidFill>
                  <a:schemeClr val="accent1">
                    <a:lumMod val="40000"/>
                    <a:lumOff val="6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54"/>
          <p:cNvSpPr/>
          <p:nvPr>
            <p:custDataLst>
              <p:tags r:id="rId9"/>
            </p:custDataLst>
          </p:nvPr>
        </p:nvSpPr>
        <p:spPr>
          <a:xfrm>
            <a:off x="5969000" y="4514850"/>
            <a:ext cx="1772920" cy="402590"/>
          </a:xfrm>
          <a:prstGeom prst="rect">
            <a:avLst/>
          </a:prstGeom>
          <a:noFill/>
          <a:ln>
            <a:solidFill>
              <a:schemeClr val="accent1">
                <a:lumMod val="40000"/>
                <a:lumOff val="60000"/>
              </a:schemeClr>
            </a:solidFill>
          </a:ln>
          <a:extLst>
            <a:ext uri="{909E8E84-426E-40DD-AFC4-6F175D3DCCD1}">
              <a14:hiddenFill xmlns:a14="http://schemas.microsoft.com/office/drawing/2010/main">
                <a:solidFill>
                  <a:schemeClr val="accent1">
                    <a:lumMod val="40000"/>
                    <a:lumOff val="6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p:cNvSpPr/>
          <p:nvPr>
            <p:custDataLst>
              <p:tags r:id="rId10"/>
            </p:custDataLst>
          </p:nvPr>
        </p:nvSpPr>
        <p:spPr>
          <a:xfrm>
            <a:off x="7742555" y="4023360"/>
            <a:ext cx="2635250" cy="402590"/>
          </a:xfrm>
          <a:prstGeom prst="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57" name="矩形 56"/>
          <p:cNvSpPr/>
          <p:nvPr>
            <p:custDataLst>
              <p:tags r:id="rId11"/>
            </p:custDataLst>
          </p:nvPr>
        </p:nvSpPr>
        <p:spPr>
          <a:xfrm>
            <a:off x="7742555" y="4514850"/>
            <a:ext cx="2635250" cy="402590"/>
          </a:xfrm>
          <a:prstGeom prst="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51" name="文本框 50"/>
          <p:cNvSpPr txBox="1"/>
          <p:nvPr/>
        </p:nvSpPr>
        <p:spPr>
          <a:xfrm>
            <a:off x="6058852" y="3390027"/>
            <a:ext cx="4526280" cy="1495409"/>
          </a:xfrm>
          <a:prstGeom prst="rect">
            <a:avLst/>
          </a:prstGeom>
          <a:noFill/>
        </p:spPr>
        <p:txBody>
          <a:bodyPr wrap="square" rtlCol="0" anchor="t">
            <a:spAutoFit/>
          </a:bodyPr>
          <a:lstStyle/>
          <a:p>
            <a:pPr indent="0" fontAlgn="auto">
              <a:lnSpc>
                <a:spcPct val="200000"/>
              </a:lnSpc>
            </a:pPr>
            <a:r>
              <a:rPr lang="zh-CN" altLang="en-US" sz="1600" dirty="0">
                <a:latin typeface="微软雅黑" panose="020B0503020204020204" charset="-122"/>
                <a:ea typeface="微软雅黑" panose="020B0503020204020204" charset="-122"/>
                <a:cs typeface="微软雅黑" panose="020B0503020204020204" charset="-122"/>
              </a:rPr>
              <a:t>弹性扩容</a:t>
            </a:r>
            <a:r>
              <a:rPr lang="en-US" altLang="zh-CN" sz="1600" dirty="0">
                <a:latin typeface="微软雅黑" panose="020B0503020204020204" charset="-122"/>
                <a:ea typeface="微软雅黑" panose="020B0503020204020204" charset="-122"/>
                <a:cs typeface="微软雅黑" panose="020B0503020204020204" charset="-122"/>
              </a:rPr>
              <a:t>	             </a:t>
            </a:r>
            <a:r>
              <a:rPr lang="zh-CN" altLang="en-US" sz="1600" dirty="0">
                <a:latin typeface="微软雅黑" panose="020B0503020204020204" charset="-122"/>
                <a:ea typeface="微软雅黑" panose="020B0503020204020204" charset="-122"/>
                <a:cs typeface="微软雅黑" panose="020B0503020204020204" charset="-122"/>
              </a:rPr>
              <a:t>扩展节点灵活提升系统容量</a:t>
            </a:r>
          </a:p>
          <a:p>
            <a:pPr indent="0" fontAlgn="auto">
              <a:lnSpc>
                <a:spcPct val="200000"/>
              </a:lnSpc>
            </a:pPr>
            <a:r>
              <a:rPr lang="zh-CN" altLang="en-US" sz="1600" dirty="0">
                <a:latin typeface="微软雅黑" panose="020B0503020204020204" charset="-122"/>
                <a:ea typeface="微软雅黑" panose="020B0503020204020204" charset="-122"/>
                <a:cs typeface="微软雅黑" panose="020B0503020204020204" charset="-122"/>
              </a:rPr>
              <a:t>高容错性</a:t>
            </a:r>
            <a:r>
              <a:rPr lang="en-US" altLang="zh-CN" sz="1600" dirty="0">
                <a:latin typeface="微软雅黑" panose="020B0503020204020204" charset="-122"/>
                <a:ea typeface="微软雅黑" panose="020B0503020204020204" charset="-122"/>
                <a:cs typeface="微软雅黑" panose="020B0503020204020204" charset="-122"/>
              </a:rPr>
              <a:t>		      </a:t>
            </a:r>
            <a:r>
              <a:rPr lang="zh-CN" altLang="en-US" sz="1600" dirty="0">
                <a:latin typeface="微软雅黑" panose="020B0503020204020204" charset="-122"/>
                <a:ea typeface="微软雅黑" panose="020B0503020204020204" charset="-122"/>
                <a:cs typeface="微软雅黑" panose="020B0503020204020204" charset="-122"/>
              </a:rPr>
              <a:t>无单点失效隐患</a:t>
            </a:r>
          </a:p>
          <a:p>
            <a:pPr indent="0" fontAlgn="auto">
              <a:lnSpc>
                <a:spcPct val="200000"/>
              </a:lnSpc>
            </a:pPr>
            <a:r>
              <a:rPr lang="zh-CN" altLang="en-US" sz="1600" dirty="0">
                <a:latin typeface="微软雅黑" panose="020B0503020204020204" charset="-122"/>
                <a:ea typeface="微软雅黑" panose="020B0503020204020204" charset="-122"/>
                <a:cs typeface="微软雅黑" panose="020B0503020204020204" charset="-122"/>
              </a:rPr>
              <a:t>去中心化</a:t>
            </a:r>
            <a:r>
              <a:rPr lang="en-US" altLang="zh-CN" sz="1600" dirty="0">
                <a:latin typeface="微软雅黑" panose="020B0503020204020204" charset="-122"/>
                <a:ea typeface="微软雅黑" panose="020B0503020204020204" charset="-122"/>
                <a:cs typeface="微软雅黑" panose="020B0503020204020204" charset="-122"/>
              </a:rPr>
              <a:t>	               </a:t>
            </a:r>
            <a:r>
              <a:rPr lang="zh-CN" altLang="en-US" sz="1600" dirty="0">
                <a:latin typeface="微软雅黑" panose="020B0503020204020204" charset="-122"/>
                <a:ea typeface="微软雅黑" panose="020B0503020204020204" charset="-122"/>
                <a:cs typeface="微软雅黑" panose="020B0503020204020204" charset="-122"/>
              </a:rPr>
              <a:t>消除中心控制，防止垄断</a:t>
            </a:r>
          </a:p>
        </p:txBody>
      </p:sp>
      <p:sp>
        <p:nvSpPr>
          <p:cNvPr id="59" name="圆角矩形 58"/>
          <p:cNvSpPr/>
          <p:nvPr>
            <p:custDataLst>
              <p:tags r:id="rId12"/>
            </p:custDataLst>
          </p:nvPr>
        </p:nvSpPr>
        <p:spPr>
          <a:xfrm>
            <a:off x="2331085" y="1473835"/>
            <a:ext cx="3047365" cy="4378325"/>
          </a:xfrm>
          <a:prstGeom prst="roundRect">
            <a:avLst/>
          </a:prstGeom>
          <a:solidFill>
            <a:schemeClr val="bg1"/>
          </a:solidFill>
          <a:ln>
            <a:solidFill>
              <a:srgbClr val="0688EC"/>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7" name="组合 46"/>
          <p:cNvGrpSpPr/>
          <p:nvPr/>
        </p:nvGrpSpPr>
        <p:grpSpPr>
          <a:xfrm>
            <a:off x="2606040" y="2215515"/>
            <a:ext cx="2480945" cy="1955800"/>
            <a:chOff x="10538" y="3032"/>
            <a:chExt cx="4654" cy="3668"/>
          </a:xfrm>
        </p:grpSpPr>
        <p:grpSp>
          <p:nvGrpSpPr>
            <p:cNvPr id="31" name="组合 30"/>
            <p:cNvGrpSpPr/>
            <p:nvPr/>
          </p:nvGrpSpPr>
          <p:grpSpPr>
            <a:xfrm>
              <a:off x="10538" y="3032"/>
              <a:ext cx="4654" cy="3669"/>
              <a:chOff x="2868" y="3032"/>
              <a:chExt cx="5224" cy="4118"/>
            </a:xfrm>
          </p:grpSpPr>
          <p:pic>
            <p:nvPicPr>
              <p:cNvPr id="32" name="图片 31" descr="whatisacomputer_pc"/>
              <p:cNvPicPr>
                <a:picLocks noChangeAspect="1"/>
              </p:cNvPicPr>
              <p:nvPr>
                <p:custDataLst>
                  <p:tags r:id="rId16"/>
                </p:custDataLst>
              </p:nvPr>
            </p:nvPicPr>
            <p:blipFill>
              <a:blip r:embed="rId36">
                <a:clrChange>
                  <a:clrFrom>
                    <a:srgbClr val="FFE3CB">
                      <a:alpha val="100000"/>
                    </a:srgbClr>
                  </a:clrFrom>
                  <a:clrTo>
                    <a:srgbClr val="FFE3CB">
                      <a:alpha val="100000"/>
                      <a:alpha val="0"/>
                    </a:srgbClr>
                  </a:clrTo>
                </a:clrChange>
              </a:blip>
              <a:srcRect l="20418" t="24707" r="50115" b="22236"/>
              <a:stretch>
                <a:fillRect/>
              </a:stretch>
            </p:blipFill>
            <p:spPr>
              <a:xfrm>
                <a:off x="2868" y="3032"/>
                <a:ext cx="1439" cy="1458"/>
              </a:xfrm>
              <a:prstGeom prst="rect">
                <a:avLst/>
              </a:prstGeom>
            </p:spPr>
          </p:pic>
          <p:pic>
            <p:nvPicPr>
              <p:cNvPr id="33" name="图片 32" descr="whatisacomputer_pc"/>
              <p:cNvPicPr>
                <a:picLocks noChangeAspect="1"/>
              </p:cNvPicPr>
              <p:nvPr>
                <p:custDataLst>
                  <p:tags r:id="rId17"/>
                </p:custDataLst>
              </p:nvPr>
            </p:nvPicPr>
            <p:blipFill>
              <a:blip r:embed="rId36">
                <a:clrChange>
                  <a:clrFrom>
                    <a:srgbClr val="FFE3CB">
                      <a:alpha val="100000"/>
                    </a:srgbClr>
                  </a:clrFrom>
                  <a:clrTo>
                    <a:srgbClr val="FFE3CB">
                      <a:alpha val="100000"/>
                      <a:alpha val="0"/>
                    </a:srgbClr>
                  </a:clrTo>
                </a:clrChange>
              </a:blip>
              <a:srcRect l="20418" t="24707" r="50115" b="22236"/>
              <a:stretch>
                <a:fillRect/>
              </a:stretch>
            </p:blipFill>
            <p:spPr>
              <a:xfrm>
                <a:off x="6653" y="3032"/>
                <a:ext cx="1439" cy="1458"/>
              </a:xfrm>
              <a:prstGeom prst="rect">
                <a:avLst/>
              </a:prstGeom>
            </p:spPr>
          </p:pic>
          <p:pic>
            <p:nvPicPr>
              <p:cNvPr id="34" name="图片 33" descr="whatisacomputer_pc"/>
              <p:cNvPicPr>
                <a:picLocks noChangeAspect="1"/>
              </p:cNvPicPr>
              <p:nvPr>
                <p:custDataLst>
                  <p:tags r:id="rId18"/>
                </p:custDataLst>
              </p:nvPr>
            </p:nvPicPr>
            <p:blipFill>
              <a:blip r:embed="rId36">
                <a:clrChange>
                  <a:clrFrom>
                    <a:srgbClr val="FFE3CB">
                      <a:alpha val="100000"/>
                    </a:srgbClr>
                  </a:clrFrom>
                  <a:clrTo>
                    <a:srgbClr val="FFE3CB">
                      <a:alpha val="100000"/>
                      <a:alpha val="0"/>
                    </a:srgbClr>
                  </a:clrTo>
                </a:clrChange>
              </a:blip>
              <a:srcRect l="20418" t="24707" r="50115" b="22236"/>
              <a:stretch>
                <a:fillRect/>
              </a:stretch>
            </p:blipFill>
            <p:spPr>
              <a:xfrm>
                <a:off x="2868" y="5692"/>
                <a:ext cx="1439" cy="1458"/>
              </a:xfrm>
              <a:prstGeom prst="rect">
                <a:avLst/>
              </a:prstGeom>
            </p:spPr>
          </p:pic>
          <p:pic>
            <p:nvPicPr>
              <p:cNvPr id="35" name="图片 34" descr="whatisacomputer_pc"/>
              <p:cNvPicPr>
                <a:picLocks noChangeAspect="1"/>
              </p:cNvPicPr>
              <p:nvPr>
                <p:custDataLst>
                  <p:tags r:id="rId19"/>
                </p:custDataLst>
              </p:nvPr>
            </p:nvPicPr>
            <p:blipFill>
              <a:blip r:embed="rId36">
                <a:clrChange>
                  <a:clrFrom>
                    <a:srgbClr val="FFE3CB">
                      <a:alpha val="100000"/>
                    </a:srgbClr>
                  </a:clrFrom>
                  <a:clrTo>
                    <a:srgbClr val="FFE3CB">
                      <a:alpha val="100000"/>
                      <a:alpha val="0"/>
                    </a:srgbClr>
                  </a:clrTo>
                </a:clrChange>
              </a:blip>
              <a:srcRect l="20418" t="24707" r="50115" b="22236"/>
              <a:stretch>
                <a:fillRect/>
              </a:stretch>
            </p:blipFill>
            <p:spPr>
              <a:xfrm>
                <a:off x="6653" y="5692"/>
                <a:ext cx="1439" cy="1458"/>
              </a:xfrm>
              <a:prstGeom prst="rect">
                <a:avLst/>
              </a:prstGeom>
            </p:spPr>
          </p:pic>
          <p:cxnSp>
            <p:nvCxnSpPr>
              <p:cNvPr id="37" name="直接连接符 36"/>
              <p:cNvCxnSpPr>
                <a:stCxn id="35" idx="0"/>
                <a:endCxn id="33" idx="2"/>
              </p:cNvCxnSpPr>
              <p:nvPr>
                <p:custDataLst>
                  <p:tags r:id="rId20"/>
                </p:custDataLst>
              </p:nvPr>
            </p:nvCxnSpPr>
            <p:spPr>
              <a:xfrm flipV="1">
                <a:off x="7373" y="4490"/>
                <a:ext cx="0" cy="1202"/>
              </a:xfrm>
              <a:prstGeom prst="line">
                <a:avLst/>
              </a:prstGeom>
              <a:ln w="22225">
                <a:solidFill>
                  <a:srgbClr val="04579A"/>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34" idx="0"/>
                <a:endCxn id="32" idx="2"/>
              </p:cNvCxnSpPr>
              <p:nvPr>
                <p:custDataLst>
                  <p:tags r:id="rId21"/>
                </p:custDataLst>
              </p:nvPr>
            </p:nvCxnSpPr>
            <p:spPr>
              <a:xfrm flipV="1">
                <a:off x="3588" y="4490"/>
                <a:ext cx="0" cy="1202"/>
              </a:xfrm>
              <a:prstGeom prst="line">
                <a:avLst/>
              </a:prstGeom>
              <a:ln w="22225">
                <a:solidFill>
                  <a:srgbClr val="04579A"/>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a:stCxn id="34" idx="3"/>
                <a:endCxn id="35" idx="1"/>
              </p:cNvCxnSpPr>
              <p:nvPr>
                <p:custDataLst>
                  <p:tags r:id="rId22"/>
                </p:custDataLst>
              </p:nvPr>
            </p:nvCxnSpPr>
            <p:spPr>
              <a:xfrm>
                <a:off x="4307" y="6420"/>
                <a:ext cx="2346" cy="0"/>
              </a:xfrm>
              <a:prstGeom prst="line">
                <a:avLst/>
              </a:prstGeom>
              <a:ln w="22225">
                <a:solidFill>
                  <a:srgbClr val="04579A"/>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a:stCxn id="32" idx="3"/>
                <a:endCxn id="33" idx="1"/>
              </p:cNvCxnSpPr>
              <p:nvPr>
                <p:custDataLst>
                  <p:tags r:id="rId23"/>
                </p:custDataLst>
              </p:nvPr>
            </p:nvCxnSpPr>
            <p:spPr>
              <a:xfrm>
                <a:off x="4307" y="3761"/>
                <a:ext cx="2346" cy="0"/>
              </a:xfrm>
              <a:prstGeom prst="line">
                <a:avLst/>
              </a:prstGeom>
              <a:ln w="22225">
                <a:solidFill>
                  <a:srgbClr val="04579A"/>
                </a:solidFill>
              </a:ln>
            </p:spPr>
            <p:style>
              <a:lnRef idx="1">
                <a:schemeClr val="accent1"/>
              </a:lnRef>
              <a:fillRef idx="0">
                <a:schemeClr val="accent1"/>
              </a:fillRef>
              <a:effectRef idx="0">
                <a:schemeClr val="accent1"/>
              </a:effectRef>
              <a:fontRef idx="minor">
                <a:schemeClr val="tx1"/>
              </a:fontRef>
            </p:style>
          </p:cxnSp>
        </p:grpSp>
        <p:cxnSp>
          <p:nvCxnSpPr>
            <p:cNvPr id="41" name="直接连接符 40"/>
            <p:cNvCxnSpPr/>
            <p:nvPr>
              <p:custDataLst>
                <p:tags r:id="rId14"/>
              </p:custDataLst>
            </p:nvPr>
          </p:nvCxnSpPr>
          <p:spPr>
            <a:xfrm flipV="1">
              <a:off x="11850" y="4097"/>
              <a:ext cx="2115" cy="1380"/>
            </a:xfrm>
            <a:prstGeom prst="line">
              <a:avLst/>
            </a:prstGeom>
            <a:ln w="22225">
              <a:solidFill>
                <a:srgbClr val="04579A"/>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custDataLst>
                <p:tags r:id="rId15"/>
              </p:custDataLst>
            </p:nvPr>
          </p:nvCxnSpPr>
          <p:spPr>
            <a:xfrm flipH="1" flipV="1">
              <a:off x="11820" y="4097"/>
              <a:ext cx="2085" cy="1365"/>
            </a:xfrm>
            <a:prstGeom prst="line">
              <a:avLst/>
            </a:prstGeom>
            <a:ln w="22225">
              <a:solidFill>
                <a:srgbClr val="04579A"/>
              </a:solidFill>
            </a:ln>
          </p:spPr>
          <p:style>
            <a:lnRef idx="1">
              <a:schemeClr val="accent1"/>
            </a:lnRef>
            <a:fillRef idx="0">
              <a:schemeClr val="accent1"/>
            </a:fillRef>
            <a:effectRef idx="0">
              <a:schemeClr val="accent1"/>
            </a:effectRef>
            <a:fontRef idx="minor">
              <a:schemeClr val="tx1"/>
            </a:fontRef>
          </p:style>
        </p:cxnSp>
      </p:grpSp>
      <p:sp>
        <p:nvSpPr>
          <p:cNvPr id="45" name="文本框 44"/>
          <p:cNvSpPr txBox="1"/>
          <p:nvPr>
            <p:custDataLst>
              <p:tags r:id="rId13"/>
            </p:custDataLst>
          </p:nvPr>
        </p:nvSpPr>
        <p:spPr>
          <a:xfrm>
            <a:off x="3107690" y="4812665"/>
            <a:ext cx="1530985" cy="360680"/>
          </a:xfrm>
          <a:prstGeom prst="rect">
            <a:avLst/>
          </a:prstGeom>
          <a:noFill/>
        </p:spPr>
        <p:txBody>
          <a:bodyPr wrap="square" rtlCol="0">
            <a:noAutofit/>
          </a:bodyPr>
          <a:lstStyle/>
          <a:p>
            <a:pPr algn="ctr"/>
            <a:r>
              <a:rPr lang="zh-CN" altLang="en-US" sz="2000" b="1">
                <a:solidFill>
                  <a:srgbClr val="04579A"/>
                </a:solidFill>
              </a:rPr>
              <a:t>分布式系统</a:t>
            </a:r>
          </a:p>
        </p:txBody>
      </p:sp>
      <p:sp>
        <p:nvSpPr>
          <p:cNvPr id="6" name="文本框 5">
            <a:extLst>
              <a:ext uri="{FF2B5EF4-FFF2-40B4-BE49-F238E27FC236}">
                <a16:creationId xmlns:a16="http://schemas.microsoft.com/office/drawing/2014/main" id="{7A7A3780-A59C-75C1-24CD-EC8BEF80AE54}"/>
              </a:ext>
            </a:extLst>
          </p:cNvPr>
          <p:cNvSpPr txBox="1"/>
          <p:nvPr/>
        </p:nvSpPr>
        <p:spPr>
          <a:xfrm>
            <a:off x="11736779" y="6499761"/>
            <a:ext cx="455221" cy="369332"/>
          </a:xfrm>
          <a:prstGeom prst="rect">
            <a:avLst/>
          </a:prstGeom>
          <a:noFill/>
        </p:spPr>
        <p:txBody>
          <a:bodyPr wrap="square" rtlCol="0">
            <a:spAutoFit/>
          </a:bodyPr>
          <a:lstStyle/>
          <a:p>
            <a:pPr algn="ctr"/>
            <a:r>
              <a:rPr lang="en-US" altLang="zh-CN" dirty="0"/>
              <a:t>1</a:t>
            </a:r>
            <a:endParaRPr lang="zh-CN" altLang="en-US" dirty="0"/>
          </a:p>
        </p:txBody>
      </p:sp>
    </p:spTree>
    <p:custDataLst>
      <p:tags r:id="rId1"/>
    </p:custData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56" name="图片 55" descr="20190925003459"/>
          <p:cNvPicPr>
            <a:picLocks noChangeAspect="1"/>
          </p:cNvPicPr>
          <p:nvPr/>
        </p:nvPicPr>
        <p:blipFill>
          <a:blip r:embed="rId22"/>
          <a:srcRect b="1330"/>
          <a:stretch>
            <a:fillRect/>
          </a:stretch>
        </p:blipFill>
        <p:spPr>
          <a:xfrm>
            <a:off x="1270635" y="1303020"/>
            <a:ext cx="3202305" cy="2105660"/>
          </a:xfrm>
          <a:prstGeom prst="rect">
            <a:avLst/>
          </a:prstGeom>
          <a:effectLst>
            <a:outerShdw blurRad="50800" dist="38100" dir="2700000" algn="tl" rotWithShape="0">
              <a:prstClr val="black">
                <a:alpha val="40000"/>
              </a:prstClr>
            </a:outerShdw>
          </a:effectLst>
        </p:spPr>
      </p:pic>
      <p:sp>
        <p:nvSpPr>
          <p:cNvPr id="59" name="文本框 58"/>
          <p:cNvSpPr txBox="1"/>
          <p:nvPr/>
        </p:nvSpPr>
        <p:spPr>
          <a:xfrm>
            <a:off x="1972946" y="4275455"/>
            <a:ext cx="4349694" cy="2058128"/>
          </a:xfrm>
          <a:prstGeom prst="rect">
            <a:avLst/>
          </a:prstGeom>
          <a:noFill/>
        </p:spPr>
        <p:txBody>
          <a:bodyPr wrap="square" rtlCol="0" anchor="t">
            <a:spAutoFit/>
          </a:bodyPr>
          <a:lstStyle/>
          <a:p>
            <a:pPr indent="0" fontAlgn="auto">
              <a:lnSpc>
                <a:spcPct val="120000"/>
              </a:lnSpc>
            </a:pPr>
            <a:r>
              <a:rPr lang="zh-CN" altLang="en-US" b="1" dirty="0">
                <a:solidFill>
                  <a:srgbClr val="04579A"/>
                </a:solidFill>
              </a:rPr>
              <a:t>公开可验证</a:t>
            </a:r>
            <a:endParaRPr lang="en-US" altLang="zh-CN" b="1" dirty="0">
              <a:solidFill>
                <a:srgbClr val="04579A"/>
              </a:solidFill>
            </a:endParaRPr>
          </a:p>
          <a:p>
            <a:pPr indent="0" fontAlgn="auto">
              <a:lnSpc>
                <a:spcPct val="120000"/>
              </a:lnSpc>
            </a:pPr>
            <a:r>
              <a:rPr lang="zh-CN" altLang="en-US" dirty="0"/>
              <a:t>维护全局统一的线性有序交易记录</a:t>
            </a:r>
            <a:endParaRPr lang="en-US" altLang="zh-CN" dirty="0"/>
          </a:p>
          <a:p>
            <a:pPr indent="0" fontAlgn="auto">
              <a:lnSpc>
                <a:spcPct val="120000"/>
              </a:lnSpc>
            </a:pPr>
            <a:r>
              <a:rPr lang="zh-CN" altLang="en-US" b="1" dirty="0">
                <a:solidFill>
                  <a:srgbClr val="04579A"/>
                </a:solidFill>
              </a:rPr>
              <a:t>不可篡改</a:t>
            </a:r>
            <a:endParaRPr lang="en-US" altLang="zh-CN" b="1" dirty="0">
              <a:solidFill>
                <a:srgbClr val="04579A"/>
              </a:solidFill>
            </a:endParaRPr>
          </a:p>
          <a:p>
            <a:pPr indent="0" fontAlgn="auto">
              <a:lnSpc>
                <a:spcPct val="120000"/>
              </a:lnSpc>
            </a:pPr>
            <a:r>
              <a:rPr lang="zh-CN" altLang="en-US" dirty="0"/>
              <a:t>区块间存在链接结构，一旦篡改即失效</a:t>
            </a:r>
            <a:endParaRPr lang="en-US" altLang="zh-CN" dirty="0"/>
          </a:p>
          <a:p>
            <a:pPr>
              <a:lnSpc>
                <a:spcPct val="120000"/>
              </a:lnSpc>
            </a:pPr>
            <a:r>
              <a:rPr lang="zh-CN" altLang="en-US" b="1" dirty="0">
                <a:solidFill>
                  <a:srgbClr val="04579A"/>
                </a:solidFill>
              </a:rPr>
              <a:t>去中心化</a:t>
            </a:r>
            <a:endParaRPr lang="en-US" altLang="zh-CN" b="1" dirty="0">
              <a:solidFill>
                <a:srgbClr val="04579A"/>
              </a:solidFill>
            </a:endParaRPr>
          </a:p>
          <a:p>
            <a:pPr indent="0" fontAlgn="auto">
              <a:lnSpc>
                <a:spcPct val="120000"/>
              </a:lnSpc>
            </a:pPr>
            <a:r>
              <a:rPr lang="zh-CN" altLang="en-US" dirty="0"/>
              <a:t>独立验证节点构成的点对点网络共同维护</a:t>
            </a:r>
          </a:p>
        </p:txBody>
      </p:sp>
      <p:sp>
        <p:nvSpPr>
          <p:cNvPr id="4" name="矩形 3"/>
          <p:cNvSpPr/>
          <p:nvPr>
            <p:custDataLst>
              <p:tags r:id="rId2"/>
            </p:custDataLst>
          </p:nvPr>
        </p:nvSpPr>
        <p:spPr>
          <a:xfrm>
            <a:off x="3871595" y="-635"/>
            <a:ext cx="199072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custDataLst>
              <p:tags r:id="rId3"/>
            </p:custDataLst>
          </p:nvPr>
        </p:nvSpPr>
        <p:spPr>
          <a:xfrm>
            <a:off x="5862320" y="-635"/>
            <a:ext cx="311594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664970" y="-635"/>
            <a:ext cx="2206625" cy="721995"/>
          </a:xfrm>
          <a:prstGeom prst="rect">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4"/>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p>
        </p:txBody>
      </p:sp>
      <p:pic>
        <p:nvPicPr>
          <p:cNvPr id="21" name="Picture 2" descr="C:\Program Files\Apache Software Foundation\Tomcat 6.0\webapps\topo1\images\sklois1 (2).jpg"/>
          <p:cNvPicPr>
            <a:picLocks noChangeAspect="1" noChangeArrowheads="1"/>
          </p:cNvPicPr>
          <p:nvPr>
            <p:custDataLst>
              <p:tags r:id="rId5"/>
            </p:custDataLst>
          </p:nvPr>
        </p:nvPicPr>
        <p:blipFill>
          <a:blip r:embed="rId23"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 name="等腰三角形 14"/>
          <p:cNvSpPr/>
          <p:nvPr>
            <p:custDataLst>
              <p:tags r:id="rId6"/>
            </p:custDataLst>
          </p:nvPr>
        </p:nvSpPr>
        <p:spPr>
          <a:xfrm rot="10800000">
            <a:off x="2622550" y="721360"/>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4876165" y="1795145"/>
            <a:ext cx="6195695" cy="1753235"/>
          </a:xfrm>
          <a:prstGeom prst="rect">
            <a:avLst/>
          </a:prstGeom>
          <a:noFill/>
        </p:spPr>
        <p:txBody>
          <a:bodyPr wrap="square" rtlCol="0" anchor="t">
            <a:spAutoFit/>
          </a:bodyPr>
          <a:lstStyle/>
          <a:p>
            <a:pPr marL="285750" indent="-285750" fontAlgn="auto">
              <a:lnSpc>
                <a:spcPct val="150000"/>
              </a:lnSpc>
              <a:buFont typeface="Arial" panose="020B0604020202020204" pitchFamily="34" charset="0"/>
              <a:buChar char="•"/>
            </a:pPr>
            <a:r>
              <a:rPr lang="zh-CN" altLang="en-US" dirty="0"/>
              <a:t>持续增长，线性排序的交易日志</a:t>
            </a:r>
          </a:p>
          <a:p>
            <a:pPr marL="285750" indent="-285750" fontAlgn="auto">
              <a:lnSpc>
                <a:spcPct val="150000"/>
              </a:lnSpc>
              <a:buFont typeface="Arial" panose="020B0604020202020204" pitchFamily="34" charset="0"/>
              <a:buChar char="•"/>
            </a:pPr>
            <a:r>
              <a:rPr lang="zh-CN" altLang="en-US" dirty="0">
                <a:sym typeface="+mn-ea"/>
              </a:rPr>
              <a:t>基于工作量证明 (Proof</a:t>
            </a:r>
            <a:r>
              <a:rPr lang="en-US" altLang="zh-CN" dirty="0">
                <a:sym typeface="+mn-ea"/>
              </a:rPr>
              <a:t> </a:t>
            </a:r>
            <a:r>
              <a:rPr lang="zh-CN" altLang="en-US" dirty="0">
                <a:sym typeface="+mn-ea"/>
              </a:rPr>
              <a:t>of Work, PoW) 的共识机制</a:t>
            </a:r>
            <a:endParaRPr lang="zh-CN" altLang="en-US" dirty="0"/>
          </a:p>
          <a:p>
            <a:pPr marL="285750" indent="-285750" fontAlgn="auto">
              <a:lnSpc>
                <a:spcPct val="150000"/>
              </a:lnSpc>
              <a:buFont typeface="Arial" panose="020B0604020202020204" pitchFamily="34" charset="0"/>
              <a:buChar char="•"/>
            </a:pPr>
            <a:r>
              <a:rPr lang="zh-CN" altLang="en-US" dirty="0"/>
              <a:t>允许任何节点随时自由地加入系统</a:t>
            </a:r>
          </a:p>
          <a:p>
            <a:pPr marL="285750" indent="-285750" fontAlgn="auto">
              <a:lnSpc>
                <a:spcPct val="150000"/>
              </a:lnSpc>
              <a:buFont typeface="Arial" panose="020B0604020202020204" pitchFamily="34" charset="0"/>
              <a:buChar char="•"/>
            </a:pPr>
            <a:endParaRPr lang="zh-CN" altLang="en-US" dirty="0"/>
          </a:p>
        </p:txBody>
      </p:sp>
      <p:sp>
        <p:nvSpPr>
          <p:cNvPr id="11" name="文本框 10"/>
          <p:cNvSpPr txBox="1"/>
          <p:nvPr/>
        </p:nvSpPr>
        <p:spPr>
          <a:xfrm>
            <a:off x="4811395" y="1176020"/>
            <a:ext cx="5779135" cy="460375"/>
          </a:xfrm>
          <a:prstGeom prst="rect">
            <a:avLst/>
          </a:prstGeom>
          <a:noFill/>
        </p:spPr>
        <p:txBody>
          <a:bodyPr wrap="square" rtlCol="0" anchor="t">
            <a:spAutoFit/>
          </a:bodyPr>
          <a:lstStyle/>
          <a:p>
            <a:r>
              <a:rPr lang="zh-CN" altLang="en-US" sz="2400" b="1" dirty="0">
                <a:solidFill>
                  <a:srgbClr val="04579A"/>
                </a:solidFill>
              </a:rPr>
              <a:t>2008 年，比特币在全球范围内获得成功</a:t>
            </a:r>
          </a:p>
        </p:txBody>
      </p:sp>
      <p:grpSp>
        <p:nvGrpSpPr>
          <p:cNvPr id="50" name="组合 49"/>
          <p:cNvGrpSpPr/>
          <p:nvPr/>
        </p:nvGrpSpPr>
        <p:grpSpPr>
          <a:xfrm>
            <a:off x="7260563" y="4575862"/>
            <a:ext cx="3989742" cy="295761"/>
            <a:chOff x="2147" y="7509"/>
            <a:chExt cx="5937" cy="440"/>
          </a:xfrm>
        </p:grpSpPr>
        <p:sp>
          <p:nvSpPr>
            <p:cNvPr id="7" name="矩形 6"/>
            <p:cNvSpPr/>
            <p:nvPr>
              <p:custDataLst>
                <p:tags r:id="rId7"/>
              </p:custDataLst>
            </p:nvPr>
          </p:nvSpPr>
          <p:spPr>
            <a:xfrm>
              <a:off x="2147" y="7509"/>
              <a:ext cx="727" cy="440"/>
            </a:xfrm>
            <a:prstGeom prst="rect">
              <a:avLst/>
            </a:prstGeom>
            <a:solidFill>
              <a:srgbClr val="04579A"/>
            </a:solidFill>
            <a:ln w="25400">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custDataLst>
                <p:tags r:id="rId8"/>
              </p:custDataLst>
            </p:nvPr>
          </p:nvSpPr>
          <p:spPr>
            <a:xfrm>
              <a:off x="3015" y="7509"/>
              <a:ext cx="727" cy="440"/>
            </a:xfrm>
            <a:prstGeom prst="rect">
              <a:avLst/>
            </a:prstGeom>
            <a:solidFill>
              <a:srgbClr val="04579A"/>
            </a:solidFill>
            <a:ln w="25400">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custDataLst>
                <p:tags r:id="rId9"/>
              </p:custDataLst>
            </p:nvPr>
          </p:nvSpPr>
          <p:spPr>
            <a:xfrm>
              <a:off x="3882" y="7509"/>
              <a:ext cx="727" cy="440"/>
            </a:xfrm>
            <a:prstGeom prst="rect">
              <a:avLst/>
            </a:prstGeom>
            <a:solidFill>
              <a:srgbClr val="04579A"/>
            </a:solidFill>
            <a:ln w="25400">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custDataLst>
                <p:tags r:id="rId10"/>
              </p:custDataLst>
            </p:nvPr>
          </p:nvSpPr>
          <p:spPr>
            <a:xfrm>
              <a:off x="4750" y="7509"/>
              <a:ext cx="727" cy="440"/>
            </a:xfrm>
            <a:prstGeom prst="rect">
              <a:avLst/>
            </a:prstGeom>
            <a:solidFill>
              <a:srgbClr val="04579A"/>
            </a:solidFill>
            <a:ln w="25400">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custDataLst>
                <p:tags r:id="rId11"/>
              </p:custDataLst>
            </p:nvPr>
          </p:nvSpPr>
          <p:spPr>
            <a:xfrm>
              <a:off x="5618" y="7509"/>
              <a:ext cx="727" cy="440"/>
            </a:xfrm>
            <a:prstGeom prst="rect">
              <a:avLst/>
            </a:prstGeom>
            <a:solidFill>
              <a:srgbClr val="04579A"/>
            </a:solidFill>
            <a:ln w="25400">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7" name="直接连接符 36"/>
            <p:cNvCxnSpPr>
              <a:stCxn id="12" idx="1"/>
              <a:endCxn id="7" idx="3"/>
            </p:cNvCxnSpPr>
            <p:nvPr>
              <p:custDataLst>
                <p:tags r:id="rId12"/>
              </p:custDataLst>
            </p:nvPr>
          </p:nvCxnSpPr>
          <p:spPr>
            <a:xfrm flipH="1">
              <a:off x="2874" y="7729"/>
              <a:ext cx="14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13" idx="1"/>
              <a:endCxn id="12" idx="3"/>
            </p:cNvCxnSpPr>
            <p:nvPr>
              <p:custDataLst>
                <p:tags r:id="rId13"/>
              </p:custDataLst>
            </p:nvPr>
          </p:nvCxnSpPr>
          <p:spPr>
            <a:xfrm flipH="1">
              <a:off x="3742" y="7729"/>
              <a:ext cx="14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直接连接符 38"/>
            <p:cNvCxnSpPr>
              <a:stCxn id="14" idx="1"/>
              <a:endCxn id="13" idx="3"/>
            </p:cNvCxnSpPr>
            <p:nvPr>
              <p:custDataLst>
                <p:tags r:id="rId14"/>
              </p:custDataLst>
            </p:nvPr>
          </p:nvCxnSpPr>
          <p:spPr>
            <a:xfrm flipH="1">
              <a:off x="4610" y="7729"/>
              <a:ext cx="14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直接连接符 39"/>
            <p:cNvCxnSpPr>
              <a:stCxn id="16" idx="1"/>
              <a:endCxn id="14" idx="3"/>
            </p:cNvCxnSpPr>
            <p:nvPr>
              <p:custDataLst>
                <p:tags r:id="rId15"/>
              </p:custDataLst>
            </p:nvPr>
          </p:nvCxnSpPr>
          <p:spPr>
            <a:xfrm flipH="1">
              <a:off x="5478" y="7729"/>
              <a:ext cx="140" cy="0"/>
            </a:xfrm>
            <a:prstGeom prst="line">
              <a:avLst/>
            </a:prstGeom>
          </p:spPr>
          <p:style>
            <a:lnRef idx="1">
              <a:schemeClr val="accent1"/>
            </a:lnRef>
            <a:fillRef idx="0">
              <a:schemeClr val="accent1"/>
            </a:fillRef>
            <a:effectRef idx="0">
              <a:schemeClr val="accent1"/>
            </a:effectRef>
            <a:fontRef idx="minor">
              <a:schemeClr val="tx1"/>
            </a:fontRef>
          </p:style>
        </p:cxnSp>
        <p:sp>
          <p:nvSpPr>
            <p:cNvPr id="44" name="矩形 43"/>
            <p:cNvSpPr/>
            <p:nvPr>
              <p:custDataLst>
                <p:tags r:id="rId16"/>
              </p:custDataLst>
            </p:nvPr>
          </p:nvSpPr>
          <p:spPr>
            <a:xfrm>
              <a:off x="6487" y="7509"/>
              <a:ext cx="727" cy="440"/>
            </a:xfrm>
            <a:prstGeom prst="rect">
              <a:avLst/>
            </a:prstGeom>
            <a:solidFill>
              <a:srgbClr val="04579A"/>
            </a:solidFill>
            <a:ln w="25400">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5" name="直接连接符 44"/>
            <p:cNvCxnSpPr>
              <a:stCxn id="44" idx="1"/>
            </p:cNvCxnSpPr>
            <p:nvPr>
              <p:custDataLst>
                <p:tags r:id="rId17"/>
              </p:custDataLst>
            </p:nvPr>
          </p:nvCxnSpPr>
          <p:spPr>
            <a:xfrm flipH="1">
              <a:off x="6347" y="7729"/>
              <a:ext cx="140" cy="0"/>
            </a:xfrm>
            <a:prstGeom prst="line">
              <a:avLst/>
            </a:prstGeom>
          </p:spPr>
          <p:style>
            <a:lnRef idx="1">
              <a:schemeClr val="accent1"/>
            </a:lnRef>
            <a:fillRef idx="0">
              <a:schemeClr val="accent1"/>
            </a:fillRef>
            <a:effectRef idx="0">
              <a:schemeClr val="accent1"/>
            </a:effectRef>
            <a:fontRef idx="minor">
              <a:schemeClr val="tx1"/>
            </a:fontRef>
          </p:style>
        </p:cxnSp>
        <p:sp>
          <p:nvSpPr>
            <p:cNvPr id="46" name="矩形 45"/>
            <p:cNvSpPr/>
            <p:nvPr>
              <p:custDataLst>
                <p:tags r:id="rId18"/>
              </p:custDataLst>
            </p:nvPr>
          </p:nvSpPr>
          <p:spPr>
            <a:xfrm>
              <a:off x="7357" y="7509"/>
              <a:ext cx="727" cy="440"/>
            </a:xfrm>
            <a:prstGeom prst="rect">
              <a:avLst/>
            </a:prstGeom>
            <a:solidFill>
              <a:srgbClr val="04579A"/>
            </a:solidFill>
            <a:ln w="25400">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7" name="直接连接符 46"/>
            <p:cNvCxnSpPr>
              <a:stCxn id="46" idx="1"/>
            </p:cNvCxnSpPr>
            <p:nvPr>
              <p:custDataLst>
                <p:tags r:id="rId19"/>
              </p:custDataLst>
            </p:nvPr>
          </p:nvCxnSpPr>
          <p:spPr>
            <a:xfrm flipH="1">
              <a:off x="7217" y="7729"/>
              <a:ext cx="140"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57" name="直接连接符 56"/>
          <p:cNvCxnSpPr/>
          <p:nvPr/>
        </p:nvCxnSpPr>
        <p:spPr>
          <a:xfrm>
            <a:off x="444500" y="3756025"/>
            <a:ext cx="11277600" cy="0"/>
          </a:xfrm>
          <a:prstGeom prst="line">
            <a:avLst/>
          </a:prstGeom>
          <a:ln>
            <a:solidFill>
              <a:schemeClr val="bg1">
                <a:lumMod val="50000"/>
                <a:alpha val="54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2" name="文本框 51"/>
          <p:cNvSpPr txBox="1"/>
          <p:nvPr/>
        </p:nvSpPr>
        <p:spPr>
          <a:xfrm>
            <a:off x="434340" y="4822825"/>
            <a:ext cx="1402715" cy="509905"/>
          </a:xfrm>
          <a:prstGeom prst="roundRect">
            <a:avLst/>
          </a:prstGeom>
          <a:solidFill>
            <a:srgbClr val="04579A"/>
          </a:solid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zh-CN" altLang="en-US" sz="2400" b="1" dirty="0">
                <a:solidFill>
                  <a:schemeClr val="bg1"/>
                </a:solidFill>
              </a:rPr>
              <a:t>性质</a:t>
            </a:r>
          </a:p>
        </p:txBody>
      </p:sp>
      <p:sp>
        <p:nvSpPr>
          <p:cNvPr id="55" name="右箭头 54"/>
          <p:cNvSpPr/>
          <p:nvPr/>
        </p:nvSpPr>
        <p:spPr>
          <a:xfrm>
            <a:off x="6436995" y="4792345"/>
            <a:ext cx="431800" cy="584200"/>
          </a:xfrm>
          <a:prstGeom prst="rightArrow">
            <a:avLst/>
          </a:prstGeom>
          <a:noFill/>
          <a:ln w="22225">
            <a:solidFill>
              <a:srgbClr val="04579A"/>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p:cNvSpPr txBox="1"/>
          <p:nvPr/>
        </p:nvSpPr>
        <p:spPr>
          <a:xfrm>
            <a:off x="434340" y="4454525"/>
            <a:ext cx="1402715" cy="398780"/>
          </a:xfrm>
          <a:prstGeom prst="rect">
            <a:avLst/>
          </a:prstGeom>
          <a:noFill/>
        </p:spPr>
        <p:txBody>
          <a:bodyPr wrap="square" rtlCol="0" anchor="t">
            <a:spAutoFit/>
          </a:bodyPr>
          <a:lstStyle/>
          <a:p>
            <a:pPr algn="ctr"/>
            <a:r>
              <a:rPr lang="zh-CN" altLang="en-US" sz="2000" b="1">
                <a:solidFill>
                  <a:srgbClr val="04579A"/>
                </a:solidFill>
                <a:sym typeface="+mn-ea"/>
              </a:rPr>
              <a:t>区块链</a:t>
            </a:r>
          </a:p>
        </p:txBody>
      </p:sp>
      <p:cxnSp>
        <p:nvCxnSpPr>
          <p:cNvPr id="98" name="直接连接符 97"/>
          <p:cNvCxnSpPr/>
          <p:nvPr/>
        </p:nvCxnSpPr>
        <p:spPr>
          <a:xfrm flipV="1">
            <a:off x="1270635" y="1164590"/>
            <a:ext cx="5715" cy="2512060"/>
          </a:xfrm>
          <a:prstGeom prst="line">
            <a:avLst/>
          </a:prstGeom>
          <a:ln w="12700">
            <a:solidFill>
              <a:schemeClr val="bg1">
                <a:lumMod val="50000"/>
              </a:schemeClr>
            </a:solidFill>
          </a:ln>
          <a:effectLst>
            <a:glow rad="63500">
              <a:schemeClr val="bg1">
                <a:lumMod val="95000"/>
                <a:alpha val="40000"/>
              </a:schemeClr>
            </a:glow>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6" name="椭圆 5"/>
          <p:cNvSpPr/>
          <p:nvPr/>
        </p:nvSpPr>
        <p:spPr>
          <a:xfrm>
            <a:off x="1189990" y="3676650"/>
            <a:ext cx="160655" cy="160655"/>
          </a:xfrm>
          <a:prstGeom prst="ellipse">
            <a:avLst/>
          </a:prstGeom>
          <a:solidFill>
            <a:srgbClr val="00B0F0"/>
          </a:solidFill>
          <a:ln>
            <a:noFill/>
          </a:ln>
          <a:effectLst>
            <a:glow rad="63500">
              <a:srgbClr val="93F0F3">
                <a:alpha val="53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箭头连接符 16">
            <a:extLst>
              <a:ext uri="{FF2B5EF4-FFF2-40B4-BE49-F238E27FC236}">
                <a16:creationId xmlns:a16="http://schemas.microsoft.com/office/drawing/2014/main" id="{4A3E20EF-FA85-0580-4F52-17A34DB8C069}"/>
              </a:ext>
            </a:extLst>
          </p:cNvPr>
          <p:cNvCxnSpPr>
            <a:stCxn id="14" idx="2"/>
          </p:cNvCxnSpPr>
          <p:nvPr/>
        </p:nvCxnSpPr>
        <p:spPr>
          <a:xfrm>
            <a:off x="9254090" y="4871623"/>
            <a:ext cx="0" cy="3338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26" name="组合 25">
            <a:extLst>
              <a:ext uri="{FF2B5EF4-FFF2-40B4-BE49-F238E27FC236}">
                <a16:creationId xmlns:a16="http://schemas.microsoft.com/office/drawing/2014/main" id="{B8F851E8-7D32-9790-57AE-210F859167F0}"/>
              </a:ext>
            </a:extLst>
          </p:cNvPr>
          <p:cNvGrpSpPr/>
          <p:nvPr/>
        </p:nvGrpSpPr>
        <p:grpSpPr>
          <a:xfrm>
            <a:off x="7245648" y="5167384"/>
            <a:ext cx="4057352" cy="1166199"/>
            <a:chOff x="7260578" y="4917926"/>
            <a:chExt cx="4057352" cy="1166199"/>
          </a:xfrm>
        </p:grpSpPr>
        <p:sp>
          <p:nvSpPr>
            <p:cNvPr id="24" name="矩形: 圆角 23">
              <a:extLst>
                <a:ext uri="{FF2B5EF4-FFF2-40B4-BE49-F238E27FC236}">
                  <a16:creationId xmlns:a16="http://schemas.microsoft.com/office/drawing/2014/main" id="{1F15E457-6E35-7894-B7F4-67500686273F}"/>
                </a:ext>
              </a:extLst>
            </p:cNvPr>
            <p:cNvSpPr/>
            <p:nvPr/>
          </p:nvSpPr>
          <p:spPr>
            <a:xfrm>
              <a:off x="7764047" y="4955969"/>
              <a:ext cx="3050415" cy="1128156"/>
            </a:xfrm>
            <a:prstGeom prst="roundRect">
              <a:avLst/>
            </a:prstGeom>
            <a:solidFill>
              <a:schemeClr val="tx2">
                <a:lumMod val="50000"/>
                <a:lumOff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4ADBDE5A-1003-02A3-C75D-0F9B9628C5BF}"/>
                </a:ext>
              </a:extLst>
            </p:cNvPr>
            <p:cNvSpPr txBox="1"/>
            <p:nvPr/>
          </p:nvSpPr>
          <p:spPr>
            <a:xfrm>
              <a:off x="7260578" y="4917926"/>
              <a:ext cx="4057352" cy="1156407"/>
            </a:xfrm>
            <a:prstGeom prst="rect">
              <a:avLst/>
            </a:prstGeom>
            <a:noFill/>
          </p:spPr>
          <p:txBody>
            <a:bodyPr wrap="square" rtlCol="0">
              <a:spAutoFit/>
            </a:bodyPr>
            <a:lstStyle/>
            <a:p>
              <a:pPr algn="ctr">
                <a:lnSpc>
                  <a:spcPct val="150000"/>
                </a:lnSpc>
              </a:pPr>
              <a:r>
                <a:rPr lang="zh-CN" altLang="en-US" sz="1600" b="1" dirty="0">
                  <a:solidFill>
                    <a:schemeClr val="bg1"/>
                  </a:solidFill>
                </a:rPr>
                <a:t>数据所有权的透明性和可追溯性</a:t>
              </a:r>
              <a:endParaRPr lang="en-US" altLang="zh-CN" sz="1600" b="1" dirty="0">
                <a:solidFill>
                  <a:schemeClr val="bg1"/>
                </a:solidFill>
              </a:endParaRPr>
            </a:p>
            <a:p>
              <a:pPr algn="ctr">
                <a:lnSpc>
                  <a:spcPct val="150000"/>
                </a:lnSpc>
              </a:pPr>
              <a:r>
                <a:rPr lang="zh-CN" altLang="en-US" sz="1600" b="1" dirty="0">
                  <a:solidFill>
                    <a:schemeClr val="bg1"/>
                  </a:solidFill>
                </a:rPr>
                <a:t>数据的完整性和可用性</a:t>
              </a:r>
              <a:endParaRPr lang="en-US" altLang="zh-CN" sz="1600" b="1" dirty="0">
                <a:solidFill>
                  <a:schemeClr val="bg1"/>
                </a:solidFill>
              </a:endParaRPr>
            </a:p>
            <a:p>
              <a:pPr algn="ctr">
                <a:lnSpc>
                  <a:spcPct val="150000"/>
                </a:lnSpc>
              </a:pPr>
              <a:r>
                <a:rPr lang="zh-CN" altLang="en-US" sz="1600" b="1" dirty="0">
                  <a:solidFill>
                    <a:schemeClr val="bg1"/>
                  </a:solidFill>
                </a:rPr>
                <a:t>数据存储的鲁棒性</a:t>
              </a:r>
            </a:p>
          </p:txBody>
        </p:sp>
      </p:grpSp>
      <p:sp>
        <p:nvSpPr>
          <p:cNvPr id="27" name="文本框 26">
            <a:extLst>
              <a:ext uri="{FF2B5EF4-FFF2-40B4-BE49-F238E27FC236}">
                <a16:creationId xmlns:a16="http://schemas.microsoft.com/office/drawing/2014/main" id="{BEF1F21D-E129-6255-EF03-DA9CF24C3BBE}"/>
              </a:ext>
            </a:extLst>
          </p:cNvPr>
          <p:cNvSpPr txBox="1"/>
          <p:nvPr/>
        </p:nvSpPr>
        <p:spPr>
          <a:xfrm>
            <a:off x="6364522" y="3854832"/>
            <a:ext cx="5779135" cy="460375"/>
          </a:xfrm>
          <a:prstGeom prst="rect">
            <a:avLst/>
          </a:prstGeom>
          <a:noFill/>
        </p:spPr>
        <p:txBody>
          <a:bodyPr wrap="square" rtlCol="0" anchor="t">
            <a:spAutoFit/>
          </a:bodyPr>
          <a:lstStyle/>
          <a:p>
            <a:pPr algn="ctr"/>
            <a:r>
              <a:rPr lang="zh-CN" altLang="en-US" sz="2400" b="1" dirty="0">
                <a:solidFill>
                  <a:srgbClr val="04579A"/>
                </a:solidFill>
              </a:rPr>
              <a:t>数据确权</a:t>
            </a:r>
          </a:p>
        </p:txBody>
      </p:sp>
      <p:sp>
        <p:nvSpPr>
          <p:cNvPr id="8" name="文本框 7">
            <a:extLst>
              <a:ext uri="{FF2B5EF4-FFF2-40B4-BE49-F238E27FC236}">
                <a16:creationId xmlns:a16="http://schemas.microsoft.com/office/drawing/2014/main" id="{0BF4C988-B2BF-35FA-493F-673DF3E9D4CE}"/>
              </a:ext>
            </a:extLst>
          </p:cNvPr>
          <p:cNvSpPr txBox="1"/>
          <p:nvPr/>
        </p:nvSpPr>
        <p:spPr>
          <a:xfrm>
            <a:off x="11736779" y="6499761"/>
            <a:ext cx="455221" cy="369332"/>
          </a:xfrm>
          <a:prstGeom prst="rect">
            <a:avLst/>
          </a:prstGeom>
          <a:noFill/>
        </p:spPr>
        <p:txBody>
          <a:bodyPr wrap="square" rtlCol="0">
            <a:spAutoFit/>
          </a:bodyPr>
          <a:lstStyle/>
          <a:p>
            <a:pPr algn="ctr"/>
            <a:r>
              <a:rPr lang="en-US" altLang="zh-CN" dirty="0"/>
              <a:t>2</a:t>
            </a:r>
            <a:endParaRPr lang="zh-CN" altLang="en-US" dirty="0"/>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wipe(left)">
                                      <p:cBhvr>
                                        <p:cTn id="7" dur="500"/>
                                        <p:tgtEl>
                                          <p:spTgt spid="57"/>
                                        </p:tgtEl>
                                      </p:cBhvr>
                                    </p:animEffect>
                                  </p:childTnLst>
                                </p:cTn>
                              </p:par>
                            </p:childTnLst>
                          </p:cTn>
                        </p:par>
                        <p:par>
                          <p:cTn id="8" fill="hold">
                            <p:stCondLst>
                              <p:cond delay="500"/>
                            </p:stCondLst>
                            <p:childTnLst>
                              <p:par>
                                <p:cTn id="9" presetID="10" presetClass="entr" presetSubtype="0" fill="hold" grpId="2" nodeType="afterEffect">
                                  <p:stCondLst>
                                    <p:cond delay="0"/>
                                  </p:stCondLst>
                                  <p:childTnLst>
                                    <p:set>
                                      <p:cBhvr>
                                        <p:cTn id="10" dur="250" fill="hold">
                                          <p:stCondLst>
                                            <p:cond delay="0"/>
                                          </p:stCondLst>
                                        </p:cTn>
                                        <p:tgtEl>
                                          <p:spTgt spid="6"/>
                                        </p:tgtEl>
                                        <p:attrNameLst>
                                          <p:attrName>style.visibility</p:attrName>
                                        </p:attrNameLst>
                                      </p:cBhvr>
                                      <p:to>
                                        <p:strVal val="visible"/>
                                      </p:to>
                                    </p:set>
                                    <p:animEffect transition="in" filter="fade">
                                      <p:cBhvr>
                                        <p:cTn id="11" dur="250"/>
                                        <p:tgtEl>
                                          <p:spTgt spid="6"/>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250" fill="hold">
                                          <p:stCondLst>
                                            <p:cond delay="0"/>
                                          </p:stCondLst>
                                        </p:cTn>
                                        <p:tgtEl>
                                          <p:spTgt spid="98"/>
                                        </p:tgtEl>
                                        <p:attrNameLst>
                                          <p:attrName>style.visibility</p:attrName>
                                        </p:attrNameLst>
                                      </p:cBhvr>
                                      <p:to>
                                        <p:strVal val="visible"/>
                                      </p:to>
                                    </p:set>
                                    <p:animEffect transition="in" filter="wipe(down)">
                                      <p:cBhvr>
                                        <p:cTn id="15" dur="250"/>
                                        <p:tgtEl>
                                          <p:spTgt spid="98"/>
                                        </p:tgtEl>
                                      </p:cBhvr>
                                    </p:animEffect>
                                  </p:childTnLst>
                                </p:cTn>
                              </p:par>
                            </p:childTnLst>
                          </p:cTn>
                        </p:par>
                        <p:par>
                          <p:cTn id="16" fill="hold">
                            <p:stCondLst>
                              <p:cond delay="1250"/>
                            </p:stCondLst>
                            <p:childTnLst>
                              <p:par>
                                <p:cTn id="17" presetID="22" presetClass="entr" presetSubtype="8" fill="hold" nodeType="afterEffect">
                                  <p:stCondLst>
                                    <p:cond delay="0"/>
                                  </p:stCondLst>
                                  <p:childTnLst>
                                    <p:set>
                                      <p:cBhvr>
                                        <p:cTn id="18" dur="250" fill="hold">
                                          <p:stCondLst>
                                            <p:cond delay="0"/>
                                          </p:stCondLst>
                                        </p:cTn>
                                        <p:tgtEl>
                                          <p:spTgt spid="56"/>
                                        </p:tgtEl>
                                        <p:attrNameLst>
                                          <p:attrName>style.visibility</p:attrName>
                                        </p:attrNameLst>
                                      </p:cBhvr>
                                      <p:to>
                                        <p:strVal val="visible"/>
                                      </p:to>
                                    </p:set>
                                    <p:animEffect transition="in" filter="wipe(left)">
                                      <p:cBhvr>
                                        <p:cTn id="19" dur="250"/>
                                        <p:tgtEl>
                                          <p:spTgt spid="56"/>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2" nodeType="clickEffect">
                                  <p:stCondLst>
                                    <p:cond delay="0"/>
                                  </p:stCondLst>
                                  <p:childTnLst>
                                    <p:set>
                                      <p:cBhvr>
                                        <p:cTn id="23" dur="1" fill="hold">
                                          <p:stCondLst>
                                            <p:cond delay="0"/>
                                          </p:stCondLst>
                                        </p:cTn>
                                        <p:tgtEl>
                                          <p:spTgt spid="59"/>
                                        </p:tgtEl>
                                        <p:attrNameLst>
                                          <p:attrName>style.visibility</p:attrName>
                                        </p:attrNameLst>
                                      </p:cBhvr>
                                      <p:to>
                                        <p:strVal val="visible"/>
                                      </p:to>
                                    </p:set>
                                  </p:childTnLst>
                                </p:cTn>
                              </p:par>
                              <p:par>
                                <p:cTn id="24" presetID="1" presetClass="entr" presetSubtype="0" fill="hold" grpId="2" nodeType="withEffect">
                                  <p:stCondLst>
                                    <p:cond delay="0"/>
                                  </p:stCondLst>
                                  <p:childTnLst>
                                    <p:set>
                                      <p:cBhvr>
                                        <p:cTn id="25" dur="1" fill="hold">
                                          <p:stCondLst>
                                            <p:cond delay="0"/>
                                          </p:stCondLst>
                                        </p:cTn>
                                        <p:tgtEl>
                                          <p:spTgt spid="52"/>
                                        </p:tgtEl>
                                        <p:attrNameLst>
                                          <p:attrName>style.visibility</p:attrName>
                                        </p:attrNameLst>
                                      </p:cBhvr>
                                      <p:to>
                                        <p:strVal val="visible"/>
                                      </p:to>
                                    </p:set>
                                  </p:childTnLst>
                                </p:cTn>
                              </p:par>
                              <p:par>
                                <p:cTn id="26" presetID="1" presetClass="entr" presetSubtype="0" fill="hold" grpId="2" nodeType="withEffect">
                                  <p:stCondLst>
                                    <p:cond delay="0"/>
                                  </p:stCondLst>
                                  <p:childTnLst>
                                    <p:set>
                                      <p:cBhvr>
                                        <p:cTn id="27" dur="1" fill="hold">
                                          <p:stCondLst>
                                            <p:cond delay="0"/>
                                          </p:stCondLst>
                                        </p:cTn>
                                        <p:tgtEl>
                                          <p:spTgt spid="60"/>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50"/>
                                        </p:tgtEl>
                                        <p:attrNameLst>
                                          <p:attrName>style.visibility</p:attrName>
                                        </p:attrNameLst>
                                      </p:cBhvr>
                                      <p:to>
                                        <p:strVal val="visible"/>
                                      </p:to>
                                    </p:set>
                                  </p:childTnLst>
                                </p:cTn>
                              </p:par>
                              <p:par>
                                <p:cTn id="32" presetID="1" presetClass="entr" presetSubtype="0" fill="hold" grpId="2" nodeType="withEffect">
                                  <p:stCondLst>
                                    <p:cond delay="0"/>
                                  </p:stCondLst>
                                  <p:childTnLst>
                                    <p:set>
                                      <p:cBhvr>
                                        <p:cTn id="33" dur="1" fill="hold">
                                          <p:stCondLst>
                                            <p:cond delay="0"/>
                                          </p:stCondLst>
                                        </p:cTn>
                                        <p:tgtEl>
                                          <p:spTgt spid="55"/>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26"/>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1"/>
      <p:bldP spid="59" grpId="2"/>
      <p:bldP spid="52" grpId="1" animBg="1"/>
      <p:bldP spid="52" grpId="2" animBg="1"/>
      <p:bldP spid="55" grpId="1" animBg="1"/>
      <p:bldP spid="55" grpId="2" animBg="1"/>
      <p:bldP spid="60" grpId="1"/>
      <p:bldP spid="60" grpId="2"/>
      <p:bldP spid="6" grpId="1" animBg="1"/>
      <p:bldP spid="6" grpId="2" animBg="1"/>
      <p:bldP spid="2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A917B-D1B7-502A-93BB-58B7D3E1968B}"/>
            </a:ext>
          </a:extLst>
        </p:cNvPr>
        <p:cNvGrpSpPr/>
        <p:nvPr/>
      </p:nvGrpSpPr>
      <p:grpSpPr>
        <a:xfrm>
          <a:off x="0" y="0"/>
          <a:ext cx="0" cy="0"/>
          <a:chOff x="0" y="0"/>
          <a:chExt cx="0" cy="0"/>
        </a:xfrm>
      </p:grpSpPr>
      <p:pic>
        <p:nvPicPr>
          <p:cNvPr id="56" name="图片 55">
            <a:extLst>
              <a:ext uri="{FF2B5EF4-FFF2-40B4-BE49-F238E27FC236}">
                <a16:creationId xmlns:a16="http://schemas.microsoft.com/office/drawing/2014/main" id="{C4910D4C-DA6D-463D-FE87-B275E3DB83ED}"/>
              </a:ext>
            </a:extLst>
          </p:cNvPr>
          <p:cNvPicPr>
            <a:picLocks noChangeAspect="1"/>
          </p:cNvPicPr>
          <p:nvPr/>
        </p:nvPicPr>
        <p:blipFill>
          <a:blip r:embed="rId9">
            <a:extLst>
              <a:ext uri="{28A0092B-C50C-407E-A947-70E740481C1C}">
                <a14:useLocalDpi xmlns:a14="http://schemas.microsoft.com/office/drawing/2010/main" val="0"/>
              </a:ext>
            </a:extLst>
          </a:blip>
          <a:srcRect t="7064" b="7064"/>
          <a:stretch/>
        </p:blipFill>
        <p:spPr>
          <a:xfrm>
            <a:off x="1270635" y="1303020"/>
            <a:ext cx="3202305" cy="2105660"/>
          </a:xfrm>
          <a:prstGeom prst="rect">
            <a:avLst/>
          </a:prstGeom>
          <a:effectLst>
            <a:outerShdw blurRad="50800" dist="38100" dir="2700000" algn="tl" rotWithShape="0">
              <a:prstClr val="black">
                <a:alpha val="40000"/>
              </a:prstClr>
            </a:outerShdw>
          </a:effectLst>
        </p:spPr>
      </p:pic>
      <p:sp>
        <p:nvSpPr>
          <p:cNvPr id="4" name="矩形 3">
            <a:extLst>
              <a:ext uri="{FF2B5EF4-FFF2-40B4-BE49-F238E27FC236}">
                <a16:creationId xmlns:a16="http://schemas.microsoft.com/office/drawing/2014/main" id="{945653A8-E63F-F847-61A6-FB2E821331F4}"/>
              </a:ext>
            </a:extLst>
          </p:cNvPr>
          <p:cNvSpPr/>
          <p:nvPr>
            <p:custDataLst>
              <p:tags r:id="rId2"/>
            </p:custDataLst>
          </p:nvPr>
        </p:nvSpPr>
        <p:spPr>
          <a:xfrm>
            <a:off x="3871595" y="-635"/>
            <a:ext cx="199072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2379EFFD-2786-1843-A272-C67428BBE5CF}"/>
              </a:ext>
            </a:extLst>
          </p:cNvPr>
          <p:cNvSpPr/>
          <p:nvPr>
            <p:custDataLst>
              <p:tags r:id="rId3"/>
            </p:custDataLst>
          </p:nvPr>
        </p:nvSpPr>
        <p:spPr>
          <a:xfrm>
            <a:off x="5862320" y="-635"/>
            <a:ext cx="311594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59F592F9-8C41-782B-2066-65BC80BBB387}"/>
              </a:ext>
            </a:extLst>
          </p:cNvPr>
          <p:cNvSpPr/>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26E50F14-E2B5-C114-CBE0-6176C7D68A1F}"/>
              </a:ext>
            </a:extLst>
          </p:cNvPr>
          <p:cNvSpPr/>
          <p:nvPr/>
        </p:nvSpPr>
        <p:spPr>
          <a:xfrm>
            <a:off x="1664970" y="-635"/>
            <a:ext cx="2206625" cy="721995"/>
          </a:xfrm>
          <a:prstGeom prst="rect">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7DCE5521-E83A-A701-AACA-0079B3DF4D78}"/>
              </a:ext>
            </a:extLst>
          </p:cNvPr>
          <p:cNvSpPr txBox="1"/>
          <p:nvPr>
            <p:custDataLst>
              <p:tags r:id="rId4"/>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p>
        </p:txBody>
      </p:sp>
      <p:pic>
        <p:nvPicPr>
          <p:cNvPr id="21" name="Picture 2" descr="C:\Program Files\Apache Software Foundation\Tomcat 6.0\webapps\topo1\images\sklois1 (2).jpg">
            <a:extLst>
              <a:ext uri="{FF2B5EF4-FFF2-40B4-BE49-F238E27FC236}">
                <a16:creationId xmlns:a16="http://schemas.microsoft.com/office/drawing/2014/main" id="{EB8244F3-C605-3C75-E4DA-8C8C1ABEA62B}"/>
              </a:ext>
            </a:extLst>
          </p:cNvPr>
          <p:cNvPicPr>
            <a:picLocks noChangeAspect="1" noChangeArrowheads="1"/>
          </p:cNvPicPr>
          <p:nvPr>
            <p:custDataLst>
              <p:tags r:id="rId5"/>
            </p:custDataLst>
          </p:nvPr>
        </p:nvPicPr>
        <p:blipFill>
          <a:blip r:embed="rId10"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 name="等腰三角形 14">
            <a:extLst>
              <a:ext uri="{FF2B5EF4-FFF2-40B4-BE49-F238E27FC236}">
                <a16:creationId xmlns:a16="http://schemas.microsoft.com/office/drawing/2014/main" id="{2A5AAA0E-8C2D-4448-1156-BD595420C1B7}"/>
              </a:ext>
            </a:extLst>
          </p:cNvPr>
          <p:cNvSpPr/>
          <p:nvPr>
            <p:custDataLst>
              <p:tags r:id="rId6"/>
            </p:custDataLst>
          </p:nvPr>
        </p:nvSpPr>
        <p:spPr>
          <a:xfrm rot="10800000">
            <a:off x="2622550" y="721360"/>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332ABBAD-281D-9C72-16E8-262F912ACA45}"/>
              </a:ext>
            </a:extLst>
          </p:cNvPr>
          <p:cNvSpPr txBox="1"/>
          <p:nvPr/>
        </p:nvSpPr>
        <p:spPr>
          <a:xfrm>
            <a:off x="4892766" y="1596569"/>
            <a:ext cx="6650049" cy="1704954"/>
          </a:xfrm>
          <a:prstGeom prst="rect">
            <a:avLst/>
          </a:prstGeom>
          <a:noFill/>
        </p:spPr>
        <p:txBody>
          <a:bodyPr wrap="square" rtlCol="0" anchor="t">
            <a:spAutoFit/>
          </a:bodyPr>
          <a:lstStyle/>
          <a:p>
            <a:pPr fontAlgn="auto">
              <a:lnSpc>
                <a:spcPct val="150000"/>
              </a:lnSpc>
            </a:pPr>
            <a:r>
              <a:rPr lang="en-US" altLang="zh-CN" dirty="0"/>
              <a:t>2008</a:t>
            </a:r>
            <a:r>
              <a:rPr lang="zh-CN" altLang="en-US" dirty="0"/>
              <a:t>年，比特币首次实现</a:t>
            </a:r>
            <a:r>
              <a:rPr lang="zh-CN" altLang="zh-CN" dirty="0"/>
              <a:t>基于区块链的点对点数字资产交易方案</a:t>
            </a:r>
            <a:endParaRPr lang="en-US" altLang="zh-CN" dirty="0"/>
          </a:p>
          <a:p>
            <a:pPr fontAlgn="auto">
              <a:lnSpc>
                <a:spcPct val="150000"/>
              </a:lnSpc>
            </a:pPr>
            <a:r>
              <a:rPr lang="zh-CN" altLang="en-US" dirty="0"/>
              <a:t>允许用户在去中心化的、互不信任的环境中实现安全支付，目前：</a:t>
            </a:r>
            <a:endParaRPr lang="en-US" altLang="zh-CN" sz="900" dirty="0"/>
          </a:p>
          <a:p>
            <a:pPr marL="285750" indent="-285750" fontAlgn="auto">
              <a:lnSpc>
                <a:spcPct val="150000"/>
              </a:lnSpc>
              <a:buFont typeface="Arial" panose="020B0604020202020204" pitchFamily="34" charset="0"/>
              <a:buChar char="•"/>
            </a:pPr>
            <a:r>
              <a:rPr lang="zh-CN" altLang="en-US" dirty="0"/>
              <a:t>加密货币系统用户达到</a:t>
            </a:r>
            <a:r>
              <a:rPr lang="en-US" altLang="zh-CN" dirty="0"/>
              <a:t>5.8</a:t>
            </a:r>
            <a:r>
              <a:rPr lang="zh-CN" altLang="en-US" dirty="0"/>
              <a:t>亿，比特币日交易量超过</a:t>
            </a:r>
            <a:r>
              <a:rPr lang="en-US" altLang="zh-CN" dirty="0"/>
              <a:t>40</a:t>
            </a:r>
            <a:r>
              <a:rPr lang="zh-CN" altLang="en-US" dirty="0"/>
              <a:t>万笔</a:t>
            </a:r>
            <a:endParaRPr lang="en-US" altLang="zh-CN" dirty="0"/>
          </a:p>
          <a:p>
            <a:pPr marL="285750" indent="-285750" fontAlgn="auto">
              <a:lnSpc>
                <a:spcPct val="150000"/>
              </a:lnSpc>
              <a:buFont typeface="Arial" panose="020B0604020202020204" pitchFamily="34" charset="0"/>
              <a:buChar char="•"/>
            </a:pPr>
            <a:r>
              <a:rPr lang="zh-CN" altLang="en-US" dirty="0"/>
              <a:t>涌现出超</a:t>
            </a:r>
            <a:r>
              <a:rPr lang="en-US" altLang="zh-CN" dirty="0"/>
              <a:t>200</a:t>
            </a:r>
            <a:r>
              <a:rPr lang="zh-CN" altLang="en-US" dirty="0"/>
              <a:t>种不同技术特征区块链</a:t>
            </a:r>
            <a:endParaRPr lang="en-US" altLang="zh-CN" dirty="0"/>
          </a:p>
        </p:txBody>
      </p:sp>
      <p:sp>
        <p:nvSpPr>
          <p:cNvPr id="11" name="文本框 10">
            <a:extLst>
              <a:ext uri="{FF2B5EF4-FFF2-40B4-BE49-F238E27FC236}">
                <a16:creationId xmlns:a16="http://schemas.microsoft.com/office/drawing/2014/main" id="{5DE60005-37FA-11B2-1358-87ED01BAD13F}"/>
              </a:ext>
            </a:extLst>
          </p:cNvPr>
          <p:cNvSpPr txBox="1"/>
          <p:nvPr/>
        </p:nvSpPr>
        <p:spPr>
          <a:xfrm>
            <a:off x="4811395" y="1176020"/>
            <a:ext cx="5779135" cy="460375"/>
          </a:xfrm>
          <a:prstGeom prst="rect">
            <a:avLst/>
          </a:prstGeom>
          <a:noFill/>
        </p:spPr>
        <p:txBody>
          <a:bodyPr wrap="square" rtlCol="0" anchor="t">
            <a:spAutoFit/>
          </a:bodyPr>
          <a:lstStyle/>
          <a:p>
            <a:r>
              <a:rPr lang="zh-CN" altLang="en-US" sz="2400" b="1" dirty="0">
                <a:solidFill>
                  <a:srgbClr val="04579A"/>
                </a:solidFill>
              </a:rPr>
              <a:t>数据流通</a:t>
            </a:r>
          </a:p>
        </p:txBody>
      </p:sp>
      <p:cxnSp>
        <p:nvCxnSpPr>
          <p:cNvPr id="57" name="直接连接符 56">
            <a:extLst>
              <a:ext uri="{FF2B5EF4-FFF2-40B4-BE49-F238E27FC236}">
                <a16:creationId xmlns:a16="http://schemas.microsoft.com/office/drawing/2014/main" id="{FD07EC10-127D-2F2F-63D6-73157182514A}"/>
              </a:ext>
            </a:extLst>
          </p:cNvPr>
          <p:cNvCxnSpPr/>
          <p:nvPr/>
        </p:nvCxnSpPr>
        <p:spPr>
          <a:xfrm>
            <a:off x="444500" y="3756025"/>
            <a:ext cx="11277600" cy="0"/>
          </a:xfrm>
          <a:prstGeom prst="line">
            <a:avLst/>
          </a:prstGeom>
          <a:ln>
            <a:solidFill>
              <a:schemeClr val="bg1">
                <a:lumMod val="50000"/>
                <a:alpha val="54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B3828554-B9F3-5F5B-556E-193AB096179F}"/>
              </a:ext>
            </a:extLst>
          </p:cNvPr>
          <p:cNvCxnSpPr/>
          <p:nvPr/>
        </p:nvCxnSpPr>
        <p:spPr>
          <a:xfrm flipV="1">
            <a:off x="1270635" y="1164590"/>
            <a:ext cx="5715" cy="2512060"/>
          </a:xfrm>
          <a:prstGeom prst="line">
            <a:avLst/>
          </a:prstGeom>
          <a:ln w="12700">
            <a:solidFill>
              <a:schemeClr val="bg1">
                <a:lumMod val="50000"/>
              </a:schemeClr>
            </a:solidFill>
          </a:ln>
          <a:effectLst>
            <a:glow rad="63500">
              <a:schemeClr val="bg1">
                <a:lumMod val="95000"/>
                <a:alpha val="40000"/>
              </a:schemeClr>
            </a:glow>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6" name="椭圆 5">
            <a:extLst>
              <a:ext uri="{FF2B5EF4-FFF2-40B4-BE49-F238E27FC236}">
                <a16:creationId xmlns:a16="http://schemas.microsoft.com/office/drawing/2014/main" id="{F4A5CF97-C68B-47C7-A443-51B2FCFA7CAF}"/>
              </a:ext>
            </a:extLst>
          </p:cNvPr>
          <p:cNvSpPr/>
          <p:nvPr/>
        </p:nvSpPr>
        <p:spPr>
          <a:xfrm>
            <a:off x="1189990" y="3676650"/>
            <a:ext cx="160655" cy="160655"/>
          </a:xfrm>
          <a:prstGeom prst="ellipse">
            <a:avLst/>
          </a:prstGeom>
          <a:solidFill>
            <a:srgbClr val="00B0F0"/>
          </a:solidFill>
          <a:ln>
            <a:noFill/>
          </a:ln>
          <a:effectLst>
            <a:glow rad="63500">
              <a:srgbClr val="93F0F3">
                <a:alpha val="53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图片 21">
            <a:extLst>
              <a:ext uri="{FF2B5EF4-FFF2-40B4-BE49-F238E27FC236}">
                <a16:creationId xmlns:a16="http://schemas.microsoft.com/office/drawing/2014/main" id="{872AD8DB-23CE-785A-3F8A-6D66AE700078}"/>
              </a:ext>
            </a:extLst>
          </p:cNvPr>
          <p:cNvPicPr>
            <a:picLocks noChangeAspect="1"/>
          </p:cNvPicPr>
          <p:nvPr/>
        </p:nvPicPr>
        <p:blipFill>
          <a:blip r:embed="rId11"/>
          <a:stretch>
            <a:fillRect/>
          </a:stretch>
        </p:blipFill>
        <p:spPr>
          <a:xfrm>
            <a:off x="2072244" y="3835401"/>
            <a:ext cx="8047512" cy="2519985"/>
          </a:xfrm>
          <a:prstGeom prst="rect">
            <a:avLst/>
          </a:prstGeom>
        </p:spPr>
      </p:pic>
      <p:sp>
        <p:nvSpPr>
          <p:cNvPr id="7" name="文本框 6">
            <a:extLst>
              <a:ext uri="{FF2B5EF4-FFF2-40B4-BE49-F238E27FC236}">
                <a16:creationId xmlns:a16="http://schemas.microsoft.com/office/drawing/2014/main" id="{5AC41B62-4F43-C8D7-FF7B-248E89126192}"/>
              </a:ext>
            </a:extLst>
          </p:cNvPr>
          <p:cNvSpPr txBox="1"/>
          <p:nvPr/>
        </p:nvSpPr>
        <p:spPr>
          <a:xfrm>
            <a:off x="11736779" y="6499761"/>
            <a:ext cx="455221" cy="369332"/>
          </a:xfrm>
          <a:prstGeom prst="rect">
            <a:avLst/>
          </a:prstGeom>
          <a:noFill/>
        </p:spPr>
        <p:txBody>
          <a:bodyPr wrap="square" rtlCol="0">
            <a:spAutoFit/>
          </a:bodyPr>
          <a:lstStyle/>
          <a:p>
            <a:pPr algn="ctr"/>
            <a:r>
              <a:rPr lang="en-US" altLang="zh-CN" dirty="0"/>
              <a:t>3</a:t>
            </a:r>
            <a:endParaRPr lang="zh-CN" altLang="en-US" dirty="0"/>
          </a:p>
        </p:txBody>
      </p:sp>
    </p:spTree>
    <p:custDataLst>
      <p:tags r:id="rId1"/>
    </p:custDataLst>
    <p:extLst>
      <p:ext uri="{BB962C8B-B14F-4D97-AF65-F5344CB8AC3E}">
        <p14:creationId xmlns:p14="http://schemas.microsoft.com/office/powerpoint/2010/main" val="379000563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wipe(left)">
                                      <p:cBhvr>
                                        <p:cTn id="7" dur="500"/>
                                        <p:tgtEl>
                                          <p:spTgt spid="57"/>
                                        </p:tgtEl>
                                      </p:cBhvr>
                                    </p:animEffect>
                                  </p:childTnLst>
                                </p:cTn>
                              </p:par>
                            </p:childTnLst>
                          </p:cTn>
                        </p:par>
                        <p:par>
                          <p:cTn id="8" fill="hold">
                            <p:stCondLst>
                              <p:cond delay="500"/>
                            </p:stCondLst>
                            <p:childTnLst>
                              <p:par>
                                <p:cTn id="9" presetID="10" presetClass="entr" presetSubtype="0" fill="hold" grpId="1" nodeType="afterEffect">
                                  <p:stCondLst>
                                    <p:cond delay="0"/>
                                  </p:stCondLst>
                                  <p:childTnLst>
                                    <p:set>
                                      <p:cBhvr>
                                        <p:cTn id="10" dur="250" fill="hold">
                                          <p:stCondLst>
                                            <p:cond delay="0"/>
                                          </p:stCondLst>
                                        </p:cTn>
                                        <p:tgtEl>
                                          <p:spTgt spid="6"/>
                                        </p:tgtEl>
                                        <p:attrNameLst>
                                          <p:attrName>style.visibility</p:attrName>
                                        </p:attrNameLst>
                                      </p:cBhvr>
                                      <p:to>
                                        <p:strVal val="visible"/>
                                      </p:to>
                                    </p:set>
                                    <p:animEffect transition="in" filter="fade">
                                      <p:cBhvr>
                                        <p:cTn id="11" dur="250"/>
                                        <p:tgtEl>
                                          <p:spTgt spid="6"/>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250" fill="hold">
                                          <p:stCondLst>
                                            <p:cond delay="0"/>
                                          </p:stCondLst>
                                        </p:cTn>
                                        <p:tgtEl>
                                          <p:spTgt spid="98"/>
                                        </p:tgtEl>
                                        <p:attrNameLst>
                                          <p:attrName>style.visibility</p:attrName>
                                        </p:attrNameLst>
                                      </p:cBhvr>
                                      <p:to>
                                        <p:strVal val="visible"/>
                                      </p:to>
                                    </p:set>
                                    <p:animEffect transition="in" filter="wipe(down)">
                                      <p:cBhvr>
                                        <p:cTn id="15" dur="250"/>
                                        <p:tgtEl>
                                          <p:spTgt spid="98"/>
                                        </p:tgtEl>
                                      </p:cBhvr>
                                    </p:animEffect>
                                  </p:childTnLst>
                                </p:cTn>
                              </p:par>
                            </p:childTnLst>
                          </p:cTn>
                        </p:par>
                        <p:par>
                          <p:cTn id="16" fill="hold">
                            <p:stCondLst>
                              <p:cond delay="1250"/>
                            </p:stCondLst>
                            <p:childTnLst>
                              <p:par>
                                <p:cTn id="17" presetID="22" presetClass="entr" presetSubtype="8" fill="hold" nodeType="afterEffect">
                                  <p:stCondLst>
                                    <p:cond delay="0"/>
                                  </p:stCondLst>
                                  <p:childTnLst>
                                    <p:set>
                                      <p:cBhvr>
                                        <p:cTn id="18" dur="250" fill="hold">
                                          <p:stCondLst>
                                            <p:cond delay="0"/>
                                          </p:stCondLst>
                                        </p:cTn>
                                        <p:tgtEl>
                                          <p:spTgt spid="56"/>
                                        </p:tgtEl>
                                        <p:attrNameLst>
                                          <p:attrName>style.visibility</p:attrName>
                                        </p:attrNameLst>
                                      </p:cBhvr>
                                      <p:to>
                                        <p:strVal val="visible"/>
                                      </p:to>
                                    </p:set>
                                    <p:animEffect transition="in" filter="wipe(left)">
                                      <p:cBhvr>
                                        <p:cTn id="19" dur="25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7" name="矩形 26"/>
          <p:cNvSpPr/>
          <p:nvPr/>
        </p:nvSpPr>
        <p:spPr>
          <a:xfrm>
            <a:off x="490855" y="2856865"/>
            <a:ext cx="10528300" cy="5721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custDataLst>
              <p:tags r:id="rId2"/>
            </p:custDataLst>
          </p:nvPr>
        </p:nvSpPr>
        <p:spPr>
          <a:xfrm>
            <a:off x="482600" y="897255"/>
            <a:ext cx="11079480" cy="398780"/>
          </a:xfrm>
          <a:prstGeom prst="rect">
            <a:avLst/>
          </a:prstGeom>
          <a:noFill/>
        </p:spPr>
        <p:txBody>
          <a:bodyPr wrap="square" rtlCol="0" anchor="t">
            <a:spAutoFit/>
          </a:bodyPr>
          <a:lstStyle/>
          <a:p>
            <a:r>
              <a:rPr lang="zh-CN" altLang="en-US" sz="2000" dirty="0"/>
              <a:t>数字资产市场为区块链提供了新的</a:t>
            </a:r>
            <a:r>
              <a:rPr lang="zh-CN" altLang="en-US" sz="2000" b="1" dirty="0">
                <a:solidFill>
                  <a:srgbClr val="04579A"/>
                </a:solidFill>
              </a:rPr>
              <a:t>应用方向</a:t>
            </a:r>
            <a:r>
              <a:rPr lang="zh-CN" altLang="en-US" sz="2000" dirty="0"/>
              <a:t>，但同时也带来了新的</a:t>
            </a:r>
            <a:r>
              <a:rPr lang="zh-CN" altLang="en-US" sz="2000" b="1" dirty="0">
                <a:solidFill>
                  <a:srgbClr val="04579A"/>
                </a:solidFill>
              </a:rPr>
              <a:t>技术需求</a:t>
            </a:r>
            <a:r>
              <a:rPr lang="zh-CN" altLang="en-US" sz="2000" dirty="0"/>
              <a:t>：</a:t>
            </a:r>
          </a:p>
        </p:txBody>
      </p:sp>
      <p:sp>
        <p:nvSpPr>
          <p:cNvPr id="11" name="矩形 10"/>
          <p:cNvSpPr/>
          <p:nvPr>
            <p:custDataLst>
              <p:tags r:id="rId3"/>
            </p:custDataLst>
          </p:nvPr>
        </p:nvSpPr>
        <p:spPr>
          <a:xfrm>
            <a:off x="1664970" y="0"/>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custDataLst>
              <p:tags r:id="rId4"/>
            </p:custDataLst>
          </p:nvPr>
        </p:nvSpPr>
        <p:spPr>
          <a:xfrm>
            <a:off x="3871595" y="-635"/>
            <a:ext cx="199072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custDataLst>
              <p:tags r:id="rId5"/>
            </p:custDataLst>
          </p:nvPr>
        </p:nvSpPr>
        <p:spPr>
          <a:xfrm>
            <a:off x="5862320" y="-635"/>
            <a:ext cx="311594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custDataLst>
              <p:tags r:id="rId6"/>
            </p:custDataLst>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custDataLst>
              <p:tags r:id="rId7"/>
            </p:custDataLst>
          </p:nvPr>
        </p:nvSpPr>
        <p:spPr>
          <a:xfrm>
            <a:off x="1664970" y="-635"/>
            <a:ext cx="2206625"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custDataLst>
              <p:tags r:id="rId8"/>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p>
        </p:txBody>
      </p:sp>
      <p:pic>
        <p:nvPicPr>
          <p:cNvPr id="18" name="Picture 2" descr="C:\Program Files\Apache Software Foundation\Tomcat 6.0\webapps\topo1\images\sklois1 (2).jpg"/>
          <p:cNvPicPr>
            <a:picLocks noChangeAspect="1" noChangeArrowheads="1"/>
          </p:cNvPicPr>
          <p:nvPr>
            <p:custDataLst>
              <p:tags r:id="rId9"/>
            </p:custDataLst>
          </p:nvPr>
        </p:nvPicPr>
        <p:blipFill>
          <a:blip r:embed="rId15"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0" name="等腰三角形 19"/>
          <p:cNvSpPr/>
          <p:nvPr>
            <p:custDataLst>
              <p:tags r:id="rId10"/>
            </p:custDataLst>
          </p:nvPr>
        </p:nvSpPr>
        <p:spPr>
          <a:xfrm rot="10800000">
            <a:off x="2622550" y="721360"/>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custDataLst>
              <p:tags r:id="rId11"/>
            </p:custDataLst>
          </p:nvPr>
        </p:nvSpPr>
        <p:spPr>
          <a:xfrm>
            <a:off x="482600" y="1677035"/>
            <a:ext cx="10528300" cy="5721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燕尾形 3"/>
          <p:cNvSpPr/>
          <p:nvPr>
            <p:custDataLst>
              <p:tags r:id="rId12"/>
            </p:custDataLst>
          </p:nvPr>
        </p:nvSpPr>
        <p:spPr>
          <a:xfrm>
            <a:off x="1019175" y="2339975"/>
            <a:ext cx="364490" cy="257810"/>
          </a:xfrm>
          <a:prstGeom prst="chevron">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556895" y="1663700"/>
            <a:ext cx="11078845" cy="3381182"/>
          </a:xfrm>
          <a:prstGeom prst="rect">
            <a:avLst/>
          </a:prstGeom>
          <a:noFill/>
        </p:spPr>
        <p:txBody>
          <a:bodyPr wrap="square" rtlCol="0" anchor="t">
            <a:spAutoFit/>
          </a:bodyPr>
          <a:lstStyle/>
          <a:p>
            <a:pPr marL="457200" lvl="0" indent="-457200" fontAlgn="auto">
              <a:lnSpc>
                <a:spcPct val="150000"/>
              </a:lnSpc>
              <a:buFont typeface="Arial" panose="020B0604020202020204" pitchFamily="34" charset="0"/>
              <a:buAutoNum type="arabicPeriod"/>
            </a:pPr>
            <a:r>
              <a:rPr lang="zh-CN" altLang="en-US" sz="2000" dirty="0">
                <a:solidFill>
                  <a:schemeClr val="tx1">
                    <a:lumMod val="85000"/>
                    <a:lumOff val="15000"/>
                  </a:schemeClr>
                </a:solidFill>
                <a:sym typeface="+mn-ea"/>
              </a:rPr>
              <a:t>现实网络环境对分布式数字资产交易协议的安全性和健壮性提出了更高的要求</a:t>
            </a:r>
          </a:p>
          <a:p>
            <a:pPr marL="457200" lvl="1" indent="457200" algn="l" fontAlgn="auto">
              <a:lnSpc>
                <a:spcPct val="150000"/>
              </a:lnSpc>
              <a:spcAft>
                <a:spcPts val="1200"/>
              </a:spcAft>
              <a:buClrTx/>
              <a:buSzTx/>
              <a:buFontTx/>
              <a:buNone/>
            </a:pPr>
            <a:r>
              <a:rPr lang="zh-CN" altLang="en-US" sz="2400" b="1" dirty="0">
                <a:solidFill>
                  <a:srgbClr val="04579A"/>
                </a:solidFill>
                <a:sym typeface="+mn-ea"/>
              </a:rPr>
              <a:t>分布式数字资产交易协议需要去除可信假设，建立更强的安全模型</a:t>
            </a:r>
          </a:p>
          <a:p>
            <a:pPr marL="457200" lvl="0" indent="-457200" fontAlgn="auto">
              <a:lnSpc>
                <a:spcPct val="150000"/>
              </a:lnSpc>
              <a:buAutoNum type="arabicPeriod"/>
            </a:pPr>
            <a:r>
              <a:rPr lang="zh-CN" altLang="en-US" sz="2000" dirty="0">
                <a:solidFill>
                  <a:schemeClr val="bg1">
                    <a:lumMod val="95000"/>
                  </a:schemeClr>
                </a:solidFill>
                <a:sym typeface="+mn-ea"/>
              </a:rPr>
              <a:t>区块链具有长期部署的需要</a:t>
            </a:r>
          </a:p>
          <a:p>
            <a:pPr lvl="1" indent="457200">
              <a:lnSpc>
                <a:spcPct val="150000"/>
              </a:lnSpc>
              <a:spcAft>
                <a:spcPts val="1200"/>
              </a:spcAft>
            </a:pPr>
            <a:r>
              <a:rPr lang="zh-CN" altLang="en-US" sz="2400" b="1" dirty="0">
                <a:solidFill>
                  <a:schemeClr val="bg1">
                    <a:lumMod val="95000"/>
                  </a:schemeClr>
                </a:solidFill>
                <a:sym typeface="+mn-ea"/>
              </a:rPr>
              <a:t>分布式数字资产交易协议需要高性能的链下方案构造</a:t>
            </a:r>
          </a:p>
          <a:p>
            <a:pPr marL="457200" lvl="0" indent="-457200" fontAlgn="auto">
              <a:lnSpc>
                <a:spcPct val="150000"/>
              </a:lnSpc>
              <a:buAutoNum type="arabicPeriod"/>
            </a:pPr>
            <a:r>
              <a:rPr lang="zh-CN" altLang="en-US" sz="2000" dirty="0">
                <a:solidFill>
                  <a:schemeClr val="bg1">
                    <a:lumMod val="95000"/>
                  </a:schemeClr>
                </a:solidFill>
                <a:sym typeface="+mn-ea"/>
              </a:rPr>
              <a:t>异构区块链系统间的互联互通要求分布式数字资产交易协议具有互操作性</a:t>
            </a:r>
          </a:p>
          <a:p>
            <a:pPr lvl="1" indent="457200">
              <a:lnSpc>
                <a:spcPct val="150000"/>
              </a:lnSpc>
            </a:pPr>
            <a:r>
              <a:rPr lang="zh-CN" altLang="en-US" sz="2400" b="1" dirty="0">
                <a:solidFill>
                  <a:schemeClr val="bg1">
                    <a:lumMod val="95000"/>
                  </a:schemeClr>
                </a:solidFill>
                <a:sym typeface="+mn-ea"/>
              </a:rPr>
              <a:t>分布式数字资产交易协议需要高效的跨链证明协议</a:t>
            </a:r>
          </a:p>
        </p:txBody>
      </p:sp>
      <p:sp>
        <p:nvSpPr>
          <p:cNvPr id="3" name="文本框 2">
            <a:extLst>
              <a:ext uri="{FF2B5EF4-FFF2-40B4-BE49-F238E27FC236}">
                <a16:creationId xmlns:a16="http://schemas.microsoft.com/office/drawing/2014/main" id="{2F5A79CE-E982-18D6-9788-75684801C3C5}"/>
              </a:ext>
            </a:extLst>
          </p:cNvPr>
          <p:cNvSpPr txBox="1"/>
          <p:nvPr/>
        </p:nvSpPr>
        <p:spPr>
          <a:xfrm>
            <a:off x="11736779" y="6499761"/>
            <a:ext cx="455221" cy="369332"/>
          </a:xfrm>
          <a:prstGeom prst="rect">
            <a:avLst/>
          </a:prstGeom>
          <a:noFill/>
        </p:spPr>
        <p:txBody>
          <a:bodyPr wrap="square" rtlCol="0">
            <a:spAutoFit/>
          </a:bodyPr>
          <a:lstStyle/>
          <a:p>
            <a:pPr algn="ctr"/>
            <a:r>
              <a:rPr lang="en-US" altLang="zh-CN" dirty="0"/>
              <a:t>4</a:t>
            </a:r>
            <a:endParaRPr lang="zh-CN" altLang="en-US" dirty="0"/>
          </a:p>
        </p:txBody>
      </p:sp>
      <p:sp>
        <p:nvSpPr>
          <p:cNvPr id="6" name="矩形 5">
            <a:extLst>
              <a:ext uri="{FF2B5EF4-FFF2-40B4-BE49-F238E27FC236}">
                <a16:creationId xmlns:a16="http://schemas.microsoft.com/office/drawing/2014/main" id="{3897429D-0F16-0EAB-820E-DC5B2E2C0A94}"/>
              </a:ext>
            </a:extLst>
          </p:cNvPr>
          <p:cNvSpPr/>
          <p:nvPr/>
        </p:nvSpPr>
        <p:spPr>
          <a:xfrm>
            <a:off x="490855" y="3950873"/>
            <a:ext cx="10528300" cy="5721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46216-2EB3-F83F-A880-C34F43E94804}"/>
            </a:ext>
          </a:extLst>
        </p:cNvPr>
        <p:cNvGrpSpPr/>
        <p:nvPr/>
      </p:nvGrpSpPr>
      <p:grpSpPr>
        <a:xfrm>
          <a:off x="0" y="0"/>
          <a:ext cx="0" cy="0"/>
          <a:chOff x="0" y="0"/>
          <a:chExt cx="0" cy="0"/>
        </a:xfrm>
      </p:grpSpPr>
      <p:sp>
        <p:nvSpPr>
          <p:cNvPr id="207" name="文本框 206">
            <a:extLst>
              <a:ext uri="{FF2B5EF4-FFF2-40B4-BE49-F238E27FC236}">
                <a16:creationId xmlns:a16="http://schemas.microsoft.com/office/drawing/2014/main" id="{01B04836-A1A5-85B8-62D9-99114F64F4D9}"/>
              </a:ext>
            </a:extLst>
          </p:cNvPr>
          <p:cNvSpPr txBox="1"/>
          <p:nvPr>
            <p:custDataLst>
              <p:tags r:id="rId2"/>
            </p:custDataLst>
          </p:nvPr>
        </p:nvSpPr>
        <p:spPr>
          <a:xfrm>
            <a:off x="408305" y="949960"/>
            <a:ext cx="10727690" cy="499111"/>
          </a:xfrm>
          <a:prstGeom prst="rect">
            <a:avLst/>
          </a:prstGeom>
          <a:noFill/>
        </p:spPr>
        <p:txBody>
          <a:bodyPr wrap="square" rtlCol="0" anchor="t">
            <a:spAutoFit/>
          </a:bodyPr>
          <a:lstStyle/>
          <a:p>
            <a:pPr marL="457200" indent="-457200" fontAlgn="auto">
              <a:lnSpc>
                <a:spcPct val="150000"/>
              </a:lnSpc>
              <a:buFont typeface="+mj-lt"/>
              <a:buAutoNum type="arabicPeriod"/>
            </a:pPr>
            <a:r>
              <a:rPr lang="zh-CN" altLang="en-US" sz="2000" dirty="0">
                <a:solidFill>
                  <a:schemeClr val="tx1">
                    <a:lumMod val="75000"/>
                    <a:lumOff val="25000"/>
                  </a:schemeClr>
                </a:solidFill>
                <a:sym typeface="+mn-ea"/>
              </a:rPr>
              <a:t>现实网络环境对分布式数字资产交易协议的安全性和健壮性提出了更高的要求</a:t>
            </a:r>
          </a:p>
        </p:txBody>
      </p:sp>
      <p:sp>
        <p:nvSpPr>
          <p:cNvPr id="269" name="矩形 268">
            <a:extLst>
              <a:ext uri="{FF2B5EF4-FFF2-40B4-BE49-F238E27FC236}">
                <a16:creationId xmlns:a16="http://schemas.microsoft.com/office/drawing/2014/main" id="{D10A233D-9821-9016-B555-15CDBC5E8FC9}"/>
              </a:ext>
            </a:extLst>
          </p:cNvPr>
          <p:cNvSpPr/>
          <p:nvPr>
            <p:custDataLst>
              <p:tags r:id="rId3"/>
            </p:custDataLst>
          </p:nvPr>
        </p:nvSpPr>
        <p:spPr>
          <a:xfrm>
            <a:off x="1664970" y="0"/>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0" name="矩形 269">
            <a:extLst>
              <a:ext uri="{FF2B5EF4-FFF2-40B4-BE49-F238E27FC236}">
                <a16:creationId xmlns:a16="http://schemas.microsoft.com/office/drawing/2014/main" id="{A9581993-8833-6517-2DBB-E1490A5B8404}"/>
              </a:ext>
            </a:extLst>
          </p:cNvPr>
          <p:cNvSpPr/>
          <p:nvPr>
            <p:custDataLst>
              <p:tags r:id="rId4"/>
            </p:custDataLst>
          </p:nvPr>
        </p:nvSpPr>
        <p:spPr>
          <a:xfrm>
            <a:off x="3871595" y="-635"/>
            <a:ext cx="199072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1" name="矩形 270">
            <a:extLst>
              <a:ext uri="{FF2B5EF4-FFF2-40B4-BE49-F238E27FC236}">
                <a16:creationId xmlns:a16="http://schemas.microsoft.com/office/drawing/2014/main" id="{F505E47A-CB42-68F5-D363-A0D0C681653C}"/>
              </a:ext>
            </a:extLst>
          </p:cNvPr>
          <p:cNvSpPr/>
          <p:nvPr>
            <p:custDataLst>
              <p:tags r:id="rId5"/>
            </p:custDataLst>
          </p:nvPr>
        </p:nvSpPr>
        <p:spPr>
          <a:xfrm>
            <a:off x="5862320" y="-635"/>
            <a:ext cx="311594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2" name="矩形 271">
            <a:extLst>
              <a:ext uri="{FF2B5EF4-FFF2-40B4-BE49-F238E27FC236}">
                <a16:creationId xmlns:a16="http://schemas.microsoft.com/office/drawing/2014/main" id="{AF1F9734-7E0A-BC1A-2779-C42AFFB4C23D}"/>
              </a:ext>
            </a:extLst>
          </p:cNvPr>
          <p:cNvSpPr/>
          <p:nvPr>
            <p:custDataLst>
              <p:tags r:id="rId6"/>
            </p:custDataLst>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3" name="矩形 272">
            <a:extLst>
              <a:ext uri="{FF2B5EF4-FFF2-40B4-BE49-F238E27FC236}">
                <a16:creationId xmlns:a16="http://schemas.microsoft.com/office/drawing/2014/main" id="{9DC75E86-F3E8-EF8C-3E14-35A3BE494340}"/>
              </a:ext>
            </a:extLst>
          </p:cNvPr>
          <p:cNvSpPr/>
          <p:nvPr>
            <p:custDataLst>
              <p:tags r:id="rId7"/>
            </p:custDataLst>
          </p:nvPr>
        </p:nvSpPr>
        <p:spPr>
          <a:xfrm>
            <a:off x="1664970" y="-635"/>
            <a:ext cx="2206625"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4" name="文本框 273">
            <a:extLst>
              <a:ext uri="{FF2B5EF4-FFF2-40B4-BE49-F238E27FC236}">
                <a16:creationId xmlns:a16="http://schemas.microsoft.com/office/drawing/2014/main" id="{52CD324F-C008-F124-9342-019835158AD4}"/>
              </a:ext>
            </a:extLst>
          </p:cNvPr>
          <p:cNvSpPr txBox="1"/>
          <p:nvPr>
            <p:custDataLst>
              <p:tags r:id="rId8"/>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p>
        </p:txBody>
      </p:sp>
      <p:pic>
        <p:nvPicPr>
          <p:cNvPr id="275" name="Picture 2" descr="C:\Program Files\Apache Software Foundation\Tomcat 6.0\webapps\topo1\images\sklois1 (2).jpg">
            <a:extLst>
              <a:ext uri="{FF2B5EF4-FFF2-40B4-BE49-F238E27FC236}">
                <a16:creationId xmlns:a16="http://schemas.microsoft.com/office/drawing/2014/main" id="{F7197E63-2154-8758-F6FA-68FFFF2C1072}"/>
              </a:ext>
            </a:extLst>
          </p:cNvPr>
          <p:cNvPicPr>
            <a:picLocks noChangeAspect="1" noChangeArrowheads="1"/>
          </p:cNvPicPr>
          <p:nvPr>
            <p:custDataLst>
              <p:tags r:id="rId9"/>
            </p:custDataLst>
          </p:nvPr>
        </p:nvPicPr>
        <p:blipFill>
          <a:blip r:embed="rId13"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76" name="等腰三角形 275">
            <a:extLst>
              <a:ext uri="{FF2B5EF4-FFF2-40B4-BE49-F238E27FC236}">
                <a16:creationId xmlns:a16="http://schemas.microsoft.com/office/drawing/2014/main" id="{3A911A77-C031-BB77-11F9-72D00B78E52F}"/>
              </a:ext>
            </a:extLst>
          </p:cNvPr>
          <p:cNvSpPr/>
          <p:nvPr>
            <p:custDataLst>
              <p:tags r:id="rId10"/>
            </p:custDataLst>
          </p:nvPr>
        </p:nvSpPr>
        <p:spPr>
          <a:xfrm rot="10800000">
            <a:off x="2622550" y="721360"/>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a:extLst>
              <a:ext uri="{FF2B5EF4-FFF2-40B4-BE49-F238E27FC236}">
                <a16:creationId xmlns:a16="http://schemas.microsoft.com/office/drawing/2014/main" id="{1E527ECA-C863-CD58-6C74-97FDF25E2B4E}"/>
              </a:ext>
            </a:extLst>
          </p:cNvPr>
          <p:cNvGrpSpPr/>
          <p:nvPr/>
        </p:nvGrpSpPr>
        <p:grpSpPr>
          <a:xfrm>
            <a:off x="7508456" y="3429000"/>
            <a:ext cx="3697892" cy="2695010"/>
            <a:chOff x="7049277" y="2827725"/>
            <a:chExt cx="3697892" cy="2695010"/>
          </a:xfrm>
        </p:grpSpPr>
        <p:pic>
          <p:nvPicPr>
            <p:cNvPr id="3" name="图片 2">
              <a:extLst>
                <a:ext uri="{FF2B5EF4-FFF2-40B4-BE49-F238E27FC236}">
                  <a16:creationId xmlns:a16="http://schemas.microsoft.com/office/drawing/2014/main" id="{99F5758F-3C13-3FB5-2D57-05D403F81600}"/>
                </a:ext>
              </a:extLst>
            </p:cNvPr>
            <p:cNvPicPr>
              <a:picLocks noChangeAspect="1"/>
            </p:cNvPicPr>
            <p:nvPr/>
          </p:nvPicPr>
          <p:blipFill>
            <a:blip r:embed="rId14"/>
            <a:stretch>
              <a:fillRect/>
            </a:stretch>
          </p:blipFill>
          <p:spPr>
            <a:xfrm>
              <a:off x="7049277" y="2827725"/>
              <a:ext cx="3697892" cy="2472965"/>
            </a:xfrm>
            <a:prstGeom prst="rect">
              <a:avLst/>
            </a:prstGeom>
            <a:ln>
              <a:solidFill>
                <a:schemeClr val="tx2">
                  <a:lumMod val="50000"/>
                  <a:lumOff val="50000"/>
                </a:schemeClr>
              </a:solidFill>
            </a:ln>
          </p:spPr>
        </p:pic>
        <p:sp>
          <p:nvSpPr>
            <p:cNvPr id="4" name="矩形 3">
              <a:extLst>
                <a:ext uri="{FF2B5EF4-FFF2-40B4-BE49-F238E27FC236}">
                  <a16:creationId xmlns:a16="http://schemas.microsoft.com/office/drawing/2014/main" id="{72EE4A59-F7CA-B05B-AE46-72737D58FEBA}"/>
                </a:ext>
              </a:extLst>
            </p:cNvPr>
            <p:cNvSpPr/>
            <p:nvPr/>
          </p:nvSpPr>
          <p:spPr>
            <a:xfrm>
              <a:off x="7049277" y="5220948"/>
              <a:ext cx="3697892" cy="301787"/>
            </a:xfrm>
            <a:prstGeom prst="rect">
              <a:avLst/>
            </a:prstGeom>
            <a:solidFill>
              <a:srgbClr val="04579A"/>
            </a:solidFill>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t>真实黑客攻击案例</a:t>
              </a:r>
            </a:p>
          </p:txBody>
        </p:sp>
      </p:grpSp>
      <p:sp>
        <p:nvSpPr>
          <p:cNvPr id="5" name="文本框 4">
            <a:extLst>
              <a:ext uri="{FF2B5EF4-FFF2-40B4-BE49-F238E27FC236}">
                <a16:creationId xmlns:a16="http://schemas.microsoft.com/office/drawing/2014/main" id="{08C12237-237B-6C0E-B251-8C8ABD86B1FD}"/>
              </a:ext>
            </a:extLst>
          </p:cNvPr>
          <p:cNvSpPr txBox="1"/>
          <p:nvPr/>
        </p:nvSpPr>
        <p:spPr>
          <a:xfrm>
            <a:off x="975360" y="4042655"/>
            <a:ext cx="5252720" cy="728982"/>
          </a:xfrm>
          <a:prstGeom prst="rect">
            <a:avLst/>
          </a:prstGeom>
          <a:noFill/>
        </p:spPr>
        <p:txBody>
          <a:bodyPr wrap="square" rtlCol="0" anchor="t">
            <a:spAutoFit/>
          </a:bodyPr>
          <a:lstStyle/>
          <a:p>
            <a:pPr indent="0" fontAlgn="auto">
              <a:lnSpc>
                <a:spcPct val="120000"/>
              </a:lnSpc>
            </a:pPr>
            <a:r>
              <a:rPr lang="en-US" altLang="zh-CN" dirty="0">
                <a:latin typeface="微软雅黑" panose="020B0503020204020204" charset="-122"/>
                <a:ea typeface="微软雅黑" panose="020B0503020204020204" charset="-122"/>
                <a:cs typeface="微软雅黑" panose="020B0503020204020204" charset="-122"/>
              </a:rPr>
              <a:t>2024</a:t>
            </a:r>
            <a:r>
              <a:rPr lang="zh-CN" altLang="en-US" dirty="0">
                <a:latin typeface="微软雅黑" panose="020B0503020204020204" charset="-122"/>
                <a:ea typeface="微软雅黑" panose="020B0503020204020204" charset="-122"/>
                <a:cs typeface="微软雅黑" panose="020B0503020204020204" charset="-122"/>
              </a:rPr>
              <a:t>年</a:t>
            </a:r>
            <a:r>
              <a:rPr lang="en-US" altLang="zh-CN" dirty="0">
                <a:latin typeface="微软雅黑" panose="020B0503020204020204" charset="-122"/>
                <a:ea typeface="微软雅黑" panose="020B0503020204020204" charset="-122"/>
                <a:cs typeface="微软雅黑" panose="020B0503020204020204" charset="-122"/>
              </a:rPr>
              <a:t>8</a:t>
            </a:r>
            <a:r>
              <a:rPr lang="zh-CN" altLang="en-US" dirty="0">
                <a:latin typeface="微软雅黑" panose="020B0503020204020204" charset="-122"/>
                <a:ea typeface="微软雅黑" panose="020B0503020204020204" charset="-122"/>
                <a:cs typeface="微软雅黑" panose="020B0503020204020204" charset="-122"/>
              </a:rPr>
              <a:t>月</a:t>
            </a:r>
            <a:r>
              <a:rPr lang="en-US" altLang="zh-CN" dirty="0">
                <a:latin typeface="微软雅黑" panose="020B0503020204020204" charset="-122"/>
                <a:ea typeface="微软雅黑" panose="020B0503020204020204" charset="-122"/>
                <a:cs typeface="微软雅黑" panose="020B0503020204020204" charset="-122"/>
              </a:rPr>
              <a:t>6</a:t>
            </a:r>
            <a:r>
              <a:rPr lang="zh-CN" altLang="en-US" dirty="0">
                <a:latin typeface="微软雅黑" panose="020B0503020204020204" charset="-122"/>
                <a:ea typeface="微软雅黑" panose="020B0503020204020204" charset="-122"/>
                <a:cs typeface="微软雅黑" panose="020B0503020204020204" charset="-122"/>
              </a:rPr>
              <a:t>日，</a:t>
            </a:r>
            <a:r>
              <a:rPr lang="en-US" altLang="zh-CN" dirty="0">
                <a:latin typeface="微软雅黑" panose="020B0503020204020204" charset="-122"/>
                <a:ea typeface="微软雅黑" panose="020B0503020204020204" charset="-122"/>
                <a:cs typeface="微软雅黑" panose="020B0503020204020204" charset="-122"/>
              </a:rPr>
              <a:t>Ronin Network</a:t>
            </a:r>
            <a:r>
              <a:rPr lang="zh-CN" altLang="en-US" dirty="0">
                <a:latin typeface="微软雅黑" panose="020B0503020204020204" charset="-122"/>
                <a:ea typeface="微软雅黑" panose="020B0503020204020204" charset="-122"/>
                <a:cs typeface="微软雅黑" panose="020B0503020204020204" charset="-122"/>
              </a:rPr>
              <a:t>跨链应用在升级智能合约代码时函数参数调用错误，引发攻击</a:t>
            </a:r>
          </a:p>
        </p:txBody>
      </p:sp>
      <p:sp>
        <p:nvSpPr>
          <p:cNvPr id="6" name="文本框 5">
            <a:extLst>
              <a:ext uri="{FF2B5EF4-FFF2-40B4-BE49-F238E27FC236}">
                <a16:creationId xmlns:a16="http://schemas.microsoft.com/office/drawing/2014/main" id="{BF57A2DF-586F-609C-B1A5-E4F40DA27D08}"/>
              </a:ext>
            </a:extLst>
          </p:cNvPr>
          <p:cNvSpPr txBox="1"/>
          <p:nvPr/>
        </p:nvSpPr>
        <p:spPr>
          <a:xfrm>
            <a:off x="975360" y="4806560"/>
            <a:ext cx="4321035" cy="1323439"/>
          </a:xfrm>
          <a:prstGeom prst="rect">
            <a:avLst/>
          </a:prstGeom>
          <a:noFill/>
        </p:spPr>
        <p:txBody>
          <a:bodyPr wrap="square" rtlCol="0">
            <a:spAutoFit/>
          </a:bodyPr>
          <a:lstStyle/>
          <a:p>
            <a:pPr marL="285750" indent="-285750" algn="l">
              <a:buFont typeface="Arial" panose="020B0604020202020204" pitchFamily="34" charset="0"/>
              <a:buChar char="•"/>
            </a:pPr>
            <a:r>
              <a:rPr lang="zh-CN" altLang="en-US" dirty="0">
                <a:latin typeface="微软雅黑" panose="020B0503020204020204" charset="-122"/>
                <a:ea typeface="微软雅黑" panose="020B0503020204020204" charset="-122"/>
                <a:cs typeface="微软雅黑" panose="020B0503020204020204" charset="-122"/>
              </a:rPr>
              <a:t>服务时长不足</a:t>
            </a:r>
            <a:r>
              <a:rPr lang="en-US" altLang="zh-CN" dirty="0">
                <a:latin typeface="微软雅黑" panose="020B0503020204020204" charset="-122"/>
                <a:ea typeface="微软雅黑" panose="020B0503020204020204" charset="-122"/>
                <a:cs typeface="微软雅黑" panose="020B0503020204020204" charset="-122"/>
              </a:rPr>
              <a:t> </a:t>
            </a:r>
            <a:r>
              <a:rPr lang="en-US" altLang="zh-CN" sz="2000" b="1" dirty="0">
                <a:solidFill>
                  <a:srgbClr val="04579A"/>
                </a:solidFill>
                <a:latin typeface="微软雅黑" panose="020B0503020204020204" charset="-122"/>
                <a:ea typeface="微软雅黑" panose="020B0503020204020204" charset="-122"/>
                <a:cs typeface="微软雅黑" panose="020B0503020204020204" charset="-122"/>
                <a:sym typeface="+mn-ea"/>
              </a:rPr>
              <a:t>1h</a:t>
            </a:r>
            <a:endParaRPr lang="zh-CN" altLang="en-US" sz="2000" dirty="0">
              <a:latin typeface="微软雅黑" panose="020B0503020204020204" charset="-122"/>
              <a:ea typeface="微软雅黑" panose="020B0503020204020204" charset="-122"/>
              <a:cs typeface="微软雅黑" panose="020B0503020204020204" charset="-122"/>
            </a:endParaRPr>
          </a:p>
          <a:p>
            <a:pPr marL="285750" indent="-285750" algn="l">
              <a:buFont typeface="Arial" panose="020B0604020202020204" pitchFamily="34" charset="0"/>
              <a:buChar char="•"/>
            </a:pPr>
            <a:r>
              <a:rPr lang="zh-CN" altLang="en-US" dirty="0">
                <a:latin typeface="微软雅黑" panose="020B0503020204020204" charset="-122"/>
                <a:ea typeface="微软雅黑" panose="020B0503020204020204" charset="-122"/>
                <a:cs typeface="微软雅黑" panose="020B0503020204020204" charset="-122"/>
                <a:sym typeface="+mn-ea"/>
              </a:rPr>
              <a:t>盗走密码货币价值</a:t>
            </a:r>
            <a:r>
              <a:rPr lang="en-US" altLang="zh-CN" dirty="0">
                <a:latin typeface="微软雅黑" panose="020B0503020204020204" charset="-122"/>
                <a:ea typeface="微软雅黑" panose="020B0503020204020204" charset="-122"/>
                <a:cs typeface="微软雅黑" panose="020B0503020204020204" charset="-122"/>
                <a:sym typeface="+mn-ea"/>
              </a:rPr>
              <a:t> </a:t>
            </a:r>
            <a:r>
              <a:rPr lang="en-US" sz="2000" b="1" dirty="0">
                <a:solidFill>
                  <a:srgbClr val="04579A"/>
                </a:solidFill>
                <a:latin typeface="微软雅黑" panose="020B0503020204020204" charset="-122"/>
                <a:ea typeface="微软雅黑" panose="020B0503020204020204" charset="-122"/>
                <a:cs typeface="微软雅黑" panose="020B0503020204020204" charset="-122"/>
                <a:sym typeface="+mn-ea"/>
              </a:rPr>
              <a:t>1200</a:t>
            </a:r>
            <a:r>
              <a:rPr lang="zh-CN" altLang="en-US" sz="2000" b="1" dirty="0">
                <a:solidFill>
                  <a:srgbClr val="04579A"/>
                </a:solidFill>
                <a:latin typeface="微软雅黑" panose="020B0503020204020204" charset="-122"/>
                <a:ea typeface="微软雅黑" panose="020B0503020204020204" charset="-122"/>
                <a:cs typeface="微软雅黑" panose="020B0503020204020204" charset="-122"/>
                <a:sym typeface="+mn-ea"/>
              </a:rPr>
              <a:t>万美元</a:t>
            </a:r>
            <a:endParaRPr lang="zh-CN" altLang="en-US" sz="2000" dirty="0">
              <a:latin typeface="微软雅黑" panose="020B0503020204020204" charset="-122"/>
              <a:ea typeface="微软雅黑" panose="020B0503020204020204" charset="-122"/>
              <a:cs typeface="微软雅黑" panose="020B0503020204020204" charset="-122"/>
              <a:sym typeface="+mn-ea"/>
            </a:endParaRPr>
          </a:p>
          <a:p>
            <a:pPr marL="285750" indent="-285750" algn="l">
              <a:buFont typeface="Arial" panose="020B0604020202020204" pitchFamily="34" charset="0"/>
              <a:buChar char="•"/>
            </a:pPr>
            <a:r>
              <a:rPr lang="zh-CN" altLang="en-US" dirty="0">
                <a:latin typeface="微软雅黑" panose="020B0503020204020204" charset="-122"/>
                <a:ea typeface="微软雅黑" panose="020B0503020204020204" charset="-122"/>
                <a:cs typeface="微软雅黑" panose="020B0503020204020204" charset="-122"/>
                <a:sym typeface="+mn-ea"/>
              </a:rPr>
              <a:t>已被成功攻击次数</a:t>
            </a:r>
            <a:r>
              <a:rPr lang="en-US" altLang="zh-CN" sz="1600" dirty="0">
                <a:latin typeface="微软雅黑" panose="020B0503020204020204" charset="-122"/>
                <a:ea typeface="微软雅黑" panose="020B0503020204020204" charset="-122"/>
                <a:cs typeface="微软雅黑" panose="020B0503020204020204" charset="-122"/>
                <a:sym typeface="+mn-ea"/>
              </a:rPr>
              <a:t>  </a:t>
            </a:r>
            <a:r>
              <a:rPr lang="en-US" sz="2000" b="1" dirty="0">
                <a:solidFill>
                  <a:srgbClr val="04579A"/>
                </a:solidFill>
                <a:latin typeface="微软雅黑" panose="020B0503020204020204" charset="-122"/>
                <a:ea typeface="微软雅黑" panose="020B0503020204020204" charset="-122"/>
                <a:cs typeface="微软雅黑" panose="020B0503020204020204" charset="-122"/>
                <a:sym typeface="+mn-ea"/>
              </a:rPr>
              <a:t>3</a:t>
            </a:r>
            <a:r>
              <a:rPr lang="zh-CN" altLang="en-US" sz="2000" b="1" dirty="0">
                <a:solidFill>
                  <a:srgbClr val="04579A"/>
                </a:solidFill>
                <a:latin typeface="微软雅黑" panose="020B0503020204020204" charset="-122"/>
                <a:ea typeface="微软雅黑" panose="020B0503020204020204" charset="-122"/>
                <a:cs typeface="微软雅黑" panose="020B0503020204020204" charset="-122"/>
                <a:sym typeface="+mn-ea"/>
              </a:rPr>
              <a:t>次</a:t>
            </a:r>
            <a:endParaRPr lang="en-US" altLang="zh-CN" sz="2000" b="1" dirty="0">
              <a:solidFill>
                <a:srgbClr val="04579A"/>
              </a:solidFill>
              <a:latin typeface="微软雅黑" panose="020B0503020204020204" charset="-122"/>
              <a:ea typeface="微软雅黑" panose="020B0503020204020204" charset="-122"/>
              <a:cs typeface="微软雅黑" panose="020B0503020204020204" charset="-122"/>
              <a:sym typeface="+mn-ea"/>
            </a:endParaRPr>
          </a:p>
          <a:p>
            <a:pPr marL="285750" indent="-285750">
              <a:buFont typeface="Arial" panose="020B0604020202020204" pitchFamily="34" charset="0"/>
              <a:buChar char="•"/>
            </a:pPr>
            <a:r>
              <a:rPr lang="zh-CN" altLang="en-US" dirty="0">
                <a:latin typeface="微软雅黑" panose="020B0503020204020204" charset="-122"/>
                <a:ea typeface="微软雅黑" panose="020B0503020204020204" charset="-122"/>
                <a:cs typeface="微软雅黑" panose="020B0503020204020204" charset="-122"/>
                <a:sym typeface="+mn-ea"/>
              </a:rPr>
              <a:t>损失金额总数高于 </a:t>
            </a:r>
            <a:r>
              <a:rPr lang="en-US" altLang="zh-CN" sz="2000" b="1" dirty="0">
                <a:solidFill>
                  <a:srgbClr val="04579A"/>
                </a:solidFill>
                <a:latin typeface="微软雅黑" panose="020B0503020204020204" charset="-122"/>
                <a:ea typeface="微软雅黑" panose="020B0503020204020204" charset="-122"/>
                <a:cs typeface="微软雅黑" panose="020B0503020204020204" charset="-122"/>
                <a:sym typeface="+mn-ea"/>
              </a:rPr>
              <a:t>6.5</a:t>
            </a:r>
            <a:r>
              <a:rPr lang="zh-CN" altLang="en-US" sz="2000" b="1" dirty="0">
                <a:solidFill>
                  <a:srgbClr val="04579A"/>
                </a:solidFill>
                <a:latin typeface="微软雅黑" panose="020B0503020204020204" charset="-122"/>
                <a:ea typeface="微软雅黑" panose="020B0503020204020204" charset="-122"/>
                <a:cs typeface="微软雅黑" panose="020B0503020204020204" charset="-122"/>
                <a:sym typeface="+mn-ea"/>
              </a:rPr>
              <a:t>亿美元</a:t>
            </a:r>
            <a:endParaRPr lang="en-US" altLang="zh-CN" sz="2000" b="1" dirty="0">
              <a:solidFill>
                <a:srgbClr val="04579A"/>
              </a:solidFill>
              <a:latin typeface="微软雅黑" panose="020B0503020204020204" charset="-122"/>
              <a:ea typeface="微软雅黑" panose="020B0503020204020204" charset="-122"/>
              <a:cs typeface="微软雅黑" panose="020B0503020204020204" charset="-122"/>
              <a:sym typeface="+mn-ea"/>
            </a:endParaRPr>
          </a:p>
        </p:txBody>
      </p:sp>
      <p:sp>
        <p:nvSpPr>
          <p:cNvPr id="13" name="文本框 12">
            <a:extLst>
              <a:ext uri="{FF2B5EF4-FFF2-40B4-BE49-F238E27FC236}">
                <a16:creationId xmlns:a16="http://schemas.microsoft.com/office/drawing/2014/main" id="{34F177CF-153F-C016-1FAB-9DA57E675EBC}"/>
              </a:ext>
            </a:extLst>
          </p:cNvPr>
          <p:cNvSpPr txBox="1"/>
          <p:nvPr/>
        </p:nvSpPr>
        <p:spPr>
          <a:xfrm>
            <a:off x="7076704" y="2085340"/>
            <a:ext cx="4139936" cy="726609"/>
          </a:xfrm>
          <a:prstGeom prst="rect">
            <a:avLst/>
          </a:prstGeom>
          <a:noFill/>
        </p:spPr>
        <p:txBody>
          <a:bodyPr wrap="square">
            <a:spAutoFit/>
          </a:bodyPr>
          <a:lstStyle/>
          <a:p>
            <a:pPr indent="0" algn="ctr" fontAlgn="auto">
              <a:lnSpc>
                <a:spcPct val="120000"/>
              </a:lnSpc>
            </a:pPr>
            <a:r>
              <a:rPr lang="zh-CN" altLang="en-US" sz="1800" dirty="0"/>
              <a:t>当</a:t>
            </a:r>
            <a:r>
              <a:rPr lang="zh-CN" altLang="en-US" sz="1800" b="1" dirty="0">
                <a:solidFill>
                  <a:srgbClr val="04579A"/>
                </a:solidFill>
              </a:rPr>
              <a:t>恶意</a:t>
            </a:r>
            <a:r>
              <a:rPr lang="zh-CN" altLang="en-US" sz="1800" dirty="0"/>
              <a:t>节点主动攻击，协议</a:t>
            </a:r>
            <a:r>
              <a:rPr lang="zh-CN" altLang="en-US" b="1" dirty="0">
                <a:solidFill>
                  <a:srgbClr val="04579A"/>
                </a:solidFill>
              </a:rPr>
              <a:t>安全性被破坏</a:t>
            </a:r>
            <a:r>
              <a:rPr lang="zh-CN" altLang="en-US" sz="1800" dirty="0"/>
              <a:t>将导致用户</a:t>
            </a:r>
            <a:r>
              <a:rPr lang="zh-CN" altLang="en-US" dirty="0"/>
              <a:t>直接</a:t>
            </a:r>
            <a:r>
              <a:rPr lang="zh-CN" altLang="en-US" b="1" dirty="0">
                <a:solidFill>
                  <a:srgbClr val="04579A"/>
                </a:solidFill>
              </a:rPr>
              <a:t>财产损失</a:t>
            </a:r>
          </a:p>
        </p:txBody>
      </p:sp>
      <p:pic>
        <p:nvPicPr>
          <p:cNvPr id="17" name="图片 16">
            <a:extLst>
              <a:ext uri="{FF2B5EF4-FFF2-40B4-BE49-F238E27FC236}">
                <a16:creationId xmlns:a16="http://schemas.microsoft.com/office/drawing/2014/main" id="{405C6370-CF5C-5E49-F7BD-9558B391B1E8}"/>
              </a:ext>
            </a:extLst>
          </p:cNvPr>
          <p:cNvPicPr>
            <a:picLocks noChangeAspect="1"/>
          </p:cNvPicPr>
          <p:nvPr/>
        </p:nvPicPr>
        <p:blipFill>
          <a:blip r:embed="rId15"/>
          <a:stretch>
            <a:fillRect/>
          </a:stretch>
        </p:blipFill>
        <p:spPr>
          <a:xfrm>
            <a:off x="985652" y="1864728"/>
            <a:ext cx="5110348" cy="1730150"/>
          </a:xfrm>
          <a:prstGeom prst="rect">
            <a:avLst/>
          </a:prstGeom>
        </p:spPr>
      </p:pic>
      <p:sp>
        <p:nvSpPr>
          <p:cNvPr id="18" name="文本框 17">
            <a:extLst>
              <a:ext uri="{FF2B5EF4-FFF2-40B4-BE49-F238E27FC236}">
                <a16:creationId xmlns:a16="http://schemas.microsoft.com/office/drawing/2014/main" id="{BC64E77C-19DC-A228-E60C-6B8482174FF4}"/>
              </a:ext>
            </a:extLst>
          </p:cNvPr>
          <p:cNvSpPr txBox="1"/>
          <p:nvPr/>
        </p:nvSpPr>
        <p:spPr>
          <a:xfrm>
            <a:off x="1052945" y="3139044"/>
            <a:ext cx="2014847" cy="307777"/>
          </a:xfrm>
          <a:prstGeom prst="rect">
            <a:avLst/>
          </a:prstGeom>
          <a:solidFill>
            <a:srgbClr val="FFFFFF"/>
          </a:solidFill>
        </p:spPr>
        <p:txBody>
          <a:bodyPr wrap="square" rtlCol="0">
            <a:spAutoFit/>
          </a:bodyPr>
          <a:lstStyle/>
          <a:p>
            <a:pPr algn="ctr"/>
            <a:r>
              <a:rPr lang="zh-CN" altLang="en-US" sz="1400" dirty="0"/>
              <a:t>涉案金额（百万美元）</a:t>
            </a:r>
          </a:p>
        </p:txBody>
      </p:sp>
      <p:sp>
        <p:nvSpPr>
          <p:cNvPr id="2" name="文本框 1">
            <a:extLst>
              <a:ext uri="{FF2B5EF4-FFF2-40B4-BE49-F238E27FC236}">
                <a16:creationId xmlns:a16="http://schemas.microsoft.com/office/drawing/2014/main" id="{16142BFF-0E8C-8538-58A3-59FDF0184C04}"/>
              </a:ext>
            </a:extLst>
          </p:cNvPr>
          <p:cNvSpPr txBox="1"/>
          <p:nvPr/>
        </p:nvSpPr>
        <p:spPr>
          <a:xfrm>
            <a:off x="11736779" y="6499761"/>
            <a:ext cx="455221" cy="369332"/>
          </a:xfrm>
          <a:prstGeom prst="rect">
            <a:avLst/>
          </a:prstGeom>
          <a:noFill/>
        </p:spPr>
        <p:txBody>
          <a:bodyPr wrap="square" rtlCol="0">
            <a:spAutoFit/>
          </a:bodyPr>
          <a:lstStyle/>
          <a:p>
            <a:pPr algn="ctr"/>
            <a:r>
              <a:rPr lang="en-US" altLang="zh-CN" dirty="0"/>
              <a:t>5</a:t>
            </a:r>
            <a:endParaRPr lang="zh-CN" altLang="en-US" dirty="0"/>
          </a:p>
        </p:txBody>
      </p:sp>
    </p:spTree>
    <p:custDataLst>
      <p:tags r:id="rId1"/>
    </p:custDataLst>
    <p:extLst>
      <p:ext uri="{BB962C8B-B14F-4D97-AF65-F5344CB8AC3E}">
        <p14:creationId xmlns:p14="http://schemas.microsoft.com/office/powerpoint/2010/main" val="254202335"/>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65" name="对角圆角矩形 264"/>
          <p:cNvSpPr/>
          <p:nvPr/>
        </p:nvSpPr>
        <p:spPr>
          <a:xfrm>
            <a:off x="2301240" y="2218690"/>
            <a:ext cx="2325370" cy="939165"/>
          </a:xfrm>
          <a:prstGeom prst="round2Diag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23" name="组合 222"/>
          <p:cNvGrpSpPr/>
          <p:nvPr/>
        </p:nvGrpSpPr>
        <p:grpSpPr>
          <a:xfrm>
            <a:off x="2145665" y="3644900"/>
            <a:ext cx="2781300" cy="1988185"/>
            <a:chOff x="3042" y="2727"/>
            <a:chExt cx="6475" cy="4627"/>
          </a:xfrm>
        </p:grpSpPr>
        <p:pic>
          <p:nvPicPr>
            <p:cNvPr id="211" name="图片 210" descr="how-certificate-authority-works-website"/>
            <p:cNvPicPr>
              <a:picLocks noChangeAspect="1"/>
            </p:cNvPicPr>
            <p:nvPr>
              <p:custDataLst>
                <p:tags r:id="rId26"/>
              </p:custDataLst>
            </p:nvPr>
          </p:nvPicPr>
          <p:blipFill>
            <a:blip r:embed="rId36">
              <a:clrChange>
                <a:clrFrom>
                  <a:srgbClr val="FFFFFF">
                    <a:alpha val="100000"/>
                  </a:srgbClr>
                </a:clrFrom>
                <a:clrTo>
                  <a:srgbClr val="FFFFFF">
                    <a:alpha val="100000"/>
                    <a:alpha val="0"/>
                  </a:srgbClr>
                </a:clrTo>
              </a:clrChange>
              <a:grayscl/>
              <a:lum bright="-6000" contrast="12000"/>
            </a:blip>
            <a:srcRect l="44181" t="13852" r="41595" b="75704"/>
            <a:stretch>
              <a:fillRect/>
            </a:stretch>
          </p:blipFill>
          <p:spPr>
            <a:xfrm>
              <a:off x="5500" y="4067"/>
              <a:ext cx="1560" cy="1333"/>
            </a:xfrm>
            <a:prstGeom prst="rect">
              <a:avLst/>
            </a:prstGeom>
          </p:spPr>
        </p:pic>
        <p:pic>
          <p:nvPicPr>
            <p:cNvPr id="212" name="图片 211" descr="src=http___pic.qiantucdn.com_58pic_28_67_85_01N58PICzK58PICMgcJf4frSf_PIC2018.jpg!_fw_1024_watermark_url_L2ltYWdlcy93YXRlcm1hcmsvZGF0dS5wbmc=_repeat_true_crop_0x1009a0a1009&amp;refer=http___pic.qiantucdn"/>
            <p:cNvPicPr>
              <a:picLocks noChangeAspect="1"/>
            </p:cNvPicPr>
            <p:nvPr>
              <p:custDataLst>
                <p:tags r:id="rId27"/>
              </p:custDataLst>
            </p:nvPr>
          </p:nvPicPr>
          <p:blipFill>
            <a:blip r:embed="rId37">
              <a:clrChange>
                <a:clrFrom>
                  <a:srgbClr val="F3EFEC">
                    <a:alpha val="100000"/>
                  </a:srgbClr>
                </a:clrFrom>
                <a:clrTo>
                  <a:srgbClr val="F3EFEC">
                    <a:alpha val="100000"/>
                    <a:alpha val="0"/>
                  </a:srgbClr>
                </a:clrTo>
              </a:clrChange>
            </a:blip>
            <a:srcRect r="49990"/>
            <a:stretch>
              <a:fillRect/>
            </a:stretch>
          </p:blipFill>
          <p:spPr>
            <a:xfrm>
              <a:off x="3042" y="2727"/>
              <a:ext cx="2458" cy="1954"/>
            </a:xfrm>
            <a:prstGeom prst="rect">
              <a:avLst/>
            </a:prstGeom>
          </p:spPr>
        </p:pic>
        <p:pic>
          <p:nvPicPr>
            <p:cNvPr id="213" name="图片 212" descr="src=http___pic.qiantucdn.com_58pic_28_67_85_01N58PICzK58PICMgcJf4frSf_PIC2018.jpg!_fw_1024_watermark_url_L2ltYWdlcy93YXRlcm1hcmsvZGF0dS5wbmc=_repeat_true_crop_0x1009a0a1009&amp;refer=http___pic.qiantucdn"/>
            <p:cNvPicPr>
              <a:picLocks noChangeAspect="1"/>
            </p:cNvPicPr>
            <p:nvPr>
              <p:custDataLst>
                <p:tags r:id="rId28"/>
              </p:custDataLst>
            </p:nvPr>
          </p:nvPicPr>
          <p:blipFill>
            <a:blip r:embed="rId37">
              <a:clrChange>
                <a:clrFrom>
                  <a:srgbClr val="F3EFEC">
                    <a:alpha val="100000"/>
                  </a:srgbClr>
                </a:clrFrom>
                <a:clrTo>
                  <a:srgbClr val="F3EFEC">
                    <a:alpha val="100000"/>
                    <a:alpha val="0"/>
                  </a:srgbClr>
                </a:clrTo>
              </a:clrChange>
            </a:blip>
            <a:srcRect l="50010"/>
            <a:stretch>
              <a:fillRect/>
            </a:stretch>
          </p:blipFill>
          <p:spPr>
            <a:xfrm>
              <a:off x="7060" y="2727"/>
              <a:ext cx="2457" cy="1954"/>
            </a:xfrm>
            <a:prstGeom prst="rect">
              <a:avLst/>
            </a:prstGeom>
          </p:spPr>
        </p:pic>
        <p:pic>
          <p:nvPicPr>
            <p:cNvPr id="215" name="图片 214" descr="src=http___pic.qiantucdn.com_58pic_28_67_85_01N58PICzK58PICMgcJf4frSf_PIC2018.jpg!_fw_1024_watermark_url_L2ltYWdlcy93YXRlcm1hcmsvZGF0dS5wbmc=_repeat_true_crop_0x1009a0a1009&amp;refer=http___pic.qiantucdn"/>
            <p:cNvPicPr>
              <a:picLocks noChangeAspect="1"/>
            </p:cNvPicPr>
            <p:nvPr>
              <p:custDataLst>
                <p:tags r:id="rId29"/>
              </p:custDataLst>
            </p:nvPr>
          </p:nvPicPr>
          <p:blipFill>
            <a:blip r:embed="rId37">
              <a:clrChange>
                <a:clrFrom>
                  <a:srgbClr val="F3EFEC">
                    <a:alpha val="100000"/>
                  </a:srgbClr>
                </a:clrFrom>
                <a:clrTo>
                  <a:srgbClr val="F3EFEC">
                    <a:alpha val="100000"/>
                    <a:alpha val="0"/>
                  </a:srgbClr>
                </a:clrTo>
              </a:clrChange>
            </a:blip>
            <a:srcRect l="50010"/>
            <a:stretch>
              <a:fillRect/>
            </a:stretch>
          </p:blipFill>
          <p:spPr>
            <a:xfrm>
              <a:off x="3043" y="5400"/>
              <a:ext cx="2457" cy="1954"/>
            </a:xfrm>
            <a:prstGeom prst="rect">
              <a:avLst/>
            </a:prstGeom>
          </p:spPr>
        </p:pic>
        <p:pic>
          <p:nvPicPr>
            <p:cNvPr id="217" name="图片 216" descr="src=http___pic.qiantucdn.com_58pic_28_67_85_01N58PICzK58PICMgcJf4frSf_PIC2018.jpg!_fw_1024_watermark_url_L2ltYWdlcy93YXRlcm1hcmsvZGF0dS5wbmc=_repeat_true_crop_0x1009a0a1009&amp;refer=http___pic.qiantucdn"/>
            <p:cNvPicPr>
              <a:picLocks noChangeAspect="1"/>
            </p:cNvPicPr>
            <p:nvPr>
              <p:custDataLst>
                <p:tags r:id="rId30"/>
              </p:custDataLst>
            </p:nvPr>
          </p:nvPicPr>
          <p:blipFill>
            <a:blip r:embed="rId37">
              <a:clrChange>
                <a:clrFrom>
                  <a:srgbClr val="F3EFEC">
                    <a:alpha val="100000"/>
                  </a:srgbClr>
                </a:clrFrom>
                <a:clrTo>
                  <a:srgbClr val="F3EFEC">
                    <a:alpha val="100000"/>
                    <a:alpha val="0"/>
                  </a:srgbClr>
                </a:clrTo>
              </a:clrChange>
            </a:blip>
            <a:srcRect r="49990"/>
            <a:stretch>
              <a:fillRect/>
            </a:stretch>
          </p:blipFill>
          <p:spPr>
            <a:xfrm>
              <a:off x="7059" y="5400"/>
              <a:ext cx="2458" cy="1954"/>
            </a:xfrm>
            <a:prstGeom prst="rect">
              <a:avLst/>
            </a:prstGeom>
          </p:spPr>
        </p:pic>
        <p:cxnSp>
          <p:nvCxnSpPr>
            <p:cNvPr id="218" name="直接连接符 217"/>
            <p:cNvCxnSpPr/>
            <p:nvPr/>
          </p:nvCxnSpPr>
          <p:spPr>
            <a:xfrm>
              <a:off x="4940" y="4084"/>
              <a:ext cx="520" cy="520"/>
            </a:xfrm>
            <a:prstGeom prst="line">
              <a:avLst/>
            </a:prstGeom>
            <a:ln w="12700">
              <a:solidFill>
                <a:srgbClr val="03569A"/>
              </a:solidFill>
              <a:headEnd type="triangle"/>
            </a:ln>
          </p:spPr>
          <p:style>
            <a:lnRef idx="1">
              <a:schemeClr val="accent1"/>
            </a:lnRef>
            <a:fillRef idx="0">
              <a:schemeClr val="accent1"/>
            </a:fillRef>
            <a:effectRef idx="0">
              <a:schemeClr val="accent1"/>
            </a:effectRef>
            <a:fontRef idx="minor">
              <a:schemeClr val="tx1"/>
            </a:fontRef>
          </p:style>
        </p:cxnSp>
        <p:cxnSp>
          <p:nvCxnSpPr>
            <p:cNvPr id="219" name="直接连接符 218"/>
            <p:cNvCxnSpPr/>
            <p:nvPr>
              <p:custDataLst>
                <p:tags r:id="rId31"/>
              </p:custDataLst>
            </p:nvPr>
          </p:nvCxnSpPr>
          <p:spPr>
            <a:xfrm flipH="1">
              <a:off x="7100" y="4084"/>
              <a:ext cx="520" cy="520"/>
            </a:xfrm>
            <a:prstGeom prst="line">
              <a:avLst/>
            </a:prstGeom>
            <a:ln w="12700">
              <a:solidFill>
                <a:srgbClr val="03569A"/>
              </a:solidFill>
              <a:headEnd type="triangle"/>
            </a:ln>
          </p:spPr>
          <p:style>
            <a:lnRef idx="1">
              <a:schemeClr val="accent1"/>
            </a:lnRef>
            <a:fillRef idx="0">
              <a:schemeClr val="accent1"/>
            </a:fillRef>
            <a:effectRef idx="0">
              <a:schemeClr val="accent1"/>
            </a:effectRef>
            <a:fontRef idx="minor">
              <a:schemeClr val="tx1"/>
            </a:fontRef>
          </p:style>
        </p:cxnSp>
        <p:cxnSp>
          <p:nvCxnSpPr>
            <p:cNvPr id="220" name="直接连接符 219"/>
            <p:cNvCxnSpPr/>
            <p:nvPr>
              <p:custDataLst>
                <p:tags r:id="rId32"/>
              </p:custDataLst>
            </p:nvPr>
          </p:nvCxnSpPr>
          <p:spPr>
            <a:xfrm>
              <a:off x="7100" y="5584"/>
              <a:ext cx="520" cy="520"/>
            </a:xfrm>
            <a:prstGeom prst="line">
              <a:avLst/>
            </a:prstGeom>
            <a:ln w="12700">
              <a:solidFill>
                <a:srgbClr val="03569A"/>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22" name="直接连接符 221"/>
            <p:cNvCxnSpPr/>
            <p:nvPr>
              <p:custDataLst>
                <p:tags r:id="rId33"/>
              </p:custDataLst>
            </p:nvPr>
          </p:nvCxnSpPr>
          <p:spPr>
            <a:xfrm flipH="1">
              <a:off x="4940" y="5584"/>
              <a:ext cx="520" cy="520"/>
            </a:xfrm>
            <a:prstGeom prst="line">
              <a:avLst/>
            </a:prstGeom>
            <a:ln w="12700">
              <a:solidFill>
                <a:srgbClr val="03569A"/>
              </a:solidFill>
              <a:headEnd type="none"/>
              <a:tailEnd type="triangle"/>
            </a:ln>
          </p:spPr>
          <p:style>
            <a:lnRef idx="1">
              <a:schemeClr val="accent1"/>
            </a:lnRef>
            <a:fillRef idx="0">
              <a:schemeClr val="accent1"/>
            </a:fillRef>
            <a:effectRef idx="0">
              <a:schemeClr val="accent1"/>
            </a:effectRef>
            <a:fontRef idx="minor">
              <a:schemeClr val="tx1"/>
            </a:fontRef>
          </p:style>
        </p:cxnSp>
      </p:grpSp>
      <p:grpSp>
        <p:nvGrpSpPr>
          <p:cNvPr id="242" name="组合 241"/>
          <p:cNvGrpSpPr/>
          <p:nvPr/>
        </p:nvGrpSpPr>
        <p:grpSpPr>
          <a:xfrm>
            <a:off x="6831965" y="3574415"/>
            <a:ext cx="2947670" cy="2106295"/>
            <a:chOff x="9517" y="4186"/>
            <a:chExt cx="5243" cy="3747"/>
          </a:xfrm>
        </p:grpSpPr>
        <p:pic>
          <p:nvPicPr>
            <p:cNvPr id="226" name="图片 225" descr="src=http___pic.qiantucdn.com_58pic_28_67_85_01N58PICzK58PICMgcJf4frSf_PIC2018.jpg!_fw_1024_watermark_url_L2ltYWdlcy93YXRlcm1hcmsvZGF0dS5wbmc=_repeat_true_crop_0x1009a0a1009&amp;refer=http___pic.qiantucdn"/>
            <p:cNvPicPr>
              <a:picLocks noChangeAspect="1"/>
            </p:cNvPicPr>
            <p:nvPr>
              <p:custDataLst>
                <p:tags r:id="rId16"/>
              </p:custDataLst>
            </p:nvPr>
          </p:nvPicPr>
          <p:blipFill>
            <a:blip r:embed="rId37">
              <a:clrChange>
                <a:clrFrom>
                  <a:srgbClr val="F3EFEC">
                    <a:alpha val="100000"/>
                  </a:srgbClr>
                </a:clrFrom>
                <a:clrTo>
                  <a:srgbClr val="F3EFEC">
                    <a:alpha val="100000"/>
                    <a:alpha val="0"/>
                  </a:srgbClr>
                </a:clrTo>
              </a:clrChange>
            </a:blip>
            <a:srcRect r="59736"/>
            <a:stretch>
              <a:fillRect/>
            </a:stretch>
          </p:blipFill>
          <p:spPr>
            <a:xfrm>
              <a:off x="9517" y="4186"/>
              <a:ext cx="1603" cy="1583"/>
            </a:xfrm>
            <a:prstGeom prst="rect">
              <a:avLst/>
            </a:prstGeom>
          </p:spPr>
        </p:pic>
        <p:pic>
          <p:nvPicPr>
            <p:cNvPr id="227" name="图片 226" descr="src=http___pic.qiantucdn.com_58pic_28_67_85_01N58PICzK58PICMgcJf4frSf_PIC2018.jpg!_fw_1024_watermark_url_L2ltYWdlcy93YXRlcm1hcmsvZGF0dS5wbmc=_repeat_true_crop_0x1009a0a1009&amp;refer=http___pic.qiantucdn"/>
            <p:cNvPicPr>
              <a:picLocks noChangeAspect="1"/>
            </p:cNvPicPr>
            <p:nvPr>
              <p:custDataLst>
                <p:tags r:id="rId17"/>
              </p:custDataLst>
            </p:nvPr>
          </p:nvPicPr>
          <p:blipFill>
            <a:blip r:embed="rId37">
              <a:clrChange>
                <a:clrFrom>
                  <a:srgbClr val="F3EFEC">
                    <a:alpha val="100000"/>
                  </a:srgbClr>
                </a:clrFrom>
                <a:clrTo>
                  <a:srgbClr val="F3EFEC">
                    <a:alpha val="100000"/>
                    <a:alpha val="0"/>
                  </a:srgbClr>
                </a:clrTo>
              </a:clrChange>
            </a:blip>
            <a:srcRect l="60284"/>
            <a:stretch>
              <a:fillRect/>
            </a:stretch>
          </p:blipFill>
          <p:spPr>
            <a:xfrm>
              <a:off x="13180" y="4186"/>
              <a:ext cx="1581" cy="1583"/>
            </a:xfrm>
            <a:prstGeom prst="rect">
              <a:avLst/>
            </a:prstGeom>
          </p:spPr>
        </p:pic>
        <p:pic>
          <p:nvPicPr>
            <p:cNvPr id="228" name="图片 227" descr="src=http___pic.qiantucdn.com_58pic_28_67_85_01N58PICzK58PICMgcJf4frSf_PIC2018.jpg!_fw_1024_watermark_url_L2ltYWdlcy93YXRlcm1hcmsvZGF0dS5wbmc=_repeat_true_crop_0x1009a0a1009&amp;refer=http___pic.qiantucdn"/>
            <p:cNvPicPr>
              <a:picLocks noChangeAspect="1"/>
            </p:cNvPicPr>
            <p:nvPr>
              <p:custDataLst>
                <p:tags r:id="rId18"/>
              </p:custDataLst>
            </p:nvPr>
          </p:nvPicPr>
          <p:blipFill>
            <a:blip r:embed="rId37">
              <a:clrChange>
                <a:clrFrom>
                  <a:srgbClr val="F3EFEC">
                    <a:alpha val="100000"/>
                  </a:srgbClr>
                </a:clrFrom>
                <a:clrTo>
                  <a:srgbClr val="F3EFEC">
                    <a:alpha val="100000"/>
                    <a:alpha val="0"/>
                  </a:srgbClr>
                </a:clrTo>
              </a:clrChange>
            </a:blip>
            <a:srcRect l="50010" r="9747"/>
            <a:stretch>
              <a:fillRect/>
            </a:stretch>
          </p:blipFill>
          <p:spPr>
            <a:xfrm>
              <a:off x="9518" y="6351"/>
              <a:ext cx="1602" cy="1583"/>
            </a:xfrm>
            <a:prstGeom prst="rect">
              <a:avLst/>
            </a:prstGeom>
          </p:spPr>
        </p:pic>
        <p:pic>
          <p:nvPicPr>
            <p:cNvPr id="229" name="图片 228" descr="src=http___pic.qiantucdn.com_58pic_28_67_85_01N58PICzK58PICMgcJf4frSf_PIC2018.jpg!_fw_1024_watermark_url_L2ltYWdlcy93YXRlcm1hcmsvZGF0dS5wbmc=_repeat_true_crop_0x1009a0a1009&amp;refer=http___pic.qiantucdn"/>
            <p:cNvPicPr>
              <a:picLocks noChangeAspect="1"/>
            </p:cNvPicPr>
            <p:nvPr>
              <p:custDataLst>
                <p:tags r:id="rId19"/>
              </p:custDataLst>
            </p:nvPr>
          </p:nvPicPr>
          <p:blipFill>
            <a:blip r:embed="rId37">
              <a:clrChange>
                <a:clrFrom>
                  <a:srgbClr val="F3EFEC">
                    <a:alpha val="100000"/>
                  </a:srgbClr>
                </a:clrFrom>
                <a:clrTo>
                  <a:srgbClr val="F3EFEC">
                    <a:alpha val="100000"/>
                    <a:alpha val="0"/>
                  </a:srgbClr>
                </a:clrTo>
              </a:clrChange>
            </a:blip>
            <a:srcRect l="10298" r="49990"/>
            <a:stretch>
              <a:fillRect/>
            </a:stretch>
          </p:blipFill>
          <p:spPr>
            <a:xfrm>
              <a:off x="13180" y="6351"/>
              <a:ext cx="1581" cy="1583"/>
            </a:xfrm>
            <a:prstGeom prst="rect">
              <a:avLst/>
            </a:prstGeom>
          </p:spPr>
        </p:pic>
        <p:cxnSp>
          <p:nvCxnSpPr>
            <p:cNvPr id="234" name="直接连接符 233"/>
            <p:cNvCxnSpPr>
              <a:stCxn id="226" idx="3"/>
              <a:endCxn id="228" idx="3"/>
            </p:cNvCxnSpPr>
            <p:nvPr>
              <p:custDataLst>
                <p:tags r:id="rId20"/>
              </p:custDataLst>
            </p:nvPr>
          </p:nvCxnSpPr>
          <p:spPr>
            <a:xfrm>
              <a:off x="11120" y="4978"/>
              <a:ext cx="0" cy="2165"/>
            </a:xfrm>
            <a:prstGeom prst="line">
              <a:avLst/>
            </a:prstGeom>
            <a:ln w="12700">
              <a:solidFill>
                <a:srgbClr val="03569A"/>
              </a:solidFill>
              <a:headEnd type="none"/>
            </a:ln>
          </p:spPr>
          <p:style>
            <a:lnRef idx="1">
              <a:schemeClr val="accent1"/>
            </a:lnRef>
            <a:fillRef idx="0">
              <a:schemeClr val="accent1"/>
            </a:fillRef>
            <a:effectRef idx="0">
              <a:schemeClr val="accent1"/>
            </a:effectRef>
            <a:fontRef idx="minor">
              <a:schemeClr val="tx1"/>
            </a:fontRef>
          </p:style>
        </p:cxnSp>
        <p:cxnSp>
          <p:nvCxnSpPr>
            <p:cNvPr id="235" name="直接连接符 234"/>
            <p:cNvCxnSpPr>
              <a:stCxn id="226" idx="3"/>
              <a:endCxn id="229" idx="1"/>
            </p:cNvCxnSpPr>
            <p:nvPr>
              <p:custDataLst>
                <p:tags r:id="rId21"/>
              </p:custDataLst>
            </p:nvPr>
          </p:nvCxnSpPr>
          <p:spPr>
            <a:xfrm>
              <a:off x="11120" y="4978"/>
              <a:ext cx="2060" cy="2165"/>
            </a:xfrm>
            <a:prstGeom prst="line">
              <a:avLst/>
            </a:prstGeom>
            <a:ln w="12700">
              <a:solidFill>
                <a:srgbClr val="03569A"/>
              </a:solidFill>
              <a:headEnd type="none"/>
            </a:ln>
          </p:spPr>
          <p:style>
            <a:lnRef idx="1">
              <a:schemeClr val="accent1"/>
            </a:lnRef>
            <a:fillRef idx="0">
              <a:schemeClr val="accent1"/>
            </a:fillRef>
            <a:effectRef idx="0">
              <a:schemeClr val="accent1"/>
            </a:effectRef>
            <a:fontRef idx="minor">
              <a:schemeClr val="tx1"/>
            </a:fontRef>
          </p:style>
        </p:cxnSp>
        <p:cxnSp>
          <p:nvCxnSpPr>
            <p:cNvPr id="236" name="直接连接符 235"/>
            <p:cNvCxnSpPr>
              <a:stCxn id="227" idx="1"/>
              <a:endCxn id="228" idx="3"/>
            </p:cNvCxnSpPr>
            <p:nvPr>
              <p:custDataLst>
                <p:tags r:id="rId22"/>
              </p:custDataLst>
            </p:nvPr>
          </p:nvCxnSpPr>
          <p:spPr>
            <a:xfrm flipH="1">
              <a:off x="11120" y="4978"/>
              <a:ext cx="2060" cy="2165"/>
            </a:xfrm>
            <a:prstGeom prst="line">
              <a:avLst/>
            </a:prstGeom>
            <a:ln w="12700">
              <a:solidFill>
                <a:srgbClr val="03569A"/>
              </a:solidFill>
              <a:headEnd type="none"/>
            </a:ln>
          </p:spPr>
          <p:style>
            <a:lnRef idx="1">
              <a:schemeClr val="accent1"/>
            </a:lnRef>
            <a:fillRef idx="0">
              <a:schemeClr val="accent1"/>
            </a:fillRef>
            <a:effectRef idx="0">
              <a:schemeClr val="accent1"/>
            </a:effectRef>
            <a:fontRef idx="minor">
              <a:schemeClr val="tx1"/>
            </a:fontRef>
          </p:style>
        </p:cxnSp>
        <p:cxnSp>
          <p:nvCxnSpPr>
            <p:cNvPr id="237" name="直接连接符 236"/>
            <p:cNvCxnSpPr>
              <a:stCxn id="229" idx="1"/>
              <a:endCxn id="228" idx="3"/>
            </p:cNvCxnSpPr>
            <p:nvPr>
              <p:custDataLst>
                <p:tags r:id="rId23"/>
              </p:custDataLst>
            </p:nvPr>
          </p:nvCxnSpPr>
          <p:spPr>
            <a:xfrm flipH="1">
              <a:off x="11120" y="7143"/>
              <a:ext cx="2060" cy="0"/>
            </a:xfrm>
            <a:prstGeom prst="line">
              <a:avLst/>
            </a:prstGeom>
            <a:ln w="12700">
              <a:solidFill>
                <a:srgbClr val="03569A"/>
              </a:solidFill>
              <a:headEnd type="none"/>
            </a:ln>
          </p:spPr>
          <p:style>
            <a:lnRef idx="1">
              <a:schemeClr val="accent1"/>
            </a:lnRef>
            <a:fillRef idx="0">
              <a:schemeClr val="accent1"/>
            </a:fillRef>
            <a:effectRef idx="0">
              <a:schemeClr val="accent1"/>
            </a:effectRef>
            <a:fontRef idx="minor">
              <a:schemeClr val="tx1"/>
            </a:fontRef>
          </p:style>
        </p:cxnSp>
        <p:cxnSp>
          <p:nvCxnSpPr>
            <p:cNvPr id="238" name="直接连接符 237"/>
            <p:cNvCxnSpPr>
              <a:stCxn id="226" idx="3"/>
              <a:endCxn id="227" idx="1"/>
            </p:cNvCxnSpPr>
            <p:nvPr>
              <p:custDataLst>
                <p:tags r:id="rId24"/>
              </p:custDataLst>
            </p:nvPr>
          </p:nvCxnSpPr>
          <p:spPr>
            <a:xfrm>
              <a:off x="11120" y="4978"/>
              <a:ext cx="2060" cy="0"/>
            </a:xfrm>
            <a:prstGeom prst="line">
              <a:avLst/>
            </a:prstGeom>
            <a:ln w="12700">
              <a:solidFill>
                <a:srgbClr val="03569A"/>
              </a:solidFill>
              <a:headEnd type="none"/>
            </a:ln>
          </p:spPr>
          <p:style>
            <a:lnRef idx="1">
              <a:schemeClr val="accent1"/>
            </a:lnRef>
            <a:fillRef idx="0">
              <a:schemeClr val="accent1"/>
            </a:fillRef>
            <a:effectRef idx="0">
              <a:schemeClr val="accent1"/>
            </a:effectRef>
            <a:fontRef idx="minor">
              <a:schemeClr val="tx1"/>
            </a:fontRef>
          </p:style>
        </p:cxnSp>
        <p:cxnSp>
          <p:nvCxnSpPr>
            <p:cNvPr id="239" name="直接连接符 238"/>
            <p:cNvCxnSpPr>
              <a:stCxn id="227" idx="1"/>
              <a:endCxn id="229" idx="1"/>
            </p:cNvCxnSpPr>
            <p:nvPr>
              <p:custDataLst>
                <p:tags r:id="rId25"/>
              </p:custDataLst>
            </p:nvPr>
          </p:nvCxnSpPr>
          <p:spPr>
            <a:xfrm>
              <a:off x="13180" y="4978"/>
              <a:ext cx="0" cy="2165"/>
            </a:xfrm>
            <a:prstGeom prst="line">
              <a:avLst/>
            </a:prstGeom>
            <a:ln w="12700">
              <a:solidFill>
                <a:srgbClr val="03569A"/>
              </a:solidFill>
              <a:headEnd type="none"/>
            </a:ln>
          </p:spPr>
          <p:style>
            <a:lnRef idx="1">
              <a:schemeClr val="accent1"/>
            </a:lnRef>
            <a:fillRef idx="0">
              <a:schemeClr val="accent1"/>
            </a:fillRef>
            <a:effectRef idx="0">
              <a:schemeClr val="accent1"/>
            </a:effectRef>
            <a:fontRef idx="minor">
              <a:schemeClr val="tx1"/>
            </a:fontRef>
          </p:style>
        </p:cxnSp>
      </p:grpSp>
      <p:sp>
        <p:nvSpPr>
          <p:cNvPr id="240" name="文本框 239"/>
          <p:cNvSpPr txBox="1"/>
          <p:nvPr/>
        </p:nvSpPr>
        <p:spPr>
          <a:xfrm>
            <a:off x="1003300" y="5664355"/>
            <a:ext cx="5076825" cy="400110"/>
          </a:xfrm>
          <a:prstGeom prst="rect">
            <a:avLst/>
          </a:prstGeom>
          <a:noFill/>
        </p:spPr>
        <p:txBody>
          <a:bodyPr wrap="square" rtlCol="0" anchor="t">
            <a:spAutoFit/>
          </a:bodyPr>
          <a:lstStyle/>
          <a:p>
            <a:pPr algn="ctr"/>
            <a:r>
              <a:rPr lang="zh-CN" altLang="en-US" sz="2000" dirty="0">
                <a:solidFill>
                  <a:schemeClr val="tx1"/>
                </a:solidFill>
                <a:latin typeface="+mj-ea"/>
                <a:ea typeface="+mj-ea"/>
                <a:sym typeface="+mn-ea"/>
              </a:rPr>
              <a:t>可信假设</a:t>
            </a:r>
            <a:r>
              <a:rPr lang="zh-CN" altLang="en-US" sz="2000" dirty="0">
                <a:latin typeface="+mj-ea"/>
                <a:ea typeface="+mj-ea"/>
                <a:sym typeface="+mn-ea"/>
              </a:rPr>
              <a:t>减弱了协议的安全性</a:t>
            </a:r>
            <a:endParaRPr lang="zh-CN" altLang="en-US" sz="2000" dirty="0">
              <a:solidFill>
                <a:schemeClr val="tx1"/>
              </a:solidFill>
              <a:latin typeface="+mj-ea"/>
              <a:ea typeface="+mj-ea"/>
              <a:sym typeface="+mn-ea"/>
            </a:endParaRPr>
          </a:p>
        </p:txBody>
      </p:sp>
      <p:sp>
        <p:nvSpPr>
          <p:cNvPr id="241" name="文本框 240"/>
          <p:cNvSpPr txBox="1"/>
          <p:nvPr/>
        </p:nvSpPr>
        <p:spPr>
          <a:xfrm>
            <a:off x="6842892" y="5563788"/>
            <a:ext cx="3203013" cy="707886"/>
          </a:xfrm>
          <a:prstGeom prst="rect">
            <a:avLst/>
          </a:prstGeom>
          <a:noFill/>
        </p:spPr>
        <p:txBody>
          <a:bodyPr wrap="square" rtlCol="0" anchor="t">
            <a:spAutoFit/>
          </a:bodyPr>
          <a:lstStyle/>
          <a:p>
            <a:pPr algn="ctr"/>
            <a:r>
              <a:rPr lang="zh-CN" altLang="en-US" sz="2000" b="1" dirty="0">
                <a:solidFill>
                  <a:srgbClr val="04579A"/>
                </a:solidFill>
              </a:rPr>
              <a:t>需要去除可信假设，</a:t>
            </a:r>
            <a:endParaRPr lang="en-US" altLang="zh-CN" sz="2000" b="1" dirty="0">
              <a:solidFill>
                <a:srgbClr val="04579A"/>
              </a:solidFill>
            </a:endParaRPr>
          </a:p>
          <a:p>
            <a:pPr algn="ctr"/>
            <a:r>
              <a:rPr lang="zh-CN" altLang="en-US" sz="2000" b="1" dirty="0">
                <a:solidFill>
                  <a:srgbClr val="04579A"/>
                </a:solidFill>
              </a:rPr>
              <a:t>建立更实际的安全模型</a:t>
            </a:r>
          </a:p>
        </p:txBody>
      </p:sp>
      <p:sp>
        <p:nvSpPr>
          <p:cNvPr id="243" name="文本框 242"/>
          <p:cNvSpPr txBox="1"/>
          <p:nvPr/>
        </p:nvSpPr>
        <p:spPr>
          <a:xfrm>
            <a:off x="863600" y="1562735"/>
            <a:ext cx="6096000" cy="646331"/>
          </a:xfrm>
          <a:prstGeom prst="rect">
            <a:avLst/>
          </a:prstGeom>
          <a:noFill/>
        </p:spPr>
        <p:txBody>
          <a:bodyPr wrap="square" rtlCol="0" anchor="t">
            <a:spAutoFit/>
          </a:bodyPr>
          <a:lstStyle/>
          <a:p>
            <a:r>
              <a:rPr lang="zh-CN" altLang="en-US" dirty="0">
                <a:solidFill>
                  <a:schemeClr val="tx1">
                    <a:lumMod val="85000"/>
                    <a:lumOff val="15000"/>
                  </a:schemeClr>
                </a:solidFill>
              </a:rPr>
              <a:t>资产兑换协议是构建</a:t>
            </a:r>
            <a:r>
              <a:rPr lang="zh-CN" altLang="en-US" dirty="0">
                <a:solidFill>
                  <a:schemeClr val="tx1">
                    <a:lumMod val="75000"/>
                    <a:lumOff val="25000"/>
                  </a:schemeClr>
                </a:solidFill>
                <a:sym typeface="+mn-ea"/>
              </a:rPr>
              <a:t>分布式数字资产交易协议</a:t>
            </a:r>
            <a:r>
              <a:rPr lang="zh-CN" altLang="en-US" dirty="0">
                <a:solidFill>
                  <a:schemeClr val="tx1">
                    <a:lumMod val="85000"/>
                    <a:lumOff val="15000"/>
                  </a:schemeClr>
                </a:solidFill>
              </a:rPr>
              <a:t>的重要组件</a:t>
            </a:r>
            <a:r>
              <a:rPr lang="en-US" altLang="zh-CN" dirty="0">
                <a:solidFill>
                  <a:schemeClr val="tx1">
                    <a:lumMod val="85000"/>
                    <a:lumOff val="15000"/>
                  </a:schemeClr>
                </a:solidFill>
              </a:rPr>
              <a:t>:</a:t>
            </a:r>
          </a:p>
          <a:p>
            <a:endParaRPr lang="en-US" altLang="zh-CN" dirty="0">
              <a:solidFill>
                <a:schemeClr val="tx1">
                  <a:lumMod val="85000"/>
                  <a:lumOff val="15000"/>
                </a:schemeClr>
              </a:solidFill>
            </a:endParaRPr>
          </a:p>
        </p:txBody>
      </p:sp>
      <p:sp>
        <p:nvSpPr>
          <p:cNvPr id="246" name="右箭头 245"/>
          <p:cNvSpPr/>
          <p:nvPr/>
        </p:nvSpPr>
        <p:spPr>
          <a:xfrm>
            <a:off x="5586730" y="4645660"/>
            <a:ext cx="431165" cy="843915"/>
          </a:xfrm>
          <a:prstGeom prst="rightArrow">
            <a:avLst/>
          </a:prstGeom>
          <a:noFill/>
          <a:ln w="19050">
            <a:solidFill>
              <a:srgbClr val="04579A"/>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3" name="标题 1"/>
          <p:cNvSpPr txBox="1"/>
          <p:nvPr>
            <p:custDataLst>
              <p:tags r:id="rId2"/>
            </p:custDataLst>
          </p:nvPr>
        </p:nvSpPr>
        <p:spPr>
          <a:xfrm>
            <a:off x="2609850" y="2367280"/>
            <a:ext cx="1680845" cy="762635"/>
          </a:xfrm>
          <a:prstGeom prst="rect">
            <a:avLst/>
          </a:prstGeom>
          <a:noFill/>
        </p:spPr>
        <p:txBody>
          <a:bodyPr wrap="square" rtlCol="0">
            <a:normAutofit fontScale="97500"/>
          </a:bodyPr>
          <a:lstStyle>
            <a:defPPr>
              <a:defRPr lang="zh-CN"/>
            </a:defPPr>
            <a:lvl1pPr>
              <a:lnSpc>
                <a:spcPct val="130000"/>
              </a:lnSpc>
              <a:defRPr sz="1200"/>
            </a:lvl1pPr>
          </a:lstStyle>
          <a:p>
            <a:pPr indent="0" algn="ctr" fontAlgn="auto">
              <a:lnSpc>
                <a:spcPct val="120000"/>
              </a:lnSpc>
            </a:pPr>
            <a:r>
              <a:rPr lang="zh-CN" altLang="en-US" sz="1555" dirty="0">
                <a:sym typeface="+mn-ea"/>
              </a:rPr>
              <a:t>资产安全性依赖</a:t>
            </a:r>
            <a:r>
              <a:rPr lang="zh-CN" altLang="en-US" sz="1555" b="1" dirty="0">
                <a:solidFill>
                  <a:schemeClr val="accent5">
                    <a:lumMod val="75000"/>
                  </a:schemeClr>
                </a:solidFill>
                <a:sym typeface="+mn-ea"/>
              </a:rPr>
              <a:t>智能合约</a:t>
            </a:r>
            <a:r>
              <a:rPr lang="zh-CN" altLang="en-US" sz="1555" dirty="0">
                <a:sym typeface="+mn-ea"/>
              </a:rPr>
              <a:t>托管</a:t>
            </a:r>
          </a:p>
        </p:txBody>
      </p:sp>
      <p:sp>
        <p:nvSpPr>
          <p:cNvPr id="266" name="对角圆角矩形 265"/>
          <p:cNvSpPr/>
          <p:nvPr>
            <p:custDataLst>
              <p:tags r:id="rId3"/>
            </p:custDataLst>
          </p:nvPr>
        </p:nvSpPr>
        <p:spPr>
          <a:xfrm>
            <a:off x="4937760" y="2227580"/>
            <a:ext cx="2325370" cy="939165"/>
          </a:xfrm>
          <a:prstGeom prst="round2Diag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7" name="对角圆角矩形 266"/>
          <p:cNvSpPr/>
          <p:nvPr>
            <p:custDataLst>
              <p:tags r:id="rId4"/>
            </p:custDataLst>
          </p:nvPr>
        </p:nvSpPr>
        <p:spPr>
          <a:xfrm>
            <a:off x="7574280" y="2190750"/>
            <a:ext cx="2325370" cy="939165"/>
          </a:xfrm>
          <a:prstGeom prst="round2Diag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1" name="标题 1"/>
          <p:cNvSpPr txBox="1"/>
          <p:nvPr>
            <p:custDataLst>
              <p:tags r:id="rId5"/>
            </p:custDataLst>
          </p:nvPr>
        </p:nvSpPr>
        <p:spPr>
          <a:xfrm>
            <a:off x="5266690" y="2350770"/>
            <a:ext cx="1668145" cy="701675"/>
          </a:xfrm>
          <a:prstGeom prst="rect">
            <a:avLst/>
          </a:prstGeom>
          <a:noFill/>
        </p:spPr>
        <p:txBody>
          <a:bodyPr wrap="square" rtlCol="0">
            <a:normAutofit/>
          </a:bodyPr>
          <a:lstStyle>
            <a:defPPr>
              <a:defRPr lang="zh-CN"/>
            </a:defPPr>
            <a:lvl1pPr>
              <a:lnSpc>
                <a:spcPct val="130000"/>
              </a:lnSpc>
              <a:defRPr sz="1200"/>
            </a:lvl1pPr>
          </a:lstStyle>
          <a:p>
            <a:pPr indent="0" algn="l" fontAlgn="auto">
              <a:lnSpc>
                <a:spcPct val="120000"/>
              </a:lnSpc>
              <a:buClrTx/>
              <a:buSzTx/>
              <a:buFontTx/>
            </a:pPr>
            <a:r>
              <a:rPr lang="zh-CN" altLang="en-US" sz="1400" dirty="0">
                <a:sym typeface="+mn-ea"/>
              </a:rPr>
              <a:t>兑换有效性依赖于</a:t>
            </a:r>
            <a:r>
              <a:rPr lang="zh-CN" altLang="en-US" sz="1400" b="1" dirty="0">
                <a:solidFill>
                  <a:schemeClr val="accent5">
                    <a:lumMod val="75000"/>
                  </a:schemeClr>
                </a:solidFill>
                <a:sym typeface="+mn-ea"/>
              </a:rPr>
              <a:t>诚实矿工交易排序</a:t>
            </a:r>
            <a:endParaRPr lang="zh-CN" altLang="en-US" sz="1400" b="1" dirty="0">
              <a:solidFill>
                <a:schemeClr val="accent5">
                  <a:lumMod val="75000"/>
                </a:schemeClr>
              </a:solidFill>
              <a:sym typeface="Arial" panose="020B0604020202020204" pitchFamily="34" charset="0"/>
            </a:endParaRPr>
          </a:p>
        </p:txBody>
      </p:sp>
      <p:sp>
        <p:nvSpPr>
          <p:cNvPr id="262" name="标题 1"/>
          <p:cNvSpPr txBox="1"/>
          <p:nvPr>
            <p:custDataLst>
              <p:tags r:id="rId6"/>
            </p:custDataLst>
          </p:nvPr>
        </p:nvSpPr>
        <p:spPr>
          <a:xfrm>
            <a:off x="7737157" y="2336313"/>
            <a:ext cx="1999615" cy="688340"/>
          </a:xfrm>
          <a:prstGeom prst="rect">
            <a:avLst/>
          </a:prstGeom>
          <a:noFill/>
        </p:spPr>
        <p:txBody>
          <a:bodyPr wrap="square" rtlCol="0">
            <a:normAutofit fontScale="92500" lnSpcReduction="20000"/>
          </a:bodyPr>
          <a:lstStyle>
            <a:defPPr>
              <a:defRPr lang="zh-CN"/>
            </a:defPPr>
            <a:lvl1pPr>
              <a:lnSpc>
                <a:spcPct val="130000"/>
              </a:lnSpc>
              <a:defRPr sz="1200"/>
            </a:lvl1pPr>
          </a:lstStyle>
          <a:p>
            <a:pPr>
              <a:lnSpc>
                <a:spcPct val="120000"/>
              </a:lnSpc>
            </a:pPr>
            <a:r>
              <a:rPr lang="zh-CN" altLang="en-US" sz="1400" spc="150" dirty="0">
                <a:latin typeface="Arial" panose="020B0604020202020204" pitchFamily="34" charset="0"/>
                <a:ea typeface="微软雅黑" panose="020B0503020204020204" charset="-122"/>
                <a:sym typeface="Arial" panose="020B0604020202020204" pitchFamily="34" charset="0"/>
              </a:rPr>
              <a:t>惩罚机制依赖于用户</a:t>
            </a:r>
            <a:r>
              <a:rPr lang="zh-CN" altLang="en-US" sz="1400" b="1" spc="150" dirty="0">
                <a:solidFill>
                  <a:schemeClr val="accent5">
                    <a:lumMod val="75000"/>
                  </a:schemeClr>
                </a:solidFill>
                <a:latin typeface="Arial" panose="020B0604020202020204" pitchFamily="34" charset="0"/>
                <a:ea typeface="微软雅黑" panose="020B0503020204020204" charset="-122"/>
                <a:sym typeface="Arial" panose="020B0604020202020204" pitchFamily="34" charset="0"/>
              </a:rPr>
              <a:t>实时在线</a:t>
            </a:r>
            <a:r>
              <a:rPr lang="zh-CN" altLang="en-US" sz="1400" spc="150" dirty="0">
                <a:latin typeface="Arial" panose="020B0604020202020204" pitchFamily="34" charset="0"/>
                <a:ea typeface="微软雅黑" panose="020B0503020204020204" charset="-122"/>
                <a:sym typeface="Arial" panose="020B0604020202020204" pitchFamily="34" charset="0"/>
              </a:rPr>
              <a:t>监控链上交易</a:t>
            </a:r>
          </a:p>
        </p:txBody>
      </p:sp>
      <p:sp>
        <p:nvSpPr>
          <p:cNvPr id="269" name="矩形 268"/>
          <p:cNvSpPr/>
          <p:nvPr>
            <p:custDataLst>
              <p:tags r:id="rId7"/>
            </p:custDataLst>
          </p:nvPr>
        </p:nvSpPr>
        <p:spPr>
          <a:xfrm>
            <a:off x="1664970" y="0"/>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0" name="矩形 269"/>
          <p:cNvSpPr/>
          <p:nvPr>
            <p:custDataLst>
              <p:tags r:id="rId8"/>
            </p:custDataLst>
          </p:nvPr>
        </p:nvSpPr>
        <p:spPr>
          <a:xfrm>
            <a:off x="3871595" y="-635"/>
            <a:ext cx="199072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1" name="矩形 270"/>
          <p:cNvSpPr/>
          <p:nvPr>
            <p:custDataLst>
              <p:tags r:id="rId9"/>
            </p:custDataLst>
          </p:nvPr>
        </p:nvSpPr>
        <p:spPr>
          <a:xfrm>
            <a:off x="5862320" y="-635"/>
            <a:ext cx="311594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2" name="矩形 271"/>
          <p:cNvSpPr/>
          <p:nvPr>
            <p:custDataLst>
              <p:tags r:id="rId10"/>
            </p:custDataLst>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3" name="矩形 272"/>
          <p:cNvSpPr/>
          <p:nvPr>
            <p:custDataLst>
              <p:tags r:id="rId11"/>
            </p:custDataLst>
          </p:nvPr>
        </p:nvSpPr>
        <p:spPr>
          <a:xfrm>
            <a:off x="1664970" y="-635"/>
            <a:ext cx="2206625"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4" name="文本框 273"/>
          <p:cNvSpPr txBox="1"/>
          <p:nvPr>
            <p:custDataLst>
              <p:tags r:id="rId12"/>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p>
        </p:txBody>
      </p:sp>
      <p:pic>
        <p:nvPicPr>
          <p:cNvPr id="275" name="Picture 2" descr="C:\Program Files\Apache Software Foundation\Tomcat 6.0\webapps\topo1\images\sklois1 (2).jpg"/>
          <p:cNvPicPr>
            <a:picLocks noChangeAspect="1" noChangeArrowheads="1"/>
          </p:cNvPicPr>
          <p:nvPr>
            <p:custDataLst>
              <p:tags r:id="rId13"/>
            </p:custDataLst>
          </p:nvPr>
        </p:nvPicPr>
        <p:blipFill>
          <a:blip r:embed="rId38"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76" name="等腰三角形 275"/>
          <p:cNvSpPr/>
          <p:nvPr>
            <p:custDataLst>
              <p:tags r:id="rId14"/>
            </p:custDataLst>
          </p:nvPr>
        </p:nvSpPr>
        <p:spPr>
          <a:xfrm rot="10800000">
            <a:off x="2622550" y="721360"/>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40900E85-5AC6-8094-9AC8-F942FE605E4F}"/>
              </a:ext>
            </a:extLst>
          </p:cNvPr>
          <p:cNvSpPr txBox="1"/>
          <p:nvPr>
            <p:custDataLst>
              <p:tags r:id="rId15"/>
            </p:custDataLst>
          </p:nvPr>
        </p:nvSpPr>
        <p:spPr>
          <a:xfrm>
            <a:off x="408305" y="949960"/>
            <a:ext cx="10727690" cy="499111"/>
          </a:xfrm>
          <a:prstGeom prst="rect">
            <a:avLst/>
          </a:prstGeom>
          <a:noFill/>
        </p:spPr>
        <p:txBody>
          <a:bodyPr wrap="square" rtlCol="0" anchor="t">
            <a:spAutoFit/>
          </a:bodyPr>
          <a:lstStyle/>
          <a:p>
            <a:pPr marL="457200" indent="-457200" fontAlgn="auto">
              <a:lnSpc>
                <a:spcPct val="150000"/>
              </a:lnSpc>
              <a:buFont typeface="+mj-lt"/>
              <a:buAutoNum type="arabicPeriod"/>
            </a:pPr>
            <a:r>
              <a:rPr lang="zh-CN" altLang="en-US" sz="2000" dirty="0">
                <a:solidFill>
                  <a:schemeClr val="tx1">
                    <a:lumMod val="75000"/>
                    <a:lumOff val="25000"/>
                  </a:schemeClr>
                </a:solidFill>
                <a:sym typeface="+mn-ea"/>
              </a:rPr>
              <a:t>现实网络环境对分布式数字资产交易协议的安全性和健壮性提出了更高的要求</a:t>
            </a:r>
          </a:p>
        </p:txBody>
      </p:sp>
      <p:sp>
        <p:nvSpPr>
          <p:cNvPr id="3" name="文本框 2">
            <a:extLst>
              <a:ext uri="{FF2B5EF4-FFF2-40B4-BE49-F238E27FC236}">
                <a16:creationId xmlns:a16="http://schemas.microsoft.com/office/drawing/2014/main" id="{6CDA0AB3-096C-BD4B-307F-54DF5AB11ABB}"/>
              </a:ext>
            </a:extLst>
          </p:cNvPr>
          <p:cNvSpPr txBox="1"/>
          <p:nvPr/>
        </p:nvSpPr>
        <p:spPr>
          <a:xfrm>
            <a:off x="11736779" y="6499761"/>
            <a:ext cx="455221" cy="369332"/>
          </a:xfrm>
          <a:prstGeom prst="rect">
            <a:avLst/>
          </a:prstGeom>
          <a:noFill/>
        </p:spPr>
        <p:txBody>
          <a:bodyPr wrap="square" rtlCol="0">
            <a:spAutoFit/>
          </a:bodyPr>
          <a:lstStyle/>
          <a:p>
            <a:pPr algn="ctr"/>
            <a:r>
              <a:rPr lang="en-US" altLang="zh-CN" dirty="0"/>
              <a:t>6</a:t>
            </a:r>
            <a:endParaRPr lang="zh-CN" altLang="en-US" dirty="0"/>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4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 grpId="0"/>
      <p:bldP spid="240" grpId="1"/>
      <p:bldP spid="241" grpId="0"/>
      <p:bldP spid="241" grpId="1"/>
      <p:bldP spid="246" grpId="0" animBg="1"/>
      <p:bldP spid="246"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16455-FACA-CEE0-1891-D36BE6911A11}"/>
            </a:ext>
          </a:extLst>
        </p:cNvPr>
        <p:cNvGrpSpPr/>
        <p:nvPr/>
      </p:nvGrpSpPr>
      <p:grpSpPr>
        <a:xfrm>
          <a:off x="0" y="0"/>
          <a:ext cx="0" cy="0"/>
          <a:chOff x="0" y="0"/>
          <a:chExt cx="0" cy="0"/>
        </a:xfrm>
      </p:grpSpPr>
      <p:sp>
        <p:nvSpPr>
          <p:cNvPr id="5" name="矩形 4">
            <a:extLst>
              <a:ext uri="{FF2B5EF4-FFF2-40B4-BE49-F238E27FC236}">
                <a16:creationId xmlns:a16="http://schemas.microsoft.com/office/drawing/2014/main" id="{803CB2A3-8DBA-63B2-B169-4309750AFDDF}"/>
              </a:ext>
            </a:extLst>
          </p:cNvPr>
          <p:cNvSpPr/>
          <p:nvPr/>
        </p:nvSpPr>
        <p:spPr>
          <a:xfrm>
            <a:off x="490855" y="3972190"/>
            <a:ext cx="10528300" cy="5721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a:extLst>
              <a:ext uri="{FF2B5EF4-FFF2-40B4-BE49-F238E27FC236}">
                <a16:creationId xmlns:a16="http://schemas.microsoft.com/office/drawing/2014/main" id="{D0A08EEB-85AC-DBD0-475E-16D05238040D}"/>
              </a:ext>
            </a:extLst>
          </p:cNvPr>
          <p:cNvSpPr/>
          <p:nvPr/>
        </p:nvSpPr>
        <p:spPr>
          <a:xfrm>
            <a:off x="490855" y="2856865"/>
            <a:ext cx="10528300" cy="5721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燕尾形 7">
            <a:extLst>
              <a:ext uri="{FF2B5EF4-FFF2-40B4-BE49-F238E27FC236}">
                <a16:creationId xmlns:a16="http://schemas.microsoft.com/office/drawing/2014/main" id="{7C3515B4-59D7-1788-A82A-DD8893F3D99D}"/>
              </a:ext>
            </a:extLst>
          </p:cNvPr>
          <p:cNvSpPr/>
          <p:nvPr/>
        </p:nvSpPr>
        <p:spPr>
          <a:xfrm>
            <a:off x="1019175" y="3535045"/>
            <a:ext cx="364490" cy="257810"/>
          </a:xfrm>
          <a:prstGeom prst="chevron">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958E86C3-2F4E-AB64-6A70-1CA0FE042FFC}"/>
              </a:ext>
            </a:extLst>
          </p:cNvPr>
          <p:cNvSpPr txBox="1"/>
          <p:nvPr>
            <p:custDataLst>
              <p:tags r:id="rId2"/>
            </p:custDataLst>
          </p:nvPr>
        </p:nvSpPr>
        <p:spPr>
          <a:xfrm>
            <a:off x="482600" y="897255"/>
            <a:ext cx="11079480" cy="398780"/>
          </a:xfrm>
          <a:prstGeom prst="rect">
            <a:avLst/>
          </a:prstGeom>
          <a:noFill/>
        </p:spPr>
        <p:txBody>
          <a:bodyPr wrap="square" rtlCol="0" anchor="t">
            <a:spAutoFit/>
          </a:bodyPr>
          <a:lstStyle/>
          <a:p>
            <a:r>
              <a:rPr lang="zh-CN" altLang="en-US" sz="2000" dirty="0"/>
              <a:t>数字资产市场为区块链提供了新的</a:t>
            </a:r>
            <a:r>
              <a:rPr lang="zh-CN" altLang="en-US" sz="2000" b="1" dirty="0">
                <a:solidFill>
                  <a:srgbClr val="04579A"/>
                </a:solidFill>
              </a:rPr>
              <a:t>应用方向</a:t>
            </a:r>
            <a:r>
              <a:rPr lang="zh-CN" altLang="en-US" sz="2000" dirty="0"/>
              <a:t>，但同时也带来了新的</a:t>
            </a:r>
            <a:r>
              <a:rPr lang="zh-CN" altLang="en-US" sz="2000" b="1" dirty="0">
                <a:solidFill>
                  <a:srgbClr val="04579A"/>
                </a:solidFill>
              </a:rPr>
              <a:t>技术需求</a:t>
            </a:r>
            <a:r>
              <a:rPr lang="zh-CN" altLang="en-US" sz="2000" dirty="0"/>
              <a:t>：</a:t>
            </a:r>
          </a:p>
        </p:txBody>
      </p:sp>
      <p:sp>
        <p:nvSpPr>
          <p:cNvPr id="11" name="矩形 10">
            <a:extLst>
              <a:ext uri="{FF2B5EF4-FFF2-40B4-BE49-F238E27FC236}">
                <a16:creationId xmlns:a16="http://schemas.microsoft.com/office/drawing/2014/main" id="{F8F5A8FE-59BC-7570-E655-6E4CFE790F25}"/>
              </a:ext>
            </a:extLst>
          </p:cNvPr>
          <p:cNvSpPr/>
          <p:nvPr>
            <p:custDataLst>
              <p:tags r:id="rId3"/>
            </p:custDataLst>
          </p:nvPr>
        </p:nvSpPr>
        <p:spPr>
          <a:xfrm>
            <a:off x="1664970" y="0"/>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6BA155D1-060C-38F3-D53C-2212DB31E23C}"/>
              </a:ext>
            </a:extLst>
          </p:cNvPr>
          <p:cNvSpPr/>
          <p:nvPr>
            <p:custDataLst>
              <p:tags r:id="rId4"/>
            </p:custDataLst>
          </p:nvPr>
        </p:nvSpPr>
        <p:spPr>
          <a:xfrm>
            <a:off x="3871595" y="-635"/>
            <a:ext cx="199072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77DB9F5C-039C-A496-AE65-E6BD37A6BCA4}"/>
              </a:ext>
            </a:extLst>
          </p:cNvPr>
          <p:cNvSpPr/>
          <p:nvPr>
            <p:custDataLst>
              <p:tags r:id="rId5"/>
            </p:custDataLst>
          </p:nvPr>
        </p:nvSpPr>
        <p:spPr>
          <a:xfrm>
            <a:off x="5862320" y="-635"/>
            <a:ext cx="311594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C0D64591-DF23-4574-71C3-782E374BDAC7}"/>
              </a:ext>
            </a:extLst>
          </p:cNvPr>
          <p:cNvSpPr/>
          <p:nvPr>
            <p:custDataLst>
              <p:tags r:id="rId6"/>
            </p:custDataLst>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DF151B63-C841-471C-0122-7AEA3517F82A}"/>
              </a:ext>
            </a:extLst>
          </p:cNvPr>
          <p:cNvSpPr/>
          <p:nvPr>
            <p:custDataLst>
              <p:tags r:id="rId7"/>
            </p:custDataLst>
          </p:nvPr>
        </p:nvSpPr>
        <p:spPr>
          <a:xfrm>
            <a:off x="1664970" y="-635"/>
            <a:ext cx="2206625"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658549AB-471E-5796-58BF-A1CF3D21398C}"/>
              </a:ext>
            </a:extLst>
          </p:cNvPr>
          <p:cNvSpPr txBox="1"/>
          <p:nvPr>
            <p:custDataLst>
              <p:tags r:id="rId8"/>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p>
        </p:txBody>
      </p:sp>
      <p:pic>
        <p:nvPicPr>
          <p:cNvPr id="18" name="Picture 2" descr="C:\Program Files\Apache Software Foundation\Tomcat 6.0\webapps\topo1\images\sklois1 (2).jpg">
            <a:extLst>
              <a:ext uri="{FF2B5EF4-FFF2-40B4-BE49-F238E27FC236}">
                <a16:creationId xmlns:a16="http://schemas.microsoft.com/office/drawing/2014/main" id="{7F6FEDF0-0026-119B-5898-0AAAB7398AE6}"/>
              </a:ext>
            </a:extLst>
          </p:cNvPr>
          <p:cNvPicPr>
            <a:picLocks noChangeAspect="1" noChangeArrowheads="1"/>
          </p:cNvPicPr>
          <p:nvPr>
            <p:custDataLst>
              <p:tags r:id="rId9"/>
            </p:custDataLst>
          </p:nvPr>
        </p:nvPicPr>
        <p:blipFill>
          <a:blip r:embed="rId15"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0" name="等腰三角形 19">
            <a:extLst>
              <a:ext uri="{FF2B5EF4-FFF2-40B4-BE49-F238E27FC236}">
                <a16:creationId xmlns:a16="http://schemas.microsoft.com/office/drawing/2014/main" id="{B1E3C200-7DA8-F00C-37BD-7C92D8625074}"/>
              </a:ext>
            </a:extLst>
          </p:cNvPr>
          <p:cNvSpPr/>
          <p:nvPr>
            <p:custDataLst>
              <p:tags r:id="rId10"/>
            </p:custDataLst>
          </p:nvPr>
        </p:nvSpPr>
        <p:spPr>
          <a:xfrm rot="10800000">
            <a:off x="2622550" y="721360"/>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D5314589-EF72-46A3-A948-122CDD39EAB4}"/>
              </a:ext>
            </a:extLst>
          </p:cNvPr>
          <p:cNvSpPr/>
          <p:nvPr>
            <p:custDataLst>
              <p:tags r:id="rId11"/>
            </p:custDataLst>
          </p:nvPr>
        </p:nvSpPr>
        <p:spPr>
          <a:xfrm>
            <a:off x="482600" y="1677035"/>
            <a:ext cx="10528300" cy="5721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49DF9E1B-AC8F-BC50-7C67-B757F1C0705A}"/>
              </a:ext>
            </a:extLst>
          </p:cNvPr>
          <p:cNvSpPr txBox="1"/>
          <p:nvPr/>
        </p:nvSpPr>
        <p:spPr>
          <a:xfrm>
            <a:off x="556895" y="1663700"/>
            <a:ext cx="11078845" cy="3932615"/>
          </a:xfrm>
          <a:prstGeom prst="rect">
            <a:avLst/>
          </a:prstGeom>
          <a:noFill/>
        </p:spPr>
        <p:txBody>
          <a:bodyPr wrap="square" rtlCol="0" anchor="t">
            <a:spAutoFit/>
          </a:bodyPr>
          <a:lstStyle/>
          <a:p>
            <a:pPr marL="457200" lvl="0" indent="-457200" fontAlgn="auto">
              <a:lnSpc>
                <a:spcPct val="150000"/>
              </a:lnSpc>
              <a:buFont typeface="Arial" panose="020B0604020202020204" pitchFamily="34" charset="0"/>
              <a:buAutoNum type="arabicPeriod"/>
            </a:pPr>
            <a:r>
              <a:rPr lang="zh-CN" altLang="en-US" sz="2000" dirty="0">
                <a:solidFill>
                  <a:schemeClr val="tx1">
                    <a:lumMod val="85000"/>
                    <a:lumOff val="15000"/>
                  </a:schemeClr>
                </a:solidFill>
                <a:sym typeface="+mn-ea"/>
              </a:rPr>
              <a:t>现实网络环境对分布式数字资产交易协议的安全性和健壮性提出了更高的要求</a:t>
            </a:r>
          </a:p>
          <a:p>
            <a:pPr lvl="1" indent="457200">
              <a:lnSpc>
                <a:spcPct val="150000"/>
              </a:lnSpc>
              <a:spcAft>
                <a:spcPts val="1200"/>
              </a:spcAft>
            </a:pPr>
            <a:r>
              <a:rPr lang="zh-CN" altLang="en-US" sz="2400" b="1" dirty="0">
                <a:solidFill>
                  <a:srgbClr val="04579A"/>
                </a:solidFill>
                <a:sym typeface="+mn-ea"/>
              </a:rPr>
              <a:t>分布式数字资产交易协议需要去除可信假设，建立更强的安全模型</a:t>
            </a:r>
          </a:p>
          <a:p>
            <a:pPr marL="457200" lvl="0" indent="-457200" fontAlgn="auto">
              <a:lnSpc>
                <a:spcPct val="150000"/>
              </a:lnSpc>
              <a:buAutoNum type="arabicPeriod"/>
            </a:pPr>
            <a:r>
              <a:rPr lang="zh-CN" altLang="en-US" sz="2000" dirty="0">
                <a:solidFill>
                  <a:schemeClr val="tx1">
                    <a:lumMod val="85000"/>
                    <a:lumOff val="15000"/>
                  </a:schemeClr>
                </a:solidFill>
                <a:sym typeface="+mn-ea"/>
              </a:rPr>
              <a:t>大规模、高并发的交易场景要求分布式数字资产交易协议具有可扩展性</a:t>
            </a:r>
            <a:endParaRPr lang="zh-CN" altLang="en-US" sz="2000" dirty="0">
              <a:sym typeface="+mn-ea"/>
            </a:endParaRPr>
          </a:p>
          <a:p>
            <a:pPr marL="457200" lvl="1" indent="457200" fontAlgn="auto">
              <a:lnSpc>
                <a:spcPct val="150000"/>
              </a:lnSpc>
              <a:spcAft>
                <a:spcPts val="1200"/>
              </a:spcAft>
              <a:buNone/>
            </a:pPr>
            <a:r>
              <a:rPr lang="zh-CN" altLang="en-US" sz="2400" b="1" dirty="0">
                <a:solidFill>
                  <a:srgbClr val="04579A"/>
                </a:solidFill>
                <a:sym typeface="+mn-ea"/>
              </a:rPr>
              <a:t>分布式数字资产交易协议需要高性能的链下方案构造</a:t>
            </a:r>
            <a:endParaRPr lang="zh-CN" altLang="en-US" sz="2400" dirty="0">
              <a:solidFill>
                <a:srgbClr val="04579A"/>
              </a:solidFill>
              <a:sym typeface="+mn-ea"/>
            </a:endParaRPr>
          </a:p>
          <a:p>
            <a:pPr marL="457200" lvl="0" indent="-457200" fontAlgn="auto">
              <a:lnSpc>
                <a:spcPct val="150000"/>
              </a:lnSpc>
              <a:buAutoNum type="arabicPeriod"/>
            </a:pPr>
            <a:r>
              <a:rPr lang="zh-CN" altLang="en-US" sz="2000" dirty="0">
                <a:solidFill>
                  <a:schemeClr val="bg1">
                    <a:lumMod val="95000"/>
                  </a:schemeClr>
                </a:solidFill>
                <a:sym typeface="+mn-ea"/>
              </a:rPr>
              <a:t>异构区块链系统间的互联互通要求分布式数字资产交易协议具有互操作性</a:t>
            </a:r>
          </a:p>
          <a:p>
            <a:pPr lvl="1" indent="457200">
              <a:lnSpc>
                <a:spcPct val="150000"/>
              </a:lnSpc>
            </a:pPr>
            <a:r>
              <a:rPr lang="zh-CN" altLang="en-US" sz="2400" b="1" dirty="0">
                <a:solidFill>
                  <a:schemeClr val="bg1">
                    <a:lumMod val="95000"/>
                  </a:schemeClr>
                </a:solidFill>
                <a:sym typeface="+mn-ea"/>
              </a:rPr>
              <a:t>分布式数字资产交易协议需要高效的跨链证明协议</a:t>
            </a:r>
            <a:endParaRPr lang="en-US" altLang="zh-CN" sz="2400" b="1" dirty="0">
              <a:solidFill>
                <a:schemeClr val="bg1">
                  <a:lumMod val="95000"/>
                </a:schemeClr>
              </a:solidFill>
              <a:sym typeface="+mn-ea"/>
            </a:endParaRPr>
          </a:p>
          <a:p>
            <a:pPr lvl="1" indent="457200">
              <a:lnSpc>
                <a:spcPct val="150000"/>
              </a:lnSpc>
            </a:pPr>
            <a:endParaRPr lang="zh-CN" altLang="en-US" sz="2400" b="1" dirty="0">
              <a:solidFill>
                <a:schemeClr val="bg1">
                  <a:lumMod val="95000"/>
                </a:schemeClr>
              </a:solidFill>
              <a:sym typeface="+mn-ea"/>
            </a:endParaRPr>
          </a:p>
        </p:txBody>
      </p:sp>
      <p:sp>
        <p:nvSpPr>
          <p:cNvPr id="4" name="燕尾形 3">
            <a:extLst>
              <a:ext uri="{FF2B5EF4-FFF2-40B4-BE49-F238E27FC236}">
                <a16:creationId xmlns:a16="http://schemas.microsoft.com/office/drawing/2014/main" id="{ED437FF0-AEE2-7C2E-8083-07A3A474007A}"/>
              </a:ext>
            </a:extLst>
          </p:cNvPr>
          <p:cNvSpPr/>
          <p:nvPr>
            <p:custDataLst>
              <p:tags r:id="rId12"/>
            </p:custDataLst>
          </p:nvPr>
        </p:nvSpPr>
        <p:spPr>
          <a:xfrm>
            <a:off x="1019175" y="2339975"/>
            <a:ext cx="364490" cy="257810"/>
          </a:xfrm>
          <a:prstGeom prst="chevron">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6ED4AF7-C005-4FA6-A4B5-CF5A60577240}"/>
              </a:ext>
            </a:extLst>
          </p:cNvPr>
          <p:cNvSpPr txBox="1"/>
          <p:nvPr/>
        </p:nvSpPr>
        <p:spPr>
          <a:xfrm>
            <a:off x="11736779" y="6499761"/>
            <a:ext cx="455221" cy="369332"/>
          </a:xfrm>
          <a:prstGeom prst="rect">
            <a:avLst/>
          </a:prstGeom>
          <a:noFill/>
        </p:spPr>
        <p:txBody>
          <a:bodyPr wrap="square" rtlCol="0">
            <a:spAutoFit/>
          </a:bodyPr>
          <a:lstStyle/>
          <a:p>
            <a:pPr algn="ctr"/>
            <a:r>
              <a:rPr lang="en-US" altLang="zh-CN" dirty="0"/>
              <a:t>7</a:t>
            </a:r>
            <a:endParaRPr lang="zh-CN" altLang="en-US" dirty="0"/>
          </a:p>
        </p:txBody>
      </p:sp>
    </p:spTree>
    <p:custDataLst>
      <p:tags r:id="rId1"/>
    </p:custDataLst>
    <p:extLst>
      <p:ext uri="{BB962C8B-B14F-4D97-AF65-F5344CB8AC3E}">
        <p14:creationId xmlns:p14="http://schemas.microsoft.com/office/powerpoint/2010/main" val="520859345"/>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25684-C5B6-AB25-57D7-25BDE81C6C9F}"/>
            </a:ext>
          </a:extLst>
        </p:cNvPr>
        <p:cNvGrpSpPr/>
        <p:nvPr/>
      </p:nvGrpSpPr>
      <p:grpSpPr>
        <a:xfrm>
          <a:off x="0" y="0"/>
          <a:ext cx="0" cy="0"/>
          <a:chOff x="0" y="0"/>
          <a:chExt cx="0" cy="0"/>
        </a:xfrm>
      </p:grpSpPr>
      <p:sp>
        <p:nvSpPr>
          <p:cNvPr id="25" name="文本框 24">
            <a:extLst>
              <a:ext uri="{FF2B5EF4-FFF2-40B4-BE49-F238E27FC236}">
                <a16:creationId xmlns:a16="http://schemas.microsoft.com/office/drawing/2014/main" id="{29EE49C3-1E68-0A6F-4EBE-99804CBBB898}"/>
              </a:ext>
            </a:extLst>
          </p:cNvPr>
          <p:cNvSpPr txBox="1"/>
          <p:nvPr>
            <p:custDataLst>
              <p:tags r:id="rId2"/>
            </p:custDataLst>
          </p:nvPr>
        </p:nvSpPr>
        <p:spPr>
          <a:xfrm>
            <a:off x="408305" y="949960"/>
            <a:ext cx="10727690" cy="499111"/>
          </a:xfrm>
          <a:prstGeom prst="rect">
            <a:avLst/>
          </a:prstGeom>
          <a:noFill/>
        </p:spPr>
        <p:txBody>
          <a:bodyPr wrap="square" rtlCol="0" anchor="t">
            <a:spAutoFit/>
          </a:bodyPr>
          <a:lstStyle/>
          <a:p>
            <a:pPr marL="457200" indent="-457200" fontAlgn="auto">
              <a:lnSpc>
                <a:spcPct val="150000"/>
              </a:lnSpc>
              <a:buFont typeface="+mj-lt"/>
              <a:buAutoNum type="arabicPeriod" startAt="2"/>
            </a:pPr>
            <a:r>
              <a:rPr lang="zh-CN" altLang="en-US" sz="2000" dirty="0">
                <a:solidFill>
                  <a:schemeClr val="tx1">
                    <a:lumMod val="75000"/>
                    <a:lumOff val="25000"/>
                  </a:schemeClr>
                </a:solidFill>
                <a:sym typeface="+mn-ea"/>
              </a:rPr>
              <a:t>大规模、高并发的交易场景要求分布式数字资产交易协议具有可扩展性</a:t>
            </a:r>
          </a:p>
        </p:txBody>
      </p:sp>
      <p:sp>
        <p:nvSpPr>
          <p:cNvPr id="41" name="矩形 40">
            <a:extLst>
              <a:ext uri="{FF2B5EF4-FFF2-40B4-BE49-F238E27FC236}">
                <a16:creationId xmlns:a16="http://schemas.microsoft.com/office/drawing/2014/main" id="{F958E45A-9AE1-B2B2-6061-CE1566B4BBE2}"/>
              </a:ext>
            </a:extLst>
          </p:cNvPr>
          <p:cNvSpPr/>
          <p:nvPr>
            <p:custDataLst>
              <p:tags r:id="rId3"/>
            </p:custDataLst>
          </p:nvPr>
        </p:nvSpPr>
        <p:spPr>
          <a:xfrm>
            <a:off x="1664970" y="0"/>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a:extLst>
              <a:ext uri="{FF2B5EF4-FFF2-40B4-BE49-F238E27FC236}">
                <a16:creationId xmlns:a16="http://schemas.microsoft.com/office/drawing/2014/main" id="{E886714F-C427-29A9-D8E2-023FAF3EE64B}"/>
              </a:ext>
            </a:extLst>
          </p:cNvPr>
          <p:cNvSpPr/>
          <p:nvPr>
            <p:custDataLst>
              <p:tags r:id="rId4"/>
            </p:custDataLst>
          </p:nvPr>
        </p:nvSpPr>
        <p:spPr>
          <a:xfrm>
            <a:off x="3871595" y="-635"/>
            <a:ext cx="199072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a:extLst>
              <a:ext uri="{FF2B5EF4-FFF2-40B4-BE49-F238E27FC236}">
                <a16:creationId xmlns:a16="http://schemas.microsoft.com/office/drawing/2014/main" id="{9C104377-68F4-6CAB-F147-09B130539F86}"/>
              </a:ext>
            </a:extLst>
          </p:cNvPr>
          <p:cNvSpPr/>
          <p:nvPr>
            <p:custDataLst>
              <p:tags r:id="rId5"/>
            </p:custDataLst>
          </p:nvPr>
        </p:nvSpPr>
        <p:spPr>
          <a:xfrm>
            <a:off x="5862320" y="-635"/>
            <a:ext cx="311594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a:extLst>
              <a:ext uri="{FF2B5EF4-FFF2-40B4-BE49-F238E27FC236}">
                <a16:creationId xmlns:a16="http://schemas.microsoft.com/office/drawing/2014/main" id="{5BA08718-B247-CE5A-9421-7727F39F269B}"/>
              </a:ext>
            </a:extLst>
          </p:cNvPr>
          <p:cNvSpPr/>
          <p:nvPr>
            <p:custDataLst>
              <p:tags r:id="rId6"/>
            </p:custDataLst>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a:extLst>
              <a:ext uri="{FF2B5EF4-FFF2-40B4-BE49-F238E27FC236}">
                <a16:creationId xmlns:a16="http://schemas.microsoft.com/office/drawing/2014/main" id="{F94B336C-5E2F-78E1-1695-750720A688D7}"/>
              </a:ext>
            </a:extLst>
          </p:cNvPr>
          <p:cNvSpPr/>
          <p:nvPr>
            <p:custDataLst>
              <p:tags r:id="rId7"/>
            </p:custDataLst>
          </p:nvPr>
        </p:nvSpPr>
        <p:spPr>
          <a:xfrm>
            <a:off x="1664970" y="-635"/>
            <a:ext cx="2206625"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7AF07CBF-B838-965C-B1DF-7BF15D9DEB3B}"/>
              </a:ext>
            </a:extLst>
          </p:cNvPr>
          <p:cNvSpPr txBox="1"/>
          <p:nvPr>
            <p:custDataLst>
              <p:tags r:id="rId8"/>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tx1"/>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选题背景及意义</a:t>
            </a:r>
            <a:r>
              <a:rPr lang="en-US" altLang="zh-CN" dirty="0">
                <a:solidFill>
                  <a:schemeClr val="bg1"/>
                </a:solidFill>
                <a:latin typeface="Arial" panose="020B0604020202020204" pitchFamily="34" charset="0"/>
                <a:sym typeface="+mn-ea"/>
              </a:rPr>
              <a:t>  </a:t>
            </a:r>
            <a:r>
              <a:rPr lang="en-US" altLang="zh-CN" dirty="0">
                <a:solidFill>
                  <a:schemeClr val="tx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国内外研究现状</a:t>
            </a:r>
            <a:r>
              <a:rPr lang="en-US" altLang="zh-CN" dirty="0">
                <a:solidFill>
                  <a:schemeClr val="tx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主要研究内容及预期目标</a:t>
            </a:r>
            <a:r>
              <a:rPr lang="en-US" altLang="zh-CN" dirty="0">
                <a:solidFill>
                  <a:schemeClr val="tx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工作计划与进度安排</a:t>
            </a:r>
          </a:p>
        </p:txBody>
      </p:sp>
      <p:pic>
        <p:nvPicPr>
          <p:cNvPr id="47" name="Picture 2" descr="C:\Program Files\Apache Software Foundation\Tomcat 6.0\webapps\topo1\images\sklois1 (2).jpg">
            <a:extLst>
              <a:ext uri="{FF2B5EF4-FFF2-40B4-BE49-F238E27FC236}">
                <a16:creationId xmlns:a16="http://schemas.microsoft.com/office/drawing/2014/main" id="{C26E6701-7C42-9F11-05AB-59E9078E3A73}"/>
              </a:ext>
            </a:extLst>
          </p:cNvPr>
          <p:cNvPicPr>
            <a:picLocks noChangeAspect="1" noChangeArrowheads="1"/>
          </p:cNvPicPr>
          <p:nvPr>
            <p:custDataLst>
              <p:tags r:id="rId9"/>
            </p:custDataLst>
          </p:nvPr>
        </p:nvPicPr>
        <p:blipFill>
          <a:blip r:embed="rId19"/>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8" name="等腰三角形 47">
            <a:extLst>
              <a:ext uri="{FF2B5EF4-FFF2-40B4-BE49-F238E27FC236}">
                <a16:creationId xmlns:a16="http://schemas.microsoft.com/office/drawing/2014/main" id="{4E006AC7-A853-BC94-4454-F2FCED063388}"/>
              </a:ext>
            </a:extLst>
          </p:cNvPr>
          <p:cNvSpPr/>
          <p:nvPr>
            <p:custDataLst>
              <p:tags r:id="rId10"/>
            </p:custDataLst>
          </p:nvPr>
        </p:nvSpPr>
        <p:spPr>
          <a:xfrm rot="10800000">
            <a:off x="2622550" y="721360"/>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a:extLst>
              <a:ext uri="{FF2B5EF4-FFF2-40B4-BE49-F238E27FC236}">
                <a16:creationId xmlns:a16="http://schemas.microsoft.com/office/drawing/2014/main" id="{D26AFE2D-36A9-214A-8861-6BC01A5DD5CB}"/>
              </a:ext>
            </a:extLst>
          </p:cNvPr>
          <p:cNvGrpSpPr/>
          <p:nvPr/>
        </p:nvGrpSpPr>
        <p:grpSpPr>
          <a:xfrm>
            <a:off x="1814864" y="1980259"/>
            <a:ext cx="8562272" cy="3455061"/>
            <a:chOff x="1814865" y="1964557"/>
            <a:chExt cx="8562272" cy="3455061"/>
          </a:xfrm>
        </p:grpSpPr>
        <p:grpSp>
          <p:nvGrpSpPr>
            <p:cNvPr id="6" name="组合 5">
              <a:extLst>
                <a:ext uri="{FF2B5EF4-FFF2-40B4-BE49-F238E27FC236}">
                  <a16:creationId xmlns:a16="http://schemas.microsoft.com/office/drawing/2014/main" id="{EEECA493-E74F-FDB2-9EBA-160B42B5E92F}"/>
                </a:ext>
              </a:extLst>
            </p:cNvPr>
            <p:cNvGrpSpPr/>
            <p:nvPr/>
          </p:nvGrpSpPr>
          <p:grpSpPr>
            <a:xfrm>
              <a:off x="1814865" y="1964557"/>
              <a:ext cx="3458817" cy="3455061"/>
              <a:chOff x="2594093" y="1964557"/>
              <a:chExt cx="3458817" cy="3455061"/>
            </a:xfrm>
          </p:grpSpPr>
          <p:grpSp>
            <p:nvGrpSpPr>
              <p:cNvPr id="11" name="组合 10">
                <a:extLst>
                  <a:ext uri="{FF2B5EF4-FFF2-40B4-BE49-F238E27FC236}">
                    <a16:creationId xmlns:a16="http://schemas.microsoft.com/office/drawing/2014/main" id="{38BCFF67-0DCF-EB1B-E014-5F589D6EFAFF}"/>
                  </a:ext>
                </a:extLst>
              </p:cNvPr>
              <p:cNvGrpSpPr/>
              <p:nvPr/>
            </p:nvGrpSpPr>
            <p:grpSpPr>
              <a:xfrm>
                <a:off x="2917087" y="1964557"/>
                <a:ext cx="2812831" cy="2714627"/>
                <a:chOff x="660400" y="1130301"/>
                <a:chExt cx="3099935" cy="2991707"/>
              </a:xfrm>
            </p:grpSpPr>
            <p:pic>
              <p:nvPicPr>
                <p:cNvPr id="13" name="Image-1">
                  <a:extLst>
                    <a:ext uri="{FF2B5EF4-FFF2-40B4-BE49-F238E27FC236}">
                      <a16:creationId xmlns:a16="http://schemas.microsoft.com/office/drawing/2014/main" id="{AAD6D668-0A24-51E9-A82E-FABAF60C17D4}"/>
                    </a:ext>
                  </a:extLst>
                </p:cNvPr>
                <p:cNvPicPr>
                  <a:picLocks/>
                </p:cNvPicPr>
                <p:nvPr>
                  <p:custDataLst>
                    <p:tags r:id="rId15"/>
                  </p:custDataLst>
                </p:nvPr>
              </p:nvPicPr>
              <p:blipFill rotWithShape="1">
                <a:blip r:embed="rId20" cstate="print">
                  <a:extLst>
                    <a:ext uri="{28A0092B-C50C-407E-A947-70E740481C1C}">
                      <a14:useLocalDpi xmlns:a14="http://schemas.microsoft.com/office/drawing/2010/main" val="0"/>
                    </a:ext>
                  </a:extLst>
                </a:blip>
                <a:srcRect t="7001" b="7001"/>
                <a:stretch/>
              </p:blipFill>
              <p:spPr>
                <a:xfrm>
                  <a:off x="660400" y="1130301"/>
                  <a:ext cx="3099935" cy="2374912"/>
                </a:xfrm>
                <a:custGeom>
                  <a:avLst/>
                  <a:gdLst>
                    <a:gd name="connsiteX0" fmla="*/ 123495 w 3099935"/>
                    <a:gd name="connsiteY0" fmla="*/ 0 h 2374912"/>
                    <a:gd name="connsiteX1" fmla="*/ 2976440 w 3099935"/>
                    <a:gd name="connsiteY1" fmla="*/ 0 h 2374912"/>
                    <a:gd name="connsiteX2" fmla="*/ 3099935 w 3099935"/>
                    <a:gd name="connsiteY2" fmla="*/ 123495 h 2374912"/>
                    <a:gd name="connsiteX3" fmla="*/ 3099935 w 3099935"/>
                    <a:gd name="connsiteY3" fmla="*/ 2251417 h 2374912"/>
                    <a:gd name="connsiteX4" fmla="*/ 2976440 w 3099935"/>
                    <a:gd name="connsiteY4" fmla="*/ 2374912 h 2374912"/>
                    <a:gd name="connsiteX5" fmla="*/ 123495 w 3099935"/>
                    <a:gd name="connsiteY5" fmla="*/ 2374912 h 2374912"/>
                    <a:gd name="connsiteX6" fmla="*/ 0 w 3099935"/>
                    <a:gd name="connsiteY6" fmla="*/ 2251417 h 2374912"/>
                    <a:gd name="connsiteX7" fmla="*/ 0 w 3099935"/>
                    <a:gd name="connsiteY7" fmla="*/ 123495 h 2374912"/>
                    <a:gd name="connsiteX8" fmla="*/ 123495 w 3099935"/>
                    <a:gd name="connsiteY8" fmla="*/ 0 h 2374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99935" h="2374912">
                      <a:moveTo>
                        <a:pt x="123495" y="0"/>
                      </a:moveTo>
                      <a:lnTo>
                        <a:pt x="2976440" y="0"/>
                      </a:lnTo>
                      <a:cubicBezTo>
                        <a:pt x="2976440" y="68204"/>
                        <a:pt x="3031731" y="123495"/>
                        <a:pt x="3099935" y="123495"/>
                      </a:cubicBezTo>
                      <a:lnTo>
                        <a:pt x="3099935" y="2251417"/>
                      </a:lnTo>
                      <a:cubicBezTo>
                        <a:pt x="3031731" y="2251417"/>
                        <a:pt x="2976440" y="2306708"/>
                        <a:pt x="2976440" y="2374912"/>
                      </a:cubicBezTo>
                      <a:lnTo>
                        <a:pt x="123495" y="2374912"/>
                      </a:lnTo>
                      <a:cubicBezTo>
                        <a:pt x="123495" y="2306708"/>
                        <a:pt x="68204" y="2251417"/>
                        <a:pt x="0" y="2251417"/>
                      </a:cubicBezTo>
                      <a:lnTo>
                        <a:pt x="0" y="123495"/>
                      </a:lnTo>
                      <a:cubicBezTo>
                        <a:pt x="68204" y="123495"/>
                        <a:pt x="123495" y="68204"/>
                        <a:pt x="123495" y="0"/>
                      </a:cubicBezTo>
                      <a:close/>
                    </a:path>
                  </a:pathLst>
                </a:custGeom>
              </p:spPr>
            </p:pic>
            <p:sp>
              <p:nvSpPr>
                <p:cNvPr id="14" name="Title-1">
                  <a:extLst>
                    <a:ext uri="{FF2B5EF4-FFF2-40B4-BE49-F238E27FC236}">
                      <a16:creationId xmlns:a16="http://schemas.microsoft.com/office/drawing/2014/main" id="{3CEA0B83-A83E-43BD-7C34-977C9E7DE9ED}"/>
                    </a:ext>
                  </a:extLst>
                </p:cNvPr>
                <p:cNvSpPr>
                  <a:spLocks/>
                </p:cNvSpPr>
                <p:nvPr>
                  <p:custDataLst>
                    <p:tags r:id="rId16"/>
                  </p:custDataLst>
                </p:nvPr>
              </p:nvSpPr>
              <p:spPr>
                <a:xfrm>
                  <a:off x="660400" y="3505213"/>
                  <a:ext cx="3099935" cy="616795"/>
                </a:xfrm>
                <a:prstGeom prst="plaque">
                  <a:avLst>
                    <a:gd name="adj" fmla="val 18633"/>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762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chemeClr val="bg1"/>
                      </a:solidFill>
                      <a:effectLst/>
                      <a:uLnTx/>
                      <a:uFillTx/>
                      <a:cs typeface="+mn-cs"/>
                      <a:sym typeface="Arial" panose="020B0604020202020204" pitchFamily="34" charset="0"/>
                    </a:rPr>
                    <a:t>传统金融机构（</a:t>
                  </a:r>
                  <a:r>
                    <a:rPr kumimoji="0" lang="en-US" altLang="zh-CN" sz="1800" b="1" i="0" u="none" strike="noStrike" kern="1200" cap="none" spc="0" normalizeH="0" baseline="0" noProof="0" dirty="0">
                      <a:ln>
                        <a:noFill/>
                      </a:ln>
                      <a:solidFill>
                        <a:schemeClr val="bg1"/>
                      </a:solidFill>
                      <a:effectLst/>
                      <a:uLnTx/>
                      <a:uFillTx/>
                      <a:cs typeface="+mn-cs"/>
                      <a:sym typeface="Arial" panose="020B0604020202020204" pitchFamily="34" charset="0"/>
                    </a:rPr>
                    <a:t>Visa</a:t>
                  </a:r>
                  <a:r>
                    <a:rPr kumimoji="0" lang="zh-CN" altLang="en-US" sz="1800" b="1" i="0" u="none" strike="noStrike" kern="1200" cap="none" spc="0" normalizeH="0" baseline="0" noProof="0" dirty="0">
                      <a:ln>
                        <a:noFill/>
                      </a:ln>
                      <a:solidFill>
                        <a:schemeClr val="bg1"/>
                      </a:solidFill>
                      <a:effectLst/>
                      <a:uLnTx/>
                      <a:uFillTx/>
                      <a:cs typeface="+mn-cs"/>
                      <a:sym typeface="Arial" panose="020B0604020202020204" pitchFamily="34" charset="0"/>
                    </a:rPr>
                    <a:t>）</a:t>
                  </a:r>
                  <a:endParaRPr kumimoji="0" lang="en-US" altLang="zh-CN" sz="1800" b="1" i="0" u="none" strike="noStrike" kern="1200" cap="none" spc="0" normalizeH="0" baseline="0" noProof="0" dirty="0">
                    <a:ln>
                      <a:noFill/>
                    </a:ln>
                    <a:solidFill>
                      <a:schemeClr val="bg1"/>
                    </a:solidFill>
                    <a:effectLst/>
                    <a:uLnTx/>
                    <a:uFillTx/>
                    <a:cs typeface="+mn-cs"/>
                    <a:sym typeface="Arial" panose="020B0604020202020204" pitchFamily="34" charset="0"/>
                  </a:endParaRPr>
                </a:p>
              </p:txBody>
            </p:sp>
          </p:grpSp>
          <p:sp>
            <p:nvSpPr>
              <p:cNvPr id="12" name="Body-1">
                <a:extLst>
                  <a:ext uri="{FF2B5EF4-FFF2-40B4-BE49-F238E27FC236}">
                    <a16:creationId xmlns:a16="http://schemas.microsoft.com/office/drawing/2014/main" id="{A6670FF7-3BBB-FF29-5B38-495076A9E531}"/>
                  </a:ext>
                </a:extLst>
              </p:cNvPr>
              <p:cNvSpPr>
                <a:spLocks/>
              </p:cNvSpPr>
              <p:nvPr>
                <p:custDataLst>
                  <p:tags r:id="rId14"/>
                </p:custDataLst>
              </p:nvPr>
            </p:nvSpPr>
            <p:spPr>
              <a:xfrm>
                <a:off x="2594093" y="4634388"/>
                <a:ext cx="3458817" cy="7852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3765" rtl="0" eaLnBrk="1" fontAlgn="auto" latinLnBrk="0" hangingPunct="1">
                  <a:lnSpc>
                    <a:spcPct val="130000"/>
                  </a:lnSpc>
                  <a:spcBef>
                    <a:spcPts val="0"/>
                  </a:spcBef>
                  <a:spcAft>
                    <a:spcPts val="0"/>
                  </a:spcAft>
                  <a:buClrTx/>
                  <a:buSzPct val="100000"/>
                  <a:buFontTx/>
                  <a:buNone/>
                  <a:tabLst/>
                  <a:defRPr/>
                </a:pPr>
                <a:r>
                  <a:rPr kumimoji="0" lang="zh-CN" altLang="en-US"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rPr>
                  <a:t>每秒处理峰值超</a:t>
                </a:r>
                <a:r>
                  <a:rPr kumimoji="0" lang="en-US" altLang="zh-CN"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rPr>
                  <a:t>4</a:t>
                </a:r>
                <a:r>
                  <a:rPr kumimoji="0" lang="zh-CN" altLang="en-US"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rPr>
                  <a:t>万笔交易</a:t>
                </a:r>
                <a:endParaRPr kumimoji="0" lang="en-US" altLang="zh-CN"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endParaRPr>
              </a:p>
              <a:p>
                <a:pPr marL="0" marR="0" lvl="0" indent="0" algn="ctr" defTabSz="913765" rtl="0" eaLnBrk="1" fontAlgn="auto" latinLnBrk="0" hangingPunct="1">
                  <a:lnSpc>
                    <a:spcPct val="130000"/>
                  </a:lnSpc>
                  <a:spcBef>
                    <a:spcPts val="0"/>
                  </a:spcBef>
                  <a:spcAft>
                    <a:spcPts val="0"/>
                  </a:spcAft>
                  <a:buClrTx/>
                  <a:buSzPct val="100000"/>
                  <a:buFontTx/>
                  <a:buNone/>
                  <a:tabLst/>
                  <a:defRPr/>
                </a:pPr>
                <a:r>
                  <a:rPr lang="zh-CN" altLang="en-US" dirty="0">
                    <a:solidFill>
                      <a:schemeClr val="tx1"/>
                    </a:solidFill>
                    <a:latin typeface="Arial" panose="020B0604020202020204" pitchFamily="34" charset="0"/>
                    <a:cs typeface="Arial" panose="020B0604020202020204" pitchFamily="34" charset="0"/>
                  </a:rPr>
                  <a:t>每笔交易确认延时为毫秒级</a:t>
                </a:r>
                <a:endParaRPr kumimoji="0" lang="en-GB" altLang="zh-CN"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endParaRPr>
              </a:p>
            </p:txBody>
          </p:sp>
        </p:grpSp>
        <p:grpSp>
          <p:nvGrpSpPr>
            <p:cNvPr id="7" name="组合 6">
              <a:extLst>
                <a:ext uri="{FF2B5EF4-FFF2-40B4-BE49-F238E27FC236}">
                  <a16:creationId xmlns:a16="http://schemas.microsoft.com/office/drawing/2014/main" id="{42AB85AB-6C9E-3A33-59AE-A28750EEB303}"/>
                </a:ext>
              </a:extLst>
            </p:cNvPr>
            <p:cNvGrpSpPr/>
            <p:nvPr/>
          </p:nvGrpSpPr>
          <p:grpSpPr>
            <a:xfrm>
              <a:off x="6918320" y="1964557"/>
              <a:ext cx="3458817" cy="3455061"/>
              <a:chOff x="6918320" y="1964557"/>
              <a:chExt cx="3458817" cy="3455061"/>
            </a:xfrm>
          </p:grpSpPr>
          <p:pic>
            <p:nvPicPr>
              <p:cNvPr id="8" name="Image-1">
                <a:extLst>
                  <a:ext uri="{FF2B5EF4-FFF2-40B4-BE49-F238E27FC236}">
                    <a16:creationId xmlns:a16="http://schemas.microsoft.com/office/drawing/2014/main" id="{556B7081-F23D-2FD1-7D30-58A5457FCEF0}"/>
                  </a:ext>
                </a:extLst>
              </p:cNvPr>
              <p:cNvPicPr>
                <a:picLocks/>
              </p:cNvPicPr>
              <p:nvPr>
                <p:custDataLst>
                  <p:tags r:id="rId11"/>
                </p:custDataLst>
              </p:nvPr>
            </p:nvPicPr>
            <p:blipFill rotWithShape="1">
              <a:blip r:embed="rId21" cstate="print">
                <a:extLst>
                  <a:ext uri="{28A0092B-C50C-407E-A947-70E740481C1C}">
                    <a14:useLocalDpi xmlns:a14="http://schemas.microsoft.com/office/drawing/2010/main" val="0"/>
                  </a:ext>
                </a:extLst>
              </a:blip>
              <a:srcRect l="51" r="51"/>
              <a:stretch/>
            </p:blipFill>
            <p:spPr>
              <a:xfrm>
                <a:off x="7241314" y="1964557"/>
                <a:ext cx="2812831" cy="2154957"/>
              </a:xfrm>
              <a:custGeom>
                <a:avLst/>
                <a:gdLst>
                  <a:gd name="connsiteX0" fmla="*/ 123495 w 3099935"/>
                  <a:gd name="connsiteY0" fmla="*/ 0 h 2374912"/>
                  <a:gd name="connsiteX1" fmla="*/ 2976440 w 3099935"/>
                  <a:gd name="connsiteY1" fmla="*/ 0 h 2374912"/>
                  <a:gd name="connsiteX2" fmla="*/ 3099935 w 3099935"/>
                  <a:gd name="connsiteY2" fmla="*/ 123495 h 2374912"/>
                  <a:gd name="connsiteX3" fmla="*/ 3099935 w 3099935"/>
                  <a:gd name="connsiteY3" fmla="*/ 2251417 h 2374912"/>
                  <a:gd name="connsiteX4" fmla="*/ 2976440 w 3099935"/>
                  <a:gd name="connsiteY4" fmla="*/ 2374912 h 2374912"/>
                  <a:gd name="connsiteX5" fmla="*/ 123495 w 3099935"/>
                  <a:gd name="connsiteY5" fmla="*/ 2374912 h 2374912"/>
                  <a:gd name="connsiteX6" fmla="*/ 0 w 3099935"/>
                  <a:gd name="connsiteY6" fmla="*/ 2251417 h 2374912"/>
                  <a:gd name="connsiteX7" fmla="*/ 0 w 3099935"/>
                  <a:gd name="connsiteY7" fmla="*/ 123495 h 2374912"/>
                  <a:gd name="connsiteX8" fmla="*/ 123495 w 3099935"/>
                  <a:gd name="connsiteY8" fmla="*/ 0 h 2374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99935" h="2374912">
                    <a:moveTo>
                      <a:pt x="123495" y="0"/>
                    </a:moveTo>
                    <a:lnTo>
                      <a:pt x="2976440" y="0"/>
                    </a:lnTo>
                    <a:cubicBezTo>
                      <a:pt x="2976440" y="68204"/>
                      <a:pt x="3031731" y="123495"/>
                      <a:pt x="3099935" y="123495"/>
                    </a:cubicBezTo>
                    <a:lnTo>
                      <a:pt x="3099935" y="2251417"/>
                    </a:lnTo>
                    <a:cubicBezTo>
                      <a:pt x="3031731" y="2251417"/>
                      <a:pt x="2976440" y="2306708"/>
                      <a:pt x="2976440" y="2374912"/>
                    </a:cubicBezTo>
                    <a:lnTo>
                      <a:pt x="123495" y="2374912"/>
                    </a:lnTo>
                    <a:cubicBezTo>
                      <a:pt x="123495" y="2306708"/>
                      <a:pt x="68204" y="2251417"/>
                      <a:pt x="0" y="2251417"/>
                    </a:cubicBezTo>
                    <a:lnTo>
                      <a:pt x="0" y="123495"/>
                    </a:lnTo>
                    <a:cubicBezTo>
                      <a:pt x="68204" y="123495"/>
                      <a:pt x="123495" y="68204"/>
                      <a:pt x="123495" y="0"/>
                    </a:cubicBezTo>
                    <a:close/>
                  </a:path>
                </a:pathLst>
              </a:custGeom>
            </p:spPr>
          </p:pic>
          <p:sp>
            <p:nvSpPr>
              <p:cNvPr id="9" name="Title-1">
                <a:extLst>
                  <a:ext uri="{FF2B5EF4-FFF2-40B4-BE49-F238E27FC236}">
                    <a16:creationId xmlns:a16="http://schemas.microsoft.com/office/drawing/2014/main" id="{4C49079E-459D-9803-1553-282407E257FD}"/>
                  </a:ext>
                </a:extLst>
              </p:cNvPr>
              <p:cNvSpPr>
                <a:spLocks/>
              </p:cNvSpPr>
              <p:nvPr>
                <p:custDataLst>
                  <p:tags r:id="rId12"/>
                </p:custDataLst>
              </p:nvPr>
            </p:nvSpPr>
            <p:spPr>
              <a:xfrm>
                <a:off x="7241314" y="4119514"/>
                <a:ext cx="2812831" cy="559670"/>
              </a:xfrm>
              <a:prstGeom prst="plaque">
                <a:avLst>
                  <a:gd name="adj" fmla="val 18633"/>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762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chemeClr val="bg1"/>
                    </a:solidFill>
                    <a:effectLst/>
                    <a:uLnTx/>
                    <a:uFillTx/>
                    <a:cs typeface="+mn-cs"/>
                    <a:sym typeface="Arial" panose="020B0604020202020204" pitchFamily="34" charset="0"/>
                  </a:rPr>
                  <a:t>区块链交易（比特币）</a:t>
                </a:r>
                <a:endParaRPr kumimoji="0" lang="en-US" altLang="zh-CN" sz="1800" b="1" i="0" u="none" strike="noStrike" kern="1200" cap="none" spc="0" normalizeH="0" baseline="0" noProof="0" dirty="0">
                  <a:ln>
                    <a:noFill/>
                  </a:ln>
                  <a:solidFill>
                    <a:schemeClr val="bg1"/>
                  </a:solidFill>
                  <a:effectLst/>
                  <a:uLnTx/>
                  <a:uFillTx/>
                  <a:cs typeface="+mn-cs"/>
                  <a:sym typeface="Arial" panose="020B0604020202020204" pitchFamily="34" charset="0"/>
                </a:endParaRPr>
              </a:p>
            </p:txBody>
          </p:sp>
          <p:sp>
            <p:nvSpPr>
              <p:cNvPr id="10" name="Body-1">
                <a:extLst>
                  <a:ext uri="{FF2B5EF4-FFF2-40B4-BE49-F238E27FC236}">
                    <a16:creationId xmlns:a16="http://schemas.microsoft.com/office/drawing/2014/main" id="{F77A9FAC-F0CD-7D14-9A46-DEF275755ECB}"/>
                  </a:ext>
                </a:extLst>
              </p:cNvPr>
              <p:cNvSpPr>
                <a:spLocks/>
              </p:cNvSpPr>
              <p:nvPr>
                <p:custDataLst>
                  <p:tags r:id="rId13"/>
                </p:custDataLst>
              </p:nvPr>
            </p:nvSpPr>
            <p:spPr>
              <a:xfrm>
                <a:off x="6918320" y="4634388"/>
                <a:ext cx="3458817" cy="7852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defTabSz="913765">
                  <a:lnSpc>
                    <a:spcPct val="130000"/>
                  </a:lnSpc>
                  <a:buSzPct val="100000"/>
                  <a:defRPr/>
                </a:pPr>
                <a:r>
                  <a:rPr lang="zh-CN" altLang="en-US" dirty="0">
                    <a:solidFill>
                      <a:schemeClr val="tx1"/>
                    </a:solidFill>
                    <a:latin typeface="Arial" panose="020B0604020202020204" pitchFamily="34" charset="0"/>
                    <a:cs typeface="Arial" panose="020B0604020202020204" pitchFamily="34" charset="0"/>
                  </a:rPr>
                  <a:t>每秒处理峰值</a:t>
                </a:r>
                <a:r>
                  <a:rPr lang="en-US" altLang="zh-CN" dirty="0">
                    <a:solidFill>
                      <a:schemeClr val="tx1"/>
                    </a:solidFill>
                    <a:latin typeface="Arial" panose="020B0604020202020204" pitchFamily="34" charset="0"/>
                    <a:cs typeface="Arial" panose="020B0604020202020204" pitchFamily="34" charset="0"/>
                  </a:rPr>
                  <a:t>7-10</a:t>
                </a:r>
                <a:r>
                  <a:rPr lang="zh-CN" altLang="en-US" dirty="0">
                    <a:solidFill>
                      <a:schemeClr val="tx1"/>
                    </a:solidFill>
                    <a:latin typeface="Arial" panose="020B0604020202020204" pitchFamily="34" charset="0"/>
                    <a:cs typeface="Arial" panose="020B0604020202020204" pitchFamily="34" charset="0"/>
                  </a:rPr>
                  <a:t>笔交易</a:t>
                </a:r>
                <a:endParaRPr lang="en-US" altLang="zh-CN" dirty="0">
                  <a:solidFill>
                    <a:schemeClr val="tx1"/>
                  </a:solidFill>
                  <a:latin typeface="Arial" panose="020B0604020202020204" pitchFamily="34" charset="0"/>
                  <a:cs typeface="Arial" panose="020B0604020202020204" pitchFamily="34" charset="0"/>
                </a:endParaRPr>
              </a:p>
              <a:p>
                <a:pPr lvl="0" algn="ctr" defTabSz="913765">
                  <a:lnSpc>
                    <a:spcPct val="130000"/>
                  </a:lnSpc>
                  <a:buSzPct val="100000"/>
                  <a:defRPr/>
                </a:pPr>
                <a:r>
                  <a:rPr lang="zh-CN" altLang="en-US" dirty="0">
                    <a:solidFill>
                      <a:schemeClr val="tx1"/>
                    </a:solidFill>
                    <a:latin typeface="Arial" panose="020B0604020202020204" pitchFamily="34" charset="0"/>
                    <a:cs typeface="Arial" panose="020B0604020202020204" pitchFamily="34" charset="0"/>
                  </a:rPr>
                  <a:t>每笔交易确认延时约</a:t>
                </a:r>
                <a:r>
                  <a:rPr lang="en-US" altLang="zh-CN" dirty="0">
                    <a:solidFill>
                      <a:schemeClr val="tx1"/>
                    </a:solidFill>
                    <a:latin typeface="Arial" panose="020B0604020202020204" pitchFamily="34" charset="0"/>
                    <a:cs typeface="Arial" panose="020B0604020202020204" pitchFamily="34" charset="0"/>
                  </a:rPr>
                  <a:t>1</a:t>
                </a:r>
                <a:r>
                  <a:rPr lang="zh-CN" altLang="en-US" dirty="0">
                    <a:solidFill>
                      <a:schemeClr val="tx1"/>
                    </a:solidFill>
                    <a:latin typeface="Arial" panose="020B0604020202020204" pitchFamily="34" charset="0"/>
                    <a:cs typeface="Arial" panose="020B0604020202020204" pitchFamily="34" charset="0"/>
                  </a:rPr>
                  <a:t>小时</a:t>
                </a:r>
                <a:endParaRPr lang="en-GB" altLang="zh-CN" dirty="0">
                  <a:solidFill>
                    <a:schemeClr val="tx1"/>
                  </a:solidFill>
                  <a:latin typeface="Arial" panose="020B0604020202020204" pitchFamily="34" charset="0"/>
                  <a:cs typeface="Arial" panose="020B0604020202020204" pitchFamily="34" charset="0"/>
                </a:endParaRPr>
              </a:p>
            </p:txBody>
          </p:sp>
        </p:grpSp>
      </p:grpSp>
      <p:sp>
        <p:nvSpPr>
          <p:cNvPr id="4" name="文本框 3">
            <a:extLst>
              <a:ext uri="{FF2B5EF4-FFF2-40B4-BE49-F238E27FC236}">
                <a16:creationId xmlns:a16="http://schemas.microsoft.com/office/drawing/2014/main" id="{70157187-E1F2-2818-2D5F-D82B0BE253FA}"/>
              </a:ext>
            </a:extLst>
          </p:cNvPr>
          <p:cNvSpPr txBox="1"/>
          <p:nvPr/>
        </p:nvSpPr>
        <p:spPr>
          <a:xfrm>
            <a:off x="11736779" y="6499761"/>
            <a:ext cx="455221" cy="369332"/>
          </a:xfrm>
          <a:prstGeom prst="rect">
            <a:avLst/>
          </a:prstGeom>
          <a:noFill/>
        </p:spPr>
        <p:txBody>
          <a:bodyPr wrap="square" rtlCol="0">
            <a:spAutoFit/>
          </a:bodyPr>
          <a:lstStyle/>
          <a:p>
            <a:pPr algn="ctr"/>
            <a:r>
              <a:rPr lang="en-US" altLang="zh-CN" dirty="0"/>
              <a:t>8</a:t>
            </a:r>
            <a:endParaRPr lang="zh-CN" altLang="en-US" dirty="0"/>
          </a:p>
        </p:txBody>
      </p:sp>
    </p:spTree>
    <p:custDataLst>
      <p:tags r:id="rId1"/>
    </p:custDataLst>
    <p:extLst>
      <p:ext uri="{BB962C8B-B14F-4D97-AF65-F5344CB8AC3E}">
        <p14:creationId xmlns:p14="http://schemas.microsoft.com/office/powerpoint/2010/main" val="528721019"/>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custDataLst>
              <p:tags r:id="rId2"/>
            </p:custDataLst>
          </p:nvPr>
        </p:nvSpPr>
        <p:spPr>
          <a:xfrm>
            <a:off x="1664970" y="0"/>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custDataLst>
              <p:tags r:id="rId3"/>
            </p:custDataLst>
          </p:nvPr>
        </p:nvSpPr>
        <p:spPr>
          <a:xfrm>
            <a:off x="3871595" y="-635"/>
            <a:ext cx="199072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custDataLst>
              <p:tags r:id="rId4"/>
            </p:custDataLst>
          </p:nvPr>
        </p:nvSpPr>
        <p:spPr>
          <a:xfrm>
            <a:off x="5862320" y="-635"/>
            <a:ext cx="311594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p:cNvSpPr/>
          <p:nvPr>
            <p:custDataLst>
              <p:tags r:id="rId5"/>
            </p:custDataLst>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custDataLst>
              <p:tags r:id="rId6"/>
            </p:custDataLst>
          </p:nvPr>
        </p:nvSpPr>
        <p:spPr>
          <a:xfrm>
            <a:off x="1664970" y="-635"/>
            <a:ext cx="2206625"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p:cNvSpPr txBox="1"/>
          <p:nvPr>
            <p:custDataLst>
              <p:tags r:id="rId7"/>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tx1"/>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选题背景及意义</a:t>
            </a:r>
            <a:r>
              <a:rPr lang="en-US" altLang="zh-CN" dirty="0">
                <a:solidFill>
                  <a:schemeClr val="bg1"/>
                </a:solidFill>
                <a:latin typeface="Arial" panose="020B0604020202020204" pitchFamily="34" charset="0"/>
                <a:sym typeface="+mn-ea"/>
              </a:rPr>
              <a:t>  </a:t>
            </a:r>
            <a:r>
              <a:rPr lang="en-US" altLang="zh-CN" dirty="0">
                <a:solidFill>
                  <a:schemeClr val="tx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国内外研究现状</a:t>
            </a:r>
            <a:r>
              <a:rPr lang="en-US" altLang="zh-CN" dirty="0">
                <a:solidFill>
                  <a:schemeClr val="tx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主要研究内容及预期目标</a:t>
            </a:r>
            <a:r>
              <a:rPr lang="en-US" altLang="zh-CN" dirty="0">
                <a:solidFill>
                  <a:schemeClr val="tx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工作计划与进度安排</a:t>
            </a:r>
          </a:p>
        </p:txBody>
      </p:sp>
      <p:pic>
        <p:nvPicPr>
          <p:cNvPr id="47" name="Picture 2" descr="C:\Program Files\Apache Software Foundation\Tomcat 6.0\webapps\topo1\images\sklois1 (2).jpg"/>
          <p:cNvPicPr>
            <a:picLocks noChangeAspect="1" noChangeArrowheads="1"/>
          </p:cNvPicPr>
          <p:nvPr>
            <p:custDataLst>
              <p:tags r:id="rId8"/>
            </p:custDataLst>
          </p:nvPr>
        </p:nvPicPr>
        <p:blipFill>
          <a:blip r:embed="rId19"/>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8" name="等腰三角形 47"/>
          <p:cNvSpPr/>
          <p:nvPr>
            <p:custDataLst>
              <p:tags r:id="rId9"/>
            </p:custDataLst>
          </p:nvPr>
        </p:nvSpPr>
        <p:spPr>
          <a:xfrm rot="10800000">
            <a:off x="2622550" y="721360"/>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7" name="组合 36">
            <a:extLst>
              <a:ext uri="{FF2B5EF4-FFF2-40B4-BE49-F238E27FC236}">
                <a16:creationId xmlns:a16="http://schemas.microsoft.com/office/drawing/2014/main" id="{9394F9F1-3F04-47FE-D3DC-D25B4CE65A61}"/>
              </a:ext>
            </a:extLst>
          </p:cNvPr>
          <p:cNvGrpSpPr/>
          <p:nvPr/>
        </p:nvGrpSpPr>
        <p:grpSpPr>
          <a:xfrm>
            <a:off x="5560555" y="1841359"/>
            <a:ext cx="5894699" cy="4230976"/>
            <a:chOff x="5560555" y="2024590"/>
            <a:chExt cx="5894699" cy="4230976"/>
          </a:xfrm>
        </p:grpSpPr>
        <p:pic>
          <p:nvPicPr>
            <p:cNvPr id="34" name="图片 33">
              <a:extLst>
                <a:ext uri="{FF2B5EF4-FFF2-40B4-BE49-F238E27FC236}">
                  <a16:creationId xmlns:a16="http://schemas.microsoft.com/office/drawing/2014/main" id="{4ACA8809-D4EC-E77B-7950-C574BBF44757}"/>
                </a:ext>
              </a:extLst>
            </p:cNvPr>
            <p:cNvPicPr>
              <a:picLocks noChangeAspect="1"/>
            </p:cNvPicPr>
            <p:nvPr/>
          </p:nvPicPr>
          <p:blipFill>
            <a:blip r:embed="rId20"/>
            <a:stretch>
              <a:fillRect/>
            </a:stretch>
          </p:blipFill>
          <p:spPr>
            <a:xfrm>
              <a:off x="5913780" y="2024590"/>
              <a:ext cx="5116406" cy="4049180"/>
            </a:xfrm>
            <a:prstGeom prst="rect">
              <a:avLst/>
            </a:prstGeom>
          </p:spPr>
        </p:pic>
        <p:sp>
          <p:nvSpPr>
            <p:cNvPr id="35" name="文本框 34">
              <a:extLst>
                <a:ext uri="{FF2B5EF4-FFF2-40B4-BE49-F238E27FC236}">
                  <a16:creationId xmlns:a16="http://schemas.microsoft.com/office/drawing/2014/main" id="{70301896-3E6D-F02C-C1AC-57966DD7DD4F}"/>
                </a:ext>
              </a:extLst>
            </p:cNvPr>
            <p:cNvSpPr txBox="1"/>
            <p:nvPr/>
          </p:nvSpPr>
          <p:spPr>
            <a:xfrm>
              <a:off x="5560555" y="2188948"/>
              <a:ext cx="706450" cy="461665"/>
            </a:xfrm>
            <a:prstGeom prst="rect">
              <a:avLst/>
            </a:prstGeom>
            <a:noFill/>
          </p:spPr>
          <p:txBody>
            <a:bodyPr wrap="square" rtlCol="0">
              <a:spAutoFit/>
            </a:bodyPr>
            <a:lstStyle/>
            <a:p>
              <a:pPr algn="ctr"/>
              <a:r>
                <a:rPr lang="zh-CN" altLang="en-US" sz="1200" dirty="0"/>
                <a:t>吞吐量</a:t>
              </a:r>
              <a:r>
                <a:rPr lang="en-US" altLang="zh-CN" sz="1200" dirty="0"/>
                <a:t>(</a:t>
              </a:r>
              <a:r>
                <a:rPr lang="en-US" altLang="zh-CN" sz="1200" dirty="0" err="1"/>
                <a:t>tx</a:t>
              </a:r>
              <a:r>
                <a:rPr lang="en-US" altLang="zh-CN" sz="1200" dirty="0"/>
                <a:t>/s)</a:t>
              </a:r>
              <a:endParaRPr lang="zh-CN" altLang="en-US" sz="1200" dirty="0"/>
            </a:p>
          </p:txBody>
        </p:sp>
        <p:sp>
          <p:nvSpPr>
            <p:cNvPr id="36" name="文本框 35">
              <a:extLst>
                <a:ext uri="{FF2B5EF4-FFF2-40B4-BE49-F238E27FC236}">
                  <a16:creationId xmlns:a16="http://schemas.microsoft.com/office/drawing/2014/main" id="{3CCE3539-3804-3865-D88E-598196178E28}"/>
                </a:ext>
              </a:extLst>
            </p:cNvPr>
            <p:cNvSpPr txBox="1"/>
            <p:nvPr/>
          </p:nvSpPr>
          <p:spPr>
            <a:xfrm>
              <a:off x="10081309" y="5978567"/>
              <a:ext cx="1373945" cy="276999"/>
            </a:xfrm>
            <a:prstGeom prst="rect">
              <a:avLst/>
            </a:prstGeom>
            <a:noFill/>
          </p:spPr>
          <p:txBody>
            <a:bodyPr wrap="square" rtlCol="0">
              <a:spAutoFit/>
            </a:bodyPr>
            <a:lstStyle/>
            <a:p>
              <a:pPr algn="ctr"/>
              <a:r>
                <a:rPr lang="zh-CN" altLang="en-US" sz="1200" dirty="0"/>
                <a:t>共识节点个数</a:t>
              </a:r>
              <a:r>
                <a:rPr lang="en-US" altLang="zh-CN" sz="1200" dirty="0"/>
                <a:t>/</a:t>
              </a:r>
              <a:r>
                <a:rPr lang="zh-CN" altLang="en-US" sz="1200" dirty="0"/>
                <a:t>个</a:t>
              </a:r>
            </a:p>
          </p:txBody>
        </p:sp>
      </p:grpSp>
      <p:grpSp>
        <p:nvGrpSpPr>
          <p:cNvPr id="52" name="组合 51">
            <a:extLst>
              <a:ext uri="{FF2B5EF4-FFF2-40B4-BE49-F238E27FC236}">
                <a16:creationId xmlns:a16="http://schemas.microsoft.com/office/drawing/2014/main" id="{9B7C29C0-C82E-9B3C-730F-C8E45A01D640}"/>
              </a:ext>
            </a:extLst>
          </p:cNvPr>
          <p:cNvGrpSpPr/>
          <p:nvPr>
            <p:custDataLst>
              <p:tags r:id="rId10"/>
            </p:custDataLst>
          </p:nvPr>
        </p:nvGrpSpPr>
        <p:grpSpPr>
          <a:xfrm>
            <a:off x="565042" y="3625423"/>
            <a:ext cx="4317365" cy="1958340"/>
            <a:chOff x="687" y="7181"/>
            <a:chExt cx="6040" cy="3922"/>
          </a:xfrm>
        </p:grpSpPr>
        <p:sp>
          <p:nvSpPr>
            <p:cNvPr id="53" name="矩形 52">
              <a:extLst>
                <a:ext uri="{FF2B5EF4-FFF2-40B4-BE49-F238E27FC236}">
                  <a16:creationId xmlns:a16="http://schemas.microsoft.com/office/drawing/2014/main" id="{CEB83E1C-B094-DEEF-2CEC-8CD966652F52}"/>
                </a:ext>
              </a:extLst>
            </p:cNvPr>
            <p:cNvSpPr/>
            <p:nvPr>
              <p:custDataLst>
                <p:tags r:id="rId13"/>
              </p:custDataLst>
            </p:nvPr>
          </p:nvSpPr>
          <p:spPr>
            <a:xfrm>
              <a:off x="958" y="7181"/>
              <a:ext cx="5769" cy="3922"/>
            </a:xfrm>
            <a:prstGeom prst="rect">
              <a:avLst/>
            </a:prstGeom>
            <a:solidFill>
              <a:schemeClr val="lt1"/>
            </a:solidFill>
            <a:ln w="22225">
              <a:solidFill>
                <a:schemeClr val="dk1">
                  <a:lumMod val="75000"/>
                  <a:lumOff val="25000"/>
                </a:schemeClr>
              </a:solidFill>
            </a:ln>
            <a:effectLst>
              <a:outerShdw dist="38100" dir="2700000" algn="tl" rotWithShape="0">
                <a:schemeClr val="accent1">
                  <a:alpha val="10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grpSp>
          <p:nvGrpSpPr>
            <p:cNvPr id="54" name="组合 53">
              <a:extLst>
                <a:ext uri="{FF2B5EF4-FFF2-40B4-BE49-F238E27FC236}">
                  <a16:creationId xmlns:a16="http://schemas.microsoft.com/office/drawing/2014/main" id="{D36FE12B-56BF-6217-DF17-D7C94813162D}"/>
                </a:ext>
              </a:extLst>
            </p:cNvPr>
            <p:cNvGrpSpPr/>
            <p:nvPr>
              <p:custDataLst>
                <p:tags r:id="rId14"/>
              </p:custDataLst>
            </p:nvPr>
          </p:nvGrpSpPr>
          <p:grpSpPr>
            <a:xfrm>
              <a:off x="687" y="7711"/>
              <a:ext cx="599" cy="745"/>
              <a:chOff x="2665332" y="2559050"/>
              <a:chExt cx="380348" cy="473075"/>
            </a:xfrm>
          </p:grpSpPr>
          <p:sp>
            <p:nvSpPr>
              <p:cNvPr id="55" name="矩形 54">
                <a:extLst>
                  <a:ext uri="{FF2B5EF4-FFF2-40B4-BE49-F238E27FC236}">
                    <a16:creationId xmlns:a16="http://schemas.microsoft.com/office/drawing/2014/main" id="{BE05A09E-D965-EA61-8CCE-697558E2C2BA}"/>
                  </a:ext>
                </a:extLst>
              </p:cNvPr>
              <p:cNvSpPr/>
              <p:nvPr>
                <p:custDataLst>
                  <p:tags r:id="rId15"/>
                </p:custDataLst>
              </p:nvPr>
            </p:nvSpPr>
            <p:spPr>
              <a:xfrm>
                <a:off x="2826543" y="2559050"/>
                <a:ext cx="219137" cy="47307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56" name="PA_ImportSvg_636983900241446251">
                <a:extLst>
                  <a:ext uri="{FF2B5EF4-FFF2-40B4-BE49-F238E27FC236}">
                    <a16:creationId xmlns:a16="http://schemas.microsoft.com/office/drawing/2014/main" id="{BD2345C1-3863-8C06-C7CD-5E800F2E6E2B}"/>
                  </a:ext>
                </a:extLst>
              </p:cNvPr>
              <p:cNvSpPr/>
              <p:nvPr>
                <p:custDataLst>
                  <p:tags r:id="rId16"/>
                </p:custDataLst>
              </p:nvPr>
            </p:nvSpPr>
            <p:spPr>
              <a:xfrm rot="10800000">
                <a:off x="2665332" y="2559050"/>
                <a:ext cx="380342" cy="449803"/>
              </a:xfrm>
              <a:custGeom>
                <a:avLst/>
                <a:gdLst/>
                <a:ahLst/>
                <a:cxnLst/>
                <a:rect l="l" t="t" r="r" b="b"/>
                <a:pathLst>
                  <a:path w="14292586" h="12354751">
                    <a:moveTo>
                      <a:pt x="1" y="0"/>
                    </a:moveTo>
                    <a:lnTo>
                      <a:pt x="6016804" y="0"/>
                    </a:lnTo>
                    <a:lnTo>
                      <a:pt x="6016804" y="4339700"/>
                    </a:lnTo>
                    <a:cubicBezTo>
                      <a:pt x="6016804" y="6110134"/>
                      <a:pt x="5863353" y="7499112"/>
                      <a:pt x="5556444" y="8506676"/>
                    </a:cubicBezTo>
                    <a:cubicBezTo>
                      <a:pt x="5249537" y="9514240"/>
                      <a:pt x="4930378" y="10186854"/>
                      <a:pt x="4095301" y="10992906"/>
                    </a:cubicBezTo>
                    <a:cubicBezTo>
                      <a:pt x="3260225" y="11798956"/>
                      <a:pt x="2680814" y="12040837"/>
                      <a:pt x="1455066" y="12354750"/>
                    </a:cubicBezTo>
                    <a:lnTo>
                      <a:pt x="598736" y="10512869"/>
                    </a:lnTo>
                    <a:cubicBezTo>
                      <a:pt x="1455066" y="10185628"/>
                      <a:pt x="1976770" y="10039677"/>
                      <a:pt x="2781416" y="9204842"/>
                    </a:cubicBezTo>
                    <a:cubicBezTo>
                      <a:pt x="3586062" y="8370008"/>
                      <a:pt x="3645413" y="7562531"/>
                      <a:pt x="3645413" y="6868493"/>
                    </a:cubicBezTo>
                    <a:lnTo>
                      <a:pt x="1" y="6868493"/>
                    </a:lnTo>
                    <a:close/>
                    <a:moveTo>
                      <a:pt x="8275783" y="0"/>
                    </a:moveTo>
                    <a:lnTo>
                      <a:pt x="14292586" y="0"/>
                    </a:lnTo>
                    <a:lnTo>
                      <a:pt x="14292586" y="4339700"/>
                    </a:lnTo>
                    <a:cubicBezTo>
                      <a:pt x="14292586" y="6110134"/>
                      <a:pt x="14139135" y="7499112"/>
                      <a:pt x="13832227" y="8506676"/>
                    </a:cubicBezTo>
                    <a:cubicBezTo>
                      <a:pt x="13525318" y="9514240"/>
                      <a:pt x="13206159" y="10186854"/>
                      <a:pt x="12371083" y="10992906"/>
                    </a:cubicBezTo>
                    <a:cubicBezTo>
                      <a:pt x="11536006" y="11798956"/>
                      <a:pt x="10956597" y="12040837"/>
                      <a:pt x="9730848" y="12354750"/>
                    </a:cubicBezTo>
                    <a:lnTo>
                      <a:pt x="8874518" y="10512869"/>
                    </a:lnTo>
                    <a:cubicBezTo>
                      <a:pt x="9730848" y="10185628"/>
                      <a:pt x="10252552" y="10039677"/>
                      <a:pt x="11057198" y="9204842"/>
                    </a:cubicBezTo>
                    <a:cubicBezTo>
                      <a:pt x="11861845" y="8370008"/>
                      <a:pt x="11921195" y="7562531"/>
                      <a:pt x="11921195" y="6868493"/>
                    </a:cubicBezTo>
                    <a:lnTo>
                      <a:pt x="8275783" y="6868493"/>
                    </a:lnTo>
                    <a:close/>
                  </a:path>
                </a:pathLst>
              </a:cu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grpSp>
      </p:grpSp>
      <p:sp>
        <p:nvSpPr>
          <p:cNvPr id="57" name="Title 6">
            <a:extLst>
              <a:ext uri="{FF2B5EF4-FFF2-40B4-BE49-F238E27FC236}">
                <a16:creationId xmlns:a16="http://schemas.microsoft.com/office/drawing/2014/main" id="{1BC5AD7A-CAA1-D7C8-8F6D-2A7435F35272}"/>
              </a:ext>
            </a:extLst>
          </p:cNvPr>
          <p:cNvSpPr txBox="1"/>
          <p:nvPr>
            <p:custDataLst>
              <p:tags r:id="rId11"/>
            </p:custDataLst>
          </p:nvPr>
        </p:nvSpPr>
        <p:spPr>
          <a:xfrm>
            <a:off x="992397" y="3770203"/>
            <a:ext cx="3742055" cy="1520190"/>
          </a:xfrm>
          <a:prstGeom prst="rect">
            <a:avLst/>
          </a:prstGeom>
          <a:noFill/>
          <a:ln w="3175">
            <a:noFill/>
            <a:prstDash val="dash"/>
          </a:ln>
          <a:extLst>
            <a:ext uri="{909E8E84-426E-40DD-AFC4-6F175D3DCCD1}">
              <a14:hiddenFill xmlns:a14="http://schemas.microsoft.com/office/drawing/2010/main">
                <a:solidFill>
                  <a:schemeClr val="bg2"/>
                </a:solidFill>
              </a14:hiddenFill>
            </a:ext>
          </a:extLst>
        </p:spPr>
        <p:txBody>
          <a:bodyPr wrap="square" lIns="72000" tIns="36195" rIns="72000" bIns="36195"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6195" lvl="0" indent="0" algn="l" fontAlgn="auto">
              <a:lnSpc>
                <a:spcPct val="120000"/>
              </a:lnSpc>
              <a:spcBef>
                <a:spcPts val="800"/>
              </a:spcBef>
              <a:spcAft>
                <a:spcPts val="0"/>
              </a:spcAft>
              <a:buSzPct val="100000"/>
              <a:buFont typeface="+mj-lt"/>
            </a:pPr>
            <a:r>
              <a:rPr lang="en-US" altLang="zh-CN" sz="1400" spc="0" dirty="0">
                <a:ln w="3175">
                  <a:noFill/>
                  <a:prstDash val="dash"/>
                </a:ln>
                <a:solidFill>
                  <a:srgbClr val="000000"/>
                </a:solidFill>
                <a:latin typeface="微软雅黑" panose="020B0503020204020204" charset="-122"/>
                <a:ea typeface="微软雅黑" panose="020B0503020204020204" charset="-122"/>
                <a:cs typeface="微软雅黑" panose="020B0503020204020204" charset="-122"/>
                <a:sym typeface="+mn-ea"/>
              </a:rPr>
              <a:t>T</a:t>
            </a:r>
            <a:r>
              <a:rPr lang="en-US" altLang="zh-CN" sz="1400" spc="0" dirty="0">
                <a:ln w="3175">
                  <a:noFill/>
                  <a:prstDash val="dash"/>
                </a:ln>
                <a:solidFill>
                  <a:srgbClr val="000000"/>
                </a:solidFill>
                <a:uFillTx/>
                <a:latin typeface="微软雅黑" panose="020B0503020204020204" charset="-122"/>
                <a:ea typeface="微软雅黑" panose="020B0503020204020204" charset="-122"/>
                <a:cs typeface="微软雅黑" panose="020B0503020204020204" charset="-122"/>
                <a:sym typeface="+mn-ea"/>
              </a:rPr>
              <a:t>he blockchain scalability trilemma is a conjecture that states that </a:t>
            </a:r>
            <a:r>
              <a:rPr lang="en-US" altLang="zh-CN" sz="1400" b="1" spc="0" dirty="0">
                <a:ln w="3175">
                  <a:noFill/>
                  <a:prstDash val="dash"/>
                </a:ln>
                <a:solidFill>
                  <a:schemeClr val="tx2">
                    <a:lumMod val="50000"/>
                    <a:lumOff val="50000"/>
                  </a:schemeClr>
                </a:solidFill>
                <a:uFillTx/>
                <a:latin typeface="微软雅黑" panose="020B0503020204020204" charset="-122"/>
                <a:ea typeface="微软雅黑" panose="020B0503020204020204" charset="-122"/>
                <a:cs typeface="微软雅黑" panose="020B0503020204020204" charset="-122"/>
                <a:sym typeface="+mn-ea"/>
              </a:rPr>
              <a:t>no blockchain system can provide all properties simultaneously</a:t>
            </a:r>
            <a:r>
              <a:rPr lang="en-US" altLang="zh-CN" sz="1400" spc="0" dirty="0">
                <a:ln w="3175">
                  <a:noFill/>
                  <a:prstDash val="dash"/>
                </a:ln>
                <a:solidFill>
                  <a:srgbClr val="000000"/>
                </a:solidFill>
                <a:uFillTx/>
                <a:latin typeface="微软雅黑" panose="020B0503020204020204" charset="-122"/>
                <a:ea typeface="微软雅黑" panose="020B0503020204020204" charset="-122"/>
                <a:cs typeface="微软雅黑" panose="020B0503020204020204" charset="-122"/>
                <a:sym typeface="+mn-ea"/>
              </a:rPr>
              <a:t>. Consequently, every blockchain forfeits at least one property at any given time.</a:t>
            </a:r>
            <a:endParaRPr lang="zh-CN" altLang="en-US" sz="1400" b="1" spc="0" dirty="0">
              <a:ln w="3175">
                <a:noFill/>
                <a:prstDash val="dash"/>
              </a:ln>
              <a:solidFill>
                <a:srgbClr val="04579A"/>
              </a:solidFill>
              <a:uFillTx/>
              <a:latin typeface="微软雅黑" panose="020B0503020204020204" charset="-122"/>
              <a:ea typeface="微软雅黑" panose="020B0503020204020204" charset="-122"/>
              <a:cs typeface="微软雅黑" panose="020B0503020204020204" charset="-122"/>
              <a:sym typeface="+mn-ea"/>
            </a:endParaRPr>
          </a:p>
        </p:txBody>
      </p:sp>
      <p:sp>
        <p:nvSpPr>
          <p:cNvPr id="58" name="文本框 57">
            <a:extLst>
              <a:ext uri="{FF2B5EF4-FFF2-40B4-BE49-F238E27FC236}">
                <a16:creationId xmlns:a16="http://schemas.microsoft.com/office/drawing/2014/main" id="{59C9524D-1D89-5E35-9C47-7054AC768CDE}"/>
              </a:ext>
            </a:extLst>
          </p:cNvPr>
          <p:cNvSpPr txBox="1"/>
          <p:nvPr/>
        </p:nvSpPr>
        <p:spPr>
          <a:xfrm>
            <a:off x="2243982" y="5160218"/>
            <a:ext cx="2255520" cy="328936"/>
          </a:xfrm>
          <a:prstGeom prst="rect">
            <a:avLst/>
          </a:prstGeom>
          <a:noFill/>
        </p:spPr>
        <p:txBody>
          <a:bodyPr wrap="square" rtlCol="0">
            <a:spAutoFit/>
          </a:bodyPr>
          <a:lstStyle/>
          <a:p>
            <a:pPr marL="36195" algn="r" defTabSz="913765">
              <a:lnSpc>
                <a:spcPct val="120000"/>
              </a:lnSpc>
              <a:spcBef>
                <a:spcPts val="800"/>
              </a:spcBef>
              <a:spcAft>
                <a:spcPts val="0"/>
              </a:spcAft>
              <a:buClrTx/>
              <a:buSzTx/>
              <a:buFont typeface="+mj-lt"/>
            </a:pPr>
            <a:r>
              <a:rPr lang="en-US" altLang="zh-CN" sz="1400" dirty="0">
                <a:ln w="3175">
                  <a:noFill/>
                  <a:prstDash val="dash"/>
                </a:ln>
                <a:solidFill>
                  <a:srgbClr val="000000"/>
                </a:solidFill>
                <a:effectLst/>
                <a:uFillTx/>
                <a:latin typeface="微软雅黑" panose="020B0503020204020204" charset="-122"/>
                <a:ea typeface="微软雅黑" panose="020B0503020204020204" charset="-122"/>
                <a:cs typeface="微软雅黑" panose="020B0503020204020204" charset="-122"/>
              </a:rPr>
              <a:t>——</a:t>
            </a:r>
            <a:r>
              <a:rPr lang="en-US" altLang="zh-CN" sz="1400" dirty="0">
                <a:ln w="3175">
                  <a:noFill/>
                  <a:prstDash val="dash"/>
                </a:ln>
                <a:solidFill>
                  <a:srgbClr val="000000"/>
                </a:solidFill>
                <a:effectLst/>
                <a:uFillTx/>
                <a:latin typeface="微软雅黑" panose="020B0503020204020204" charset="-122"/>
                <a:ea typeface="微软雅黑" panose="020B0503020204020204" charset="-122"/>
                <a:cs typeface="微软雅黑" panose="020B0503020204020204" charset="-122"/>
                <a:sym typeface="+mn-ea"/>
              </a:rPr>
              <a:t>Vitalik Buterin</a:t>
            </a:r>
            <a:r>
              <a:rPr lang="zh-CN" altLang="en-US" sz="1400" dirty="0">
                <a:ln w="3175">
                  <a:noFill/>
                  <a:prstDash val="dash"/>
                </a:ln>
                <a:solidFill>
                  <a:srgbClr val="000000"/>
                </a:solidFill>
                <a:effectLst/>
                <a:uFillTx/>
                <a:latin typeface="微软雅黑" panose="020B0503020204020204" charset="-122"/>
                <a:ea typeface="微软雅黑" panose="020B0503020204020204" charset="-122"/>
                <a:cs typeface="微软雅黑" panose="020B0503020204020204" charset="-122"/>
              </a:rPr>
              <a:t>. </a:t>
            </a:r>
          </a:p>
        </p:txBody>
      </p:sp>
      <p:sp>
        <p:nvSpPr>
          <p:cNvPr id="59" name="文本框 58">
            <a:extLst>
              <a:ext uri="{FF2B5EF4-FFF2-40B4-BE49-F238E27FC236}">
                <a16:creationId xmlns:a16="http://schemas.microsoft.com/office/drawing/2014/main" id="{1784A2A3-05D8-BBC5-5D5E-82836CD6B34F}"/>
              </a:ext>
            </a:extLst>
          </p:cNvPr>
          <p:cNvSpPr txBox="1"/>
          <p:nvPr/>
        </p:nvSpPr>
        <p:spPr>
          <a:xfrm>
            <a:off x="623808" y="1594428"/>
            <a:ext cx="4123655" cy="369332"/>
          </a:xfrm>
          <a:prstGeom prst="rect">
            <a:avLst/>
          </a:prstGeom>
          <a:noFill/>
        </p:spPr>
        <p:txBody>
          <a:bodyPr wrap="square" rtlCol="0">
            <a:spAutoFit/>
          </a:bodyPr>
          <a:lstStyle/>
          <a:p>
            <a:r>
              <a:rPr lang="zh-CN" altLang="en-US" b="1" dirty="0"/>
              <a:t>区块链可扩展性三元悖论</a:t>
            </a:r>
          </a:p>
        </p:txBody>
      </p:sp>
      <p:sp>
        <p:nvSpPr>
          <p:cNvPr id="60" name="文本框 59">
            <a:extLst>
              <a:ext uri="{FF2B5EF4-FFF2-40B4-BE49-F238E27FC236}">
                <a16:creationId xmlns:a16="http://schemas.microsoft.com/office/drawing/2014/main" id="{75128EC6-4869-8754-4573-01B50D667B00}"/>
              </a:ext>
            </a:extLst>
          </p:cNvPr>
          <p:cNvSpPr txBox="1"/>
          <p:nvPr/>
        </p:nvSpPr>
        <p:spPr>
          <a:xfrm>
            <a:off x="688769" y="2165268"/>
            <a:ext cx="4275117" cy="1200329"/>
          </a:xfrm>
          <a:prstGeom prst="rect">
            <a:avLst/>
          </a:prstGeom>
          <a:noFill/>
        </p:spPr>
        <p:txBody>
          <a:bodyPr wrap="square" rtlCol="0">
            <a:spAutoFit/>
          </a:bodyPr>
          <a:lstStyle/>
          <a:p>
            <a:pPr>
              <a:lnSpc>
                <a:spcPct val="150000"/>
              </a:lnSpc>
            </a:pPr>
            <a:r>
              <a:rPr lang="zh-CN" altLang="en-US" dirty="0"/>
              <a:t>在保证安全性的前提下，</a:t>
            </a:r>
            <a:endParaRPr lang="en-US" altLang="zh-CN" dirty="0"/>
          </a:p>
          <a:p>
            <a:pPr>
              <a:lnSpc>
                <a:spcPct val="150000"/>
              </a:lnSpc>
            </a:pPr>
            <a:r>
              <a:rPr lang="zh-CN" altLang="en-US" dirty="0"/>
              <a:t>吞吐量           去中心化程度 </a:t>
            </a:r>
            <a:endParaRPr lang="en-US" altLang="zh-CN" dirty="0"/>
          </a:p>
          <a:p>
            <a:r>
              <a:rPr lang="zh-CN" altLang="en-US" dirty="0"/>
              <a:t>吞吐量           去中心化程度</a:t>
            </a:r>
            <a:endParaRPr lang="en-US" altLang="zh-CN" dirty="0"/>
          </a:p>
        </p:txBody>
      </p:sp>
      <p:sp>
        <p:nvSpPr>
          <p:cNvPr id="61" name="箭头: 下 60">
            <a:extLst>
              <a:ext uri="{FF2B5EF4-FFF2-40B4-BE49-F238E27FC236}">
                <a16:creationId xmlns:a16="http://schemas.microsoft.com/office/drawing/2014/main" id="{5365516A-7B79-F6C5-0DA1-391F91D2E3DE}"/>
              </a:ext>
            </a:extLst>
          </p:cNvPr>
          <p:cNvSpPr/>
          <p:nvPr/>
        </p:nvSpPr>
        <p:spPr>
          <a:xfrm>
            <a:off x="1664970" y="3094785"/>
            <a:ext cx="156210" cy="221673"/>
          </a:xfrm>
          <a:prstGeom prst="downArrow">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箭头: 下 61">
            <a:extLst>
              <a:ext uri="{FF2B5EF4-FFF2-40B4-BE49-F238E27FC236}">
                <a16:creationId xmlns:a16="http://schemas.microsoft.com/office/drawing/2014/main" id="{584EBB18-D14B-ED49-01B2-348121216187}"/>
              </a:ext>
            </a:extLst>
          </p:cNvPr>
          <p:cNvSpPr/>
          <p:nvPr/>
        </p:nvSpPr>
        <p:spPr>
          <a:xfrm>
            <a:off x="3824300" y="2742686"/>
            <a:ext cx="156210" cy="221673"/>
          </a:xfrm>
          <a:prstGeom prst="downArrow">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箭头: 下 62">
            <a:extLst>
              <a:ext uri="{FF2B5EF4-FFF2-40B4-BE49-F238E27FC236}">
                <a16:creationId xmlns:a16="http://schemas.microsoft.com/office/drawing/2014/main" id="{31ED8ED4-116D-7267-D2A4-D83C4D8BB725}"/>
              </a:ext>
            </a:extLst>
          </p:cNvPr>
          <p:cNvSpPr/>
          <p:nvPr/>
        </p:nvSpPr>
        <p:spPr>
          <a:xfrm rot="10800000">
            <a:off x="1664970" y="2742686"/>
            <a:ext cx="156210" cy="22167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箭头: 下 64">
            <a:extLst>
              <a:ext uri="{FF2B5EF4-FFF2-40B4-BE49-F238E27FC236}">
                <a16:creationId xmlns:a16="http://schemas.microsoft.com/office/drawing/2014/main" id="{E8D13FE9-4D85-3355-B17D-799DBE0C3C11}"/>
              </a:ext>
            </a:extLst>
          </p:cNvPr>
          <p:cNvSpPr/>
          <p:nvPr/>
        </p:nvSpPr>
        <p:spPr>
          <a:xfrm rot="10800000">
            <a:off x="3824300" y="3094784"/>
            <a:ext cx="156210" cy="22167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65">
            <a:extLst>
              <a:ext uri="{FF2B5EF4-FFF2-40B4-BE49-F238E27FC236}">
                <a16:creationId xmlns:a16="http://schemas.microsoft.com/office/drawing/2014/main" id="{E09CAB48-898B-B067-86CF-988CBD7BDF19}"/>
              </a:ext>
            </a:extLst>
          </p:cNvPr>
          <p:cNvSpPr txBox="1"/>
          <p:nvPr>
            <p:custDataLst>
              <p:tags r:id="rId12"/>
            </p:custDataLst>
          </p:nvPr>
        </p:nvSpPr>
        <p:spPr>
          <a:xfrm>
            <a:off x="408305" y="949960"/>
            <a:ext cx="10727690" cy="499111"/>
          </a:xfrm>
          <a:prstGeom prst="rect">
            <a:avLst/>
          </a:prstGeom>
          <a:noFill/>
        </p:spPr>
        <p:txBody>
          <a:bodyPr wrap="square" rtlCol="0" anchor="t">
            <a:spAutoFit/>
          </a:bodyPr>
          <a:lstStyle/>
          <a:p>
            <a:pPr marL="457200" indent="-457200" fontAlgn="auto">
              <a:lnSpc>
                <a:spcPct val="150000"/>
              </a:lnSpc>
              <a:buFont typeface="+mj-lt"/>
              <a:buAutoNum type="arabicPeriod" startAt="2"/>
            </a:pPr>
            <a:r>
              <a:rPr lang="zh-CN" altLang="en-US" sz="2000" dirty="0">
                <a:solidFill>
                  <a:schemeClr val="tx1">
                    <a:lumMod val="75000"/>
                    <a:lumOff val="25000"/>
                  </a:schemeClr>
                </a:solidFill>
                <a:sym typeface="+mn-ea"/>
              </a:rPr>
              <a:t>大规模、高并发的交易场景要求分布式数字资产交易协议具有可扩展性</a:t>
            </a:r>
          </a:p>
        </p:txBody>
      </p:sp>
      <p:sp>
        <p:nvSpPr>
          <p:cNvPr id="4" name="文本框 3">
            <a:extLst>
              <a:ext uri="{FF2B5EF4-FFF2-40B4-BE49-F238E27FC236}">
                <a16:creationId xmlns:a16="http://schemas.microsoft.com/office/drawing/2014/main" id="{D2640F6F-6A5B-80D4-FDA6-4473F61047E6}"/>
              </a:ext>
            </a:extLst>
          </p:cNvPr>
          <p:cNvSpPr txBox="1"/>
          <p:nvPr/>
        </p:nvSpPr>
        <p:spPr>
          <a:xfrm>
            <a:off x="11736779" y="6499761"/>
            <a:ext cx="455221" cy="369332"/>
          </a:xfrm>
          <a:prstGeom prst="rect">
            <a:avLst/>
          </a:prstGeom>
          <a:noFill/>
        </p:spPr>
        <p:txBody>
          <a:bodyPr wrap="square" rtlCol="0">
            <a:spAutoFit/>
          </a:bodyPr>
          <a:lstStyle/>
          <a:p>
            <a:pPr algn="ctr"/>
            <a:r>
              <a:rPr lang="en-US" altLang="zh-CN" dirty="0"/>
              <a:t>9</a:t>
            </a:r>
            <a:endParaRPr lang="zh-CN" altLang="en-US" dirty="0"/>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77068-C46A-A36C-D6D6-1B36A23F56D0}"/>
            </a:ext>
          </a:extLst>
        </p:cNvPr>
        <p:cNvGrpSpPr/>
        <p:nvPr/>
      </p:nvGrpSpPr>
      <p:grpSpPr>
        <a:xfrm>
          <a:off x="0" y="0"/>
          <a:ext cx="0" cy="0"/>
          <a:chOff x="0" y="0"/>
          <a:chExt cx="0" cy="0"/>
        </a:xfrm>
      </p:grpSpPr>
      <p:sp>
        <p:nvSpPr>
          <p:cNvPr id="35" name="圆角矩形 34">
            <a:extLst>
              <a:ext uri="{FF2B5EF4-FFF2-40B4-BE49-F238E27FC236}">
                <a16:creationId xmlns:a16="http://schemas.microsoft.com/office/drawing/2014/main" id="{BE3CD076-CD30-24A5-5B36-E05E2E33CDD7}"/>
              </a:ext>
            </a:extLst>
          </p:cNvPr>
          <p:cNvSpPr/>
          <p:nvPr>
            <p:custDataLst>
              <p:tags r:id="rId2"/>
            </p:custDataLst>
          </p:nvPr>
        </p:nvSpPr>
        <p:spPr>
          <a:xfrm>
            <a:off x="7053390" y="1939605"/>
            <a:ext cx="1397000" cy="381000"/>
          </a:xfrm>
          <a:prstGeom prst="roundRect">
            <a:avLst>
              <a:gd name="adj" fmla="val 50000"/>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圆角矩形 33">
            <a:extLst>
              <a:ext uri="{FF2B5EF4-FFF2-40B4-BE49-F238E27FC236}">
                <a16:creationId xmlns:a16="http://schemas.microsoft.com/office/drawing/2014/main" id="{51160C65-68AB-0F78-92B5-45F56D74D514}"/>
              </a:ext>
            </a:extLst>
          </p:cNvPr>
          <p:cNvSpPr/>
          <p:nvPr>
            <p:custDataLst>
              <p:tags r:id="rId3"/>
            </p:custDataLst>
          </p:nvPr>
        </p:nvSpPr>
        <p:spPr>
          <a:xfrm>
            <a:off x="4848035" y="1940240"/>
            <a:ext cx="1270000" cy="381000"/>
          </a:xfrm>
          <a:prstGeom prst="roundRect">
            <a:avLst>
              <a:gd name="adj" fmla="val 50000"/>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圆角矩形 32">
            <a:extLst>
              <a:ext uri="{FF2B5EF4-FFF2-40B4-BE49-F238E27FC236}">
                <a16:creationId xmlns:a16="http://schemas.microsoft.com/office/drawing/2014/main" id="{409A41A8-4031-4784-A710-5904B49A7684}"/>
              </a:ext>
            </a:extLst>
          </p:cNvPr>
          <p:cNvSpPr/>
          <p:nvPr/>
        </p:nvSpPr>
        <p:spPr>
          <a:xfrm>
            <a:off x="3019235" y="1939605"/>
            <a:ext cx="1270000" cy="381000"/>
          </a:xfrm>
          <a:prstGeom prst="roundRect">
            <a:avLst>
              <a:gd name="adj" fmla="val 50000"/>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8" name="表格 27">
            <a:extLst>
              <a:ext uri="{FF2B5EF4-FFF2-40B4-BE49-F238E27FC236}">
                <a16:creationId xmlns:a16="http://schemas.microsoft.com/office/drawing/2014/main" id="{496AB3D7-B914-3EC5-9088-E24205320F2C}"/>
              </a:ext>
            </a:extLst>
          </p:cNvPr>
          <p:cNvGraphicFramePr/>
          <p:nvPr>
            <p:custDataLst>
              <p:tags r:id="rId4"/>
            </p:custDataLst>
          </p:nvPr>
        </p:nvGraphicFramePr>
        <p:xfrm>
          <a:off x="2943035" y="1881820"/>
          <a:ext cx="5918835" cy="1658620"/>
        </p:xfrm>
        <a:graphic>
          <a:graphicData uri="http://schemas.openxmlformats.org/drawingml/2006/table">
            <a:tbl>
              <a:tblPr firstRow="1" bandRow="1">
                <a:tableStyleId>{5C22544A-7EE6-4342-B048-85BDC9FD1C3A}</a:tableStyleId>
              </a:tblPr>
              <a:tblGrid>
                <a:gridCol w="1445260">
                  <a:extLst>
                    <a:ext uri="{9D8B030D-6E8A-4147-A177-3AD203B41FA5}">
                      <a16:colId xmlns:a16="http://schemas.microsoft.com/office/drawing/2014/main" val="20000"/>
                    </a:ext>
                  </a:extLst>
                </a:gridCol>
                <a:gridCol w="2245995">
                  <a:extLst>
                    <a:ext uri="{9D8B030D-6E8A-4147-A177-3AD203B41FA5}">
                      <a16:colId xmlns:a16="http://schemas.microsoft.com/office/drawing/2014/main" val="20001"/>
                    </a:ext>
                  </a:extLst>
                </a:gridCol>
                <a:gridCol w="2227580">
                  <a:extLst>
                    <a:ext uri="{9D8B030D-6E8A-4147-A177-3AD203B41FA5}">
                      <a16:colId xmlns:a16="http://schemas.microsoft.com/office/drawing/2014/main" val="20002"/>
                    </a:ext>
                  </a:extLst>
                </a:gridCol>
              </a:tblGrid>
              <a:tr h="509270">
                <a:tc>
                  <a:txBody>
                    <a:bodyPr/>
                    <a:lstStyle/>
                    <a:p>
                      <a:pPr algn="ctr">
                        <a:buNone/>
                      </a:pPr>
                      <a:r>
                        <a:rPr lang="zh-CN" altLang="en-US" sz="1600" dirty="0">
                          <a:solidFill>
                            <a:schemeClr val="bg1"/>
                          </a:solidFill>
                          <a:latin typeface="微软雅黑" panose="020B0503020204020204" charset="-122"/>
                          <a:ea typeface="微软雅黑" panose="020B0503020204020204" charset="-122"/>
                        </a:rPr>
                        <a:t>层级</a:t>
                      </a:r>
                    </a:p>
                  </a:txBody>
                  <a:tcPr anchor="ctr">
                    <a:lnL>
                      <a:noFill/>
                    </a:lnL>
                    <a:lnR>
                      <a:noFill/>
                    </a:lnR>
                    <a:lnT>
                      <a:noFill/>
                    </a:lnT>
                    <a:lnB>
                      <a:noFill/>
                    </a:lnB>
                    <a:lnTlToBr>
                      <a:noFill/>
                    </a:lnTlToBr>
                    <a:lnBlToTr>
                      <a:noFill/>
                    </a:lnBlToTr>
                    <a:noFill/>
                  </a:tcPr>
                </a:tc>
                <a:tc>
                  <a:txBody>
                    <a:bodyPr/>
                    <a:lstStyle/>
                    <a:p>
                      <a:pPr algn="ctr">
                        <a:buNone/>
                      </a:pPr>
                      <a:r>
                        <a:rPr lang="zh-CN" altLang="en-US" sz="1600" dirty="0">
                          <a:solidFill>
                            <a:schemeClr val="bg1"/>
                          </a:solidFill>
                          <a:latin typeface="微软雅黑" panose="020B0503020204020204" charset="-122"/>
                          <a:ea typeface="微软雅黑" panose="020B0503020204020204" charset="-122"/>
                        </a:rPr>
                        <a:t>兼容性</a:t>
                      </a:r>
                    </a:p>
                  </a:txBody>
                  <a:tcPr anchor="ctr">
                    <a:lnL>
                      <a:noFill/>
                    </a:lnL>
                    <a:lnR>
                      <a:noFill/>
                    </a:lnR>
                    <a:lnT>
                      <a:noFill/>
                    </a:lnT>
                    <a:lnB>
                      <a:noFill/>
                    </a:lnB>
                    <a:lnTlToBr>
                      <a:noFill/>
                    </a:lnTlToBr>
                    <a:lnBlToTr>
                      <a:noFill/>
                    </a:lnBlToTr>
                    <a:noFill/>
                  </a:tcPr>
                </a:tc>
                <a:tc>
                  <a:txBody>
                    <a:bodyPr/>
                    <a:lstStyle/>
                    <a:p>
                      <a:pPr algn="ctr">
                        <a:buNone/>
                      </a:pPr>
                      <a:r>
                        <a:rPr lang="zh-CN" altLang="en-US" sz="1600" dirty="0">
                          <a:solidFill>
                            <a:schemeClr val="bg1"/>
                          </a:solidFill>
                          <a:latin typeface="微软雅黑" panose="020B0503020204020204" charset="-122"/>
                          <a:ea typeface="微软雅黑" panose="020B0503020204020204" charset="-122"/>
                        </a:rPr>
                        <a:t>增益效果</a:t>
                      </a:r>
                    </a:p>
                  </a:txBody>
                  <a:tcPr anchor="ctr">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509270">
                <a:tc>
                  <a:txBody>
                    <a:bodyPr/>
                    <a:lstStyle/>
                    <a:p>
                      <a:pPr algn="ctr">
                        <a:buNone/>
                      </a:pPr>
                      <a:r>
                        <a:rPr lang="zh-CN" altLang="en-US" sz="1600" dirty="0">
                          <a:solidFill>
                            <a:schemeClr val="tx1"/>
                          </a:solidFill>
                          <a:latin typeface="微软雅黑" panose="020B0503020204020204" charset="-122"/>
                          <a:ea typeface="微软雅黑" panose="020B0503020204020204" charset="-122"/>
                          <a:sym typeface="+mn-ea"/>
                        </a:rPr>
                        <a:t>硬件层</a:t>
                      </a:r>
                    </a:p>
                  </a:txBody>
                  <a:tcPr anchor="ctr">
                    <a:lnL>
                      <a:noFill/>
                    </a:lnL>
                    <a:lnR>
                      <a:noFill/>
                    </a:lnR>
                    <a:lnT>
                      <a:noFill/>
                    </a:lnT>
                    <a:lnB w="12700">
                      <a:solidFill>
                        <a:schemeClr val="tx1"/>
                      </a:solidFill>
                      <a:prstDash val="solid"/>
                    </a:lnB>
                    <a:lnTlToBr>
                      <a:noFill/>
                    </a:lnTlToBr>
                    <a:lnBlToTr>
                      <a:noFill/>
                    </a:lnBlToTr>
                    <a:solidFill>
                      <a:schemeClr val="bg1">
                        <a:lumMod val="85000"/>
                      </a:schemeClr>
                    </a:solidFill>
                  </a:tcPr>
                </a:tc>
                <a:tc>
                  <a:txBody>
                    <a:bodyPr/>
                    <a:lstStyle/>
                    <a:p>
                      <a:pPr algn="ctr">
                        <a:buNone/>
                      </a:pPr>
                      <a:r>
                        <a:rPr lang="zh-CN" altLang="en-US" sz="1600" dirty="0">
                          <a:latin typeface="微软雅黑" panose="020B0503020204020204" charset="-122"/>
                          <a:ea typeface="微软雅黑" panose="020B0503020204020204" charset="-122"/>
                          <a:sym typeface="+mn-ea"/>
                        </a:rPr>
                        <a:t>难以部署</a:t>
                      </a:r>
                    </a:p>
                  </a:txBody>
                  <a:tcPr anchor="ctr">
                    <a:lnL>
                      <a:noFill/>
                    </a:lnL>
                    <a:lnR>
                      <a:noFill/>
                    </a:lnR>
                    <a:lnT>
                      <a:noFill/>
                    </a:lnT>
                    <a:lnB w="12700">
                      <a:solidFill>
                        <a:schemeClr val="tx1"/>
                      </a:solidFill>
                      <a:prstDash val="solid"/>
                    </a:lnB>
                    <a:lnTlToBr>
                      <a:noFill/>
                    </a:lnTlToBr>
                    <a:lnBlToTr>
                      <a:noFill/>
                    </a:lnBlToTr>
                    <a:solidFill>
                      <a:schemeClr val="bg1">
                        <a:lumMod val="85000"/>
                      </a:schemeClr>
                    </a:solidFill>
                  </a:tcPr>
                </a:tc>
                <a:tc>
                  <a:txBody>
                    <a:bodyPr/>
                    <a:lstStyle/>
                    <a:p>
                      <a:pPr algn="ctr">
                        <a:buNone/>
                      </a:pPr>
                      <a:r>
                        <a:rPr lang="en-US" altLang="zh-CN" sz="1600" dirty="0">
                          <a:latin typeface="微软雅黑" panose="020B0503020204020204" charset="-122"/>
                          <a:ea typeface="微软雅黑" panose="020B0503020204020204" charset="-122"/>
                          <a:sym typeface="+mn-ea"/>
                        </a:rPr>
                        <a:t>-</a:t>
                      </a:r>
                      <a:endParaRPr lang="zh-CN" altLang="en-US" sz="1600" b="1" dirty="0">
                        <a:latin typeface="微软雅黑" panose="020B0503020204020204" charset="-122"/>
                        <a:ea typeface="微软雅黑" panose="020B0503020204020204" charset="-122"/>
                        <a:sym typeface="+mn-ea"/>
                      </a:endParaRPr>
                    </a:p>
                  </a:txBody>
                  <a:tcPr anchor="ctr">
                    <a:lnL>
                      <a:noFill/>
                    </a:lnL>
                    <a:lnR>
                      <a:noFill/>
                    </a:lnR>
                    <a:lnT>
                      <a:noFill/>
                    </a:lnT>
                    <a:lnB w="12700">
                      <a:solidFill>
                        <a:schemeClr val="tx1"/>
                      </a:solidFill>
                      <a:prstDash val="solid"/>
                    </a:lnB>
                    <a:lnTlToBr>
                      <a:noFill/>
                    </a:lnTlToBr>
                    <a:lnBlToTr>
                      <a:noFill/>
                    </a:lnBlToTr>
                    <a:solidFill>
                      <a:schemeClr val="bg1">
                        <a:lumMod val="85000"/>
                      </a:schemeClr>
                    </a:solidFill>
                  </a:tcPr>
                </a:tc>
                <a:extLst>
                  <a:ext uri="{0D108BD9-81ED-4DB2-BD59-A6C34878D82A}">
                    <a16:rowId xmlns:a16="http://schemas.microsoft.com/office/drawing/2014/main" val="10001"/>
                  </a:ext>
                </a:extLst>
              </a:tr>
              <a:tr h="640080">
                <a:tc>
                  <a:txBody>
                    <a:bodyPr/>
                    <a:lstStyle/>
                    <a:p>
                      <a:pPr algn="ctr">
                        <a:buNone/>
                      </a:pPr>
                      <a:endParaRPr lang="zh-CN" altLang="en-US" sz="1600" b="1" dirty="0">
                        <a:solidFill>
                          <a:srgbClr val="04579A"/>
                        </a:solidFill>
                        <a:latin typeface="微软雅黑" panose="020B0503020204020204" charset="-122"/>
                        <a:ea typeface="微软雅黑" panose="020B0503020204020204" charset="-122"/>
                        <a:sym typeface="+mn-ea"/>
                      </a:endParaRPr>
                    </a:p>
                  </a:txBody>
                  <a:tcPr anchor="ctr">
                    <a:lnL>
                      <a:noFill/>
                    </a:lnL>
                    <a:lnR>
                      <a:noFill/>
                    </a:lnR>
                    <a:lnT w="127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tc>
                  <a:txBody>
                    <a:bodyPr/>
                    <a:lstStyle/>
                    <a:p>
                      <a:pPr algn="ctr">
                        <a:buNone/>
                      </a:pPr>
                      <a:endParaRPr lang="zh-CN" altLang="en-US" sz="1600">
                        <a:solidFill>
                          <a:srgbClr val="04579A"/>
                        </a:solidFill>
                        <a:latin typeface="微软雅黑" panose="020B0503020204020204" charset="-122"/>
                        <a:ea typeface="微软雅黑" panose="020B0503020204020204" charset="-122"/>
                        <a:sym typeface="+mn-ea"/>
                      </a:endParaRPr>
                    </a:p>
                  </a:txBody>
                  <a:tcPr anchor="ctr">
                    <a:lnL>
                      <a:noFill/>
                    </a:lnL>
                    <a:lnR>
                      <a:noFill/>
                    </a:lnR>
                    <a:lnT w="127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tc>
                  <a:txBody>
                    <a:bodyPr/>
                    <a:lstStyle/>
                    <a:p>
                      <a:pPr algn="ctr">
                        <a:buNone/>
                      </a:pPr>
                      <a:endParaRPr lang="zh-CN" altLang="en-US" sz="1600" b="1" dirty="0">
                        <a:solidFill>
                          <a:srgbClr val="04579A"/>
                        </a:solidFill>
                        <a:latin typeface="微软雅黑" panose="020B0503020204020204" charset="-122"/>
                        <a:ea typeface="微软雅黑" panose="020B0503020204020204" charset="-122"/>
                        <a:sym typeface="+mn-ea"/>
                      </a:endParaRPr>
                    </a:p>
                  </a:txBody>
                  <a:tcPr anchor="ctr">
                    <a:lnL>
                      <a:noFill/>
                    </a:lnL>
                    <a:lnR>
                      <a:noFill/>
                    </a:lnR>
                    <a:lnT w="127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sp>
        <p:nvSpPr>
          <p:cNvPr id="32" name="文本框 31">
            <a:extLst>
              <a:ext uri="{FF2B5EF4-FFF2-40B4-BE49-F238E27FC236}">
                <a16:creationId xmlns:a16="http://schemas.microsoft.com/office/drawing/2014/main" id="{8CC811D2-CF9C-12E8-20AD-4E3F487CE82E}"/>
              </a:ext>
            </a:extLst>
          </p:cNvPr>
          <p:cNvSpPr txBox="1"/>
          <p:nvPr/>
        </p:nvSpPr>
        <p:spPr>
          <a:xfrm>
            <a:off x="1855152" y="4806944"/>
            <a:ext cx="6023610" cy="1307217"/>
          </a:xfrm>
          <a:prstGeom prst="rect">
            <a:avLst/>
          </a:prstGeom>
          <a:noFill/>
        </p:spPr>
        <p:txBody>
          <a:bodyPr wrap="square" rtlCol="0" anchor="t">
            <a:spAutoFit/>
          </a:bodyPr>
          <a:lstStyle/>
          <a:p>
            <a:pPr indent="0" fontAlgn="auto">
              <a:spcAft>
                <a:spcPts val="600"/>
              </a:spcAft>
            </a:pPr>
            <a:r>
              <a:rPr lang="zh-CN" altLang="en-US" b="1" dirty="0"/>
              <a:t>链下方案</a:t>
            </a:r>
            <a:endParaRPr lang="zh-CN" altLang="en-US" sz="1600" dirty="0">
              <a:solidFill>
                <a:schemeClr val="tx1"/>
              </a:solidFill>
            </a:endParaRPr>
          </a:p>
          <a:p>
            <a:pPr marL="285750" indent="-285750" fontAlgn="auto">
              <a:lnSpc>
                <a:spcPct val="120000"/>
              </a:lnSpc>
              <a:buFont typeface="Wingdings" panose="05000000000000000000" charset="0"/>
              <a:buChar char="ü"/>
            </a:pPr>
            <a:r>
              <a:rPr lang="zh-CN" altLang="en-US" sz="1600" dirty="0"/>
              <a:t>理论上交易吞吐量仅受限于参与方的通信带宽与延迟</a:t>
            </a:r>
            <a:endParaRPr lang="en-US" altLang="zh-CN" sz="1600" dirty="0"/>
          </a:p>
          <a:p>
            <a:pPr marL="285750" indent="-285750" fontAlgn="auto">
              <a:lnSpc>
                <a:spcPct val="120000"/>
              </a:lnSpc>
              <a:buFont typeface="Wingdings" panose="05000000000000000000" charset="0"/>
              <a:buChar char="ü"/>
            </a:pPr>
            <a:r>
              <a:rPr lang="zh-CN" altLang="en-US" sz="1600" dirty="0">
                <a:solidFill>
                  <a:schemeClr val="tx1"/>
                </a:solidFill>
              </a:rPr>
              <a:t>构造</a:t>
            </a:r>
            <a:r>
              <a:rPr lang="zh-CN" altLang="en-US" sz="1600" dirty="0"/>
              <a:t>简单，易于实现和部署</a:t>
            </a:r>
            <a:endParaRPr lang="en-US" altLang="zh-CN" sz="1600" dirty="0">
              <a:solidFill>
                <a:schemeClr val="tx1"/>
              </a:solidFill>
            </a:endParaRPr>
          </a:p>
          <a:p>
            <a:pPr marL="285750" indent="-285750" fontAlgn="auto">
              <a:lnSpc>
                <a:spcPct val="120000"/>
              </a:lnSpc>
              <a:buFont typeface="Wingdings" panose="05000000000000000000" charset="0"/>
              <a:buChar char="ü"/>
            </a:pPr>
            <a:r>
              <a:rPr lang="zh-CN" altLang="en-US" sz="1600" dirty="0"/>
              <a:t>不仅兼容于现有区块链，具有后向兼容性</a:t>
            </a:r>
            <a:endParaRPr lang="zh-CN" altLang="en-US" sz="1600" dirty="0">
              <a:solidFill>
                <a:schemeClr val="tx1"/>
              </a:solidFill>
            </a:endParaRPr>
          </a:p>
        </p:txBody>
      </p:sp>
      <p:sp>
        <p:nvSpPr>
          <p:cNvPr id="41" name="矩形 40">
            <a:extLst>
              <a:ext uri="{FF2B5EF4-FFF2-40B4-BE49-F238E27FC236}">
                <a16:creationId xmlns:a16="http://schemas.microsoft.com/office/drawing/2014/main" id="{983491A6-AE66-D1C3-F984-EC5BEE52FE2F}"/>
              </a:ext>
            </a:extLst>
          </p:cNvPr>
          <p:cNvSpPr/>
          <p:nvPr>
            <p:custDataLst>
              <p:tags r:id="rId5"/>
            </p:custDataLst>
          </p:nvPr>
        </p:nvSpPr>
        <p:spPr>
          <a:xfrm>
            <a:off x="1664970" y="0"/>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a:extLst>
              <a:ext uri="{FF2B5EF4-FFF2-40B4-BE49-F238E27FC236}">
                <a16:creationId xmlns:a16="http://schemas.microsoft.com/office/drawing/2014/main" id="{D5233283-BC15-1FB9-0582-A49C7591D1A2}"/>
              </a:ext>
            </a:extLst>
          </p:cNvPr>
          <p:cNvSpPr/>
          <p:nvPr>
            <p:custDataLst>
              <p:tags r:id="rId6"/>
            </p:custDataLst>
          </p:nvPr>
        </p:nvSpPr>
        <p:spPr>
          <a:xfrm>
            <a:off x="3871595" y="-635"/>
            <a:ext cx="199072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a:extLst>
              <a:ext uri="{FF2B5EF4-FFF2-40B4-BE49-F238E27FC236}">
                <a16:creationId xmlns:a16="http://schemas.microsoft.com/office/drawing/2014/main" id="{4A9DCA21-018F-EBB4-4D20-483110BF8638}"/>
              </a:ext>
            </a:extLst>
          </p:cNvPr>
          <p:cNvSpPr/>
          <p:nvPr>
            <p:custDataLst>
              <p:tags r:id="rId7"/>
            </p:custDataLst>
          </p:nvPr>
        </p:nvSpPr>
        <p:spPr>
          <a:xfrm>
            <a:off x="5862320" y="-635"/>
            <a:ext cx="311594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a:extLst>
              <a:ext uri="{FF2B5EF4-FFF2-40B4-BE49-F238E27FC236}">
                <a16:creationId xmlns:a16="http://schemas.microsoft.com/office/drawing/2014/main" id="{C025F6AF-068F-C268-F2B3-5D0DE8FDB636}"/>
              </a:ext>
            </a:extLst>
          </p:cNvPr>
          <p:cNvSpPr/>
          <p:nvPr>
            <p:custDataLst>
              <p:tags r:id="rId8"/>
            </p:custDataLst>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a:extLst>
              <a:ext uri="{FF2B5EF4-FFF2-40B4-BE49-F238E27FC236}">
                <a16:creationId xmlns:a16="http://schemas.microsoft.com/office/drawing/2014/main" id="{4EC48083-221B-F184-6A70-9A60954A425F}"/>
              </a:ext>
            </a:extLst>
          </p:cNvPr>
          <p:cNvSpPr/>
          <p:nvPr>
            <p:custDataLst>
              <p:tags r:id="rId9"/>
            </p:custDataLst>
          </p:nvPr>
        </p:nvSpPr>
        <p:spPr>
          <a:xfrm>
            <a:off x="1664970" y="-635"/>
            <a:ext cx="2206625"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08F07DB4-99AF-61FD-E2EE-DA77E9EBCB8C}"/>
              </a:ext>
            </a:extLst>
          </p:cNvPr>
          <p:cNvSpPr txBox="1"/>
          <p:nvPr>
            <p:custDataLst>
              <p:tags r:id="rId10"/>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tx1"/>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选题背景及意义</a:t>
            </a:r>
            <a:r>
              <a:rPr lang="en-US" altLang="zh-CN" dirty="0">
                <a:solidFill>
                  <a:schemeClr val="bg1"/>
                </a:solidFill>
                <a:latin typeface="Arial" panose="020B0604020202020204" pitchFamily="34" charset="0"/>
                <a:sym typeface="+mn-ea"/>
              </a:rPr>
              <a:t>  </a:t>
            </a:r>
            <a:r>
              <a:rPr lang="en-US" altLang="zh-CN" dirty="0">
                <a:solidFill>
                  <a:schemeClr val="tx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国内外研究现状</a:t>
            </a:r>
            <a:r>
              <a:rPr lang="en-US" altLang="zh-CN" dirty="0">
                <a:solidFill>
                  <a:schemeClr val="tx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主要研究内容及预期目标</a:t>
            </a:r>
            <a:r>
              <a:rPr lang="en-US" altLang="zh-CN" dirty="0">
                <a:solidFill>
                  <a:schemeClr val="tx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工作计划与进度安排</a:t>
            </a:r>
          </a:p>
        </p:txBody>
      </p:sp>
      <p:pic>
        <p:nvPicPr>
          <p:cNvPr id="47" name="Picture 2" descr="C:\Program Files\Apache Software Foundation\Tomcat 6.0\webapps\topo1\images\sklois1 (2).jpg">
            <a:extLst>
              <a:ext uri="{FF2B5EF4-FFF2-40B4-BE49-F238E27FC236}">
                <a16:creationId xmlns:a16="http://schemas.microsoft.com/office/drawing/2014/main" id="{57DA5A81-40B2-9F2B-BB98-49E110DD30B6}"/>
              </a:ext>
            </a:extLst>
          </p:cNvPr>
          <p:cNvPicPr>
            <a:picLocks noChangeAspect="1" noChangeArrowheads="1"/>
          </p:cNvPicPr>
          <p:nvPr>
            <p:custDataLst>
              <p:tags r:id="rId11"/>
            </p:custDataLst>
          </p:nvPr>
        </p:nvPicPr>
        <p:blipFill>
          <a:blip r:embed="rId16"/>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8" name="等腰三角形 47">
            <a:extLst>
              <a:ext uri="{FF2B5EF4-FFF2-40B4-BE49-F238E27FC236}">
                <a16:creationId xmlns:a16="http://schemas.microsoft.com/office/drawing/2014/main" id="{50DE436E-170C-7DEF-AB95-8189DD6FF329}"/>
              </a:ext>
            </a:extLst>
          </p:cNvPr>
          <p:cNvSpPr/>
          <p:nvPr>
            <p:custDataLst>
              <p:tags r:id="rId12"/>
            </p:custDataLst>
          </p:nvPr>
        </p:nvSpPr>
        <p:spPr>
          <a:xfrm rot="10800000">
            <a:off x="2622550" y="721360"/>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 name="表格 2">
            <a:extLst>
              <a:ext uri="{FF2B5EF4-FFF2-40B4-BE49-F238E27FC236}">
                <a16:creationId xmlns:a16="http://schemas.microsoft.com/office/drawing/2014/main" id="{31A764FF-E5AB-353F-90C1-01B72B112D10}"/>
              </a:ext>
            </a:extLst>
          </p:cNvPr>
          <p:cNvGraphicFramePr/>
          <p:nvPr/>
        </p:nvGraphicFramePr>
        <p:xfrm>
          <a:off x="2943035" y="2916870"/>
          <a:ext cx="5918835" cy="509270"/>
        </p:xfrm>
        <a:graphic>
          <a:graphicData uri="http://schemas.openxmlformats.org/drawingml/2006/table">
            <a:tbl>
              <a:tblPr firstRow="1" bandRow="1">
                <a:tableStyleId>{5C22544A-7EE6-4342-B048-85BDC9FD1C3A}</a:tableStyleId>
              </a:tblPr>
              <a:tblGrid>
                <a:gridCol w="1445260">
                  <a:extLst>
                    <a:ext uri="{9D8B030D-6E8A-4147-A177-3AD203B41FA5}">
                      <a16:colId xmlns:a16="http://schemas.microsoft.com/office/drawing/2014/main" val="20000"/>
                    </a:ext>
                  </a:extLst>
                </a:gridCol>
                <a:gridCol w="2245995">
                  <a:extLst>
                    <a:ext uri="{9D8B030D-6E8A-4147-A177-3AD203B41FA5}">
                      <a16:colId xmlns:a16="http://schemas.microsoft.com/office/drawing/2014/main" val="20001"/>
                    </a:ext>
                  </a:extLst>
                </a:gridCol>
                <a:gridCol w="2227580">
                  <a:extLst>
                    <a:ext uri="{9D8B030D-6E8A-4147-A177-3AD203B41FA5}">
                      <a16:colId xmlns:a16="http://schemas.microsoft.com/office/drawing/2014/main" val="20002"/>
                    </a:ext>
                  </a:extLst>
                </a:gridCol>
              </a:tblGrid>
              <a:tr h="509270">
                <a:tc>
                  <a:txBody>
                    <a:bodyPr/>
                    <a:lstStyle/>
                    <a:p>
                      <a:pPr algn="ctr">
                        <a:buNone/>
                      </a:pPr>
                      <a:r>
                        <a:rPr lang="zh-CN" altLang="en-US" sz="1600" b="0" dirty="0">
                          <a:solidFill>
                            <a:schemeClr val="tx1"/>
                          </a:solidFill>
                          <a:latin typeface="微软雅黑" panose="020B0503020204020204" charset="-122"/>
                          <a:ea typeface="微软雅黑" panose="020B0503020204020204" charset="-122"/>
                          <a:sym typeface="+mn-ea"/>
                        </a:rPr>
                        <a:t>网络层</a:t>
                      </a:r>
                    </a:p>
                  </a:txBody>
                  <a:tcPr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algn="ctr" fontAlgn="auto">
                        <a:spcAft>
                          <a:spcPts val="600"/>
                        </a:spcAft>
                      </a:pPr>
                      <a:r>
                        <a:rPr lang="zh-CN" altLang="en-US" sz="1600" b="0" dirty="0">
                          <a:solidFill>
                            <a:schemeClr val="tx1"/>
                          </a:solidFill>
                          <a:latin typeface="微软雅黑" panose="020B0503020204020204" charset="-122"/>
                          <a:ea typeface="微软雅黑" panose="020B0503020204020204" charset="-122"/>
                          <a:sym typeface="+mn-ea"/>
                        </a:rPr>
                        <a:t>需修改原有区块链结构</a:t>
                      </a:r>
                    </a:p>
                  </a:txBody>
                  <a:tcPr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algn="ctr">
                        <a:buNone/>
                      </a:pPr>
                      <a:r>
                        <a:rPr lang="zh-CN" altLang="en-US" sz="1600" b="0" dirty="0">
                          <a:solidFill>
                            <a:schemeClr val="tx1"/>
                          </a:solidFill>
                          <a:latin typeface="微软雅黑" panose="020B0503020204020204" charset="-122"/>
                          <a:ea typeface="微软雅黑" panose="020B0503020204020204" charset="-122"/>
                          <a:sym typeface="+mn-ea"/>
                        </a:rPr>
                        <a:t>有限的扩展增益</a:t>
                      </a:r>
                      <a:endParaRPr lang="zh-CN" altLang="en-US" sz="1600" b="1" dirty="0">
                        <a:solidFill>
                          <a:schemeClr val="tx1"/>
                        </a:solidFill>
                        <a:latin typeface="微软雅黑" panose="020B0503020204020204" charset="-122"/>
                        <a:ea typeface="微软雅黑" panose="020B0503020204020204" charset="-122"/>
                        <a:sym typeface="+mn-ea"/>
                      </a:endParaRPr>
                    </a:p>
                  </a:txBody>
                  <a:tcPr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graphicFrame>
        <p:nvGraphicFramePr>
          <p:cNvPr id="30" name="表格 29">
            <a:extLst>
              <a:ext uri="{FF2B5EF4-FFF2-40B4-BE49-F238E27FC236}">
                <a16:creationId xmlns:a16="http://schemas.microsoft.com/office/drawing/2014/main" id="{92C770BB-75C6-02A2-C0F9-4F69A1F35D93}"/>
              </a:ext>
            </a:extLst>
          </p:cNvPr>
          <p:cNvGraphicFramePr/>
          <p:nvPr/>
        </p:nvGraphicFramePr>
        <p:xfrm>
          <a:off x="2522347" y="3935410"/>
          <a:ext cx="6756400" cy="650875"/>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1991995">
                  <a:extLst>
                    <a:ext uri="{9D8B030D-6E8A-4147-A177-3AD203B41FA5}">
                      <a16:colId xmlns:a16="http://schemas.microsoft.com/office/drawing/2014/main" val="20000"/>
                    </a:ext>
                  </a:extLst>
                </a:gridCol>
                <a:gridCol w="2047875">
                  <a:extLst>
                    <a:ext uri="{9D8B030D-6E8A-4147-A177-3AD203B41FA5}">
                      <a16:colId xmlns:a16="http://schemas.microsoft.com/office/drawing/2014/main" val="20001"/>
                    </a:ext>
                  </a:extLst>
                </a:gridCol>
                <a:gridCol w="2716530">
                  <a:extLst>
                    <a:ext uri="{9D8B030D-6E8A-4147-A177-3AD203B41FA5}">
                      <a16:colId xmlns:a16="http://schemas.microsoft.com/office/drawing/2014/main" val="20002"/>
                    </a:ext>
                  </a:extLst>
                </a:gridCol>
              </a:tblGrid>
              <a:tr h="650875">
                <a:tc>
                  <a:txBody>
                    <a:bodyPr/>
                    <a:lstStyle/>
                    <a:p>
                      <a:pPr algn="ctr">
                        <a:buNone/>
                      </a:pPr>
                      <a:r>
                        <a:rPr lang="zh-CN" altLang="en-US" sz="1800" b="1" dirty="0">
                          <a:solidFill>
                            <a:srgbClr val="04579A"/>
                          </a:solidFill>
                          <a:latin typeface="微软雅黑" panose="020B0503020204020204" charset="-122"/>
                          <a:ea typeface="微软雅黑" panose="020B0503020204020204" charset="-122"/>
                          <a:sym typeface="+mn-ea"/>
                        </a:rPr>
                        <a:t>链下层</a:t>
                      </a:r>
                    </a:p>
                  </a:txBody>
                  <a:tcPr anchor="ctr">
                    <a:lnL>
                      <a:noFill/>
                    </a:lnL>
                    <a:lnR>
                      <a:noFill/>
                    </a:lnR>
                    <a:lnT>
                      <a:noFill/>
                    </a:lnT>
                    <a:lnB>
                      <a:noFill/>
                    </a:lnB>
                    <a:lnTlToBr>
                      <a:noFill/>
                    </a:lnTlToBr>
                    <a:lnBlToTr>
                      <a:noFill/>
                    </a:lnBlToTr>
                    <a:solidFill>
                      <a:schemeClr val="bg1"/>
                    </a:solidFill>
                  </a:tcPr>
                </a:tc>
                <a:tc>
                  <a:txBody>
                    <a:bodyPr/>
                    <a:lstStyle/>
                    <a:p>
                      <a:pPr algn="ctr">
                        <a:buNone/>
                      </a:pPr>
                      <a:r>
                        <a:rPr lang="zh-CN" altLang="en-US" sz="1800" dirty="0">
                          <a:solidFill>
                            <a:srgbClr val="04579A"/>
                          </a:solidFill>
                          <a:latin typeface="微软雅黑" panose="020B0503020204020204" charset="-122"/>
                          <a:ea typeface="微软雅黑" panose="020B0503020204020204" charset="-122"/>
                          <a:sym typeface="+mn-ea"/>
                        </a:rPr>
                        <a:t>完全兼容</a:t>
                      </a:r>
                      <a:endParaRPr lang="en-US" altLang="zh-CN" sz="1800" dirty="0">
                        <a:solidFill>
                          <a:srgbClr val="04579A"/>
                        </a:solidFill>
                        <a:latin typeface="微软雅黑" panose="020B0503020204020204" charset="-122"/>
                        <a:ea typeface="微软雅黑" panose="020B0503020204020204" charset="-122"/>
                        <a:sym typeface="+mn-ea"/>
                      </a:endParaRPr>
                    </a:p>
                    <a:p>
                      <a:pPr algn="ctr">
                        <a:buNone/>
                      </a:pPr>
                      <a:r>
                        <a:rPr lang="zh-CN" altLang="en-US" sz="1800" dirty="0">
                          <a:solidFill>
                            <a:srgbClr val="04579A"/>
                          </a:solidFill>
                          <a:latin typeface="微软雅黑" panose="020B0503020204020204" charset="-122"/>
                          <a:ea typeface="微软雅黑" panose="020B0503020204020204" charset="-122"/>
                          <a:sym typeface="+mn-ea"/>
                        </a:rPr>
                        <a:t>现有区块链</a:t>
                      </a:r>
                    </a:p>
                  </a:txBody>
                  <a:tcPr anchor="ctr">
                    <a:lnL>
                      <a:noFill/>
                    </a:lnL>
                    <a:lnR>
                      <a:noFill/>
                    </a:lnR>
                    <a:lnT>
                      <a:noFill/>
                    </a:lnT>
                    <a:lnB>
                      <a:noFill/>
                    </a:lnB>
                    <a:lnTlToBr>
                      <a:noFill/>
                    </a:lnTlToBr>
                    <a:lnBlToTr>
                      <a:noFill/>
                    </a:lnBlToTr>
                    <a:solidFill>
                      <a:schemeClr val="bg1"/>
                    </a:solidFill>
                  </a:tcPr>
                </a:tc>
                <a:tc>
                  <a:txBody>
                    <a:bodyPr/>
                    <a:lstStyle/>
                    <a:p>
                      <a:pPr algn="ctr">
                        <a:buNone/>
                      </a:pPr>
                      <a:r>
                        <a:rPr lang="zh-CN" altLang="en-US" sz="1800" b="1" dirty="0">
                          <a:solidFill>
                            <a:srgbClr val="04579A"/>
                          </a:solidFill>
                          <a:latin typeface="微软雅黑" panose="020B0503020204020204" charset="-122"/>
                          <a:ea typeface="微软雅黑" panose="020B0503020204020204" charset="-122"/>
                          <a:sym typeface="+mn-ea"/>
                        </a:rPr>
                        <a:t>有效的扩展增益</a:t>
                      </a:r>
                    </a:p>
                  </a:txBody>
                  <a:tcPr anchor="ctr">
                    <a:lnL>
                      <a:noFill/>
                    </a:lnL>
                    <a:lnR>
                      <a:noFill/>
                    </a:lnR>
                    <a:lnT>
                      <a:noFill/>
                    </a:lnT>
                    <a:lnB>
                      <a:noFill/>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graphicFrame>
        <p:nvGraphicFramePr>
          <p:cNvPr id="2" name="表格 1">
            <a:extLst>
              <a:ext uri="{FF2B5EF4-FFF2-40B4-BE49-F238E27FC236}">
                <a16:creationId xmlns:a16="http://schemas.microsoft.com/office/drawing/2014/main" id="{3B99379D-5A50-8377-5F47-40116067F387}"/>
              </a:ext>
            </a:extLst>
          </p:cNvPr>
          <p:cNvGraphicFramePr/>
          <p:nvPr/>
        </p:nvGraphicFramePr>
        <p:xfrm>
          <a:off x="2941130" y="3426140"/>
          <a:ext cx="5918835" cy="509270"/>
        </p:xfrm>
        <a:graphic>
          <a:graphicData uri="http://schemas.openxmlformats.org/drawingml/2006/table">
            <a:tbl>
              <a:tblPr firstRow="1" bandRow="1">
                <a:tableStyleId>{5C22544A-7EE6-4342-B048-85BDC9FD1C3A}</a:tableStyleId>
              </a:tblPr>
              <a:tblGrid>
                <a:gridCol w="1445260">
                  <a:extLst>
                    <a:ext uri="{9D8B030D-6E8A-4147-A177-3AD203B41FA5}">
                      <a16:colId xmlns:a16="http://schemas.microsoft.com/office/drawing/2014/main" val="20000"/>
                    </a:ext>
                  </a:extLst>
                </a:gridCol>
                <a:gridCol w="2245995">
                  <a:extLst>
                    <a:ext uri="{9D8B030D-6E8A-4147-A177-3AD203B41FA5}">
                      <a16:colId xmlns:a16="http://schemas.microsoft.com/office/drawing/2014/main" val="20001"/>
                    </a:ext>
                  </a:extLst>
                </a:gridCol>
                <a:gridCol w="2227580">
                  <a:extLst>
                    <a:ext uri="{9D8B030D-6E8A-4147-A177-3AD203B41FA5}">
                      <a16:colId xmlns:a16="http://schemas.microsoft.com/office/drawing/2014/main" val="20002"/>
                    </a:ext>
                  </a:extLst>
                </a:gridCol>
              </a:tblGrid>
              <a:tr h="509270">
                <a:tc>
                  <a:txBody>
                    <a:bodyPr/>
                    <a:lstStyle/>
                    <a:p>
                      <a:pPr algn="ctr">
                        <a:buNone/>
                      </a:pPr>
                      <a:r>
                        <a:rPr lang="zh-CN" altLang="en-US" sz="1600" b="0" dirty="0">
                          <a:solidFill>
                            <a:schemeClr val="tx1"/>
                          </a:solidFill>
                          <a:latin typeface="微软雅黑" panose="020B0503020204020204" charset="-122"/>
                          <a:ea typeface="微软雅黑" panose="020B0503020204020204" charset="-122"/>
                          <a:sym typeface="+mn-ea"/>
                        </a:rPr>
                        <a:t>区块链层</a:t>
                      </a:r>
                    </a:p>
                  </a:txBody>
                  <a:tcPr anchor="ctr">
                    <a:lnL>
                      <a:noFill/>
                    </a:lnL>
                    <a:lnR>
                      <a:noFill/>
                    </a:lnR>
                    <a:lnT>
                      <a:noFill/>
                    </a:lnT>
                    <a:lnB>
                      <a:noFill/>
                    </a:lnB>
                    <a:lnTlToBr>
                      <a:noFill/>
                    </a:lnTlToBr>
                    <a:lnBlToTr>
                      <a:noFill/>
                    </a:lnBlToTr>
                    <a:solidFill>
                      <a:schemeClr val="bg1">
                        <a:lumMod val="85000"/>
                      </a:schemeClr>
                    </a:solidFill>
                  </a:tcPr>
                </a:tc>
                <a:tc>
                  <a:txBody>
                    <a:bodyPr/>
                    <a:lstStyle/>
                    <a:p>
                      <a:pPr algn="ctr" fontAlgn="auto">
                        <a:spcAft>
                          <a:spcPts val="600"/>
                        </a:spcAft>
                      </a:pPr>
                      <a:r>
                        <a:rPr lang="zh-CN" altLang="en-US" sz="1600" b="0" dirty="0">
                          <a:solidFill>
                            <a:schemeClr val="tx1"/>
                          </a:solidFill>
                          <a:latin typeface="微软雅黑" panose="020B0503020204020204" charset="-122"/>
                          <a:ea typeface="微软雅黑" panose="020B0503020204020204" charset="-122"/>
                          <a:sym typeface="+mn-ea"/>
                        </a:rPr>
                        <a:t>需修改原有共识协议</a:t>
                      </a:r>
                    </a:p>
                  </a:txBody>
                  <a:tcPr anchor="ctr">
                    <a:lnL>
                      <a:noFill/>
                    </a:lnL>
                    <a:lnR>
                      <a:noFill/>
                    </a:lnR>
                    <a:lnT>
                      <a:noFill/>
                    </a:lnT>
                    <a:lnB>
                      <a:noFill/>
                    </a:lnB>
                    <a:lnTlToBr>
                      <a:noFill/>
                    </a:lnTlToBr>
                    <a:lnBlToTr>
                      <a:noFill/>
                    </a:lnBlToTr>
                    <a:solidFill>
                      <a:schemeClr val="bg1">
                        <a:lumMod val="85000"/>
                      </a:schemeClr>
                    </a:solidFill>
                  </a:tcPr>
                </a:tc>
                <a:tc>
                  <a:txBody>
                    <a:bodyPr/>
                    <a:lstStyle/>
                    <a:p>
                      <a:pPr algn="ctr">
                        <a:buNone/>
                      </a:pPr>
                      <a:r>
                        <a:rPr lang="zh-CN" altLang="en-US" sz="1600" b="0" dirty="0">
                          <a:solidFill>
                            <a:schemeClr val="tx1"/>
                          </a:solidFill>
                          <a:latin typeface="微软雅黑" panose="020B0503020204020204" charset="-122"/>
                          <a:ea typeface="微软雅黑" panose="020B0503020204020204" charset="-122"/>
                          <a:sym typeface="+mn-ea"/>
                        </a:rPr>
                        <a:t>有限的扩展增益</a:t>
                      </a:r>
                      <a:endParaRPr lang="zh-CN" altLang="en-US" sz="1600" b="1" dirty="0">
                        <a:solidFill>
                          <a:schemeClr val="tx1"/>
                        </a:solidFill>
                        <a:latin typeface="微软雅黑" panose="020B0503020204020204" charset="-122"/>
                        <a:ea typeface="微软雅黑" panose="020B0503020204020204" charset="-122"/>
                        <a:sym typeface="+mn-ea"/>
                      </a:endParaRPr>
                    </a:p>
                  </a:txBody>
                  <a:tcPr anchor="ctr">
                    <a:lnL>
                      <a:noFill/>
                    </a:lnL>
                    <a:lnR>
                      <a:noFill/>
                    </a:lnR>
                    <a:lnT>
                      <a:noFill/>
                    </a:lnT>
                    <a:lnB>
                      <a:noFill/>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sp>
        <p:nvSpPr>
          <p:cNvPr id="4" name="文本框 3">
            <a:extLst>
              <a:ext uri="{FF2B5EF4-FFF2-40B4-BE49-F238E27FC236}">
                <a16:creationId xmlns:a16="http://schemas.microsoft.com/office/drawing/2014/main" id="{91403EC8-CD6A-3623-4957-AE8B285B4D25}"/>
              </a:ext>
            </a:extLst>
          </p:cNvPr>
          <p:cNvSpPr txBox="1"/>
          <p:nvPr>
            <p:custDataLst>
              <p:tags r:id="rId13"/>
            </p:custDataLst>
          </p:nvPr>
        </p:nvSpPr>
        <p:spPr>
          <a:xfrm>
            <a:off x="408305" y="949960"/>
            <a:ext cx="10727690" cy="499111"/>
          </a:xfrm>
          <a:prstGeom prst="rect">
            <a:avLst/>
          </a:prstGeom>
          <a:noFill/>
        </p:spPr>
        <p:txBody>
          <a:bodyPr wrap="square" rtlCol="0" anchor="t">
            <a:spAutoFit/>
          </a:bodyPr>
          <a:lstStyle/>
          <a:p>
            <a:pPr marL="457200" indent="-457200" fontAlgn="auto">
              <a:lnSpc>
                <a:spcPct val="150000"/>
              </a:lnSpc>
              <a:buFont typeface="+mj-lt"/>
              <a:buAutoNum type="arabicPeriod" startAt="2"/>
            </a:pPr>
            <a:r>
              <a:rPr lang="zh-CN" altLang="en-US" sz="2000" dirty="0">
                <a:solidFill>
                  <a:schemeClr val="tx1">
                    <a:lumMod val="75000"/>
                    <a:lumOff val="25000"/>
                  </a:schemeClr>
                </a:solidFill>
                <a:sym typeface="+mn-ea"/>
              </a:rPr>
              <a:t>大规模、高并发的交易场景要求分布式数字资产交易协议具有可扩展性</a:t>
            </a:r>
          </a:p>
        </p:txBody>
      </p:sp>
      <p:sp>
        <p:nvSpPr>
          <p:cNvPr id="7" name="文本框 6">
            <a:extLst>
              <a:ext uri="{FF2B5EF4-FFF2-40B4-BE49-F238E27FC236}">
                <a16:creationId xmlns:a16="http://schemas.microsoft.com/office/drawing/2014/main" id="{124EF90D-C6C6-20EA-F6F0-24DFE8896A9B}"/>
              </a:ext>
            </a:extLst>
          </p:cNvPr>
          <p:cNvSpPr txBox="1"/>
          <p:nvPr/>
        </p:nvSpPr>
        <p:spPr>
          <a:xfrm>
            <a:off x="11736779" y="6499761"/>
            <a:ext cx="455221" cy="369332"/>
          </a:xfrm>
          <a:prstGeom prst="rect">
            <a:avLst/>
          </a:prstGeom>
          <a:noFill/>
        </p:spPr>
        <p:txBody>
          <a:bodyPr wrap="square" rtlCol="0">
            <a:spAutoFit/>
          </a:bodyPr>
          <a:lstStyle/>
          <a:p>
            <a:pPr algn="ctr"/>
            <a:r>
              <a:rPr lang="en-US" altLang="zh-CN" dirty="0"/>
              <a:t>10</a:t>
            </a:r>
            <a:endParaRPr lang="zh-CN" altLang="en-US" dirty="0"/>
          </a:p>
        </p:txBody>
      </p:sp>
    </p:spTree>
    <p:custDataLst>
      <p:tags r:id="rId1"/>
    </p:custDataLst>
    <p:extLst>
      <p:ext uri="{BB962C8B-B14F-4D97-AF65-F5344CB8AC3E}">
        <p14:creationId xmlns:p14="http://schemas.microsoft.com/office/powerpoint/2010/main" val="270985189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wipe(up)">
                                      <p:cBhvr>
                                        <p:cTn id="17" dur="500"/>
                                        <p:tgtEl>
                                          <p:spTgt spid="30"/>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32"/>
                                        </p:tgtEl>
                                        <p:attrNameLst>
                                          <p:attrName>style.visibility</p:attrName>
                                        </p:attrNameLst>
                                      </p:cBhvr>
                                      <p:to>
                                        <p:strVal val="visible"/>
                                      </p:to>
                                    </p:set>
                                    <p:animEffect transition="in" filter="fade">
                                      <p:cBhvr>
                                        <p:cTn id="21"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2" grpId="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1" name="矩形 20"/>
          <p:cNvSpPr/>
          <p:nvPr/>
        </p:nvSpPr>
        <p:spPr>
          <a:xfrm>
            <a:off x="482600" y="3974147"/>
            <a:ext cx="10528300" cy="5721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custDataLst>
              <p:tags r:id="rId2"/>
            </p:custDataLst>
          </p:nvPr>
        </p:nvSpPr>
        <p:spPr>
          <a:xfrm>
            <a:off x="482600" y="897255"/>
            <a:ext cx="11079480" cy="398780"/>
          </a:xfrm>
          <a:prstGeom prst="rect">
            <a:avLst/>
          </a:prstGeom>
          <a:noFill/>
        </p:spPr>
        <p:txBody>
          <a:bodyPr wrap="square" rtlCol="0" anchor="t">
            <a:spAutoFit/>
          </a:bodyPr>
          <a:lstStyle/>
          <a:p>
            <a:r>
              <a:rPr lang="zh-CN" altLang="en-US" sz="2000" dirty="0"/>
              <a:t>数字资产市场为区块链提供了新的</a:t>
            </a:r>
            <a:r>
              <a:rPr lang="zh-CN" altLang="en-US" sz="2000" b="1" dirty="0">
                <a:solidFill>
                  <a:srgbClr val="04579A"/>
                </a:solidFill>
              </a:rPr>
              <a:t>应用方向</a:t>
            </a:r>
            <a:r>
              <a:rPr lang="zh-CN" altLang="en-US" sz="2000" dirty="0"/>
              <a:t>，但同时也带来了新的</a:t>
            </a:r>
            <a:r>
              <a:rPr lang="zh-CN" altLang="en-US" sz="2000" b="1" dirty="0">
                <a:solidFill>
                  <a:srgbClr val="04579A"/>
                </a:solidFill>
              </a:rPr>
              <a:t>技术需求</a:t>
            </a:r>
            <a:r>
              <a:rPr lang="zh-CN" altLang="en-US" sz="2000" dirty="0"/>
              <a:t>：</a:t>
            </a:r>
          </a:p>
        </p:txBody>
      </p:sp>
      <p:sp>
        <p:nvSpPr>
          <p:cNvPr id="11" name="矩形 10"/>
          <p:cNvSpPr/>
          <p:nvPr>
            <p:custDataLst>
              <p:tags r:id="rId3"/>
            </p:custDataLst>
          </p:nvPr>
        </p:nvSpPr>
        <p:spPr>
          <a:xfrm>
            <a:off x="1664970" y="0"/>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custDataLst>
              <p:tags r:id="rId4"/>
            </p:custDataLst>
          </p:nvPr>
        </p:nvSpPr>
        <p:spPr>
          <a:xfrm>
            <a:off x="3871595" y="-635"/>
            <a:ext cx="199072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custDataLst>
              <p:tags r:id="rId5"/>
            </p:custDataLst>
          </p:nvPr>
        </p:nvSpPr>
        <p:spPr>
          <a:xfrm>
            <a:off x="5862320" y="-635"/>
            <a:ext cx="311594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custDataLst>
              <p:tags r:id="rId6"/>
            </p:custDataLst>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custDataLst>
              <p:tags r:id="rId7"/>
            </p:custDataLst>
          </p:nvPr>
        </p:nvSpPr>
        <p:spPr>
          <a:xfrm>
            <a:off x="1664970" y="-635"/>
            <a:ext cx="2206625"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custDataLst>
              <p:tags r:id="rId8"/>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p>
        </p:txBody>
      </p:sp>
      <p:pic>
        <p:nvPicPr>
          <p:cNvPr id="18" name="Picture 2" descr="C:\Program Files\Apache Software Foundation\Tomcat 6.0\webapps\topo1\images\sklois1 (2).jpg"/>
          <p:cNvPicPr>
            <a:picLocks noChangeAspect="1" noChangeArrowheads="1"/>
          </p:cNvPicPr>
          <p:nvPr>
            <p:custDataLst>
              <p:tags r:id="rId9"/>
            </p:custDataLst>
          </p:nvPr>
        </p:nvPicPr>
        <p:blipFill>
          <a:blip r:embed="rId18"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0" name="等腰三角形 19"/>
          <p:cNvSpPr/>
          <p:nvPr>
            <p:custDataLst>
              <p:tags r:id="rId10"/>
            </p:custDataLst>
          </p:nvPr>
        </p:nvSpPr>
        <p:spPr>
          <a:xfrm rot="10800000">
            <a:off x="2622550" y="721360"/>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custDataLst>
              <p:tags r:id="rId11"/>
            </p:custDataLst>
          </p:nvPr>
        </p:nvSpPr>
        <p:spPr>
          <a:xfrm>
            <a:off x="490855" y="2856865"/>
            <a:ext cx="10528300" cy="5721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燕尾形 2"/>
          <p:cNvSpPr/>
          <p:nvPr>
            <p:custDataLst>
              <p:tags r:id="rId12"/>
            </p:custDataLst>
          </p:nvPr>
        </p:nvSpPr>
        <p:spPr>
          <a:xfrm>
            <a:off x="1019175" y="3535045"/>
            <a:ext cx="364490" cy="257810"/>
          </a:xfrm>
          <a:prstGeom prst="chevron">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custDataLst>
              <p:tags r:id="rId13"/>
            </p:custDataLst>
          </p:nvPr>
        </p:nvSpPr>
        <p:spPr>
          <a:xfrm>
            <a:off x="482600" y="1677035"/>
            <a:ext cx="10528300" cy="5721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556895" y="1663700"/>
            <a:ext cx="11078845" cy="3999865"/>
          </a:xfrm>
          <a:prstGeom prst="rect">
            <a:avLst/>
          </a:prstGeom>
          <a:noFill/>
        </p:spPr>
        <p:txBody>
          <a:bodyPr wrap="square" rtlCol="0" anchor="t">
            <a:spAutoFit/>
          </a:bodyPr>
          <a:lstStyle/>
          <a:p>
            <a:pPr marL="457200" lvl="0" indent="-457200" fontAlgn="auto">
              <a:lnSpc>
                <a:spcPct val="150000"/>
              </a:lnSpc>
              <a:buFont typeface="Arial" panose="020B0604020202020204" pitchFamily="34" charset="0"/>
              <a:buAutoNum type="arabicPeriod"/>
            </a:pPr>
            <a:r>
              <a:rPr lang="zh-CN" altLang="en-US" sz="2000" dirty="0">
                <a:solidFill>
                  <a:schemeClr val="tx1">
                    <a:lumMod val="85000"/>
                    <a:lumOff val="15000"/>
                  </a:schemeClr>
                </a:solidFill>
                <a:sym typeface="+mn-ea"/>
              </a:rPr>
              <a:t>现实网络环境对分布式数字资产交易协议的安全性和健壮性提出了更高的要求</a:t>
            </a:r>
          </a:p>
          <a:p>
            <a:pPr lvl="1" indent="457200">
              <a:lnSpc>
                <a:spcPct val="150000"/>
              </a:lnSpc>
              <a:spcAft>
                <a:spcPts val="1200"/>
              </a:spcAft>
            </a:pPr>
            <a:r>
              <a:rPr lang="zh-CN" altLang="en-US" sz="2400" b="1" dirty="0">
                <a:solidFill>
                  <a:srgbClr val="04579A"/>
                </a:solidFill>
                <a:sym typeface="+mn-ea"/>
              </a:rPr>
              <a:t>分布式数字资产交易协议需要去除可信假设，建立更强的安全模型</a:t>
            </a:r>
          </a:p>
          <a:p>
            <a:pPr marL="457200" lvl="0" indent="-457200" fontAlgn="auto">
              <a:lnSpc>
                <a:spcPct val="150000"/>
              </a:lnSpc>
              <a:buAutoNum type="arabicPeriod"/>
            </a:pPr>
            <a:r>
              <a:rPr lang="zh-CN" altLang="en-US" sz="2000" dirty="0">
                <a:solidFill>
                  <a:schemeClr val="tx1">
                    <a:lumMod val="85000"/>
                    <a:lumOff val="15000"/>
                  </a:schemeClr>
                </a:solidFill>
                <a:sym typeface="+mn-ea"/>
              </a:rPr>
              <a:t>大规模、高并发的交易场景要求分布式数字资产交易协议具有可扩展性</a:t>
            </a:r>
            <a:endParaRPr lang="zh-CN" altLang="en-US" sz="2000" dirty="0">
              <a:sym typeface="+mn-ea"/>
            </a:endParaRPr>
          </a:p>
          <a:p>
            <a:pPr lvl="1" indent="457200">
              <a:lnSpc>
                <a:spcPct val="150000"/>
              </a:lnSpc>
              <a:spcAft>
                <a:spcPts val="1200"/>
              </a:spcAft>
            </a:pPr>
            <a:r>
              <a:rPr lang="zh-CN" altLang="en-US" sz="2400" b="1" dirty="0">
                <a:solidFill>
                  <a:srgbClr val="04579A"/>
                </a:solidFill>
                <a:sym typeface="+mn-ea"/>
              </a:rPr>
              <a:t>分布式数字资产交易协议需要高性能的链下方案构造</a:t>
            </a:r>
          </a:p>
          <a:p>
            <a:pPr marL="457200" lvl="0" indent="-457200" fontAlgn="auto">
              <a:lnSpc>
                <a:spcPct val="150000"/>
              </a:lnSpc>
              <a:buAutoNum type="arabicPeriod"/>
            </a:pPr>
            <a:r>
              <a:rPr lang="zh-CN" altLang="en-US" sz="2000" dirty="0">
                <a:sym typeface="+mn-ea"/>
              </a:rPr>
              <a:t>异构区块链系统间的互联互通要求分布式数字资产交易协议具有互操作性</a:t>
            </a:r>
          </a:p>
          <a:p>
            <a:pPr lvl="1" indent="457200">
              <a:lnSpc>
                <a:spcPct val="150000"/>
              </a:lnSpc>
            </a:pPr>
            <a:r>
              <a:rPr lang="zh-CN" altLang="en-US" sz="2400" b="1" dirty="0">
                <a:solidFill>
                  <a:srgbClr val="04579A"/>
                </a:solidFill>
                <a:sym typeface="+mn-ea"/>
              </a:rPr>
              <a:t>分布式数字资产交易协议需要高效的跨链证明协议</a:t>
            </a:r>
          </a:p>
          <a:p>
            <a:pPr lvl="1" indent="457200">
              <a:lnSpc>
                <a:spcPct val="150000"/>
              </a:lnSpc>
            </a:pPr>
            <a:endParaRPr lang="zh-CN" altLang="en-US" sz="2400" b="1" dirty="0">
              <a:solidFill>
                <a:schemeClr val="bg1">
                  <a:lumMod val="95000"/>
                </a:schemeClr>
              </a:solidFill>
              <a:sym typeface="+mn-ea"/>
            </a:endParaRPr>
          </a:p>
        </p:txBody>
      </p:sp>
      <p:sp>
        <p:nvSpPr>
          <p:cNvPr id="9" name="燕尾形 8"/>
          <p:cNvSpPr/>
          <p:nvPr>
            <p:custDataLst>
              <p:tags r:id="rId14"/>
            </p:custDataLst>
          </p:nvPr>
        </p:nvSpPr>
        <p:spPr>
          <a:xfrm>
            <a:off x="1019175" y="2339975"/>
            <a:ext cx="364490" cy="257810"/>
          </a:xfrm>
          <a:prstGeom prst="chevron">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F671B39F-2C43-3D45-70D7-8C2F7224FA7F}"/>
              </a:ext>
            </a:extLst>
          </p:cNvPr>
          <p:cNvSpPr txBox="1"/>
          <p:nvPr/>
        </p:nvSpPr>
        <p:spPr>
          <a:xfrm>
            <a:off x="11736779" y="6499761"/>
            <a:ext cx="455221" cy="369332"/>
          </a:xfrm>
          <a:prstGeom prst="rect">
            <a:avLst/>
          </a:prstGeom>
          <a:noFill/>
        </p:spPr>
        <p:txBody>
          <a:bodyPr wrap="square" rtlCol="0">
            <a:spAutoFit/>
          </a:bodyPr>
          <a:lstStyle/>
          <a:p>
            <a:pPr algn="ctr"/>
            <a:r>
              <a:rPr lang="en-US" altLang="zh-CN" dirty="0"/>
              <a:t>11</a:t>
            </a:r>
            <a:endParaRPr lang="zh-CN" altLang="en-US" dirty="0"/>
          </a:p>
        </p:txBody>
      </p:sp>
      <p:sp>
        <p:nvSpPr>
          <p:cNvPr id="8" name="燕尾形 8">
            <a:extLst>
              <a:ext uri="{FF2B5EF4-FFF2-40B4-BE49-F238E27FC236}">
                <a16:creationId xmlns:a16="http://schemas.microsoft.com/office/drawing/2014/main" id="{90C9BADE-A01E-393C-F061-442E08BD7B61}"/>
              </a:ext>
            </a:extLst>
          </p:cNvPr>
          <p:cNvSpPr/>
          <p:nvPr>
            <p:custDataLst>
              <p:tags r:id="rId15"/>
            </p:custDataLst>
          </p:nvPr>
        </p:nvSpPr>
        <p:spPr>
          <a:xfrm>
            <a:off x="1019175" y="4656137"/>
            <a:ext cx="364490" cy="257810"/>
          </a:xfrm>
          <a:prstGeom prst="chevron">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grpSp>
        <p:nvGrpSpPr>
          <p:cNvPr id="67" name="组合 66"/>
          <p:cNvGrpSpPr/>
          <p:nvPr/>
        </p:nvGrpSpPr>
        <p:grpSpPr>
          <a:xfrm>
            <a:off x="1287145" y="3430270"/>
            <a:ext cx="9234750" cy="1807210"/>
            <a:chOff x="1355" y="5896"/>
            <a:chExt cx="15925" cy="2846"/>
          </a:xfrm>
        </p:grpSpPr>
        <p:sp>
          <p:nvSpPr>
            <p:cNvPr id="65" name="椭圆 64"/>
            <p:cNvSpPr/>
            <p:nvPr/>
          </p:nvSpPr>
          <p:spPr>
            <a:xfrm>
              <a:off x="1355" y="6522"/>
              <a:ext cx="15925" cy="2220"/>
            </a:xfrm>
            <a:prstGeom prst="ellipse">
              <a:avLst/>
            </a:prstGeom>
            <a:noFill/>
            <a:ln w="44450">
              <a:solidFill>
                <a:srgbClr val="04579A">
                  <a:alpha val="17000"/>
                </a:srgb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p:cNvSpPr/>
            <p:nvPr/>
          </p:nvSpPr>
          <p:spPr>
            <a:xfrm>
              <a:off x="2007" y="5896"/>
              <a:ext cx="15064" cy="149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3" name="组合 62"/>
          <p:cNvGrpSpPr/>
          <p:nvPr/>
        </p:nvGrpSpPr>
        <p:grpSpPr>
          <a:xfrm>
            <a:off x="7317740" y="1720215"/>
            <a:ext cx="2393950" cy="2663119"/>
            <a:chOff x="11114" y="3314"/>
            <a:chExt cx="3770" cy="4489"/>
          </a:xfrm>
          <a:solidFill>
            <a:schemeClr val="bg1"/>
          </a:solidFill>
        </p:grpSpPr>
        <p:sp>
          <p:nvSpPr>
            <p:cNvPr id="48" name="圆角矩形 47"/>
            <p:cNvSpPr/>
            <p:nvPr>
              <p:custDataLst>
                <p:tags r:id="rId14"/>
              </p:custDataLst>
            </p:nvPr>
          </p:nvSpPr>
          <p:spPr>
            <a:xfrm>
              <a:off x="11115" y="3314"/>
              <a:ext cx="3769" cy="4489"/>
            </a:xfrm>
            <a:prstGeom prst="roundRect">
              <a:avLst/>
            </a:prstGeom>
            <a:grpFill/>
            <a:ln>
              <a:solidFill>
                <a:srgbClr val="04579A"/>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p:cNvSpPr txBox="1"/>
            <p:nvPr>
              <p:custDataLst>
                <p:tags r:id="rId15"/>
              </p:custDataLst>
            </p:nvPr>
          </p:nvSpPr>
          <p:spPr>
            <a:xfrm>
              <a:off x="11488" y="5558"/>
              <a:ext cx="3111" cy="1401"/>
            </a:xfrm>
            <a:prstGeom prst="rect">
              <a:avLst/>
            </a:prstGeom>
            <a:grpFill/>
          </p:spPr>
          <p:txBody>
            <a:bodyPr wrap="square" rtlCol="0" anchor="t">
              <a:spAutoFit/>
            </a:bodyPr>
            <a:lstStyle/>
            <a:p>
              <a:pPr indent="0">
                <a:buFont typeface="Arial" panose="020B0604020202020204" pitchFamily="34" charset="0"/>
                <a:buNone/>
              </a:pPr>
              <a:r>
                <a:rPr lang="zh-CN" altLang="en-US" sz="1600" dirty="0">
                  <a:solidFill>
                    <a:schemeClr val="tx1">
                      <a:lumMod val="75000"/>
                      <a:lumOff val="25000"/>
                    </a:schemeClr>
                  </a:solidFill>
                  <a:sym typeface="+mn-ea"/>
                </a:rPr>
                <a:t>锁定或销毁源链中的资产，并在目标链中创建该资产</a:t>
              </a:r>
            </a:p>
          </p:txBody>
        </p:sp>
        <p:sp>
          <p:nvSpPr>
            <p:cNvPr id="47" name="文本框 46"/>
            <p:cNvSpPr txBox="1"/>
            <p:nvPr>
              <p:custDataLst>
                <p:tags r:id="rId16"/>
              </p:custDataLst>
            </p:nvPr>
          </p:nvSpPr>
          <p:spPr>
            <a:xfrm>
              <a:off x="11114" y="4703"/>
              <a:ext cx="3770" cy="672"/>
            </a:xfrm>
            <a:prstGeom prst="rect">
              <a:avLst/>
            </a:prstGeom>
            <a:noFill/>
            <a:extLst>
              <a:ext uri="{909E8E84-426E-40DD-AFC4-6F175D3DCCD1}">
                <a14:hiddenFill xmlns:a14="http://schemas.microsoft.com/office/drawing/2010/main">
                  <a:grpFill/>
                </a14:hiddenFill>
              </a:ext>
            </a:extLst>
          </p:spPr>
          <p:txBody>
            <a:bodyPr wrap="square" rtlCol="0" anchor="t">
              <a:spAutoFit/>
            </a:bodyPr>
            <a:lstStyle/>
            <a:p>
              <a:pPr algn="ctr"/>
              <a:r>
                <a:rPr lang="zh-CN" altLang="en-US" sz="2000" b="1" dirty="0">
                  <a:solidFill>
                    <a:srgbClr val="04579A"/>
                  </a:solidFill>
                  <a:sym typeface="+mn-ea"/>
                </a:rPr>
                <a:t>资产转移</a:t>
              </a:r>
            </a:p>
          </p:txBody>
        </p:sp>
      </p:grpSp>
      <p:sp>
        <p:nvSpPr>
          <p:cNvPr id="20" name="圆角矩形 19"/>
          <p:cNvSpPr/>
          <p:nvPr/>
        </p:nvSpPr>
        <p:spPr>
          <a:xfrm>
            <a:off x="2142490" y="1734820"/>
            <a:ext cx="2393315" cy="2669540"/>
          </a:xfrm>
          <a:prstGeom prst="roundRect">
            <a:avLst/>
          </a:prstGeom>
          <a:solidFill>
            <a:schemeClr val="bg1"/>
          </a:solidFill>
          <a:ln>
            <a:solidFill>
              <a:srgbClr val="04579A"/>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2400300" y="3054702"/>
            <a:ext cx="1877060" cy="830997"/>
          </a:xfrm>
          <a:prstGeom prst="rect">
            <a:avLst/>
          </a:prstGeom>
          <a:solidFill>
            <a:schemeClr val="bg1"/>
          </a:solidFill>
        </p:spPr>
        <p:txBody>
          <a:bodyPr wrap="square" rtlCol="0" anchor="t">
            <a:spAutoFit/>
          </a:bodyPr>
          <a:lstStyle/>
          <a:p>
            <a:r>
              <a:rPr lang="zh-CN" altLang="en-US" sz="1600">
                <a:solidFill>
                  <a:schemeClr val="tx1">
                    <a:lumMod val="75000"/>
                    <a:lumOff val="25000"/>
                  </a:schemeClr>
                </a:solidFill>
              </a:rPr>
              <a:t>在一个域中写入的信息可以被转移或复制到另一个域</a:t>
            </a:r>
            <a:endParaRPr lang="en-US" altLang="zh-CN" sz="1600" dirty="0">
              <a:solidFill>
                <a:schemeClr val="tx1">
                  <a:lumMod val="75000"/>
                  <a:lumOff val="25000"/>
                </a:schemeClr>
              </a:solidFill>
            </a:endParaRPr>
          </a:p>
        </p:txBody>
      </p:sp>
      <p:sp>
        <p:nvSpPr>
          <p:cNvPr id="12" name="文本框 11"/>
          <p:cNvSpPr txBox="1"/>
          <p:nvPr/>
        </p:nvSpPr>
        <p:spPr>
          <a:xfrm>
            <a:off x="2141855" y="2557780"/>
            <a:ext cx="2393950" cy="398780"/>
          </a:xfrm>
          <a:prstGeom prst="rect">
            <a:avLst/>
          </a:prstGeom>
          <a:noFill/>
          <a:extLst>
            <a:ext uri="{909E8E84-426E-40DD-AFC4-6F175D3DCCD1}">
              <a14:hiddenFill xmlns:a14="http://schemas.microsoft.com/office/drawing/2010/main">
                <a:grpFill/>
              </a14:hiddenFill>
            </a:ext>
          </a:extLst>
        </p:spPr>
        <p:txBody>
          <a:bodyPr wrap="square" rtlCol="0" anchor="t">
            <a:spAutoFit/>
          </a:bodyPr>
          <a:lstStyle/>
          <a:p>
            <a:pPr algn="ctr"/>
            <a:r>
              <a:rPr lang="zh-CN" altLang="en-US" sz="2000" b="1" dirty="0">
                <a:solidFill>
                  <a:srgbClr val="04579A"/>
                </a:solidFill>
                <a:sym typeface="+mn-ea"/>
              </a:rPr>
              <a:t>数据传输</a:t>
            </a:r>
          </a:p>
        </p:txBody>
      </p:sp>
      <p:grpSp>
        <p:nvGrpSpPr>
          <p:cNvPr id="62" name="组合 61"/>
          <p:cNvGrpSpPr/>
          <p:nvPr/>
        </p:nvGrpSpPr>
        <p:grpSpPr>
          <a:xfrm>
            <a:off x="4729480" y="1711325"/>
            <a:ext cx="2393950" cy="2691563"/>
            <a:chOff x="6868" y="3314"/>
            <a:chExt cx="3770" cy="4485"/>
          </a:xfrm>
        </p:grpSpPr>
        <p:sp>
          <p:nvSpPr>
            <p:cNvPr id="32" name="文本框 31"/>
            <p:cNvSpPr txBox="1"/>
            <p:nvPr>
              <p:custDataLst>
                <p:tags r:id="rId11"/>
              </p:custDataLst>
            </p:nvPr>
          </p:nvSpPr>
          <p:spPr>
            <a:xfrm>
              <a:off x="7312" y="5783"/>
              <a:ext cx="3018" cy="974"/>
            </a:xfrm>
            <a:prstGeom prst="rect">
              <a:avLst/>
            </a:prstGeom>
            <a:noFill/>
          </p:spPr>
          <p:txBody>
            <a:bodyPr wrap="square" rtlCol="0" anchor="t">
              <a:spAutoFit/>
            </a:bodyPr>
            <a:lstStyle/>
            <a:p>
              <a:pPr indent="0">
                <a:buFont typeface="Arial" panose="020B0604020202020204" pitchFamily="34" charset="0"/>
                <a:buNone/>
              </a:pPr>
              <a:r>
                <a:rPr lang="zh-CN" altLang="en-US" sz="1600" dirty="0">
                  <a:solidFill>
                    <a:schemeClr val="tx1">
                      <a:lumMod val="75000"/>
                      <a:lumOff val="25000"/>
                    </a:schemeClr>
                  </a:solidFill>
                  <a:sym typeface="+mn-ea"/>
                </a:rPr>
                <a:t>允许不受信任的各方原子地交换资产</a:t>
              </a:r>
            </a:p>
          </p:txBody>
        </p:sp>
        <p:sp>
          <p:nvSpPr>
            <p:cNvPr id="33" name="文本框 32"/>
            <p:cNvSpPr txBox="1"/>
            <p:nvPr>
              <p:custDataLst>
                <p:tags r:id="rId12"/>
              </p:custDataLst>
            </p:nvPr>
          </p:nvSpPr>
          <p:spPr>
            <a:xfrm>
              <a:off x="6868" y="4703"/>
              <a:ext cx="3770" cy="664"/>
            </a:xfrm>
            <a:prstGeom prst="rect">
              <a:avLst/>
            </a:prstGeom>
            <a:noFill/>
          </p:spPr>
          <p:txBody>
            <a:bodyPr wrap="square" rtlCol="0" anchor="t">
              <a:spAutoFit/>
            </a:bodyPr>
            <a:lstStyle/>
            <a:p>
              <a:pPr algn="ctr"/>
              <a:r>
                <a:rPr lang="zh-CN" altLang="en-US" sz="2000" b="1" dirty="0">
                  <a:solidFill>
                    <a:srgbClr val="04579A"/>
                  </a:solidFill>
                  <a:sym typeface="+mn-ea"/>
                </a:rPr>
                <a:t>资产交换</a:t>
              </a:r>
            </a:p>
          </p:txBody>
        </p:sp>
        <p:sp>
          <p:nvSpPr>
            <p:cNvPr id="34" name="圆角矩形 33"/>
            <p:cNvSpPr/>
            <p:nvPr>
              <p:custDataLst>
                <p:tags r:id="rId13"/>
              </p:custDataLst>
            </p:nvPr>
          </p:nvSpPr>
          <p:spPr>
            <a:xfrm>
              <a:off x="6869" y="3314"/>
              <a:ext cx="3769" cy="4485"/>
            </a:xfrm>
            <a:prstGeom prst="roundRect">
              <a:avLst/>
            </a:prstGeom>
            <a:noFill/>
            <a:ln>
              <a:solidFill>
                <a:srgbClr val="04579A"/>
              </a:solidFill>
            </a:ln>
            <a:effectLst>
              <a:outerShdw blurRad="63500" sx="102000" sy="102000" algn="ctr" rotWithShape="0">
                <a:prstClr val="black">
                  <a:alpha val="40000"/>
                </a:prstClr>
              </a:outerShdw>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4" name="文本框 63"/>
          <p:cNvSpPr txBox="1"/>
          <p:nvPr/>
        </p:nvSpPr>
        <p:spPr>
          <a:xfrm>
            <a:off x="2717482" y="5992494"/>
            <a:ext cx="6757035" cy="369332"/>
          </a:xfrm>
          <a:prstGeom prst="rect">
            <a:avLst/>
          </a:prstGeom>
          <a:noFill/>
        </p:spPr>
        <p:txBody>
          <a:bodyPr wrap="square" rtlCol="0">
            <a:spAutoFit/>
          </a:bodyPr>
          <a:lstStyle/>
          <a:p>
            <a:pPr algn="ctr"/>
            <a:r>
              <a:rPr lang="zh-CN" altLang="en-US" b="1" dirty="0">
                <a:solidFill>
                  <a:srgbClr val="04579A"/>
                </a:solidFill>
              </a:rPr>
              <a:t>跨链分布式数字资产交易协议的核心是跨链证明生成和验证机制</a:t>
            </a:r>
          </a:p>
        </p:txBody>
      </p:sp>
      <p:sp>
        <p:nvSpPr>
          <p:cNvPr id="105" name="椭圆 104"/>
          <p:cNvSpPr/>
          <p:nvPr/>
        </p:nvSpPr>
        <p:spPr>
          <a:xfrm>
            <a:off x="8669020" y="4282440"/>
            <a:ext cx="1143000" cy="1143000"/>
          </a:xfrm>
          <a:prstGeom prst="ellipse">
            <a:avLst/>
          </a:prstGeom>
          <a:gradFill>
            <a:gsLst>
              <a:gs pos="72000">
                <a:schemeClr val="accent1">
                  <a:lumMod val="5000"/>
                  <a:lumOff val="95000"/>
                </a:schemeClr>
              </a:gs>
              <a:gs pos="0">
                <a:srgbClr val="03569A"/>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条件交易</a:t>
            </a:r>
          </a:p>
        </p:txBody>
      </p:sp>
      <p:sp>
        <p:nvSpPr>
          <p:cNvPr id="106" name="椭圆 105"/>
          <p:cNvSpPr/>
          <p:nvPr/>
        </p:nvSpPr>
        <p:spPr>
          <a:xfrm>
            <a:off x="6586220" y="4524375"/>
            <a:ext cx="1146175" cy="1146175"/>
          </a:xfrm>
          <a:prstGeom prst="ellipse">
            <a:avLst/>
          </a:prstGeom>
          <a:gradFill>
            <a:gsLst>
              <a:gs pos="72000">
                <a:schemeClr val="accent1">
                  <a:lumMod val="5000"/>
                  <a:lumOff val="95000"/>
                </a:schemeClr>
              </a:gs>
              <a:gs pos="0">
                <a:srgbClr val="03569A"/>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证明验证</a:t>
            </a:r>
          </a:p>
        </p:txBody>
      </p:sp>
      <p:sp>
        <p:nvSpPr>
          <p:cNvPr id="107" name="椭圆 106"/>
          <p:cNvSpPr/>
          <p:nvPr/>
        </p:nvSpPr>
        <p:spPr>
          <a:xfrm>
            <a:off x="4214495" y="4524375"/>
            <a:ext cx="1146175" cy="1146175"/>
          </a:xfrm>
          <a:prstGeom prst="ellipse">
            <a:avLst/>
          </a:prstGeom>
          <a:gradFill>
            <a:gsLst>
              <a:gs pos="72000">
                <a:schemeClr val="accent1">
                  <a:lumMod val="5000"/>
                  <a:lumOff val="95000"/>
                </a:schemeClr>
              </a:gs>
              <a:gs pos="0">
                <a:srgbClr val="03569A"/>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证明生成</a:t>
            </a:r>
          </a:p>
        </p:txBody>
      </p:sp>
      <p:sp>
        <p:nvSpPr>
          <p:cNvPr id="108" name="椭圆 107"/>
          <p:cNvSpPr/>
          <p:nvPr/>
        </p:nvSpPr>
        <p:spPr>
          <a:xfrm>
            <a:off x="1924050" y="4379595"/>
            <a:ext cx="1146175" cy="1146175"/>
          </a:xfrm>
          <a:prstGeom prst="ellipse">
            <a:avLst/>
          </a:prstGeom>
          <a:gradFill>
            <a:gsLst>
              <a:gs pos="72000">
                <a:schemeClr val="accent1">
                  <a:lumMod val="5000"/>
                  <a:lumOff val="95000"/>
                </a:schemeClr>
              </a:gs>
              <a:gs pos="0">
                <a:srgbClr val="03569A"/>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资产</a:t>
            </a:r>
            <a:endParaRPr lang="en-US" altLang="zh-CN" dirty="0"/>
          </a:p>
          <a:p>
            <a:pPr algn="ctr"/>
            <a:r>
              <a:rPr lang="zh-CN" altLang="en-US" dirty="0"/>
              <a:t>托管</a:t>
            </a:r>
          </a:p>
        </p:txBody>
      </p:sp>
      <p:sp>
        <p:nvSpPr>
          <p:cNvPr id="114" name="矩形 113"/>
          <p:cNvSpPr/>
          <p:nvPr>
            <p:custDataLst>
              <p:tags r:id="rId2"/>
            </p:custDataLst>
          </p:nvPr>
        </p:nvSpPr>
        <p:spPr>
          <a:xfrm>
            <a:off x="1664970" y="0"/>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矩形 114"/>
          <p:cNvSpPr/>
          <p:nvPr>
            <p:custDataLst>
              <p:tags r:id="rId3"/>
            </p:custDataLst>
          </p:nvPr>
        </p:nvSpPr>
        <p:spPr>
          <a:xfrm>
            <a:off x="3871595" y="-635"/>
            <a:ext cx="199072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矩形 115"/>
          <p:cNvSpPr/>
          <p:nvPr>
            <p:custDataLst>
              <p:tags r:id="rId4"/>
            </p:custDataLst>
          </p:nvPr>
        </p:nvSpPr>
        <p:spPr>
          <a:xfrm>
            <a:off x="5862320" y="-635"/>
            <a:ext cx="311594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矩形 116"/>
          <p:cNvSpPr/>
          <p:nvPr>
            <p:custDataLst>
              <p:tags r:id="rId5"/>
            </p:custDataLst>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矩形 117"/>
          <p:cNvSpPr/>
          <p:nvPr>
            <p:custDataLst>
              <p:tags r:id="rId6"/>
            </p:custDataLst>
          </p:nvPr>
        </p:nvSpPr>
        <p:spPr>
          <a:xfrm>
            <a:off x="1664970" y="-635"/>
            <a:ext cx="2206625"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 name="文本框 118"/>
          <p:cNvSpPr txBox="1"/>
          <p:nvPr>
            <p:custDataLst>
              <p:tags r:id="rId7"/>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p>
        </p:txBody>
      </p:sp>
      <p:pic>
        <p:nvPicPr>
          <p:cNvPr id="120" name="Picture 2" descr="C:\Program Files\Apache Software Foundation\Tomcat 6.0\webapps\topo1\images\sklois1 (2).jpg"/>
          <p:cNvPicPr>
            <a:picLocks noChangeAspect="1" noChangeArrowheads="1"/>
          </p:cNvPicPr>
          <p:nvPr>
            <p:custDataLst>
              <p:tags r:id="rId8"/>
            </p:custDataLst>
          </p:nvPr>
        </p:nvPicPr>
        <p:blipFill>
          <a:blip r:embed="rId19"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21" name="等腰三角形 120"/>
          <p:cNvSpPr/>
          <p:nvPr>
            <p:custDataLst>
              <p:tags r:id="rId9"/>
            </p:custDataLst>
          </p:nvPr>
        </p:nvSpPr>
        <p:spPr>
          <a:xfrm rot="10800000">
            <a:off x="2622550" y="721360"/>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66F0B237-FBAC-AA1F-6EE9-D72452396EC9}"/>
              </a:ext>
            </a:extLst>
          </p:cNvPr>
          <p:cNvSpPr txBox="1"/>
          <p:nvPr>
            <p:custDataLst>
              <p:tags r:id="rId10"/>
            </p:custDataLst>
          </p:nvPr>
        </p:nvSpPr>
        <p:spPr>
          <a:xfrm>
            <a:off x="408305" y="949960"/>
            <a:ext cx="10727690" cy="499111"/>
          </a:xfrm>
          <a:prstGeom prst="rect">
            <a:avLst/>
          </a:prstGeom>
          <a:noFill/>
        </p:spPr>
        <p:txBody>
          <a:bodyPr wrap="square" rtlCol="0" anchor="t">
            <a:spAutoFit/>
          </a:bodyPr>
          <a:lstStyle/>
          <a:p>
            <a:pPr marL="457200" indent="-457200" fontAlgn="auto">
              <a:lnSpc>
                <a:spcPct val="150000"/>
              </a:lnSpc>
              <a:buFont typeface="+mj-lt"/>
              <a:buAutoNum type="arabicPeriod" startAt="3"/>
            </a:pPr>
            <a:r>
              <a:rPr lang="zh-CN" altLang="en-US" sz="2000" dirty="0">
                <a:solidFill>
                  <a:schemeClr val="tx1">
                    <a:lumMod val="75000"/>
                    <a:lumOff val="25000"/>
                  </a:schemeClr>
                </a:solidFill>
                <a:sym typeface="+mn-ea"/>
              </a:rPr>
              <a:t>异构区块链系统间的互联互通要求分布式数字资产交易协议具有互操作性</a:t>
            </a:r>
          </a:p>
        </p:txBody>
      </p:sp>
      <p:pic>
        <p:nvPicPr>
          <p:cNvPr id="8" name="图形 7">
            <a:extLst>
              <a:ext uri="{FF2B5EF4-FFF2-40B4-BE49-F238E27FC236}">
                <a16:creationId xmlns:a16="http://schemas.microsoft.com/office/drawing/2014/main" id="{6309A3BC-7A0F-A73D-D03C-F355D778D373}"/>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3072724" y="1987509"/>
            <a:ext cx="450256" cy="450256"/>
          </a:xfrm>
          <a:prstGeom prst="rect">
            <a:avLst/>
          </a:prstGeom>
        </p:spPr>
      </p:pic>
      <p:pic>
        <p:nvPicPr>
          <p:cNvPr id="13" name="图形 12">
            <a:extLst>
              <a:ext uri="{FF2B5EF4-FFF2-40B4-BE49-F238E27FC236}">
                <a16:creationId xmlns:a16="http://schemas.microsoft.com/office/drawing/2014/main" id="{88F90A6B-2B52-A0E8-0F76-94E2295E39CF}"/>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5702846" y="1984197"/>
            <a:ext cx="447218" cy="447218"/>
          </a:xfrm>
          <a:prstGeom prst="rect">
            <a:avLst/>
          </a:prstGeom>
        </p:spPr>
      </p:pic>
      <p:pic>
        <p:nvPicPr>
          <p:cNvPr id="15" name="图形 14">
            <a:extLst>
              <a:ext uri="{FF2B5EF4-FFF2-40B4-BE49-F238E27FC236}">
                <a16:creationId xmlns:a16="http://schemas.microsoft.com/office/drawing/2014/main" id="{BE628633-EAB8-C60E-3BA6-1FC69E4812F8}"/>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8291106" y="1984094"/>
            <a:ext cx="447218" cy="447218"/>
          </a:xfrm>
          <a:prstGeom prst="rect">
            <a:avLst/>
          </a:prstGeom>
        </p:spPr>
      </p:pic>
      <p:sp>
        <p:nvSpPr>
          <p:cNvPr id="3" name="文本框 2">
            <a:extLst>
              <a:ext uri="{FF2B5EF4-FFF2-40B4-BE49-F238E27FC236}">
                <a16:creationId xmlns:a16="http://schemas.microsoft.com/office/drawing/2014/main" id="{759B90D8-6CA5-A7AC-0988-C52DCF005FA4}"/>
              </a:ext>
            </a:extLst>
          </p:cNvPr>
          <p:cNvSpPr txBox="1"/>
          <p:nvPr/>
        </p:nvSpPr>
        <p:spPr>
          <a:xfrm>
            <a:off x="11736779" y="6499761"/>
            <a:ext cx="455221" cy="369332"/>
          </a:xfrm>
          <a:prstGeom prst="rect">
            <a:avLst/>
          </a:prstGeom>
          <a:noFill/>
        </p:spPr>
        <p:txBody>
          <a:bodyPr wrap="square" rtlCol="0">
            <a:spAutoFit/>
          </a:bodyPr>
          <a:lstStyle/>
          <a:p>
            <a:pPr algn="ctr"/>
            <a:r>
              <a:rPr lang="en-US" altLang="zh-CN" dirty="0"/>
              <a:t>12</a:t>
            </a:r>
            <a:endParaRPr lang="zh-CN" altLang="en-US" dirty="0"/>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fade">
                                      <p:cBhvr>
                                        <p:cTn id="7" dur="500"/>
                                        <p:tgtEl>
                                          <p:spTgt spid="6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5"/>
                                        </p:tgtEl>
                                        <p:attrNameLst>
                                          <p:attrName>style.visibility</p:attrName>
                                        </p:attrNameLst>
                                      </p:cBhvr>
                                      <p:to>
                                        <p:strVal val="visible"/>
                                      </p:to>
                                    </p:set>
                                    <p:animEffect transition="in" filter="fade">
                                      <p:cBhvr>
                                        <p:cTn id="10" dur="500"/>
                                        <p:tgtEl>
                                          <p:spTgt spid="10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6"/>
                                        </p:tgtEl>
                                        <p:attrNameLst>
                                          <p:attrName>style.visibility</p:attrName>
                                        </p:attrNameLst>
                                      </p:cBhvr>
                                      <p:to>
                                        <p:strVal val="visible"/>
                                      </p:to>
                                    </p:set>
                                    <p:animEffect transition="in" filter="fade">
                                      <p:cBhvr>
                                        <p:cTn id="13" dur="500"/>
                                        <p:tgtEl>
                                          <p:spTgt spid="10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7"/>
                                        </p:tgtEl>
                                        <p:attrNameLst>
                                          <p:attrName>style.visibility</p:attrName>
                                        </p:attrNameLst>
                                      </p:cBhvr>
                                      <p:to>
                                        <p:strVal val="visible"/>
                                      </p:to>
                                    </p:set>
                                    <p:animEffect transition="in" filter="fade">
                                      <p:cBhvr>
                                        <p:cTn id="16" dur="500"/>
                                        <p:tgtEl>
                                          <p:spTgt spid="10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8"/>
                                        </p:tgtEl>
                                        <p:attrNameLst>
                                          <p:attrName>style.visibility</p:attrName>
                                        </p:attrNameLst>
                                      </p:cBhvr>
                                      <p:to>
                                        <p:strVal val="visible"/>
                                      </p:to>
                                    </p:set>
                                    <p:animEffect transition="in" filter="fade">
                                      <p:cBhvr>
                                        <p:cTn id="19" dur="500"/>
                                        <p:tgtEl>
                                          <p:spTgt spid="108"/>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p:bldP spid="105" grpId="0" animBg="1"/>
      <p:bldP spid="105" grpId="1" animBg="1"/>
      <p:bldP spid="106" grpId="0" animBg="1"/>
      <p:bldP spid="106" grpId="1" animBg="1"/>
      <p:bldP spid="107" grpId="0" animBg="1"/>
      <p:bldP spid="107" grpId="1" animBg="1"/>
      <p:bldP spid="108" grpId="0" animBg="1"/>
      <p:bldP spid="108"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1" name="矩形 10"/>
          <p:cNvSpPr/>
          <p:nvPr>
            <p:custDataLst>
              <p:tags r:id="rId2"/>
            </p:custDataLst>
          </p:nvPr>
        </p:nvSpPr>
        <p:spPr>
          <a:xfrm>
            <a:off x="1664970" y="0"/>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custDataLst>
              <p:tags r:id="rId3"/>
            </p:custDataLst>
          </p:nvPr>
        </p:nvSpPr>
        <p:spPr>
          <a:xfrm>
            <a:off x="3871595" y="-635"/>
            <a:ext cx="199072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custDataLst>
              <p:tags r:id="rId4"/>
            </p:custDataLst>
          </p:nvPr>
        </p:nvSpPr>
        <p:spPr>
          <a:xfrm>
            <a:off x="5862320" y="-635"/>
            <a:ext cx="311594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664970" y="-635"/>
            <a:ext cx="2206625"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5"/>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p>
        </p:txBody>
      </p:sp>
      <p:pic>
        <p:nvPicPr>
          <p:cNvPr id="21" name="Picture 2" descr="C:\Program Files\Apache Software Foundation\Tomcat 6.0\webapps\topo1\images\sklois1 (2).jpg"/>
          <p:cNvPicPr>
            <a:picLocks noChangeAspect="1" noChangeArrowheads="1"/>
          </p:cNvPicPr>
          <p:nvPr>
            <p:custDataLst>
              <p:tags r:id="rId6"/>
            </p:custDataLst>
          </p:nvPr>
        </p:nvPicPr>
        <p:blipFill>
          <a:blip r:embed="rId19"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 name="等腰三角形 14"/>
          <p:cNvSpPr/>
          <p:nvPr>
            <p:custDataLst>
              <p:tags r:id="rId7"/>
            </p:custDataLst>
          </p:nvPr>
        </p:nvSpPr>
        <p:spPr>
          <a:xfrm rot="10800000">
            <a:off x="2622550" y="721360"/>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p:cNvSpPr txBox="1"/>
          <p:nvPr>
            <p:custDataLst>
              <p:tags r:id="rId8"/>
            </p:custDataLst>
          </p:nvPr>
        </p:nvSpPr>
        <p:spPr>
          <a:xfrm>
            <a:off x="482600" y="897255"/>
            <a:ext cx="11079480" cy="398780"/>
          </a:xfrm>
          <a:prstGeom prst="rect">
            <a:avLst/>
          </a:prstGeom>
          <a:noFill/>
        </p:spPr>
        <p:txBody>
          <a:bodyPr wrap="square" rtlCol="0" anchor="t">
            <a:spAutoFit/>
          </a:bodyPr>
          <a:lstStyle/>
          <a:p>
            <a:r>
              <a:rPr lang="zh-CN" altLang="en-US" sz="2000" dirty="0"/>
              <a:t>数字资产市场为区块链提供了新的</a:t>
            </a:r>
            <a:r>
              <a:rPr lang="zh-CN" altLang="en-US" sz="2000" b="1" dirty="0">
                <a:solidFill>
                  <a:srgbClr val="04579A"/>
                </a:solidFill>
              </a:rPr>
              <a:t>应用方向</a:t>
            </a:r>
            <a:r>
              <a:rPr lang="zh-CN" altLang="en-US" sz="2000" dirty="0"/>
              <a:t>，但同时也带来了新的</a:t>
            </a:r>
            <a:r>
              <a:rPr lang="zh-CN" altLang="en-US" sz="2000" b="1" dirty="0">
                <a:solidFill>
                  <a:srgbClr val="04579A"/>
                </a:solidFill>
              </a:rPr>
              <a:t>技术需求</a:t>
            </a:r>
            <a:r>
              <a:rPr lang="zh-CN" altLang="en-US" sz="2000" dirty="0"/>
              <a:t>：</a:t>
            </a:r>
          </a:p>
        </p:txBody>
      </p:sp>
      <p:sp>
        <p:nvSpPr>
          <p:cNvPr id="10" name="文本框 9"/>
          <p:cNvSpPr txBox="1"/>
          <p:nvPr>
            <p:custDataLst>
              <p:tags r:id="rId9"/>
            </p:custDataLst>
          </p:nvPr>
        </p:nvSpPr>
        <p:spPr>
          <a:xfrm>
            <a:off x="758190" y="5840095"/>
            <a:ext cx="10528300" cy="398780"/>
          </a:xfrm>
          <a:prstGeom prst="rect">
            <a:avLst/>
          </a:prstGeom>
          <a:noFill/>
        </p:spPr>
        <p:txBody>
          <a:bodyPr wrap="square" rtlCol="0" anchor="t">
            <a:spAutoFit/>
          </a:bodyPr>
          <a:lstStyle/>
          <a:p>
            <a:pPr algn="ctr"/>
            <a:r>
              <a:rPr lang="zh-CN" altLang="en-US" sz="2000" b="1" dirty="0"/>
              <a:t>要应对新场景下特有的技术挑战，构建安全高效的分布式数字资产交易协议</a:t>
            </a:r>
          </a:p>
        </p:txBody>
      </p:sp>
      <p:sp>
        <p:nvSpPr>
          <p:cNvPr id="7" name="矩形 6"/>
          <p:cNvSpPr/>
          <p:nvPr>
            <p:custDataLst>
              <p:tags r:id="rId10"/>
            </p:custDataLst>
          </p:nvPr>
        </p:nvSpPr>
        <p:spPr>
          <a:xfrm>
            <a:off x="482600" y="4036695"/>
            <a:ext cx="10528300" cy="5721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custDataLst>
              <p:tags r:id="rId11"/>
            </p:custDataLst>
          </p:nvPr>
        </p:nvSpPr>
        <p:spPr>
          <a:xfrm>
            <a:off x="490855" y="2856865"/>
            <a:ext cx="10528300" cy="5721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燕尾形 12"/>
          <p:cNvSpPr/>
          <p:nvPr>
            <p:custDataLst>
              <p:tags r:id="rId12"/>
            </p:custDataLst>
          </p:nvPr>
        </p:nvSpPr>
        <p:spPr>
          <a:xfrm>
            <a:off x="1019175" y="3535045"/>
            <a:ext cx="364490" cy="257810"/>
          </a:xfrm>
          <a:prstGeom prst="chevron">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custDataLst>
              <p:tags r:id="rId13"/>
            </p:custDataLst>
          </p:nvPr>
        </p:nvSpPr>
        <p:spPr>
          <a:xfrm>
            <a:off x="482600" y="1677035"/>
            <a:ext cx="10528300" cy="5721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custDataLst>
              <p:tags r:id="rId14"/>
            </p:custDataLst>
          </p:nvPr>
        </p:nvSpPr>
        <p:spPr>
          <a:xfrm>
            <a:off x="556895" y="1663700"/>
            <a:ext cx="11078845" cy="3999865"/>
          </a:xfrm>
          <a:prstGeom prst="rect">
            <a:avLst/>
          </a:prstGeom>
          <a:noFill/>
        </p:spPr>
        <p:txBody>
          <a:bodyPr wrap="square" rtlCol="0" anchor="t">
            <a:spAutoFit/>
          </a:bodyPr>
          <a:lstStyle/>
          <a:p>
            <a:pPr marL="457200" lvl="0" indent="-457200" fontAlgn="auto">
              <a:lnSpc>
                <a:spcPct val="150000"/>
              </a:lnSpc>
              <a:buFont typeface="Arial" panose="020B0604020202020204" pitchFamily="34" charset="0"/>
              <a:buAutoNum type="arabicPeriod"/>
            </a:pPr>
            <a:r>
              <a:rPr lang="zh-CN" altLang="en-US" sz="2000" dirty="0">
                <a:solidFill>
                  <a:schemeClr val="tx1">
                    <a:lumMod val="85000"/>
                    <a:lumOff val="15000"/>
                  </a:schemeClr>
                </a:solidFill>
                <a:sym typeface="+mn-ea"/>
              </a:rPr>
              <a:t>现实网络环境对分布式数字资产交易协议的安全性和健壮性提出了更高的要求</a:t>
            </a:r>
          </a:p>
          <a:p>
            <a:pPr lvl="1" indent="457200">
              <a:lnSpc>
                <a:spcPct val="150000"/>
              </a:lnSpc>
              <a:spcAft>
                <a:spcPts val="1200"/>
              </a:spcAft>
            </a:pPr>
            <a:r>
              <a:rPr lang="zh-CN" altLang="en-US" sz="2400" b="1" dirty="0">
                <a:solidFill>
                  <a:srgbClr val="04579A"/>
                </a:solidFill>
                <a:sym typeface="+mn-ea"/>
              </a:rPr>
              <a:t>分布式数字资产交易协议需要去除可信假设，建立更强的安全模型</a:t>
            </a:r>
          </a:p>
          <a:p>
            <a:pPr marL="457200" lvl="0" indent="-457200" fontAlgn="auto">
              <a:lnSpc>
                <a:spcPct val="150000"/>
              </a:lnSpc>
              <a:buAutoNum type="arabicPeriod"/>
            </a:pPr>
            <a:r>
              <a:rPr lang="zh-CN" altLang="en-US" sz="2000" dirty="0">
                <a:solidFill>
                  <a:schemeClr val="tx1">
                    <a:lumMod val="85000"/>
                    <a:lumOff val="15000"/>
                  </a:schemeClr>
                </a:solidFill>
                <a:sym typeface="+mn-ea"/>
              </a:rPr>
              <a:t>大规模、高并发的交易场景要求分布式数字资产交易协议具有可扩展性</a:t>
            </a:r>
            <a:endParaRPr lang="zh-CN" altLang="en-US" sz="2000" dirty="0">
              <a:sym typeface="+mn-ea"/>
            </a:endParaRPr>
          </a:p>
          <a:p>
            <a:pPr lvl="1" indent="457200">
              <a:lnSpc>
                <a:spcPct val="150000"/>
              </a:lnSpc>
              <a:spcAft>
                <a:spcPts val="1200"/>
              </a:spcAft>
            </a:pPr>
            <a:r>
              <a:rPr lang="zh-CN" altLang="en-US" sz="2400" b="1" dirty="0">
                <a:solidFill>
                  <a:srgbClr val="04579A"/>
                </a:solidFill>
                <a:sym typeface="+mn-ea"/>
              </a:rPr>
              <a:t>分布式数字资产交易协议需要高性能的链下方案构造</a:t>
            </a:r>
          </a:p>
          <a:p>
            <a:pPr marL="457200" lvl="0" indent="-457200" fontAlgn="auto">
              <a:lnSpc>
                <a:spcPct val="150000"/>
              </a:lnSpc>
              <a:buAutoNum type="arabicPeriod"/>
            </a:pPr>
            <a:r>
              <a:rPr lang="zh-CN" altLang="en-US" sz="2000" dirty="0">
                <a:sym typeface="+mn-ea"/>
              </a:rPr>
              <a:t>异构区块链系统间的互联互通要求分布式数字资产交易协议具有互操作性</a:t>
            </a:r>
          </a:p>
          <a:p>
            <a:pPr lvl="1" indent="457200">
              <a:lnSpc>
                <a:spcPct val="150000"/>
              </a:lnSpc>
            </a:pPr>
            <a:r>
              <a:rPr lang="zh-CN" altLang="en-US" sz="2400" b="1" dirty="0">
                <a:solidFill>
                  <a:srgbClr val="04579A"/>
                </a:solidFill>
                <a:sym typeface="+mn-ea"/>
              </a:rPr>
              <a:t>分布式数字资产交易协议需要高效的跨链证明协议</a:t>
            </a:r>
          </a:p>
          <a:p>
            <a:pPr lvl="1" indent="457200">
              <a:lnSpc>
                <a:spcPct val="150000"/>
              </a:lnSpc>
            </a:pPr>
            <a:endParaRPr lang="zh-CN" altLang="en-US" sz="2400" b="1" dirty="0">
              <a:solidFill>
                <a:schemeClr val="bg1">
                  <a:lumMod val="95000"/>
                </a:schemeClr>
              </a:solidFill>
              <a:sym typeface="+mn-ea"/>
            </a:endParaRPr>
          </a:p>
        </p:txBody>
      </p:sp>
      <p:sp>
        <p:nvSpPr>
          <p:cNvPr id="18" name="燕尾形 17"/>
          <p:cNvSpPr/>
          <p:nvPr>
            <p:custDataLst>
              <p:tags r:id="rId15"/>
            </p:custDataLst>
          </p:nvPr>
        </p:nvSpPr>
        <p:spPr>
          <a:xfrm>
            <a:off x="1019175" y="2339975"/>
            <a:ext cx="364490" cy="257810"/>
          </a:xfrm>
          <a:prstGeom prst="chevron">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燕尾形 21"/>
          <p:cNvSpPr/>
          <p:nvPr>
            <p:custDataLst>
              <p:tags r:id="rId16"/>
            </p:custDataLst>
          </p:nvPr>
        </p:nvSpPr>
        <p:spPr>
          <a:xfrm>
            <a:off x="1019175" y="4667250"/>
            <a:ext cx="364490" cy="257810"/>
          </a:xfrm>
          <a:prstGeom prst="chevron">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930A7DED-9363-1C49-CF4D-9EEBCB9BF4F1}"/>
              </a:ext>
            </a:extLst>
          </p:cNvPr>
          <p:cNvSpPr txBox="1"/>
          <p:nvPr/>
        </p:nvSpPr>
        <p:spPr>
          <a:xfrm>
            <a:off x="11736779" y="6499761"/>
            <a:ext cx="455221" cy="369332"/>
          </a:xfrm>
          <a:prstGeom prst="rect">
            <a:avLst/>
          </a:prstGeom>
          <a:noFill/>
        </p:spPr>
        <p:txBody>
          <a:bodyPr wrap="square" rtlCol="0">
            <a:spAutoFit/>
          </a:bodyPr>
          <a:lstStyle/>
          <a:p>
            <a:pPr algn="ctr"/>
            <a:r>
              <a:rPr lang="en-US" altLang="zh-CN" dirty="0"/>
              <a:t>13</a:t>
            </a:r>
            <a:endParaRPr lang="zh-CN" altLang="en-US" dirty="0"/>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6" name="文本框 5"/>
          <p:cNvSpPr txBox="1"/>
          <p:nvPr/>
        </p:nvSpPr>
        <p:spPr>
          <a:xfrm>
            <a:off x="207010" y="1528445"/>
            <a:ext cx="11078845" cy="3736279"/>
          </a:xfrm>
          <a:prstGeom prst="rect">
            <a:avLst/>
          </a:prstGeom>
          <a:noFill/>
        </p:spPr>
        <p:txBody>
          <a:bodyPr wrap="square" rtlCol="0" anchor="t">
            <a:spAutoFit/>
          </a:bodyPr>
          <a:lstStyle/>
          <a:p>
            <a:pPr marL="457200" lvl="0" indent="-457200" fontAlgn="auto">
              <a:lnSpc>
                <a:spcPct val="150000"/>
              </a:lnSpc>
              <a:buFont typeface="Arial" panose="020B0604020202020204" pitchFamily="34" charset="0"/>
              <a:buAutoNum type="arabicPeriod"/>
            </a:pPr>
            <a:r>
              <a:rPr lang="zh-CN" altLang="en-US" sz="1600" dirty="0">
                <a:solidFill>
                  <a:schemeClr val="bg1"/>
                </a:solidFill>
                <a:sym typeface="+mn-ea"/>
              </a:rPr>
              <a:t>广域网环境中延迟、丢包以及窃听等攻击对共识协议的健壮性提出了更高的要求</a:t>
            </a:r>
          </a:p>
          <a:p>
            <a:pPr marL="457200" lvl="1" indent="457200" fontAlgn="auto">
              <a:spcAft>
                <a:spcPts val="1200"/>
              </a:spcAft>
              <a:buNone/>
            </a:pPr>
            <a:r>
              <a:rPr lang="zh-CN" altLang="en-US" b="1" dirty="0">
                <a:solidFill>
                  <a:srgbClr val="04579A"/>
                </a:solidFill>
                <a:sym typeface="+mn-ea"/>
              </a:rPr>
              <a:t>分布式数字资产交易协议需要去除可信假设，</a:t>
            </a:r>
            <a:endParaRPr lang="en-US" altLang="zh-CN" b="1" dirty="0">
              <a:solidFill>
                <a:srgbClr val="04579A"/>
              </a:solidFill>
              <a:sym typeface="+mn-ea"/>
            </a:endParaRPr>
          </a:p>
          <a:p>
            <a:pPr marL="457200" lvl="1" indent="457200" fontAlgn="auto">
              <a:spcAft>
                <a:spcPts val="1200"/>
              </a:spcAft>
              <a:buNone/>
            </a:pPr>
            <a:r>
              <a:rPr lang="zh-CN" altLang="en-US" b="1" dirty="0">
                <a:solidFill>
                  <a:srgbClr val="04579A"/>
                </a:solidFill>
                <a:sym typeface="+mn-ea"/>
              </a:rPr>
              <a:t>建立更强的安全模型</a:t>
            </a:r>
            <a:r>
              <a:rPr lang="zh-CN" altLang="en-US" sz="1600" dirty="0">
                <a:solidFill>
                  <a:schemeClr val="bg1"/>
                </a:solidFill>
                <a:sym typeface="+mn-ea"/>
              </a:rPr>
              <a:t>有</a:t>
            </a:r>
            <a:endParaRPr lang="en-US" altLang="zh-CN" sz="1600" dirty="0">
              <a:solidFill>
                <a:schemeClr val="bg1"/>
              </a:solidFill>
              <a:sym typeface="+mn-ea"/>
            </a:endParaRPr>
          </a:p>
          <a:p>
            <a:pPr marL="457200" lvl="1" indent="457200" fontAlgn="auto">
              <a:spcAft>
                <a:spcPts val="1200"/>
              </a:spcAft>
              <a:buNone/>
            </a:pPr>
            <a:r>
              <a:rPr lang="zh-CN" altLang="en-US" sz="1600" dirty="0">
                <a:solidFill>
                  <a:schemeClr val="bg1"/>
                </a:solidFill>
                <a:sym typeface="+mn-ea"/>
              </a:rPr>
              <a:t>长期部署的需要</a:t>
            </a:r>
          </a:p>
          <a:p>
            <a:pPr marL="457200" lvl="1" indent="457200" fontAlgn="auto">
              <a:spcAft>
                <a:spcPts val="1200"/>
              </a:spcAft>
              <a:buNone/>
            </a:pPr>
            <a:r>
              <a:rPr lang="zh-CN" altLang="en-US" b="1" dirty="0">
                <a:solidFill>
                  <a:srgbClr val="04579A"/>
                </a:solidFill>
                <a:sym typeface="+mn-ea"/>
              </a:rPr>
              <a:t>分布式数字资产交易协议需要高性能的链下</a:t>
            </a:r>
            <a:endParaRPr lang="en-US" altLang="zh-CN" b="1" dirty="0">
              <a:solidFill>
                <a:srgbClr val="04579A"/>
              </a:solidFill>
              <a:sym typeface="+mn-ea"/>
            </a:endParaRPr>
          </a:p>
          <a:p>
            <a:pPr marL="457200" lvl="1" indent="457200" fontAlgn="auto">
              <a:spcAft>
                <a:spcPts val="1200"/>
              </a:spcAft>
              <a:buNone/>
            </a:pPr>
            <a:r>
              <a:rPr lang="zh-CN" altLang="en-US" b="1" dirty="0">
                <a:solidFill>
                  <a:srgbClr val="04579A"/>
                </a:solidFill>
                <a:sym typeface="+mn-ea"/>
              </a:rPr>
              <a:t>方案构造</a:t>
            </a:r>
            <a:endParaRPr lang="en-US" altLang="zh-CN" b="1" dirty="0">
              <a:solidFill>
                <a:srgbClr val="04579A"/>
              </a:solidFill>
              <a:sym typeface="+mn-ea"/>
            </a:endParaRPr>
          </a:p>
          <a:p>
            <a:pPr marL="457200" lvl="1" indent="457200" fontAlgn="auto">
              <a:spcAft>
                <a:spcPts val="1200"/>
              </a:spcAft>
              <a:buNone/>
            </a:pPr>
            <a:r>
              <a:rPr lang="zh-CN" altLang="en-US" sz="100" dirty="0">
                <a:solidFill>
                  <a:schemeClr val="bg1"/>
                </a:solidFill>
                <a:sym typeface="+mn-ea"/>
              </a:rPr>
              <a:t>三方设置的门限密码系统减弱了区块链</a:t>
            </a:r>
            <a:r>
              <a:rPr lang="zh-CN" altLang="en-US" sz="600" dirty="0">
                <a:solidFill>
                  <a:schemeClr val="bg1"/>
                </a:solidFill>
                <a:sym typeface="+mn-ea"/>
              </a:rPr>
              <a:t>系统去中心化的特性</a:t>
            </a:r>
          </a:p>
          <a:p>
            <a:pPr marL="457200" lvl="1" indent="457200" fontAlgn="auto">
              <a:lnSpc>
                <a:spcPct val="150000"/>
              </a:lnSpc>
              <a:buNone/>
            </a:pPr>
            <a:r>
              <a:rPr lang="zh-CN" altLang="en-US" b="1" dirty="0">
                <a:solidFill>
                  <a:srgbClr val="04579A"/>
                </a:solidFill>
                <a:sym typeface="+mn-ea"/>
              </a:rPr>
              <a:t>分布式数字资产交易协议需要高效的跨链证</a:t>
            </a:r>
            <a:endParaRPr lang="en-US" altLang="zh-CN" b="1" dirty="0">
              <a:solidFill>
                <a:srgbClr val="04579A"/>
              </a:solidFill>
              <a:sym typeface="+mn-ea"/>
            </a:endParaRPr>
          </a:p>
          <a:p>
            <a:pPr marL="457200" lvl="1" indent="457200" fontAlgn="auto">
              <a:lnSpc>
                <a:spcPct val="150000"/>
              </a:lnSpc>
              <a:buNone/>
            </a:pPr>
            <a:r>
              <a:rPr lang="zh-CN" altLang="en-US" b="1" dirty="0">
                <a:solidFill>
                  <a:srgbClr val="04579A"/>
                </a:solidFill>
                <a:sym typeface="+mn-ea"/>
              </a:rPr>
              <a:t>明协议</a:t>
            </a:r>
          </a:p>
        </p:txBody>
      </p:sp>
      <p:sp>
        <p:nvSpPr>
          <p:cNvPr id="18" name="矩形 17"/>
          <p:cNvSpPr/>
          <p:nvPr>
            <p:custDataLst>
              <p:tags r:id="rId2"/>
            </p:custDataLst>
          </p:nvPr>
        </p:nvSpPr>
        <p:spPr>
          <a:xfrm>
            <a:off x="3871595" y="-635"/>
            <a:ext cx="19907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custDataLst>
              <p:tags r:id="rId3"/>
            </p:custDataLst>
          </p:nvPr>
        </p:nvSpPr>
        <p:spPr>
          <a:xfrm>
            <a:off x="3871595" y="-635"/>
            <a:ext cx="1990725"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custDataLst>
              <p:tags r:id="rId4"/>
            </p:custDataLst>
          </p:nvPr>
        </p:nvSpPr>
        <p:spPr>
          <a:xfrm>
            <a:off x="5862320" y="-635"/>
            <a:ext cx="311594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664970" y="-635"/>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5"/>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p>
        </p:txBody>
      </p:sp>
      <p:pic>
        <p:nvPicPr>
          <p:cNvPr id="21" name="Picture 2" descr="C:\Program Files\Apache Software Foundation\Tomcat 6.0\webapps\topo1\images\sklois1 (2).jpg"/>
          <p:cNvPicPr>
            <a:picLocks noChangeAspect="1" noChangeArrowheads="1"/>
          </p:cNvPicPr>
          <p:nvPr>
            <p:custDataLst>
              <p:tags r:id="rId6"/>
            </p:custDataLst>
          </p:nvPr>
        </p:nvPicPr>
        <p:blipFill>
          <a:blip r:embed="rId14"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 name="等腰三角形 14"/>
          <p:cNvSpPr/>
          <p:nvPr>
            <p:custDataLst>
              <p:tags r:id="rId7"/>
            </p:custDataLst>
          </p:nvPr>
        </p:nvSpPr>
        <p:spPr>
          <a:xfrm rot="10800000">
            <a:off x="4591050" y="721360"/>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燕尾形 13"/>
          <p:cNvSpPr/>
          <p:nvPr>
            <p:custDataLst>
              <p:tags r:id="rId8"/>
            </p:custDataLst>
          </p:nvPr>
        </p:nvSpPr>
        <p:spPr>
          <a:xfrm>
            <a:off x="741680" y="2134870"/>
            <a:ext cx="288925" cy="204470"/>
          </a:xfrm>
          <a:prstGeom prst="chevron">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燕尾形 18"/>
          <p:cNvSpPr/>
          <p:nvPr>
            <p:custDataLst>
              <p:tags r:id="rId9"/>
            </p:custDataLst>
          </p:nvPr>
        </p:nvSpPr>
        <p:spPr>
          <a:xfrm>
            <a:off x="741362" y="3365262"/>
            <a:ext cx="288925" cy="204470"/>
          </a:xfrm>
          <a:prstGeom prst="chevron">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燕尾形 22"/>
          <p:cNvSpPr/>
          <p:nvPr>
            <p:custDataLst>
              <p:tags r:id="rId10"/>
            </p:custDataLst>
          </p:nvPr>
        </p:nvSpPr>
        <p:spPr>
          <a:xfrm>
            <a:off x="741361" y="4529045"/>
            <a:ext cx="288925" cy="204470"/>
          </a:xfrm>
          <a:prstGeom prst="chevron">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6944359" y="1820765"/>
            <a:ext cx="4178861" cy="830997"/>
          </a:xfrm>
          <a:prstGeom prst="rect">
            <a:avLst/>
          </a:prstGeom>
          <a:noFill/>
        </p:spPr>
        <p:txBody>
          <a:bodyPr wrap="square" rtlCol="0">
            <a:spAutoFit/>
          </a:bodyPr>
          <a:lstStyle/>
          <a:p>
            <a:r>
              <a:rPr lang="en-US" altLang="zh-CN" sz="2800" b="1" dirty="0">
                <a:solidFill>
                  <a:schemeClr val="tx1">
                    <a:lumMod val="85000"/>
                    <a:lumOff val="15000"/>
                  </a:schemeClr>
                </a:solidFill>
              </a:rPr>
              <a:t>1. </a:t>
            </a:r>
            <a:r>
              <a:rPr lang="zh-CN" altLang="en-US"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恶意场景下分布式数字资产交易安全性</a:t>
            </a:r>
          </a:p>
        </p:txBody>
      </p:sp>
      <p:sp>
        <p:nvSpPr>
          <p:cNvPr id="13" name="文本框 12"/>
          <p:cNvSpPr txBox="1"/>
          <p:nvPr/>
        </p:nvSpPr>
        <p:spPr>
          <a:xfrm>
            <a:off x="6994525" y="3140759"/>
            <a:ext cx="4178861" cy="523220"/>
          </a:xfrm>
          <a:prstGeom prst="rect">
            <a:avLst/>
          </a:prstGeom>
          <a:noFill/>
        </p:spPr>
        <p:txBody>
          <a:bodyPr wrap="square" rtlCol="0">
            <a:spAutoFit/>
          </a:bodyPr>
          <a:lstStyle/>
          <a:p>
            <a:r>
              <a:rPr lang="en-US" altLang="zh-CN" sz="2800" b="1" dirty="0">
                <a:solidFill>
                  <a:schemeClr val="tx1">
                    <a:lumMod val="85000"/>
                    <a:lumOff val="15000"/>
                  </a:schemeClr>
                </a:solidFill>
              </a:rPr>
              <a:t>2. </a:t>
            </a:r>
            <a:r>
              <a:rPr lang="zh-CN" altLang="en-US"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链下数字资产交易方案性能</a:t>
            </a:r>
          </a:p>
        </p:txBody>
      </p:sp>
      <p:sp>
        <p:nvSpPr>
          <p:cNvPr id="17" name="文本框 16"/>
          <p:cNvSpPr txBox="1"/>
          <p:nvPr/>
        </p:nvSpPr>
        <p:spPr>
          <a:xfrm>
            <a:off x="6994525" y="4327256"/>
            <a:ext cx="4456114" cy="523220"/>
          </a:xfrm>
          <a:prstGeom prst="rect">
            <a:avLst/>
          </a:prstGeom>
          <a:noFill/>
        </p:spPr>
        <p:txBody>
          <a:bodyPr wrap="square" rtlCol="0">
            <a:spAutoFit/>
          </a:bodyPr>
          <a:lstStyle/>
          <a:p>
            <a:r>
              <a:rPr lang="en-US" altLang="zh-CN" sz="2800" b="1" dirty="0">
                <a:solidFill>
                  <a:schemeClr val="tx1">
                    <a:lumMod val="85000"/>
                    <a:lumOff val="15000"/>
                  </a:schemeClr>
                </a:solidFill>
              </a:rPr>
              <a:t>3. </a:t>
            </a:r>
            <a:r>
              <a:rPr lang="zh-CN" altLang="en-US" sz="2000" b="1" dirty="0">
                <a:solidFill>
                  <a:schemeClr val="tx1">
                    <a:lumMod val="85000"/>
                    <a:lumOff val="15000"/>
                  </a:schemeClr>
                </a:solidFill>
              </a:rPr>
              <a:t>跨链</a:t>
            </a:r>
            <a:r>
              <a:rPr lang="zh-CN" altLang="en-US"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数字资产交易协议证明机制</a:t>
            </a:r>
            <a:endParaRPr lang="zh-CN" altLang="en-US" sz="2000" b="1" dirty="0">
              <a:solidFill>
                <a:schemeClr val="tx1">
                  <a:lumMod val="85000"/>
                  <a:lumOff val="15000"/>
                </a:schemeClr>
              </a:solidFill>
            </a:endParaRPr>
          </a:p>
        </p:txBody>
      </p:sp>
      <p:sp>
        <p:nvSpPr>
          <p:cNvPr id="22" name="虚尾箭头 21"/>
          <p:cNvSpPr/>
          <p:nvPr/>
        </p:nvSpPr>
        <p:spPr>
          <a:xfrm>
            <a:off x="6249034" y="2006282"/>
            <a:ext cx="309245" cy="461645"/>
          </a:xfrm>
          <a:prstGeom prst="stripedRightArrow">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虚尾箭头 23"/>
          <p:cNvSpPr/>
          <p:nvPr/>
        </p:nvSpPr>
        <p:spPr>
          <a:xfrm>
            <a:off x="6249034" y="3202940"/>
            <a:ext cx="309245" cy="461645"/>
          </a:xfrm>
          <a:prstGeom prst="stripedRightArrow">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虚尾箭头 24"/>
          <p:cNvSpPr/>
          <p:nvPr/>
        </p:nvSpPr>
        <p:spPr>
          <a:xfrm>
            <a:off x="6275643" y="4400457"/>
            <a:ext cx="309245" cy="461645"/>
          </a:xfrm>
          <a:prstGeom prst="stripedRightArrow">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custDataLst>
              <p:tags r:id="rId11"/>
            </p:custDataLst>
          </p:nvPr>
        </p:nvSpPr>
        <p:spPr>
          <a:xfrm>
            <a:off x="758190" y="5840095"/>
            <a:ext cx="10528300" cy="398780"/>
          </a:xfrm>
          <a:prstGeom prst="rect">
            <a:avLst/>
          </a:prstGeom>
          <a:noFill/>
        </p:spPr>
        <p:txBody>
          <a:bodyPr wrap="square" rtlCol="0" anchor="t">
            <a:spAutoFit/>
          </a:bodyPr>
          <a:lstStyle/>
          <a:p>
            <a:pPr algn="ctr"/>
            <a:r>
              <a:rPr lang="zh-CN" altLang="en-US" sz="2000" b="1" dirty="0"/>
              <a:t>要应对新场景下特有的技术挑战，构建安全高效的分布式数字资产交易协议</a:t>
            </a:r>
          </a:p>
        </p:txBody>
      </p:sp>
      <p:sp>
        <p:nvSpPr>
          <p:cNvPr id="7" name="文本框 6">
            <a:extLst>
              <a:ext uri="{FF2B5EF4-FFF2-40B4-BE49-F238E27FC236}">
                <a16:creationId xmlns:a16="http://schemas.microsoft.com/office/drawing/2014/main" id="{BBDA2109-64A5-D04C-03DC-2DB660D4DEEB}"/>
              </a:ext>
            </a:extLst>
          </p:cNvPr>
          <p:cNvSpPr txBox="1"/>
          <p:nvPr/>
        </p:nvSpPr>
        <p:spPr>
          <a:xfrm>
            <a:off x="11736779" y="6499761"/>
            <a:ext cx="455221" cy="369332"/>
          </a:xfrm>
          <a:prstGeom prst="rect">
            <a:avLst/>
          </a:prstGeom>
          <a:noFill/>
        </p:spPr>
        <p:txBody>
          <a:bodyPr wrap="square" rtlCol="0">
            <a:spAutoFit/>
          </a:bodyPr>
          <a:lstStyle/>
          <a:p>
            <a:pPr algn="ctr"/>
            <a:r>
              <a:rPr lang="en-US" altLang="zh-CN" dirty="0"/>
              <a:t>14</a:t>
            </a:r>
            <a:endParaRPr lang="zh-CN" altLang="en-US" dirty="0"/>
          </a:p>
        </p:txBody>
      </p:sp>
    </p:spTree>
    <p:custDataLst>
      <p:tags r:id="rId1"/>
    </p:custData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wipe(left)">
                                      <p:cBhvr>
                                        <p:cTn id="10" dur="500"/>
                                        <p:tgtEl>
                                          <p:spTgt spid="2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wipe(left)">
                                      <p:cBhvr>
                                        <p:cTn id="13" dur="500"/>
                                        <p:tgtEl>
                                          <p:spTgt spid="25"/>
                                        </p:tgtEl>
                                      </p:cBhvr>
                                    </p:animEffec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7" grpId="0"/>
      <p:bldP spid="22" grpId="0" animBg="1"/>
      <p:bldP spid="24" grpId="0" bldLvl="0" animBg="1"/>
      <p:bldP spid="2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grpSp>
        <p:nvGrpSpPr>
          <p:cNvPr id="27" name="组合 26"/>
          <p:cNvGrpSpPr/>
          <p:nvPr/>
        </p:nvGrpSpPr>
        <p:grpSpPr>
          <a:xfrm>
            <a:off x="408305" y="-635"/>
            <a:ext cx="11783060" cy="950595"/>
            <a:chOff x="643" y="-1"/>
            <a:chExt cx="18556" cy="1497"/>
          </a:xfrm>
        </p:grpSpPr>
        <p:sp>
          <p:nvSpPr>
            <p:cNvPr id="18" name="矩形 17"/>
            <p:cNvSpPr/>
            <p:nvPr>
              <p:custDataLst>
                <p:tags r:id="rId10"/>
              </p:custDataLst>
            </p:nvPr>
          </p:nvSpPr>
          <p:spPr>
            <a:xfrm>
              <a:off x="6097" y="-1"/>
              <a:ext cx="3135" cy="1137"/>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custDataLst>
                <p:tags r:id="rId11"/>
              </p:custDataLst>
            </p:nvPr>
          </p:nvSpPr>
          <p:spPr>
            <a:xfrm>
              <a:off x="6097" y="-1"/>
              <a:ext cx="3135" cy="1137"/>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custDataLst>
                <p:tags r:id="rId12"/>
              </p:custDataLst>
            </p:nvPr>
          </p:nvSpPr>
          <p:spPr>
            <a:xfrm>
              <a:off x="9232" y="-1"/>
              <a:ext cx="4907" cy="11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4139" y="0"/>
              <a:ext cx="5061" cy="11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2622" y="-1"/>
              <a:ext cx="3475" cy="1137"/>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13"/>
              </p:custDataLst>
            </p:nvPr>
          </p:nvSpPr>
          <p:spPr>
            <a:xfrm>
              <a:off x="2868" y="254"/>
              <a:ext cx="15855" cy="58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p>
          </p:txBody>
        </p:sp>
        <p:pic>
          <p:nvPicPr>
            <p:cNvPr id="21" name="Picture 2" descr="C:\Program Files\Apache Software Foundation\Tomcat 6.0\webapps\topo1\images\sklois1 (2).jpg"/>
            <p:cNvPicPr>
              <a:picLocks noChangeAspect="1" noChangeArrowheads="1"/>
            </p:cNvPicPr>
            <p:nvPr>
              <p:custDataLst>
                <p:tags r:id="rId14"/>
              </p:custDataLst>
            </p:nvPr>
          </p:nvPicPr>
          <p:blipFill>
            <a:blip r:embed="rId18" cstate="print">
              <a:extLst>
                <a:ext uri="{28A0092B-C50C-407E-A947-70E740481C1C}">
                  <a14:useLocalDpi xmlns:a14="http://schemas.microsoft.com/office/drawing/2010/main" val="0"/>
                </a:ext>
              </a:extLst>
            </a:blip>
            <a:srcRect l="5061" r="29001"/>
            <a:stretch>
              <a:fillRect/>
            </a:stretch>
          </p:blipFill>
          <p:spPr bwMode="auto">
            <a:xfrm>
              <a:off x="643" y="166"/>
              <a:ext cx="1504" cy="8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 name="等腰三角形 14"/>
            <p:cNvSpPr/>
            <p:nvPr>
              <p:custDataLst>
                <p:tags r:id="rId15"/>
              </p:custDataLst>
            </p:nvPr>
          </p:nvSpPr>
          <p:spPr>
            <a:xfrm rot="10800000">
              <a:off x="7230" y="1136"/>
              <a:ext cx="460" cy="36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4" name="文本框 23"/>
          <p:cNvSpPr txBox="1"/>
          <p:nvPr>
            <p:custDataLst>
              <p:tags r:id="rId2"/>
            </p:custDataLst>
          </p:nvPr>
        </p:nvSpPr>
        <p:spPr>
          <a:xfrm>
            <a:off x="408305" y="949960"/>
            <a:ext cx="7706500" cy="738664"/>
          </a:xfrm>
          <a:prstGeom prst="rect">
            <a:avLst/>
          </a:prstGeom>
          <a:noFill/>
        </p:spPr>
        <p:txBody>
          <a:bodyPr wrap="square" rtlCol="0">
            <a:spAutoFit/>
          </a:bodyPr>
          <a:lstStyle/>
          <a:p>
            <a:pPr marL="457200" indent="-457200" algn="l">
              <a:buClrTx/>
              <a:buSzTx/>
              <a:buFont typeface="+mj-lt"/>
              <a:buAutoNum type="arabicPeriod"/>
            </a:pPr>
            <a:r>
              <a:rPr lang="zh-CN" altLang="en-US"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恶意场景下分布式数字资产交易安全性</a:t>
            </a:r>
            <a:endParaRPr lang="zh-CN" altLang="en-US"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algn="l">
              <a:buClrTx/>
              <a:buSzTx/>
              <a:buFontTx/>
            </a:pPr>
            <a:r>
              <a:rPr lang="en-US" altLang="zh-CN" sz="1800" b="1"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      </a:t>
            </a:r>
            <a:r>
              <a:rPr lang="en-US" altLang="zh-CN" sz="1800" b="1" dirty="0" err="1">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设计难点</a:t>
            </a:r>
            <a:endParaRPr lang="en-US" altLang="zh-CN" sz="1800" b="1"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endParaRPr>
          </a:p>
        </p:txBody>
      </p:sp>
      <p:pic>
        <p:nvPicPr>
          <p:cNvPr id="6" name="图片 5" descr="smiling-face-with-horns_1f608"/>
          <p:cNvPicPr>
            <a:picLocks noChangeAspect="1"/>
          </p:cNvPicPr>
          <p:nvPr/>
        </p:nvPicPr>
        <p:blipFill>
          <a:blip r:embed="rId19"/>
          <a:stretch>
            <a:fillRect/>
          </a:stretch>
        </p:blipFill>
        <p:spPr>
          <a:xfrm>
            <a:off x="1489710" y="1985010"/>
            <a:ext cx="453390" cy="453390"/>
          </a:xfrm>
          <a:prstGeom prst="rect">
            <a:avLst/>
          </a:prstGeom>
        </p:spPr>
      </p:pic>
      <p:pic>
        <p:nvPicPr>
          <p:cNvPr id="7" name="图片 6" descr="src=http___pic.qiantucdn.com_58pic_28_67_85_01N58PICzK58PICMgcJf4frSf_PIC2018.jpg!_fw_1024_watermark_url_L2ltYWdlcy93YXRlcm1hcmsvZGF0dS5wbmc=_repeat_true_crop_0x1009a0a1009&amp;refer=http___pic.qiantucdn"/>
          <p:cNvPicPr>
            <a:picLocks noChangeAspect="1"/>
          </p:cNvPicPr>
          <p:nvPr/>
        </p:nvPicPr>
        <p:blipFill>
          <a:blip r:embed="rId20">
            <a:clrChange>
              <a:clrFrom>
                <a:srgbClr val="F5F1EE">
                  <a:alpha val="100000"/>
                </a:srgbClr>
              </a:clrFrom>
              <a:clrTo>
                <a:srgbClr val="F5F1EE">
                  <a:alpha val="100000"/>
                  <a:alpha val="0"/>
                </a:srgbClr>
              </a:clrTo>
            </a:clrChange>
          </a:blip>
          <a:srcRect l="14588" t="10798" r="60610" b="21085"/>
          <a:stretch>
            <a:fillRect/>
          </a:stretch>
        </p:blipFill>
        <p:spPr>
          <a:xfrm>
            <a:off x="770255" y="2981960"/>
            <a:ext cx="593725" cy="648335"/>
          </a:xfrm>
          <a:prstGeom prst="rect">
            <a:avLst/>
          </a:prstGeom>
        </p:spPr>
      </p:pic>
      <p:pic>
        <p:nvPicPr>
          <p:cNvPr id="10" name="图片 9" descr="src=http___pic.qiantucdn.com_58pic_28_67_85_01N58PICzK58PICMgcJf4frSf_PIC2018.jpg!_fw_1024_watermark_url_L2ltYWdlcy93YXRlcm1hcmsvZGF0dS5wbmc=_repeat_true_crop_0x1009a0a1009&amp;refer=http___pic.qiantucdn"/>
          <p:cNvPicPr>
            <a:picLocks noChangeAspect="1"/>
          </p:cNvPicPr>
          <p:nvPr>
            <p:custDataLst>
              <p:tags r:id="rId3"/>
            </p:custDataLst>
          </p:nvPr>
        </p:nvPicPr>
        <p:blipFill>
          <a:blip r:embed="rId20">
            <a:clrChange>
              <a:clrFrom>
                <a:srgbClr val="F5F1EE">
                  <a:alpha val="100000"/>
                </a:srgbClr>
              </a:clrFrom>
              <a:clrTo>
                <a:srgbClr val="F5F1EE">
                  <a:alpha val="100000"/>
                  <a:alpha val="0"/>
                </a:srgbClr>
              </a:clrTo>
            </a:clrChange>
          </a:blip>
          <a:srcRect l="14588" t="10798" r="60610" b="21085"/>
          <a:stretch>
            <a:fillRect/>
          </a:stretch>
        </p:blipFill>
        <p:spPr>
          <a:xfrm>
            <a:off x="2108200" y="2981960"/>
            <a:ext cx="593725" cy="648335"/>
          </a:xfrm>
          <a:prstGeom prst="rect">
            <a:avLst/>
          </a:prstGeom>
        </p:spPr>
      </p:pic>
      <p:pic>
        <p:nvPicPr>
          <p:cNvPr id="17" name="图片 16" descr="src=http___pic.qiantucdn.com_58pic_28_67_85_01N58PICzK58PICMgcJf4frSf_PIC2018.jpg!_fw_1024_watermark_url_L2ltYWdlcy93YXRlcm1hcmsvZGF0dS5wbmc=_repeat_true_crop_0x1009a0a1009&amp;refer=http___pic.qiantucdn"/>
          <p:cNvPicPr>
            <a:picLocks noChangeAspect="1"/>
          </p:cNvPicPr>
          <p:nvPr>
            <p:custDataLst>
              <p:tags r:id="rId4"/>
            </p:custDataLst>
          </p:nvPr>
        </p:nvPicPr>
        <p:blipFill>
          <a:blip r:embed="rId20">
            <a:clrChange>
              <a:clrFrom>
                <a:srgbClr val="F5F1EE">
                  <a:alpha val="100000"/>
                </a:srgbClr>
              </a:clrFrom>
              <a:clrTo>
                <a:srgbClr val="F5F1EE">
                  <a:alpha val="100000"/>
                  <a:alpha val="0"/>
                </a:srgbClr>
              </a:clrTo>
            </a:clrChange>
          </a:blip>
          <a:srcRect l="14588" t="10798" r="60610" b="21085"/>
          <a:stretch>
            <a:fillRect/>
          </a:stretch>
        </p:blipFill>
        <p:spPr>
          <a:xfrm>
            <a:off x="3931285" y="2962910"/>
            <a:ext cx="593725" cy="648335"/>
          </a:xfrm>
          <a:prstGeom prst="rect">
            <a:avLst/>
          </a:prstGeom>
        </p:spPr>
      </p:pic>
      <p:pic>
        <p:nvPicPr>
          <p:cNvPr id="19" name="图片 18" descr="src=http___pic.qiantucdn.com_58pic_28_67_85_01N58PICzK58PICMgcJf4frSf_PIC2018.jpg!_fw_1024_watermark_url_L2ltYWdlcy93YXRlcm1hcmsvZGF0dS5wbmc=_repeat_true_crop_0x1009a0a1009&amp;refer=http___pic.qiantucdn"/>
          <p:cNvPicPr>
            <a:picLocks noChangeAspect="1"/>
          </p:cNvPicPr>
          <p:nvPr>
            <p:custDataLst>
              <p:tags r:id="rId5"/>
            </p:custDataLst>
          </p:nvPr>
        </p:nvPicPr>
        <p:blipFill>
          <a:blip r:embed="rId20">
            <a:clrChange>
              <a:clrFrom>
                <a:srgbClr val="F5F1EE">
                  <a:alpha val="100000"/>
                </a:srgbClr>
              </a:clrFrom>
              <a:clrTo>
                <a:srgbClr val="F5F1EE">
                  <a:alpha val="100000"/>
                  <a:alpha val="0"/>
                </a:srgbClr>
              </a:clrTo>
            </a:clrChange>
          </a:blip>
          <a:srcRect l="14588" t="10798" r="60610" b="21085"/>
          <a:stretch>
            <a:fillRect/>
          </a:stretch>
        </p:blipFill>
        <p:spPr>
          <a:xfrm>
            <a:off x="5269230" y="2962910"/>
            <a:ext cx="593725" cy="648335"/>
          </a:xfrm>
          <a:prstGeom prst="rect">
            <a:avLst/>
          </a:prstGeom>
        </p:spPr>
      </p:pic>
      <p:cxnSp>
        <p:nvCxnSpPr>
          <p:cNvPr id="25" name="直接箭头连接符 24"/>
          <p:cNvCxnSpPr/>
          <p:nvPr/>
        </p:nvCxnSpPr>
        <p:spPr>
          <a:xfrm flipH="1">
            <a:off x="4408805" y="2531745"/>
            <a:ext cx="182880" cy="295275"/>
          </a:xfrm>
          <a:prstGeom prst="straightConnector1">
            <a:avLst/>
          </a:prstGeom>
          <a:ln>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custDataLst>
              <p:tags r:id="rId6"/>
            </p:custDataLst>
          </p:nvPr>
        </p:nvCxnSpPr>
        <p:spPr>
          <a:xfrm>
            <a:off x="5147310" y="2511425"/>
            <a:ext cx="179070" cy="313055"/>
          </a:xfrm>
          <a:prstGeom prst="straightConnector1">
            <a:avLst/>
          </a:prstGeom>
          <a:ln>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34" name="圆角矩形 33"/>
          <p:cNvSpPr/>
          <p:nvPr/>
        </p:nvSpPr>
        <p:spPr>
          <a:xfrm>
            <a:off x="6183630" y="2016125"/>
            <a:ext cx="5288915" cy="563880"/>
          </a:xfrm>
          <a:prstGeom prst="roundRect">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微软雅黑" panose="020B0503020204020204" charset="-122"/>
                <a:ea typeface="微软雅黑" panose="020B0503020204020204" charset="-122"/>
                <a:cs typeface="微软雅黑" panose="020B0503020204020204" charset="-122"/>
              </a:rPr>
              <a:t>矿工有动机和能力对链上交易顺序进行排序</a:t>
            </a:r>
          </a:p>
        </p:txBody>
      </p:sp>
      <p:sp>
        <p:nvSpPr>
          <p:cNvPr id="35" name="文本框 34"/>
          <p:cNvSpPr txBox="1"/>
          <p:nvPr/>
        </p:nvSpPr>
        <p:spPr>
          <a:xfrm>
            <a:off x="6184265" y="2687320"/>
            <a:ext cx="5288280" cy="460375"/>
          </a:xfrm>
          <a:prstGeom prst="rect">
            <a:avLst/>
          </a:prstGeom>
          <a:noFill/>
        </p:spPr>
        <p:txBody>
          <a:bodyPr wrap="square" rtlCol="0">
            <a:spAutoFit/>
          </a:bodyPr>
          <a:lstStyle/>
          <a:p>
            <a:pPr algn="ctr"/>
            <a:r>
              <a:rPr lang="zh-CN" altLang="en-US" sz="2400" b="1" dirty="0">
                <a:solidFill>
                  <a:srgbClr val="04579A"/>
                </a:solidFill>
              </a:rPr>
              <a:t>诚实矿工假设在实践中并不安全</a:t>
            </a:r>
          </a:p>
        </p:txBody>
      </p:sp>
      <p:sp>
        <p:nvSpPr>
          <p:cNvPr id="73" name="文本框 72"/>
          <p:cNvSpPr txBox="1"/>
          <p:nvPr/>
        </p:nvSpPr>
        <p:spPr>
          <a:xfrm>
            <a:off x="7104380" y="6194107"/>
            <a:ext cx="2647315" cy="338554"/>
          </a:xfrm>
          <a:prstGeom prst="rect">
            <a:avLst/>
          </a:prstGeom>
          <a:noFill/>
        </p:spPr>
        <p:txBody>
          <a:bodyPr wrap="square" rtlCol="0" anchor="t">
            <a:spAutoFit/>
          </a:bodyPr>
          <a:lstStyle/>
          <a:p>
            <a:pPr algn="ctr"/>
            <a:r>
              <a:rPr lang="zh-CN" altLang="en-US" sz="1600" dirty="0">
                <a:latin typeface="微软雅黑" panose="020B0503020204020204" charset="-122"/>
                <a:ea typeface="微软雅黑" panose="020B0503020204020204" charset="-122"/>
                <a:cs typeface="微软雅黑" panose="020B0503020204020204" charset="-122"/>
                <a:sym typeface="+mn-ea"/>
              </a:rPr>
              <a:t>链上托管资产不再安全</a:t>
            </a:r>
          </a:p>
        </p:txBody>
      </p:sp>
      <p:sp>
        <p:nvSpPr>
          <p:cNvPr id="76" name="文本框 75"/>
          <p:cNvSpPr txBox="1"/>
          <p:nvPr>
            <p:custDataLst>
              <p:tags r:id="rId7"/>
            </p:custDataLst>
          </p:nvPr>
        </p:nvSpPr>
        <p:spPr>
          <a:xfrm>
            <a:off x="1542226" y="6194107"/>
            <a:ext cx="3077446" cy="338554"/>
          </a:xfrm>
          <a:prstGeom prst="rect">
            <a:avLst/>
          </a:prstGeom>
          <a:noFill/>
        </p:spPr>
        <p:txBody>
          <a:bodyPr wrap="square" rtlCol="0" anchor="t">
            <a:spAutoFit/>
          </a:bodyPr>
          <a:lstStyle/>
          <a:p>
            <a:pPr algn="ctr"/>
            <a:r>
              <a:rPr lang="zh-CN" altLang="en-US" sz="1600" dirty="0">
                <a:latin typeface="微软雅黑" panose="020B0503020204020204" charset="-122"/>
                <a:ea typeface="微软雅黑" panose="020B0503020204020204" charset="-122"/>
                <a:cs typeface="微软雅黑" panose="020B0503020204020204" charset="-122"/>
                <a:sym typeface="+mn-ea"/>
              </a:rPr>
              <a:t>按交易时间</a:t>
            </a:r>
            <a:r>
              <a:rPr lang="en-US" altLang="zh-CN" sz="1600" dirty="0">
                <a:latin typeface="微软雅黑" panose="020B0503020204020204" charset="-122"/>
                <a:ea typeface="微软雅黑" panose="020B0503020204020204" charset="-122"/>
                <a:cs typeface="微软雅黑" panose="020B0503020204020204" charset="-122"/>
                <a:sym typeface="+mn-ea"/>
              </a:rPr>
              <a:t>/</a:t>
            </a:r>
            <a:r>
              <a:rPr lang="zh-CN" altLang="en-US" sz="1600" dirty="0">
                <a:latin typeface="微软雅黑" panose="020B0503020204020204" charset="-122"/>
                <a:ea typeface="微软雅黑" panose="020B0503020204020204" charset="-122"/>
                <a:cs typeface="微软雅黑" panose="020B0503020204020204" charset="-122"/>
                <a:sym typeface="+mn-ea"/>
              </a:rPr>
              <a:t>顺序保证资产安全</a:t>
            </a:r>
          </a:p>
        </p:txBody>
      </p:sp>
      <p:cxnSp>
        <p:nvCxnSpPr>
          <p:cNvPr id="78" name="直接连接符 77"/>
          <p:cNvCxnSpPr/>
          <p:nvPr/>
        </p:nvCxnSpPr>
        <p:spPr>
          <a:xfrm>
            <a:off x="770255" y="3919855"/>
            <a:ext cx="1043432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8" name="图片 7" descr="smiling-face-with-horns_1f608">
            <a:extLst>
              <a:ext uri="{FF2B5EF4-FFF2-40B4-BE49-F238E27FC236}">
                <a16:creationId xmlns:a16="http://schemas.microsoft.com/office/drawing/2014/main" id="{09C7819C-0B02-0C60-33A8-217D27B4CD8C}"/>
              </a:ext>
            </a:extLst>
          </p:cNvPr>
          <p:cNvPicPr>
            <a:picLocks noChangeAspect="1"/>
          </p:cNvPicPr>
          <p:nvPr/>
        </p:nvPicPr>
        <p:blipFill>
          <a:blip r:embed="rId19"/>
          <a:stretch>
            <a:fillRect/>
          </a:stretch>
        </p:blipFill>
        <p:spPr>
          <a:xfrm>
            <a:off x="4640262" y="1985010"/>
            <a:ext cx="453390" cy="453390"/>
          </a:xfrm>
          <a:prstGeom prst="rect">
            <a:avLst/>
          </a:prstGeom>
        </p:spPr>
      </p:pic>
      <p:cxnSp>
        <p:nvCxnSpPr>
          <p:cNvPr id="16" name="直接箭头连接符 15">
            <a:extLst>
              <a:ext uri="{FF2B5EF4-FFF2-40B4-BE49-F238E27FC236}">
                <a16:creationId xmlns:a16="http://schemas.microsoft.com/office/drawing/2014/main" id="{5B1E7578-65D2-B209-70FB-FA3EFE84B199}"/>
              </a:ext>
            </a:extLst>
          </p:cNvPr>
          <p:cNvCxnSpPr/>
          <p:nvPr/>
        </p:nvCxnSpPr>
        <p:spPr>
          <a:xfrm flipH="1">
            <a:off x="1239202" y="2588259"/>
            <a:ext cx="182880" cy="295275"/>
          </a:xfrm>
          <a:prstGeom prst="straightConnector1">
            <a:avLst/>
          </a:prstGeom>
          <a:ln>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B12CC30C-5351-0821-02A9-D6731DF3E0B9}"/>
              </a:ext>
            </a:extLst>
          </p:cNvPr>
          <p:cNvCxnSpPr/>
          <p:nvPr>
            <p:custDataLst>
              <p:tags r:id="rId8"/>
            </p:custDataLst>
          </p:nvPr>
        </p:nvCxnSpPr>
        <p:spPr>
          <a:xfrm>
            <a:off x="1977707" y="2567939"/>
            <a:ext cx="179070" cy="313055"/>
          </a:xfrm>
          <a:prstGeom prst="straightConnector1">
            <a:avLst/>
          </a:prstGeom>
          <a:ln>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360B4CF1-03ED-3779-42FC-1392AA88BA17}"/>
              </a:ext>
            </a:extLst>
          </p:cNvPr>
          <p:cNvSpPr txBox="1"/>
          <p:nvPr/>
        </p:nvSpPr>
        <p:spPr>
          <a:xfrm>
            <a:off x="780167" y="2588259"/>
            <a:ext cx="563740" cy="261610"/>
          </a:xfrm>
          <a:prstGeom prst="rect">
            <a:avLst/>
          </a:prstGeom>
          <a:noFill/>
        </p:spPr>
        <p:txBody>
          <a:bodyPr wrap="square" rtlCol="0">
            <a:spAutoFit/>
          </a:bodyPr>
          <a:lstStyle/>
          <a:p>
            <a:r>
              <a:rPr lang="zh-CN" altLang="en-US" sz="1100" dirty="0"/>
              <a:t>交易</a:t>
            </a:r>
            <a:r>
              <a:rPr lang="en-US" altLang="zh-CN" sz="1100" dirty="0"/>
              <a:t>A</a:t>
            </a:r>
            <a:endParaRPr lang="zh-CN" altLang="en-US" sz="1100" dirty="0"/>
          </a:p>
        </p:txBody>
      </p:sp>
      <p:sp>
        <p:nvSpPr>
          <p:cNvPr id="29" name="文本框 28">
            <a:extLst>
              <a:ext uri="{FF2B5EF4-FFF2-40B4-BE49-F238E27FC236}">
                <a16:creationId xmlns:a16="http://schemas.microsoft.com/office/drawing/2014/main" id="{81EFC51D-677A-507F-D91E-D7A09AC10BC8}"/>
              </a:ext>
            </a:extLst>
          </p:cNvPr>
          <p:cNvSpPr txBox="1"/>
          <p:nvPr/>
        </p:nvSpPr>
        <p:spPr>
          <a:xfrm>
            <a:off x="2079129" y="2588259"/>
            <a:ext cx="711447" cy="261610"/>
          </a:xfrm>
          <a:prstGeom prst="rect">
            <a:avLst/>
          </a:prstGeom>
          <a:noFill/>
        </p:spPr>
        <p:txBody>
          <a:bodyPr wrap="square" rtlCol="0">
            <a:spAutoFit/>
          </a:bodyPr>
          <a:lstStyle/>
          <a:p>
            <a:r>
              <a:rPr lang="zh-CN" altLang="en-US" sz="1100" dirty="0"/>
              <a:t>交易</a:t>
            </a:r>
            <a:r>
              <a:rPr lang="en-US" altLang="zh-CN" sz="1100" dirty="0"/>
              <a:t>B +</a:t>
            </a:r>
            <a:endParaRPr lang="zh-CN" altLang="en-US" sz="1100" dirty="0"/>
          </a:p>
        </p:txBody>
      </p:sp>
      <p:pic>
        <p:nvPicPr>
          <p:cNvPr id="36" name="图形 35" descr="钱 纯色填充">
            <a:extLst>
              <a:ext uri="{FF2B5EF4-FFF2-40B4-BE49-F238E27FC236}">
                <a16:creationId xmlns:a16="http://schemas.microsoft.com/office/drawing/2014/main" id="{0B830B4A-E7BA-8722-3DA8-A773F9D10B3C}"/>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flipH="1">
            <a:off x="2682072" y="2564131"/>
            <a:ext cx="265586" cy="265586"/>
          </a:xfrm>
          <a:prstGeom prst="rect">
            <a:avLst/>
          </a:prstGeom>
        </p:spPr>
      </p:pic>
      <p:pic>
        <p:nvPicPr>
          <p:cNvPr id="47" name="图形 46" descr="关闭 纯色填充">
            <a:extLst>
              <a:ext uri="{FF2B5EF4-FFF2-40B4-BE49-F238E27FC236}">
                <a16:creationId xmlns:a16="http://schemas.microsoft.com/office/drawing/2014/main" id="{69B095F0-E1E4-F988-C0EB-5A1A10C23A71}"/>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4274652" y="2417003"/>
            <a:ext cx="265586" cy="265586"/>
          </a:xfrm>
          <a:prstGeom prst="rect">
            <a:avLst/>
          </a:prstGeom>
        </p:spPr>
      </p:pic>
      <p:pic>
        <p:nvPicPr>
          <p:cNvPr id="51" name="图形 50" descr="复选标记 纯色填充">
            <a:extLst>
              <a:ext uri="{FF2B5EF4-FFF2-40B4-BE49-F238E27FC236}">
                <a16:creationId xmlns:a16="http://schemas.microsoft.com/office/drawing/2014/main" id="{AEBD04CF-819A-46D3-DF43-753C0358CEFE}"/>
              </a:ext>
            </a:extLst>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5203735" y="2417003"/>
            <a:ext cx="265586" cy="265586"/>
          </a:xfrm>
          <a:prstGeom prst="rect">
            <a:avLst/>
          </a:prstGeom>
        </p:spPr>
      </p:pic>
      <p:grpSp>
        <p:nvGrpSpPr>
          <p:cNvPr id="101" name="组合 100">
            <a:extLst>
              <a:ext uri="{FF2B5EF4-FFF2-40B4-BE49-F238E27FC236}">
                <a16:creationId xmlns:a16="http://schemas.microsoft.com/office/drawing/2014/main" id="{38B2B3DA-AFF3-CEA2-C7B2-0C3A6A4A878F}"/>
              </a:ext>
            </a:extLst>
          </p:cNvPr>
          <p:cNvGrpSpPr/>
          <p:nvPr/>
        </p:nvGrpSpPr>
        <p:grpSpPr>
          <a:xfrm>
            <a:off x="1460623" y="4138613"/>
            <a:ext cx="8602180" cy="1908174"/>
            <a:chOff x="1460623" y="4228466"/>
            <a:chExt cx="8602180" cy="1908174"/>
          </a:xfrm>
        </p:grpSpPr>
        <p:sp>
          <p:nvSpPr>
            <p:cNvPr id="77" name="右箭头 76"/>
            <p:cNvSpPr/>
            <p:nvPr>
              <p:custDataLst>
                <p:tags r:id="rId9"/>
              </p:custDataLst>
            </p:nvPr>
          </p:nvSpPr>
          <p:spPr>
            <a:xfrm>
              <a:off x="5506720" y="4937760"/>
              <a:ext cx="355600" cy="520700"/>
            </a:xfrm>
            <a:prstGeom prst="rightArrow">
              <a:avLst/>
            </a:prstGeom>
            <a:solidFill>
              <a:schemeClr val="bg1"/>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5" name="直接连接符 54">
              <a:extLst>
                <a:ext uri="{FF2B5EF4-FFF2-40B4-BE49-F238E27FC236}">
                  <a16:creationId xmlns:a16="http://schemas.microsoft.com/office/drawing/2014/main" id="{01C78543-9D27-3976-B9A8-660E252E1045}"/>
                </a:ext>
              </a:extLst>
            </p:cNvPr>
            <p:cNvCxnSpPr>
              <a:cxnSpLocks/>
            </p:cNvCxnSpPr>
            <p:nvPr/>
          </p:nvCxnSpPr>
          <p:spPr>
            <a:xfrm>
              <a:off x="1898106" y="4632432"/>
              <a:ext cx="0" cy="1504208"/>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E146A8F2-4BF7-380A-70DD-034AD247498F}"/>
                </a:ext>
              </a:extLst>
            </p:cNvPr>
            <p:cNvCxnSpPr>
              <a:cxnSpLocks/>
            </p:cNvCxnSpPr>
            <p:nvPr/>
          </p:nvCxnSpPr>
          <p:spPr>
            <a:xfrm flipH="1">
              <a:off x="3080949" y="4582547"/>
              <a:ext cx="1" cy="1554093"/>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2A45E679-8A80-07F2-6D84-C1E210B6BB4A}"/>
                </a:ext>
              </a:extLst>
            </p:cNvPr>
            <p:cNvCxnSpPr>
              <a:cxnSpLocks/>
            </p:cNvCxnSpPr>
            <p:nvPr/>
          </p:nvCxnSpPr>
          <p:spPr>
            <a:xfrm>
              <a:off x="4318693" y="4623088"/>
              <a:ext cx="0" cy="1513552"/>
            </a:xfrm>
            <a:prstGeom prst="line">
              <a:avLst/>
            </a:prstGeom>
          </p:spPr>
          <p:style>
            <a:lnRef idx="1">
              <a:schemeClr val="accent1"/>
            </a:lnRef>
            <a:fillRef idx="0">
              <a:schemeClr val="accent1"/>
            </a:fillRef>
            <a:effectRef idx="0">
              <a:schemeClr val="accent1"/>
            </a:effectRef>
            <a:fontRef idx="minor">
              <a:schemeClr val="tx1"/>
            </a:fontRef>
          </p:style>
        </p:cxnSp>
        <p:sp>
          <p:nvSpPr>
            <p:cNvPr id="63" name="文本框 62">
              <a:extLst>
                <a:ext uri="{FF2B5EF4-FFF2-40B4-BE49-F238E27FC236}">
                  <a16:creationId xmlns:a16="http://schemas.microsoft.com/office/drawing/2014/main" id="{C7FE87D3-3F7C-4445-6D29-D4C1C445E7FB}"/>
                </a:ext>
              </a:extLst>
            </p:cNvPr>
            <p:cNvSpPr txBox="1"/>
            <p:nvPr/>
          </p:nvSpPr>
          <p:spPr>
            <a:xfrm>
              <a:off x="1460623" y="4302761"/>
              <a:ext cx="892175" cy="338554"/>
            </a:xfrm>
            <a:prstGeom prst="rect">
              <a:avLst/>
            </a:prstGeom>
            <a:noFill/>
          </p:spPr>
          <p:txBody>
            <a:bodyPr wrap="square" rtlCol="0">
              <a:spAutoFit/>
            </a:bodyPr>
            <a:lstStyle/>
            <a:p>
              <a:pPr algn="ctr"/>
              <a:r>
                <a:rPr lang="zh-CN" altLang="en-US" sz="1600" dirty="0"/>
                <a:t>用户</a:t>
              </a:r>
              <a:r>
                <a:rPr lang="en-US" altLang="zh-CN" sz="1600" dirty="0"/>
                <a:t>A</a:t>
              </a:r>
              <a:endParaRPr lang="zh-CN" altLang="en-US" sz="1600" dirty="0"/>
            </a:p>
          </p:txBody>
        </p:sp>
        <p:sp>
          <p:nvSpPr>
            <p:cNvPr id="64" name="文本框 63">
              <a:extLst>
                <a:ext uri="{FF2B5EF4-FFF2-40B4-BE49-F238E27FC236}">
                  <a16:creationId xmlns:a16="http://schemas.microsoft.com/office/drawing/2014/main" id="{0BD9697A-C9E9-902A-B9F8-35DFFDFF6411}"/>
                </a:ext>
              </a:extLst>
            </p:cNvPr>
            <p:cNvSpPr txBox="1"/>
            <p:nvPr/>
          </p:nvSpPr>
          <p:spPr>
            <a:xfrm>
              <a:off x="2634862" y="4238852"/>
              <a:ext cx="892175" cy="338554"/>
            </a:xfrm>
            <a:prstGeom prst="rect">
              <a:avLst/>
            </a:prstGeom>
            <a:noFill/>
          </p:spPr>
          <p:txBody>
            <a:bodyPr wrap="square" rtlCol="0">
              <a:spAutoFit/>
            </a:bodyPr>
            <a:lstStyle/>
            <a:p>
              <a:pPr algn="ctr"/>
              <a:r>
                <a:rPr lang="zh-CN" altLang="en-US" sz="1600" dirty="0"/>
                <a:t>区块链</a:t>
              </a:r>
            </a:p>
          </p:txBody>
        </p:sp>
        <p:sp>
          <p:nvSpPr>
            <p:cNvPr id="65" name="文本框 64">
              <a:extLst>
                <a:ext uri="{FF2B5EF4-FFF2-40B4-BE49-F238E27FC236}">
                  <a16:creationId xmlns:a16="http://schemas.microsoft.com/office/drawing/2014/main" id="{9C774411-D183-F4D1-AA82-AC85FFBD3C4F}"/>
                </a:ext>
              </a:extLst>
            </p:cNvPr>
            <p:cNvSpPr txBox="1"/>
            <p:nvPr/>
          </p:nvSpPr>
          <p:spPr>
            <a:xfrm>
              <a:off x="3837981" y="4297751"/>
              <a:ext cx="892175" cy="338554"/>
            </a:xfrm>
            <a:prstGeom prst="rect">
              <a:avLst/>
            </a:prstGeom>
            <a:noFill/>
          </p:spPr>
          <p:txBody>
            <a:bodyPr wrap="square" rtlCol="0">
              <a:spAutoFit/>
            </a:bodyPr>
            <a:lstStyle/>
            <a:p>
              <a:pPr algn="ctr"/>
              <a:r>
                <a:rPr lang="zh-CN" altLang="en-US" sz="1600" dirty="0"/>
                <a:t>用户</a:t>
              </a:r>
              <a:r>
                <a:rPr lang="en-US" altLang="zh-CN" sz="1600" dirty="0"/>
                <a:t>B</a:t>
              </a:r>
              <a:endParaRPr lang="zh-CN" altLang="en-US" sz="1600" dirty="0"/>
            </a:p>
          </p:txBody>
        </p:sp>
        <p:cxnSp>
          <p:nvCxnSpPr>
            <p:cNvPr id="69" name="直接箭头连接符 68">
              <a:extLst>
                <a:ext uri="{FF2B5EF4-FFF2-40B4-BE49-F238E27FC236}">
                  <a16:creationId xmlns:a16="http://schemas.microsoft.com/office/drawing/2014/main" id="{98DD403F-7900-3814-DE88-66E025523360}"/>
                </a:ext>
              </a:extLst>
            </p:cNvPr>
            <p:cNvCxnSpPr/>
            <p:nvPr/>
          </p:nvCxnSpPr>
          <p:spPr>
            <a:xfrm>
              <a:off x="1939381" y="5016401"/>
              <a:ext cx="109239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2" name="文本框 71">
              <a:extLst>
                <a:ext uri="{FF2B5EF4-FFF2-40B4-BE49-F238E27FC236}">
                  <a16:creationId xmlns:a16="http://schemas.microsoft.com/office/drawing/2014/main" id="{4BC5C5FB-10DE-DF20-C364-A9CF89571F0F}"/>
                </a:ext>
              </a:extLst>
            </p:cNvPr>
            <p:cNvSpPr txBox="1"/>
            <p:nvPr/>
          </p:nvSpPr>
          <p:spPr>
            <a:xfrm>
              <a:off x="2032450" y="4744700"/>
              <a:ext cx="892175" cy="276999"/>
            </a:xfrm>
            <a:prstGeom prst="rect">
              <a:avLst/>
            </a:prstGeom>
            <a:noFill/>
          </p:spPr>
          <p:txBody>
            <a:bodyPr wrap="square" rtlCol="0">
              <a:spAutoFit/>
            </a:bodyPr>
            <a:lstStyle/>
            <a:p>
              <a:r>
                <a:rPr lang="zh-CN" altLang="en-US" sz="1200" dirty="0"/>
                <a:t>在时间</a:t>
              </a:r>
              <a:r>
                <a:rPr lang="en-US" altLang="zh-CN" sz="1200" dirty="0"/>
                <a:t>T</a:t>
              </a:r>
              <a:r>
                <a:rPr lang="zh-CN" altLang="en-US" sz="1200" dirty="0"/>
                <a:t>前</a:t>
              </a:r>
            </a:p>
          </p:txBody>
        </p:sp>
        <p:cxnSp>
          <p:nvCxnSpPr>
            <p:cNvPr id="79" name="直接箭头连接符 78">
              <a:extLst>
                <a:ext uri="{FF2B5EF4-FFF2-40B4-BE49-F238E27FC236}">
                  <a16:creationId xmlns:a16="http://schemas.microsoft.com/office/drawing/2014/main" id="{35F555D9-3609-7148-137A-84F766CECE74}"/>
                </a:ext>
              </a:extLst>
            </p:cNvPr>
            <p:cNvCxnSpPr/>
            <p:nvPr/>
          </p:nvCxnSpPr>
          <p:spPr>
            <a:xfrm>
              <a:off x="3129359" y="5710344"/>
              <a:ext cx="1154709" cy="0"/>
            </a:xfrm>
            <a:prstGeom prst="straightConnector1">
              <a:avLst/>
            </a:prstGeom>
            <a:ln>
              <a:headEnd type="triangle" w="med" len="med"/>
              <a:tailEnd type="none" w="med" len="med"/>
            </a:ln>
          </p:spPr>
          <p:style>
            <a:lnRef idx="1">
              <a:schemeClr val="dk1"/>
            </a:lnRef>
            <a:fillRef idx="0">
              <a:schemeClr val="dk1"/>
            </a:fillRef>
            <a:effectRef idx="0">
              <a:schemeClr val="dk1"/>
            </a:effectRef>
            <a:fontRef idx="minor">
              <a:schemeClr val="tx1"/>
            </a:fontRef>
          </p:style>
        </p:cxnSp>
        <p:sp>
          <p:nvSpPr>
            <p:cNvPr id="80" name="文本框 79">
              <a:extLst>
                <a:ext uri="{FF2B5EF4-FFF2-40B4-BE49-F238E27FC236}">
                  <a16:creationId xmlns:a16="http://schemas.microsoft.com/office/drawing/2014/main" id="{CB505587-A14B-DACB-8DFA-DC1D163EC5E5}"/>
                </a:ext>
              </a:extLst>
            </p:cNvPr>
            <p:cNvSpPr txBox="1"/>
            <p:nvPr/>
          </p:nvSpPr>
          <p:spPr>
            <a:xfrm>
              <a:off x="3248024" y="5424001"/>
              <a:ext cx="892175" cy="276999"/>
            </a:xfrm>
            <a:prstGeom prst="rect">
              <a:avLst/>
            </a:prstGeom>
            <a:noFill/>
          </p:spPr>
          <p:txBody>
            <a:bodyPr wrap="square" rtlCol="0">
              <a:spAutoFit/>
            </a:bodyPr>
            <a:lstStyle/>
            <a:p>
              <a:r>
                <a:rPr lang="zh-CN" altLang="en-US" sz="1200" dirty="0"/>
                <a:t>在时间</a:t>
              </a:r>
              <a:r>
                <a:rPr lang="en-US" altLang="zh-CN" sz="1200" dirty="0"/>
                <a:t>T</a:t>
              </a:r>
              <a:r>
                <a:rPr lang="zh-CN" altLang="en-US" sz="1200" dirty="0"/>
                <a:t>后</a:t>
              </a:r>
            </a:p>
          </p:txBody>
        </p:sp>
        <p:cxnSp>
          <p:nvCxnSpPr>
            <p:cNvPr id="86" name="直接连接符 85">
              <a:extLst>
                <a:ext uri="{FF2B5EF4-FFF2-40B4-BE49-F238E27FC236}">
                  <a16:creationId xmlns:a16="http://schemas.microsoft.com/office/drawing/2014/main" id="{F38BD222-EBD5-F401-2E9C-C2468BB870D5}"/>
                </a:ext>
              </a:extLst>
            </p:cNvPr>
            <p:cNvCxnSpPr>
              <a:cxnSpLocks/>
            </p:cNvCxnSpPr>
            <p:nvPr/>
          </p:nvCxnSpPr>
          <p:spPr>
            <a:xfrm>
              <a:off x="7230753" y="4622046"/>
              <a:ext cx="0" cy="15042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191C5192-A7F0-E022-055C-4F6DF91036AA}"/>
                </a:ext>
              </a:extLst>
            </p:cNvPr>
            <p:cNvCxnSpPr>
              <a:cxnSpLocks/>
            </p:cNvCxnSpPr>
            <p:nvPr/>
          </p:nvCxnSpPr>
          <p:spPr>
            <a:xfrm flipH="1">
              <a:off x="8413596" y="4572161"/>
              <a:ext cx="1" cy="1554093"/>
            </a:xfrm>
            <a:prstGeom prst="line">
              <a:avLst/>
            </a:prstGeom>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FCE912A5-8C98-5AB6-2950-BC7E77D02162}"/>
                </a:ext>
              </a:extLst>
            </p:cNvPr>
            <p:cNvCxnSpPr>
              <a:cxnSpLocks/>
            </p:cNvCxnSpPr>
            <p:nvPr/>
          </p:nvCxnSpPr>
          <p:spPr>
            <a:xfrm>
              <a:off x="9651340" y="4612702"/>
              <a:ext cx="0" cy="1513552"/>
            </a:xfrm>
            <a:prstGeom prst="line">
              <a:avLst/>
            </a:prstGeom>
          </p:spPr>
          <p:style>
            <a:lnRef idx="1">
              <a:schemeClr val="accent1"/>
            </a:lnRef>
            <a:fillRef idx="0">
              <a:schemeClr val="accent1"/>
            </a:fillRef>
            <a:effectRef idx="0">
              <a:schemeClr val="accent1"/>
            </a:effectRef>
            <a:fontRef idx="minor">
              <a:schemeClr val="tx1"/>
            </a:fontRef>
          </p:style>
        </p:cxnSp>
        <p:sp>
          <p:nvSpPr>
            <p:cNvPr id="89" name="文本框 88">
              <a:extLst>
                <a:ext uri="{FF2B5EF4-FFF2-40B4-BE49-F238E27FC236}">
                  <a16:creationId xmlns:a16="http://schemas.microsoft.com/office/drawing/2014/main" id="{99A86B9B-C786-C17D-B6D1-47428EDA2F88}"/>
                </a:ext>
              </a:extLst>
            </p:cNvPr>
            <p:cNvSpPr txBox="1"/>
            <p:nvPr/>
          </p:nvSpPr>
          <p:spPr>
            <a:xfrm>
              <a:off x="6793270" y="4292375"/>
              <a:ext cx="892175" cy="338554"/>
            </a:xfrm>
            <a:prstGeom prst="rect">
              <a:avLst/>
            </a:prstGeom>
            <a:noFill/>
          </p:spPr>
          <p:txBody>
            <a:bodyPr wrap="square" rtlCol="0">
              <a:spAutoFit/>
            </a:bodyPr>
            <a:lstStyle/>
            <a:p>
              <a:pPr algn="ctr"/>
              <a:r>
                <a:rPr lang="zh-CN" altLang="en-US" sz="1600" dirty="0"/>
                <a:t>用户</a:t>
              </a:r>
              <a:r>
                <a:rPr lang="en-US" altLang="zh-CN" sz="1600" dirty="0"/>
                <a:t>A</a:t>
              </a:r>
              <a:endParaRPr lang="zh-CN" altLang="en-US" sz="1600" dirty="0"/>
            </a:p>
          </p:txBody>
        </p:sp>
        <p:sp>
          <p:nvSpPr>
            <p:cNvPr id="90" name="文本框 89">
              <a:extLst>
                <a:ext uri="{FF2B5EF4-FFF2-40B4-BE49-F238E27FC236}">
                  <a16:creationId xmlns:a16="http://schemas.microsoft.com/office/drawing/2014/main" id="{2A14EF3B-EC88-8F74-5CC7-85A142E900C2}"/>
                </a:ext>
              </a:extLst>
            </p:cNvPr>
            <p:cNvSpPr txBox="1"/>
            <p:nvPr/>
          </p:nvSpPr>
          <p:spPr>
            <a:xfrm>
              <a:off x="7967509" y="4228466"/>
              <a:ext cx="892175" cy="338554"/>
            </a:xfrm>
            <a:prstGeom prst="rect">
              <a:avLst/>
            </a:prstGeom>
            <a:noFill/>
          </p:spPr>
          <p:txBody>
            <a:bodyPr wrap="square" rtlCol="0">
              <a:spAutoFit/>
            </a:bodyPr>
            <a:lstStyle/>
            <a:p>
              <a:pPr algn="ctr"/>
              <a:r>
                <a:rPr lang="zh-CN" altLang="en-US" sz="1600" dirty="0"/>
                <a:t>区块链</a:t>
              </a:r>
            </a:p>
          </p:txBody>
        </p:sp>
        <p:sp>
          <p:nvSpPr>
            <p:cNvPr id="91" name="文本框 90">
              <a:extLst>
                <a:ext uri="{FF2B5EF4-FFF2-40B4-BE49-F238E27FC236}">
                  <a16:creationId xmlns:a16="http://schemas.microsoft.com/office/drawing/2014/main" id="{3D60C74C-08CD-4D68-5A19-B3B3EEEDDC22}"/>
                </a:ext>
              </a:extLst>
            </p:cNvPr>
            <p:cNvSpPr txBox="1"/>
            <p:nvPr/>
          </p:nvSpPr>
          <p:spPr>
            <a:xfrm>
              <a:off x="9170628" y="4287365"/>
              <a:ext cx="892175" cy="338554"/>
            </a:xfrm>
            <a:prstGeom prst="rect">
              <a:avLst/>
            </a:prstGeom>
            <a:noFill/>
          </p:spPr>
          <p:txBody>
            <a:bodyPr wrap="square" rtlCol="0">
              <a:spAutoFit/>
            </a:bodyPr>
            <a:lstStyle/>
            <a:p>
              <a:pPr algn="ctr"/>
              <a:r>
                <a:rPr lang="zh-CN" altLang="en-US" sz="1600" dirty="0"/>
                <a:t>用户</a:t>
              </a:r>
              <a:r>
                <a:rPr lang="en-US" altLang="zh-CN" sz="1600" dirty="0"/>
                <a:t>B</a:t>
              </a:r>
              <a:endParaRPr lang="zh-CN" altLang="en-US" sz="1600" dirty="0"/>
            </a:p>
          </p:txBody>
        </p:sp>
        <p:cxnSp>
          <p:nvCxnSpPr>
            <p:cNvPr id="92" name="直接箭头连接符 91">
              <a:extLst>
                <a:ext uri="{FF2B5EF4-FFF2-40B4-BE49-F238E27FC236}">
                  <a16:creationId xmlns:a16="http://schemas.microsoft.com/office/drawing/2014/main" id="{FEFA4139-BC5A-CB92-ABB9-6AC3C4C8BA73}"/>
                </a:ext>
              </a:extLst>
            </p:cNvPr>
            <p:cNvCxnSpPr/>
            <p:nvPr/>
          </p:nvCxnSpPr>
          <p:spPr>
            <a:xfrm>
              <a:off x="7272028" y="5006015"/>
              <a:ext cx="109239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3" name="文本框 92">
              <a:extLst>
                <a:ext uri="{FF2B5EF4-FFF2-40B4-BE49-F238E27FC236}">
                  <a16:creationId xmlns:a16="http://schemas.microsoft.com/office/drawing/2014/main" id="{90DD40A8-145D-A515-D23A-F0308856FA8B}"/>
                </a:ext>
              </a:extLst>
            </p:cNvPr>
            <p:cNvSpPr txBox="1"/>
            <p:nvPr/>
          </p:nvSpPr>
          <p:spPr>
            <a:xfrm>
              <a:off x="7365097" y="4734314"/>
              <a:ext cx="892175" cy="276999"/>
            </a:xfrm>
            <a:prstGeom prst="rect">
              <a:avLst/>
            </a:prstGeom>
            <a:noFill/>
          </p:spPr>
          <p:txBody>
            <a:bodyPr wrap="square" rtlCol="0">
              <a:spAutoFit/>
            </a:bodyPr>
            <a:lstStyle/>
            <a:p>
              <a:r>
                <a:rPr lang="zh-CN" altLang="en-US" sz="1200" dirty="0"/>
                <a:t>在时间</a:t>
              </a:r>
              <a:r>
                <a:rPr lang="en-US" altLang="zh-CN" sz="1200" dirty="0"/>
                <a:t>T</a:t>
              </a:r>
              <a:r>
                <a:rPr lang="zh-CN" altLang="en-US" sz="1200" dirty="0"/>
                <a:t>前</a:t>
              </a:r>
            </a:p>
          </p:txBody>
        </p:sp>
        <p:cxnSp>
          <p:nvCxnSpPr>
            <p:cNvPr id="94" name="直接箭头连接符 93">
              <a:extLst>
                <a:ext uri="{FF2B5EF4-FFF2-40B4-BE49-F238E27FC236}">
                  <a16:creationId xmlns:a16="http://schemas.microsoft.com/office/drawing/2014/main" id="{DC9A7BED-8B45-17E5-E6E2-B06E9CA3D8A5}"/>
                </a:ext>
              </a:extLst>
            </p:cNvPr>
            <p:cNvCxnSpPr/>
            <p:nvPr/>
          </p:nvCxnSpPr>
          <p:spPr>
            <a:xfrm>
              <a:off x="8467716" y="5710344"/>
              <a:ext cx="1154709" cy="0"/>
            </a:xfrm>
            <a:prstGeom prst="straightConnector1">
              <a:avLst/>
            </a:prstGeom>
            <a:ln>
              <a:headEnd type="triangle" w="med" len="med"/>
              <a:tailEnd type="none" w="med" len="med"/>
            </a:ln>
          </p:spPr>
          <p:style>
            <a:lnRef idx="1">
              <a:schemeClr val="dk1"/>
            </a:lnRef>
            <a:fillRef idx="0">
              <a:schemeClr val="dk1"/>
            </a:fillRef>
            <a:effectRef idx="0">
              <a:schemeClr val="dk1"/>
            </a:effectRef>
            <a:fontRef idx="minor">
              <a:schemeClr val="tx1"/>
            </a:fontRef>
          </p:style>
        </p:cxnSp>
        <p:sp>
          <p:nvSpPr>
            <p:cNvPr id="95" name="文本框 94">
              <a:extLst>
                <a:ext uri="{FF2B5EF4-FFF2-40B4-BE49-F238E27FC236}">
                  <a16:creationId xmlns:a16="http://schemas.microsoft.com/office/drawing/2014/main" id="{17E3BE79-7EE9-82C5-C51B-4A409D753AE2}"/>
                </a:ext>
              </a:extLst>
            </p:cNvPr>
            <p:cNvSpPr txBox="1"/>
            <p:nvPr/>
          </p:nvSpPr>
          <p:spPr>
            <a:xfrm>
              <a:off x="8586381" y="5424001"/>
              <a:ext cx="892175" cy="276999"/>
            </a:xfrm>
            <a:prstGeom prst="rect">
              <a:avLst/>
            </a:prstGeom>
            <a:noFill/>
          </p:spPr>
          <p:txBody>
            <a:bodyPr wrap="square" rtlCol="0">
              <a:spAutoFit/>
            </a:bodyPr>
            <a:lstStyle/>
            <a:p>
              <a:r>
                <a:rPr lang="zh-CN" altLang="en-US" sz="1200" dirty="0"/>
                <a:t>在时间</a:t>
              </a:r>
              <a:r>
                <a:rPr lang="en-US" altLang="zh-CN" sz="1200" dirty="0"/>
                <a:t>T</a:t>
              </a:r>
              <a:r>
                <a:rPr lang="zh-CN" altLang="en-US" sz="1200" dirty="0"/>
                <a:t>后</a:t>
              </a:r>
            </a:p>
          </p:txBody>
        </p:sp>
        <p:cxnSp>
          <p:nvCxnSpPr>
            <p:cNvPr id="96" name="直接箭头连接符 95">
              <a:extLst>
                <a:ext uri="{FF2B5EF4-FFF2-40B4-BE49-F238E27FC236}">
                  <a16:creationId xmlns:a16="http://schemas.microsoft.com/office/drawing/2014/main" id="{9D58AE94-5238-3B64-A564-FC852D115CB7}"/>
                </a:ext>
              </a:extLst>
            </p:cNvPr>
            <p:cNvCxnSpPr/>
            <p:nvPr/>
          </p:nvCxnSpPr>
          <p:spPr>
            <a:xfrm>
              <a:off x="7283018" y="5511793"/>
              <a:ext cx="109239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7" name="文本框 96">
              <a:extLst>
                <a:ext uri="{FF2B5EF4-FFF2-40B4-BE49-F238E27FC236}">
                  <a16:creationId xmlns:a16="http://schemas.microsoft.com/office/drawing/2014/main" id="{CD269ADC-0312-99B6-5CD5-5D27F3128DD5}"/>
                </a:ext>
              </a:extLst>
            </p:cNvPr>
            <p:cNvSpPr txBox="1"/>
            <p:nvPr/>
          </p:nvSpPr>
          <p:spPr>
            <a:xfrm>
              <a:off x="7376087" y="5240092"/>
              <a:ext cx="892175" cy="276999"/>
            </a:xfrm>
            <a:prstGeom prst="rect">
              <a:avLst/>
            </a:prstGeom>
            <a:noFill/>
          </p:spPr>
          <p:txBody>
            <a:bodyPr wrap="square" rtlCol="0">
              <a:spAutoFit/>
            </a:bodyPr>
            <a:lstStyle/>
            <a:p>
              <a:r>
                <a:rPr lang="zh-CN" altLang="en-US" sz="1200" dirty="0"/>
                <a:t>在时间</a:t>
              </a:r>
              <a:r>
                <a:rPr lang="en-US" altLang="zh-CN" sz="1200" dirty="0"/>
                <a:t>T</a:t>
              </a:r>
              <a:r>
                <a:rPr lang="zh-CN" altLang="en-US" sz="1200" dirty="0"/>
                <a:t>前</a:t>
              </a:r>
            </a:p>
          </p:txBody>
        </p:sp>
        <p:sp>
          <p:nvSpPr>
            <p:cNvPr id="98" name="文本框 97">
              <a:extLst>
                <a:ext uri="{FF2B5EF4-FFF2-40B4-BE49-F238E27FC236}">
                  <a16:creationId xmlns:a16="http://schemas.microsoft.com/office/drawing/2014/main" id="{D531CE66-603B-367D-1A6B-28FC9268C607}"/>
                </a:ext>
              </a:extLst>
            </p:cNvPr>
            <p:cNvSpPr txBox="1"/>
            <p:nvPr/>
          </p:nvSpPr>
          <p:spPr>
            <a:xfrm>
              <a:off x="7303420" y="4913682"/>
              <a:ext cx="1037509" cy="369332"/>
            </a:xfrm>
            <a:prstGeom prst="rect">
              <a:avLst/>
            </a:prstGeom>
            <a:noFill/>
          </p:spPr>
          <p:txBody>
            <a:bodyPr wrap="square" rtlCol="0">
              <a:spAutoFit/>
            </a:bodyPr>
            <a:lstStyle/>
            <a:p>
              <a:pPr algn="ctr"/>
              <a:r>
                <a:rPr lang="en-US" altLang="zh-CN" dirty="0"/>
                <a:t>…</a:t>
              </a:r>
              <a:endParaRPr lang="zh-CN" altLang="en-US" dirty="0"/>
            </a:p>
          </p:txBody>
        </p:sp>
        <p:pic>
          <p:nvPicPr>
            <p:cNvPr id="99" name="图形 98" descr="关闭 纯色填充">
              <a:extLst>
                <a:ext uri="{FF2B5EF4-FFF2-40B4-BE49-F238E27FC236}">
                  <a16:creationId xmlns:a16="http://schemas.microsoft.com/office/drawing/2014/main" id="{98ACC7BD-D2C2-A7BE-8AA2-A35D856CB706}"/>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8228538" y="4871143"/>
              <a:ext cx="265586" cy="265586"/>
            </a:xfrm>
            <a:prstGeom prst="rect">
              <a:avLst/>
            </a:prstGeom>
          </p:spPr>
        </p:pic>
        <p:pic>
          <p:nvPicPr>
            <p:cNvPr id="100" name="图形 99" descr="关闭 纯色填充">
              <a:extLst>
                <a:ext uri="{FF2B5EF4-FFF2-40B4-BE49-F238E27FC236}">
                  <a16:creationId xmlns:a16="http://schemas.microsoft.com/office/drawing/2014/main" id="{D040E043-8DFC-E79A-6CD0-0A743983E10F}"/>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8228538" y="5377495"/>
              <a:ext cx="265586" cy="265586"/>
            </a:xfrm>
            <a:prstGeom prst="rect">
              <a:avLst/>
            </a:prstGeom>
          </p:spPr>
        </p:pic>
      </p:grpSp>
      <p:sp>
        <p:nvSpPr>
          <p:cNvPr id="11" name="文本框 10">
            <a:extLst>
              <a:ext uri="{FF2B5EF4-FFF2-40B4-BE49-F238E27FC236}">
                <a16:creationId xmlns:a16="http://schemas.microsoft.com/office/drawing/2014/main" id="{1EDD269F-F997-1100-1FDD-0E46FCB59472}"/>
              </a:ext>
            </a:extLst>
          </p:cNvPr>
          <p:cNvSpPr txBox="1"/>
          <p:nvPr/>
        </p:nvSpPr>
        <p:spPr>
          <a:xfrm>
            <a:off x="11736779" y="6499761"/>
            <a:ext cx="455221" cy="369332"/>
          </a:xfrm>
          <a:prstGeom prst="rect">
            <a:avLst/>
          </a:prstGeom>
          <a:noFill/>
        </p:spPr>
        <p:txBody>
          <a:bodyPr wrap="square" rtlCol="0">
            <a:spAutoFit/>
          </a:bodyPr>
          <a:lstStyle/>
          <a:p>
            <a:pPr algn="ctr"/>
            <a:r>
              <a:rPr lang="en-US" altLang="zh-CN" dirty="0"/>
              <a:t>15</a:t>
            </a:r>
            <a:endParaRPr lang="zh-CN" alt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mc:Choice>
    <mc:Fallback xmlns="">
      <p:transition spd="med"/>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7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P spid="73" grpId="0"/>
      <p:bldP spid="76" grpId="0"/>
      <p:bldP spid="28" grpId="0"/>
      <p:bldP spid="2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梯形 145"/>
          <p:cNvSpPr/>
          <p:nvPr>
            <p:custDataLst>
              <p:tags r:id="rId2"/>
            </p:custDataLst>
          </p:nvPr>
        </p:nvSpPr>
        <p:spPr>
          <a:xfrm rot="16200000">
            <a:off x="5601335" y="-22225"/>
            <a:ext cx="2843530" cy="10339070"/>
          </a:xfrm>
          <a:prstGeom prst="trapezoid">
            <a:avLst/>
          </a:prstGeom>
          <a:gradFill>
            <a:gsLst>
              <a:gs pos="0">
                <a:srgbClr val="F2F2F2"/>
              </a:gs>
              <a:gs pos="100000">
                <a:schemeClr val="bg1">
                  <a:lumMod val="0"/>
                  <a:lumOff val="100000"/>
                  <a:alpha val="48000"/>
                </a:schemeClr>
              </a:gs>
            </a:gsLst>
            <a:lin ang="16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5" name="梯形 144"/>
          <p:cNvSpPr/>
          <p:nvPr>
            <p:custDataLst>
              <p:tags r:id="rId3"/>
            </p:custDataLst>
          </p:nvPr>
        </p:nvSpPr>
        <p:spPr>
          <a:xfrm rot="16200000">
            <a:off x="5336540" y="-3150235"/>
            <a:ext cx="2021205" cy="11691620"/>
          </a:xfrm>
          <a:prstGeom prst="trapezoid">
            <a:avLst/>
          </a:prstGeom>
          <a:gradFill>
            <a:gsLst>
              <a:gs pos="0">
                <a:srgbClr val="F2F2F2"/>
              </a:gs>
              <a:gs pos="100000">
                <a:schemeClr val="bg1">
                  <a:lumMod val="0"/>
                  <a:lumOff val="100000"/>
                  <a:alpha val="48000"/>
                </a:schemeClr>
              </a:gs>
            </a:gsLst>
            <a:lin ang="16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0" name="直接连接符 139"/>
          <p:cNvCxnSpPr>
            <a:stCxn id="130" idx="6"/>
            <a:endCxn id="135" idx="2"/>
          </p:cNvCxnSpPr>
          <p:nvPr>
            <p:custDataLst>
              <p:tags r:id="rId4"/>
            </p:custDataLst>
          </p:nvPr>
        </p:nvCxnSpPr>
        <p:spPr>
          <a:xfrm flipV="1">
            <a:off x="8378839" y="3706178"/>
            <a:ext cx="2064371" cy="19366"/>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6" name="直接连接符 135"/>
          <p:cNvCxnSpPr>
            <a:cxnSpLocks/>
          </p:cNvCxnSpPr>
          <p:nvPr>
            <p:custDataLst>
              <p:tags r:id="rId5"/>
            </p:custDataLst>
          </p:nvPr>
        </p:nvCxnSpPr>
        <p:spPr>
          <a:xfrm flipV="1">
            <a:off x="10528300" y="3702050"/>
            <a:ext cx="0" cy="1949506"/>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custDataLst>
              <p:tags r:id="rId6"/>
            </p:custDataLst>
          </p:nvPr>
        </p:nvCxnSpPr>
        <p:spPr>
          <a:xfrm flipV="1">
            <a:off x="8293749" y="2085656"/>
            <a:ext cx="0" cy="1640205"/>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 name="肘形连接符 127"/>
          <p:cNvCxnSpPr>
            <a:cxnSpLocks/>
          </p:cNvCxnSpPr>
          <p:nvPr>
            <p:custDataLst>
              <p:tags r:id="rId7"/>
            </p:custDataLst>
          </p:nvPr>
        </p:nvCxnSpPr>
        <p:spPr>
          <a:xfrm rot="16200000" flipH="1">
            <a:off x="6190864" y="4613342"/>
            <a:ext cx="1559700" cy="3"/>
          </a:xfrm>
          <a:prstGeom prst="bentConnector3">
            <a:avLst>
              <a:gd name="adj1" fmla="val 50000"/>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椭圆 9"/>
          <p:cNvSpPr/>
          <p:nvPr>
            <p:custDataLst>
              <p:tags r:id="rId8"/>
            </p:custDataLst>
          </p:nvPr>
        </p:nvSpPr>
        <p:spPr>
          <a:xfrm>
            <a:off x="0" y="3666490"/>
            <a:ext cx="94615" cy="94615"/>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custDataLst>
              <p:tags r:id="rId9"/>
            </p:custDataLst>
          </p:nvPr>
        </p:nvSpPr>
        <p:spPr>
          <a:xfrm>
            <a:off x="221615" y="3666490"/>
            <a:ext cx="94615" cy="94615"/>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custDataLst>
              <p:tags r:id="rId10"/>
            </p:custDataLst>
          </p:nvPr>
        </p:nvSpPr>
        <p:spPr>
          <a:xfrm>
            <a:off x="664845" y="366649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custDataLst>
              <p:tags r:id="rId11"/>
            </p:custDataLst>
          </p:nvPr>
        </p:nvSpPr>
        <p:spPr>
          <a:xfrm>
            <a:off x="939800" y="366649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custDataLst>
              <p:tags r:id="rId12"/>
            </p:custDataLst>
          </p:nvPr>
        </p:nvSpPr>
        <p:spPr>
          <a:xfrm>
            <a:off x="1161415" y="3667125"/>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custDataLst>
              <p:tags r:id="rId13"/>
            </p:custDataLst>
          </p:nvPr>
        </p:nvSpPr>
        <p:spPr>
          <a:xfrm>
            <a:off x="1383030" y="366776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custDataLst>
              <p:tags r:id="rId14"/>
            </p:custDataLst>
          </p:nvPr>
        </p:nvSpPr>
        <p:spPr>
          <a:xfrm>
            <a:off x="1604645" y="3668395"/>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custDataLst>
              <p:tags r:id="rId15"/>
            </p:custDataLst>
          </p:nvPr>
        </p:nvSpPr>
        <p:spPr>
          <a:xfrm>
            <a:off x="182626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custDataLst>
              <p:tags r:id="rId16"/>
            </p:custDataLst>
          </p:nvPr>
        </p:nvSpPr>
        <p:spPr>
          <a:xfrm>
            <a:off x="2047875"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custDataLst>
              <p:tags r:id="rId17"/>
            </p:custDataLst>
          </p:nvPr>
        </p:nvSpPr>
        <p:spPr>
          <a:xfrm>
            <a:off x="226949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custDataLst>
              <p:tags r:id="rId18"/>
            </p:custDataLst>
          </p:nvPr>
        </p:nvSpPr>
        <p:spPr>
          <a:xfrm>
            <a:off x="2491105"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custDataLst>
              <p:tags r:id="rId19"/>
            </p:custDataLst>
          </p:nvPr>
        </p:nvSpPr>
        <p:spPr>
          <a:xfrm>
            <a:off x="271272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custDataLst>
              <p:tags r:id="rId20"/>
            </p:custDataLst>
          </p:nvPr>
        </p:nvSpPr>
        <p:spPr>
          <a:xfrm>
            <a:off x="2934335"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custDataLst>
              <p:tags r:id="rId21"/>
            </p:custDataLst>
          </p:nvPr>
        </p:nvSpPr>
        <p:spPr>
          <a:xfrm>
            <a:off x="315595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p:custDataLst>
              <p:tags r:id="rId22"/>
            </p:custDataLst>
          </p:nvPr>
        </p:nvSpPr>
        <p:spPr>
          <a:xfrm>
            <a:off x="404241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custDataLst>
              <p:tags r:id="rId23"/>
            </p:custDataLst>
          </p:nvPr>
        </p:nvSpPr>
        <p:spPr>
          <a:xfrm>
            <a:off x="4264025"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custDataLst>
              <p:tags r:id="rId24"/>
            </p:custDataLst>
          </p:nvPr>
        </p:nvSpPr>
        <p:spPr>
          <a:xfrm>
            <a:off x="448564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custDataLst>
              <p:tags r:id="rId25"/>
            </p:custDataLst>
          </p:nvPr>
        </p:nvSpPr>
        <p:spPr>
          <a:xfrm>
            <a:off x="4707255"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custDataLst>
              <p:tags r:id="rId26"/>
            </p:custDataLst>
          </p:nvPr>
        </p:nvSpPr>
        <p:spPr>
          <a:xfrm>
            <a:off x="492887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custDataLst>
              <p:tags r:id="rId27"/>
            </p:custDataLst>
          </p:nvPr>
        </p:nvSpPr>
        <p:spPr>
          <a:xfrm>
            <a:off x="537210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p:cNvSpPr/>
          <p:nvPr>
            <p:custDataLst>
              <p:tags r:id="rId28"/>
            </p:custDataLst>
          </p:nvPr>
        </p:nvSpPr>
        <p:spPr>
          <a:xfrm>
            <a:off x="5593715"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custDataLst>
              <p:tags r:id="rId29"/>
            </p:custDataLst>
          </p:nvPr>
        </p:nvSpPr>
        <p:spPr>
          <a:xfrm>
            <a:off x="581533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p:cNvSpPr/>
          <p:nvPr>
            <p:custDataLst>
              <p:tags r:id="rId30"/>
            </p:custDataLst>
          </p:nvPr>
        </p:nvSpPr>
        <p:spPr>
          <a:xfrm>
            <a:off x="625856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custDataLst>
              <p:tags r:id="rId31"/>
            </p:custDataLst>
          </p:nvPr>
        </p:nvSpPr>
        <p:spPr>
          <a:xfrm>
            <a:off x="6480175"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custDataLst>
              <p:tags r:id="rId32"/>
            </p:custDataLst>
          </p:nvPr>
        </p:nvSpPr>
        <p:spPr>
          <a:xfrm>
            <a:off x="670179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椭圆 71"/>
          <p:cNvSpPr/>
          <p:nvPr>
            <p:custDataLst>
              <p:tags r:id="rId33"/>
            </p:custDataLst>
          </p:nvPr>
        </p:nvSpPr>
        <p:spPr>
          <a:xfrm>
            <a:off x="714502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p:custDataLst>
              <p:tags r:id="rId34"/>
            </p:custDataLst>
          </p:nvPr>
        </p:nvSpPr>
        <p:spPr>
          <a:xfrm>
            <a:off x="7366635"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custDataLst>
              <p:tags r:id="rId35"/>
            </p:custDataLst>
          </p:nvPr>
        </p:nvSpPr>
        <p:spPr>
          <a:xfrm>
            <a:off x="758825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椭圆 74"/>
          <p:cNvSpPr/>
          <p:nvPr>
            <p:custDataLst>
              <p:tags r:id="rId36"/>
            </p:custDataLst>
          </p:nvPr>
        </p:nvSpPr>
        <p:spPr>
          <a:xfrm>
            <a:off x="7809865"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p:cNvSpPr/>
          <p:nvPr>
            <p:custDataLst>
              <p:tags r:id="rId37"/>
            </p:custDataLst>
          </p:nvPr>
        </p:nvSpPr>
        <p:spPr>
          <a:xfrm>
            <a:off x="803148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p:cNvSpPr/>
          <p:nvPr>
            <p:custDataLst>
              <p:tags r:id="rId38"/>
            </p:custDataLst>
          </p:nvPr>
        </p:nvSpPr>
        <p:spPr>
          <a:xfrm>
            <a:off x="847471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p:cNvSpPr/>
          <p:nvPr>
            <p:custDataLst>
              <p:tags r:id="rId39"/>
            </p:custDataLst>
          </p:nvPr>
        </p:nvSpPr>
        <p:spPr>
          <a:xfrm>
            <a:off x="8696325"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椭圆 79"/>
          <p:cNvSpPr/>
          <p:nvPr>
            <p:custDataLst>
              <p:tags r:id="rId40"/>
            </p:custDataLst>
          </p:nvPr>
        </p:nvSpPr>
        <p:spPr>
          <a:xfrm>
            <a:off x="891794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p:cNvSpPr/>
          <p:nvPr>
            <p:custDataLst>
              <p:tags r:id="rId41"/>
            </p:custDataLst>
          </p:nvPr>
        </p:nvSpPr>
        <p:spPr>
          <a:xfrm>
            <a:off x="9139555"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p:cNvSpPr/>
          <p:nvPr>
            <p:custDataLst>
              <p:tags r:id="rId42"/>
            </p:custDataLst>
          </p:nvPr>
        </p:nvSpPr>
        <p:spPr>
          <a:xfrm>
            <a:off x="936117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82"/>
          <p:cNvSpPr/>
          <p:nvPr>
            <p:custDataLst>
              <p:tags r:id="rId43"/>
            </p:custDataLst>
          </p:nvPr>
        </p:nvSpPr>
        <p:spPr>
          <a:xfrm>
            <a:off x="9582785"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p:cNvSpPr/>
          <p:nvPr>
            <p:custDataLst>
              <p:tags r:id="rId44"/>
            </p:custDataLst>
          </p:nvPr>
        </p:nvSpPr>
        <p:spPr>
          <a:xfrm>
            <a:off x="8284224" y="3688396"/>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椭圆 84"/>
          <p:cNvSpPr/>
          <p:nvPr>
            <p:custDataLst>
              <p:tags r:id="rId45"/>
            </p:custDataLst>
          </p:nvPr>
        </p:nvSpPr>
        <p:spPr>
          <a:xfrm>
            <a:off x="10026015"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椭圆 85"/>
          <p:cNvSpPr/>
          <p:nvPr>
            <p:custDataLst>
              <p:tags r:id="rId46"/>
            </p:custDataLst>
          </p:nvPr>
        </p:nvSpPr>
        <p:spPr>
          <a:xfrm>
            <a:off x="1024763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p:cNvSpPr/>
          <p:nvPr>
            <p:custDataLst>
              <p:tags r:id="rId47"/>
            </p:custDataLst>
          </p:nvPr>
        </p:nvSpPr>
        <p:spPr>
          <a:xfrm>
            <a:off x="10469245"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p:cNvSpPr/>
          <p:nvPr>
            <p:custDataLst>
              <p:tags r:id="rId48"/>
            </p:custDataLst>
          </p:nvPr>
        </p:nvSpPr>
        <p:spPr>
          <a:xfrm>
            <a:off x="1069086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椭圆 88"/>
          <p:cNvSpPr/>
          <p:nvPr>
            <p:custDataLst>
              <p:tags r:id="rId49"/>
            </p:custDataLst>
          </p:nvPr>
        </p:nvSpPr>
        <p:spPr>
          <a:xfrm>
            <a:off x="10912475"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椭圆 89"/>
          <p:cNvSpPr/>
          <p:nvPr>
            <p:custDataLst>
              <p:tags r:id="rId50"/>
            </p:custDataLst>
          </p:nvPr>
        </p:nvSpPr>
        <p:spPr>
          <a:xfrm>
            <a:off x="1113409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椭圆 90"/>
          <p:cNvSpPr/>
          <p:nvPr>
            <p:custDataLst>
              <p:tags r:id="rId51"/>
            </p:custDataLst>
          </p:nvPr>
        </p:nvSpPr>
        <p:spPr>
          <a:xfrm>
            <a:off x="11355705"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椭圆 91"/>
          <p:cNvSpPr/>
          <p:nvPr>
            <p:custDataLst>
              <p:tags r:id="rId52"/>
            </p:custDataLst>
          </p:nvPr>
        </p:nvSpPr>
        <p:spPr>
          <a:xfrm>
            <a:off x="1157732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椭圆 92"/>
          <p:cNvSpPr/>
          <p:nvPr>
            <p:custDataLst>
              <p:tags r:id="rId53"/>
            </p:custDataLst>
          </p:nvPr>
        </p:nvSpPr>
        <p:spPr>
          <a:xfrm>
            <a:off x="11798935"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椭圆 93"/>
          <p:cNvSpPr/>
          <p:nvPr>
            <p:custDataLst>
              <p:tags r:id="rId54"/>
            </p:custDataLst>
          </p:nvPr>
        </p:nvSpPr>
        <p:spPr>
          <a:xfrm>
            <a:off x="1202055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8" name="直接连接符 97"/>
          <p:cNvCxnSpPr>
            <a:stCxn id="41" idx="0"/>
          </p:cNvCxnSpPr>
          <p:nvPr>
            <p:custDataLst>
              <p:tags r:id="rId55"/>
            </p:custDataLst>
          </p:nvPr>
        </p:nvCxnSpPr>
        <p:spPr>
          <a:xfrm flipV="1">
            <a:off x="506095" y="1845310"/>
            <a:ext cx="0" cy="1780540"/>
          </a:xfrm>
          <a:prstGeom prst="line">
            <a:avLst/>
          </a:prstGeom>
          <a:ln w="12700">
            <a:solidFill>
              <a:schemeClr val="bg1">
                <a:lumMod val="50000"/>
              </a:schemeClr>
            </a:solidFill>
          </a:ln>
          <a:effectLst>
            <a:glow rad="63500">
              <a:schemeClr val="bg1">
                <a:lumMod val="95000"/>
                <a:alpha val="40000"/>
              </a:schemeClr>
            </a:glow>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99" name="椭圆 98"/>
          <p:cNvSpPr/>
          <p:nvPr>
            <p:custDataLst>
              <p:tags r:id="rId56"/>
            </p:custDataLst>
          </p:nvPr>
        </p:nvSpPr>
        <p:spPr>
          <a:xfrm>
            <a:off x="456565" y="2907665"/>
            <a:ext cx="94615" cy="94615"/>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文本框 100"/>
          <p:cNvSpPr txBox="1"/>
          <p:nvPr>
            <p:custDataLst>
              <p:tags r:id="rId57"/>
            </p:custDataLst>
          </p:nvPr>
        </p:nvSpPr>
        <p:spPr>
          <a:xfrm>
            <a:off x="499110" y="1974101"/>
            <a:ext cx="1862453" cy="1308050"/>
          </a:xfrm>
          <a:prstGeom prst="rect">
            <a:avLst/>
          </a:prstGeom>
          <a:noFill/>
        </p:spPr>
        <p:txBody>
          <a:bodyPr wrap="square" rtlCol="0">
            <a:spAutoFit/>
          </a:bodyPr>
          <a:lstStyle/>
          <a:p>
            <a:pPr marL="171450" indent="-171450" fontAlgn="auto">
              <a:spcBef>
                <a:spcPts val="600"/>
              </a:spcBef>
              <a:spcAft>
                <a:spcPts val="600"/>
              </a:spcAft>
              <a:buFont typeface="Arial" panose="020B0604020202020204" pitchFamily="34" charset="0"/>
              <a:buChar char="•"/>
            </a:pPr>
            <a:r>
              <a:rPr lang="zh-CN" altLang="en-US" sz="1200" dirty="0">
                <a:solidFill>
                  <a:schemeClr val="tx1">
                    <a:lumMod val="65000"/>
                    <a:lumOff val="35000"/>
                  </a:schemeClr>
                </a:solidFill>
              </a:rPr>
              <a:t>理性矿工模型下，通过部署贿赂合约延迟特定交易的攻击行为</a:t>
            </a:r>
          </a:p>
          <a:p>
            <a:pPr indent="0">
              <a:buFont typeface="Arial" panose="020B0604020202020204" pitchFamily="34" charset="0"/>
              <a:buNone/>
            </a:pPr>
            <a:r>
              <a:rPr lang="zh-CN" altLang="en-US" b="1" dirty="0">
                <a:solidFill>
                  <a:schemeClr val="tx1">
                    <a:lumMod val="65000"/>
                    <a:lumOff val="35000"/>
                  </a:schemeClr>
                </a:solidFill>
              </a:rPr>
              <a:t>  </a:t>
            </a:r>
            <a:r>
              <a:rPr lang="en-US" altLang="zh-CN" b="1" dirty="0">
                <a:solidFill>
                  <a:schemeClr val="tx1">
                    <a:lumMod val="65000"/>
                    <a:lumOff val="35000"/>
                  </a:schemeClr>
                </a:solidFill>
              </a:rPr>
              <a:t>Bride Attack</a:t>
            </a:r>
          </a:p>
          <a:p>
            <a:pPr indent="0">
              <a:buFont typeface="Arial" panose="020B0604020202020204" pitchFamily="34" charset="0"/>
              <a:buNone/>
            </a:pPr>
            <a:r>
              <a:rPr lang="en-US" altLang="zh-CN" b="1" dirty="0">
                <a:solidFill>
                  <a:schemeClr val="tx1">
                    <a:lumMod val="65000"/>
                    <a:lumOff val="35000"/>
                  </a:schemeClr>
                </a:solidFill>
              </a:rPr>
              <a:t>  EuroS&amp;PW</a:t>
            </a:r>
            <a:r>
              <a:rPr lang="en-US" altLang="zh-CN" b="1" dirty="0">
                <a:solidFill>
                  <a:schemeClr val="tx1">
                    <a:lumMod val="65000"/>
                    <a:lumOff val="35000"/>
                  </a:schemeClr>
                </a:solidFill>
                <a:latin typeface="微软雅黑" panose="020B0503020204020204" charset="-122"/>
                <a:ea typeface="微软雅黑" panose="020B0503020204020204" charset="-122"/>
                <a:sym typeface="+mn-ea"/>
              </a:rPr>
              <a:t>'</a:t>
            </a:r>
            <a:r>
              <a:rPr lang="en-US" altLang="zh-CN" b="1" dirty="0">
                <a:solidFill>
                  <a:schemeClr val="tx1">
                    <a:lumMod val="65000"/>
                    <a:lumOff val="35000"/>
                  </a:schemeClr>
                </a:solidFill>
              </a:rPr>
              <a:t>19</a:t>
            </a:r>
          </a:p>
        </p:txBody>
      </p:sp>
      <p:cxnSp>
        <p:nvCxnSpPr>
          <p:cNvPr id="103" name="直接连接符 102"/>
          <p:cNvCxnSpPr>
            <a:cxnSpLocks/>
          </p:cNvCxnSpPr>
          <p:nvPr>
            <p:custDataLst>
              <p:tags r:id="rId58"/>
            </p:custDataLst>
          </p:nvPr>
        </p:nvCxnSpPr>
        <p:spPr>
          <a:xfrm flipH="1" flipV="1">
            <a:off x="1854200" y="3786505"/>
            <a:ext cx="19367" cy="2054225"/>
          </a:xfrm>
          <a:prstGeom prst="line">
            <a:avLst/>
          </a:prstGeom>
          <a:ln w="12700">
            <a:solidFill>
              <a:schemeClr val="bg1">
                <a:lumMod val="50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02" name="椭圆 101"/>
          <p:cNvSpPr/>
          <p:nvPr>
            <p:custDataLst>
              <p:tags r:id="rId59"/>
            </p:custDataLst>
          </p:nvPr>
        </p:nvSpPr>
        <p:spPr>
          <a:xfrm>
            <a:off x="1778000" y="3634740"/>
            <a:ext cx="160655" cy="160655"/>
          </a:xfrm>
          <a:prstGeom prst="ellipse">
            <a:avLst/>
          </a:prstGeom>
          <a:solidFill>
            <a:srgbClr val="00B0F0"/>
          </a:solidFill>
          <a:ln>
            <a:noFill/>
          </a:ln>
          <a:effectLst>
            <a:glow rad="63500">
              <a:srgbClr val="93F0F3">
                <a:alpha val="53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4" name="文本框 103"/>
          <p:cNvSpPr txBox="1"/>
          <p:nvPr>
            <p:custDataLst>
              <p:tags r:id="rId60"/>
            </p:custDataLst>
          </p:nvPr>
        </p:nvSpPr>
        <p:spPr>
          <a:xfrm>
            <a:off x="1853564" y="3872779"/>
            <a:ext cx="2547946" cy="707886"/>
          </a:xfrm>
          <a:prstGeom prst="rect">
            <a:avLst/>
          </a:prstGeom>
          <a:noFill/>
        </p:spPr>
        <p:txBody>
          <a:bodyPr wrap="square" rtlCol="0">
            <a:spAutoFit/>
          </a:bodyPr>
          <a:lstStyle/>
          <a:p>
            <a:r>
              <a:rPr lang="en-US" altLang="zh-CN" sz="2000" b="1" dirty="0">
                <a:solidFill>
                  <a:schemeClr val="tx1">
                    <a:lumMod val="65000"/>
                    <a:lumOff val="35000"/>
                  </a:schemeClr>
                </a:solidFill>
                <a:latin typeface="微软雅黑" panose="020B0503020204020204" charset="-122"/>
                <a:ea typeface="微软雅黑" panose="020B0503020204020204" charset="-122"/>
              </a:rPr>
              <a:t>SP</a:t>
            </a:r>
            <a:r>
              <a:rPr lang="en-US" altLang="zh-CN" sz="2000" b="1" dirty="0">
                <a:solidFill>
                  <a:schemeClr val="tx1">
                    <a:lumMod val="65000"/>
                    <a:lumOff val="35000"/>
                  </a:schemeClr>
                </a:solidFill>
                <a:latin typeface="微软雅黑" panose="020B0503020204020204" charset="-122"/>
                <a:ea typeface="微软雅黑" panose="020B0503020204020204" charset="-122"/>
                <a:sym typeface="+mn-ea"/>
              </a:rPr>
              <a:t>'</a:t>
            </a:r>
            <a:r>
              <a:rPr lang="en-US" altLang="zh-CN" sz="2000" b="1" dirty="0">
                <a:solidFill>
                  <a:schemeClr val="tx1">
                    <a:lumMod val="65000"/>
                    <a:lumOff val="35000"/>
                  </a:schemeClr>
                </a:solidFill>
                <a:latin typeface="微软雅黑" panose="020B0503020204020204" charset="-122"/>
                <a:ea typeface="微软雅黑" panose="020B0503020204020204" charset="-122"/>
              </a:rPr>
              <a:t>21</a:t>
            </a:r>
          </a:p>
          <a:p>
            <a:r>
              <a:rPr lang="en-US" altLang="zh-CN" sz="2000" b="1" dirty="0">
                <a:solidFill>
                  <a:schemeClr val="tx1">
                    <a:lumMod val="65000"/>
                    <a:lumOff val="35000"/>
                  </a:schemeClr>
                </a:solidFill>
                <a:latin typeface="微软雅黑" panose="020B0503020204020204" charset="-122"/>
                <a:ea typeface="微软雅黑" panose="020B0503020204020204" charset="-122"/>
              </a:rPr>
              <a:t>MAD-HTLC</a:t>
            </a:r>
          </a:p>
        </p:txBody>
      </p:sp>
      <p:sp>
        <p:nvSpPr>
          <p:cNvPr id="105" name="文本框 104"/>
          <p:cNvSpPr txBox="1"/>
          <p:nvPr>
            <p:custDataLst>
              <p:tags r:id="rId61"/>
            </p:custDataLst>
          </p:nvPr>
        </p:nvSpPr>
        <p:spPr>
          <a:xfrm>
            <a:off x="1854200" y="4484370"/>
            <a:ext cx="2853052" cy="1357295"/>
          </a:xfrm>
          <a:prstGeom prst="rect">
            <a:avLst/>
          </a:prstGeom>
          <a:noFill/>
        </p:spPr>
        <p:txBody>
          <a:bodyPr wrap="square" rtlCol="0">
            <a:spAutoFit/>
          </a:bodyPr>
          <a:lstStyle/>
          <a:p>
            <a:pPr indent="0" algn="l">
              <a:spcBef>
                <a:spcPts val="600"/>
              </a:spcBef>
              <a:spcAft>
                <a:spcPts val="600"/>
              </a:spcAft>
              <a:buClrTx/>
              <a:buSzTx/>
              <a:buFont typeface="Arial" panose="020B0604020202020204" pitchFamily="34" charset="0"/>
              <a:buNone/>
            </a:pPr>
            <a:r>
              <a:rPr lang="zh-CN" altLang="en-US" b="1" dirty="0">
                <a:solidFill>
                  <a:schemeClr val="tx1">
                    <a:lumMod val="65000"/>
                    <a:lumOff val="35000"/>
                  </a:schemeClr>
                </a:solidFill>
                <a:sym typeface="+mn-ea"/>
              </a:rPr>
              <a:t>抗贿赂攻击的</a:t>
            </a:r>
            <a:r>
              <a:rPr lang="en-US" altLang="zh-CN" b="1" dirty="0">
                <a:solidFill>
                  <a:schemeClr val="tx1">
                    <a:lumMod val="65000"/>
                    <a:lumOff val="35000"/>
                  </a:schemeClr>
                </a:solidFill>
                <a:sym typeface="+mn-ea"/>
              </a:rPr>
              <a:t>HTLC-Spec</a:t>
            </a:r>
            <a:endParaRPr lang="zh-CN" altLang="en-US" dirty="0">
              <a:solidFill>
                <a:schemeClr val="tx1">
                  <a:lumMod val="65000"/>
                  <a:lumOff val="35000"/>
                </a:schemeClr>
              </a:solidFill>
            </a:endParaRPr>
          </a:p>
          <a:p>
            <a:pPr marL="171450" indent="-171450" algn="l" fontAlgn="auto">
              <a:lnSpc>
                <a:spcPct val="120000"/>
              </a:lnSpc>
              <a:spcBef>
                <a:spcPts val="0"/>
              </a:spcBef>
              <a:spcAft>
                <a:spcPts val="0"/>
              </a:spcAft>
              <a:buClrTx/>
              <a:buSzTx/>
              <a:buFont typeface="Arial" panose="020B0604020202020204" pitchFamily="34" charset="0"/>
              <a:buChar char="•"/>
            </a:pPr>
            <a:r>
              <a:rPr lang="zh-CN" altLang="en-US" sz="1200" dirty="0">
                <a:solidFill>
                  <a:schemeClr val="tx1">
                    <a:lumMod val="65000"/>
                    <a:lumOff val="35000"/>
                  </a:schemeClr>
                </a:solidFill>
              </a:rPr>
              <a:t>抽象出哈希时间锁范式</a:t>
            </a:r>
            <a:r>
              <a:rPr lang="en-US" altLang="zh-CN" sz="1200" dirty="0">
                <a:solidFill>
                  <a:schemeClr val="tx1">
                    <a:lumMod val="65000"/>
                    <a:lumOff val="35000"/>
                  </a:schemeClr>
                </a:solidFill>
              </a:rPr>
              <a:t>HTLC-Spec</a:t>
            </a:r>
          </a:p>
          <a:p>
            <a:pPr marL="171450" indent="-171450" algn="l" fontAlgn="auto">
              <a:lnSpc>
                <a:spcPct val="120000"/>
              </a:lnSpc>
              <a:spcBef>
                <a:spcPts val="0"/>
              </a:spcBef>
              <a:spcAft>
                <a:spcPts val="0"/>
              </a:spcAft>
              <a:buClrTx/>
              <a:buSzTx/>
              <a:buFont typeface="Arial" panose="020B0604020202020204" pitchFamily="34" charset="0"/>
              <a:buChar char="•"/>
            </a:pPr>
            <a:r>
              <a:rPr lang="zh-CN" altLang="en-US" sz="1200" dirty="0">
                <a:solidFill>
                  <a:schemeClr val="tx1">
                    <a:lumMod val="65000"/>
                    <a:lumOff val="35000"/>
                  </a:schemeClr>
                </a:solidFill>
              </a:rPr>
              <a:t>抗贿赂攻击的交易结构</a:t>
            </a:r>
            <a:endParaRPr lang="en-US" altLang="zh-CN" sz="1200" dirty="0">
              <a:solidFill>
                <a:schemeClr val="tx1">
                  <a:lumMod val="65000"/>
                  <a:lumOff val="35000"/>
                </a:schemeClr>
              </a:solidFill>
            </a:endParaRPr>
          </a:p>
          <a:p>
            <a:pPr marL="171450" indent="-171450" algn="l" fontAlgn="auto">
              <a:lnSpc>
                <a:spcPct val="120000"/>
              </a:lnSpc>
              <a:spcBef>
                <a:spcPts val="0"/>
              </a:spcBef>
              <a:spcAft>
                <a:spcPts val="0"/>
              </a:spcAft>
              <a:buClrTx/>
              <a:buSzTx/>
              <a:buFont typeface="Arial" panose="020B0604020202020204" pitchFamily="34" charset="0"/>
              <a:buChar char="•"/>
            </a:pPr>
            <a:r>
              <a:rPr lang="zh-CN" altLang="en-US" sz="1200" dirty="0">
                <a:solidFill>
                  <a:schemeClr val="tx1">
                    <a:lumMod val="65000"/>
                    <a:lumOff val="35000"/>
                  </a:schemeClr>
                </a:solidFill>
              </a:rPr>
              <a:t>兼容于现有区块链系统</a:t>
            </a:r>
          </a:p>
          <a:p>
            <a:pPr marL="171450" indent="-171450" algn="l" fontAlgn="auto">
              <a:spcBef>
                <a:spcPts val="0"/>
              </a:spcBef>
              <a:spcAft>
                <a:spcPts val="600"/>
              </a:spcAft>
              <a:buClrTx/>
              <a:buSzTx/>
              <a:buFont typeface="Arial" panose="020B0604020202020204" pitchFamily="34" charset="0"/>
              <a:buChar char="•"/>
            </a:pPr>
            <a:endParaRPr lang="zh-CN" altLang="en-US" sz="1600" b="1" dirty="0">
              <a:solidFill>
                <a:schemeClr val="tx1">
                  <a:lumMod val="65000"/>
                  <a:lumOff val="35000"/>
                </a:schemeClr>
              </a:solidFill>
            </a:endParaRPr>
          </a:p>
        </p:txBody>
      </p:sp>
      <p:sp>
        <p:nvSpPr>
          <p:cNvPr id="106" name="椭圆 105"/>
          <p:cNvSpPr/>
          <p:nvPr>
            <p:custDataLst>
              <p:tags r:id="rId62"/>
            </p:custDataLst>
          </p:nvPr>
        </p:nvSpPr>
        <p:spPr>
          <a:xfrm>
            <a:off x="1809115" y="4338955"/>
            <a:ext cx="94615" cy="94615"/>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文本框 114"/>
          <p:cNvSpPr txBox="1"/>
          <p:nvPr>
            <p:custDataLst>
              <p:tags r:id="rId63"/>
            </p:custDataLst>
          </p:nvPr>
        </p:nvSpPr>
        <p:spPr>
          <a:xfrm>
            <a:off x="5206365" y="2596992"/>
            <a:ext cx="2476500" cy="646331"/>
          </a:xfrm>
          <a:prstGeom prst="rect">
            <a:avLst/>
          </a:prstGeom>
          <a:noFill/>
        </p:spPr>
        <p:txBody>
          <a:bodyPr wrap="square" rtlCol="0">
            <a:spAutoFit/>
          </a:bodyPr>
          <a:lstStyle/>
          <a:p>
            <a:r>
              <a:rPr lang="en-US" altLang="zh-CN" b="1" dirty="0">
                <a:solidFill>
                  <a:schemeClr val="tx1">
                    <a:lumMod val="65000"/>
                    <a:lumOff val="35000"/>
                  </a:schemeClr>
                </a:solidFill>
                <a:latin typeface="微软雅黑" panose="020B0503020204020204" charset="-122"/>
                <a:ea typeface="微软雅黑" panose="020B0503020204020204" charset="-122"/>
                <a:sym typeface="+mn-ea"/>
              </a:rPr>
              <a:t>He-HTLC</a:t>
            </a:r>
          </a:p>
          <a:p>
            <a:r>
              <a:rPr lang="en-US" altLang="zh-CN" b="1" dirty="0">
                <a:solidFill>
                  <a:schemeClr val="tx1">
                    <a:lumMod val="65000"/>
                    <a:lumOff val="35000"/>
                  </a:schemeClr>
                </a:solidFill>
                <a:latin typeface="微软雅黑" panose="020B0503020204020204" charset="-122"/>
                <a:ea typeface="微软雅黑" panose="020B0503020204020204" charset="-122"/>
                <a:sym typeface="+mn-ea"/>
              </a:rPr>
              <a:t>NDSS'23</a:t>
            </a:r>
            <a:endParaRPr lang="en-US" altLang="zh-CN" b="1" dirty="0">
              <a:solidFill>
                <a:schemeClr val="tx1">
                  <a:lumMod val="65000"/>
                  <a:lumOff val="35000"/>
                </a:schemeClr>
              </a:solidFill>
              <a:latin typeface="微软雅黑" panose="020B0503020204020204" charset="-122"/>
              <a:ea typeface="微软雅黑" panose="020B0503020204020204" charset="-122"/>
            </a:endParaRPr>
          </a:p>
        </p:txBody>
      </p:sp>
      <p:sp>
        <p:nvSpPr>
          <p:cNvPr id="116" name="文本框 115"/>
          <p:cNvSpPr txBox="1"/>
          <p:nvPr>
            <p:custDataLst>
              <p:tags r:id="rId64"/>
            </p:custDataLst>
          </p:nvPr>
        </p:nvSpPr>
        <p:spPr>
          <a:xfrm>
            <a:off x="5164137" y="1930139"/>
            <a:ext cx="2188845" cy="736805"/>
          </a:xfrm>
          <a:prstGeom prst="rect">
            <a:avLst/>
          </a:prstGeom>
          <a:noFill/>
        </p:spPr>
        <p:txBody>
          <a:bodyPr wrap="square" rtlCol="0">
            <a:spAutoFit/>
          </a:bodyPr>
          <a:lstStyle/>
          <a:p>
            <a:pPr marL="171450" indent="-171450">
              <a:lnSpc>
                <a:spcPct val="120000"/>
              </a:lnSpc>
              <a:buFont typeface="Arial" panose="020B0604020202020204" pitchFamily="34" charset="0"/>
              <a:buChar char="•"/>
            </a:pPr>
            <a:r>
              <a:rPr lang="zh-CN" altLang="en-US" sz="1200" dirty="0">
                <a:solidFill>
                  <a:schemeClr val="tx1">
                    <a:lumMod val="65000"/>
                    <a:lumOff val="35000"/>
                  </a:schemeClr>
                </a:solidFill>
              </a:rPr>
              <a:t>抗贿赂攻击</a:t>
            </a:r>
            <a:r>
              <a:rPr lang="en-US" altLang="zh-CN" sz="1200" dirty="0">
                <a:solidFill>
                  <a:schemeClr val="tx1">
                    <a:lumMod val="65000"/>
                    <a:lumOff val="35000"/>
                  </a:schemeClr>
                </a:solidFill>
              </a:rPr>
              <a:t>+</a:t>
            </a:r>
            <a:r>
              <a:rPr lang="zh-CN" altLang="en-US" sz="1200" dirty="0">
                <a:solidFill>
                  <a:schemeClr val="tx1">
                    <a:lumMod val="65000"/>
                    <a:lumOff val="35000"/>
                  </a:schemeClr>
                </a:solidFill>
              </a:rPr>
              <a:t>反向贿赂攻击</a:t>
            </a:r>
            <a:endParaRPr lang="en-US" altLang="zh-CN" sz="1200" dirty="0">
              <a:solidFill>
                <a:schemeClr val="tx1">
                  <a:lumMod val="65000"/>
                  <a:lumOff val="35000"/>
                </a:schemeClr>
              </a:solidFill>
            </a:endParaRPr>
          </a:p>
          <a:p>
            <a:pPr marL="171450" indent="-171450">
              <a:lnSpc>
                <a:spcPct val="120000"/>
              </a:lnSpc>
              <a:buFont typeface="Arial" panose="020B0604020202020204" pitchFamily="34" charset="0"/>
              <a:buChar char="•"/>
            </a:pPr>
            <a:r>
              <a:rPr lang="zh-CN" altLang="en-US" sz="1200" dirty="0">
                <a:solidFill>
                  <a:schemeClr val="tx1">
                    <a:lumMod val="65000"/>
                    <a:lumOff val="35000"/>
                  </a:schemeClr>
                </a:solidFill>
              </a:rPr>
              <a:t>提出主动理性矿工模型</a:t>
            </a:r>
            <a:endParaRPr lang="en-US" altLang="zh-CN" sz="1200" dirty="0">
              <a:solidFill>
                <a:schemeClr val="tx1">
                  <a:lumMod val="65000"/>
                  <a:lumOff val="35000"/>
                </a:schemeClr>
              </a:solidFill>
            </a:endParaRPr>
          </a:p>
          <a:p>
            <a:pPr marL="171450" indent="-171450">
              <a:lnSpc>
                <a:spcPct val="120000"/>
              </a:lnSpc>
              <a:buFont typeface="Arial" panose="020B0604020202020204" pitchFamily="34" charset="0"/>
              <a:buChar char="•"/>
            </a:pPr>
            <a:r>
              <a:rPr lang="zh-CN" altLang="en-US" sz="1200" dirty="0">
                <a:solidFill>
                  <a:schemeClr val="tx1">
                    <a:lumMod val="65000"/>
                    <a:lumOff val="35000"/>
                  </a:schemeClr>
                </a:solidFill>
              </a:rPr>
              <a:t>更轻量级的</a:t>
            </a:r>
            <a:r>
              <a:rPr lang="en-US" altLang="zh-CN" sz="1200" dirty="0">
                <a:solidFill>
                  <a:schemeClr val="tx1">
                    <a:lumMod val="65000"/>
                    <a:lumOff val="35000"/>
                  </a:schemeClr>
                </a:solidFill>
              </a:rPr>
              <a:t>HTLC-Spec</a:t>
            </a:r>
            <a:endParaRPr sz="1200" dirty="0">
              <a:solidFill>
                <a:schemeClr val="tx1">
                  <a:lumMod val="65000"/>
                  <a:lumOff val="35000"/>
                </a:schemeClr>
              </a:solidFill>
            </a:endParaRPr>
          </a:p>
        </p:txBody>
      </p:sp>
      <p:sp>
        <p:nvSpPr>
          <p:cNvPr id="119" name="文本框 118"/>
          <p:cNvSpPr txBox="1"/>
          <p:nvPr>
            <p:custDataLst>
              <p:tags r:id="rId65"/>
            </p:custDataLst>
          </p:nvPr>
        </p:nvSpPr>
        <p:spPr>
          <a:xfrm>
            <a:off x="10551969" y="3904142"/>
            <a:ext cx="1209030" cy="645160"/>
          </a:xfrm>
          <a:prstGeom prst="rect">
            <a:avLst/>
          </a:prstGeom>
          <a:noFill/>
        </p:spPr>
        <p:txBody>
          <a:bodyPr wrap="square" rtlCol="0">
            <a:spAutoFit/>
          </a:bodyPr>
          <a:lstStyle/>
          <a:p>
            <a:r>
              <a:rPr lang="en-US" altLang="zh-CN" b="1" dirty="0">
                <a:solidFill>
                  <a:schemeClr val="tx1">
                    <a:lumMod val="65000"/>
                    <a:lumOff val="35000"/>
                  </a:schemeClr>
                </a:solidFill>
                <a:latin typeface="微软雅黑" panose="020B0503020204020204" charset="-122"/>
                <a:ea typeface="微软雅黑" panose="020B0503020204020204" charset="-122"/>
                <a:sym typeface="+mn-ea"/>
              </a:rPr>
              <a:t>CCS'24</a:t>
            </a:r>
            <a:endParaRPr lang="en-US" altLang="zh-CN" b="1" dirty="0">
              <a:solidFill>
                <a:schemeClr val="tx1">
                  <a:lumMod val="65000"/>
                  <a:lumOff val="35000"/>
                </a:schemeClr>
              </a:solidFill>
              <a:latin typeface="微软雅黑" panose="020B0503020204020204" charset="-122"/>
              <a:ea typeface="微软雅黑" panose="020B0503020204020204" charset="-122"/>
            </a:endParaRPr>
          </a:p>
          <a:p>
            <a:r>
              <a:rPr lang="en-US" altLang="zh-CN" b="1" dirty="0">
                <a:solidFill>
                  <a:schemeClr val="tx1">
                    <a:lumMod val="65000"/>
                    <a:lumOff val="35000"/>
                  </a:schemeClr>
                </a:solidFill>
                <a:latin typeface="微软雅黑" panose="020B0503020204020204" charset="-122"/>
                <a:ea typeface="微软雅黑" panose="020B0503020204020204" charset="-122"/>
                <a:sym typeface="+mn-ea"/>
              </a:rPr>
              <a:t>CRAB</a:t>
            </a:r>
          </a:p>
        </p:txBody>
      </p:sp>
      <p:sp>
        <p:nvSpPr>
          <p:cNvPr id="120" name="文本框 119"/>
          <p:cNvSpPr txBox="1"/>
          <p:nvPr>
            <p:custDataLst>
              <p:tags r:id="rId66"/>
            </p:custDataLst>
          </p:nvPr>
        </p:nvSpPr>
        <p:spPr>
          <a:xfrm>
            <a:off x="10531516" y="4528251"/>
            <a:ext cx="1660484" cy="959622"/>
          </a:xfrm>
          <a:prstGeom prst="rect">
            <a:avLst/>
          </a:prstGeom>
          <a:noFill/>
        </p:spPr>
        <p:txBody>
          <a:bodyPr wrap="square" rtlCol="0">
            <a:spAutoFit/>
          </a:bodyPr>
          <a:lstStyle/>
          <a:p>
            <a:pPr marL="171450" indent="-171450">
              <a:lnSpc>
                <a:spcPct val="120000"/>
              </a:lnSpc>
              <a:buFont typeface="Arial" panose="020B0604020202020204" pitchFamily="34" charset="0"/>
              <a:buChar char="•"/>
            </a:pPr>
            <a:r>
              <a:rPr lang="zh-CN" altLang="en-US" sz="1200" dirty="0">
                <a:solidFill>
                  <a:schemeClr val="tx1">
                    <a:lumMod val="65000"/>
                    <a:lumOff val="35000"/>
                  </a:schemeClr>
                </a:solidFill>
              </a:rPr>
              <a:t>抗贿赂攻击和反向贿赂攻击的信道</a:t>
            </a:r>
            <a:endParaRPr lang="en-US" altLang="zh-CN" sz="1200" dirty="0">
              <a:solidFill>
                <a:schemeClr val="tx1">
                  <a:lumMod val="65000"/>
                  <a:lumOff val="35000"/>
                </a:schemeClr>
              </a:solidFill>
            </a:endParaRPr>
          </a:p>
          <a:p>
            <a:pPr marL="171450" indent="-171450">
              <a:lnSpc>
                <a:spcPct val="120000"/>
              </a:lnSpc>
              <a:buFont typeface="Arial" panose="020B0604020202020204" pitchFamily="34" charset="0"/>
              <a:buChar char="•"/>
            </a:pPr>
            <a:r>
              <a:rPr lang="zh-CN" altLang="en-US" sz="1200" dirty="0">
                <a:solidFill>
                  <a:schemeClr val="tx1">
                    <a:lumMod val="65000"/>
                    <a:lumOff val="35000"/>
                  </a:schemeClr>
                </a:solidFill>
              </a:rPr>
              <a:t>理性矿工、拜占庭节点模型</a:t>
            </a:r>
          </a:p>
        </p:txBody>
      </p:sp>
      <p:sp>
        <p:nvSpPr>
          <p:cNvPr id="130" name="椭圆 129"/>
          <p:cNvSpPr/>
          <p:nvPr>
            <p:custDataLst>
              <p:tags r:id="rId67"/>
            </p:custDataLst>
          </p:nvPr>
        </p:nvSpPr>
        <p:spPr>
          <a:xfrm>
            <a:off x="8218184" y="3645216"/>
            <a:ext cx="160655" cy="160655"/>
          </a:xfrm>
          <a:prstGeom prst="ellipse">
            <a:avLst/>
          </a:prstGeom>
          <a:solidFill>
            <a:srgbClr val="00B0F0"/>
          </a:solidFill>
          <a:ln>
            <a:noFill/>
          </a:ln>
          <a:effectLst>
            <a:glow rad="63500">
              <a:srgbClr val="93F0F3">
                <a:alpha val="53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2" name="文本框 131"/>
          <p:cNvSpPr txBox="1"/>
          <p:nvPr>
            <p:custDataLst>
              <p:tags r:id="rId68"/>
            </p:custDataLst>
          </p:nvPr>
        </p:nvSpPr>
        <p:spPr>
          <a:xfrm>
            <a:off x="8394721" y="2408205"/>
            <a:ext cx="2080852" cy="954107"/>
          </a:xfrm>
          <a:prstGeom prst="rect">
            <a:avLst/>
          </a:prstGeom>
          <a:noFill/>
        </p:spPr>
        <p:txBody>
          <a:bodyPr wrap="square" rtlCol="0">
            <a:spAutoFit/>
          </a:bodyPr>
          <a:lstStyle/>
          <a:p>
            <a:r>
              <a:rPr lang="en-US" altLang="zh-CN" b="1" dirty="0">
                <a:solidFill>
                  <a:schemeClr val="tx1">
                    <a:lumMod val="65000"/>
                    <a:lumOff val="35000"/>
                  </a:schemeClr>
                </a:solidFill>
                <a:latin typeface="微软雅黑" panose="020B0503020204020204" charset="-122"/>
                <a:ea typeface="微软雅黑" panose="020B0503020204020204" charset="-122"/>
                <a:sym typeface="+mn-ea"/>
              </a:rPr>
              <a:t>Blockchain Bribing Attacks</a:t>
            </a:r>
          </a:p>
          <a:p>
            <a:r>
              <a:rPr lang="en-US" altLang="zh-CN" b="1" dirty="0">
                <a:solidFill>
                  <a:schemeClr val="tx1">
                    <a:lumMod val="65000"/>
                    <a:lumOff val="35000"/>
                  </a:schemeClr>
                </a:solidFill>
                <a:latin typeface="微软雅黑" panose="020B0503020204020204" charset="-122"/>
                <a:ea typeface="微软雅黑" panose="020B0503020204020204" charset="-122"/>
                <a:sym typeface="+mn-ea"/>
              </a:rPr>
              <a:t>CCS'24</a:t>
            </a:r>
            <a:r>
              <a:rPr lang="en-US" altLang="zh-CN" sz="2000" b="1" dirty="0">
                <a:solidFill>
                  <a:schemeClr val="tx1">
                    <a:lumMod val="65000"/>
                    <a:lumOff val="35000"/>
                  </a:schemeClr>
                </a:solidFill>
                <a:latin typeface="微软雅黑" panose="020B0503020204020204" charset="-122"/>
                <a:ea typeface="微软雅黑" panose="020B0503020204020204" charset="-122"/>
                <a:sym typeface="+mn-ea"/>
              </a:rPr>
              <a:t> </a:t>
            </a:r>
            <a:endParaRPr lang="en-US" altLang="zh-CN" sz="2000" b="1" dirty="0">
              <a:solidFill>
                <a:schemeClr val="tx1">
                  <a:lumMod val="65000"/>
                  <a:lumOff val="35000"/>
                </a:schemeClr>
              </a:solidFill>
              <a:latin typeface="微软雅黑" panose="020B0503020204020204" charset="-122"/>
              <a:ea typeface="微软雅黑" panose="020B0503020204020204" charset="-122"/>
            </a:endParaRPr>
          </a:p>
        </p:txBody>
      </p:sp>
      <p:sp>
        <p:nvSpPr>
          <p:cNvPr id="133" name="文本框 132"/>
          <p:cNvSpPr txBox="1"/>
          <p:nvPr>
            <p:custDataLst>
              <p:tags r:id="rId69"/>
            </p:custDataLst>
          </p:nvPr>
        </p:nvSpPr>
        <p:spPr>
          <a:xfrm>
            <a:off x="8284224" y="1974532"/>
            <a:ext cx="1857375" cy="516423"/>
          </a:xfrm>
          <a:prstGeom prst="rect">
            <a:avLst/>
          </a:prstGeom>
          <a:noFill/>
        </p:spPr>
        <p:txBody>
          <a:bodyPr wrap="square" rtlCol="0">
            <a:spAutoFit/>
          </a:bodyPr>
          <a:lstStyle/>
          <a:p>
            <a:pPr marL="171450" indent="-171450">
              <a:lnSpc>
                <a:spcPct val="120000"/>
              </a:lnSpc>
              <a:buFont typeface="Arial" panose="020B0604020202020204" pitchFamily="34" charset="0"/>
              <a:buChar char="•"/>
            </a:pPr>
            <a:r>
              <a:rPr lang="en-US" altLang="zh-CN" sz="1200" dirty="0" err="1">
                <a:solidFill>
                  <a:schemeClr val="tx1">
                    <a:lumMod val="65000"/>
                    <a:lumOff val="35000"/>
                  </a:schemeClr>
                </a:solidFill>
              </a:rPr>
              <a:t>PoS</a:t>
            </a:r>
            <a:r>
              <a:rPr lang="zh-CN" altLang="en-US" sz="1200" dirty="0">
                <a:solidFill>
                  <a:schemeClr val="tx1">
                    <a:lumMod val="65000"/>
                    <a:lumOff val="35000"/>
                  </a:schemeClr>
                </a:solidFill>
              </a:rPr>
              <a:t>链贿赂攻击分析</a:t>
            </a:r>
            <a:endParaRPr lang="en-US" altLang="zh-CN" sz="1200" dirty="0">
              <a:solidFill>
                <a:schemeClr val="tx1">
                  <a:lumMod val="65000"/>
                  <a:lumOff val="35000"/>
                </a:schemeClr>
              </a:solidFill>
            </a:endParaRPr>
          </a:p>
          <a:p>
            <a:pPr marL="171450" indent="-171450">
              <a:lnSpc>
                <a:spcPct val="120000"/>
              </a:lnSpc>
              <a:buFont typeface="Arial" panose="020B0604020202020204" pitchFamily="34" charset="0"/>
              <a:buChar char="•"/>
            </a:pPr>
            <a:r>
              <a:rPr lang="zh-CN" altLang="en-US" sz="1200" dirty="0">
                <a:solidFill>
                  <a:schemeClr val="tx1">
                    <a:lumMod val="65000"/>
                    <a:lumOff val="35000"/>
                  </a:schemeClr>
                </a:solidFill>
              </a:rPr>
              <a:t>细化贿赂攻击分类</a:t>
            </a:r>
            <a:endParaRPr lang="zh-CN" sz="1200" dirty="0">
              <a:solidFill>
                <a:schemeClr val="tx1">
                  <a:lumMod val="65000"/>
                  <a:lumOff val="35000"/>
                </a:schemeClr>
              </a:solidFill>
            </a:endParaRPr>
          </a:p>
        </p:txBody>
      </p:sp>
      <p:sp>
        <p:nvSpPr>
          <p:cNvPr id="134" name="椭圆 133"/>
          <p:cNvSpPr/>
          <p:nvPr>
            <p:custDataLst>
              <p:tags r:id="rId70"/>
            </p:custDataLst>
          </p:nvPr>
        </p:nvSpPr>
        <p:spPr>
          <a:xfrm>
            <a:off x="8246124" y="2775266"/>
            <a:ext cx="94615" cy="94615"/>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5" name="椭圆 134"/>
          <p:cNvSpPr/>
          <p:nvPr>
            <p:custDataLst>
              <p:tags r:id="rId71"/>
            </p:custDataLst>
          </p:nvPr>
        </p:nvSpPr>
        <p:spPr>
          <a:xfrm>
            <a:off x="10443210" y="3625850"/>
            <a:ext cx="160655" cy="160655"/>
          </a:xfrm>
          <a:prstGeom prst="ellipse">
            <a:avLst/>
          </a:prstGeom>
          <a:solidFill>
            <a:srgbClr val="00B0F0"/>
          </a:solidFill>
          <a:ln>
            <a:noFill/>
          </a:ln>
          <a:effectLst>
            <a:glow rad="63500">
              <a:srgbClr val="93F0F3">
                <a:alpha val="53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7" name="椭圆 136"/>
          <p:cNvSpPr/>
          <p:nvPr>
            <p:custDataLst>
              <p:tags r:id="rId72"/>
            </p:custDataLst>
          </p:nvPr>
        </p:nvSpPr>
        <p:spPr>
          <a:xfrm>
            <a:off x="10490200" y="4338955"/>
            <a:ext cx="94615" cy="94615"/>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p:cNvSpPr/>
          <p:nvPr>
            <p:custDataLst>
              <p:tags r:id="rId73"/>
            </p:custDataLst>
          </p:nvPr>
        </p:nvSpPr>
        <p:spPr>
          <a:xfrm>
            <a:off x="44323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custDataLst>
              <p:tags r:id="rId74"/>
            </p:custDataLst>
          </p:nvPr>
        </p:nvSpPr>
        <p:spPr>
          <a:xfrm>
            <a:off x="425450" y="3625850"/>
            <a:ext cx="160655" cy="160655"/>
          </a:xfrm>
          <a:prstGeom prst="ellipse">
            <a:avLst/>
          </a:prstGeom>
          <a:solidFill>
            <a:srgbClr val="00B0F0"/>
          </a:solidFill>
          <a:ln>
            <a:noFill/>
          </a:ln>
          <a:effectLst>
            <a:glow rad="63500">
              <a:srgbClr val="93F0F3">
                <a:alpha val="53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4" name="直接连接符 43"/>
          <p:cNvCxnSpPr/>
          <p:nvPr>
            <p:custDataLst>
              <p:tags r:id="rId75"/>
            </p:custDataLst>
          </p:nvPr>
        </p:nvCxnSpPr>
        <p:spPr>
          <a:xfrm>
            <a:off x="3383280" y="3716655"/>
            <a:ext cx="488950" cy="0"/>
          </a:xfrm>
          <a:prstGeom prst="line">
            <a:avLst/>
          </a:prstGeom>
          <a:ln w="41275">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sp>
        <p:nvSpPr>
          <p:cNvPr id="48" name="文本框 47"/>
          <p:cNvSpPr txBox="1"/>
          <p:nvPr>
            <p:custDataLst>
              <p:tags r:id="rId76"/>
            </p:custDataLst>
          </p:nvPr>
        </p:nvSpPr>
        <p:spPr>
          <a:xfrm>
            <a:off x="408304" y="949960"/>
            <a:ext cx="7623175" cy="461665"/>
          </a:xfrm>
          <a:prstGeom prst="rect">
            <a:avLst/>
          </a:prstGeom>
          <a:noFill/>
        </p:spPr>
        <p:txBody>
          <a:bodyPr wrap="square" rtlCol="0">
            <a:spAutoFit/>
          </a:bodyPr>
          <a:lstStyle/>
          <a:p>
            <a:pPr marL="457200" indent="-457200">
              <a:buFont typeface="+mj-lt"/>
              <a:buAutoNum type="arabicPeriod"/>
            </a:pPr>
            <a:r>
              <a:rPr lang="zh-CN" altLang="en-US"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恶意场景下分布式数字资产交易安全性</a:t>
            </a:r>
          </a:p>
        </p:txBody>
      </p:sp>
      <p:grpSp>
        <p:nvGrpSpPr>
          <p:cNvPr id="97" name="组合 96"/>
          <p:cNvGrpSpPr/>
          <p:nvPr/>
        </p:nvGrpSpPr>
        <p:grpSpPr>
          <a:xfrm>
            <a:off x="408305" y="-635"/>
            <a:ext cx="11783060" cy="950595"/>
            <a:chOff x="643" y="-1"/>
            <a:chExt cx="18556" cy="1497"/>
          </a:xfrm>
        </p:grpSpPr>
        <p:sp>
          <p:nvSpPr>
            <p:cNvPr id="107" name="矩形 106"/>
            <p:cNvSpPr/>
            <p:nvPr>
              <p:custDataLst>
                <p:tags r:id="rId88"/>
              </p:custDataLst>
            </p:nvPr>
          </p:nvSpPr>
          <p:spPr>
            <a:xfrm>
              <a:off x="6097" y="-1"/>
              <a:ext cx="3135" cy="1137"/>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矩形 107"/>
            <p:cNvSpPr/>
            <p:nvPr>
              <p:custDataLst>
                <p:tags r:id="rId89"/>
              </p:custDataLst>
            </p:nvPr>
          </p:nvSpPr>
          <p:spPr>
            <a:xfrm>
              <a:off x="6097" y="-1"/>
              <a:ext cx="3135" cy="1137"/>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矩形 108"/>
            <p:cNvSpPr/>
            <p:nvPr>
              <p:custDataLst>
                <p:tags r:id="rId90"/>
              </p:custDataLst>
            </p:nvPr>
          </p:nvSpPr>
          <p:spPr>
            <a:xfrm>
              <a:off x="9232" y="-1"/>
              <a:ext cx="4907" cy="11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矩形 109"/>
            <p:cNvSpPr/>
            <p:nvPr>
              <p:custDataLst>
                <p:tags r:id="rId91"/>
              </p:custDataLst>
            </p:nvPr>
          </p:nvSpPr>
          <p:spPr>
            <a:xfrm>
              <a:off x="14139" y="0"/>
              <a:ext cx="5061" cy="11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矩形 110"/>
            <p:cNvSpPr/>
            <p:nvPr>
              <p:custDataLst>
                <p:tags r:id="rId92"/>
              </p:custDataLst>
            </p:nvPr>
          </p:nvSpPr>
          <p:spPr>
            <a:xfrm>
              <a:off x="2622" y="-1"/>
              <a:ext cx="3475" cy="1137"/>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文本框 111"/>
            <p:cNvSpPr txBox="1"/>
            <p:nvPr>
              <p:custDataLst>
                <p:tags r:id="rId93"/>
              </p:custDataLst>
            </p:nvPr>
          </p:nvSpPr>
          <p:spPr>
            <a:xfrm>
              <a:off x="2868" y="254"/>
              <a:ext cx="15855" cy="58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p>
          </p:txBody>
        </p:sp>
        <p:pic>
          <p:nvPicPr>
            <p:cNvPr id="122" name="Picture 2" descr="C:\Program Files\Apache Software Foundation\Tomcat 6.0\webapps\topo1\images\sklois1 (2).jpg"/>
            <p:cNvPicPr>
              <a:picLocks noChangeAspect="1" noChangeArrowheads="1"/>
            </p:cNvPicPr>
            <p:nvPr>
              <p:custDataLst>
                <p:tags r:id="rId94"/>
              </p:custDataLst>
            </p:nvPr>
          </p:nvPicPr>
          <p:blipFill>
            <a:blip r:embed="rId98" cstate="print">
              <a:extLst>
                <a:ext uri="{28A0092B-C50C-407E-A947-70E740481C1C}">
                  <a14:useLocalDpi xmlns:a14="http://schemas.microsoft.com/office/drawing/2010/main" val="0"/>
                </a:ext>
              </a:extLst>
            </a:blip>
            <a:srcRect l="5061" r="29001"/>
            <a:stretch>
              <a:fillRect/>
            </a:stretch>
          </p:blipFill>
          <p:spPr bwMode="auto">
            <a:xfrm>
              <a:off x="643" y="166"/>
              <a:ext cx="1504" cy="8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23" name="等腰三角形 122"/>
            <p:cNvSpPr/>
            <p:nvPr>
              <p:custDataLst>
                <p:tags r:id="rId95"/>
              </p:custDataLst>
            </p:nvPr>
          </p:nvSpPr>
          <p:spPr>
            <a:xfrm rot="10800000">
              <a:off x="7230" y="1136"/>
              <a:ext cx="460" cy="36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p:custDataLst>
              <p:tags r:id="rId77"/>
            </p:custDataLst>
          </p:nvPr>
        </p:nvSpPr>
        <p:spPr>
          <a:xfrm>
            <a:off x="5126355" y="367157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custDataLst>
              <p:tags r:id="rId78"/>
            </p:custDataLst>
          </p:nvPr>
        </p:nvCxnSpPr>
        <p:spPr>
          <a:xfrm flipV="1">
            <a:off x="5182870" y="2002155"/>
            <a:ext cx="0" cy="1626235"/>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95" name="椭圆 94"/>
          <p:cNvSpPr/>
          <p:nvPr>
            <p:custDataLst>
              <p:tags r:id="rId79"/>
            </p:custDataLst>
          </p:nvPr>
        </p:nvSpPr>
        <p:spPr>
          <a:xfrm>
            <a:off x="5137785" y="2755900"/>
            <a:ext cx="94615" cy="94615"/>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椭圆 95"/>
          <p:cNvSpPr/>
          <p:nvPr>
            <p:custDataLst>
              <p:tags r:id="rId80"/>
            </p:custDataLst>
          </p:nvPr>
        </p:nvSpPr>
        <p:spPr>
          <a:xfrm>
            <a:off x="5102225" y="3628390"/>
            <a:ext cx="160655" cy="160655"/>
          </a:xfrm>
          <a:prstGeom prst="ellipse">
            <a:avLst/>
          </a:prstGeom>
          <a:solidFill>
            <a:srgbClr val="00B0F0"/>
          </a:solidFill>
          <a:ln>
            <a:noFill/>
          </a:ln>
          <a:effectLst>
            <a:glow rad="63500">
              <a:srgbClr val="93F0F3">
                <a:alpha val="53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椭圆 125">
            <a:extLst>
              <a:ext uri="{FF2B5EF4-FFF2-40B4-BE49-F238E27FC236}">
                <a16:creationId xmlns:a16="http://schemas.microsoft.com/office/drawing/2014/main" id="{E6C76974-5877-70FD-31A6-4BF9E65E1CEF}"/>
              </a:ext>
            </a:extLst>
          </p:cNvPr>
          <p:cNvSpPr/>
          <p:nvPr>
            <p:custDataLst>
              <p:tags r:id="rId81"/>
            </p:custDataLst>
          </p:nvPr>
        </p:nvSpPr>
        <p:spPr>
          <a:xfrm>
            <a:off x="6038297" y="3669607"/>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7" name="椭圆 126"/>
          <p:cNvSpPr/>
          <p:nvPr>
            <p:custDataLst>
              <p:tags r:id="rId82"/>
            </p:custDataLst>
          </p:nvPr>
        </p:nvSpPr>
        <p:spPr>
          <a:xfrm>
            <a:off x="6902132" y="367792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椭圆 143"/>
          <p:cNvSpPr/>
          <p:nvPr>
            <p:custDataLst>
              <p:tags r:id="rId83"/>
            </p:custDataLst>
          </p:nvPr>
        </p:nvSpPr>
        <p:spPr>
          <a:xfrm>
            <a:off x="6884352" y="3634740"/>
            <a:ext cx="160655" cy="160655"/>
          </a:xfrm>
          <a:prstGeom prst="ellipse">
            <a:avLst/>
          </a:prstGeom>
          <a:solidFill>
            <a:srgbClr val="00B0F0"/>
          </a:solidFill>
          <a:ln>
            <a:noFill/>
          </a:ln>
          <a:effectLst>
            <a:glow rad="63500">
              <a:srgbClr val="93F0F3">
                <a:alpha val="53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椭圆 146"/>
          <p:cNvSpPr/>
          <p:nvPr>
            <p:custDataLst>
              <p:tags r:id="rId84"/>
            </p:custDataLst>
          </p:nvPr>
        </p:nvSpPr>
        <p:spPr>
          <a:xfrm>
            <a:off x="6918336" y="4272657"/>
            <a:ext cx="94615" cy="94615"/>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椭圆 3">
            <a:extLst>
              <a:ext uri="{FF2B5EF4-FFF2-40B4-BE49-F238E27FC236}">
                <a16:creationId xmlns:a16="http://schemas.microsoft.com/office/drawing/2014/main" id="{4909484E-F957-2D21-D6C5-DAF5816FE4E6}"/>
              </a:ext>
            </a:extLst>
          </p:cNvPr>
          <p:cNvSpPr/>
          <p:nvPr>
            <p:custDataLst>
              <p:tags r:id="rId85"/>
            </p:custDataLst>
          </p:nvPr>
        </p:nvSpPr>
        <p:spPr>
          <a:xfrm>
            <a:off x="9800590" y="3673158"/>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8D1A15A6-DA77-886B-6227-A13D85105D19}"/>
              </a:ext>
            </a:extLst>
          </p:cNvPr>
          <p:cNvSpPr txBox="1"/>
          <p:nvPr>
            <p:custDataLst>
              <p:tags r:id="rId86"/>
            </p:custDataLst>
          </p:nvPr>
        </p:nvSpPr>
        <p:spPr>
          <a:xfrm>
            <a:off x="6995829" y="4049865"/>
            <a:ext cx="1335702" cy="646331"/>
          </a:xfrm>
          <a:prstGeom prst="rect">
            <a:avLst/>
          </a:prstGeom>
          <a:noFill/>
        </p:spPr>
        <p:txBody>
          <a:bodyPr wrap="square" rtlCol="0" anchor="t">
            <a:spAutoFit/>
          </a:bodyPr>
          <a:lstStyle/>
          <a:p>
            <a:r>
              <a:rPr lang="en-US" altLang="zh-CN" b="1" dirty="0">
                <a:solidFill>
                  <a:schemeClr val="tx1">
                    <a:lumMod val="65000"/>
                    <a:lumOff val="35000"/>
                  </a:schemeClr>
                </a:solidFill>
                <a:latin typeface="微软雅黑" panose="020B0503020204020204" charset="-122"/>
                <a:ea typeface="微软雅黑" panose="020B0503020204020204" charset="-122"/>
                <a:sym typeface="+mn-ea"/>
              </a:rPr>
              <a:t>Usenix'23</a:t>
            </a:r>
          </a:p>
          <a:p>
            <a:r>
              <a:rPr lang="en-US" altLang="zh-CN" b="1" dirty="0">
                <a:solidFill>
                  <a:schemeClr val="tx1">
                    <a:lumMod val="65000"/>
                    <a:lumOff val="35000"/>
                  </a:schemeClr>
                </a:solidFill>
                <a:latin typeface="微软雅黑" panose="020B0503020204020204" charset="-122"/>
                <a:ea typeface="微软雅黑" panose="020B0503020204020204" charset="-122"/>
                <a:sym typeface="+mn-ea"/>
              </a:rPr>
              <a:t>Glimpse</a:t>
            </a:r>
            <a:endParaRPr lang="en-US" altLang="zh-CN" sz="1600" b="1" dirty="0">
              <a:solidFill>
                <a:schemeClr val="tx1">
                  <a:lumMod val="65000"/>
                  <a:lumOff val="35000"/>
                </a:schemeClr>
              </a:solidFill>
              <a:latin typeface="微软雅黑" panose="020B0503020204020204" charset="-122"/>
              <a:ea typeface="微软雅黑" panose="020B0503020204020204" charset="-122"/>
              <a:sym typeface="+mn-ea"/>
            </a:endParaRPr>
          </a:p>
        </p:txBody>
      </p:sp>
      <p:sp>
        <p:nvSpPr>
          <p:cNvPr id="6" name="文本框 5">
            <a:extLst>
              <a:ext uri="{FF2B5EF4-FFF2-40B4-BE49-F238E27FC236}">
                <a16:creationId xmlns:a16="http://schemas.microsoft.com/office/drawing/2014/main" id="{B65820FB-3D4B-3663-F10B-599838E4FE4E}"/>
              </a:ext>
            </a:extLst>
          </p:cNvPr>
          <p:cNvSpPr txBox="1"/>
          <p:nvPr>
            <p:custDataLst>
              <p:tags r:id="rId87"/>
            </p:custDataLst>
          </p:nvPr>
        </p:nvSpPr>
        <p:spPr>
          <a:xfrm>
            <a:off x="6957377" y="4651002"/>
            <a:ext cx="1450975" cy="646331"/>
          </a:xfrm>
          <a:prstGeom prst="rect">
            <a:avLst/>
          </a:prstGeom>
          <a:noFill/>
        </p:spPr>
        <p:txBody>
          <a:bodyPr wrap="square" rtlCol="0">
            <a:spAutoFit/>
          </a:bodyPr>
          <a:lstStyle/>
          <a:p>
            <a:pPr marL="171450" indent="-171450" algn="l">
              <a:spcBef>
                <a:spcPts val="600"/>
              </a:spcBef>
              <a:spcAft>
                <a:spcPts val="600"/>
              </a:spcAft>
              <a:buClrTx/>
              <a:buSzTx/>
              <a:buFont typeface="Arial" panose="020B0604020202020204" pitchFamily="34" charset="0"/>
              <a:buChar char="•"/>
            </a:pPr>
            <a:r>
              <a:rPr lang="zh-CN" altLang="en-US" sz="1200" dirty="0">
                <a:solidFill>
                  <a:schemeClr val="tx1">
                    <a:lumMod val="65000"/>
                    <a:lumOff val="35000"/>
                  </a:schemeClr>
                </a:solidFill>
                <a:sym typeface="+mn-ea"/>
              </a:rPr>
              <a:t>以</a:t>
            </a:r>
            <a:r>
              <a:rPr lang="en-US" altLang="zh-CN" sz="1200" dirty="0">
                <a:solidFill>
                  <a:schemeClr val="tx1">
                    <a:lumMod val="65000"/>
                    <a:lumOff val="35000"/>
                  </a:schemeClr>
                </a:solidFill>
                <a:sym typeface="+mn-ea"/>
              </a:rPr>
              <a:t>MAD-HTLC</a:t>
            </a:r>
            <a:r>
              <a:rPr lang="zh-CN" altLang="en-US" sz="1200" dirty="0">
                <a:solidFill>
                  <a:schemeClr val="tx1">
                    <a:lumMod val="65000"/>
                    <a:lumOff val="35000"/>
                  </a:schemeClr>
                </a:solidFill>
                <a:sym typeface="+mn-ea"/>
              </a:rPr>
              <a:t>作为安全模块构建跨链桥</a:t>
            </a:r>
            <a:endParaRPr lang="en-US" altLang="zh-CN" sz="1200" dirty="0">
              <a:solidFill>
                <a:schemeClr val="tx1">
                  <a:lumMod val="65000"/>
                  <a:lumOff val="35000"/>
                </a:schemeClr>
              </a:solidFill>
              <a:sym typeface="+mn-ea"/>
            </a:endParaRPr>
          </a:p>
        </p:txBody>
      </p:sp>
      <p:sp>
        <p:nvSpPr>
          <p:cNvPr id="3" name="文本框 2">
            <a:extLst>
              <a:ext uri="{FF2B5EF4-FFF2-40B4-BE49-F238E27FC236}">
                <a16:creationId xmlns:a16="http://schemas.microsoft.com/office/drawing/2014/main" id="{C5A3F338-E973-8C46-CD77-25717A155DD7}"/>
              </a:ext>
            </a:extLst>
          </p:cNvPr>
          <p:cNvSpPr txBox="1"/>
          <p:nvPr/>
        </p:nvSpPr>
        <p:spPr>
          <a:xfrm>
            <a:off x="11736779" y="6499761"/>
            <a:ext cx="455221" cy="369332"/>
          </a:xfrm>
          <a:prstGeom prst="rect">
            <a:avLst/>
          </a:prstGeom>
          <a:noFill/>
        </p:spPr>
        <p:txBody>
          <a:bodyPr wrap="square" rtlCol="0">
            <a:spAutoFit/>
          </a:bodyPr>
          <a:lstStyle/>
          <a:p>
            <a:pPr algn="ctr"/>
            <a:r>
              <a:rPr lang="en-US" altLang="zh-CN" dirty="0"/>
              <a:t>16</a:t>
            </a:r>
            <a:endParaRPr lang="zh-CN" alt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mc:Choice>
    <mc:Fallback xmlns="">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 name="矩形 3"/>
          <p:cNvSpPr/>
          <p:nvPr>
            <p:custDataLst>
              <p:tags r:id="rId2"/>
            </p:custDataLst>
          </p:nvPr>
        </p:nvSpPr>
        <p:spPr>
          <a:xfrm>
            <a:off x="5958205" y="2322195"/>
            <a:ext cx="6026150" cy="3710940"/>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243205" y="1830070"/>
            <a:ext cx="5737225" cy="4719320"/>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圆角矩形 55"/>
          <p:cNvSpPr/>
          <p:nvPr>
            <p:custDataLst>
              <p:tags r:id="rId3"/>
            </p:custDataLst>
          </p:nvPr>
        </p:nvSpPr>
        <p:spPr>
          <a:xfrm>
            <a:off x="243205" y="2497455"/>
            <a:ext cx="5737225" cy="1646555"/>
          </a:xfrm>
          <a:prstGeom prst="roundRect">
            <a:avLst/>
          </a:prstGeom>
          <a:solidFill>
            <a:srgbClr val="F2F2F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p:cNvSpPr txBox="1"/>
          <p:nvPr>
            <p:custDataLst>
              <p:tags r:id="rId4"/>
            </p:custDataLst>
          </p:nvPr>
        </p:nvSpPr>
        <p:spPr>
          <a:xfrm>
            <a:off x="408305" y="949960"/>
            <a:ext cx="8300266" cy="738664"/>
          </a:xfrm>
          <a:prstGeom prst="rect">
            <a:avLst/>
          </a:prstGeom>
          <a:noFill/>
        </p:spPr>
        <p:txBody>
          <a:bodyPr wrap="square" rtlCol="0">
            <a:spAutoFit/>
          </a:bodyPr>
          <a:lstStyle/>
          <a:p>
            <a:pPr marL="457200" indent="-457200" algn="l" fontAlgn="auto">
              <a:buClrTx/>
              <a:buSzTx/>
              <a:buFont typeface="+mj-lt"/>
              <a:buAutoNum type="arabicPeriod"/>
            </a:pPr>
            <a:r>
              <a:rPr lang="zh-CN" altLang="en-US"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恶意场景下分布式数字资产交易安全性</a:t>
            </a:r>
          </a:p>
          <a:p>
            <a:pPr algn="l">
              <a:buClrTx/>
              <a:buSzTx/>
              <a:buFontTx/>
            </a:pPr>
            <a:r>
              <a:rPr lang="en-US" altLang="zh-CN" sz="1800" b="1"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      </a:t>
            </a:r>
            <a:r>
              <a:rPr lang="zh-CN" altLang="en-US" b="1"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系统优化</a:t>
            </a:r>
            <a:endParaRPr lang="en-US" altLang="zh-CN" sz="1800" b="1"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endParaRPr>
          </a:p>
        </p:txBody>
      </p:sp>
      <p:grpSp>
        <p:nvGrpSpPr>
          <p:cNvPr id="97" name="组合 96"/>
          <p:cNvGrpSpPr/>
          <p:nvPr/>
        </p:nvGrpSpPr>
        <p:grpSpPr>
          <a:xfrm>
            <a:off x="408305" y="-635"/>
            <a:ext cx="11783060" cy="950595"/>
            <a:chOff x="643" y="-1"/>
            <a:chExt cx="18556" cy="1497"/>
          </a:xfrm>
        </p:grpSpPr>
        <p:sp>
          <p:nvSpPr>
            <p:cNvPr id="107" name="矩形 106"/>
            <p:cNvSpPr/>
            <p:nvPr>
              <p:custDataLst>
                <p:tags r:id="rId6"/>
              </p:custDataLst>
            </p:nvPr>
          </p:nvSpPr>
          <p:spPr>
            <a:xfrm>
              <a:off x="6097" y="-1"/>
              <a:ext cx="3135" cy="1137"/>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矩形 107"/>
            <p:cNvSpPr/>
            <p:nvPr>
              <p:custDataLst>
                <p:tags r:id="rId7"/>
              </p:custDataLst>
            </p:nvPr>
          </p:nvSpPr>
          <p:spPr>
            <a:xfrm>
              <a:off x="6097" y="-1"/>
              <a:ext cx="3135" cy="1137"/>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矩形 108"/>
            <p:cNvSpPr/>
            <p:nvPr>
              <p:custDataLst>
                <p:tags r:id="rId8"/>
              </p:custDataLst>
            </p:nvPr>
          </p:nvSpPr>
          <p:spPr>
            <a:xfrm>
              <a:off x="9232" y="-1"/>
              <a:ext cx="4907" cy="11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矩形 109"/>
            <p:cNvSpPr/>
            <p:nvPr>
              <p:custDataLst>
                <p:tags r:id="rId9"/>
              </p:custDataLst>
            </p:nvPr>
          </p:nvSpPr>
          <p:spPr>
            <a:xfrm>
              <a:off x="14139" y="0"/>
              <a:ext cx="5061" cy="11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矩形 110"/>
            <p:cNvSpPr/>
            <p:nvPr>
              <p:custDataLst>
                <p:tags r:id="rId10"/>
              </p:custDataLst>
            </p:nvPr>
          </p:nvSpPr>
          <p:spPr>
            <a:xfrm>
              <a:off x="2622" y="-1"/>
              <a:ext cx="3475" cy="1137"/>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文本框 111"/>
            <p:cNvSpPr txBox="1"/>
            <p:nvPr>
              <p:custDataLst>
                <p:tags r:id="rId11"/>
              </p:custDataLst>
            </p:nvPr>
          </p:nvSpPr>
          <p:spPr>
            <a:xfrm>
              <a:off x="2868" y="254"/>
              <a:ext cx="15855" cy="58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p>
          </p:txBody>
        </p:sp>
        <p:pic>
          <p:nvPicPr>
            <p:cNvPr id="122" name="Picture 2" descr="C:\Program Files\Apache Software Foundation\Tomcat 6.0\webapps\topo1\images\sklois1 (2).jpg"/>
            <p:cNvPicPr>
              <a:picLocks noChangeAspect="1" noChangeArrowheads="1"/>
            </p:cNvPicPr>
            <p:nvPr>
              <p:custDataLst>
                <p:tags r:id="rId12"/>
              </p:custDataLst>
            </p:nvPr>
          </p:nvPicPr>
          <p:blipFill>
            <a:blip r:embed="rId16" cstate="print">
              <a:extLst>
                <a:ext uri="{28A0092B-C50C-407E-A947-70E740481C1C}">
                  <a14:useLocalDpi xmlns:a14="http://schemas.microsoft.com/office/drawing/2010/main" val="0"/>
                </a:ext>
              </a:extLst>
            </a:blip>
            <a:srcRect l="5061" r="29001"/>
            <a:stretch>
              <a:fillRect/>
            </a:stretch>
          </p:blipFill>
          <p:spPr bwMode="auto">
            <a:xfrm>
              <a:off x="643" y="166"/>
              <a:ext cx="1504" cy="8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23" name="等腰三角形 122"/>
            <p:cNvSpPr/>
            <p:nvPr>
              <p:custDataLst>
                <p:tags r:id="rId13"/>
              </p:custDataLst>
            </p:nvPr>
          </p:nvSpPr>
          <p:spPr>
            <a:xfrm rot="10800000">
              <a:off x="7230" y="1136"/>
              <a:ext cx="460" cy="36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 name="文本框 4"/>
          <p:cNvSpPr txBox="1"/>
          <p:nvPr>
            <p:custDataLst>
              <p:tags r:id="rId5"/>
            </p:custDataLst>
          </p:nvPr>
        </p:nvSpPr>
        <p:spPr>
          <a:xfrm>
            <a:off x="408305" y="2023745"/>
            <a:ext cx="5453380" cy="4368165"/>
          </a:xfrm>
          <a:prstGeom prst="rect">
            <a:avLst/>
          </a:prstGeom>
          <a:noFill/>
        </p:spPr>
        <p:txBody>
          <a:bodyPr wrap="square" rtlCol="0">
            <a:noAutofit/>
          </a:bodyPr>
          <a:lstStyle/>
          <a:p>
            <a:pPr marL="342900" indent="-342900" fontAlgn="auto">
              <a:lnSpc>
                <a:spcPct val="120000"/>
              </a:lnSpc>
              <a:buFont typeface="Arial" panose="020B0604020202020204" pitchFamily="34" charset="0"/>
              <a:buChar char="•"/>
            </a:pPr>
            <a:r>
              <a:rPr lang="zh-CN" altLang="en-US" sz="2000" b="1" dirty="0"/>
              <a:t>激励机制优化矿工事务处理逻辑</a:t>
            </a:r>
          </a:p>
          <a:p>
            <a:pPr fontAlgn="auto">
              <a:lnSpc>
                <a:spcPct val="120000"/>
              </a:lnSpc>
            </a:pPr>
            <a:endParaRPr lang="en-US" altLang="zh-CN" sz="1200" b="1" dirty="0"/>
          </a:p>
          <a:p>
            <a:pPr fontAlgn="auto">
              <a:lnSpc>
                <a:spcPct val="120000"/>
              </a:lnSpc>
            </a:pPr>
            <a:r>
              <a:rPr lang="zh-CN" altLang="en-US" sz="2000" b="1" dirty="0"/>
              <a:t>理性矿工模型</a:t>
            </a:r>
          </a:p>
          <a:p>
            <a:pPr marL="800100" lvl="1" indent="-342900">
              <a:lnSpc>
                <a:spcPct val="120000"/>
              </a:lnSpc>
              <a:buFont typeface="Arial" panose="020B0604020202020204" pitchFamily="34" charset="0"/>
              <a:buChar char="•"/>
            </a:pPr>
            <a:r>
              <a:rPr lang="zh-CN" altLang="en-US" b="1" dirty="0"/>
              <a:t>被动理性矿工：</a:t>
            </a:r>
            <a:r>
              <a:rPr lang="zh-CN" altLang="en-US" dirty="0"/>
              <a:t>只筛选当前发布上链交易</a:t>
            </a:r>
            <a:endParaRPr lang="en-US" altLang="zh-CN" dirty="0"/>
          </a:p>
          <a:p>
            <a:pPr marL="800100" lvl="1" indent="-342900">
              <a:lnSpc>
                <a:spcPct val="120000"/>
              </a:lnSpc>
              <a:buFont typeface="Arial" panose="020B0604020202020204" pitchFamily="34" charset="0"/>
              <a:buChar char="•"/>
            </a:pPr>
            <a:r>
              <a:rPr lang="zh-CN" altLang="en-US" dirty="0"/>
              <a:t>主动理性矿工：主动参与到协议流程中谋取利益更高的交易</a:t>
            </a:r>
            <a:endParaRPr lang="en-US" altLang="zh-CN" dirty="0"/>
          </a:p>
          <a:p>
            <a:pPr lvl="1">
              <a:lnSpc>
                <a:spcPct val="120000"/>
              </a:lnSpc>
            </a:pPr>
            <a:endParaRPr lang="zh-CN" altLang="en-US" sz="1200" dirty="0"/>
          </a:p>
          <a:p>
            <a:pPr indent="457200" fontAlgn="auto">
              <a:lnSpc>
                <a:spcPct val="120000"/>
              </a:lnSpc>
            </a:pPr>
            <a:r>
              <a:rPr lang="en-US" altLang="zh-CN" b="1" dirty="0">
                <a:solidFill>
                  <a:srgbClr val="04579A"/>
                </a:solidFill>
                <a:latin typeface="微软雅黑" panose="020B0503020204020204" charset="-122"/>
                <a:ea typeface="微软雅黑" panose="020B0503020204020204" charset="-122"/>
                <a:cs typeface="微软雅黑" panose="020B0503020204020204" charset="-122"/>
              </a:rPr>
              <a:t>MAD-HTLC SP</a:t>
            </a:r>
            <a:r>
              <a:rPr lang="en-US" altLang="zh-CN" b="1" dirty="0">
                <a:solidFill>
                  <a:schemeClr val="tx1">
                    <a:lumMod val="65000"/>
                    <a:lumOff val="35000"/>
                  </a:schemeClr>
                </a:solidFill>
                <a:latin typeface="微软雅黑" panose="020B0503020204020204" charset="-122"/>
                <a:ea typeface="微软雅黑" panose="020B0503020204020204" charset="-122"/>
                <a:sym typeface="+mn-ea"/>
              </a:rPr>
              <a:t>'</a:t>
            </a:r>
            <a:r>
              <a:rPr lang="en-US" altLang="zh-CN" b="1" dirty="0">
                <a:solidFill>
                  <a:srgbClr val="04579A"/>
                </a:solidFill>
                <a:latin typeface="微软雅黑" panose="020B0503020204020204" charset="-122"/>
                <a:ea typeface="微软雅黑" panose="020B0503020204020204" charset="-122"/>
                <a:cs typeface="微软雅黑" panose="020B0503020204020204" charset="-122"/>
              </a:rPr>
              <a:t>21</a:t>
            </a:r>
          </a:p>
          <a:p>
            <a:pPr indent="457200" fontAlgn="auto">
              <a:lnSpc>
                <a:spcPct val="120000"/>
              </a:lnSpc>
              <a:spcAft>
                <a:spcPts val="600"/>
              </a:spcAft>
            </a:pPr>
            <a:r>
              <a:rPr lang="zh-CN" altLang="en-US" dirty="0">
                <a:latin typeface="微软雅黑" panose="020B0503020204020204" charset="-122"/>
                <a:ea typeface="微软雅黑" panose="020B0503020204020204" charset="-122"/>
                <a:cs typeface="微软雅黑" panose="020B0503020204020204" charset="-122"/>
              </a:rPr>
              <a:t>将被动理性矿工选择交易的行为作为惩罚机制</a:t>
            </a:r>
            <a:r>
              <a:rPr lang="en-US" altLang="zh-CN" dirty="0">
                <a:latin typeface="微软雅黑" panose="020B0503020204020204" charset="-122"/>
                <a:ea typeface="微软雅黑" panose="020B0503020204020204" charset="-122"/>
                <a:cs typeface="微软雅黑" panose="020B0503020204020204" charset="-122"/>
              </a:rPr>
              <a:t>，</a:t>
            </a:r>
            <a:r>
              <a:rPr lang="zh-CN" altLang="en-US" dirty="0">
                <a:latin typeface="微软雅黑" panose="020B0503020204020204" charset="-122"/>
                <a:ea typeface="微软雅黑" panose="020B0503020204020204" charset="-122"/>
                <a:cs typeface="微软雅黑" panose="020B0503020204020204" charset="-122"/>
              </a:rPr>
              <a:t>使恶意节点出现违反协议行为时，其财产被矿工没收</a:t>
            </a:r>
            <a:endParaRPr lang="en-US" altLang="zh-CN" dirty="0">
              <a:latin typeface="微软雅黑" panose="020B0503020204020204" charset="-122"/>
              <a:ea typeface="微软雅黑" panose="020B0503020204020204" charset="-122"/>
              <a:cs typeface="微软雅黑" panose="020B0503020204020204" charset="-122"/>
            </a:endParaRPr>
          </a:p>
          <a:p>
            <a:pPr indent="457200" fontAlgn="auto">
              <a:lnSpc>
                <a:spcPct val="120000"/>
              </a:lnSpc>
            </a:pPr>
            <a:r>
              <a:rPr lang="en-US" altLang="zh-CN" b="1" dirty="0">
                <a:solidFill>
                  <a:srgbClr val="04579A"/>
                </a:solidFill>
                <a:latin typeface="微软雅黑" panose="020B0503020204020204" charset="-122"/>
                <a:ea typeface="微软雅黑" panose="020B0503020204020204" charset="-122"/>
                <a:cs typeface="微软雅黑" panose="020B0503020204020204" charset="-122"/>
              </a:rPr>
              <a:t>CRAB CCS</a:t>
            </a:r>
            <a:r>
              <a:rPr lang="en-US" altLang="zh-CN" b="1" dirty="0">
                <a:solidFill>
                  <a:schemeClr val="tx1">
                    <a:lumMod val="65000"/>
                    <a:lumOff val="35000"/>
                  </a:schemeClr>
                </a:solidFill>
                <a:latin typeface="微软雅黑" panose="020B0503020204020204" charset="-122"/>
                <a:ea typeface="微软雅黑" panose="020B0503020204020204" charset="-122"/>
                <a:sym typeface="+mn-ea"/>
              </a:rPr>
              <a:t>'</a:t>
            </a:r>
            <a:r>
              <a:rPr lang="en-US" altLang="zh-CN" b="1" dirty="0">
                <a:solidFill>
                  <a:srgbClr val="04579A"/>
                </a:solidFill>
                <a:latin typeface="微软雅黑" panose="020B0503020204020204" charset="-122"/>
                <a:ea typeface="微软雅黑" panose="020B0503020204020204" charset="-122"/>
                <a:cs typeface="微软雅黑" panose="020B0503020204020204" charset="-122"/>
              </a:rPr>
              <a:t>24</a:t>
            </a:r>
          </a:p>
          <a:p>
            <a:pPr indent="457200" fontAlgn="auto">
              <a:lnSpc>
                <a:spcPct val="120000"/>
              </a:lnSpc>
              <a:spcAft>
                <a:spcPts val="600"/>
              </a:spcAft>
            </a:pPr>
            <a:r>
              <a:rPr lang="zh-CN" altLang="en-US" dirty="0">
                <a:latin typeface="微软雅黑" panose="020B0503020204020204" charset="-122"/>
                <a:ea typeface="微软雅黑" panose="020B0503020204020204" charset="-122"/>
                <a:cs typeface="微软雅黑" panose="020B0503020204020204" charset="-122"/>
              </a:rPr>
              <a:t>利用主动理性矿工积极参与到协议的行为设计即时惩罚机制，拜占庭节点作恶时诚实节点获得补偿</a:t>
            </a:r>
            <a:endParaRPr lang="zh-CN" altLang="en-US" b="1" dirty="0">
              <a:latin typeface="微软雅黑" panose="020B0503020204020204" charset="-122"/>
              <a:ea typeface="微软雅黑" panose="020B0503020204020204" charset="-122"/>
              <a:cs typeface="微软雅黑" panose="020B0503020204020204" charset="-122"/>
              <a:sym typeface="+mn-ea"/>
            </a:endParaRPr>
          </a:p>
          <a:p>
            <a:pPr indent="457200" fontAlgn="auto">
              <a:lnSpc>
                <a:spcPct val="120000"/>
              </a:lnSpc>
              <a:spcAft>
                <a:spcPts val="600"/>
              </a:spcAft>
            </a:pPr>
            <a:endParaRPr lang="en-US" altLang="zh-CN" dirty="0">
              <a:latin typeface="微软雅黑" panose="020B0503020204020204" charset="-122"/>
              <a:ea typeface="微软雅黑" panose="020B0503020204020204" charset="-122"/>
              <a:cs typeface="微软雅黑" panose="020B0503020204020204" charset="-122"/>
            </a:endParaRPr>
          </a:p>
        </p:txBody>
      </p:sp>
      <p:pic>
        <p:nvPicPr>
          <p:cNvPr id="10" name="图片 9">
            <a:extLst>
              <a:ext uri="{FF2B5EF4-FFF2-40B4-BE49-F238E27FC236}">
                <a16:creationId xmlns:a16="http://schemas.microsoft.com/office/drawing/2014/main" id="{6DF02781-C2C9-E987-161F-4E233FFCC864}"/>
              </a:ext>
            </a:extLst>
          </p:cNvPr>
          <p:cNvPicPr>
            <a:picLocks noChangeAspect="1"/>
          </p:cNvPicPr>
          <p:nvPr/>
        </p:nvPicPr>
        <p:blipFill>
          <a:blip r:embed="rId17"/>
          <a:stretch>
            <a:fillRect/>
          </a:stretch>
        </p:blipFill>
        <p:spPr>
          <a:xfrm>
            <a:off x="6153249" y="3045252"/>
            <a:ext cx="5636061" cy="2761782"/>
          </a:xfrm>
          <a:prstGeom prst="rect">
            <a:avLst/>
          </a:prstGeom>
        </p:spPr>
      </p:pic>
      <p:sp>
        <p:nvSpPr>
          <p:cNvPr id="11" name="椭圆 10">
            <a:extLst>
              <a:ext uri="{FF2B5EF4-FFF2-40B4-BE49-F238E27FC236}">
                <a16:creationId xmlns:a16="http://schemas.microsoft.com/office/drawing/2014/main" id="{8C28F1B4-BC93-289C-4282-0490A9E366BA}"/>
              </a:ext>
            </a:extLst>
          </p:cNvPr>
          <p:cNvSpPr/>
          <p:nvPr/>
        </p:nvSpPr>
        <p:spPr>
          <a:xfrm>
            <a:off x="10003700" y="2968625"/>
            <a:ext cx="1849347" cy="1821157"/>
          </a:xfrm>
          <a:prstGeom prst="ellipse">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49883743-FBF8-6F8E-0020-F87D08E11784}"/>
              </a:ext>
            </a:extLst>
          </p:cNvPr>
          <p:cNvSpPr txBox="1"/>
          <p:nvPr/>
        </p:nvSpPr>
        <p:spPr>
          <a:xfrm>
            <a:off x="8123670" y="2599293"/>
            <a:ext cx="2064789" cy="369332"/>
          </a:xfrm>
          <a:prstGeom prst="rect">
            <a:avLst/>
          </a:prstGeom>
          <a:noFill/>
        </p:spPr>
        <p:txBody>
          <a:bodyPr wrap="square" rtlCol="0">
            <a:spAutoFit/>
          </a:bodyPr>
          <a:lstStyle/>
          <a:p>
            <a:pPr algn="r"/>
            <a:r>
              <a:rPr lang="zh-CN" altLang="en-US" dirty="0"/>
              <a:t>矿工事务处理逻辑</a:t>
            </a:r>
          </a:p>
        </p:txBody>
      </p:sp>
      <p:cxnSp>
        <p:nvCxnSpPr>
          <p:cNvPr id="14" name="直接箭头连接符 13">
            <a:extLst>
              <a:ext uri="{FF2B5EF4-FFF2-40B4-BE49-F238E27FC236}">
                <a16:creationId xmlns:a16="http://schemas.microsoft.com/office/drawing/2014/main" id="{D874FA4D-5D14-AC46-96B8-C65F7B22684E}"/>
              </a:ext>
            </a:extLst>
          </p:cNvPr>
          <p:cNvCxnSpPr/>
          <p:nvPr/>
        </p:nvCxnSpPr>
        <p:spPr>
          <a:xfrm>
            <a:off x="10212779" y="2782784"/>
            <a:ext cx="514598" cy="159171"/>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B4AD38BD-2EEB-5939-4FE2-C971AD1B09E6}"/>
              </a:ext>
            </a:extLst>
          </p:cNvPr>
          <p:cNvSpPr txBox="1"/>
          <p:nvPr/>
        </p:nvSpPr>
        <p:spPr>
          <a:xfrm>
            <a:off x="11736779" y="6499761"/>
            <a:ext cx="455221" cy="369332"/>
          </a:xfrm>
          <a:prstGeom prst="rect">
            <a:avLst/>
          </a:prstGeom>
          <a:noFill/>
        </p:spPr>
        <p:txBody>
          <a:bodyPr wrap="square" rtlCol="0">
            <a:spAutoFit/>
          </a:bodyPr>
          <a:lstStyle/>
          <a:p>
            <a:pPr algn="ctr"/>
            <a:r>
              <a:rPr lang="en-US" altLang="zh-CN" dirty="0"/>
              <a:t>17</a:t>
            </a:r>
            <a:endParaRPr lang="zh-CN" altLang="en-US" dirty="0"/>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8" name="矩形 17"/>
          <p:cNvSpPr/>
          <p:nvPr>
            <p:custDataLst>
              <p:tags r:id="rId2"/>
            </p:custDataLst>
          </p:nvPr>
        </p:nvSpPr>
        <p:spPr>
          <a:xfrm>
            <a:off x="3871595" y="-635"/>
            <a:ext cx="19907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custDataLst>
              <p:tags r:id="rId3"/>
            </p:custDataLst>
          </p:nvPr>
        </p:nvSpPr>
        <p:spPr>
          <a:xfrm>
            <a:off x="3871595" y="-635"/>
            <a:ext cx="1990725"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custDataLst>
              <p:tags r:id="rId4"/>
            </p:custDataLst>
          </p:nvPr>
        </p:nvSpPr>
        <p:spPr>
          <a:xfrm>
            <a:off x="5862320" y="-635"/>
            <a:ext cx="311594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664970" y="-635"/>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5"/>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p>
        </p:txBody>
      </p:sp>
      <p:pic>
        <p:nvPicPr>
          <p:cNvPr id="21" name="Picture 2" descr="C:\Program Files\Apache Software Foundation\Tomcat 6.0\webapps\topo1\images\sklois1 (2).jpg"/>
          <p:cNvPicPr>
            <a:picLocks noChangeAspect="1" noChangeArrowheads="1"/>
          </p:cNvPicPr>
          <p:nvPr>
            <p:custDataLst>
              <p:tags r:id="rId6"/>
            </p:custDataLst>
          </p:nvPr>
        </p:nvPicPr>
        <p:blipFill>
          <a:blip r:embed="rId11"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 name="等腰三角形 14"/>
          <p:cNvSpPr/>
          <p:nvPr>
            <p:custDataLst>
              <p:tags r:id="rId7"/>
            </p:custDataLst>
          </p:nvPr>
        </p:nvSpPr>
        <p:spPr>
          <a:xfrm rot="10800000">
            <a:off x="4591050" y="721360"/>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custDataLst>
              <p:tags r:id="rId8"/>
            </p:custDataLst>
          </p:nvPr>
        </p:nvSpPr>
        <p:spPr>
          <a:xfrm>
            <a:off x="408305" y="949960"/>
            <a:ext cx="6323965" cy="460375"/>
          </a:xfrm>
          <a:prstGeom prst="rect">
            <a:avLst/>
          </a:prstGeom>
          <a:noFill/>
        </p:spPr>
        <p:txBody>
          <a:bodyPr wrap="square" rtlCol="0">
            <a:spAutoFit/>
          </a:bodyPr>
          <a:lstStyle/>
          <a:p>
            <a:pPr marL="457200" indent="-457200">
              <a:buFont typeface="+mj-lt"/>
              <a:buAutoNum type="arabicPeriod" startAt="2"/>
            </a:pPr>
            <a:r>
              <a:rPr lang="zh-CN" altLang="en-US"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链下数字资产交易方案性能</a:t>
            </a:r>
          </a:p>
        </p:txBody>
      </p:sp>
      <p:sp>
        <p:nvSpPr>
          <p:cNvPr id="47" name="文本框 46">
            <a:extLst>
              <a:ext uri="{FF2B5EF4-FFF2-40B4-BE49-F238E27FC236}">
                <a16:creationId xmlns:a16="http://schemas.microsoft.com/office/drawing/2014/main" id="{84EBE1A7-3D38-F583-9CC4-6472A7811AD2}"/>
              </a:ext>
            </a:extLst>
          </p:cNvPr>
          <p:cNvSpPr txBox="1"/>
          <p:nvPr/>
        </p:nvSpPr>
        <p:spPr>
          <a:xfrm>
            <a:off x="763979" y="1595252"/>
            <a:ext cx="5371605" cy="369332"/>
          </a:xfrm>
          <a:prstGeom prst="rect">
            <a:avLst/>
          </a:prstGeom>
          <a:noFill/>
        </p:spPr>
        <p:txBody>
          <a:bodyPr wrap="square" rtlCol="0">
            <a:spAutoFit/>
          </a:bodyPr>
          <a:lstStyle/>
          <a:p>
            <a:r>
              <a:rPr lang="zh-CN" altLang="en-US" dirty="0"/>
              <a:t>支付信道方案</a:t>
            </a:r>
          </a:p>
        </p:txBody>
      </p:sp>
      <p:sp>
        <p:nvSpPr>
          <p:cNvPr id="55" name="文本框 54">
            <a:extLst>
              <a:ext uri="{FF2B5EF4-FFF2-40B4-BE49-F238E27FC236}">
                <a16:creationId xmlns:a16="http://schemas.microsoft.com/office/drawing/2014/main" id="{684A5DEE-B815-4E43-1178-D1BA5C35FA9F}"/>
              </a:ext>
            </a:extLst>
          </p:cNvPr>
          <p:cNvSpPr txBox="1"/>
          <p:nvPr/>
        </p:nvSpPr>
        <p:spPr>
          <a:xfrm>
            <a:off x="763979" y="4152816"/>
            <a:ext cx="5371605" cy="369332"/>
          </a:xfrm>
          <a:prstGeom prst="rect">
            <a:avLst/>
          </a:prstGeom>
          <a:noFill/>
        </p:spPr>
        <p:txBody>
          <a:bodyPr wrap="square" rtlCol="0">
            <a:spAutoFit/>
          </a:bodyPr>
          <a:lstStyle/>
          <a:p>
            <a:r>
              <a:rPr lang="zh-CN" altLang="en-US" dirty="0"/>
              <a:t>支付信道网络方案</a:t>
            </a:r>
          </a:p>
        </p:txBody>
      </p:sp>
      <p:pic>
        <p:nvPicPr>
          <p:cNvPr id="59" name="图片 58">
            <a:extLst>
              <a:ext uri="{FF2B5EF4-FFF2-40B4-BE49-F238E27FC236}">
                <a16:creationId xmlns:a16="http://schemas.microsoft.com/office/drawing/2014/main" id="{B1F87C3B-E265-7A71-FB30-391976DF65FF}"/>
              </a:ext>
            </a:extLst>
          </p:cNvPr>
          <p:cNvPicPr>
            <a:picLocks noChangeAspect="1"/>
          </p:cNvPicPr>
          <p:nvPr/>
        </p:nvPicPr>
        <p:blipFill>
          <a:blip r:embed="rId12"/>
          <a:stretch>
            <a:fillRect/>
          </a:stretch>
        </p:blipFill>
        <p:spPr>
          <a:xfrm>
            <a:off x="1915043" y="2149501"/>
            <a:ext cx="8361913" cy="1782381"/>
          </a:xfrm>
          <a:prstGeom prst="rect">
            <a:avLst/>
          </a:prstGeom>
        </p:spPr>
      </p:pic>
      <p:pic>
        <p:nvPicPr>
          <p:cNvPr id="70" name="图片 69">
            <a:extLst>
              <a:ext uri="{FF2B5EF4-FFF2-40B4-BE49-F238E27FC236}">
                <a16:creationId xmlns:a16="http://schemas.microsoft.com/office/drawing/2014/main" id="{FD03E710-F5EB-95E9-3DB5-32BBE08216C2}"/>
              </a:ext>
            </a:extLst>
          </p:cNvPr>
          <p:cNvPicPr>
            <a:picLocks noChangeAspect="1"/>
          </p:cNvPicPr>
          <p:nvPr/>
        </p:nvPicPr>
        <p:blipFill>
          <a:blip r:embed="rId13"/>
          <a:stretch>
            <a:fillRect/>
          </a:stretch>
        </p:blipFill>
        <p:spPr>
          <a:xfrm>
            <a:off x="5548696" y="4454855"/>
            <a:ext cx="5459730" cy="1914886"/>
          </a:xfrm>
          <a:prstGeom prst="rect">
            <a:avLst/>
          </a:prstGeom>
        </p:spPr>
      </p:pic>
      <p:grpSp>
        <p:nvGrpSpPr>
          <p:cNvPr id="72" name="组合 71">
            <a:extLst>
              <a:ext uri="{FF2B5EF4-FFF2-40B4-BE49-F238E27FC236}">
                <a16:creationId xmlns:a16="http://schemas.microsoft.com/office/drawing/2014/main" id="{6DAD9288-2128-43F8-7ACE-8625330CC5BE}"/>
              </a:ext>
            </a:extLst>
          </p:cNvPr>
          <p:cNvGrpSpPr/>
          <p:nvPr/>
        </p:nvGrpSpPr>
        <p:grpSpPr>
          <a:xfrm>
            <a:off x="823356" y="4677825"/>
            <a:ext cx="4059794" cy="1468945"/>
            <a:chOff x="823356" y="4651169"/>
            <a:chExt cx="4059794" cy="1468945"/>
          </a:xfrm>
        </p:grpSpPr>
        <p:sp>
          <p:nvSpPr>
            <p:cNvPr id="66" name="矩形: 圆角 65">
              <a:extLst>
                <a:ext uri="{FF2B5EF4-FFF2-40B4-BE49-F238E27FC236}">
                  <a16:creationId xmlns:a16="http://schemas.microsoft.com/office/drawing/2014/main" id="{2E32048A-D5F9-30AB-59B8-036C6589E343}"/>
                </a:ext>
              </a:extLst>
            </p:cNvPr>
            <p:cNvSpPr/>
            <p:nvPr/>
          </p:nvSpPr>
          <p:spPr>
            <a:xfrm>
              <a:off x="823356" y="4835835"/>
              <a:ext cx="3974275" cy="128427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矩形: 圆角 62">
              <a:extLst>
                <a:ext uri="{FF2B5EF4-FFF2-40B4-BE49-F238E27FC236}">
                  <a16:creationId xmlns:a16="http://schemas.microsoft.com/office/drawing/2014/main" id="{094B1304-9940-FCBC-AE5B-42B5160E7721}"/>
                </a:ext>
              </a:extLst>
            </p:cNvPr>
            <p:cNvSpPr/>
            <p:nvPr/>
          </p:nvSpPr>
          <p:spPr>
            <a:xfrm>
              <a:off x="831273" y="4651169"/>
              <a:ext cx="1163782" cy="369332"/>
            </a:xfrm>
            <a:prstGeom prst="roundRect">
              <a:avLst/>
            </a:prstGeom>
            <a:solidFill>
              <a:srgbClr val="04579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文本框 61">
              <a:extLst>
                <a:ext uri="{FF2B5EF4-FFF2-40B4-BE49-F238E27FC236}">
                  <a16:creationId xmlns:a16="http://schemas.microsoft.com/office/drawing/2014/main" id="{CF9D5771-EBCC-2F30-737F-D649911023F6}"/>
                </a:ext>
              </a:extLst>
            </p:cNvPr>
            <p:cNvSpPr txBox="1"/>
            <p:nvPr/>
          </p:nvSpPr>
          <p:spPr>
            <a:xfrm>
              <a:off x="823356" y="4651169"/>
              <a:ext cx="1204995" cy="369332"/>
            </a:xfrm>
            <a:prstGeom prst="rect">
              <a:avLst/>
            </a:prstGeom>
            <a:noFill/>
          </p:spPr>
          <p:txBody>
            <a:bodyPr wrap="square" rtlCol="0">
              <a:spAutoFit/>
            </a:bodyPr>
            <a:lstStyle/>
            <a:p>
              <a:r>
                <a:rPr lang="zh-CN" altLang="en-US" dirty="0">
                  <a:solidFill>
                    <a:schemeClr val="bg2"/>
                  </a:solidFill>
                </a:rPr>
                <a:t>闪电网络</a:t>
              </a:r>
              <a:endParaRPr lang="en-US" altLang="zh-CN" dirty="0">
                <a:solidFill>
                  <a:schemeClr val="bg2"/>
                </a:solidFill>
              </a:endParaRPr>
            </a:p>
          </p:txBody>
        </p:sp>
        <p:sp>
          <p:nvSpPr>
            <p:cNvPr id="71" name="文本框 70">
              <a:extLst>
                <a:ext uri="{FF2B5EF4-FFF2-40B4-BE49-F238E27FC236}">
                  <a16:creationId xmlns:a16="http://schemas.microsoft.com/office/drawing/2014/main" id="{3F89C316-F593-A778-175B-5AE8D511BC51}"/>
                </a:ext>
              </a:extLst>
            </p:cNvPr>
            <p:cNvSpPr txBox="1"/>
            <p:nvPr/>
          </p:nvSpPr>
          <p:spPr>
            <a:xfrm>
              <a:off x="823356" y="5056264"/>
              <a:ext cx="4059794" cy="923330"/>
            </a:xfrm>
            <a:prstGeom prst="rect">
              <a:avLst/>
            </a:prstGeom>
            <a:noFill/>
          </p:spPr>
          <p:txBody>
            <a:bodyPr wrap="square" rtlCol="0">
              <a:spAutoFit/>
            </a:bodyPr>
            <a:lstStyle/>
            <a:p>
              <a:r>
                <a:rPr lang="en-US" altLang="zh-CN" dirty="0"/>
                <a:t>2016</a:t>
              </a:r>
              <a:r>
                <a:rPr lang="zh-CN" altLang="en-US" dirty="0"/>
                <a:t>年部署在比特币上，是</a:t>
              </a:r>
              <a:r>
                <a:rPr lang="zh-CN" altLang="zh-CN" dirty="0"/>
                <a:t>已知最大的支付信道网络</a:t>
              </a:r>
              <a:r>
                <a:rPr lang="zh-CN" altLang="en-US" dirty="0"/>
                <a:t>，</a:t>
              </a:r>
              <a:r>
                <a:rPr lang="zh-CN" altLang="zh-CN" dirty="0"/>
                <a:t>拥有</a:t>
              </a:r>
              <a:r>
                <a:rPr lang="zh-CN" altLang="en-US" dirty="0"/>
                <a:t>近</a:t>
              </a:r>
              <a:r>
                <a:rPr lang="en-US" altLang="zh-CN" dirty="0"/>
                <a:t>2</a:t>
              </a:r>
              <a:r>
                <a:rPr lang="zh-CN" altLang="en-US" dirty="0"/>
                <a:t>万</a:t>
              </a:r>
              <a:r>
                <a:rPr lang="zh-CN" altLang="zh-CN" dirty="0"/>
                <a:t>个</a:t>
              </a:r>
              <a:r>
                <a:rPr lang="zh-CN" altLang="en-US" dirty="0"/>
                <a:t>活跃</a:t>
              </a:r>
              <a:r>
                <a:rPr lang="zh-CN" altLang="zh-CN" dirty="0"/>
                <a:t>节点和</a:t>
              </a:r>
              <a:r>
                <a:rPr lang="en-US" altLang="zh-CN" dirty="0"/>
                <a:t>8</a:t>
              </a:r>
              <a:r>
                <a:rPr lang="zh-CN" altLang="en-US" dirty="0"/>
                <a:t>万</a:t>
              </a:r>
              <a:r>
                <a:rPr lang="zh-CN" altLang="zh-CN" dirty="0"/>
                <a:t>个支付信道</a:t>
              </a:r>
              <a:endParaRPr lang="zh-CN" altLang="en-US" dirty="0"/>
            </a:p>
          </p:txBody>
        </p:sp>
      </p:grpSp>
      <p:sp>
        <p:nvSpPr>
          <p:cNvPr id="6" name="文本框 5">
            <a:extLst>
              <a:ext uri="{FF2B5EF4-FFF2-40B4-BE49-F238E27FC236}">
                <a16:creationId xmlns:a16="http://schemas.microsoft.com/office/drawing/2014/main" id="{59FB80D9-7915-4C6C-BEB6-86CBD2B00FB5}"/>
              </a:ext>
            </a:extLst>
          </p:cNvPr>
          <p:cNvSpPr txBox="1"/>
          <p:nvPr/>
        </p:nvSpPr>
        <p:spPr>
          <a:xfrm>
            <a:off x="11736779" y="6499761"/>
            <a:ext cx="455221" cy="369332"/>
          </a:xfrm>
          <a:prstGeom prst="rect">
            <a:avLst/>
          </a:prstGeom>
          <a:noFill/>
        </p:spPr>
        <p:txBody>
          <a:bodyPr wrap="square" rtlCol="0">
            <a:spAutoFit/>
          </a:bodyPr>
          <a:lstStyle/>
          <a:p>
            <a:pPr algn="ctr"/>
            <a:r>
              <a:rPr lang="en-US" altLang="zh-CN" dirty="0"/>
              <a:t>18</a:t>
            </a:r>
            <a:endParaRPr lang="zh-CN" alt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mc:Choice>
    <mc:Fallback xmlns="">
      <p:transition spd="med"/>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04EB6-6A17-285B-F5B0-18E9EA1E0045}"/>
            </a:ext>
          </a:extLst>
        </p:cNvPr>
        <p:cNvGrpSpPr/>
        <p:nvPr/>
      </p:nvGrpSpPr>
      <p:grpSpPr>
        <a:xfrm>
          <a:off x="0" y="0"/>
          <a:ext cx="0" cy="0"/>
          <a:chOff x="0" y="0"/>
          <a:chExt cx="0" cy="0"/>
        </a:xfrm>
      </p:grpSpPr>
      <p:sp>
        <p:nvSpPr>
          <p:cNvPr id="18" name="矩形 17">
            <a:extLst>
              <a:ext uri="{FF2B5EF4-FFF2-40B4-BE49-F238E27FC236}">
                <a16:creationId xmlns:a16="http://schemas.microsoft.com/office/drawing/2014/main" id="{2D473169-8334-F5F8-8A1E-74152A2EE635}"/>
              </a:ext>
            </a:extLst>
          </p:cNvPr>
          <p:cNvSpPr/>
          <p:nvPr>
            <p:custDataLst>
              <p:tags r:id="rId2"/>
            </p:custDataLst>
          </p:nvPr>
        </p:nvSpPr>
        <p:spPr>
          <a:xfrm>
            <a:off x="3871595" y="-635"/>
            <a:ext cx="19907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9CCC2F4F-0E49-D22E-68CF-4970FC5C9F87}"/>
              </a:ext>
            </a:extLst>
          </p:cNvPr>
          <p:cNvSpPr/>
          <p:nvPr>
            <p:custDataLst>
              <p:tags r:id="rId3"/>
            </p:custDataLst>
          </p:nvPr>
        </p:nvSpPr>
        <p:spPr>
          <a:xfrm>
            <a:off x="3871595" y="-635"/>
            <a:ext cx="1990725"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D45871DD-93C1-F1F2-F5D2-3CDCAB2BB99C}"/>
              </a:ext>
            </a:extLst>
          </p:cNvPr>
          <p:cNvSpPr/>
          <p:nvPr>
            <p:custDataLst>
              <p:tags r:id="rId4"/>
            </p:custDataLst>
          </p:nvPr>
        </p:nvSpPr>
        <p:spPr>
          <a:xfrm>
            <a:off x="5862320" y="-635"/>
            <a:ext cx="311594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8BEDDE01-D3AC-843D-BFB7-F987F4F0E65A}"/>
              </a:ext>
            </a:extLst>
          </p:cNvPr>
          <p:cNvSpPr/>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62116C78-0712-B981-DBFA-CF74F3180F12}"/>
              </a:ext>
            </a:extLst>
          </p:cNvPr>
          <p:cNvSpPr/>
          <p:nvPr/>
        </p:nvSpPr>
        <p:spPr>
          <a:xfrm>
            <a:off x="1664970" y="-635"/>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E3F6D948-34BC-F2A1-C53B-BDA905EE2624}"/>
              </a:ext>
            </a:extLst>
          </p:cNvPr>
          <p:cNvSpPr txBox="1"/>
          <p:nvPr>
            <p:custDataLst>
              <p:tags r:id="rId5"/>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p>
        </p:txBody>
      </p:sp>
      <p:pic>
        <p:nvPicPr>
          <p:cNvPr id="21" name="Picture 2" descr="C:\Program Files\Apache Software Foundation\Tomcat 6.0\webapps\topo1\images\sklois1 (2).jpg">
            <a:extLst>
              <a:ext uri="{FF2B5EF4-FFF2-40B4-BE49-F238E27FC236}">
                <a16:creationId xmlns:a16="http://schemas.microsoft.com/office/drawing/2014/main" id="{B707449D-7F93-F585-2CA8-A8BC1FB17171}"/>
              </a:ext>
            </a:extLst>
          </p:cNvPr>
          <p:cNvPicPr>
            <a:picLocks noChangeAspect="1" noChangeArrowheads="1"/>
          </p:cNvPicPr>
          <p:nvPr>
            <p:custDataLst>
              <p:tags r:id="rId6"/>
            </p:custDataLst>
          </p:nvPr>
        </p:nvPicPr>
        <p:blipFill>
          <a:blip r:embed="rId20"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 name="等腰三角形 14">
            <a:extLst>
              <a:ext uri="{FF2B5EF4-FFF2-40B4-BE49-F238E27FC236}">
                <a16:creationId xmlns:a16="http://schemas.microsoft.com/office/drawing/2014/main" id="{9B1BCCAD-53BC-0BDC-282B-55B8D4E19045}"/>
              </a:ext>
            </a:extLst>
          </p:cNvPr>
          <p:cNvSpPr/>
          <p:nvPr>
            <p:custDataLst>
              <p:tags r:id="rId7"/>
            </p:custDataLst>
          </p:nvPr>
        </p:nvSpPr>
        <p:spPr>
          <a:xfrm rot="10800000">
            <a:off x="4591050" y="721360"/>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a:extLst>
              <a:ext uri="{FF2B5EF4-FFF2-40B4-BE49-F238E27FC236}">
                <a16:creationId xmlns:a16="http://schemas.microsoft.com/office/drawing/2014/main" id="{CCEE71FE-3B11-97EF-B184-FE9FB288CEE1}"/>
              </a:ext>
            </a:extLst>
          </p:cNvPr>
          <p:cNvSpPr txBox="1"/>
          <p:nvPr>
            <p:custDataLst>
              <p:tags r:id="rId8"/>
            </p:custDataLst>
          </p:nvPr>
        </p:nvSpPr>
        <p:spPr>
          <a:xfrm>
            <a:off x="408305" y="949960"/>
            <a:ext cx="6323965" cy="460375"/>
          </a:xfrm>
          <a:prstGeom prst="rect">
            <a:avLst/>
          </a:prstGeom>
          <a:noFill/>
        </p:spPr>
        <p:txBody>
          <a:bodyPr wrap="square" rtlCol="0">
            <a:spAutoFit/>
          </a:bodyPr>
          <a:lstStyle/>
          <a:p>
            <a:pPr marL="457200" indent="-457200">
              <a:buFont typeface="+mj-lt"/>
              <a:buAutoNum type="arabicPeriod" startAt="2"/>
            </a:pPr>
            <a:r>
              <a:rPr lang="zh-CN" altLang="en-US"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链下数字资产交易方案性能</a:t>
            </a:r>
          </a:p>
        </p:txBody>
      </p:sp>
      <p:grpSp>
        <p:nvGrpSpPr>
          <p:cNvPr id="6" name="组合 5">
            <a:extLst>
              <a:ext uri="{FF2B5EF4-FFF2-40B4-BE49-F238E27FC236}">
                <a16:creationId xmlns:a16="http://schemas.microsoft.com/office/drawing/2014/main" id="{0D917363-1F11-0238-198F-C14100CB1E7A}"/>
              </a:ext>
            </a:extLst>
          </p:cNvPr>
          <p:cNvGrpSpPr>
            <a:grpSpLocks noChangeAspect="1"/>
          </p:cNvGrpSpPr>
          <p:nvPr>
            <p:custDataLst>
              <p:tags r:id="rId9"/>
            </p:custDataLst>
          </p:nvPr>
        </p:nvGrpSpPr>
        <p:grpSpPr>
          <a:xfrm>
            <a:off x="636429" y="2016330"/>
            <a:ext cx="10919142" cy="3426294"/>
            <a:chOff x="325373" y="1482929"/>
            <a:chExt cx="10919142" cy="3426294"/>
          </a:xfrm>
        </p:grpSpPr>
        <p:grpSp>
          <p:nvGrpSpPr>
            <p:cNvPr id="7" name="组合 0">
              <a:extLst>
                <a:ext uri="{FF2B5EF4-FFF2-40B4-BE49-F238E27FC236}">
                  <a16:creationId xmlns:a16="http://schemas.microsoft.com/office/drawing/2014/main" id="{0A04D5DE-E4FE-2864-B8AF-504B1D9A8142}"/>
                </a:ext>
              </a:extLst>
            </p:cNvPr>
            <p:cNvGrpSpPr/>
            <p:nvPr/>
          </p:nvGrpSpPr>
          <p:grpSpPr>
            <a:xfrm>
              <a:off x="325373" y="1936511"/>
              <a:ext cx="10919142" cy="2523312"/>
              <a:chOff x="191413" y="2231807"/>
              <a:chExt cx="12361408" cy="2856606"/>
            </a:xfrm>
          </p:grpSpPr>
          <p:sp>
            <p:nvSpPr>
              <p:cNvPr id="33" name="0">
                <a:extLst>
                  <a:ext uri="{FF2B5EF4-FFF2-40B4-BE49-F238E27FC236}">
                    <a16:creationId xmlns:a16="http://schemas.microsoft.com/office/drawing/2014/main" id="{25107286-236F-C173-3AD4-DA9550D78C60}"/>
                  </a:ext>
                </a:extLst>
              </p:cNvPr>
              <p:cNvSpPr/>
              <p:nvPr/>
            </p:nvSpPr>
            <p:spPr>
              <a:xfrm>
                <a:off x="875175" y="3619701"/>
                <a:ext cx="11677646" cy="1096199"/>
              </a:xfrm>
              <a:custGeom>
                <a:avLst/>
                <a:gdLst>
                  <a:gd name="connsiteX0" fmla="*/ 2323433 w 6113239"/>
                  <a:gd name="connsiteY0" fmla="*/ 653366 h 653365"/>
                  <a:gd name="connsiteX1" fmla="*/ 1582103 w 6113239"/>
                  <a:gd name="connsiteY1" fmla="*/ 341898 h 653365"/>
                  <a:gd name="connsiteX2" fmla="*/ 542830 w 6113239"/>
                  <a:gd name="connsiteY2" fmla="*/ 29478 h 653365"/>
                  <a:gd name="connsiteX3" fmla="*/ 56007 w 6113239"/>
                  <a:gd name="connsiteY3" fmla="*/ 309037 h 653365"/>
                  <a:gd name="connsiteX4" fmla="*/ 4477 w 6113239"/>
                  <a:gd name="connsiteY4" fmla="*/ 350566 h 653365"/>
                  <a:gd name="connsiteX5" fmla="*/ 0 w 6113239"/>
                  <a:gd name="connsiteY5" fmla="*/ 344946 h 653365"/>
                  <a:gd name="connsiteX6" fmla="*/ 51530 w 6113239"/>
                  <a:gd name="connsiteY6" fmla="*/ 303417 h 653365"/>
                  <a:gd name="connsiteX7" fmla="*/ 541401 w 6113239"/>
                  <a:gd name="connsiteY7" fmla="*/ 22430 h 653365"/>
                  <a:gd name="connsiteX8" fmla="*/ 1586103 w 6113239"/>
                  <a:gd name="connsiteY8" fmla="*/ 335898 h 653365"/>
                  <a:gd name="connsiteX9" fmla="*/ 2780919 w 6113239"/>
                  <a:gd name="connsiteY9" fmla="*/ 528969 h 653365"/>
                  <a:gd name="connsiteX10" fmla="*/ 2999708 w 6113239"/>
                  <a:gd name="connsiteY10" fmla="*/ 383904 h 653365"/>
                  <a:gd name="connsiteX11" fmla="*/ 3601307 w 6113239"/>
                  <a:gd name="connsiteY11" fmla="*/ 65769 h 653365"/>
                  <a:gd name="connsiteX12" fmla="*/ 4615815 w 6113239"/>
                  <a:gd name="connsiteY12" fmla="*/ 214835 h 653365"/>
                  <a:gd name="connsiteX13" fmla="*/ 4710208 w 6113239"/>
                  <a:gd name="connsiteY13" fmla="*/ 258078 h 653365"/>
                  <a:gd name="connsiteX14" fmla="*/ 6109621 w 6113239"/>
                  <a:gd name="connsiteY14" fmla="*/ 441435 h 653365"/>
                  <a:gd name="connsiteX15" fmla="*/ 6113240 w 6113239"/>
                  <a:gd name="connsiteY15" fmla="*/ 447626 h 653365"/>
                  <a:gd name="connsiteX16" fmla="*/ 4707255 w 6113239"/>
                  <a:gd name="connsiteY16" fmla="*/ 264555 h 653365"/>
                  <a:gd name="connsiteX17" fmla="*/ 4612958 w 6113239"/>
                  <a:gd name="connsiteY17" fmla="*/ 221312 h 653365"/>
                  <a:gd name="connsiteX18" fmla="*/ 3004090 w 6113239"/>
                  <a:gd name="connsiteY18" fmla="*/ 389619 h 653365"/>
                  <a:gd name="connsiteX19" fmla="*/ 2784158 w 6113239"/>
                  <a:gd name="connsiteY19" fmla="*/ 535351 h 653365"/>
                  <a:gd name="connsiteX20" fmla="*/ 2323433 w 6113239"/>
                  <a:gd name="connsiteY20" fmla="*/ 653366 h 653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113239" h="653365">
                    <a:moveTo>
                      <a:pt x="2323433" y="653366"/>
                    </a:moveTo>
                    <a:cubicBezTo>
                      <a:pt x="2035207" y="653366"/>
                      <a:pt x="1812989" y="500680"/>
                      <a:pt x="1582103" y="341898"/>
                    </a:cubicBezTo>
                    <a:cubicBezTo>
                      <a:pt x="1293495" y="143588"/>
                      <a:pt x="995077" y="-61581"/>
                      <a:pt x="542830" y="29478"/>
                    </a:cubicBezTo>
                    <a:cubicBezTo>
                      <a:pt x="354711" y="67293"/>
                      <a:pt x="202883" y="190165"/>
                      <a:pt x="56007" y="309037"/>
                    </a:cubicBezTo>
                    <a:cubicBezTo>
                      <a:pt x="38672" y="323039"/>
                      <a:pt x="21526" y="336945"/>
                      <a:pt x="4477" y="350566"/>
                    </a:cubicBezTo>
                    <a:lnTo>
                      <a:pt x="0" y="344946"/>
                    </a:lnTo>
                    <a:cubicBezTo>
                      <a:pt x="17050" y="331326"/>
                      <a:pt x="34195" y="317419"/>
                      <a:pt x="51530" y="303417"/>
                    </a:cubicBezTo>
                    <a:cubicBezTo>
                      <a:pt x="199072" y="184069"/>
                      <a:pt x="351568" y="60625"/>
                      <a:pt x="541401" y="22430"/>
                    </a:cubicBezTo>
                    <a:cubicBezTo>
                      <a:pt x="996601" y="-69201"/>
                      <a:pt x="1296353" y="136730"/>
                      <a:pt x="1586103" y="335898"/>
                    </a:cubicBezTo>
                    <a:cubicBezTo>
                      <a:pt x="1924431" y="568403"/>
                      <a:pt x="2243995" y="788049"/>
                      <a:pt x="2780919" y="528969"/>
                    </a:cubicBezTo>
                    <a:cubicBezTo>
                      <a:pt x="2848356" y="496489"/>
                      <a:pt x="2918460" y="444292"/>
                      <a:pt x="2999708" y="383904"/>
                    </a:cubicBezTo>
                    <a:cubicBezTo>
                      <a:pt x="3153061" y="269889"/>
                      <a:pt x="3343847" y="128062"/>
                      <a:pt x="3601307" y="65769"/>
                    </a:cubicBezTo>
                    <a:cubicBezTo>
                      <a:pt x="3902679" y="-7098"/>
                      <a:pt x="4234530" y="41575"/>
                      <a:pt x="4615815" y="214835"/>
                    </a:cubicBezTo>
                    <a:cubicBezTo>
                      <a:pt x="4646676" y="228837"/>
                      <a:pt x="4678204" y="243315"/>
                      <a:pt x="4710208" y="258078"/>
                    </a:cubicBezTo>
                    <a:cubicBezTo>
                      <a:pt x="5135690" y="454008"/>
                      <a:pt x="5665184" y="697848"/>
                      <a:pt x="6109621" y="441435"/>
                    </a:cubicBezTo>
                    <a:lnTo>
                      <a:pt x="6113240" y="447626"/>
                    </a:lnTo>
                    <a:cubicBezTo>
                      <a:pt x="5665565" y="705849"/>
                      <a:pt x="5134166" y="461151"/>
                      <a:pt x="4707255" y="264555"/>
                    </a:cubicBezTo>
                    <a:cubicBezTo>
                      <a:pt x="4675251" y="249792"/>
                      <a:pt x="4643819" y="235314"/>
                      <a:pt x="4612958" y="221312"/>
                    </a:cubicBezTo>
                    <a:cubicBezTo>
                      <a:pt x="3754850" y="-168546"/>
                      <a:pt x="3320891" y="154065"/>
                      <a:pt x="3004090" y="389619"/>
                    </a:cubicBezTo>
                    <a:cubicBezTo>
                      <a:pt x="2922556" y="450198"/>
                      <a:pt x="2852166" y="502585"/>
                      <a:pt x="2784158" y="535351"/>
                    </a:cubicBezTo>
                    <a:cubicBezTo>
                      <a:pt x="2610612" y="619266"/>
                      <a:pt x="2459641" y="653366"/>
                      <a:pt x="2323433" y="653366"/>
                    </a:cubicBezTo>
                    <a:close/>
                  </a:path>
                </a:pathLst>
              </a:custGeom>
              <a:gradFill flip="none" rotWithShape="1">
                <a:gsLst>
                  <a:gs pos="70816">
                    <a:srgbClr val="CCE0FF">
                      <a:alpha val="50000"/>
                    </a:srgbClr>
                  </a:gs>
                  <a:gs pos="43000">
                    <a:schemeClr val="accent1">
                      <a:alpha val="67000"/>
                      <a:lumMod val="16000"/>
                      <a:lumOff val="84000"/>
                    </a:schemeClr>
                  </a:gs>
                  <a:gs pos="100000">
                    <a:schemeClr val="accent1">
                      <a:lumMod val="20000"/>
                      <a:lumOff val="80000"/>
                      <a:alpha val="0"/>
                    </a:schemeClr>
                  </a:gs>
                  <a:gs pos="8000">
                    <a:schemeClr val="accent1">
                      <a:lumMod val="20000"/>
                      <a:lumOff val="80000"/>
                      <a:alpha val="12000"/>
                    </a:schemeClr>
                  </a:gs>
                </a:gsLst>
                <a:lin ang="0" scaled="0"/>
                <a:tileRect/>
              </a:gradFill>
              <a:ln w="85725" cap="rnd">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0">
                <a:extLst>
                  <a:ext uri="{FF2B5EF4-FFF2-40B4-BE49-F238E27FC236}">
                    <a16:creationId xmlns:a16="http://schemas.microsoft.com/office/drawing/2014/main" id="{ACB026F7-6367-888F-2BCB-A6D3D0D83F7C}"/>
                  </a:ext>
                </a:extLst>
              </p:cNvPr>
              <p:cNvSpPr/>
              <p:nvPr/>
            </p:nvSpPr>
            <p:spPr>
              <a:xfrm>
                <a:off x="807127" y="3693892"/>
                <a:ext cx="11420008" cy="928678"/>
              </a:xfrm>
              <a:custGeom>
                <a:avLst/>
                <a:gdLst>
                  <a:gd name="connsiteX0" fmla="*/ 2222659 w 5978366"/>
                  <a:gd name="connsiteY0" fmla="*/ 553519 h 553518"/>
                  <a:gd name="connsiteX1" fmla="*/ 2131409 w 5978366"/>
                  <a:gd name="connsiteY1" fmla="*/ 548757 h 553518"/>
                  <a:gd name="connsiteX2" fmla="*/ 1537145 w 5978366"/>
                  <a:gd name="connsiteY2" fmla="*/ 311775 h 553518"/>
                  <a:gd name="connsiteX3" fmla="*/ 540258 w 5978366"/>
                  <a:gd name="connsiteY3" fmla="*/ 69077 h 553518"/>
                  <a:gd name="connsiteX4" fmla="*/ 76105 w 5978366"/>
                  <a:gd name="connsiteY4" fmla="*/ 305202 h 553518"/>
                  <a:gd name="connsiteX5" fmla="*/ 3620 w 5978366"/>
                  <a:gd name="connsiteY5" fmla="*/ 355590 h 553518"/>
                  <a:gd name="connsiteX6" fmla="*/ 0 w 5978366"/>
                  <a:gd name="connsiteY6" fmla="*/ 350256 h 553518"/>
                  <a:gd name="connsiteX7" fmla="*/ 72390 w 5978366"/>
                  <a:gd name="connsiteY7" fmla="*/ 299964 h 553518"/>
                  <a:gd name="connsiteX8" fmla="*/ 539115 w 5978366"/>
                  <a:gd name="connsiteY8" fmla="*/ 62791 h 553518"/>
                  <a:gd name="connsiteX9" fmla="*/ 1540478 w 5978366"/>
                  <a:gd name="connsiteY9" fmla="*/ 306250 h 553518"/>
                  <a:gd name="connsiteX10" fmla="*/ 2132076 w 5978366"/>
                  <a:gd name="connsiteY10" fmla="*/ 542375 h 553518"/>
                  <a:gd name="connsiteX11" fmla="*/ 2717483 w 5978366"/>
                  <a:gd name="connsiteY11" fmla="*/ 422550 h 553518"/>
                  <a:gd name="connsiteX12" fmla="*/ 2921508 w 5978366"/>
                  <a:gd name="connsiteY12" fmla="*/ 295582 h 553518"/>
                  <a:gd name="connsiteX13" fmla="*/ 3388328 w 5978366"/>
                  <a:gd name="connsiteY13" fmla="*/ 48408 h 553518"/>
                  <a:gd name="connsiteX14" fmla="*/ 4506945 w 5978366"/>
                  <a:gd name="connsiteY14" fmla="*/ 204047 h 553518"/>
                  <a:gd name="connsiteX15" fmla="*/ 4571905 w 5978366"/>
                  <a:gd name="connsiteY15" fmla="*/ 235098 h 553518"/>
                  <a:gd name="connsiteX16" fmla="*/ 5975414 w 5978366"/>
                  <a:gd name="connsiteY16" fmla="*/ 439695 h 553518"/>
                  <a:gd name="connsiteX17" fmla="*/ 5978367 w 5978366"/>
                  <a:gd name="connsiteY17" fmla="*/ 445506 h 553518"/>
                  <a:gd name="connsiteX18" fmla="*/ 4569143 w 5978366"/>
                  <a:gd name="connsiteY18" fmla="*/ 241004 h 553518"/>
                  <a:gd name="connsiteX19" fmla="*/ 4504182 w 5978366"/>
                  <a:gd name="connsiteY19" fmla="*/ 210048 h 553518"/>
                  <a:gd name="connsiteX20" fmla="*/ 3390138 w 5978366"/>
                  <a:gd name="connsiteY20" fmla="*/ 54790 h 553518"/>
                  <a:gd name="connsiteX21" fmla="*/ 2925128 w 5978366"/>
                  <a:gd name="connsiteY21" fmla="*/ 301106 h 553518"/>
                  <a:gd name="connsiteX22" fmla="*/ 2720150 w 5978366"/>
                  <a:gd name="connsiteY22" fmla="*/ 428646 h 553518"/>
                  <a:gd name="connsiteX23" fmla="*/ 2222659 w 5978366"/>
                  <a:gd name="connsiteY23" fmla="*/ 553519 h 553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978366" h="553518">
                    <a:moveTo>
                      <a:pt x="2222659" y="553519"/>
                    </a:moveTo>
                    <a:cubicBezTo>
                      <a:pt x="2191988" y="553519"/>
                      <a:pt x="2161604" y="551900"/>
                      <a:pt x="2131409" y="548757"/>
                    </a:cubicBezTo>
                    <a:cubicBezTo>
                      <a:pt x="1908048" y="526754"/>
                      <a:pt x="1727930" y="422360"/>
                      <a:pt x="1537145" y="311775"/>
                    </a:cubicBezTo>
                    <a:cubicBezTo>
                      <a:pt x="1262063" y="152421"/>
                      <a:pt x="977646" y="-12457"/>
                      <a:pt x="540258" y="69077"/>
                    </a:cubicBezTo>
                    <a:cubicBezTo>
                      <a:pt x="365760" y="102034"/>
                      <a:pt x="218504" y="205380"/>
                      <a:pt x="76105" y="305202"/>
                    </a:cubicBezTo>
                    <a:cubicBezTo>
                      <a:pt x="52292" y="321871"/>
                      <a:pt x="27718" y="339206"/>
                      <a:pt x="3620" y="355590"/>
                    </a:cubicBezTo>
                    <a:lnTo>
                      <a:pt x="0" y="350256"/>
                    </a:lnTo>
                    <a:cubicBezTo>
                      <a:pt x="24003" y="333873"/>
                      <a:pt x="48578" y="316632"/>
                      <a:pt x="72390" y="299964"/>
                    </a:cubicBezTo>
                    <a:cubicBezTo>
                      <a:pt x="215360" y="199665"/>
                      <a:pt x="363188" y="96033"/>
                      <a:pt x="539115" y="62791"/>
                    </a:cubicBezTo>
                    <a:cubicBezTo>
                      <a:pt x="978980" y="-19219"/>
                      <a:pt x="1264444" y="146230"/>
                      <a:pt x="1540478" y="306250"/>
                    </a:cubicBezTo>
                    <a:cubicBezTo>
                      <a:pt x="1730597" y="416359"/>
                      <a:pt x="1910144" y="520467"/>
                      <a:pt x="2132076" y="542375"/>
                    </a:cubicBezTo>
                    <a:cubicBezTo>
                      <a:pt x="2314194" y="561615"/>
                      <a:pt x="2505647" y="522468"/>
                      <a:pt x="2717483" y="422550"/>
                    </a:cubicBezTo>
                    <a:cubicBezTo>
                      <a:pt x="2781205" y="392451"/>
                      <a:pt x="2849404" y="345398"/>
                      <a:pt x="2921508" y="295582"/>
                    </a:cubicBezTo>
                    <a:cubicBezTo>
                      <a:pt x="3051715" y="205571"/>
                      <a:pt x="3199352" y="103653"/>
                      <a:pt x="3388328" y="48408"/>
                    </a:cubicBezTo>
                    <a:cubicBezTo>
                      <a:pt x="3722370" y="-49318"/>
                      <a:pt x="4077843" y="117"/>
                      <a:pt x="4506945" y="204047"/>
                    </a:cubicBezTo>
                    <a:cubicBezTo>
                      <a:pt x="4528281" y="214239"/>
                      <a:pt x="4549997" y="224526"/>
                      <a:pt x="4571905" y="235098"/>
                    </a:cubicBezTo>
                    <a:cubicBezTo>
                      <a:pt x="4987195" y="433694"/>
                      <a:pt x="5504117" y="680868"/>
                      <a:pt x="5975414" y="439695"/>
                    </a:cubicBezTo>
                    <a:lnTo>
                      <a:pt x="5978367" y="445506"/>
                    </a:lnTo>
                    <a:cubicBezTo>
                      <a:pt x="5504212" y="688203"/>
                      <a:pt x="4985671" y="440267"/>
                      <a:pt x="4569143" y="241004"/>
                    </a:cubicBezTo>
                    <a:cubicBezTo>
                      <a:pt x="4547235" y="230526"/>
                      <a:pt x="4525518" y="220144"/>
                      <a:pt x="4504182" y="210048"/>
                    </a:cubicBezTo>
                    <a:cubicBezTo>
                      <a:pt x="4076605" y="6879"/>
                      <a:pt x="3722656" y="-42460"/>
                      <a:pt x="3390138" y="54790"/>
                    </a:cubicBezTo>
                    <a:cubicBezTo>
                      <a:pt x="3202210" y="109749"/>
                      <a:pt x="3055049" y="211381"/>
                      <a:pt x="2925128" y="301106"/>
                    </a:cubicBezTo>
                    <a:cubicBezTo>
                      <a:pt x="2852738" y="351113"/>
                      <a:pt x="2784348" y="398357"/>
                      <a:pt x="2720150" y="428646"/>
                    </a:cubicBezTo>
                    <a:cubicBezTo>
                      <a:pt x="2542318" y="512181"/>
                      <a:pt x="2378583" y="553519"/>
                      <a:pt x="2222659" y="553519"/>
                    </a:cubicBezTo>
                    <a:close/>
                  </a:path>
                </a:pathLst>
              </a:custGeom>
              <a:gradFill flip="none" rotWithShape="1">
                <a:gsLst>
                  <a:gs pos="70816">
                    <a:srgbClr val="CCE0FF">
                      <a:alpha val="50000"/>
                    </a:srgbClr>
                  </a:gs>
                  <a:gs pos="43000">
                    <a:schemeClr val="accent1">
                      <a:alpha val="67000"/>
                      <a:lumMod val="16000"/>
                      <a:lumOff val="84000"/>
                    </a:schemeClr>
                  </a:gs>
                  <a:gs pos="100000">
                    <a:schemeClr val="accent1">
                      <a:lumMod val="20000"/>
                      <a:lumOff val="80000"/>
                      <a:alpha val="0"/>
                    </a:schemeClr>
                  </a:gs>
                  <a:gs pos="8000">
                    <a:schemeClr val="accent1">
                      <a:lumMod val="20000"/>
                      <a:lumOff val="80000"/>
                      <a:alpha val="12000"/>
                    </a:schemeClr>
                  </a:gs>
                </a:gsLst>
                <a:lin ang="0" scaled="0"/>
                <a:tileRect/>
              </a:gradFill>
              <a:ln w="85725" cap="rnd">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0">
                <a:extLst>
                  <a:ext uri="{FF2B5EF4-FFF2-40B4-BE49-F238E27FC236}">
                    <a16:creationId xmlns:a16="http://schemas.microsoft.com/office/drawing/2014/main" id="{28580599-3297-A0BF-53A5-A017961C6D3B}"/>
                  </a:ext>
                </a:extLst>
              </p:cNvPr>
              <p:cNvSpPr/>
              <p:nvPr/>
            </p:nvSpPr>
            <p:spPr>
              <a:xfrm>
                <a:off x="739080" y="3703605"/>
                <a:ext cx="11162550" cy="957321"/>
              </a:xfrm>
              <a:custGeom>
                <a:avLst/>
                <a:gdLst>
                  <a:gd name="connsiteX0" fmla="*/ 5422392 w 5843587"/>
                  <a:gd name="connsiteY0" fmla="*/ 570590 h 570590"/>
                  <a:gd name="connsiteX1" fmla="*/ 4430078 w 5843587"/>
                  <a:gd name="connsiteY1" fmla="*/ 253598 h 570590"/>
                  <a:gd name="connsiteX2" fmla="*/ 4395502 w 5843587"/>
                  <a:gd name="connsiteY2" fmla="*/ 236358 h 570590"/>
                  <a:gd name="connsiteX3" fmla="*/ 3321653 w 5843587"/>
                  <a:gd name="connsiteY3" fmla="*/ 29380 h 570590"/>
                  <a:gd name="connsiteX4" fmla="*/ 2845880 w 5843587"/>
                  <a:gd name="connsiteY4" fmla="*/ 249407 h 570590"/>
                  <a:gd name="connsiteX5" fmla="*/ 2656427 w 5843587"/>
                  <a:gd name="connsiteY5" fmla="*/ 359516 h 570590"/>
                  <a:gd name="connsiteX6" fmla="*/ 2084737 w 5843587"/>
                  <a:gd name="connsiteY6" fmla="*/ 496295 h 570590"/>
                  <a:gd name="connsiteX7" fmla="*/ 1489043 w 5843587"/>
                  <a:gd name="connsiteY7" fmla="*/ 321607 h 570590"/>
                  <a:gd name="connsiteX8" fmla="*/ 537782 w 5843587"/>
                  <a:gd name="connsiteY8" fmla="*/ 147109 h 570590"/>
                  <a:gd name="connsiteX9" fmla="*/ 99155 w 5843587"/>
                  <a:gd name="connsiteY9" fmla="*/ 342085 h 570590"/>
                  <a:gd name="connsiteX10" fmla="*/ 2953 w 5843587"/>
                  <a:gd name="connsiteY10" fmla="*/ 399045 h 570590"/>
                  <a:gd name="connsiteX11" fmla="*/ 0 w 5843587"/>
                  <a:gd name="connsiteY11" fmla="*/ 393997 h 570590"/>
                  <a:gd name="connsiteX12" fmla="*/ 96107 w 5843587"/>
                  <a:gd name="connsiteY12" fmla="*/ 337132 h 570590"/>
                  <a:gd name="connsiteX13" fmla="*/ 536734 w 5843587"/>
                  <a:gd name="connsiteY13" fmla="*/ 141394 h 570590"/>
                  <a:gd name="connsiteX14" fmla="*/ 1491520 w 5843587"/>
                  <a:gd name="connsiteY14" fmla="*/ 316368 h 570590"/>
                  <a:gd name="connsiteX15" fmla="*/ 2084927 w 5843587"/>
                  <a:gd name="connsiteY15" fmla="*/ 490485 h 570590"/>
                  <a:gd name="connsiteX16" fmla="*/ 2654046 w 5843587"/>
                  <a:gd name="connsiteY16" fmla="*/ 354277 h 570590"/>
                  <a:gd name="connsiteX17" fmla="*/ 2842736 w 5843587"/>
                  <a:gd name="connsiteY17" fmla="*/ 244549 h 570590"/>
                  <a:gd name="connsiteX18" fmla="*/ 3320510 w 5843587"/>
                  <a:gd name="connsiteY18" fmla="*/ 23665 h 570590"/>
                  <a:gd name="connsiteX19" fmla="*/ 4398074 w 5843587"/>
                  <a:gd name="connsiteY19" fmla="*/ 231214 h 570590"/>
                  <a:gd name="connsiteX20" fmla="*/ 4432649 w 5843587"/>
                  <a:gd name="connsiteY20" fmla="*/ 248455 h 570590"/>
                  <a:gd name="connsiteX21" fmla="*/ 5841206 w 5843587"/>
                  <a:gd name="connsiteY21" fmla="*/ 475721 h 570590"/>
                  <a:gd name="connsiteX22" fmla="*/ 5843588 w 5843587"/>
                  <a:gd name="connsiteY22" fmla="*/ 481055 h 570590"/>
                  <a:gd name="connsiteX23" fmla="*/ 5422392 w 5843587"/>
                  <a:gd name="connsiteY23" fmla="*/ 570590 h 570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843587" h="570590">
                    <a:moveTo>
                      <a:pt x="5422392" y="570590"/>
                    </a:moveTo>
                    <a:cubicBezTo>
                      <a:pt x="5065395" y="570590"/>
                      <a:pt x="4722019" y="399235"/>
                      <a:pt x="4430078" y="253598"/>
                    </a:cubicBezTo>
                    <a:lnTo>
                      <a:pt x="4395502" y="236358"/>
                    </a:lnTo>
                    <a:cubicBezTo>
                      <a:pt x="3983260" y="31094"/>
                      <a:pt x="3642074" y="-34724"/>
                      <a:pt x="3321653" y="29380"/>
                    </a:cubicBezTo>
                    <a:cubicBezTo>
                      <a:pt x="3131439" y="67384"/>
                      <a:pt x="2979706" y="164063"/>
                      <a:pt x="2845880" y="249407"/>
                    </a:cubicBezTo>
                    <a:cubicBezTo>
                      <a:pt x="2779300" y="291793"/>
                      <a:pt x="2716435" y="331894"/>
                      <a:pt x="2656427" y="359516"/>
                    </a:cubicBezTo>
                    <a:cubicBezTo>
                      <a:pt x="2447735" y="455623"/>
                      <a:pt x="2260854" y="500391"/>
                      <a:pt x="2084737" y="496295"/>
                    </a:cubicBezTo>
                    <a:cubicBezTo>
                      <a:pt x="1858518" y="493819"/>
                      <a:pt x="1678972" y="410189"/>
                      <a:pt x="1489043" y="321607"/>
                    </a:cubicBezTo>
                    <a:cubicBezTo>
                      <a:pt x="1228058" y="199972"/>
                      <a:pt x="958120" y="74147"/>
                      <a:pt x="537782" y="147109"/>
                    </a:cubicBezTo>
                    <a:cubicBezTo>
                      <a:pt x="377190" y="175017"/>
                      <a:pt x="235839" y="259885"/>
                      <a:pt x="99155" y="342085"/>
                    </a:cubicBezTo>
                    <a:cubicBezTo>
                      <a:pt x="67627" y="361040"/>
                      <a:pt x="34957" y="380662"/>
                      <a:pt x="2953" y="399045"/>
                    </a:cubicBezTo>
                    <a:lnTo>
                      <a:pt x="0" y="393997"/>
                    </a:lnTo>
                    <a:cubicBezTo>
                      <a:pt x="31909" y="375709"/>
                      <a:pt x="64579" y="356087"/>
                      <a:pt x="96107" y="337132"/>
                    </a:cubicBezTo>
                    <a:cubicBezTo>
                      <a:pt x="233267" y="254741"/>
                      <a:pt x="375094" y="169492"/>
                      <a:pt x="536734" y="141394"/>
                    </a:cubicBezTo>
                    <a:cubicBezTo>
                      <a:pt x="958977" y="68146"/>
                      <a:pt x="1229678" y="194353"/>
                      <a:pt x="1491520" y="316368"/>
                    </a:cubicBezTo>
                    <a:cubicBezTo>
                      <a:pt x="1680972" y="404665"/>
                      <a:pt x="1859852" y="488008"/>
                      <a:pt x="2084927" y="490485"/>
                    </a:cubicBezTo>
                    <a:cubicBezTo>
                      <a:pt x="2260092" y="494485"/>
                      <a:pt x="2446211" y="450004"/>
                      <a:pt x="2654046" y="354277"/>
                    </a:cubicBezTo>
                    <a:cubicBezTo>
                      <a:pt x="2713672" y="326845"/>
                      <a:pt x="2776347" y="286840"/>
                      <a:pt x="2842736" y="244549"/>
                    </a:cubicBezTo>
                    <a:cubicBezTo>
                      <a:pt x="2977039" y="158920"/>
                      <a:pt x="3129344" y="61955"/>
                      <a:pt x="3320510" y="23665"/>
                    </a:cubicBezTo>
                    <a:cubicBezTo>
                      <a:pt x="3642265" y="-40629"/>
                      <a:pt x="3984689" y="25284"/>
                      <a:pt x="4398074" y="231214"/>
                    </a:cubicBezTo>
                    <a:lnTo>
                      <a:pt x="4432649" y="248455"/>
                    </a:lnTo>
                    <a:cubicBezTo>
                      <a:pt x="4837272" y="450385"/>
                      <a:pt x="5340858" y="701654"/>
                      <a:pt x="5841206" y="475721"/>
                    </a:cubicBezTo>
                    <a:lnTo>
                      <a:pt x="5843588" y="481055"/>
                    </a:lnTo>
                    <a:cubicBezTo>
                      <a:pt x="5702618" y="544587"/>
                      <a:pt x="5561457" y="570590"/>
                      <a:pt x="5422392" y="570590"/>
                    </a:cubicBezTo>
                    <a:close/>
                  </a:path>
                </a:pathLst>
              </a:custGeom>
              <a:gradFill flip="none" rotWithShape="1">
                <a:gsLst>
                  <a:gs pos="70816">
                    <a:srgbClr val="CCE0FF">
                      <a:alpha val="50000"/>
                    </a:srgbClr>
                  </a:gs>
                  <a:gs pos="43000">
                    <a:schemeClr val="accent1">
                      <a:alpha val="67000"/>
                      <a:lumMod val="16000"/>
                      <a:lumOff val="84000"/>
                    </a:schemeClr>
                  </a:gs>
                  <a:gs pos="100000">
                    <a:schemeClr val="accent1">
                      <a:lumMod val="20000"/>
                      <a:lumOff val="80000"/>
                      <a:alpha val="0"/>
                    </a:schemeClr>
                  </a:gs>
                  <a:gs pos="8000">
                    <a:schemeClr val="accent1">
                      <a:lumMod val="20000"/>
                      <a:lumOff val="80000"/>
                      <a:alpha val="12000"/>
                    </a:schemeClr>
                  </a:gs>
                </a:gsLst>
                <a:lin ang="0" scaled="0"/>
                <a:tileRect/>
              </a:gradFill>
              <a:ln w="85725" cap="rnd">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0">
                <a:extLst>
                  <a:ext uri="{FF2B5EF4-FFF2-40B4-BE49-F238E27FC236}">
                    <a16:creationId xmlns:a16="http://schemas.microsoft.com/office/drawing/2014/main" id="{E74A0796-6EDD-8142-466A-0D3754C64335}"/>
                  </a:ext>
                </a:extLst>
              </p:cNvPr>
              <p:cNvSpPr/>
              <p:nvPr/>
            </p:nvSpPr>
            <p:spPr>
              <a:xfrm>
                <a:off x="671029" y="3699969"/>
                <a:ext cx="10905274" cy="1012575"/>
              </a:xfrm>
              <a:custGeom>
                <a:avLst/>
                <a:gdLst>
                  <a:gd name="connsiteX0" fmla="*/ 5295519 w 5708903"/>
                  <a:gd name="connsiteY0" fmla="*/ 603523 h 603523"/>
                  <a:gd name="connsiteX1" fmla="*/ 4290060 w 5708903"/>
                  <a:gd name="connsiteY1" fmla="*/ 272625 h 603523"/>
                  <a:gd name="connsiteX2" fmla="*/ 4286822 w 5708903"/>
                  <a:gd name="connsiteY2" fmla="*/ 271005 h 603523"/>
                  <a:gd name="connsiteX3" fmla="*/ 3253169 w 5708903"/>
                  <a:gd name="connsiteY3" fmla="*/ 12211 h 603523"/>
                  <a:gd name="connsiteX4" fmla="*/ 2764346 w 5708903"/>
                  <a:gd name="connsiteY4" fmla="*/ 205854 h 603523"/>
                  <a:gd name="connsiteX5" fmla="*/ 2592610 w 5708903"/>
                  <a:gd name="connsiteY5" fmla="*/ 298723 h 603523"/>
                  <a:gd name="connsiteX6" fmla="*/ 2038160 w 5708903"/>
                  <a:gd name="connsiteY6" fmla="*/ 451885 h 603523"/>
                  <a:gd name="connsiteX7" fmla="*/ 1434846 w 5708903"/>
                  <a:gd name="connsiteY7" fmla="*/ 342348 h 603523"/>
                  <a:gd name="connsiteX8" fmla="*/ 535305 w 5708903"/>
                  <a:gd name="connsiteY8" fmla="*/ 233191 h 603523"/>
                  <a:gd name="connsiteX9" fmla="*/ 123825 w 5708903"/>
                  <a:gd name="connsiteY9" fmla="*/ 390354 h 603523"/>
                  <a:gd name="connsiteX10" fmla="*/ 2191 w 5708903"/>
                  <a:gd name="connsiteY10" fmla="*/ 450456 h 603523"/>
                  <a:gd name="connsiteX11" fmla="*/ 0 w 5708903"/>
                  <a:gd name="connsiteY11" fmla="*/ 445789 h 603523"/>
                  <a:gd name="connsiteX12" fmla="*/ 121539 w 5708903"/>
                  <a:gd name="connsiteY12" fmla="*/ 385782 h 603523"/>
                  <a:gd name="connsiteX13" fmla="*/ 534543 w 5708903"/>
                  <a:gd name="connsiteY13" fmla="*/ 228143 h 603523"/>
                  <a:gd name="connsiteX14" fmla="*/ 1436561 w 5708903"/>
                  <a:gd name="connsiteY14" fmla="*/ 337585 h 603523"/>
                  <a:gd name="connsiteX15" fmla="*/ 2037874 w 5708903"/>
                  <a:gd name="connsiteY15" fmla="*/ 446837 h 603523"/>
                  <a:gd name="connsiteX16" fmla="*/ 2590610 w 5708903"/>
                  <a:gd name="connsiteY16" fmla="*/ 294151 h 603523"/>
                  <a:gd name="connsiteX17" fmla="*/ 2761869 w 5708903"/>
                  <a:gd name="connsiteY17" fmla="*/ 201568 h 603523"/>
                  <a:gd name="connsiteX18" fmla="*/ 3252692 w 5708903"/>
                  <a:gd name="connsiteY18" fmla="*/ 7258 h 603523"/>
                  <a:gd name="connsiteX19" fmla="*/ 4289298 w 5708903"/>
                  <a:gd name="connsiteY19" fmla="*/ 266624 h 603523"/>
                  <a:gd name="connsiteX20" fmla="*/ 4292537 w 5708903"/>
                  <a:gd name="connsiteY20" fmla="*/ 268338 h 603523"/>
                  <a:gd name="connsiteX21" fmla="*/ 5706999 w 5708903"/>
                  <a:gd name="connsiteY21" fmla="*/ 520084 h 603523"/>
                  <a:gd name="connsiteX22" fmla="*/ 5708904 w 5708903"/>
                  <a:gd name="connsiteY22" fmla="*/ 524942 h 603523"/>
                  <a:gd name="connsiteX23" fmla="*/ 5295519 w 5708903"/>
                  <a:gd name="connsiteY23" fmla="*/ 603523 h 603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708903" h="603523">
                    <a:moveTo>
                      <a:pt x="5295519" y="603523"/>
                    </a:moveTo>
                    <a:cubicBezTo>
                      <a:pt x="4922235" y="603523"/>
                      <a:pt x="4580096" y="424453"/>
                      <a:pt x="4290060" y="272625"/>
                    </a:cubicBezTo>
                    <a:lnTo>
                      <a:pt x="4286822" y="271005"/>
                    </a:lnTo>
                    <a:cubicBezTo>
                      <a:pt x="3881533" y="58883"/>
                      <a:pt x="3562731" y="-20936"/>
                      <a:pt x="3253169" y="12211"/>
                    </a:cubicBezTo>
                    <a:cubicBezTo>
                      <a:pt x="3061145" y="32785"/>
                      <a:pt x="2903506" y="124701"/>
                      <a:pt x="2764346" y="205854"/>
                    </a:cubicBezTo>
                    <a:cubicBezTo>
                      <a:pt x="2704243" y="240906"/>
                      <a:pt x="2647474" y="274053"/>
                      <a:pt x="2592610" y="298723"/>
                    </a:cubicBezTo>
                    <a:cubicBezTo>
                      <a:pt x="2391061" y="389401"/>
                      <a:pt x="2204466" y="440931"/>
                      <a:pt x="2038160" y="451885"/>
                    </a:cubicBezTo>
                    <a:cubicBezTo>
                      <a:pt x="1806321" y="470554"/>
                      <a:pt x="1625822" y="408261"/>
                      <a:pt x="1434846" y="342348"/>
                    </a:cubicBezTo>
                    <a:cubicBezTo>
                      <a:pt x="1189101" y="257480"/>
                      <a:pt x="934974" y="169755"/>
                      <a:pt x="535305" y="233191"/>
                    </a:cubicBezTo>
                    <a:cubicBezTo>
                      <a:pt x="388430" y="256527"/>
                      <a:pt x="253937" y="324536"/>
                      <a:pt x="123825" y="390354"/>
                    </a:cubicBezTo>
                    <a:cubicBezTo>
                      <a:pt x="84011" y="410547"/>
                      <a:pt x="42767" y="431311"/>
                      <a:pt x="2191" y="450456"/>
                    </a:cubicBezTo>
                    <a:lnTo>
                      <a:pt x="0" y="445789"/>
                    </a:lnTo>
                    <a:cubicBezTo>
                      <a:pt x="40577" y="426739"/>
                      <a:pt x="81725" y="405879"/>
                      <a:pt x="121539" y="385782"/>
                    </a:cubicBezTo>
                    <a:cubicBezTo>
                      <a:pt x="251936" y="319773"/>
                      <a:pt x="386810" y="251479"/>
                      <a:pt x="534543" y="228143"/>
                    </a:cubicBezTo>
                    <a:cubicBezTo>
                      <a:pt x="935450" y="164516"/>
                      <a:pt x="1190149" y="252527"/>
                      <a:pt x="1436561" y="337585"/>
                    </a:cubicBezTo>
                    <a:cubicBezTo>
                      <a:pt x="1627061" y="403403"/>
                      <a:pt x="1807083" y="465506"/>
                      <a:pt x="2037874" y="446837"/>
                    </a:cubicBezTo>
                    <a:cubicBezTo>
                      <a:pt x="2203609" y="435883"/>
                      <a:pt x="2389632" y="384543"/>
                      <a:pt x="2590610" y="294151"/>
                    </a:cubicBezTo>
                    <a:cubicBezTo>
                      <a:pt x="2645188" y="269577"/>
                      <a:pt x="2701862" y="236525"/>
                      <a:pt x="2761869" y="201568"/>
                    </a:cubicBezTo>
                    <a:cubicBezTo>
                      <a:pt x="2901410" y="120129"/>
                      <a:pt x="3059621" y="27927"/>
                      <a:pt x="3252692" y="7258"/>
                    </a:cubicBezTo>
                    <a:cubicBezTo>
                      <a:pt x="3563303" y="-25984"/>
                      <a:pt x="3882962" y="54026"/>
                      <a:pt x="4289298" y="266624"/>
                    </a:cubicBezTo>
                    <a:lnTo>
                      <a:pt x="4292537" y="268338"/>
                    </a:lnTo>
                    <a:cubicBezTo>
                      <a:pt x="4685824" y="474174"/>
                      <a:pt x="5175219" y="730396"/>
                      <a:pt x="5706999" y="520084"/>
                    </a:cubicBezTo>
                    <a:lnTo>
                      <a:pt x="5708904" y="524942"/>
                    </a:lnTo>
                    <a:cubicBezTo>
                      <a:pt x="5567744" y="580473"/>
                      <a:pt x="5429536" y="603523"/>
                      <a:pt x="5295519" y="603523"/>
                    </a:cubicBezTo>
                    <a:close/>
                  </a:path>
                </a:pathLst>
              </a:custGeom>
              <a:gradFill flip="none" rotWithShape="1">
                <a:gsLst>
                  <a:gs pos="70816">
                    <a:srgbClr val="CCE0FF">
                      <a:alpha val="50000"/>
                    </a:srgbClr>
                  </a:gs>
                  <a:gs pos="43000">
                    <a:schemeClr val="accent1">
                      <a:alpha val="67000"/>
                      <a:lumMod val="16000"/>
                      <a:lumOff val="84000"/>
                    </a:schemeClr>
                  </a:gs>
                  <a:gs pos="100000">
                    <a:schemeClr val="accent1">
                      <a:lumMod val="20000"/>
                      <a:lumOff val="80000"/>
                      <a:alpha val="0"/>
                    </a:schemeClr>
                  </a:gs>
                  <a:gs pos="8000">
                    <a:schemeClr val="accent1">
                      <a:lumMod val="20000"/>
                      <a:lumOff val="80000"/>
                      <a:alpha val="12000"/>
                    </a:schemeClr>
                  </a:gs>
                </a:gsLst>
                <a:lin ang="0" scaled="0"/>
                <a:tileRect/>
              </a:gradFill>
              <a:ln w="85725" cap="rnd">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0">
                <a:extLst>
                  <a:ext uri="{FF2B5EF4-FFF2-40B4-BE49-F238E27FC236}">
                    <a16:creationId xmlns:a16="http://schemas.microsoft.com/office/drawing/2014/main" id="{ED58FAA7-0AE1-5D50-DC1C-FAB604B821CA}"/>
                  </a:ext>
                </a:extLst>
              </p:cNvPr>
              <p:cNvSpPr/>
              <p:nvPr/>
            </p:nvSpPr>
            <p:spPr>
              <a:xfrm>
                <a:off x="602617" y="3671621"/>
                <a:ext cx="10648181" cy="1092540"/>
              </a:xfrm>
              <a:custGeom>
                <a:avLst/>
                <a:gdLst>
                  <a:gd name="connsiteX0" fmla="*/ 5171884 w 5574315"/>
                  <a:gd name="connsiteY0" fmla="*/ 651185 h 651184"/>
                  <a:gd name="connsiteX1" fmla="*/ 4808601 w 5574315"/>
                  <a:gd name="connsiteY1" fmla="*/ 600226 h 651184"/>
                  <a:gd name="connsiteX2" fmla="*/ 4178237 w 5574315"/>
                  <a:gd name="connsiteY2" fmla="*/ 320381 h 651184"/>
                  <a:gd name="connsiteX3" fmla="*/ 3185255 w 5574315"/>
                  <a:gd name="connsiteY3" fmla="*/ 9771 h 651184"/>
                  <a:gd name="connsiteX4" fmla="*/ 3184493 w 5574315"/>
                  <a:gd name="connsiteY4" fmla="*/ 9676 h 651184"/>
                  <a:gd name="connsiteX5" fmla="*/ 2690622 w 5574315"/>
                  <a:gd name="connsiteY5" fmla="*/ 164267 h 651184"/>
                  <a:gd name="connsiteX6" fmla="*/ 2528888 w 5574315"/>
                  <a:gd name="connsiteY6" fmla="*/ 252563 h 651184"/>
                  <a:gd name="connsiteX7" fmla="*/ 1991487 w 5574315"/>
                  <a:gd name="connsiteY7" fmla="*/ 422108 h 651184"/>
                  <a:gd name="connsiteX8" fmla="*/ 1369028 w 5574315"/>
                  <a:gd name="connsiteY8" fmla="*/ 381913 h 651184"/>
                  <a:gd name="connsiteX9" fmla="*/ 532924 w 5574315"/>
                  <a:gd name="connsiteY9" fmla="*/ 333716 h 651184"/>
                  <a:gd name="connsiteX10" fmla="*/ 151733 w 5574315"/>
                  <a:gd name="connsiteY10" fmla="*/ 456113 h 651184"/>
                  <a:gd name="connsiteX11" fmla="*/ 1619 w 5574315"/>
                  <a:gd name="connsiteY11" fmla="*/ 516311 h 651184"/>
                  <a:gd name="connsiteX12" fmla="*/ 0 w 5574315"/>
                  <a:gd name="connsiteY12" fmla="*/ 512024 h 651184"/>
                  <a:gd name="connsiteX13" fmla="*/ 149923 w 5574315"/>
                  <a:gd name="connsiteY13" fmla="*/ 451922 h 651184"/>
                  <a:gd name="connsiteX14" fmla="*/ 532257 w 5574315"/>
                  <a:gd name="connsiteY14" fmla="*/ 329144 h 651184"/>
                  <a:gd name="connsiteX15" fmla="*/ 1369981 w 5574315"/>
                  <a:gd name="connsiteY15" fmla="*/ 377341 h 651184"/>
                  <a:gd name="connsiteX16" fmla="*/ 1990725 w 5574315"/>
                  <a:gd name="connsiteY16" fmla="*/ 417441 h 651184"/>
                  <a:gd name="connsiteX17" fmla="*/ 2527078 w 5574315"/>
                  <a:gd name="connsiteY17" fmla="*/ 248277 h 651184"/>
                  <a:gd name="connsiteX18" fmla="*/ 2688241 w 5574315"/>
                  <a:gd name="connsiteY18" fmla="*/ 160266 h 651184"/>
                  <a:gd name="connsiteX19" fmla="*/ 3185160 w 5574315"/>
                  <a:gd name="connsiteY19" fmla="*/ 5104 h 651184"/>
                  <a:gd name="connsiteX20" fmla="*/ 3185922 w 5574315"/>
                  <a:gd name="connsiteY20" fmla="*/ 5199 h 651184"/>
                  <a:gd name="connsiteX21" fmla="*/ 4180427 w 5574315"/>
                  <a:gd name="connsiteY21" fmla="*/ 316286 h 651184"/>
                  <a:gd name="connsiteX22" fmla="*/ 5572792 w 5574315"/>
                  <a:gd name="connsiteY22" fmla="*/ 578699 h 651184"/>
                  <a:gd name="connsiteX23" fmla="*/ 5574316 w 5574315"/>
                  <a:gd name="connsiteY23" fmla="*/ 582986 h 651184"/>
                  <a:gd name="connsiteX24" fmla="*/ 5171884 w 5574315"/>
                  <a:gd name="connsiteY24" fmla="*/ 651185 h 651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574315" h="651184">
                    <a:moveTo>
                      <a:pt x="5171884" y="651185"/>
                    </a:moveTo>
                    <a:cubicBezTo>
                      <a:pt x="5053679" y="651185"/>
                      <a:pt x="4933093" y="634135"/>
                      <a:pt x="4808601" y="600226"/>
                    </a:cubicBezTo>
                    <a:cubicBezTo>
                      <a:pt x="4583240" y="538694"/>
                      <a:pt x="4381881" y="432681"/>
                      <a:pt x="4178237" y="320381"/>
                    </a:cubicBezTo>
                    <a:cubicBezTo>
                      <a:pt x="3779044" y="100163"/>
                      <a:pt x="3477197" y="54253"/>
                      <a:pt x="3185255" y="9771"/>
                    </a:cubicBezTo>
                    <a:lnTo>
                      <a:pt x="3184493" y="9676"/>
                    </a:lnTo>
                    <a:cubicBezTo>
                      <a:pt x="2997518" y="-18804"/>
                      <a:pt x="2834450" y="78446"/>
                      <a:pt x="2690622" y="164267"/>
                    </a:cubicBezTo>
                    <a:cubicBezTo>
                      <a:pt x="2634044" y="197985"/>
                      <a:pt x="2580608" y="229894"/>
                      <a:pt x="2528888" y="252563"/>
                    </a:cubicBezTo>
                    <a:cubicBezTo>
                      <a:pt x="2331434" y="339241"/>
                      <a:pt x="2150555" y="396200"/>
                      <a:pt x="1991487" y="422108"/>
                    </a:cubicBezTo>
                    <a:cubicBezTo>
                      <a:pt x="1749076" y="464876"/>
                      <a:pt x="1564481" y="424585"/>
                      <a:pt x="1369028" y="381913"/>
                    </a:cubicBezTo>
                    <a:cubicBezTo>
                      <a:pt x="1151382" y="334383"/>
                      <a:pt x="904685" y="280567"/>
                      <a:pt x="532924" y="333716"/>
                    </a:cubicBezTo>
                    <a:cubicBezTo>
                      <a:pt x="400050" y="352671"/>
                      <a:pt x="273844" y="405249"/>
                      <a:pt x="151733" y="456113"/>
                    </a:cubicBezTo>
                    <a:cubicBezTo>
                      <a:pt x="102775" y="476496"/>
                      <a:pt x="52197" y="497546"/>
                      <a:pt x="1619" y="516311"/>
                    </a:cubicBezTo>
                    <a:lnTo>
                      <a:pt x="0" y="512024"/>
                    </a:lnTo>
                    <a:cubicBezTo>
                      <a:pt x="50387" y="493355"/>
                      <a:pt x="100965" y="472305"/>
                      <a:pt x="149923" y="451922"/>
                    </a:cubicBezTo>
                    <a:cubicBezTo>
                      <a:pt x="272320" y="400963"/>
                      <a:pt x="398812" y="348290"/>
                      <a:pt x="532257" y="329144"/>
                    </a:cubicBezTo>
                    <a:cubicBezTo>
                      <a:pt x="904780" y="275900"/>
                      <a:pt x="1151954" y="329811"/>
                      <a:pt x="1369981" y="377341"/>
                    </a:cubicBezTo>
                    <a:cubicBezTo>
                      <a:pt x="1564958" y="419918"/>
                      <a:pt x="1749076" y="460113"/>
                      <a:pt x="1990725" y="417441"/>
                    </a:cubicBezTo>
                    <a:cubicBezTo>
                      <a:pt x="2149507" y="391628"/>
                      <a:pt x="2329910" y="334764"/>
                      <a:pt x="2527078" y="248277"/>
                    </a:cubicBezTo>
                    <a:cubicBezTo>
                      <a:pt x="2578513" y="225703"/>
                      <a:pt x="2631853" y="193889"/>
                      <a:pt x="2688241" y="160266"/>
                    </a:cubicBezTo>
                    <a:cubicBezTo>
                      <a:pt x="2832735" y="74065"/>
                      <a:pt x="2996470" y="-23566"/>
                      <a:pt x="3185160" y="5104"/>
                    </a:cubicBezTo>
                    <a:lnTo>
                      <a:pt x="3185922" y="5199"/>
                    </a:lnTo>
                    <a:cubicBezTo>
                      <a:pt x="3478244" y="49681"/>
                      <a:pt x="3780568" y="95687"/>
                      <a:pt x="4180427" y="316286"/>
                    </a:cubicBezTo>
                    <a:cubicBezTo>
                      <a:pt x="4529424" y="508881"/>
                      <a:pt x="5007388" y="772628"/>
                      <a:pt x="5572792" y="578699"/>
                    </a:cubicBezTo>
                    <a:lnTo>
                      <a:pt x="5574316" y="582986"/>
                    </a:lnTo>
                    <a:cubicBezTo>
                      <a:pt x="5441823" y="628420"/>
                      <a:pt x="5308473" y="651185"/>
                      <a:pt x="5171884" y="651185"/>
                    </a:cubicBezTo>
                    <a:close/>
                  </a:path>
                </a:pathLst>
              </a:custGeom>
              <a:gradFill flip="none" rotWithShape="1">
                <a:gsLst>
                  <a:gs pos="70816">
                    <a:srgbClr val="CCE0FF">
                      <a:alpha val="50000"/>
                    </a:srgbClr>
                  </a:gs>
                  <a:gs pos="43000">
                    <a:schemeClr val="accent1">
                      <a:alpha val="67000"/>
                      <a:lumMod val="16000"/>
                      <a:lumOff val="84000"/>
                    </a:schemeClr>
                  </a:gs>
                  <a:gs pos="100000">
                    <a:schemeClr val="accent1">
                      <a:lumMod val="20000"/>
                      <a:lumOff val="80000"/>
                      <a:alpha val="0"/>
                    </a:schemeClr>
                  </a:gs>
                  <a:gs pos="8000">
                    <a:schemeClr val="accent1">
                      <a:lumMod val="20000"/>
                      <a:lumOff val="80000"/>
                      <a:alpha val="12000"/>
                    </a:schemeClr>
                  </a:gs>
                </a:gsLst>
                <a:lin ang="0" scaled="0"/>
                <a:tileRect/>
              </a:gradFill>
              <a:ln w="85725" cap="rnd">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0">
                <a:extLst>
                  <a:ext uri="{FF2B5EF4-FFF2-40B4-BE49-F238E27FC236}">
                    <a16:creationId xmlns:a16="http://schemas.microsoft.com/office/drawing/2014/main" id="{F8B81234-F9B4-F509-6525-1CFCB411995D}"/>
                  </a:ext>
                </a:extLst>
              </p:cNvPr>
              <p:cNvSpPr/>
              <p:nvPr/>
            </p:nvSpPr>
            <p:spPr>
              <a:xfrm>
                <a:off x="534204" y="3626335"/>
                <a:ext cx="10391088" cy="1190084"/>
              </a:xfrm>
              <a:custGeom>
                <a:avLst/>
                <a:gdLst>
                  <a:gd name="connsiteX0" fmla="*/ 5049108 w 5439727"/>
                  <a:gd name="connsiteY0" fmla="*/ 709324 h 709323"/>
                  <a:gd name="connsiteX1" fmla="*/ 4673537 w 5439727"/>
                  <a:gd name="connsiteY1" fmla="*/ 656460 h 709323"/>
                  <a:gd name="connsiteX2" fmla="*/ 4069747 w 5439727"/>
                  <a:gd name="connsiteY2" fmla="*/ 379759 h 709323"/>
                  <a:gd name="connsiteX3" fmla="*/ 3174302 w 5439727"/>
                  <a:gd name="connsiteY3" fmla="*/ 32477 h 709323"/>
                  <a:gd name="connsiteX4" fmla="*/ 3116294 w 5439727"/>
                  <a:gd name="connsiteY4" fmla="*/ 17142 h 709323"/>
                  <a:gd name="connsiteX5" fmla="*/ 2610707 w 5439727"/>
                  <a:gd name="connsiteY5" fmla="*/ 143158 h 709323"/>
                  <a:gd name="connsiteX6" fmla="*/ 2465261 w 5439727"/>
                  <a:gd name="connsiteY6" fmla="*/ 216500 h 709323"/>
                  <a:gd name="connsiteX7" fmla="*/ 1944910 w 5439727"/>
                  <a:gd name="connsiteY7" fmla="*/ 402333 h 709323"/>
                  <a:gd name="connsiteX8" fmla="*/ 1277207 w 5439727"/>
                  <a:gd name="connsiteY8" fmla="*/ 439766 h 709323"/>
                  <a:gd name="connsiteX9" fmla="*/ 530543 w 5439727"/>
                  <a:gd name="connsiteY9" fmla="*/ 444434 h 709323"/>
                  <a:gd name="connsiteX10" fmla="*/ 183833 w 5439727"/>
                  <a:gd name="connsiteY10" fmla="*/ 535207 h 709323"/>
                  <a:gd name="connsiteX11" fmla="*/ 1048 w 5439727"/>
                  <a:gd name="connsiteY11" fmla="*/ 592357 h 709323"/>
                  <a:gd name="connsiteX12" fmla="*/ 0 w 5439727"/>
                  <a:gd name="connsiteY12" fmla="*/ 588642 h 709323"/>
                  <a:gd name="connsiteX13" fmla="*/ 182594 w 5439727"/>
                  <a:gd name="connsiteY13" fmla="*/ 531587 h 709323"/>
                  <a:gd name="connsiteX14" fmla="*/ 530066 w 5439727"/>
                  <a:gd name="connsiteY14" fmla="*/ 440719 h 709323"/>
                  <a:gd name="connsiteX15" fmla="*/ 1277588 w 5439727"/>
                  <a:gd name="connsiteY15" fmla="*/ 436052 h 709323"/>
                  <a:gd name="connsiteX16" fmla="*/ 1943862 w 5439727"/>
                  <a:gd name="connsiteY16" fmla="*/ 398714 h 709323"/>
                  <a:gd name="connsiteX17" fmla="*/ 2463737 w 5439727"/>
                  <a:gd name="connsiteY17" fmla="*/ 213071 h 709323"/>
                  <a:gd name="connsiteX18" fmla="*/ 2608898 w 5439727"/>
                  <a:gd name="connsiteY18" fmla="*/ 139919 h 709323"/>
                  <a:gd name="connsiteX19" fmla="*/ 3117342 w 5439727"/>
                  <a:gd name="connsiteY19" fmla="*/ 13523 h 709323"/>
                  <a:gd name="connsiteX20" fmla="*/ 3175254 w 5439727"/>
                  <a:gd name="connsiteY20" fmla="*/ 28858 h 709323"/>
                  <a:gd name="connsiteX21" fmla="*/ 4071652 w 5439727"/>
                  <a:gd name="connsiteY21" fmla="*/ 376520 h 709323"/>
                  <a:gd name="connsiteX22" fmla="*/ 5438585 w 5439727"/>
                  <a:gd name="connsiteY22" fmla="*/ 647983 h 709323"/>
                  <a:gd name="connsiteX23" fmla="*/ 5439728 w 5439727"/>
                  <a:gd name="connsiteY23" fmla="*/ 651698 h 709323"/>
                  <a:gd name="connsiteX24" fmla="*/ 5049108 w 5439727"/>
                  <a:gd name="connsiteY24" fmla="*/ 709324 h 709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39727" h="709323">
                    <a:moveTo>
                      <a:pt x="5049108" y="709324"/>
                    </a:moveTo>
                    <a:cubicBezTo>
                      <a:pt x="4924806" y="709324"/>
                      <a:pt x="4800219" y="691703"/>
                      <a:pt x="4673537" y="656460"/>
                    </a:cubicBezTo>
                    <a:cubicBezTo>
                      <a:pt x="4444842" y="592833"/>
                      <a:pt x="4241959" y="480248"/>
                      <a:pt x="4069747" y="379759"/>
                    </a:cubicBezTo>
                    <a:cubicBezTo>
                      <a:pt x="3722846" y="177257"/>
                      <a:pt x="3456432" y="106963"/>
                      <a:pt x="3174302" y="32477"/>
                    </a:cubicBezTo>
                    <a:cubicBezTo>
                      <a:pt x="3155061" y="27429"/>
                      <a:pt x="3135725" y="22286"/>
                      <a:pt x="3116294" y="17142"/>
                    </a:cubicBezTo>
                    <a:cubicBezTo>
                      <a:pt x="2933891" y="-31340"/>
                      <a:pt x="2762155" y="61338"/>
                      <a:pt x="2610707" y="143158"/>
                    </a:cubicBezTo>
                    <a:cubicBezTo>
                      <a:pt x="2559844" y="170590"/>
                      <a:pt x="2511838" y="196593"/>
                      <a:pt x="2465261" y="216500"/>
                    </a:cubicBezTo>
                    <a:cubicBezTo>
                      <a:pt x="2271427" y="299368"/>
                      <a:pt x="2096357" y="361947"/>
                      <a:pt x="1944910" y="402333"/>
                    </a:cubicBezTo>
                    <a:cubicBezTo>
                      <a:pt x="1680877" y="475390"/>
                      <a:pt x="1493806" y="458912"/>
                      <a:pt x="1277207" y="439766"/>
                    </a:cubicBezTo>
                    <a:cubicBezTo>
                      <a:pt x="1081183" y="422431"/>
                      <a:pt x="858965" y="402905"/>
                      <a:pt x="530543" y="444434"/>
                    </a:cubicBezTo>
                    <a:cubicBezTo>
                      <a:pt x="412433" y="459388"/>
                      <a:pt x="301371" y="496250"/>
                      <a:pt x="183833" y="535207"/>
                    </a:cubicBezTo>
                    <a:cubicBezTo>
                      <a:pt x="124492" y="554828"/>
                      <a:pt x="63151" y="575212"/>
                      <a:pt x="1048" y="592357"/>
                    </a:cubicBezTo>
                    <a:lnTo>
                      <a:pt x="0" y="588642"/>
                    </a:lnTo>
                    <a:cubicBezTo>
                      <a:pt x="62008" y="571497"/>
                      <a:pt x="123254" y="551209"/>
                      <a:pt x="182594" y="531587"/>
                    </a:cubicBezTo>
                    <a:cubicBezTo>
                      <a:pt x="300323" y="492535"/>
                      <a:pt x="411575" y="455673"/>
                      <a:pt x="530066" y="440719"/>
                    </a:cubicBezTo>
                    <a:cubicBezTo>
                      <a:pt x="858965" y="399095"/>
                      <a:pt x="1081373" y="418716"/>
                      <a:pt x="1277588" y="436052"/>
                    </a:cubicBezTo>
                    <a:cubicBezTo>
                      <a:pt x="1493806" y="455102"/>
                      <a:pt x="1680591" y="471580"/>
                      <a:pt x="1943862" y="398714"/>
                    </a:cubicBezTo>
                    <a:cubicBezTo>
                      <a:pt x="2095119" y="358328"/>
                      <a:pt x="2269998" y="295844"/>
                      <a:pt x="2463737" y="213071"/>
                    </a:cubicBezTo>
                    <a:cubicBezTo>
                      <a:pt x="2510124" y="193259"/>
                      <a:pt x="2558129" y="167351"/>
                      <a:pt x="2608898" y="139919"/>
                    </a:cubicBezTo>
                    <a:cubicBezTo>
                      <a:pt x="2761012" y="57814"/>
                      <a:pt x="2933415" y="-35341"/>
                      <a:pt x="3117342" y="13523"/>
                    </a:cubicBezTo>
                    <a:cubicBezTo>
                      <a:pt x="3136678" y="18666"/>
                      <a:pt x="3156014" y="23810"/>
                      <a:pt x="3175254" y="28858"/>
                    </a:cubicBezTo>
                    <a:cubicBezTo>
                      <a:pt x="3457575" y="103343"/>
                      <a:pt x="3724370" y="173733"/>
                      <a:pt x="4071652" y="376520"/>
                    </a:cubicBezTo>
                    <a:cubicBezTo>
                      <a:pt x="4459701" y="603120"/>
                      <a:pt x="4884992" y="810670"/>
                      <a:pt x="5438585" y="647983"/>
                    </a:cubicBezTo>
                    <a:lnTo>
                      <a:pt x="5439728" y="651698"/>
                    </a:lnTo>
                    <a:cubicBezTo>
                      <a:pt x="5308664" y="690083"/>
                      <a:pt x="5179029" y="709324"/>
                      <a:pt x="5049108" y="709324"/>
                    </a:cubicBezTo>
                    <a:close/>
                  </a:path>
                </a:pathLst>
              </a:custGeom>
              <a:gradFill flip="none" rotWithShape="1">
                <a:gsLst>
                  <a:gs pos="70816">
                    <a:srgbClr val="CCE0FF">
                      <a:alpha val="50000"/>
                    </a:srgbClr>
                  </a:gs>
                  <a:gs pos="43000">
                    <a:schemeClr val="accent1">
                      <a:alpha val="67000"/>
                      <a:lumMod val="16000"/>
                      <a:lumOff val="84000"/>
                    </a:schemeClr>
                  </a:gs>
                  <a:gs pos="100000">
                    <a:schemeClr val="accent1">
                      <a:lumMod val="20000"/>
                      <a:lumOff val="80000"/>
                      <a:alpha val="0"/>
                    </a:schemeClr>
                  </a:gs>
                  <a:gs pos="8000">
                    <a:schemeClr val="accent1">
                      <a:lumMod val="20000"/>
                      <a:lumOff val="80000"/>
                      <a:alpha val="12000"/>
                    </a:schemeClr>
                  </a:gs>
                </a:gsLst>
                <a:lin ang="0" scaled="0"/>
                <a:tileRect/>
              </a:gradFill>
              <a:ln w="85725" cap="rnd">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0">
                <a:extLst>
                  <a:ext uri="{FF2B5EF4-FFF2-40B4-BE49-F238E27FC236}">
                    <a16:creationId xmlns:a16="http://schemas.microsoft.com/office/drawing/2014/main" id="{4FE811EF-2981-F93B-CBAE-9228A8B02546}"/>
                  </a:ext>
                </a:extLst>
              </p:cNvPr>
              <p:cNvSpPr/>
              <p:nvPr/>
            </p:nvSpPr>
            <p:spPr>
              <a:xfrm>
                <a:off x="466157" y="3602175"/>
                <a:ext cx="10133995" cy="1266981"/>
              </a:xfrm>
              <a:custGeom>
                <a:avLst/>
                <a:gdLst>
                  <a:gd name="connsiteX0" fmla="*/ 4928045 w 5305139"/>
                  <a:gd name="connsiteY0" fmla="*/ 755157 h 755156"/>
                  <a:gd name="connsiteX1" fmla="*/ 3961067 w 5305139"/>
                  <a:gd name="connsiteY1" fmla="*/ 426544 h 755156"/>
                  <a:gd name="connsiteX2" fmla="*/ 3048381 w 5305139"/>
                  <a:gd name="connsiteY2" fmla="*/ 12111 h 755156"/>
                  <a:gd name="connsiteX3" fmla="*/ 2481834 w 5305139"/>
                  <a:gd name="connsiteY3" fmla="*/ 133269 h 755156"/>
                  <a:gd name="connsiteX4" fmla="*/ 2401538 w 5305139"/>
                  <a:gd name="connsiteY4" fmla="*/ 167750 h 755156"/>
                  <a:gd name="connsiteX5" fmla="*/ 1898142 w 5305139"/>
                  <a:gd name="connsiteY5" fmla="*/ 369966 h 755156"/>
                  <a:gd name="connsiteX6" fmla="*/ 1108996 w 5305139"/>
                  <a:gd name="connsiteY6" fmla="*/ 505221 h 755156"/>
                  <a:gd name="connsiteX7" fmla="*/ 528161 w 5305139"/>
                  <a:gd name="connsiteY7" fmla="*/ 542559 h 755156"/>
                  <a:gd name="connsiteX8" fmla="*/ 222409 w 5305139"/>
                  <a:gd name="connsiteY8" fmla="*/ 604947 h 755156"/>
                  <a:gd name="connsiteX9" fmla="*/ 571 w 5305139"/>
                  <a:gd name="connsiteY9" fmla="*/ 655811 h 755156"/>
                  <a:gd name="connsiteX10" fmla="*/ 0 w 5305139"/>
                  <a:gd name="connsiteY10" fmla="*/ 652572 h 755156"/>
                  <a:gd name="connsiteX11" fmla="*/ 221647 w 5305139"/>
                  <a:gd name="connsiteY11" fmla="*/ 601804 h 755156"/>
                  <a:gd name="connsiteX12" fmla="*/ 527876 w 5305139"/>
                  <a:gd name="connsiteY12" fmla="*/ 539320 h 755156"/>
                  <a:gd name="connsiteX13" fmla="*/ 1108996 w 5305139"/>
                  <a:gd name="connsiteY13" fmla="*/ 501982 h 755156"/>
                  <a:gd name="connsiteX14" fmla="*/ 1897094 w 5305139"/>
                  <a:gd name="connsiteY14" fmla="*/ 366918 h 755156"/>
                  <a:gd name="connsiteX15" fmla="*/ 2400395 w 5305139"/>
                  <a:gd name="connsiteY15" fmla="*/ 164702 h 755156"/>
                  <a:gd name="connsiteX16" fmla="*/ 2480691 w 5305139"/>
                  <a:gd name="connsiteY16" fmla="*/ 130221 h 755156"/>
                  <a:gd name="connsiteX17" fmla="*/ 3049048 w 5305139"/>
                  <a:gd name="connsiteY17" fmla="*/ 8778 h 755156"/>
                  <a:gd name="connsiteX18" fmla="*/ 3962876 w 5305139"/>
                  <a:gd name="connsiteY18" fmla="*/ 423591 h 755156"/>
                  <a:gd name="connsiteX19" fmla="*/ 5304378 w 5305139"/>
                  <a:gd name="connsiteY19" fmla="*/ 704007 h 755156"/>
                  <a:gd name="connsiteX20" fmla="*/ 5305140 w 5305139"/>
                  <a:gd name="connsiteY20" fmla="*/ 707151 h 755156"/>
                  <a:gd name="connsiteX21" fmla="*/ 4928045 w 5305139"/>
                  <a:gd name="connsiteY21" fmla="*/ 755157 h 755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305139" h="755156">
                    <a:moveTo>
                      <a:pt x="4928045" y="755157"/>
                    </a:moveTo>
                    <a:cubicBezTo>
                      <a:pt x="4531900" y="755157"/>
                      <a:pt x="4225100" y="590279"/>
                      <a:pt x="3961067" y="426544"/>
                    </a:cubicBezTo>
                    <a:cubicBezTo>
                      <a:pt x="3626930" y="219375"/>
                      <a:pt x="3365945" y="68309"/>
                      <a:pt x="3048381" y="12111"/>
                    </a:cubicBezTo>
                    <a:cubicBezTo>
                      <a:pt x="2843213" y="-24179"/>
                      <a:pt x="2651284" y="59451"/>
                      <a:pt x="2481834" y="133269"/>
                    </a:cubicBezTo>
                    <a:cubicBezTo>
                      <a:pt x="2454021" y="145366"/>
                      <a:pt x="2427827" y="156796"/>
                      <a:pt x="2401538" y="167750"/>
                    </a:cubicBezTo>
                    <a:cubicBezTo>
                      <a:pt x="2205990" y="249189"/>
                      <a:pt x="2036636" y="317197"/>
                      <a:pt x="1898142" y="369966"/>
                    </a:cubicBezTo>
                    <a:cubicBezTo>
                      <a:pt x="1583150" y="490266"/>
                      <a:pt x="1384268" y="496553"/>
                      <a:pt x="1108996" y="505221"/>
                    </a:cubicBezTo>
                    <a:cubicBezTo>
                      <a:pt x="950881" y="510174"/>
                      <a:pt x="771715" y="515889"/>
                      <a:pt x="528161" y="542559"/>
                    </a:cubicBezTo>
                    <a:cubicBezTo>
                      <a:pt x="426053" y="553703"/>
                      <a:pt x="327184" y="578563"/>
                      <a:pt x="222409" y="604947"/>
                    </a:cubicBezTo>
                    <a:cubicBezTo>
                      <a:pt x="150876" y="622950"/>
                      <a:pt x="76867" y="641523"/>
                      <a:pt x="571" y="655811"/>
                    </a:cubicBezTo>
                    <a:lnTo>
                      <a:pt x="0" y="652572"/>
                    </a:lnTo>
                    <a:cubicBezTo>
                      <a:pt x="76200" y="638380"/>
                      <a:pt x="150114" y="619806"/>
                      <a:pt x="221647" y="601804"/>
                    </a:cubicBezTo>
                    <a:cubicBezTo>
                      <a:pt x="326517" y="575420"/>
                      <a:pt x="425577" y="550560"/>
                      <a:pt x="527876" y="539320"/>
                    </a:cubicBezTo>
                    <a:cubicBezTo>
                      <a:pt x="771620" y="512650"/>
                      <a:pt x="950786" y="507030"/>
                      <a:pt x="1108996" y="501982"/>
                    </a:cubicBezTo>
                    <a:cubicBezTo>
                      <a:pt x="1383887" y="493314"/>
                      <a:pt x="1582579" y="487028"/>
                      <a:pt x="1897094" y="366918"/>
                    </a:cubicBezTo>
                    <a:cubicBezTo>
                      <a:pt x="2035588" y="314149"/>
                      <a:pt x="2204847" y="246141"/>
                      <a:pt x="2400395" y="164702"/>
                    </a:cubicBezTo>
                    <a:cubicBezTo>
                      <a:pt x="2426684" y="153748"/>
                      <a:pt x="2452878" y="142318"/>
                      <a:pt x="2480691" y="130221"/>
                    </a:cubicBezTo>
                    <a:cubicBezTo>
                      <a:pt x="2650522" y="56212"/>
                      <a:pt x="2843022" y="-27608"/>
                      <a:pt x="3049048" y="8778"/>
                    </a:cubicBezTo>
                    <a:cubicBezTo>
                      <a:pt x="3367183" y="65070"/>
                      <a:pt x="3628454" y="216232"/>
                      <a:pt x="3962876" y="423591"/>
                    </a:cubicBezTo>
                    <a:cubicBezTo>
                      <a:pt x="4304538" y="635523"/>
                      <a:pt x="4718209" y="849359"/>
                      <a:pt x="5304378" y="704007"/>
                    </a:cubicBezTo>
                    <a:lnTo>
                      <a:pt x="5305140" y="707151"/>
                    </a:lnTo>
                    <a:cubicBezTo>
                      <a:pt x="5170742" y="740679"/>
                      <a:pt x="5045488" y="755157"/>
                      <a:pt x="4928045" y="755157"/>
                    </a:cubicBezTo>
                    <a:close/>
                  </a:path>
                </a:pathLst>
              </a:custGeom>
              <a:gradFill flip="none" rotWithShape="1">
                <a:gsLst>
                  <a:gs pos="70816">
                    <a:srgbClr val="CCE0FF">
                      <a:alpha val="50000"/>
                    </a:srgbClr>
                  </a:gs>
                  <a:gs pos="43000">
                    <a:schemeClr val="accent1">
                      <a:alpha val="67000"/>
                      <a:lumMod val="16000"/>
                      <a:lumOff val="84000"/>
                    </a:schemeClr>
                  </a:gs>
                  <a:gs pos="100000">
                    <a:schemeClr val="accent1">
                      <a:lumMod val="20000"/>
                      <a:lumOff val="80000"/>
                      <a:alpha val="0"/>
                    </a:schemeClr>
                  </a:gs>
                  <a:gs pos="8000">
                    <a:schemeClr val="accent1">
                      <a:lumMod val="20000"/>
                      <a:lumOff val="80000"/>
                      <a:alpha val="12000"/>
                    </a:schemeClr>
                  </a:gs>
                </a:gsLst>
                <a:lin ang="0" scaled="0"/>
                <a:tileRect/>
              </a:gradFill>
              <a:ln w="85725" cap="rnd">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0">
                <a:extLst>
                  <a:ext uri="{FF2B5EF4-FFF2-40B4-BE49-F238E27FC236}">
                    <a16:creationId xmlns:a16="http://schemas.microsoft.com/office/drawing/2014/main" id="{12B48C77-BBA2-9337-E062-065439AEF353}"/>
                  </a:ext>
                </a:extLst>
              </p:cNvPr>
              <p:cNvSpPr/>
              <p:nvPr/>
            </p:nvSpPr>
            <p:spPr>
              <a:xfrm>
                <a:off x="397744" y="3552004"/>
                <a:ext cx="9876902" cy="1370529"/>
              </a:xfrm>
              <a:custGeom>
                <a:avLst/>
                <a:gdLst>
                  <a:gd name="connsiteX0" fmla="*/ 4812030 w 5170551"/>
                  <a:gd name="connsiteY0" fmla="*/ 816873 h 816873"/>
                  <a:gd name="connsiteX1" fmla="*/ 4403122 w 5170551"/>
                  <a:gd name="connsiteY1" fmla="*/ 759628 h 816873"/>
                  <a:gd name="connsiteX2" fmla="*/ 3852672 w 5170551"/>
                  <a:gd name="connsiteY2" fmla="*/ 488927 h 816873"/>
                  <a:gd name="connsiteX3" fmla="*/ 3767328 w 5170551"/>
                  <a:gd name="connsiteY3" fmla="*/ 432254 h 816873"/>
                  <a:gd name="connsiteX4" fmla="*/ 2980373 w 5170551"/>
                  <a:gd name="connsiteY4" fmla="*/ 22679 h 816873"/>
                  <a:gd name="connsiteX5" fmla="*/ 2358295 w 5170551"/>
                  <a:gd name="connsiteY5" fmla="*/ 126501 h 816873"/>
                  <a:gd name="connsiteX6" fmla="*/ 2338007 w 5170551"/>
                  <a:gd name="connsiteY6" fmla="*/ 134693 h 816873"/>
                  <a:gd name="connsiteX7" fmla="*/ 1851565 w 5170551"/>
                  <a:gd name="connsiteY7" fmla="*/ 353291 h 816873"/>
                  <a:gd name="connsiteX8" fmla="*/ 617125 w 5170551"/>
                  <a:gd name="connsiteY8" fmla="*/ 648090 h 816873"/>
                  <a:gd name="connsiteX9" fmla="*/ 525971 w 5170551"/>
                  <a:gd name="connsiteY9" fmla="*/ 656377 h 816873"/>
                  <a:gd name="connsiteX10" fmla="*/ 272034 w 5170551"/>
                  <a:gd name="connsiteY10" fmla="*/ 694096 h 816873"/>
                  <a:gd name="connsiteX11" fmla="*/ 286 w 5170551"/>
                  <a:gd name="connsiteY11" fmla="*/ 734863 h 816873"/>
                  <a:gd name="connsiteX12" fmla="*/ 0 w 5170551"/>
                  <a:gd name="connsiteY12" fmla="*/ 732291 h 816873"/>
                  <a:gd name="connsiteX13" fmla="*/ 271558 w 5170551"/>
                  <a:gd name="connsiteY13" fmla="*/ 691524 h 816873"/>
                  <a:gd name="connsiteX14" fmla="*/ 525685 w 5170551"/>
                  <a:gd name="connsiteY14" fmla="*/ 653805 h 816873"/>
                  <a:gd name="connsiteX15" fmla="*/ 616839 w 5170551"/>
                  <a:gd name="connsiteY15" fmla="*/ 645518 h 816873"/>
                  <a:gd name="connsiteX16" fmla="*/ 1850326 w 5170551"/>
                  <a:gd name="connsiteY16" fmla="*/ 351005 h 816873"/>
                  <a:gd name="connsiteX17" fmla="*/ 2336959 w 5170551"/>
                  <a:gd name="connsiteY17" fmla="*/ 132311 h 816873"/>
                  <a:gd name="connsiteX18" fmla="*/ 2357247 w 5170551"/>
                  <a:gd name="connsiteY18" fmla="*/ 124120 h 816873"/>
                  <a:gd name="connsiteX19" fmla="*/ 2981040 w 5170551"/>
                  <a:gd name="connsiteY19" fmla="*/ 20202 h 816873"/>
                  <a:gd name="connsiteX20" fmla="*/ 3768757 w 5170551"/>
                  <a:gd name="connsiteY20" fmla="*/ 430158 h 816873"/>
                  <a:gd name="connsiteX21" fmla="*/ 3854101 w 5170551"/>
                  <a:gd name="connsiteY21" fmla="*/ 486832 h 816873"/>
                  <a:gd name="connsiteX22" fmla="*/ 5170075 w 5170551"/>
                  <a:gd name="connsiteY22" fmla="*/ 776297 h 816873"/>
                  <a:gd name="connsiteX23" fmla="*/ 5170551 w 5170551"/>
                  <a:gd name="connsiteY23" fmla="*/ 778868 h 816873"/>
                  <a:gd name="connsiteX24" fmla="*/ 4812030 w 5170551"/>
                  <a:gd name="connsiteY24" fmla="*/ 816873 h 816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170551" h="816873">
                    <a:moveTo>
                      <a:pt x="4812030" y="816873"/>
                    </a:moveTo>
                    <a:cubicBezTo>
                      <a:pt x="4670870" y="816873"/>
                      <a:pt x="4535424" y="797823"/>
                      <a:pt x="4403122" y="759628"/>
                    </a:cubicBezTo>
                    <a:cubicBezTo>
                      <a:pt x="4182237" y="695906"/>
                      <a:pt x="4000881" y="587035"/>
                      <a:pt x="3852672" y="488927"/>
                    </a:cubicBezTo>
                    <a:cubicBezTo>
                      <a:pt x="3823621" y="469687"/>
                      <a:pt x="3795141" y="450732"/>
                      <a:pt x="3767328" y="432254"/>
                    </a:cubicBezTo>
                    <a:cubicBezTo>
                      <a:pt x="3491770" y="248707"/>
                      <a:pt x="3274124" y="103832"/>
                      <a:pt x="2980373" y="22679"/>
                    </a:cubicBezTo>
                    <a:cubicBezTo>
                      <a:pt x="2762345" y="-37519"/>
                      <a:pt x="2547652" y="49634"/>
                      <a:pt x="2358295" y="126501"/>
                    </a:cubicBezTo>
                    <a:lnTo>
                      <a:pt x="2338007" y="134693"/>
                    </a:lnTo>
                    <a:cubicBezTo>
                      <a:pt x="2160080" y="206702"/>
                      <a:pt x="1991868" y="282330"/>
                      <a:pt x="1851565" y="353291"/>
                    </a:cubicBezTo>
                    <a:cubicBezTo>
                      <a:pt x="1395794" y="577605"/>
                      <a:pt x="1215295" y="593988"/>
                      <a:pt x="617125" y="648090"/>
                    </a:cubicBezTo>
                    <a:cubicBezTo>
                      <a:pt x="587788" y="650757"/>
                      <a:pt x="557403" y="653519"/>
                      <a:pt x="525971" y="656377"/>
                    </a:cubicBezTo>
                    <a:cubicBezTo>
                      <a:pt x="442531" y="663997"/>
                      <a:pt x="359759" y="678570"/>
                      <a:pt x="272034" y="694096"/>
                    </a:cubicBezTo>
                    <a:cubicBezTo>
                      <a:pt x="185166" y="709431"/>
                      <a:pt x="95250" y="725243"/>
                      <a:pt x="286" y="734863"/>
                    </a:cubicBezTo>
                    <a:lnTo>
                      <a:pt x="0" y="732291"/>
                    </a:lnTo>
                    <a:cubicBezTo>
                      <a:pt x="94869" y="722766"/>
                      <a:pt x="184690" y="706859"/>
                      <a:pt x="271558" y="691524"/>
                    </a:cubicBezTo>
                    <a:cubicBezTo>
                      <a:pt x="359283" y="676094"/>
                      <a:pt x="442150" y="661425"/>
                      <a:pt x="525685" y="653805"/>
                    </a:cubicBezTo>
                    <a:cubicBezTo>
                      <a:pt x="557117" y="650948"/>
                      <a:pt x="587502" y="648185"/>
                      <a:pt x="616839" y="645518"/>
                    </a:cubicBezTo>
                    <a:cubicBezTo>
                      <a:pt x="1214628" y="591416"/>
                      <a:pt x="1395032" y="575129"/>
                      <a:pt x="1850326" y="351005"/>
                    </a:cubicBezTo>
                    <a:cubicBezTo>
                      <a:pt x="1990725" y="280044"/>
                      <a:pt x="2159032" y="204416"/>
                      <a:pt x="2336959" y="132311"/>
                    </a:cubicBezTo>
                    <a:lnTo>
                      <a:pt x="2357247" y="124120"/>
                    </a:lnTo>
                    <a:cubicBezTo>
                      <a:pt x="2547080" y="47063"/>
                      <a:pt x="2762155" y="-40282"/>
                      <a:pt x="2981040" y="20202"/>
                    </a:cubicBezTo>
                    <a:cubicBezTo>
                      <a:pt x="3275267" y="101450"/>
                      <a:pt x="3493008" y="246516"/>
                      <a:pt x="3768757" y="430158"/>
                    </a:cubicBezTo>
                    <a:cubicBezTo>
                      <a:pt x="3796570" y="448732"/>
                      <a:pt x="3824954" y="467591"/>
                      <a:pt x="3854101" y="486832"/>
                    </a:cubicBezTo>
                    <a:cubicBezTo>
                      <a:pt x="4189095" y="708574"/>
                      <a:pt x="4580382" y="897074"/>
                      <a:pt x="5170075" y="776297"/>
                    </a:cubicBezTo>
                    <a:lnTo>
                      <a:pt x="5170551" y="778868"/>
                    </a:lnTo>
                    <a:cubicBezTo>
                      <a:pt x="5046440" y="804205"/>
                      <a:pt x="4927282" y="816873"/>
                      <a:pt x="4812030" y="816873"/>
                    </a:cubicBezTo>
                    <a:close/>
                  </a:path>
                </a:pathLst>
              </a:custGeom>
              <a:gradFill flip="none" rotWithShape="1">
                <a:gsLst>
                  <a:gs pos="70816">
                    <a:srgbClr val="CCE0FF">
                      <a:alpha val="50000"/>
                    </a:srgbClr>
                  </a:gs>
                  <a:gs pos="43000">
                    <a:schemeClr val="accent1">
                      <a:alpha val="67000"/>
                      <a:lumMod val="16000"/>
                      <a:lumOff val="84000"/>
                    </a:schemeClr>
                  </a:gs>
                  <a:gs pos="100000">
                    <a:schemeClr val="accent1">
                      <a:lumMod val="20000"/>
                      <a:lumOff val="80000"/>
                      <a:alpha val="0"/>
                    </a:schemeClr>
                  </a:gs>
                  <a:gs pos="8000">
                    <a:schemeClr val="accent1">
                      <a:lumMod val="20000"/>
                      <a:lumOff val="80000"/>
                      <a:alpha val="12000"/>
                    </a:schemeClr>
                  </a:gs>
                </a:gsLst>
                <a:lin ang="0" scaled="0"/>
                <a:tileRect/>
              </a:gradFill>
              <a:ln w="85725" cap="rnd">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0">
                <a:extLst>
                  <a:ext uri="{FF2B5EF4-FFF2-40B4-BE49-F238E27FC236}">
                    <a16:creationId xmlns:a16="http://schemas.microsoft.com/office/drawing/2014/main" id="{8D4C5D1A-A9A3-03B9-5F63-FD02B3B2908F}"/>
                  </a:ext>
                </a:extLst>
              </p:cNvPr>
              <p:cNvSpPr/>
              <p:nvPr/>
            </p:nvSpPr>
            <p:spPr>
              <a:xfrm>
                <a:off x="329148" y="3494059"/>
                <a:ext cx="9620535" cy="1482648"/>
              </a:xfrm>
              <a:custGeom>
                <a:avLst/>
                <a:gdLst>
                  <a:gd name="connsiteX0" fmla="*/ 4700207 w 5036343"/>
                  <a:gd name="connsiteY0" fmla="*/ 883700 h 883699"/>
                  <a:gd name="connsiteX1" fmla="*/ 4267867 w 5036343"/>
                  <a:gd name="connsiteY1" fmla="*/ 823788 h 883699"/>
                  <a:gd name="connsiteX2" fmla="*/ 3744182 w 5036343"/>
                  <a:gd name="connsiteY2" fmla="*/ 555849 h 883699"/>
                  <a:gd name="connsiteX3" fmla="*/ 3574637 w 5036343"/>
                  <a:gd name="connsiteY3" fmla="*/ 432405 h 883699"/>
                  <a:gd name="connsiteX4" fmla="*/ 2912364 w 5036343"/>
                  <a:gd name="connsiteY4" fmla="*/ 37689 h 883699"/>
                  <a:gd name="connsiteX5" fmla="*/ 2274380 w 5036343"/>
                  <a:gd name="connsiteY5" fmla="*/ 106174 h 883699"/>
                  <a:gd name="connsiteX6" fmla="*/ 1804702 w 5036343"/>
                  <a:gd name="connsiteY6" fmla="*/ 341156 h 883699"/>
                  <a:gd name="connsiteX7" fmla="*/ 1773269 w 5036343"/>
                  <a:gd name="connsiteY7" fmla="*/ 360301 h 883699"/>
                  <a:gd name="connsiteX8" fmla="*/ 523684 w 5036343"/>
                  <a:gd name="connsiteY8" fmla="*/ 774639 h 883699"/>
                  <a:gd name="connsiteX9" fmla="*/ 342138 w 5036343"/>
                  <a:gd name="connsiteY9" fmla="*/ 792165 h 883699"/>
                  <a:gd name="connsiteX10" fmla="*/ 0 w 5036343"/>
                  <a:gd name="connsiteY10" fmla="*/ 818263 h 883699"/>
                  <a:gd name="connsiteX11" fmla="*/ 0 w 5036343"/>
                  <a:gd name="connsiteY11" fmla="*/ 816358 h 883699"/>
                  <a:gd name="connsiteX12" fmla="*/ 342043 w 5036343"/>
                  <a:gd name="connsiteY12" fmla="*/ 790260 h 883699"/>
                  <a:gd name="connsiteX13" fmla="*/ 523684 w 5036343"/>
                  <a:gd name="connsiteY13" fmla="*/ 772734 h 883699"/>
                  <a:gd name="connsiteX14" fmla="*/ 1772412 w 5036343"/>
                  <a:gd name="connsiteY14" fmla="*/ 358682 h 883699"/>
                  <a:gd name="connsiteX15" fmla="*/ 1803845 w 5036343"/>
                  <a:gd name="connsiteY15" fmla="*/ 339536 h 883699"/>
                  <a:gd name="connsiteX16" fmla="*/ 2273808 w 5036343"/>
                  <a:gd name="connsiteY16" fmla="*/ 104460 h 883699"/>
                  <a:gd name="connsiteX17" fmla="*/ 2586800 w 5036343"/>
                  <a:gd name="connsiteY17" fmla="*/ 10448 h 883699"/>
                  <a:gd name="connsiteX18" fmla="*/ 2913221 w 5036343"/>
                  <a:gd name="connsiteY18" fmla="*/ 35975 h 883699"/>
                  <a:gd name="connsiteX19" fmla="*/ 3575971 w 5036343"/>
                  <a:gd name="connsiteY19" fmla="*/ 430977 h 883699"/>
                  <a:gd name="connsiteX20" fmla="*/ 3745516 w 5036343"/>
                  <a:gd name="connsiteY20" fmla="*/ 554421 h 883699"/>
                  <a:gd name="connsiteX21" fmla="*/ 5036058 w 5036343"/>
                  <a:gd name="connsiteY21" fmla="*/ 852934 h 883699"/>
                  <a:gd name="connsiteX22" fmla="*/ 5036344 w 5036343"/>
                  <a:gd name="connsiteY22" fmla="*/ 854839 h 883699"/>
                  <a:gd name="connsiteX23" fmla="*/ 4700207 w 5036343"/>
                  <a:gd name="connsiteY23" fmla="*/ 883700 h 883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036343" h="883699">
                    <a:moveTo>
                      <a:pt x="4700207" y="883700"/>
                    </a:moveTo>
                    <a:cubicBezTo>
                      <a:pt x="4546949" y="883700"/>
                      <a:pt x="4403789" y="863793"/>
                      <a:pt x="4267867" y="823788"/>
                    </a:cubicBezTo>
                    <a:cubicBezTo>
                      <a:pt x="4046411" y="758637"/>
                      <a:pt x="3871722" y="646432"/>
                      <a:pt x="3744182" y="555849"/>
                    </a:cubicBezTo>
                    <a:cubicBezTo>
                      <a:pt x="3685223" y="513939"/>
                      <a:pt x="3629025" y="472506"/>
                      <a:pt x="3574637" y="432405"/>
                    </a:cubicBezTo>
                    <a:cubicBezTo>
                      <a:pt x="3359944" y="273909"/>
                      <a:pt x="3174492" y="137130"/>
                      <a:pt x="2912364" y="37689"/>
                    </a:cubicBezTo>
                    <a:cubicBezTo>
                      <a:pt x="2694432" y="-44988"/>
                      <a:pt x="2468785" y="29688"/>
                      <a:pt x="2274380" y="106174"/>
                    </a:cubicBezTo>
                    <a:cubicBezTo>
                      <a:pt x="2099215" y="175040"/>
                      <a:pt x="1936814" y="256288"/>
                      <a:pt x="1804702" y="341156"/>
                    </a:cubicBezTo>
                    <a:lnTo>
                      <a:pt x="1773269" y="360301"/>
                    </a:lnTo>
                    <a:cubicBezTo>
                      <a:pt x="1333310" y="628049"/>
                      <a:pt x="1168622" y="728252"/>
                      <a:pt x="523684" y="774639"/>
                    </a:cubicBezTo>
                    <a:cubicBezTo>
                      <a:pt x="464534" y="778925"/>
                      <a:pt x="405098" y="785307"/>
                      <a:pt x="342138" y="792165"/>
                    </a:cubicBezTo>
                    <a:cubicBezTo>
                      <a:pt x="234220" y="803880"/>
                      <a:pt x="122587" y="815977"/>
                      <a:pt x="0" y="818263"/>
                    </a:cubicBezTo>
                    <a:lnTo>
                      <a:pt x="0" y="816358"/>
                    </a:lnTo>
                    <a:cubicBezTo>
                      <a:pt x="122587" y="814072"/>
                      <a:pt x="234125" y="801975"/>
                      <a:pt x="342043" y="790260"/>
                    </a:cubicBezTo>
                    <a:cubicBezTo>
                      <a:pt x="405003" y="783402"/>
                      <a:pt x="464534" y="776924"/>
                      <a:pt x="523684" y="772734"/>
                    </a:cubicBezTo>
                    <a:cubicBezTo>
                      <a:pt x="1168146" y="726347"/>
                      <a:pt x="1332738" y="626239"/>
                      <a:pt x="1772412" y="358682"/>
                    </a:cubicBezTo>
                    <a:lnTo>
                      <a:pt x="1803845" y="339536"/>
                    </a:lnTo>
                    <a:cubicBezTo>
                      <a:pt x="1935956" y="254669"/>
                      <a:pt x="2098548" y="173325"/>
                      <a:pt x="2273808" y="104460"/>
                    </a:cubicBezTo>
                    <a:cubicBezTo>
                      <a:pt x="2366201" y="68169"/>
                      <a:pt x="2475548" y="28545"/>
                      <a:pt x="2586800" y="10448"/>
                    </a:cubicBezTo>
                    <a:cubicBezTo>
                      <a:pt x="2708720" y="-9364"/>
                      <a:pt x="2815495" y="-1077"/>
                      <a:pt x="2913221" y="35975"/>
                    </a:cubicBezTo>
                    <a:cubicBezTo>
                      <a:pt x="3175635" y="135511"/>
                      <a:pt x="3370136" y="278957"/>
                      <a:pt x="3575971" y="430977"/>
                    </a:cubicBezTo>
                    <a:cubicBezTo>
                      <a:pt x="3630359" y="471077"/>
                      <a:pt x="3686556" y="512606"/>
                      <a:pt x="3745516" y="554421"/>
                    </a:cubicBezTo>
                    <a:cubicBezTo>
                      <a:pt x="4048697" y="769686"/>
                      <a:pt x="4414838" y="954852"/>
                      <a:pt x="5036058" y="852934"/>
                    </a:cubicBezTo>
                    <a:lnTo>
                      <a:pt x="5036344" y="854839"/>
                    </a:lnTo>
                    <a:cubicBezTo>
                      <a:pt x="4918615" y="874080"/>
                      <a:pt x="4806982" y="883700"/>
                      <a:pt x="4700207" y="883700"/>
                    </a:cubicBezTo>
                    <a:close/>
                  </a:path>
                </a:pathLst>
              </a:custGeom>
              <a:gradFill flip="none" rotWithShape="1">
                <a:gsLst>
                  <a:gs pos="70816">
                    <a:srgbClr val="CCE0FF">
                      <a:alpha val="50000"/>
                    </a:srgbClr>
                  </a:gs>
                  <a:gs pos="43000">
                    <a:schemeClr val="accent1">
                      <a:alpha val="67000"/>
                      <a:lumMod val="16000"/>
                      <a:lumOff val="84000"/>
                    </a:schemeClr>
                  </a:gs>
                  <a:gs pos="100000">
                    <a:schemeClr val="accent1">
                      <a:lumMod val="20000"/>
                      <a:lumOff val="80000"/>
                      <a:alpha val="0"/>
                    </a:schemeClr>
                  </a:gs>
                  <a:gs pos="8000">
                    <a:schemeClr val="accent1">
                      <a:lumMod val="20000"/>
                      <a:lumOff val="80000"/>
                      <a:alpha val="12000"/>
                    </a:schemeClr>
                  </a:gs>
                </a:gsLst>
                <a:lin ang="0" scaled="0"/>
                <a:tileRect/>
              </a:gradFill>
              <a:ln w="85725" cap="rnd">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0">
                <a:extLst>
                  <a:ext uri="{FF2B5EF4-FFF2-40B4-BE49-F238E27FC236}">
                    <a16:creationId xmlns:a16="http://schemas.microsoft.com/office/drawing/2014/main" id="{A28290F3-96D7-E1A0-87B5-579A108D2CB4}"/>
                  </a:ext>
                </a:extLst>
              </p:cNvPr>
              <p:cNvSpPr/>
              <p:nvPr/>
            </p:nvSpPr>
            <p:spPr>
              <a:xfrm>
                <a:off x="260372" y="3428217"/>
                <a:ext cx="9364170" cy="1603624"/>
              </a:xfrm>
              <a:custGeom>
                <a:avLst/>
                <a:gdLst>
                  <a:gd name="connsiteX0" fmla="*/ 4595622 w 4902136"/>
                  <a:gd name="connsiteY0" fmla="*/ 955805 h 955804"/>
                  <a:gd name="connsiteX1" fmla="*/ 4132707 w 4902136"/>
                  <a:gd name="connsiteY1" fmla="*/ 892845 h 955804"/>
                  <a:gd name="connsiteX2" fmla="*/ 3635978 w 4902136"/>
                  <a:gd name="connsiteY2" fmla="*/ 627669 h 955804"/>
                  <a:gd name="connsiteX3" fmla="*/ 3431667 w 4902136"/>
                  <a:gd name="connsiteY3" fmla="*/ 462315 h 955804"/>
                  <a:gd name="connsiteX4" fmla="*/ 2844641 w 4902136"/>
                  <a:gd name="connsiteY4" fmla="*/ 57597 h 955804"/>
                  <a:gd name="connsiteX5" fmla="*/ 2211038 w 4902136"/>
                  <a:gd name="connsiteY5" fmla="*/ 82458 h 955804"/>
                  <a:gd name="connsiteX6" fmla="*/ 1758125 w 4902136"/>
                  <a:gd name="connsiteY6" fmla="*/ 333822 h 955804"/>
                  <a:gd name="connsiteX7" fmla="*/ 1550384 w 4902136"/>
                  <a:gd name="connsiteY7" fmla="*/ 491080 h 955804"/>
                  <a:gd name="connsiteX8" fmla="*/ 521684 w 4902136"/>
                  <a:gd name="connsiteY8" fmla="*/ 897702 h 955804"/>
                  <a:gd name="connsiteX9" fmla="*/ 459391 w 4902136"/>
                  <a:gd name="connsiteY9" fmla="*/ 901036 h 955804"/>
                  <a:gd name="connsiteX10" fmla="*/ 0 w 4902136"/>
                  <a:gd name="connsiteY10" fmla="*/ 906561 h 955804"/>
                  <a:gd name="connsiteX11" fmla="*/ 95 w 4902136"/>
                  <a:gd name="connsiteY11" fmla="*/ 905227 h 955804"/>
                  <a:gd name="connsiteX12" fmla="*/ 459391 w 4902136"/>
                  <a:gd name="connsiteY12" fmla="*/ 899703 h 955804"/>
                  <a:gd name="connsiteX13" fmla="*/ 521684 w 4902136"/>
                  <a:gd name="connsiteY13" fmla="*/ 896369 h 955804"/>
                  <a:gd name="connsiteX14" fmla="*/ 1549718 w 4902136"/>
                  <a:gd name="connsiteY14" fmla="*/ 490032 h 955804"/>
                  <a:gd name="connsiteX15" fmla="*/ 1757458 w 4902136"/>
                  <a:gd name="connsiteY15" fmla="*/ 332775 h 955804"/>
                  <a:gd name="connsiteX16" fmla="*/ 2210657 w 4902136"/>
                  <a:gd name="connsiteY16" fmla="*/ 81219 h 955804"/>
                  <a:gd name="connsiteX17" fmla="*/ 2526411 w 4902136"/>
                  <a:gd name="connsiteY17" fmla="*/ 2638 h 955804"/>
                  <a:gd name="connsiteX18" fmla="*/ 2845403 w 4902136"/>
                  <a:gd name="connsiteY18" fmla="*/ 56454 h 955804"/>
                  <a:gd name="connsiteX19" fmla="*/ 3432715 w 4902136"/>
                  <a:gd name="connsiteY19" fmla="*/ 461362 h 955804"/>
                  <a:gd name="connsiteX20" fmla="*/ 3636931 w 4902136"/>
                  <a:gd name="connsiteY20" fmla="*/ 626621 h 955804"/>
                  <a:gd name="connsiteX21" fmla="*/ 4901946 w 4902136"/>
                  <a:gd name="connsiteY21" fmla="*/ 934183 h 955804"/>
                  <a:gd name="connsiteX22" fmla="*/ 4902137 w 4902136"/>
                  <a:gd name="connsiteY22" fmla="*/ 935517 h 955804"/>
                  <a:gd name="connsiteX23" fmla="*/ 4595622 w 4902136"/>
                  <a:gd name="connsiteY23" fmla="*/ 955805 h 95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02136" h="955804">
                    <a:moveTo>
                      <a:pt x="4595622" y="955805"/>
                    </a:moveTo>
                    <a:cubicBezTo>
                      <a:pt x="4426172" y="955805"/>
                      <a:pt x="4273201" y="934850"/>
                      <a:pt x="4132707" y="892845"/>
                    </a:cubicBezTo>
                    <a:cubicBezTo>
                      <a:pt x="3913251" y="827122"/>
                      <a:pt x="3751898" y="716632"/>
                      <a:pt x="3635978" y="627669"/>
                    </a:cubicBezTo>
                    <a:cubicBezTo>
                      <a:pt x="3564636" y="572995"/>
                      <a:pt x="3497104" y="516702"/>
                      <a:pt x="3431667" y="462315"/>
                    </a:cubicBezTo>
                    <a:cubicBezTo>
                      <a:pt x="3254407" y="314868"/>
                      <a:pt x="3087053" y="175612"/>
                      <a:pt x="2844641" y="57597"/>
                    </a:cubicBezTo>
                    <a:cubicBezTo>
                      <a:pt x="2674335" y="-25365"/>
                      <a:pt x="2472976" y="-17460"/>
                      <a:pt x="2211038" y="82458"/>
                    </a:cubicBezTo>
                    <a:cubicBezTo>
                      <a:pt x="2042255" y="146847"/>
                      <a:pt x="1881378" y="236096"/>
                      <a:pt x="1758125" y="333822"/>
                    </a:cubicBezTo>
                    <a:cubicBezTo>
                      <a:pt x="1680972" y="390115"/>
                      <a:pt x="1614583" y="441455"/>
                      <a:pt x="1550384" y="491080"/>
                    </a:cubicBezTo>
                    <a:cubicBezTo>
                      <a:pt x="1244822" y="727300"/>
                      <a:pt x="1060418" y="869890"/>
                      <a:pt x="521684" y="897702"/>
                    </a:cubicBezTo>
                    <a:cubicBezTo>
                      <a:pt x="501205" y="898750"/>
                      <a:pt x="480441" y="899893"/>
                      <a:pt x="459391" y="901036"/>
                    </a:cubicBezTo>
                    <a:cubicBezTo>
                      <a:pt x="324612" y="908466"/>
                      <a:pt x="171926" y="916848"/>
                      <a:pt x="0" y="906561"/>
                    </a:cubicBezTo>
                    <a:lnTo>
                      <a:pt x="95" y="905227"/>
                    </a:lnTo>
                    <a:cubicBezTo>
                      <a:pt x="171926" y="915514"/>
                      <a:pt x="324612" y="907037"/>
                      <a:pt x="459391" y="899703"/>
                    </a:cubicBezTo>
                    <a:cubicBezTo>
                      <a:pt x="480441" y="898560"/>
                      <a:pt x="501205" y="897417"/>
                      <a:pt x="521684" y="896369"/>
                    </a:cubicBezTo>
                    <a:cubicBezTo>
                      <a:pt x="1060037" y="868651"/>
                      <a:pt x="1244346" y="726157"/>
                      <a:pt x="1549718" y="490032"/>
                    </a:cubicBezTo>
                    <a:cubicBezTo>
                      <a:pt x="1610963" y="442693"/>
                      <a:pt x="1680305" y="389067"/>
                      <a:pt x="1757458" y="332775"/>
                    </a:cubicBezTo>
                    <a:cubicBezTo>
                      <a:pt x="1880807" y="234953"/>
                      <a:pt x="2041779" y="145608"/>
                      <a:pt x="2210657" y="81219"/>
                    </a:cubicBezTo>
                    <a:cubicBezTo>
                      <a:pt x="2328386" y="36357"/>
                      <a:pt x="2431637" y="10639"/>
                      <a:pt x="2526411" y="2638"/>
                    </a:cubicBezTo>
                    <a:cubicBezTo>
                      <a:pt x="2644331" y="-7268"/>
                      <a:pt x="2751677" y="10734"/>
                      <a:pt x="2845403" y="56454"/>
                    </a:cubicBezTo>
                    <a:cubicBezTo>
                      <a:pt x="3088005" y="174564"/>
                      <a:pt x="3255455" y="313915"/>
                      <a:pt x="3432715" y="461362"/>
                    </a:cubicBezTo>
                    <a:cubicBezTo>
                      <a:pt x="3498056" y="515750"/>
                      <a:pt x="3565684" y="572043"/>
                      <a:pt x="3636931" y="626621"/>
                    </a:cubicBezTo>
                    <a:cubicBezTo>
                      <a:pt x="3908393" y="834837"/>
                      <a:pt x="4249579" y="1016193"/>
                      <a:pt x="4901946" y="934183"/>
                    </a:cubicBezTo>
                    <a:lnTo>
                      <a:pt x="4902137" y="935517"/>
                    </a:lnTo>
                    <a:cubicBezTo>
                      <a:pt x="4794123" y="949042"/>
                      <a:pt x="4692206" y="955805"/>
                      <a:pt x="4595622" y="955805"/>
                    </a:cubicBezTo>
                    <a:close/>
                  </a:path>
                </a:pathLst>
              </a:custGeom>
              <a:gradFill flip="none" rotWithShape="1">
                <a:gsLst>
                  <a:gs pos="70816">
                    <a:srgbClr val="CCE0FF">
                      <a:alpha val="50000"/>
                    </a:srgbClr>
                  </a:gs>
                  <a:gs pos="43000">
                    <a:schemeClr val="accent1">
                      <a:alpha val="67000"/>
                      <a:lumMod val="16000"/>
                      <a:lumOff val="84000"/>
                    </a:schemeClr>
                  </a:gs>
                  <a:gs pos="100000">
                    <a:schemeClr val="accent1">
                      <a:lumMod val="20000"/>
                      <a:lumOff val="80000"/>
                      <a:alpha val="0"/>
                    </a:schemeClr>
                  </a:gs>
                  <a:gs pos="8000">
                    <a:schemeClr val="accent1">
                      <a:lumMod val="20000"/>
                      <a:lumOff val="80000"/>
                      <a:alpha val="12000"/>
                    </a:schemeClr>
                  </a:gs>
                </a:gsLst>
                <a:lin ang="0" scaled="0"/>
                <a:tileRect/>
              </a:gradFill>
              <a:ln w="85725" cap="rnd">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0">
                <a:extLst>
                  <a:ext uri="{FF2B5EF4-FFF2-40B4-BE49-F238E27FC236}">
                    <a16:creationId xmlns:a16="http://schemas.microsoft.com/office/drawing/2014/main" id="{07FAE12A-5397-D336-6405-96339E834BD3}"/>
                  </a:ext>
                </a:extLst>
              </p:cNvPr>
              <p:cNvSpPr/>
              <p:nvPr/>
            </p:nvSpPr>
            <p:spPr>
              <a:xfrm>
                <a:off x="191413" y="3354017"/>
                <a:ext cx="9107623" cy="1734396"/>
              </a:xfrm>
              <a:custGeom>
                <a:avLst/>
                <a:gdLst>
                  <a:gd name="connsiteX0" fmla="*/ 4502277 w 4767834"/>
                  <a:gd name="connsiteY0" fmla="*/ 1033748 h 1033748"/>
                  <a:gd name="connsiteX1" fmla="*/ 4224623 w 4767834"/>
                  <a:gd name="connsiteY1" fmla="*/ 1016032 h 1033748"/>
                  <a:gd name="connsiteX2" fmla="*/ 4767739 w 4767834"/>
                  <a:gd name="connsiteY2" fmla="*/ 1020509 h 1033748"/>
                  <a:gd name="connsiteX3" fmla="*/ 4767834 w 4767834"/>
                  <a:gd name="connsiteY3" fmla="*/ 1021175 h 1033748"/>
                  <a:gd name="connsiteX4" fmla="*/ 4502277 w 4767834"/>
                  <a:gd name="connsiteY4" fmla="*/ 1033748 h 1033748"/>
                  <a:gd name="connsiteX5" fmla="*/ 411671 w 4767834"/>
                  <a:gd name="connsiteY5" fmla="*/ 1027271 h 1033748"/>
                  <a:gd name="connsiteX6" fmla="*/ 0 w 4767834"/>
                  <a:gd name="connsiteY6" fmla="*/ 999744 h 1033748"/>
                  <a:gd name="connsiteX7" fmla="*/ 95 w 4767834"/>
                  <a:gd name="connsiteY7" fmla="*/ 999077 h 1033748"/>
                  <a:gd name="connsiteX8" fmla="*/ 519684 w 4767834"/>
                  <a:gd name="connsiteY8" fmla="*/ 1024890 h 1033748"/>
                  <a:gd name="connsiteX9" fmla="*/ 1444657 w 4767834"/>
                  <a:gd name="connsiteY9" fmla="*/ 580358 h 1033748"/>
                  <a:gd name="connsiteX10" fmla="*/ 1711071 w 4767834"/>
                  <a:gd name="connsiteY10" fmla="*/ 330898 h 1033748"/>
                  <a:gd name="connsiteX11" fmla="*/ 2147507 w 4767834"/>
                  <a:gd name="connsiteY11" fmla="*/ 62960 h 1033748"/>
                  <a:gd name="connsiteX12" fmla="*/ 2465451 w 4767834"/>
                  <a:gd name="connsiteY12" fmla="*/ 0 h 1033748"/>
                  <a:gd name="connsiteX13" fmla="*/ 2469356 w 4767834"/>
                  <a:gd name="connsiteY13" fmla="*/ 0 h 1033748"/>
                  <a:gd name="connsiteX14" fmla="*/ 2777395 w 4767834"/>
                  <a:gd name="connsiteY14" fmla="*/ 81820 h 1033748"/>
                  <a:gd name="connsiteX15" fmla="*/ 3316034 w 4767834"/>
                  <a:gd name="connsiteY15" fmla="*/ 511397 h 1033748"/>
                  <a:gd name="connsiteX16" fmla="*/ 3528251 w 4767834"/>
                  <a:gd name="connsiteY16" fmla="*/ 703802 h 1033748"/>
                  <a:gd name="connsiteX17" fmla="*/ 4096798 w 4767834"/>
                  <a:gd name="connsiteY17" fmla="*/ 993077 h 1033748"/>
                  <a:gd name="connsiteX18" fmla="*/ 3997547 w 4767834"/>
                  <a:gd name="connsiteY18" fmla="*/ 966978 h 1033748"/>
                  <a:gd name="connsiteX19" fmla="*/ 3738944 w 4767834"/>
                  <a:gd name="connsiteY19" fmla="*/ 854393 h 1033748"/>
                  <a:gd name="connsiteX20" fmla="*/ 3527870 w 4767834"/>
                  <a:gd name="connsiteY20" fmla="*/ 704278 h 1033748"/>
                  <a:gd name="connsiteX21" fmla="*/ 3315558 w 4767834"/>
                  <a:gd name="connsiteY21" fmla="*/ 511778 h 1033748"/>
                  <a:gd name="connsiteX22" fmla="*/ 2777014 w 4767834"/>
                  <a:gd name="connsiteY22" fmla="*/ 82296 h 1033748"/>
                  <a:gd name="connsiteX23" fmla="*/ 2147697 w 4767834"/>
                  <a:gd name="connsiteY23" fmla="*/ 63532 h 1033748"/>
                  <a:gd name="connsiteX24" fmla="*/ 1711547 w 4767834"/>
                  <a:gd name="connsiteY24" fmla="*/ 331375 h 1033748"/>
                  <a:gd name="connsiteX25" fmla="*/ 1445133 w 4767834"/>
                  <a:gd name="connsiteY25" fmla="*/ 580835 h 1033748"/>
                  <a:gd name="connsiteX26" fmla="*/ 1069562 w 4767834"/>
                  <a:gd name="connsiteY26" fmla="*/ 892588 h 1033748"/>
                  <a:gd name="connsiteX27" fmla="*/ 834581 w 4767834"/>
                  <a:gd name="connsiteY27" fmla="*/ 985457 h 1033748"/>
                  <a:gd name="connsiteX28" fmla="*/ 519779 w 4767834"/>
                  <a:gd name="connsiteY28" fmla="*/ 1025557 h 1033748"/>
                  <a:gd name="connsiteX29" fmla="*/ 411671 w 4767834"/>
                  <a:gd name="connsiteY29" fmla="*/ 1027271 h 1033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767834" h="1033748">
                    <a:moveTo>
                      <a:pt x="4502277" y="1033748"/>
                    </a:moveTo>
                    <a:cubicBezTo>
                      <a:pt x="4403217" y="1033748"/>
                      <a:pt x="4310920" y="1027843"/>
                      <a:pt x="4224623" y="1016032"/>
                    </a:cubicBezTo>
                    <a:cubicBezTo>
                      <a:pt x="4376738" y="1036796"/>
                      <a:pt x="4554284" y="1039654"/>
                      <a:pt x="4767739" y="1020509"/>
                    </a:cubicBezTo>
                    <a:lnTo>
                      <a:pt x="4767834" y="1021175"/>
                    </a:lnTo>
                    <a:cubicBezTo>
                      <a:pt x="4674299" y="1029557"/>
                      <a:pt x="4585811" y="1033748"/>
                      <a:pt x="4502277" y="1033748"/>
                    </a:cubicBezTo>
                    <a:close/>
                    <a:moveTo>
                      <a:pt x="411671" y="1027271"/>
                    </a:moveTo>
                    <a:cubicBezTo>
                      <a:pt x="303467" y="1027271"/>
                      <a:pt x="164021" y="1021842"/>
                      <a:pt x="0" y="999744"/>
                    </a:cubicBezTo>
                    <a:lnTo>
                      <a:pt x="95" y="999077"/>
                    </a:lnTo>
                    <a:cubicBezTo>
                      <a:pt x="225457" y="1029462"/>
                      <a:pt x="404527" y="1028319"/>
                      <a:pt x="519684" y="1024890"/>
                    </a:cubicBezTo>
                    <a:cubicBezTo>
                      <a:pt x="1008507" y="1010222"/>
                      <a:pt x="1191482" y="829913"/>
                      <a:pt x="1444657" y="580358"/>
                    </a:cubicBezTo>
                    <a:cubicBezTo>
                      <a:pt x="1521143" y="504920"/>
                      <a:pt x="1607915" y="419481"/>
                      <a:pt x="1711071" y="330898"/>
                    </a:cubicBezTo>
                    <a:cubicBezTo>
                      <a:pt x="1827752" y="218885"/>
                      <a:pt x="1982724" y="123730"/>
                      <a:pt x="2147507" y="62960"/>
                    </a:cubicBezTo>
                    <a:cubicBezTo>
                      <a:pt x="2259330" y="21717"/>
                      <a:pt x="2366296" y="572"/>
                      <a:pt x="2465451" y="0"/>
                    </a:cubicBezTo>
                    <a:cubicBezTo>
                      <a:pt x="2466785" y="0"/>
                      <a:pt x="2468023" y="0"/>
                      <a:pt x="2469356" y="0"/>
                    </a:cubicBezTo>
                    <a:cubicBezTo>
                      <a:pt x="2583275" y="0"/>
                      <a:pt x="2686908" y="27527"/>
                      <a:pt x="2777395" y="81820"/>
                    </a:cubicBezTo>
                    <a:cubicBezTo>
                      <a:pt x="3007424" y="219837"/>
                      <a:pt x="3164300" y="368046"/>
                      <a:pt x="3316034" y="511397"/>
                    </a:cubicBezTo>
                    <a:cubicBezTo>
                      <a:pt x="3387471" y="578834"/>
                      <a:pt x="3454813" y="642557"/>
                      <a:pt x="3528251" y="703802"/>
                    </a:cubicBezTo>
                    <a:cubicBezTo>
                      <a:pt x="3686937" y="836295"/>
                      <a:pt x="3858483" y="939641"/>
                      <a:pt x="4096798" y="993077"/>
                    </a:cubicBezTo>
                    <a:cubicBezTo>
                      <a:pt x="4062698" y="985457"/>
                      <a:pt x="4029647" y="976789"/>
                      <a:pt x="3997547" y="966978"/>
                    </a:cubicBezTo>
                    <a:cubicBezTo>
                      <a:pt x="3905631" y="938974"/>
                      <a:pt x="3821049" y="902113"/>
                      <a:pt x="3738944" y="854393"/>
                    </a:cubicBezTo>
                    <a:cubicBezTo>
                      <a:pt x="3668840" y="813626"/>
                      <a:pt x="3601784" y="766001"/>
                      <a:pt x="3527870" y="704278"/>
                    </a:cubicBezTo>
                    <a:cubicBezTo>
                      <a:pt x="3454432" y="642938"/>
                      <a:pt x="3386995" y="579215"/>
                      <a:pt x="3315558" y="511778"/>
                    </a:cubicBezTo>
                    <a:cubicBezTo>
                      <a:pt x="3163919" y="368522"/>
                      <a:pt x="3007043" y="220313"/>
                      <a:pt x="2777014" y="82296"/>
                    </a:cubicBezTo>
                    <a:cubicBezTo>
                      <a:pt x="2562987" y="-46196"/>
                      <a:pt x="2316671" y="1143"/>
                      <a:pt x="2147697" y="63532"/>
                    </a:cubicBezTo>
                    <a:cubicBezTo>
                      <a:pt x="1983010" y="124301"/>
                      <a:pt x="1828133" y="219361"/>
                      <a:pt x="1711547" y="331375"/>
                    </a:cubicBezTo>
                    <a:cubicBezTo>
                      <a:pt x="1608392" y="419957"/>
                      <a:pt x="1521619" y="505397"/>
                      <a:pt x="1445133" y="580835"/>
                    </a:cubicBezTo>
                    <a:cubicBezTo>
                      <a:pt x="1317689" y="706469"/>
                      <a:pt x="1207675" y="814864"/>
                      <a:pt x="1069562" y="892588"/>
                    </a:cubicBezTo>
                    <a:cubicBezTo>
                      <a:pt x="996696" y="933545"/>
                      <a:pt x="919829" y="963930"/>
                      <a:pt x="834581" y="985457"/>
                    </a:cubicBezTo>
                    <a:cubicBezTo>
                      <a:pt x="741807" y="1008888"/>
                      <a:pt x="638842" y="1021937"/>
                      <a:pt x="519779" y="1025557"/>
                    </a:cubicBezTo>
                    <a:cubicBezTo>
                      <a:pt x="488251" y="1026509"/>
                      <a:pt x="452152" y="1027271"/>
                      <a:pt x="411671" y="1027271"/>
                    </a:cubicBezTo>
                    <a:close/>
                  </a:path>
                </a:pathLst>
              </a:custGeom>
              <a:gradFill flip="none" rotWithShape="1">
                <a:gsLst>
                  <a:gs pos="70816">
                    <a:srgbClr val="CCE0FF">
                      <a:alpha val="50000"/>
                    </a:srgbClr>
                  </a:gs>
                  <a:gs pos="43000">
                    <a:schemeClr val="accent1">
                      <a:alpha val="67000"/>
                      <a:lumMod val="16000"/>
                      <a:lumOff val="84000"/>
                    </a:schemeClr>
                  </a:gs>
                  <a:gs pos="100000">
                    <a:schemeClr val="accent1">
                      <a:lumMod val="20000"/>
                      <a:lumOff val="80000"/>
                      <a:alpha val="0"/>
                    </a:schemeClr>
                  </a:gs>
                  <a:gs pos="8000">
                    <a:schemeClr val="accent1">
                      <a:lumMod val="20000"/>
                      <a:lumOff val="80000"/>
                      <a:alpha val="12000"/>
                    </a:schemeClr>
                  </a:gs>
                </a:gsLst>
                <a:lin ang="0" scaled="0"/>
                <a:tileRect/>
              </a:gradFill>
              <a:ln w="85725" cap="rnd">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0">
                <a:extLst>
                  <a:ext uri="{FF2B5EF4-FFF2-40B4-BE49-F238E27FC236}">
                    <a16:creationId xmlns:a16="http://schemas.microsoft.com/office/drawing/2014/main" id="{4470137C-D10E-12D1-0B74-CC03887ACF7B}"/>
                  </a:ext>
                </a:extLst>
              </p:cNvPr>
              <p:cNvSpPr/>
              <p:nvPr/>
            </p:nvSpPr>
            <p:spPr>
              <a:xfrm>
                <a:off x="228177" y="2494280"/>
                <a:ext cx="11250097" cy="2148197"/>
              </a:xfrm>
              <a:custGeom>
                <a:avLst/>
                <a:gdLst>
                  <a:gd name="connsiteX0" fmla="*/ 0 w 10871200"/>
                  <a:gd name="connsiteY0" fmla="*/ 3265714 h 3628617"/>
                  <a:gd name="connsiteX1" fmla="*/ 1828800 w 10871200"/>
                  <a:gd name="connsiteY1" fmla="*/ 2002971 h 3628617"/>
                  <a:gd name="connsiteX2" fmla="*/ 3889828 w 10871200"/>
                  <a:gd name="connsiteY2" fmla="*/ 3309257 h 3628617"/>
                  <a:gd name="connsiteX3" fmla="*/ 5994400 w 10871200"/>
                  <a:gd name="connsiteY3" fmla="*/ 2090057 h 3628617"/>
                  <a:gd name="connsiteX4" fmla="*/ 7939314 w 10871200"/>
                  <a:gd name="connsiteY4" fmla="*/ 3628571 h 3628617"/>
                  <a:gd name="connsiteX5" fmla="*/ 9419771 w 10871200"/>
                  <a:gd name="connsiteY5" fmla="*/ 2032000 h 3628617"/>
                  <a:gd name="connsiteX6" fmla="*/ 10871200 w 10871200"/>
                  <a:gd name="connsiteY6" fmla="*/ 0 h 3628617"/>
                  <a:gd name="connsiteX0" fmla="*/ 0 w 10871200"/>
                  <a:gd name="connsiteY0" fmla="*/ 3265714 h 3672552"/>
                  <a:gd name="connsiteX1" fmla="*/ 1828800 w 10871200"/>
                  <a:gd name="connsiteY1" fmla="*/ 2002971 h 3672552"/>
                  <a:gd name="connsiteX2" fmla="*/ 3889828 w 10871200"/>
                  <a:gd name="connsiteY2" fmla="*/ 3309257 h 3672552"/>
                  <a:gd name="connsiteX3" fmla="*/ 5994400 w 10871200"/>
                  <a:gd name="connsiteY3" fmla="*/ 2090057 h 3672552"/>
                  <a:gd name="connsiteX4" fmla="*/ 7939314 w 10871200"/>
                  <a:gd name="connsiteY4" fmla="*/ 3628571 h 3672552"/>
                  <a:gd name="connsiteX5" fmla="*/ 10871200 w 10871200"/>
                  <a:gd name="connsiteY5" fmla="*/ 0 h 3672552"/>
                  <a:gd name="connsiteX0" fmla="*/ 0 w 10871200"/>
                  <a:gd name="connsiteY0" fmla="*/ 3265714 h 3629421"/>
                  <a:gd name="connsiteX1" fmla="*/ 1828800 w 10871200"/>
                  <a:gd name="connsiteY1" fmla="*/ 2002971 h 3629421"/>
                  <a:gd name="connsiteX2" fmla="*/ 3889828 w 10871200"/>
                  <a:gd name="connsiteY2" fmla="*/ 3309257 h 3629421"/>
                  <a:gd name="connsiteX3" fmla="*/ 5994400 w 10871200"/>
                  <a:gd name="connsiteY3" fmla="*/ 2090057 h 3629421"/>
                  <a:gd name="connsiteX4" fmla="*/ 7939314 w 10871200"/>
                  <a:gd name="connsiteY4" fmla="*/ 3628571 h 3629421"/>
                  <a:gd name="connsiteX5" fmla="*/ 10871200 w 10871200"/>
                  <a:gd name="connsiteY5" fmla="*/ 0 h 3629421"/>
                  <a:gd name="connsiteX0" fmla="*/ 0 w 10871200"/>
                  <a:gd name="connsiteY0" fmla="*/ 3265714 h 3629421"/>
                  <a:gd name="connsiteX1" fmla="*/ 1828800 w 10871200"/>
                  <a:gd name="connsiteY1" fmla="*/ 2002971 h 3629421"/>
                  <a:gd name="connsiteX2" fmla="*/ 3889828 w 10871200"/>
                  <a:gd name="connsiteY2" fmla="*/ 3309257 h 3629421"/>
                  <a:gd name="connsiteX3" fmla="*/ 5994400 w 10871200"/>
                  <a:gd name="connsiteY3" fmla="*/ 2090057 h 3629421"/>
                  <a:gd name="connsiteX4" fmla="*/ 8113485 w 10871200"/>
                  <a:gd name="connsiteY4" fmla="*/ 3628571 h 3629421"/>
                  <a:gd name="connsiteX5" fmla="*/ 10871200 w 10871200"/>
                  <a:gd name="connsiteY5" fmla="*/ 0 h 3629421"/>
                  <a:gd name="connsiteX0" fmla="*/ 0 w 10479314"/>
                  <a:gd name="connsiteY0" fmla="*/ 2527589 h 2910887"/>
                  <a:gd name="connsiteX1" fmla="*/ 1828800 w 10479314"/>
                  <a:gd name="connsiteY1" fmla="*/ 1264846 h 2910887"/>
                  <a:gd name="connsiteX2" fmla="*/ 3889828 w 10479314"/>
                  <a:gd name="connsiteY2" fmla="*/ 2571132 h 2910887"/>
                  <a:gd name="connsiteX3" fmla="*/ 5994400 w 10479314"/>
                  <a:gd name="connsiteY3" fmla="*/ 1351932 h 2910887"/>
                  <a:gd name="connsiteX4" fmla="*/ 8113485 w 10479314"/>
                  <a:gd name="connsiteY4" fmla="*/ 2890446 h 2910887"/>
                  <a:gd name="connsiteX5" fmla="*/ 10479314 w 10479314"/>
                  <a:gd name="connsiteY5" fmla="*/ 0 h 2910887"/>
                  <a:gd name="connsiteX0" fmla="*/ 0 w 10479314"/>
                  <a:gd name="connsiteY0" fmla="*/ 2527589 h 2910887"/>
                  <a:gd name="connsiteX1" fmla="*/ 1828800 w 10479314"/>
                  <a:gd name="connsiteY1" fmla="*/ 1264846 h 2910887"/>
                  <a:gd name="connsiteX2" fmla="*/ 3889828 w 10479314"/>
                  <a:gd name="connsiteY2" fmla="*/ 2571132 h 2910887"/>
                  <a:gd name="connsiteX3" fmla="*/ 5994400 w 10479314"/>
                  <a:gd name="connsiteY3" fmla="*/ 1351932 h 2910887"/>
                  <a:gd name="connsiteX4" fmla="*/ 8113485 w 10479314"/>
                  <a:gd name="connsiteY4" fmla="*/ 2890446 h 2910887"/>
                  <a:gd name="connsiteX5" fmla="*/ 10479314 w 10479314"/>
                  <a:gd name="connsiteY5" fmla="*/ 0 h 2910887"/>
                  <a:gd name="connsiteX0" fmla="*/ 0 w 10595428"/>
                  <a:gd name="connsiteY0" fmla="*/ 2672004 h 3059372"/>
                  <a:gd name="connsiteX1" fmla="*/ 1828800 w 10595428"/>
                  <a:gd name="connsiteY1" fmla="*/ 1409261 h 3059372"/>
                  <a:gd name="connsiteX2" fmla="*/ 3889828 w 10595428"/>
                  <a:gd name="connsiteY2" fmla="*/ 2715547 h 3059372"/>
                  <a:gd name="connsiteX3" fmla="*/ 5994400 w 10595428"/>
                  <a:gd name="connsiteY3" fmla="*/ 1496347 h 3059372"/>
                  <a:gd name="connsiteX4" fmla="*/ 8113485 w 10595428"/>
                  <a:gd name="connsiteY4" fmla="*/ 3034861 h 3059372"/>
                  <a:gd name="connsiteX5" fmla="*/ 10595428 w 10595428"/>
                  <a:gd name="connsiteY5" fmla="*/ 0 h 3059372"/>
                  <a:gd name="connsiteX0" fmla="*/ 0 w 11524342"/>
                  <a:gd name="connsiteY0" fmla="*/ 3650822 h 3650822"/>
                  <a:gd name="connsiteX1" fmla="*/ 2757714 w 11524342"/>
                  <a:gd name="connsiteY1" fmla="*/ 1409261 h 3650822"/>
                  <a:gd name="connsiteX2" fmla="*/ 4818742 w 11524342"/>
                  <a:gd name="connsiteY2" fmla="*/ 2715547 h 3650822"/>
                  <a:gd name="connsiteX3" fmla="*/ 6923314 w 11524342"/>
                  <a:gd name="connsiteY3" fmla="*/ 1496347 h 3650822"/>
                  <a:gd name="connsiteX4" fmla="*/ 9042399 w 11524342"/>
                  <a:gd name="connsiteY4" fmla="*/ 3034861 h 3650822"/>
                  <a:gd name="connsiteX5" fmla="*/ 11524342 w 11524342"/>
                  <a:gd name="connsiteY5" fmla="*/ 0 h 3650822"/>
                  <a:gd name="connsiteX0" fmla="*/ 0 w 11136069"/>
                  <a:gd name="connsiteY0" fmla="*/ 3240140 h 3240140"/>
                  <a:gd name="connsiteX1" fmla="*/ 2369441 w 11136069"/>
                  <a:gd name="connsiteY1" fmla="*/ 1409261 h 3240140"/>
                  <a:gd name="connsiteX2" fmla="*/ 4430469 w 11136069"/>
                  <a:gd name="connsiteY2" fmla="*/ 2715547 h 3240140"/>
                  <a:gd name="connsiteX3" fmla="*/ 6535041 w 11136069"/>
                  <a:gd name="connsiteY3" fmla="*/ 1496347 h 3240140"/>
                  <a:gd name="connsiteX4" fmla="*/ 8654126 w 11136069"/>
                  <a:gd name="connsiteY4" fmla="*/ 3034861 h 3240140"/>
                  <a:gd name="connsiteX5" fmla="*/ 11136069 w 11136069"/>
                  <a:gd name="connsiteY5" fmla="*/ 0 h 3240140"/>
                  <a:gd name="connsiteX0" fmla="*/ 0 w 11136069"/>
                  <a:gd name="connsiteY0" fmla="*/ 3240140 h 3240140"/>
                  <a:gd name="connsiteX1" fmla="*/ 2369441 w 11136069"/>
                  <a:gd name="connsiteY1" fmla="*/ 1409261 h 3240140"/>
                  <a:gd name="connsiteX2" fmla="*/ 4430469 w 11136069"/>
                  <a:gd name="connsiteY2" fmla="*/ 2715547 h 3240140"/>
                  <a:gd name="connsiteX3" fmla="*/ 6535041 w 11136069"/>
                  <a:gd name="connsiteY3" fmla="*/ 1496347 h 3240140"/>
                  <a:gd name="connsiteX4" fmla="*/ 8697417 w 11136069"/>
                  <a:gd name="connsiteY4" fmla="*/ 2954631 h 3240140"/>
                  <a:gd name="connsiteX5" fmla="*/ 11136069 w 11136069"/>
                  <a:gd name="connsiteY5" fmla="*/ 0 h 3240140"/>
                  <a:gd name="connsiteX0" fmla="*/ 0 w 11150500"/>
                  <a:gd name="connsiteY0" fmla="*/ 3528971 h 3528971"/>
                  <a:gd name="connsiteX1" fmla="*/ 2369441 w 11150500"/>
                  <a:gd name="connsiteY1" fmla="*/ 1698092 h 3528971"/>
                  <a:gd name="connsiteX2" fmla="*/ 4430469 w 11150500"/>
                  <a:gd name="connsiteY2" fmla="*/ 3004378 h 3528971"/>
                  <a:gd name="connsiteX3" fmla="*/ 6535041 w 11150500"/>
                  <a:gd name="connsiteY3" fmla="*/ 1785178 h 3528971"/>
                  <a:gd name="connsiteX4" fmla="*/ 8697417 w 11150500"/>
                  <a:gd name="connsiteY4" fmla="*/ 3243462 h 3528971"/>
                  <a:gd name="connsiteX5" fmla="*/ 11150500 w 11150500"/>
                  <a:gd name="connsiteY5" fmla="*/ 0 h 3528971"/>
                  <a:gd name="connsiteX0" fmla="*/ 0 w 11150500"/>
                  <a:gd name="connsiteY0" fmla="*/ 3528971 h 3528971"/>
                  <a:gd name="connsiteX1" fmla="*/ 2369441 w 11150500"/>
                  <a:gd name="connsiteY1" fmla="*/ 1698092 h 3528971"/>
                  <a:gd name="connsiteX2" fmla="*/ 4430469 w 11150500"/>
                  <a:gd name="connsiteY2" fmla="*/ 3004378 h 3528971"/>
                  <a:gd name="connsiteX3" fmla="*/ 6535041 w 11150500"/>
                  <a:gd name="connsiteY3" fmla="*/ 1785178 h 3528971"/>
                  <a:gd name="connsiteX4" fmla="*/ 8697417 w 11150500"/>
                  <a:gd name="connsiteY4" fmla="*/ 3243462 h 3528971"/>
                  <a:gd name="connsiteX5" fmla="*/ 11150500 w 11150500"/>
                  <a:gd name="connsiteY5" fmla="*/ 0 h 3528971"/>
                  <a:gd name="connsiteX0" fmla="*/ 0 w 11164931"/>
                  <a:gd name="connsiteY0" fmla="*/ 3625247 h 3625247"/>
                  <a:gd name="connsiteX1" fmla="*/ 2369441 w 11164931"/>
                  <a:gd name="connsiteY1" fmla="*/ 1794368 h 3625247"/>
                  <a:gd name="connsiteX2" fmla="*/ 4430469 w 11164931"/>
                  <a:gd name="connsiteY2" fmla="*/ 3100654 h 3625247"/>
                  <a:gd name="connsiteX3" fmla="*/ 6535041 w 11164931"/>
                  <a:gd name="connsiteY3" fmla="*/ 1881454 h 3625247"/>
                  <a:gd name="connsiteX4" fmla="*/ 8697417 w 11164931"/>
                  <a:gd name="connsiteY4" fmla="*/ 3339738 h 3625247"/>
                  <a:gd name="connsiteX5" fmla="*/ 11164931 w 11164931"/>
                  <a:gd name="connsiteY5" fmla="*/ 0 h 3625247"/>
                  <a:gd name="connsiteX0" fmla="*/ 0 w 11164931"/>
                  <a:gd name="connsiteY0" fmla="*/ 3625247 h 3625247"/>
                  <a:gd name="connsiteX1" fmla="*/ 2369441 w 11164931"/>
                  <a:gd name="connsiteY1" fmla="*/ 1794368 h 3625247"/>
                  <a:gd name="connsiteX2" fmla="*/ 4430469 w 11164931"/>
                  <a:gd name="connsiteY2" fmla="*/ 3100654 h 3625247"/>
                  <a:gd name="connsiteX3" fmla="*/ 6535041 w 11164931"/>
                  <a:gd name="connsiteY3" fmla="*/ 1881454 h 3625247"/>
                  <a:gd name="connsiteX4" fmla="*/ 8697417 w 11164931"/>
                  <a:gd name="connsiteY4" fmla="*/ 3131138 h 3625247"/>
                  <a:gd name="connsiteX5" fmla="*/ 11164931 w 11164931"/>
                  <a:gd name="connsiteY5" fmla="*/ 0 h 3625247"/>
                  <a:gd name="connsiteX0" fmla="*/ 0 w 11164931"/>
                  <a:gd name="connsiteY0" fmla="*/ 3625247 h 3625247"/>
                  <a:gd name="connsiteX1" fmla="*/ 2369441 w 11164931"/>
                  <a:gd name="connsiteY1" fmla="*/ 1794368 h 3625247"/>
                  <a:gd name="connsiteX2" fmla="*/ 4430469 w 11164931"/>
                  <a:gd name="connsiteY2" fmla="*/ 3100654 h 3625247"/>
                  <a:gd name="connsiteX3" fmla="*/ 6535041 w 11164931"/>
                  <a:gd name="connsiteY3" fmla="*/ 1881454 h 3625247"/>
                  <a:gd name="connsiteX4" fmla="*/ 8697417 w 11164931"/>
                  <a:gd name="connsiteY4" fmla="*/ 3131138 h 3625247"/>
                  <a:gd name="connsiteX5" fmla="*/ 11164931 w 11164931"/>
                  <a:gd name="connsiteY5" fmla="*/ 0 h 3625247"/>
                  <a:gd name="connsiteX0" fmla="*/ 0 w 11359134"/>
                  <a:gd name="connsiteY0" fmla="*/ 3781235 h 3781235"/>
                  <a:gd name="connsiteX1" fmla="*/ 2369441 w 11359134"/>
                  <a:gd name="connsiteY1" fmla="*/ 1950356 h 3781235"/>
                  <a:gd name="connsiteX2" fmla="*/ 4430469 w 11359134"/>
                  <a:gd name="connsiteY2" fmla="*/ 3256642 h 3781235"/>
                  <a:gd name="connsiteX3" fmla="*/ 6535041 w 11359134"/>
                  <a:gd name="connsiteY3" fmla="*/ 2037442 h 3781235"/>
                  <a:gd name="connsiteX4" fmla="*/ 8697417 w 11359134"/>
                  <a:gd name="connsiteY4" fmla="*/ 3287126 h 3781235"/>
                  <a:gd name="connsiteX5" fmla="*/ 11359134 w 11359134"/>
                  <a:gd name="connsiteY5" fmla="*/ 0 h 3781235"/>
                  <a:gd name="connsiteX0" fmla="*/ 0 w 11232335"/>
                  <a:gd name="connsiteY0" fmla="*/ 3014826 h 3014826"/>
                  <a:gd name="connsiteX1" fmla="*/ 2369441 w 11232335"/>
                  <a:gd name="connsiteY1" fmla="*/ 1183947 h 3014826"/>
                  <a:gd name="connsiteX2" fmla="*/ 4430469 w 11232335"/>
                  <a:gd name="connsiteY2" fmla="*/ 2490233 h 3014826"/>
                  <a:gd name="connsiteX3" fmla="*/ 6535041 w 11232335"/>
                  <a:gd name="connsiteY3" fmla="*/ 1271033 h 3014826"/>
                  <a:gd name="connsiteX4" fmla="*/ 8697417 w 11232335"/>
                  <a:gd name="connsiteY4" fmla="*/ 2520717 h 3014826"/>
                  <a:gd name="connsiteX5" fmla="*/ 11232335 w 11232335"/>
                  <a:gd name="connsiteY5" fmla="*/ 0 h 3014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32335" h="3014826">
                    <a:moveTo>
                      <a:pt x="0" y="3014826"/>
                    </a:moveTo>
                    <a:cubicBezTo>
                      <a:pt x="590247" y="2379826"/>
                      <a:pt x="1631030" y="1271379"/>
                      <a:pt x="2369441" y="1183947"/>
                    </a:cubicBezTo>
                    <a:cubicBezTo>
                      <a:pt x="3107852" y="1096515"/>
                      <a:pt x="3736202" y="2475719"/>
                      <a:pt x="4430469" y="2490233"/>
                    </a:cubicBezTo>
                    <a:cubicBezTo>
                      <a:pt x="5124736" y="2504747"/>
                      <a:pt x="5823883" y="1265952"/>
                      <a:pt x="6535041" y="1271033"/>
                    </a:cubicBezTo>
                    <a:cubicBezTo>
                      <a:pt x="7246199" y="1276114"/>
                      <a:pt x="7893402" y="2860291"/>
                      <a:pt x="8697417" y="2520717"/>
                    </a:cubicBezTo>
                    <a:cubicBezTo>
                      <a:pt x="9501432" y="2181143"/>
                      <a:pt x="10853086" y="804090"/>
                      <a:pt x="11232335" y="0"/>
                    </a:cubicBezTo>
                  </a:path>
                </a:pathLst>
              </a:custGeom>
              <a:noFill/>
              <a:ln w="60325">
                <a:gradFill>
                  <a:gsLst>
                    <a:gs pos="5000">
                      <a:schemeClr val="accent2">
                        <a:alpha val="0"/>
                      </a:schemeClr>
                    </a:gs>
                    <a:gs pos="16000">
                      <a:schemeClr val="accent2"/>
                    </a:gs>
                    <a:gs pos="73000">
                      <a:schemeClr val="accent1"/>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5" name="0">
                <a:extLst>
                  <a:ext uri="{FF2B5EF4-FFF2-40B4-BE49-F238E27FC236}">
                    <a16:creationId xmlns:a16="http://schemas.microsoft.com/office/drawing/2014/main" id="{F4C1AD4C-2112-E947-CE2F-C609D27F9A13}"/>
                  </a:ext>
                </a:extLst>
              </p:cNvPr>
              <p:cNvSpPr/>
              <p:nvPr/>
            </p:nvSpPr>
            <p:spPr>
              <a:xfrm rot="18545361">
                <a:off x="11381370" y="2285641"/>
                <a:ext cx="305044" cy="197375"/>
              </a:xfrm>
              <a:prstGeom prst="triangle">
                <a:avLst>
                  <a:gd name="adj"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6" name="0">
                <a:extLst>
                  <a:ext uri="{FF2B5EF4-FFF2-40B4-BE49-F238E27FC236}">
                    <a16:creationId xmlns:a16="http://schemas.microsoft.com/office/drawing/2014/main" id="{BD1B6AEB-0DD2-FFC9-46B5-865782838CF8}"/>
                  </a:ext>
                </a:extLst>
              </p:cNvPr>
              <p:cNvSpPr/>
              <p:nvPr/>
            </p:nvSpPr>
            <p:spPr>
              <a:xfrm rot="18545361">
                <a:off x="11486737" y="2492973"/>
                <a:ext cx="322939" cy="210933"/>
              </a:xfrm>
              <a:prstGeom prst="triangle">
                <a:avLst>
                  <a:gd name="adj" fmla="val 0"/>
                </a:avLst>
              </a:prstGeom>
              <a:solidFill>
                <a:schemeClr val="accent1">
                  <a:lumMod val="50000"/>
                  <a:alpha val="7000"/>
                </a:schemeClr>
              </a:soli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1">
              <a:extLst>
                <a:ext uri="{FF2B5EF4-FFF2-40B4-BE49-F238E27FC236}">
                  <a16:creationId xmlns:a16="http://schemas.microsoft.com/office/drawing/2014/main" id="{0B63A8CE-4766-A18C-C066-B9496622B9BE}"/>
                </a:ext>
              </a:extLst>
            </p:cNvPr>
            <p:cNvGrpSpPr/>
            <p:nvPr/>
          </p:nvGrpSpPr>
          <p:grpSpPr>
            <a:xfrm>
              <a:off x="1592780" y="3124868"/>
              <a:ext cx="2321130" cy="1721782"/>
              <a:chOff x="1138029" y="3763112"/>
              <a:chExt cx="2379282" cy="1764918"/>
            </a:xfrm>
          </p:grpSpPr>
          <p:sp>
            <p:nvSpPr>
              <p:cNvPr id="28" name="Body-1">
                <a:extLst>
                  <a:ext uri="{FF2B5EF4-FFF2-40B4-BE49-F238E27FC236}">
                    <a16:creationId xmlns:a16="http://schemas.microsoft.com/office/drawing/2014/main" id="{2CE53574-CC8A-ED51-BDFF-CF61BD78DAE0}"/>
                  </a:ext>
                </a:extLst>
              </p:cNvPr>
              <p:cNvSpPr txBox="1"/>
              <p:nvPr>
                <p:custDataLst>
                  <p:tags r:id="rId16"/>
                </p:custDataLst>
              </p:nvPr>
            </p:nvSpPr>
            <p:spPr>
              <a:xfrm>
                <a:off x="1340168" y="4343478"/>
                <a:ext cx="2177143" cy="927533"/>
              </a:xfrm>
              <a:prstGeom prst="rect">
                <a:avLst/>
              </a:prstGeom>
              <a:noFill/>
            </p:spPr>
            <p:txBody>
              <a:bodyPr wrap="square">
                <a:spAutoFit/>
              </a:bodyPr>
              <a:lstStyle/>
              <a:p>
                <a:pPr marL="180000" indent="-180000">
                  <a:lnSpc>
                    <a:spcPct val="130000"/>
                  </a:lnSpc>
                  <a:buFont typeface="Arial" panose="020B0604020202020204" pitchFamily="34" charset="0"/>
                  <a:buChar char="•"/>
                </a:pPr>
                <a:r>
                  <a:rPr lang="zh-CN" altLang="en-US" sz="1400" dirty="0">
                    <a:solidFill>
                      <a:schemeClr val="tx1">
                        <a:lumMod val="75000"/>
                        <a:lumOff val="25000"/>
                      </a:schemeClr>
                    </a:solidFill>
                  </a:rPr>
                  <a:t>路由复杂</a:t>
                </a:r>
                <a:endParaRPr lang="en-US" altLang="zh-CN" sz="1400" dirty="0">
                  <a:solidFill>
                    <a:schemeClr val="tx1">
                      <a:lumMod val="75000"/>
                      <a:lumOff val="25000"/>
                    </a:schemeClr>
                  </a:solidFill>
                </a:endParaRPr>
              </a:p>
              <a:p>
                <a:pPr marL="180000" indent="-180000">
                  <a:lnSpc>
                    <a:spcPct val="130000"/>
                  </a:lnSpc>
                  <a:buFont typeface="Arial" panose="020B0604020202020204" pitchFamily="34" charset="0"/>
                  <a:buChar char="•"/>
                </a:pPr>
                <a:r>
                  <a:rPr lang="zh-CN" altLang="en-US" sz="1400" dirty="0">
                    <a:solidFill>
                      <a:schemeClr val="tx1">
                        <a:lumMod val="75000"/>
                        <a:lumOff val="25000"/>
                      </a:schemeClr>
                    </a:solidFill>
                  </a:rPr>
                  <a:t>路径抵押成本高</a:t>
                </a:r>
              </a:p>
              <a:p>
                <a:pPr marL="180000" indent="-180000">
                  <a:lnSpc>
                    <a:spcPct val="130000"/>
                  </a:lnSpc>
                  <a:buFont typeface="Arial" panose="020B0604020202020204" pitchFamily="34" charset="0"/>
                  <a:buChar char="•"/>
                </a:pPr>
                <a:r>
                  <a:rPr lang="zh-CN" altLang="en-US" sz="1400" dirty="0">
                    <a:solidFill>
                      <a:schemeClr val="tx1">
                        <a:lumMod val="75000"/>
                        <a:lumOff val="25000"/>
                      </a:schemeClr>
                    </a:solidFill>
                  </a:rPr>
                  <a:t>信道再平衡问题</a:t>
                </a:r>
              </a:p>
            </p:txBody>
          </p:sp>
          <p:sp>
            <p:nvSpPr>
              <p:cNvPr id="29" name="Title-1">
                <a:extLst>
                  <a:ext uri="{FF2B5EF4-FFF2-40B4-BE49-F238E27FC236}">
                    <a16:creationId xmlns:a16="http://schemas.microsoft.com/office/drawing/2014/main" id="{5D69A027-7A01-1189-6314-3EF56CF03DB6}"/>
                  </a:ext>
                </a:extLst>
              </p:cNvPr>
              <p:cNvSpPr txBox="1"/>
              <p:nvPr>
                <p:custDataLst>
                  <p:tags r:id="rId17"/>
                </p:custDataLst>
              </p:nvPr>
            </p:nvSpPr>
            <p:spPr>
              <a:xfrm>
                <a:off x="1340168" y="3948260"/>
                <a:ext cx="1621586" cy="378585"/>
              </a:xfrm>
              <a:prstGeom prst="rect">
                <a:avLst/>
              </a:prstGeom>
              <a:noFill/>
            </p:spPr>
            <p:txBody>
              <a:bodyPr wrap="square">
                <a:spAutoFit/>
              </a:bodyPr>
              <a:lstStyle>
                <a:defPPr>
                  <a:defRPr lang="zh-CN"/>
                </a:defPPr>
                <a:lvl1pPr algn="ctr">
                  <a:defRPr sz="4000" b="1">
                    <a:gradFill>
                      <a:gsLst>
                        <a:gs pos="7000">
                          <a:schemeClr val="accent2"/>
                        </a:gs>
                        <a:gs pos="100000">
                          <a:schemeClr val="accent1"/>
                        </a:gs>
                      </a:gsLst>
                      <a:lin ang="2700000" scaled="0"/>
                    </a:gradFill>
                  </a:defRPr>
                </a:lvl1pPr>
              </a:lstStyle>
              <a:p>
                <a:pPr algn="l"/>
                <a:r>
                  <a:rPr lang="zh-CN" altLang="en-US" sz="1800" dirty="0"/>
                  <a:t>闪电网络</a:t>
                </a:r>
              </a:p>
            </p:txBody>
          </p:sp>
          <p:sp>
            <p:nvSpPr>
              <p:cNvPr id="30" name="1">
                <a:extLst>
                  <a:ext uri="{FF2B5EF4-FFF2-40B4-BE49-F238E27FC236}">
                    <a16:creationId xmlns:a16="http://schemas.microsoft.com/office/drawing/2014/main" id="{1B943C28-D308-0E5D-992A-0D78A2021A68}"/>
                  </a:ext>
                </a:extLst>
              </p:cNvPr>
              <p:cNvSpPr/>
              <p:nvPr/>
            </p:nvSpPr>
            <p:spPr>
              <a:xfrm>
                <a:off x="1138029" y="3763112"/>
                <a:ext cx="200043" cy="200043"/>
              </a:xfrm>
              <a:prstGeom prst="ellipse">
                <a:avLst/>
              </a:prstGeom>
              <a:gradFill flip="none" rotWithShape="1">
                <a:gsLst>
                  <a:gs pos="69000">
                    <a:schemeClr val="accent2"/>
                  </a:gs>
                  <a:gs pos="8000">
                    <a:schemeClr val="accent1"/>
                  </a:gs>
                </a:gsLst>
                <a:path path="circle">
                  <a:fillToRect l="100000" t="100000"/>
                </a:path>
                <a:tileRect r="-100000" b="-100000"/>
              </a:gradFill>
              <a:ln w="31750">
                <a:solidFill>
                  <a:schemeClr val="bg1"/>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1" name="1">
                <a:extLst>
                  <a:ext uri="{FF2B5EF4-FFF2-40B4-BE49-F238E27FC236}">
                    <a16:creationId xmlns:a16="http://schemas.microsoft.com/office/drawing/2014/main" id="{0B4D37D7-C308-7818-4C50-4AAB1C9B402F}"/>
                  </a:ext>
                </a:extLst>
              </p:cNvPr>
              <p:cNvCxnSpPr>
                <a:cxnSpLocks/>
              </p:cNvCxnSpPr>
              <p:nvPr/>
            </p:nvCxnSpPr>
            <p:spPr>
              <a:xfrm>
                <a:off x="1238050" y="4014024"/>
                <a:ext cx="0" cy="1514006"/>
              </a:xfrm>
              <a:prstGeom prst="line">
                <a:avLst/>
              </a:prstGeom>
              <a:ln w="9525">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3">
              <a:extLst>
                <a:ext uri="{FF2B5EF4-FFF2-40B4-BE49-F238E27FC236}">
                  <a16:creationId xmlns:a16="http://schemas.microsoft.com/office/drawing/2014/main" id="{5CD0B6ED-EF96-516A-AB57-BF26AAD7E121}"/>
                </a:ext>
              </a:extLst>
            </p:cNvPr>
            <p:cNvGrpSpPr/>
            <p:nvPr/>
          </p:nvGrpSpPr>
          <p:grpSpPr>
            <a:xfrm>
              <a:off x="5233336" y="3187441"/>
              <a:ext cx="2243572" cy="1721782"/>
              <a:chOff x="1138029" y="3763112"/>
              <a:chExt cx="2299781" cy="1764918"/>
            </a:xfrm>
          </p:grpSpPr>
          <p:sp>
            <p:nvSpPr>
              <p:cNvPr id="24" name="Body-3">
                <a:extLst>
                  <a:ext uri="{FF2B5EF4-FFF2-40B4-BE49-F238E27FC236}">
                    <a16:creationId xmlns:a16="http://schemas.microsoft.com/office/drawing/2014/main" id="{464F27F6-6854-AF1C-F845-14EBC74C2DA8}"/>
                  </a:ext>
                </a:extLst>
              </p:cNvPr>
              <p:cNvSpPr txBox="1"/>
              <p:nvPr>
                <p:custDataLst>
                  <p:tags r:id="rId14"/>
                </p:custDataLst>
              </p:nvPr>
            </p:nvSpPr>
            <p:spPr>
              <a:xfrm>
                <a:off x="1260667" y="4347797"/>
                <a:ext cx="2177143" cy="927533"/>
              </a:xfrm>
              <a:prstGeom prst="rect">
                <a:avLst/>
              </a:prstGeom>
              <a:noFill/>
            </p:spPr>
            <p:txBody>
              <a:bodyPr wrap="square">
                <a:spAutoFit/>
              </a:bodyPr>
              <a:lstStyle/>
              <a:p>
                <a:pPr marL="180000" indent="-180000">
                  <a:lnSpc>
                    <a:spcPct val="130000"/>
                  </a:lnSpc>
                  <a:buFont typeface="Arial" panose="020B0604020202020204" pitchFamily="34" charset="0"/>
                  <a:buChar char="•"/>
                </a:pPr>
                <a:r>
                  <a:rPr lang="en-US" altLang="zh-CN" sz="1400" dirty="0"/>
                  <a:t>LVPC (SP'21)</a:t>
                </a:r>
              </a:p>
              <a:p>
                <a:pPr marL="180000" indent="-180000">
                  <a:lnSpc>
                    <a:spcPct val="130000"/>
                  </a:lnSpc>
                  <a:buFont typeface="Arial" panose="020B0604020202020204" pitchFamily="34" charset="0"/>
                  <a:buChar char="•"/>
                </a:pPr>
                <a:r>
                  <a:rPr lang="en-US" altLang="zh-CN" sz="1400" dirty="0"/>
                  <a:t>Blitz (Usenix</a:t>
                </a:r>
                <a:r>
                  <a:rPr lang="en-US" altLang="zh-CN" sz="1400" dirty="0">
                    <a:solidFill>
                      <a:schemeClr val="tx1">
                        <a:lumMod val="75000"/>
                        <a:lumOff val="25000"/>
                      </a:schemeClr>
                    </a:solidFill>
                    <a:latin typeface="+mn-ea"/>
                    <a:sym typeface="+mn-ea"/>
                  </a:rPr>
                  <a:t>'</a:t>
                </a:r>
                <a:r>
                  <a:rPr lang="en-US" altLang="zh-CN" sz="1400" dirty="0"/>
                  <a:t>21)</a:t>
                </a:r>
                <a:endParaRPr lang="zh-CN" altLang="en-US" sz="1400" dirty="0">
                  <a:solidFill>
                    <a:schemeClr val="tx1">
                      <a:lumMod val="75000"/>
                      <a:lumOff val="25000"/>
                    </a:schemeClr>
                  </a:solidFill>
                </a:endParaRPr>
              </a:p>
              <a:p>
                <a:pPr marL="180000" indent="-180000">
                  <a:lnSpc>
                    <a:spcPct val="130000"/>
                  </a:lnSpc>
                  <a:buFont typeface="Arial" panose="020B0604020202020204" pitchFamily="34" charset="0"/>
                  <a:buChar char="•"/>
                </a:pPr>
                <a:r>
                  <a:rPr lang="en-US" altLang="zh-CN" sz="1400" dirty="0">
                    <a:solidFill>
                      <a:schemeClr val="tx1">
                        <a:lumMod val="75000"/>
                        <a:lumOff val="25000"/>
                      </a:schemeClr>
                    </a:solidFill>
                  </a:rPr>
                  <a:t>Donner (NDSS</a:t>
                </a:r>
                <a:r>
                  <a:rPr lang="en-US" altLang="zh-CN" sz="1400" dirty="0">
                    <a:solidFill>
                      <a:schemeClr val="tx1">
                        <a:lumMod val="75000"/>
                        <a:lumOff val="25000"/>
                      </a:schemeClr>
                    </a:solidFill>
                    <a:latin typeface="+mn-ea"/>
                    <a:sym typeface="+mn-ea"/>
                  </a:rPr>
                  <a:t>'</a:t>
                </a:r>
                <a:r>
                  <a:rPr lang="en-US" altLang="zh-CN" sz="1400" dirty="0">
                    <a:solidFill>
                      <a:schemeClr val="tx1">
                        <a:lumMod val="75000"/>
                        <a:lumOff val="25000"/>
                      </a:schemeClr>
                    </a:solidFill>
                  </a:rPr>
                  <a:t>23)</a:t>
                </a:r>
                <a:endParaRPr lang="zh-CN" altLang="en-US" sz="1400" dirty="0">
                  <a:solidFill>
                    <a:schemeClr val="tx1">
                      <a:lumMod val="75000"/>
                      <a:lumOff val="25000"/>
                    </a:schemeClr>
                  </a:solidFill>
                </a:endParaRPr>
              </a:p>
            </p:txBody>
          </p:sp>
          <p:sp>
            <p:nvSpPr>
              <p:cNvPr id="25" name="Title-3">
                <a:extLst>
                  <a:ext uri="{FF2B5EF4-FFF2-40B4-BE49-F238E27FC236}">
                    <a16:creationId xmlns:a16="http://schemas.microsoft.com/office/drawing/2014/main" id="{C3B810FA-3DF2-6275-448A-38A0B2D8CFB9}"/>
                  </a:ext>
                </a:extLst>
              </p:cNvPr>
              <p:cNvSpPr txBox="1"/>
              <p:nvPr>
                <p:custDataLst>
                  <p:tags r:id="rId15"/>
                </p:custDataLst>
              </p:nvPr>
            </p:nvSpPr>
            <p:spPr>
              <a:xfrm>
                <a:off x="1295589" y="3811712"/>
                <a:ext cx="1861859" cy="662524"/>
              </a:xfrm>
              <a:prstGeom prst="rect">
                <a:avLst/>
              </a:prstGeom>
              <a:noFill/>
            </p:spPr>
            <p:txBody>
              <a:bodyPr wrap="square">
                <a:spAutoFit/>
              </a:bodyPr>
              <a:lstStyle>
                <a:defPPr>
                  <a:defRPr lang="zh-CN"/>
                </a:defPPr>
                <a:lvl1pPr algn="ctr">
                  <a:defRPr sz="4000" b="1">
                    <a:gradFill>
                      <a:gsLst>
                        <a:gs pos="7000">
                          <a:schemeClr val="accent2"/>
                        </a:gs>
                        <a:gs pos="100000">
                          <a:schemeClr val="accent1"/>
                        </a:gs>
                      </a:gsLst>
                      <a:lin ang="2700000" scaled="0"/>
                    </a:gradFill>
                  </a:defRPr>
                </a:lvl1pPr>
              </a:lstStyle>
              <a:p>
                <a:pPr algn="l"/>
                <a:r>
                  <a:rPr lang="en-US" altLang="zh-CN" sz="1800" dirty="0"/>
                  <a:t>AMCU</a:t>
                </a:r>
              </a:p>
              <a:p>
                <a:pPr algn="l"/>
                <a:r>
                  <a:rPr lang="en-US" altLang="zh-CN" sz="1800" dirty="0"/>
                  <a:t>(CCS</a:t>
                </a:r>
                <a:r>
                  <a:rPr lang="en-US" altLang="zh-CN" sz="1800" dirty="0">
                    <a:sym typeface="+mn-ea"/>
                  </a:rPr>
                  <a:t>'</a:t>
                </a:r>
                <a:r>
                  <a:rPr lang="en-US" altLang="zh-CN" sz="1800" dirty="0"/>
                  <a:t>19)</a:t>
                </a:r>
                <a:endParaRPr lang="zh-CN" altLang="en-US" sz="1800" dirty="0"/>
              </a:p>
            </p:txBody>
          </p:sp>
          <p:sp>
            <p:nvSpPr>
              <p:cNvPr id="26" name="3">
                <a:extLst>
                  <a:ext uri="{FF2B5EF4-FFF2-40B4-BE49-F238E27FC236}">
                    <a16:creationId xmlns:a16="http://schemas.microsoft.com/office/drawing/2014/main" id="{77BABCD6-EE8C-4DC7-6278-A35FC056D3E7}"/>
                  </a:ext>
                </a:extLst>
              </p:cNvPr>
              <p:cNvSpPr/>
              <p:nvPr/>
            </p:nvSpPr>
            <p:spPr>
              <a:xfrm>
                <a:off x="1138029" y="3763112"/>
                <a:ext cx="200043" cy="200043"/>
              </a:xfrm>
              <a:prstGeom prst="ellipse">
                <a:avLst/>
              </a:prstGeom>
              <a:gradFill flip="none" rotWithShape="1">
                <a:gsLst>
                  <a:gs pos="69000">
                    <a:schemeClr val="accent2"/>
                  </a:gs>
                  <a:gs pos="8000">
                    <a:schemeClr val="accent1"/>
                  </a:gs>
                </a:gsLst>
                <a:path path="circle">
                  <a:fillToRect l="100000" t="100000"/>
                </a:path>
                <a:tileRect r="-100000" b="-100000"/>
              </a:gradFill>
              <a:ln w="31750">
                <a:solidFill>
                  <a:schemeClr val="bg1"/>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7" name="3">
                <a:extLst>
                  <a:ext uri="{FF2B5EF4-FFF2-40B4-BE49-F238E27FC236}">
                    <a16:creationId xmlns:a16="http://schemas.microsoft.com/office/drawing/2014/main" id="{0B2FA24A-1F08-43CE-D1AF-13B61E61D4FE}"/>
                  </a:ext>
                </a:extLst>
              </p:cNvPr>
              <p:cNvCxnSpPr>
                <a:cxnSpLocks/>
              </p:cNvCxnSpPr>
              <p:nvPr/>
            </p:nvCxnSpPr>
            <p:spPr>
              <a:xfrm>
                <a:off x="1238050" y="4014024"/>
                <a:ext cx="0" cy="1514006"/>
              </a:xfrm>
              <a:prstGeom prst="line">
                <a:avLst/>
              </a:prstGeom>
              <a:ln w="9525">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1" name="组合 4">
              <a:extLst>
                <a:ext uri="{FF2B5EF4-FFF2-40B4-BE49-F238E27FC236}">
                  <a16:creationId xmlns:a16="http://schemas.microsoft.com/office/drawing/2014/main" id="{D7054E67-502D-13DA-38A3-C0B1C2D4469F}"/>
                </a:ext>
              </a:extLst>
            </p:cNvPr>
            <p:cNvGrpSpPr/>
            <p:nvPr/>
          </p:nvGrpSpPr>
          <p:grpSpPr>
            <a:xfrm flipV="1">
              <a:off x="7293723" y="1784486"/>
              <a:ext cx="2380712" cy="1933358"/>
              <a:chOff x="1138029" y="3658293"/>
              <a:chExt cx="2440357" cy="1981795"/>
            </a:xfrm>
          </p:grpSpPr>
          <p:sp>
            <p:nvSpPr>
              <p:cNvPr id="19" name="Body-4">
                <a:extLst>
                  <a:ext uri="{FF2B5EF4-FFF2-40B4-BE49-F238E27FC236}">
                    <a16:creationId xmlns:a16="http://schemas.microsoft.com/office/drawing/2014/main" id="{C1AD6622-7EC7-6D30-EE9B-50C7080F92C2}"/>
                  </a:ext>
                </a:extLst>
              </p:cNvPr>
              <p:cNvSpPr txBox="1"/>
              <p:nvPr>
                <p:custDataLst>
                  <p:tags r:id="rId12"/>
                </p:custDataLst>
              </p:nvPr>
            </p:nvSpPr>
            <p:spPr>
              <a:xfrm flipV="1">
                <a:off x="1232993" y="4359863"/>
                <a:ext cx="2345393" cy="927927"/>
              </a:xfrm>
              <a:prstGeom prst="rect">
                <a:avLst/>
              </a:prstGeom>
              <a:noFill/>
            </p:spPr>
            <p:txBody>
              <a:bodyPr wrap="square">
                <a:spAutoFit/>
              </a:bodyPr>
              <a:lstStyle/>
              <a:p>
                <a:pPr marL="180000" indent="-180000">
                  <a:lnSpc>
                    <a:spcPct val="130000"/>
                  </a:lnSpc>
                  <a:buFont typeface="Arial" panose="020B0604020202020204" pitchFamily="34" charset="0"/>
                  <a:buChar char="•"/>
                </a:pPr>
                <a:r>
                  <a:rPr lang="en-US" altLang="zh-CN" sz="1400" dirty="0">
                    <a:solidFill>
                      <a:schemeClr val="tx1">
                        <a:lumMod val="75000"/>
                        <a:lumOff val="25000"/>
                      </a:schemeClr>
                    </a:solidFill>
                    <a:latin typeface="+mn-ea"/>
                  </a:rPr>
                  <a:t>Wiser (AFT</a:t>
                </a:r>
                <a:r>
                  <a:rPr lang="en-US" altLang="zh-CN" sz="1400" dirty="0">
                    <a:solidFill>
                      <a:schemeClr val="tx1">
                        <a:lumMod val="75000"/>
                        <a:lumOff val="25000"/>
                      </a:schemeClr>
                    </a:solidFill>
                    <a:latin typeface="+mn-ea"/>
                    <a:sym typeface="+mn-ea"/>
                  </a:rPr>
                  <a:t>'</a:t>
                </a:r>
                <a:r>
                  <a:rPr lang="en-US" altLang="zh-CN" sz="1400" dirty="0">
                    <a:solidFill>
                      <a:schemeClr val="tx1">
                        <a:lumMod val="75000"/>
                        <a:lumOff val="25000"/>
                      </a:schemeClr>
                    </a:solidFill>
                    <a:latin typeface="+mn-ea"/>
                  </a:rPr>
                  <a:t>23)</a:t>
                </a:r>
              </a:p>
              <a:p>
                <a:pPr marL="180000" indent="-180000">
                  <a:lnSpc>
                    <a:spcPct val="130000"/>
                  </a:lnSpc>
                  <a:buFont typeface="Arial" panose="020B0604020202020204" pitchFamily="34" charset="0"/>
                  <a:buChar char="•"/>
                </a:pPr>
                <a:r>
                  <a:rPr lang="en-US" altLang="zh-CN" sz="1400" dirty="0">
                    <a:solidFill>
                      <a:schemeClr val="tx1">
                        <a:lumMod val="75000"/>
                        <a:lumOff val="25000"/>
                      </a:schemeClr>
                    </a:solidFill>
                    <a:latin typeface="+mn-ea"/>
                  </a:rPr>
                  <a:t>Thora (CCS</a:t>
                </a:r>
                <a:r>
                  <a:rPr lang="en-US" altLang="zh-CN" sz="1400" dirty="0">
                    <a:solidFill>
                      <a:schemeClr val="tx1">
                        <a:lumMod val="75000"/>
                        <a:lumOff val="25000"/>
                      </a:schemeClr>
                    </a:solidFill>
                    <a:latin typeface="+mn-ea"/>
                    <a:sym typeface="+mn-ea"/>
                  </a:rPr>
                  <a:t>'22</a:t>
                </a:r>
                <a:r>
                  <a:rPr lang="en-US" altLang="zh-CN" sz="1400" dirty="0">
                    <a:solidFill>
                      <a:schemeClr val="tx1">
                        <a:lumMod val="75000"/>
                        <a:lumOff val="25000"/>
                      </a:schemeClr>
                    </a:solidFill>
                    <a:latin typeface="+mn-ea"/>
                  </a:rPr>
                  <a:t>)</a:t>
                </a:r>
              </a:p>
              <a:p>
                <a:pPr marL="180000" indent="-180000">
                  <a:lnSpc>
                    <a:spcPct val="130000"/>
                  </a:lnSpc>
                  <a:buFont typeface="Arial" panose="020B0604020202020204" pitchFamily="34" charset="0"/>
                  <a:buChar char="•"/>
                </a:pPr>
                <a:r>
                  <a:rPr lang="en-US" altLang="zh-CN" sz="1400" dirty="0">
                    <a:solidFill>
                      <a:schemeClr val="tx1">
                        <a:lumMod val="75000"/>
                        <a:lumOff val="25000"/>
                      </a:schemeClr>
                    </a:solidFill>
                    <a:latin typeface="+mn-ea"/>
                  </a:rPr>
                  <a:t>Shaduf (NDSS</a:t>
                </a:r>
                <a:r>
                  <a:rPr lang="en-US" altLang="zh-CN" sz="1400" dirty="0">
                    <a:solidFill>
                      <a:schemeClr val="tx1">
                        <a:lumMod val="75000"/>
                        <a:lumOff val="25000"/>
                      </a:schemeClr>
                    </a:solidFill>
                    <a:latin typeface="+mn-ea"/>
                    <a:sym typeface="+mn-ea"/>
                  </a:rPr>
                  <a:t>'22</a:t>
                </a:r>
                <a:r>
                  <a:rPr lang="en-US" altLang="zh-CN" sz="1400" dirty="0">
                    <a:solidFill>
                      <a:schemeClr val="tx1">
                        <a:lumMod val="75000"/>
                        <a:lumOff val="25000"/>
                      </a:schemeClr>
                    </a:solidFill>
                    <a:latin typeface="+mn-ea"/>
                  </a:rPr>
                  <a:t>)</a:t>
                </a:r>
              </a:p>
            </p:txBody>
          </p:sp>
          <p:sp>
            <p:nvSpPr>
              <p:cNvPr id="20" name="Title-4">
                <a:extLst>
                  <a:ext uri="{FF2B5EF4-FFF2-40B4-BE49-F238E27FC236}">
                    <a16:creationId xmlns:a16="http://schemas.microsoft.com/office/drawing/2014/main" id="{D1133FB9-41FE-2721-0B2B-B824A4F36AB7}"/>
                  </a:ext>
                </a:extLst>
              </p:cNvPr>
              <p:cNvSpPr txBox="1"/>
              <p:nvPr>
                <p:custDataLst>
                  <p:tags r:id="rId13"/>
                </p:custDataLst>
              </p:nvPr>
            </p:nvSpPr>
            <p:spPr>
              <a:xfrm flipV="1">
                <a:off x="1260248" y="3760727"/>
                <a:ext cx="1621586" cy="662524"/>
              </a:xfrm>
              <a:prstGeom prst="rect">
                <a:avLst/>
              </a:prstGeom>
              <a:noFill/>
            </p:spPr>
            <p:txBody>
              <a:bodyPr wrap="square">
                <a:spAutoFit/>
              </a:bodyPr>
              <a:lstStyle>
                <a:defPPr>
                  <a:defRPr lang="zh-CN"/>
                </a:defPPr>
                <a:lvl1pPr algn="ctr">
                  <a:defRPr sz="4000" b="1">
                    <a:gradFill>
                      <a:gsLst>
                        <a:gs pos="7000">
                          <a:schemeClr val="accent2"/>
                        </a:gs>
                        <a:gs pos="100000">
                          <a:schemeClr val="accent1"/>
                        </a:gs>
                      </a:gsLst>
                      <a:lin ang="2700000" scaled="0"/>
                    </a:gradFill>
                  </a:defRPr>
                </a:lvl1pPr>
              </a:lstStyle>
              <a:p>
                <a:pPr algn="l"/>
                <a:r>
                  <a:rPr lang="en-US" altLang="zh-CN" sz="1800" dirty="0"/>
                  <a:t>Revive (CCS</a:t>
                </a:r>
                <a:r>
                  <a:rPr lang="en-US" altLang="zh-CN" sz="1800" dirty="0">
                    <a:sym typeface="+mn-ea"/>
                  </a:rPr>
                  <a:t>'17</a:t>
                </a:r>
                <a:r>
                  <a:rPr lang="en-US" altLang="zh-CN" sz="1800" dirty="0"/>
                  <a:t>)</a:t>
                </a:r>
                <a:endParaRPr lang="zh-CN" altLang="en-US" sz="1800" dirty="0"/>
              </a:p>
            </p:txBody>
          </p:sp>
          <p:sp>
            <p:nvSpPr>
              <p:cNvPr id="22" name="4">
                <a:extLst>
                  <a:ext uri="{FF2B5EF4-FFF2-40B4-BE49-F238E27FC236}">
                    <a16:creationId xmlns:a16="http://schemas.microsoft.com/office/drawing/2014/main" id="{D07CABF4-1C8E-3DDE-6C66-5431F16F8F09}"/>
                  </a:ext>
                </a:extLst>
              </p:cNvPr>
              <p:cNvSpPr/>
              <p:nvPr/>
            </p:nvSpPr>
            <p:spPr>
              <a:xfrm>
                <a:off x="1138029" y="3658293"/>
                <a:ext cx="200043" cy="200043"/>
              </a:xfrm>
              <a:prstGeom prst="ellipse">
                <a:avLst/>
              </a:prstGeom>
              <a:gradFill flip="none" rotWithShape="1">
                <a:gsLst>
                  <a:gs pos="69000">
                    <a:schemeClr val="accent2"/>
                  </a:gs>
                  <a:gs pos="8000">
                    <a:schemeClr val="accent1"/>
                  </a:gs>
                </a:gsLst>
                <a:path path="circle">
                  <a:fillToRect l="100000" t="100000"/>
                </a:path>
                <a:tileRect r="-100000" b="-100000"/>
              </a:gradFill>
              <a:ln w="31750">
                <a:solidFill>
                  <a:schemeClr val="bg1"/>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 name="4">
                <a:extLst>
                  <a:ext uri="{FF2B5EF4-FFF2-40B4-BE49-F238E27FC236}">
                    <a16:creationId xmlns:a16="http://schemas.microsoft.com/office/drawing/2014/main" id="{1EC15AA5-384D-2BD1-735A-439123ACDDFA}"/>
                  </a:ext>
                </a:extLst>
              </p:cNvPr>
              <p:cNvCxnSpPr>
                <a:cxnSpLocks/>
                <a:stCxn id="22" idx="4"/>
              </p:cNvCxnSpPr>
              <p:nvPr/>
            </p:nvCxnSpPr>
            <p:spPr>
              <a:xfrm>
                <a:off x="1238051" y="3858336"/>
                <a:ext cx="0" cy="1781752"/>
              </a:xfrm>
              <a:prstGeom prst="line">
                <a:avLst/>
              </a:prstGeom>
              <a:ln w="9525">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2" name="组合 2">
              <a:extLst>
                <a:ext uri="{FF2B5EF4-FFF2-40B4-BE49-F238E27FC236}">
                  <a16:creationId xmlns:a16="http://schemas.microsoft.com/office/drawing/2014/main" id="{628C001B-1077-4B17-F92E-7B4ACF8058B6}"/>
                </a:ext>
              </a:extLst>
            </p:cNvPr>
            <p:cNvGrpSpPr/>
            <p:nvPr/>
          </p:nvGrpSpPr>
          <p:grpSpPr>
            <a:xfrm flipV="1">
              <a:off x="3310679" y="1482929"/>
              <a:ext cx="2221507" cy="2008619"/>
              <a:chOff x="1138029" y="3713295"/>
              <a:chExt cx="2277164" cy="2058942"/>
            </a:xfrm>
          </p:grpSpPr>
          <mc:AlternateContent xmlns:mc="http://schemas.openxmlformats.org/markup-compatibility/2006" xmlns:a14="http://schemas.microsoft.com/office/drawing/2010/main">
            <mc:Choice Requires="a14">
              <p:sp>
                <p:nvSpPr>
                  <p:cNvPr id="13" name="Body-2">
                    <a:extLst>
                      <a:ext uri="{FF2B5EF4-FFF2-40B4-BE49-F238E27FC236}">
                        <a16:creationId xmlns:a16="http://schemas.microsoft.com/office/drawing/2014/main" id="{E33B5C70-83C6-472B-E28F-3C49729B4170}"/>
                      </a:ext>
                    </a:extLst>
                  </p:cNvPr>
                  <p:cNvSpPr txBox="1"/>
                  <p:nvPr>
                    <p:custDataLst>
                      <p:tags r:id="rId10"/>
                    </p:custDataLst>
                  </p:nvPr>
                </p:nvSpPr>
                <p:spPr>
                  <a:xfrm flipV="1">
                    <a:off x="1238050" y="4263681"/>
                    <a:ext cx="2177143" cy="1508556"/>
                  </a:xfrm>
                  <a:prstGeom prst="rect">
                    <a:avLst/>
                  </a:prstGeom>
                  <a:noFill/>
                </p:spPr>
                <p:txBody>
                  <a:bodyPr wrap="square">
                    <a:spAutoFit/>
                  </a:bodyPr>
                  <a:lstStyle/>
                  <a:p>
                    <a:pPr marL="180000" indent="-180000">
                      <a:lnSpc>
                        <a:spcPct val="130000"/>
                      </a:lnSpc>
                      <a:buFont typeface="Arial" panose="020B0604020202020204" pitchFamily="34" charset="0"/>
                      <a:buChar char="•"/>
                    </a:pPr>
                    <a:r>
                      <a:rPr lang="en-US" altLang="zh-CN" sz="1400" dirty="0" err="1">
                        <a:solidFill>
                          <a:schemeClr val="tx1">
                            <a:lumMod val="75000"/>
                            <a:lumOff val="25000"/>
                          </a:schemeClr>
                        </a:solidFill>
                        <a:latin typeface="+mn-ea"/>
                      </a:rPr>
                      <a:t>Accio</a:t>
                    </a:r>
                    <a:r>
                      <a:rPr lang="en-US" altLang="zh-CN" sz="1400" dirty="0">
                        <a:solidFill>
                          <a:schemeClr val="tx1">
                            <a:lumMod val="75000"/>
                            <a:lumOff val="25000"/>
                          </a:schemeClr>
                        </a:solidFill>
                        <a:latin typeface="+mn-ea"/>
                      </a:rPr>
                      <a:t> (CCS</a:t>
                    </a:r>
                    <a:r>
                      <a:rPr lang="en-US" altLang="zh-CN" sz="1400" dirty="0">
                        <a:solidFill>
                          <a:schemeClr val="tx1">
                            <a:lumMod val="75000"/>
                            <a:lumOff val="25000"/>
                          </a:schemeClr>
                        </a:solidFill>
                        <a:latin typeface="+mn-ea"/>
                        <a:sym typeface="+mn-ea"/>
                      </a:rPr>
                      <a:t>'</a:t>
                    </a:r>
                    <a:r>
                      <a:rPr lang="en-US" altLang="zh-CN" sz="1400" dirty="0">
                        <a:solidFill>
                          <a:schemeClr val="tx1">
                            <a:lumMod val="75000"/>
                            <a:lumOff val="25000"/>
                          </a:schemeClr>
                        </a:solidFill>
                        <a:latin typeface="+mn-ea"/>
                      </a:rPr>
                      <a:t>23)</a:t>
                    </a:r>
                  </a:p>
                  <a:p>
                    <a:pPr marL="180000" indent="-180000">
                      <a:lnSpc>
                        <a:spcPct val="130000"/>
                      </a:lnSpc>
                      <a:buFont typeface="Arial" panose="020B0604020202020204" pitchFamily="34" charset="0"/>
                      <a:buChar char="•"/>
                    </a:pPr>
                    <a:r>
                      <a:rPr lang="en-US" altLang="zh-CN" sz="1400" dirty="0" err="1">
                        <a:solidFill>
                          <a:schemeClr val="tx1">
                            <a:lumMod val="75000"/>
                            <a:lumOff val="25000"/>
                          </a:schemeClr>
                        </a:solidFill>
                        <a:latin typeface="+mn-ea"/>
                      </a:rPr>
                      <a:t>BlindHub</a:t>
                    </a:r>
                    <a:r>
                      <a:rPr lang="en-US" altLang="zh-CN" sz="1400" dirty="0">
                        <a:solidFill>
                          <a:schemeClr val="tx1">
                            <a:lumMod val="75000"/>
                            <a:lumOff val="25000"/>
                          </a:schemeClr>
                        </a:solidFill>
                        <a:latin typeface="+mn-ea"/>
                      </a:rPr>
                      <a:t> (SP</a:t>
                    </a:r>
                    <a:r>
                      <a:rPr lang="en-US" altLang="zh-CN" sz="1400" dirty="0">
                        <a:solidFill>
                          <a:schemeClr val="tx1">
                            <a:lumMod val="75000"/>
                            <a:lumOff val="25000"/>
                          </a:schemeClr>
                        </a:solidFill>
                        <a:latin typeface="+mn-ea"/>
                        <a:sym typeface="+mn-ea"/>
                      </a:rPr>
                      <a:t>'</a:t>
                    </a:r>
                    <a:r>
                      <a:rPr lang="en-US" altLang="zh-CN" sz="1400" dirty="0">
                        <a:solidFill>
                          <a:schemeClr val="tx1">
                            <a:lumMod val="75000"/>
                            <a:lumOff val="25000"/>
                          </a:schemeClr>
                        </a:solidFill>
                        <a:latin typeface="+mn-ea"/>
                      </a:rPr>
                      <a:t>23)</a:t>
                    </a:r>
                  </a:p>
                  <a:p>
                    <a:pPr marL="180000" indent="-180000">
                      <a:lnSpc>
                        <a:spcPct val="130000"/>
                      </a:lnSpc>
                      <a:buFont typeface="Arial" panose="020B0604020202020204" pitchFamily="34" charset="0"/>
                      <a:buChar char="•"/>
                    </a:pPr>
                    <a:r>
                      <a:rPr lang="en-US" altLang="zh-CN" sz="1400" dirty="0">
                        <a:solidFill>
                          <a:schemeClr val="tx1">
                            <a:lumMod val="75000"/>
                            <a:lumOff val="25000"/>
                          </a:schemeClr>
                        </a:solidFill>
                        <a:latin typeface="+mn-ea"/>
                      </a:rPr>
                      <a:t>Coin mixing (CCS</a:t>
                    </a:r>
                    <a:r>
                      <a:rPr lang="en-US" altLang="zh-CN" sz="1400" dirty="0">
                        <a:solidFill>
                          <a:schemeClr val="tx1">
                            <a:lumMod val="75000"/>
                            <a:lumOff val="25000"/>
                          </a:schemeClr>
                        </a:solidFill>
                        <a:latin typeface="+mn-ea"/>
                        <a:sym typeface="+mn-ea"/>
                      </a:rPr>
                      <a:t>'</a:t>
                    </a:r>
                    <a:r>
                      <a:rPr lang="en-US" altLang="zh-CN" sz="1400" dirty="0">
                        <a:solidFill>
                          <a:schemeClr val="tx1">
                            <a:lumMod val="75000"/>
                            <a:lumOff val="25000"/>
                          </a:schemeClr>
                        </a:solidFill>
                        <a:latin typeface="+mn-ea"/>
                      </a:rPr>
                      <a:t>22)</a:t>
                    </a:r>
                  </a:p>
                  <a:p>
                    <a:pPr marL="180000" indent="-180000">
                      <a:lnSpc>
                        <a:spcPct val="130000"/>
                      </a:lnSpc>
                      <a:buFont typeface="Arial" panose="020B0604020202020204" pitchFamily="34" charset="0"/>
                      <a:buChar char="•"/>
                    </a:pPr>
                    <a14:m>
                      <m:oMath xmlns:m="http://schemas.openxmlformats.org/officeDocument/2006/math">
                        <m:sSup>
                          <m:sSupPr>
                            <m:ctrlPr>
                              <a:rPr lang="en-US" altLang="zh-CN" sz="1400" i="1">
                                <a:solidFill>
                                  <a:schemeClr val="tx1">
                                    <a:lumMod val="75000"/>
                                    <a:lumOff val="25000"/>
                                  </a:schemeClr>
                                </a:solidFill>
                                <a:latin typeface="Cambria Math" panose="02040503050406030204" pitchFamily="18" charset="0"/>
                              </a:rPr>
                            </m:ctrlPr>
                          </m:sSupPr>
                          <m:e>
                            <m:r>
                              <a:rPr lang="en-US" altLang="zh-CN" sz="1400" i="1">
                                <a:solidFill>
                                  <a:schemeClr val="tx1">
                                    <a:lumMod val="75000"/>
                                    <a:lumOff val="25000"/>
                                  </a:schemeClr>
                                </a:solidFill>
                                <a:latin typeface="Cambria Math" panose="02040503050406030204" pitchFamily="18" charset="0"/>
                              </a:rPr>
                              <m:t>𝐴</m:t>
                            </m:r>
                          </m:e>
                          <m:sup>
                            <m:r>
                              <a:rPr lang="en-US" altLang="zh-CN" sz="1400" i="1">
                                <a:solidFill>
                                  <a:schemeClr val="tx1">
                                    <a:lumMod val="75000"/>
                                    <a:lumOff val="25000"/>
                                  </a:schemeClr>
                                </a:solidFill>
                                <a:latin typeface="Cambria Math" panose="02040503050406030204" pitchFamily="18" charset="0"/>
                              </a:rPr>
                              <m:t>2</m:t>
                            </m:r>
                          </m:sup>
                        </m:sSup>
                        <m:r>
                          <a:rPr lang="en-US" altLang="zh-CN" sz="1400" i="1">
                            <a:solidFill>
                              <a:schemeClr val="tx1">
                                <a:lumMod val="75000"/>
                                <a:lumOff val="25000"/>
                              </a:schemeClr>
                            </a:solidFill>
                            <a:latin typeface="Cambria Math" panose="02040503050406030204" pitchFamily="18" charset="0"/>
                          </a:rPr>
                          <m:t>𝐿</m:t>
                        </m:r>
                      </m:oMath>
                    </a14:m>
                    <a:r>
                      <a:rPr lang="en-US" altLang="zh-CN" sz="1400" dirty="0">
                        <a:solidFill>
                          <a:schemeClr val="tx1">
                            <a:lumMod val="75000"/>
                            <a:lumOff val="25000"/>
                          </a:schemeClr>
                        </a:solidFill>
                        <a:latin typeface="+mn-ea"/>
                      </a:rPr>
                      <a:t>(SP</a:t>
                    </a:r>
                    <a:r>
                      <a:rPr lang="en-US" altLang="zh-CN" sz="1400" dirty="0">
                        <a:solidFill>
                          <a:schemeClr val="tx1">
                            <a:lumMod val="75000"/>
                            <a:lumOff val="25000"/>
                          </a:schemeClr>
                        </a:solidFill>
                        <a:latin typeface="+mn-ea"/>
                        <a:sym typeface="+mn-ea"/>
                      </a:rPr>
                      <a:t>'21</a:t>
                    </a:r>
                    <a:r>
                      <a:rPr lang="en-US" altLang="zh-CN" sz="1400" dirty="0">
                        <a:solidFill>
                          <a:schemeClr val="tx1">
                            <a:lumMod val="75000"/>
                            <a:lumOff val="25000"/>
                          </a:schemeClr>
                        </a:solidFill>
                        <a:latin typeface="+mn-ea"/>
                      </a:rPr>
                      <a:t>)</a:t>
                    </a:r>
                  </a:p>
                  <a:p>
                    <a:pPr marL="180000" indent="-180000">
                      <a:lnSpc>
                        <a:spcPct val="130000"/>
                      </a:lnSpc>
                      <a:buFont typeface="Arial" panose="020B0604020202020204" pitchFamily="34" charset="0"/>
                      <a:buChar char="•"/>
                    </a:pPr>
                    <a:r>
                      <a:rPr lang="en-US" altLang="zh-CN" sz="1400" dirty="0">
                        <a:solidFill>
                          <a:schemeClr val="tx1">
                            <a:lumMod val="75000"/>
                            <a:lumOff val="25000"/>
                          </a:schemeClr>
                        </a:solidFill>
                        <a:latin typeface="+mn-ea"/>
                      </a:rPr>
                      <a:t>Bolt (CCS</a:t>
                    </a:r>
                    <a:r>
                      <a:rPr lang="en-US" altLang="zh-CN" sz="1400" dirty="0">
                        <a:solidFill>
                          <a:schemeClr val="tx1">
                            <a:lumMod val="75000"/>
                            <a:lumOff val="25000"/>
                          </a:schemeClr>
                        </a:solidFill>
                        <a:latin typeface="+mn-ea"/>
                        <a:sym typeface="+mn-ea"/>
                      </a:rPr>
                      <a:t>'</a:t>
                    </a:r>
                    <a:r>
                      <a:rPr lang="en-US" altLang="zh-CN" sz="1400" dirty="0">
                        <a:solidFill>
                          <a:schemeClr val="tx1">
                            <a:lumMod val="75000"/>
                            <a:lumOff val="25000"/>
                          </a:schemeClr>
                        </a:solidFill>
                        <a:latin typeface="+mn-ea"/>
                      </a:rPr>
                      <a:t>17)</a:t>
                    </a:r>
                    <a:endParaRPr lang="zh-CN" altLang="en-US" sz="1400" dirty="0">
                      <a:solidFill>
                        <a:schemeClr val="tx1">
                          <a:lumMod val="75000"/>
                          <a:lumOff val="25000"/>
                        </a:schemeClr>
                      </a:solidFill>
                      <a:latin typeface="+mn-ea"/>
                    </a:endParaRPr>
                  </a:p>
                </p:txBody>
              </p:sp>
            </mc:Choice>
            <mc:Fallback xmlns="">
              <p:sp>
                <p:nvSpPr>
                  <p:cNvPr id="13" name="Body-2">
                    <a:extLst>
                      <a:ext uri="{FF2B5EF4-FFF2-40B4-BE49-F238E27FC236}">
                        <a16:creationId xmlns:a16="http://schemas.microsoft.com/office/drawing/2014/main" id="{E33B5C70-83C6-472B-E28F-3C49729B4170}"/>
                      </a:ext>
                    </a:extLst>
                  </p:cNvPr>
                  <p:cNvSpPr txBox="1">
                    <a:spLocks noRot="1" noChangeAspect="1" noMove="1" noResize="1" noEditPoints="1" noAdjustHandles="1" noChangeArrowheads="1" noChangeShapeType="1" noTextEdit="1"/>
                  </p:cNvSpPr>
                  <p:nvPr>
                    <p:custDataLst>
                      <p:tags r:id="rId21"/>
                    </p:custDataLst>
                  </p:nvPr>
                </p:nvSpPr>
                <p:spPr>
                  <a:xfrm flipV="1">
                    <a:off x="1238050" y="4263681"/>
                    <a:ext cx="2177143" cy="1508556"/>
                  </a:xfrm>
                  <a:prstGeom prst="rect">
                    <a:avLst/>
                  </a:prstGeom>
                  <a:blipFill>
                    <a:blip r:embed="rId22"/>
                    <a:stretch>
                      <a:fillRect l="-287" r="-1433" b="-3320"/>
                    </a:stretch>
                  </a:blipFill>
                </p:spPr>
                <p:txBody>
                  <a:bodyPr/>
                  <a:lstStyle/>
                  <a:p>
                    <a:r>
                      <a:rPr lang="zh-CN" altLang="en-US">
                        <a:noFill/>
                      </a:rPr>
                      <a:t> </a:t>
                    </a:r>
                  </a:p>
                </p:txBody>
              </p:sp>
            </mc:Fallback>
          </mc:AlternateContent>
          <p:sp>
            <p:nvSpPr>
              <p:cNvPr id="14" name="Title-2">
                <a:extLst>
                  <a:ext uri="{FF2B5EF4-FFF2-40B4-BE49-F238E27FC236}">
                    <a16:creationId xmlns:a16="http://schemas.microsoft.com/office/drawing/2014/main" id="{827B9F49-BD30-4AEE-1FCE-718F251E1301}"/>
                  </a:ext>
                </a:extLst>
              </p:cNvPr>
              <p:cNvSpPr txBox="1"/>
              <p:nvPr>
                <p:custDataLst>
                  <p:tags r:id="rId11"/>
                </p:custDataLst>
              </p:nvPr>
            </p:nvSpPr>
            <p:spPr>
              <a:xfrm flipV="1">
                <a:off x="1338072" y="3713295"/>
                <a:ext cx="1350386" cy="662524"/>
              </a:xfrm>
              <a:prstGeom prst="rect">
                <a:avLst/>
              </a:prstGeom>
              <a:noFill/>
            </p:spPr>
            <p:txBody>
              <a:bodyPr wrap="square">
                <a:spAutoFit/>
              </a:bodyPr>
              <a:lstStyle>
                <a:defPPr>
                  <a:defRPr lang="zh-CN"/>
                </a:defPPr>
                <a:lvl1pPr algn="ctr">
                  <a:defRPr sz="4000" b="1">
                    <a:gradFill>
                      <a:gsLst>
                        <a:gs pos="7000">
                          <a:schemeClr val="accent2"/>
                        </a:gs>
                        <a:gs pos="100000">
                          <a:schemeClr val="accent1"/>
                        </a:gs>
                      </a:gsLst>
                      <a:lin ang="2700000" scaled="0"/>
                    </a:gradFill>
                  </a:defRPr>
                </a:lvl1pPr>
              </a:lstStyle>
              <a:p>
                <a:pPr algn="l"/>
                <a:r>
                  <a:rPr lang="en-US" altLang="zh-CN" sz="1800" dirty="0" err="1"/>
                  <a:t>Tumbit</a:t>
                </a:r>
                <a:r>
                  <a:rPr lang="en-US" altLang="zh-CN" sz="1800" dirty="0"/>
                  <a:t> (NDSS</a:t>
                </a:r>
                <a:r>
                  <a:rPr lang="en-US" altLang="zh-CN" sz="1800" dirty="0">
                    <a:sym typeface="+mn-ea"/>
                  </a:rPr>
                  <a:t>'</a:t>
                </a:r>
                <a:r>
                  <a:rPr lang="en-US" altLang="zh-CN" sz="1800" dirty="0"/>
                  <a:t>17)</a:t>
                </a:r>
                <a:endParaRPr lang="zh-CN" altLang="en-US" sz="1800" dirty="0"/>
              </a:p>
            </p:txBody>
          </p:sp>
          <p:sp>
            <p:nvSpPr>
              <p:cNvPr id="16" name="2">
                <a:extLst>
                  <a:ext uri="{FF2B5EF4-FFF2-40B4-BE49-F238E27FC236}">
                    <a16:creationId xmlns:a16="http://schemas.microsoft.com/office/drawing/2014/main" id="{9E12DEE0-7AC1-218F-B8BC-5842BC87F943}"/>
                  </a:ext>
                </a:extLst>
              </p:cNvPr>
              <p:cNvSpPr/>
              <p:nvPr/>
            </p:nvSpPr>
            <p:spPr>
              <a:xfrm>
                <a:off x="1138029" y="3763112"/>
                <a:ext cx="200043" cy="200043"/>
              </a:xfrm>
              <a:prstGeom prst="ellipse">
                <a:avLst/>
              </a:prstGeom>
              <a:gradFill flip="none" rotWithShape="1">
                <a:gsLst>
                  <a:gs pos="69000">
                    <a:schemeClr val="accent2"/>
                  </a:gs>
                  <a:gs pos="8000">
                    <a:schemeClr val="accent1"/>
                  </a:gs>
                </a:gsLst>
                <a:path path="circle">
                  <a:fillToRect l="100000" t="100000"/>
                </a:path>
                <a:tileRect r="-100000" b="-100000"/>
              </a:gradFill>
              <a:ln w="31750">
                <a:solidFill>
                  <a:schemeClr val="bg1"/>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2">
                <a:extLst>
                  <a:ext uri="{FF2B5EF4-FFF2-40B4-BE49-F238E27FC236}">
                    <a16:creationId xmlns:a16="http://schemas.microsoft.com/office/drawing/2014/main" id="{A776C659-738D-15C6-F8B0-D7AB628EB2AE}"/>
                  </a:ext>
                </a:extLst>
              </p:cNvPr>
              <p:cNvCxnSpPr>
                <a:cxnSpLocks/>
              </p:cNvCxnSpPr>
              <p:nvPr/>
            </p:nvCxnSpPr>
            <p:spPr>
              <a:xfrm>
                <a:off x="1238050" y="4014024"/>
                <a:ext cx="0" cy="1514006"/>
              </a:xfrm>
              <a:prstGeom prst="line">
                <a:avLst/>
              </a:prstGeom>
              <a:ln w="9525">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grpSp>
      </p:grpSp>
      <p:sp>
        <p:nvSpPr>
          <p:cNvPr id="47" name="文本框 46">
            <a:extLst>
              <a:ext uri="{FF2B5EF4-FFF2-40B4-BE49-F238E27FC236}">
                <a16:creationId xmlns:a16="http://schemas.microsoft.com/office/drawing/2014/main" id="{703A3E5E-68F1-1076-F8AC-D5143F24EACE}"/>
              </a:ext>
            </a:extLst>
          </p:cNvPr>
          <p:cNvSpPr txBox="1"/>
          <p:nvPr/>
        </p:nvSpPr>
        <p:spPr>
          <a:xfrm>
            <a:off x="11736779" y="6499761"/>
            <a:ext cx="455221" cy="369332"/>
          </a:xfrm>
          <a:prstGeom prst="rect">
            <a:avLst/>
          </a:prstGeom>
          <a:noFill/>
        </p:spPr>
        <p:txBody>
          <a:bodyPr wrap="square" rtlCol="0">
            <a:spAutoFit/>
          </a:bodyPr>
          <a:lstStyle/>
          <a:p>
            <a:pPr algn="ctr"/>
            <a:r>
              <a:rPr lang="en-US" altLang="zh-CN" dirty="0"/>
              <a:t>19</a:t>
            </a:r>
            <a:endParaRPr lang="zh-CN" altLang="en-US" dirty="0"/>
          </a:p>
        </p:txBody>
      </p:sp>
    </p:spTree>
    <p:custDataLst>
      <p:tags r:id="rId1"/>
    </p:custDataLst>
    <p:extLst>
      <p:ext uri="{BB962C8B-B14F-4D97-AF65-F5344CB8AC3E}">
        <p14:creationId xmlns:p14="http://schemas.microsoft.com/office/powerpoint/2010/main" val="4209430356"/>
      </p:ext>
    </p:extLst>
  </p:cSld>
  <p:clrMapOvr>
    <a:masterClrMapping/>
  </p:clrMapOvr>
  <mc:AlternateContent xmlns:mc="http://schemas.openxmlformats.org/markup-compatibility/2006" xmlns:p14="http://schemas.microsoft.com/office/powerpoint/2010/main">
    <mc:Choice Requires="p14">
      <p:transition spd="med"/>
    </mc:Choice>
    <mc:Fallback xmlns="">
      <p:transition spd="med"/>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8" name="矩形 17"/>
          <p:cNvSpPr/>
          <p:nvPr>
            <p:custDataLst>
              <p:tags r:id="rId2"/>
            </p:custDataLst>
          </p:nvPr>
        </p:nvSpPr>
        <p:spPr>
          <a:xfrm>
            <a:off x="3871595" y="-635"/>
            <a:ext cx="19907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custDataLst>
              <p:tags r:id="rId3"/>
            </p:custDataLst>
          </p:nvPr>
        </p:nvSpPr>
        <p:spPr>
          <a:xfrm>
            <a:off x="3871595" y="-635"/>
            <a:ext cx="1990725"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custDataLst>
              <p:tags r:id="rId4"/>
            </p:custDataLst>
          </p:nvPr>
        </p:nvSpPr>
        <p:spPr>
          <a:xfrm>
            <a:off x="5862320" y="-635"/>
            <a:ext cx="311594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664970" y="-635"/>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5"/>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p>
        </p:txBody>
      </p:sp>
      <p:pic>
        <p:nvPicPr>
          <p:cNvPr id="21" name="Picture 2" descr="C:\Program Files\Apache Software Foundation\Tomcat 6.0\webapps\topo1\images\sklois1 (2).jpg"/>
          <p:cNvPicPr>
            <a:picLocks noChangeAspect="1" noChangeArrowheads="1"/>
          </p:cNvPicPr>
          <p:nvPr>
            <p:custDataLst>
              <p:tags r:id="rId6"/>
            </p:custDataLst>
          </p:nvPr>
        </p:nvPicPr>
        <p:blipFill>
          <a:blip r:embed="rId15"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 name="等腰三角形 14"/>
          <p:cNvSpPr/>
          <p:nvPr>
            <p:custDataLst>
              <p:tags r:id="rId7"/>
            </p:custDataLst>
          </p:nvPr>
        </p:nvSpPr>
        <p:spPr>
          <a:xfrm rot="10800000">
            <a:off x="4591050" y="721360"/>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custDataLst>
              <p:tags r:id="rId8"/>
            </p:custDataLst>
          </p:nvPr>
        </p:nvSpPr>
        <p:spPr>
          <a:xfrm>
            <a:off x="408305" y="949960"/>
            <a:ext cx="6323965" cy="460375"/>
          </a:xfrm>
          <a:prstGeom prst="rect">
            <a:avLst/>
          </a:prstGeom>
          <a:noFill/>
        </p:spPr>
        <p:txBody>
          <a:bodyPr wrap="square" rtlCol="0">
            <a:spAutoFit/>
          </a:bodyPr>
          <a:lstStyle/>
          <a:p>
            <a:pPr marL="457200" indent="-457200">
              <a:buFont typeface="+mj-lt"/>
              <a:buAutoNum type="arabicPeriod" startAt="3"/>
            </a:pPr>
            <a:r>
              <a:rPr lang="zh-CN" altLang="en-US"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跨链数字资产交易协议证明机制</a:t>
            </a:r>
          </a:p>
        </p:txBody>
      </p:sp>
      <p:sp>
        <p:nvSpPr>
          <p:cNvPr id="74" name="矩形 73"/>
          <p:cNvSpPr/>
          <p:nvPr/>
        </p:nvSpPr>
        <p:spPr>
          <a:xfrm>
            <a:off x="713740" y="2551430"/>
            <a:ext cx="1399540" cy="43307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4579A"/>
                </a:solidFill>
              </a:rPr>
              <a:t>最长链证明</a:t>
            </a:r>
          </a:p>
        </p:txBody>
      </p:sp>
      <p:sp>
        <p:nvSpPr>
          <p:cNvPr id="76" name="矩形 75"/>
          <p:cNvSpPr/>
          <p:nvPr>
            <p:custDataLst>
              <p:tags r:id="rId9"/>
            </p:custDataLst>
          </p:nvPr>
        </p:nvSpPr>
        <p:spPr>
          <a:xfrm>
            <a:off x="713740" y="3111499"/>
            <a:ext cx="1399540" cy="57161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4579A"/>
                </a:solidFill>
              </a:rPr>
              <a:t>有效区块</a:t>
            </a:r>
            <a:endParaRPr lang="en-US" altLang="zh-CN" dirty="0">
              <a:solidFill>
                <a:srgbClr val="04579A"/>
              </a:solidFill>
            </a:endParaRPr>
          </a:p>
          <a:p>
            <a:pPr algn="ctr"/>
            <a:r>
              <a:rPr lang="zh-CN" altLang="en-US" dirty="0">
                <a:solidFill>
                  <a:srgbClr val="04579A"/>
                </a:solidFill>
              </a:rPr>
              <a:t>证明</a:t>
            </a:r>
          </a:p>
        </p:txBody>
      </p:sp>
      <p:sp>
        <p:nvSpPr>
          <p:cNvPr id="78" name="矩形 77"/>
          <p:cNvSpPr/>
          <p:nvPr>
            <p:custDataLst>
              <p:tags r:id="rId10"/>
            </p:custDataLst>
          </p:nvPr>
        </p:nvSpPr>
        <p:spPr>
          <a:xfrm>
            <a:off x="713740" y="4550732"/>
            <a:ext cx="1399540" cy="57161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4579A"/>
                </a:solidFill>
              </a:rPr>
              <a:t>交易内数据</a:t>
            </a:r>
            <a:endParaRPr lang="en-US" altLang="zh-CN" dirty="0">
              <a:solidFill>
                <a:srgbClr val="04579A"/>
              </a:solidFill>
            </a:endParaRPr>
          </a:p>
          <a:p>
            <a:pPr algn="ctr"/>
            <a:r>
              <a:rPr lang="zh-CN" altLang="en-US" dirty="0">
                <a:solidFill>
                  <a:srgbClr val="04579A"/>
                </a:solidFill>
              </a:rPr>
              <a:t>正确性证明</a:t>
            </a:r>
          </a:p>
        </p:txBody>
      </p:sp>
      <p:sp>
        <p:nvSpPr>
          <p:cNvPr id="79" name="矩形 78"/>
          <p:cNvSpPr/>
          <p:nvPr>
            <p:custDataLst>
              <p:tags r:id="rId11"/>
            </p:custDataLst>
          </p:nvPr>
        </p:nvSpPr>
        <p:spPr>
          <a:xfrm>
            <a:off x="2276475" y="2551430"/>
            <a:ext cx="1400175" cy="2570916"/>
          </a:xfrm>
          <a:prstGeom prst="rect">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跨链证明</a:t>
            </a:r>
          </a:p>
        </p:txBody>
      </p:sp>
      <p:sp>
        <p:nvSpPr>
          <p:cNvPr id="80" name="文本框 79"/>
          <p:cNvSpPr txBox="1"/>
          <p:nvPr/>
        </p:nvSpPr>
        <p:spPr>
          <a:xfrm>
            <a:off x="4212021" y="2415184"/>
            <a:ext cx="7418070" cy="3252750"/>
          </a:xfrm>
          <a:prstGeom prst="rect">
            <a:avLst/>
          </a:prstGeom>
          <a:noFill/>
        </p:spPr>
        <p:txBody>
          <a:bodyPr wrap="square" rtlCol="0">
            <a:spAutoFit/>
          </a:bodyPr>
          <a:lstStyle/>
          <a:p>
            <a:pPr marL="285750" indent="-285750" fontAlgn="auto">
              <a:lnSpc>
                <a:spcPct val="120000"/>
              </a:lnSpc>
              <a:buFont typeface="Arial" panose="020B0604020202020204" pitchFamily="34" charset="0"/>
              <a:buChar char="•"/>
            </a:pPr>
            <a:r>
              <a:rPr lang="zh-CN" altLang="en-US" sz="2400" b="1" dirty="0"/>
              <a:t>基于</a:t>
            </a:r>
            <a:r>
              <a:rPr lang="en-US" altLang="zh-CN" sz="2400" b="1" dirty="0"/>
              <a:t>SPV</a:t>
            </a:r>
            <a:r>
              <a:rPr lang="zh-CN" altLang="en-US" sz="2400" b="1" dirty="0"/>
              <a:t>和轻客户端</a:t>
            </a:r>
            <a:endParaRPr lang="en-US" altLang="zh-CN" sz="2000" b="1" dirty="0">
              <a:solidFill>
                <a:srgbClr val="04579A"/>
              </a:solidFill>
              <a:latin typeface="微软雅黑" panose="020B0503020204020204" charset="-122"/>
              <a:ea typeface="微软雅黑" panose="020B0503020204020204" charset="-122"/>
              <a:cs typeface="微软雅黑" panose="020B0503020204020204" charset="-122"/>
            </a:endParaRPr>
          </a:p>
          <a:p>
            <a:pPr indent="457200" fontAlgn="auto">
              <a:lnSpc>
                <a:spcPct val="120000"/>
              </a:lnSpc>
              <a:spcAft>
                <a:spcPts val="600"/>
              </a:spcAft>
            </a:pPr>
            <a:r>
              <a:rPr lang="zh-CN" altLang="en-US" dirty="0">
                <a:latin typeface="微软雅黑" panose="020B0503020204020204" charset="-122"/>
                <a:ea typeface="微软雅黑" panose="020B0503020204020204" charset="-122"/>
                <a:cs typeface="微软雅黑" panose="020B0503020204020204" charset="-122"/>
              </a:rPr>
              <a:t>轻客户端在链上仅存储和验证区块头，跨链验证时：</a:t>
            </a:r>
            <a:endParaRPr lang="en-US" altLang="zh-CN" dirty="0">
              <a:latin typeface="微软雅黑" panose="020B0503020204020204" charset="-122"/>
              <a:ea typeface="微软雅黑" panose="020B0503020204020204" charset="-122"/>
              <a:cs typeface="微软雅黑" panose="020B0503020204020204" charset="-122"/>
            </a:endParaRPr>
          </a:p>
          <a:p>
            <a:pPr marL="742950" lvl="1" indent="-285750">
              <a:lnSpc>
                <a:spcPct val="120000"/>
              </a:lnSpc>
              <a:spcAft>
                <a:spcPts val="600"/>
              </a:spcAft>
              <a:buFont typeface="Arial" panose="020B0604020202020204" pitchFamily="34" charset="0"/>
              <a:buChar char="•"/>
            </a:pPr>
            <a:r>
              <a:rPr lang="zh-CN" altLang="en-US" dirty="0">
                <a:latin typeface="微软雅黑" panose="020B0503020204020204" charset="-122"/>
                <a:ea typeface="微软雅黑" panose="020B0503020204020204" charset="-122"/>
                <a:cs typeface="微软雅黑" panose="020B0503020204020204" charset="-122"/>
              </a:rPr>
              <a:t>基于</a:t>
            </a:r>
            <a:r>
              <a:rPr lang="en-US" altLang="zh-CN" dirty="0">
                <a:latin typeface="微软雅黑" panose="020B0503020204020204" charset="-122"/>
                <a:ea typeface="微软雅黑" panose="020B0503020204020204" charset="-122"/>
                <a:cs typeface="微软雅黑" panose="020B0503020204020204" charset="-122"/>
              </a:rPr>
              <a:t>PoW</a:t>
            </a:r>
            <a:r>
              <a:rPr lang="zh-CN" altLang="en-US" dirty="0">
                <a:latin typeface="微软雅黑" panose="020B0503020204020204" charset="-122"/>
                <a:ea typeface="微软雅黑" panose="020B0503020204020204" charset="-122"/>
                <a:cs typeface="微软雅黑" panose="020B0503020204020204" charset="-122"/>
              </a:rPr>
              <a:t>机制的最长链证明（和链长线性相关）</a:t>
            </a:r>
            <a:endParaRPr lang="en-US" altLang="zh-CN" dirty="0">
              <a:latin typeface="微软雅黑" panose="020B0503020204020204" charset="-122"/>
              <a:ea typeface="微软雅黑" panose="020B0503020204020204" charset="-122"/>
              <a:cs typeface="微软雅黑" panose="020B0503020204020204" charset="-122"/>
            </a:endParaRPr>
          </a:p>
          <a:p>
            <a:pPr marL="742950" lvl="1" indent="-285750">
              <a:lnSpc>
                <a:spcPct val="120000"/>
              </a:lnSpc>
              <a:spcAft>
                <a:spcPts val="600"/>
              </a:spcAft>
              <a:buFont typeface="Arial" panose="020B0604020202020204" pitchFamily="34" charset="0"/>
              <a:buChar char="•"/>
            </a:pPr>
            <a:r>
              <a:rPr lang="zh-CN" altLang="en-US" dirty="0">
                <a:latin typeface="微软雅黑" panose="020B0503020204020204" charset="-122"/>
                <a:ea typeface="微软雅黑" panose="020B0503020204020204" charset="-122"/>
                <a:cs typeface="微软雅黑" panose="020B0503020204020204" charset="-122"/>
              </a:rPr>
              <a:t>交易所在区块的</a:t>
            </a:r>
            <a:r>
              <a:rPr lang="en-US" altLang="zh-CN" dirty="0">
                <a:latin typeface="微软雅黑" panose="020B0503020204020204" charset="-122"/>
                <a:ea typeface="微软雅黑" panose="020B0503020204020204" charset="-122"/>
                <a:cs typeface="微软雅黑" panose="020B0503020204020204" charset="-122"/>
              </a:rPr>
              <a:t>Merkle Tree</a:t>
            </a:r>
            <a:r>
              <a:rPr lang="zh-CN" altLang="en-US" dirty="0">
                <a:latin typeface="微软雅黑" panose="020B0503020204020204" charset="-122"/>
                <a:ea typeface="微软雅黑" panose="020B0503020204020204" charset="-122"/>
                <a:cs typeface="微软雅黑" panose="020B0503020204020204" charset="-122"/>
              </a:rPr>
              <a:t>证明</a:t>
            </a:r>
            <a:endParaRPr lang="en-US" altLang="zh-CN" dirty="0">
              <a:latin typeface="微软雅黑" panose="020B0503020204020204" charset="-122"/>
              <a:ea typeface="微软雅黑" panose="020B0503020204020204" charset="-122"/>
              <a:cs typeface="微软雅黑" panose="020B0503020204020204" charset="-122"/>
            </a:endParaRPr>
          </a:p>
          <a:p>
            <a:pPr indent="457200" fontAlgn="auto">
              <a:lnSpc>
                <a:spcPct val="120000"/>
              </a:lnSpc>
              <a:spcAft>
                <a:spcPts val="600"/>
              </a:spcAft>
            </a:pPr>
            <a:endParaRPr lang="en-US" altLang="zh-CN" dirty="0">
              <a:latin typeface="微软雅黑" panose="020B0503020204020204" charset="-122"/>
              <a:ea typeface="微软雅黑" panose="020B0503020204020204" charset="-122"/>
              <a:cs typeface="微软雅黑" panose="020B0503020204020204" charset="-122"/>
            </a:endParaRPr>
          </a:p>
          <a:p>
            <a:pPr marL="285750" indent="-285750" fontAlgn="auto">
              <a:lnSpc>
                <a:spcPct val="120000"/>
              </a:lnSpc>
              <a:buFont typeface="Arial" panose="020B0604020202020204" pitchFamily="34" charset="0"/>
              <a:buChar char="•"/>
            </a:pPr>
            <a:r>
              <a:rPr lang="zh-CN" altLang="en-US" sz="2400" b="1" dirty="0">
                <a:latin typeface="微软雅黑" panose="020B0503020204020204" charset="-122"/>
                <a:ea typeface="微软雅黑" panose="020B0503020204020204" charset="-122"/>
                <a:cs typeface="微软雅黑" panose="020B0503020204020204" charset="-122"/>
              </a:rPr>
              <a:t>基于零知识证明</a:t>
            </a:r>
            <a:endParaRPr lang="en-US" altLang="zh-CN" sz="2000" b="1" dirty="0">
              <a:solidFill>
                <a:srgbClr val="04579A"/>
              </a:solidFill>
              <a:latin typeface="微软雅黑" panose="020B0503020204020204" charset="-122"/>
              <a:ea typeface="微软雅黑" panose="020B0503020204020204" charset="-122"/>
              <a:cs typeface="微软雅黑" panose="020B0503020204020204" charset="-122"/>
            </a:endParaRPr>
          </a:p>
          <a:p>
            <a:pPr fontAlgn="auto">
              <a:lnSpc>
                <a:spcPct val="120000"/>
              </a:lnSpc>
            </a:pPr>
            <a:r>
              <a:rPr lang="en-US" altLang="zh-CN" dirty="0">
                <a:latin typeface="微软雅黑" panose="020B0503020204020204" charset="-122"/>
                <a:ea typeface="微软雅黑" panose="020B0503020204020204" charset="-122"/>
                <a:cs typeface="微软雅黑" panose="020B0503020204020204" charset="-122"/>
              </a:rPr>
              <a:t>       </a:t>
            </a:r>
            <a:r>
              <a:rPr lang="zh-CN" altLang="en-US" dirty="0">
                <a:latin typeface="微软雅黑" panose="020B0503020204020204" charset="-122"/>
                <a:ea typeface="微软雅黑" panose="020B0503020204020204" charset="-122"/>
                <a:cs typeface="微软雅黑" panose="020B0503020204020204" charset="-122"/>
              </a:rPr>
              <a:t>针对特定区块链结构设计零知识证明方案，跨链验证时：</a:t>
            </a:r>
            <a:endParaRPr lang="en-US" altLang="zh-CN" dirty="0">
              <a:latin typeface="微软雅黑" panose="020B0503020204020204" charset="-122"/>
              <a:ea typeface="微软雅黑" panose="020B0503020204020204" charset="-122"/>
              <a:cs typeface="微软雅黑" panose="020B0503020204020204" charset="-122"/>
            </a:endParaRPr>
          </a:p>
          <a:p>
            <a:pPr fontAlgn="auto">
              <a:lnSpc>
                <a:spcPct val="120000"/>
              </a:lnSpc>
            </a:pPr>
            <a:r>
              <a:rPr lang="en-US" altLang="zh-CN" dirty="0">
                <a:latin typeface="微软雅黑" panose="020B0503020204020204" charset="-122"/>
                <a:ea typeface="微软雅黑" panose="020B0503020204020204" charset="-122"/>
                <a:cs typeface="微软雅黑" panose="020B0503020204020204" charset="-122"/>
              </a:rPr>
              <a:t>       </a:t>
            </a:r>
            <a:r>
              <a:rPr lang="zh-CN" altLang="en-US" dirty="0">
                <a:latin typeface="微软雅黑" panose="020B0503020204020204" charset="-122"/>
                <a:ea typeface="微软雅黑" panose="020B0503020204020204" charset="-122"/>
                <a:cs typeface="微软雅黑" panose="020B0503020204020204" charset="-122"/>
              </a:rPr>
              <a:t>在链下计算得到零知识证明</a:t>
            </a:r>
            <a:endParaRPr lang="en-US" altLang="zh-CN" dirty="0">
              <a:latin typeface="微软雅黑" panose="020B0503020204020204" charset="-122"/>
              <a:ea typeface="微软雅黑" panose="020B0503020204020204" charset="-122"/>
              <a:cs typeface="微软雅黑" panose="020B0503020204020204" charset="-122"/>
            </a:endParaRPr>
          </a:p>
        </p:txBody>
      </p:sp>
      <p:sp>
        <p:nvSpPr>
          <p:cNvPr id="6" name="矩形 5">
            <a:extLst>
              <a:ext uri="{FF2B5EF4-FFF2-40B4-BE49-F238E27FC236}">
                <a16:creationId xmlns:a16="http://schemas.microsoft.com/office/drawing/2014/main" id="{42DDADFB-3730-3941-E768-34BDDD3B6EF0}"/>
              </a:ext>
            </a:extLst>
          </p:cNvPr>
          <p:cNvSpPr/>
          <p:nvPr>
            <p:custDataLst>
              <p:tags r:id="rId12"/>
            </p:custDataLst>
          </p:nvPr>
        </p:nvSpPr>
        <p:spPr>
          <a:xfrm>
            <a:off x="713740" y="3841864"/>
            <a:ext cx="1399540" cy="57161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4579A"/>
                </a:solidFill>
              </a:rPr>
              <a:t>交易有效性证明</a:t>
            </a:r>
          </a:p>
        </p:txBody>
      </p:sp>
      <p:sp>
        <p:nvSpPr>
          <p:cNvPr id="7" name="文本框 6">
            <a:extLst>
              <a:ext uri="{FF2B5EF4-FFF2-40B4-BE49-F238E27FC236}">
                <a16:creationId xmlns:a16="http://schemas.microsoft.com/office/drawing/2014/main" id="{D2DFC2FC-B2F4-5E00-4B2D-0C66D3BD3239}"/>
              </a:ext>
            </a:extLst>
          </p:cNvPr>
          <p:cNvSpPr txBox="1"/>
          <p:nvPr/>
        </p:nvSpPr>
        <p:spPr>
          <a:xfrm>
            <a:off x="11736779" y="6499761"/>
            <a:ext cx="455221" cy="369332"/>
          </a:xfrm>
          <a:prstGeom prst="rect">
            <a:avLst/>
          </a:prstGeom>
          <a:noFill/>
        </p:spPr>
        <p:txBody>
          <a:bodyPr wrap="square" rtlCol="0">
            <a:spAutoFit/>
          </a:bodyPr>
          <a:lstStyle/>
          <a:p>
            <a:pPr algn="ctr"/>
            <a:r>
              <a:rPr lang="en-US" altLang="zh-CN" dirty="0"/>
              <a:t>20</a:t>
            </a:r>
            <a:endParaRPr lang="zh-CN" alt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mc:Choice>
    <mc:Fallback xmlns="">
      <p:transition spd="med"/>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0">
  <p:cSld>
    <p:bg>
      <p:bgPr>
        <a:noFill/>
        <a:effectLst/>
      </p:bgPr>
    </p:bg>
    <p:spTree>
      <p:nvGrpSpPr>
        <p:cNvPr id="1" name=""/>
        <p:cNvGrpSpPr/>
        <p:nvPr/>
      </p:nvGrpSpPr>
      <p:grpSpPr>
        <a:xfrm>
          <a:off x="0" y="0"/>
          <a:ext cx="0" cy="0"/>
          <a:chOff x="0" y="0"/>
          <a:chExt cx="0" cy="0"/>
        </a:xfrm>
      </p:grpSpPr>
      <p:sp>
        <p:nvSpPr>
          <p:cNvPr id="80" name="文本框 79"/>
          <p:cNvSpPr txBox="1"/>
          <p:nvPr/>
        </p:nvSpPr>
        <p:spPr>
          <a:xfrm>
            <a:off x="5939790" y="1898015"/>
            <a:ext cx="1409065" cy="369332"/>
          </a:xfrm>
          <a:prstGeom prst="rect">
            <a:avLst/>
          </a:prstGeom>
          <a:ln w="31750">
            <a:solidFill>
              <a:schemeClr val="accent3">
                <a:lumMod val="75000"/>
              </a:schemeClr>
            </a:solidFill>
          </a:ln>
          <a:effectLst>
            <a:outerShdw blurRad="50800" dist="38100" dir="10800000" algn="r"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zh-CN" altLang="en-US" dirty="0"/>
              <a:t>基于零知识</a:t>
            </a:r>
            <a:endParaRPr lang="en-US" altLang="zh-CN" dirty="0"/>
          </a:p>
        </p:txBody>
      </p:sp>
      <p:sp>
        <p:nvSpPr>
          <p:cNvPr id="79" name="文本框 78"/>
          <p:cNvSpPr txBox="1"/>
          <p:nvPr/>
        </p:nvSpPr>
        <p:spPr>
          <a:xfrm>
            <a:off x="4530725" y="1892300"/>
            <a:ext cx="1409065" cy="368300"/>
          </a:xfrm>
          <a:prstGeom prst="rect">
            <a:avLst/>
          </a:prstGeom>
          <a:ln w="31750">
            <a:solidFill>
              <a:srgbClr val="04579A"/>
            </a:solidFill>
          </a:ln>
          <a:effectLst>
            <a:outerShdw blurRad="50800" dist="38100" dir="10800000" algn="r"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zh-CN" altLang="en-US" dirty="0"/>
              <a:t>基于</a:t>
            </a:r>
            <a:r>
              <a:rPr lang="en-US" altLang="zh-CN" dirty="0"/>
              <a:t>SPV</a:t>
            </a:r>
          </a:p>
        </p:txBody>
      </p:sp>
      <p:sp>
        <p:nvSpPr>
          <p:cNvPr id="18" name="矩形 17"/>
          <p:cNvSpPr/>
          <p:nvPr>
            <p:custDataLst>
              <p:tags r:id="rId2"/>
            </p:custDataLst>
          </p:nvPr>
        </p:nvSpPr>
        <p:spPr>
          <a:xfrm>
            <a:off x="3871595" y="-635"/>
            <a:ext cx="19907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custDataLst>
              <p:tags r:id="rId3"/>
            </p:custDataLst>
          </p:nvPr>
        </p:nvSpPr>
        <p:spPr>
          <a:xfrm>
            <a:off x="3871595" y="-635"/>
            <a:ext cx="1990725"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custDataLst>
              <p:tags r:id="rId4"/>
            </p:custDataLst>
          </p:nvPr>
        </p:nvSpPr>
        <p:spPr>
          <a:xfrm>
            <a:off x="5862320" y="-635"/>
            <a:ext cx="311594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664970" y="-635"/>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5"/>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p>
        </p:txBody>
      </p:sp>
      <p:pic>
        <p:nvPicPr>
          <p:cNvPr id="21" name="Picture 2" descr="C:\Program Files\Apache Software Foundation\Tomcat 6.0\webapps\topo1\images\sklois1 (2).jpg"/>
          <p:cNvPicPr>
            <a:picLocks noChangeAspect="1" noChangeArrowheads="1"/>
          </p:cNvPicPr>
          <p:nvPr>
            <p:custDataLst>
              <p:tags r:id="rId6"/>
            </p:custDataLst>
          </p:nvPr>
        </p:nvPicPr>
        <p:blipFill>
          <a:blip r:embed="rId11"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 name="等腰三角形 14"/>
          <p:cNvSpPr/>
          <p:nvPr>
            <p:custDataLst>
              <p:tags r:id="rId7"/>
            </p:custDataLst>
          </p:nvPr>
        </p:nvSpPr>
        <p:spPr>
          <a:xfrm rot="10800000">
            <a:off x="4591050" y="721360"/>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6" name="直接连接符 45"/>
          <p:cNvCxnSpPr/>
          <p:nvPr/>
        </p:nvCxnSpPr>
        <p:spPr>
          <a:xfrm>
            <a:off x="5939790" y="1584325"/>
            <a:ext cx="0" cy="4516755"/>
          </a:xfrm>
          <a:prstGeom prst="line">
            <a:avLst/>
          </a:prstGeom>
          <a:ln w="635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a:xfrm>
            <a:off x="1405890" y="2552065"/>
            <a:ext cx="4064000" cy="398780"/>
          </a:xfrm>
          <a:prstGeom prst="rect">
            <a:avLst/>
          </a:prstGeom>
          <a:noFill/>
        </p:spPr>
        <p:txBody>
          <a:bodyPr wrap="square" rtlCol="0">
            <a:spAutoFit/>
          </a:bodyPr>
          <a:lstStyle/>
          <a:p>
            <a:r>
              <a:rPr lang="en-US" altLang="zh-CN" sz="2000" b="1" dirty="0" err="1">
                <a:solidFill>
                  <a:srgbClr val="04579A"/>
                </a:solidFill>
                <a:latin typeface="微软雅黑" panose="020B0503020204020204" charset="-122"/>
                <a:ea typeface="微软雅黑" panose="020B0503020204020204" charset="-122"/>
              </a:rPr>
              <a:t>Flyclient</a:t>
            </a:r>
            <a:r>
              <a:rPr lang="en-US" altLang="zh-CN" sz="2000" b="1" dirty="0">
                <a:solidFill>
                  <a:srgbClr val="04579A"/>
                </a:solidFill>
                <a:latin typeface="微软雅黑" panose="020B0503020204020204" charset="-122"/>
                <a:ea typeface="微软雅黑" panose="020B0503020204020204" charset="-122"/>
              </a:rPr>
              <a:t> SP</a:t>
            </a:r>
            <a:r>
              <a:rPr lang="en-US" altLang="zh-CN" sz="2000" b="1" dirty="0">
                <a:solidFill>
                  <a:srgbClr val="04579A"/>
                </a:solidFill>
                <a:latin typeface="微软雅黑" panose="020B0503020204020204" charset="-122"/>
                <a:ea typeface="微软雅黑" panose="020B0503020204020204" charset="-122"/>
                <a:sym typeface="+mn-ea"/>
              </a:rPr>
              <a:t>'</a:t>
            </a:r>
            <a:r>
              <a:rPr lang="en-US" altLang="zh-CN" sz="2000" b="1" dirty="0">
                <a:solidFill>
                  <a:srgbClr val="04579A"/>
                </a:solidFill>
                <a:latin typeface="微软雅黑" panose="020B0503020204020204" charset="-122"/>
                <a:ea typeface="微软雅黑" panose="020B0503020204020204" charset="-122"/>
              </a:rPr>
              <a:t>20</a:t>
            </a:r>
          </a:p>
        </p:txBody>
      </p:sp>
      <p:sp>
        <p:nvSpPr>
          <p:cNvPr id="58" name="文本框 57"/>
          <p:cNvSpPr txBox="1"/>
          <p:nvPr/>
        </p:nvSpPr>
        <p:spPr>
          <a:xfrm>
            <a:off x="8423910" y="3564890"/>
            <a:ext cx="2707640" cy="398780"/>
          </a:xfrm>
          <a:prstGeom prst="rect">
            <a:avLst/>
          </a:prstGeom>
          <a:noFill/>
        </p:spPr>
        <p:txBody>
          <a:bodyPr wrap="square" rtlCol="0">
            <a:spAutoFit/>
          </a:bodyPr>
          <a:lstStyle/>
          <a:p>
            <a:r>
              <a:rPr lang="en-US" altLang="zh-CN" sz="2000" b="1" dirty="0" err="1">
                <a:solidFill>
                  <a:schemeClr val="accent3">
                    <a:lumMod val="75000"/>
                  </a:schemeClr>
                </a:solidFill>
                <a:latin typeface="微软雅黑" panose="020B0503020204020204" charset="-122"/>
                <a:ea typeface="微软雅黑" panose="020B0503020204020204" charset="-122"/>
              </a:rPr>
              <a:t>Zk</a:t>
            </a:r>
            <a:r>
              <a:rPr lang="en-US" altLang="zh-CN" sz="2000" b="1" dirty="0">
                <a:solidFill>
                  <a:schemeClr val="accent3">
                    <a:lumMod val="75000"/>
                  </a:schemeClr>
                </a:solidFill>
                <a:latin typeface="微软雅黑" panose="020B0503020204020204" charset="-122"/>
                <a:ea typeface="微软雅黑" panose="020B0503020204020204" charset="-122"/>
              </a:rPr>
              <a:t>-bridge CCS</a:t>
            </a:r>
            <a:r>
              <a:rPr lang="en-US" altLang="zh-CN" sz="2000" b="1" dirty="0">
                <a:solidFill>
                  <a:schemeClr val="accent3">
                    <a:lumMod val="75000"/>
                  </a:schemeClr>
                </a:solidFill>
                <a:latin typeface="微软雅黑" panose="020B0503020204020204" charset="-122"/>
                <a:ea typeface="微软雅黑" panose="020B0503020204020204" charset="-122"/>
                <a:sym typeface="+mn-ea"/>
              </a:rPr>
              <a:t>'</a:t>
            </a:r>
            <a:r>
              <a:rPr lang="en-US" altLang="zh-CN" sz="2000" b="1" dirty="0">
                <a:solidFill>
                  <a:schemeClr val="accent3">
                    <a:lumMod val="75000"/>
                  </a:schemeClr>
                </a:solidFill>
                <a:latin typeface="微软雅黑" panose="020B0503020204020204" charset="-122"/>
                <a:ea typeface="微软雅黑" panose="020B0503020204020204" charset="-122"/>
              </a:rPr>
              <a:t>22</a:t>
            </a:r>
          </a:p>
        </p:txBody>
      </p:sp>
      <p:sp>
        <p:nvSpPr>
          <p:cNvPr id="64" name="文本框 63"/>
          <p:cNvSpPr txBox="1"/>
          <p:nvPr/>
        </p:nvSpPr>
        <p:spPr>
          <a:xfrm>
            <a:off x="1108364" y="4638040"/>
            <a:ext cx="4361526" cy="398780"/>
          </a:xfrm>
          <a:prstGeom prst="rect">
            <a:avLst/>
          </a:prstGeom>
          <a:noFill/>
        </p:spPr>
        <p:txBody>
          <a:bodyPr wrap="square" rtlCol="0">
            <a:spAutoFit/>
          </a:bodyPr>
          <a:lstStyle/>
          <a:p>
            <a:r>
              <a:rPr lang="en-US" altLang="zh-CN" sz="2000" b="1" dirty="0">
                <a:solidFill>
                  <a:srgbClr val="04579A"/>
                </a:solidFill>
                <a:latin typeface="微软雅黑" panose="020B0503020204020204" charset="-122"/>
                <a:ea typeface="微软雅黑" panose="020B0503020204020204" charset="-122"/>
              </a:rPr>
              <a:t>Glimpse Usenix</a:t>
            </a:r>
            <a:r>
              <a:rPr lang="en-US" altLang="zh-CN" sz="2000" b="1" dirty="0">
                <a:solidFill>
                  <a:srgbClr val="04579A"/>
                </a:solidFill>
                <a:latin typeface="微软雅黑" panose="020B0503020204020204" charset="-122"/>
                <a:ea typeface="微软雅黑" panose="020B0503020204020204" charset="-122"/>
                <a:sym typeface="+mn-ea"/>
              </a:rPr>
              <a:t>'</a:t>
            </a:r>
            <a:r>
              <a:rPr lang="en-US" altLang="zh-CN" sz="2000" b="1" dirty="0">
                <a:solidFill>
                  <a:srgbClr val="04579A"/>
                </a:solidFill>
                <a:latin typeface="微软雅黑" panose="020B0503020204020204" charset="-122"/>
                <a:ea typeface="微软雅黑" panose="020B0503020204020204" charset="-122"/>
              </a:rPr>
              <a:t>23</a:t>
            </a:r>
          </a:p>
        </p:txBody>
      </p:sp>
      <p:sp>
        <p:nvSpPr>
          <p:cNvPr id="65" name="椭圆 64"/>
          <p:cNvSpPr/>
          <p:nvPr/>
        </p:nvSpPr>
        <p:spPr>
          <a:xfrm>
            <a:off x="5634990" y="2552065"/>
            <a:ext cx="562610" cy="562610"/>
          </a:xfrm>
          <a:prstGeom prst="ellipse">
            <a:avLst/>
          </a:prstGeom>
          <a:solidFill>
            <a:schemeClr val="bg1"/>
          </a:solidFill>
          <a:ln w="50800">
            <a:solidFill>
              <a:srgbClr val="04579A"/>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a:solidFill>
                  <a:srgbClr val="04579A"/>
                </a:solidFill>
                <a:effectLst>
                  <a:outerShdw blurRad="38100" dist="38100" dir="2700000" algn="tl">
                    <a:srgbClr val="000000">
                      <a:alpha val="43137"/>
                    </a:srgbClr>
                  </a:outerShdw>
                </a:effectLst>
              </a:rPr>
              <a:t>1</a:t>
            </a:r>
          </a:p>
        </p:txBody>
      </p:sp>
      <p:sp>
        <p:nvSpPr>
          <p:cNvPr id="66" name="椭圆 65"/>
          <p:cNvSpPr/>
          <p:nvPr/>
        </p:nvSpPr>
        <p:spPr>
          <a:xfrm>
            <a:off x="5634990" y="4610100"/>
            <a:ext cx="562610" cy="562610"/>
          </a:xfrm>
          <a:prstGeom prst="ellipse">
            <a:avLst/>
          </a:prstGeom>
          <a:solidFill>
            <a:schemeClr val="bg1"/>
          </a:solidFill>
          <a:ln w="50800">
            <a:solidFill>
              <a:srgbClr val="04579A"/>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a:solidFill>
                  <a:srgbClr val="04579A"/>
                </a:solidFill>
                <a:effectLst>
                  <a:outerShdw blurRad="38100" dist="38100" dir="2700000" algn="tl">
                    <a:srgbClr val="000000">
                      <a:alpha val="43137"/>
                    </a:srgbClr>
                  </a:outerShdw>
                </a:effectLst>
              </a:rPr>
              <a:t>3</a:t>
            </a:r>
          </a:p>
        </p:txBody>
      </p:sp>
      <p:sp>
        <p:nvSpPr>
          <p:cNvPr id="67" name="椭圆 66"/>
          <p:cNvSpPr/>
          <p:nvPr/>
        </p:nvSpPr>
        <p:spPr>
          <a:xfrm>
            <a:off x="5634990" y="3580765"/>
            <a:ext cx="562610" cy="562610"/>
          </a:xfrm>
          <a:prstGeom prst="ellipse">
            <a:avLst/>
          </a:prstGeom>
          <a:solidFill>
            <a:schemeClr val="bg1"/>
          </a:solidFill>
          <a:ln w="50800">
            <a:solidFill>
              <a:schemeClr val="accent3">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a:solidFill>
                  <a:schemeClr val="accent3">
                    <a:lumMod val="75000"/>
                  </a:schemeClr>
                </a:solidFill>
                <a:effectLst>
                  <a:outerShdw blurRad="38100" dist="38100" dir="2700000" algn="tl">
                    <a:srgbClr val="000000">
                      <a:alpha val="43137"/>
                    </a:srgbClr>
                  </a:outerShdw>
                </a:effectLst>
              </a:rPr>
              <a:t>2</a:t>
            </a:r>
          </a:p>
        </p:txBody>
      </p:sp>
      <p:cxnSp>
        <p:nvCxnSpPr>
          <p:cNvPr id="68" name="直接连接符 67"/>
          <p:cNvCxnSpPr>
            <a:endCxn id="48" idx="3"/>
          </p:cNvCxnSpPr>
          <p:nvPr/>
        </p:nvCxnSpPr>
        <p:spPr>
          <a:xfrm>
            <a:off x="3702685" y="2742565"/>
            <a:ext cx="1767205" cy="8890"/>
          </a:xfrm>
          <a:prstGeom prst="line">
            <a:avLst/>
          </a:prstGeom>
          <a:ln w="15875" cmpd="sng">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6485255" y="3759835"/>
            <a:ext cx="1767205" cy="8890"/>
          </a:xfrm>
          <a:prstGeom prst="line">
            <a:avLst/>
          </a:prstGeom>
          <a:ln w="15875" cmpd="sng">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3702685" y="4832985"/>
            <a:ext cx="1767205" cy="8890"/>
          </a:xfrm>
          <a:prstGeom prst="line">
            <a:avLst/>
          </a:prstGeom>
          <a:ln w="15875" cmpd="sng">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76" name="文本框 75"/>
          <p:cNvSpPr txBox="1"/>
          <p:nvPr/>
        </p:nvSpPr>
        <p:spPr>
          <a:xfrm>
            <a:off x="1405255" y="2950845"/>
            <a:ext cx="4229735" cy="953723"/>
          </a:xfrm>
          <a:prstGeom prst="rect">
            <a:avLst/>
          </a:prstGeom>
          <a:noFill/>
        </p:spPr>
        <p:txBody>
          <a:bodyPr wrap="square" rtlCol="0" anchor="t">
            <a:spAutoFit/>
          </a:bodyPr>
          <a:lstStyle/>
          <a:p>
            <a:pPr marL="285750" indent="-285750" fontAlgn="auto">
              <a:lnSpc>
                <a:spcPct val="120000"/>
              </a:lnSpc>
              <a:buFont typeface="Arial" panose="020B0604020202020204" pitchFamily="34" charset="0"/>
              <a:buChar char="•"/>
            </a:pPr>
            <a:r>
              <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以非交互的抽样分布进行证明</a:t>
            </a:r>
            <a:endParaRPr lang="en-US" altLang="zh-CN"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marL="285750" indent="-285750" fontAlgn="auto">
              <a:lnSpc>
                <a:spcPct val="120000"/>
              </a:lnSpc>
              <a:buFont typeface="Arial" panose="020B0604020202020204" pitchFamily="34" charset="0"/>
              <a:buChar char="•"/>
            </a:pPr>
            <a:r>
              <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对数级储存复杂度</a:t>
            </a:r>
          </a:p>
          <a:p>
            <a:pPr marL="285750" indent="-285750" fontAlgn="auto">
              <a:lnSpc>
                <a:spcPct val="120000"/>
              </a:lnSpc>
              <a:buFont typeface="Arial" panose="020B0604020202020204" pitchFamily="34" charset="0"/>
              <a:buChar char="•"/>
            </a:pPr>
            <a:r>
              <a:rPr lang="zh-CN" altLang="en-US" sz="16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缺乏后向兼容性</a:t>
            </a:r>
          </a:p>
        </p:txBody>
      </p:sp>
      <p:sp>
        <p:nvSpPr>
          <p:cNvPr id="77" name="文本框 76"/>
          <p:cNvSpPr txBox="1"/>
          <p:nvPr/>
        </p:nvSpPr>
        <p:spPr>
          <a:xfrm>
            <a:off x="6485255" y="3966210"/>
            <a:ext cx="5137150" cy="830997"/>
          </a:xfrm>
          <a:prstGeom prst="rect">
            <a:avLst/>
          </a:prstGeom>
          <a:noFill/>
        </p:spPr>
        <p:txBody>
          <a:bodyPr wrap="square" rtlCol="0" anchor="t">
            <a:spAutoFit/>
          </a:bodyPr>
          <a:lstStyle/>
          <a:p>
            <a:pPr marL="285750" indent="-285750">
              <a:buFont typeface="Arial" panose="020B0604020202020204" pitchFamily="34" charset="0"/>
              <a:buChar char="•"/>
            </a:pPr>
            <a:r>
              <a:rPr lang="zh-CN" altLang="en-US" sz="1600" dirty="0">
                <a:solidFill>
                  <a:schemeClr val="tx1">
                    <a:lumMod val="85000"/>
                    <a:lumOff val="15000"/>
                  </a:schemeClr>
                </a:solidFill>
              </a:rPr>
              <a:t>模块化设计支持消息传递</a:t>
            </a:r>
            <a:r>
              <a:rPr lang="en-US" altLang="zh-CN" sz="1600" dirty="0">
                <a:solidFill>
                  <a:schemeClr val="tx1">
                    <a:lumMod val="85000"/>
                    <a:lumOff val="15000"/>
                  </a:schemeClr>
                </a:solidFill>
              </a:rPr>
              <a:t>/</a:t>
            </a:r>
            <a:r>
              <a:rPr lang="zh-CN" altLang="en-US" sz="1600" dirty="0">
                <a:solidFill>
                  <a:schemeClr val="tx1">
                    <a:lumMod val="85000"/>
                    <a:lumOff val="15000"/>
                  </a:schemeClr>
                </a:solidFill>
              </a:rPr>
              <a:t>资产跨链</a:t>
            </a:r>
            <a:r>
              <a:rPr lang="en-US" altLang="zh-CN" sz="1600" dirty="0">
                <a:solidFill>
                  <a:schemeClr val="tx1">
                    <a:lumMod val="85000"/>
                    <a:lumOff val="15000"/>
                  </a:schemeClr>
                </a:solidFill>
              </a:rPr>
              <a:t>/</a:t>
            </a:r>
            <a:r>
              <a:rPr lang="zh-CN" altLang="en-US" sz="1600" dirty="0">
                <a:solidFill>
                  <a:schemeClr val="tx1">
                    <a:lumMod val="85000"/>
                    <a:lumOff val="15000"/>
                  </a:schemeClr>
                </a:solidFill>
              </a:rPr>
              <a:t>跨链状态计算</a:t>
            </a:r>
          </a:p>
          <a:p>
            <a:pPr marL="285750" indent="-285750">
              <a:buFont typeface="Arial" panose="020B0604020202020204" pitchFamily="34" charset="0"/>
              <a:buChar char="•"/>
            </a:pPr>
            <a:r>
              <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恒定储存复杂度</a:t>
            </a:r>
            <a:endParaRPr lang="en-US" altLang="zh-CN"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285750" indent="-285750">
              <a:buFont typeface="Arial" panose="020B0604020202020204" pitchFamily="34" charset="0"/>
              <a:buChar char="•"/>
            </a:pPr>
            <a:r>
              <a:rPr lang="zh-CN" altLang="en-US" sz="1600" b="1" dirty="0">
                <a:solidFill>
                  <a:schemeClr val="tx1">
                    <a:lumMod val="85000"/>
                    <a:lumOff val="15000"/>
                  </a:schemeClr>
                </a:solidFill>
              </a:rPr>
              <a:t>零知识证明的生成和验证都需要大量计算资源</a:t>
            </a:r>
          </a:p>
        </p:txBody>
      </p:sp>
      <p:sp>
        <p:nvSpPr>
          <p:cNvPr id="78" name="文本框 77"/>
          <p:cNvSpPr txBox="1"/>
          <p:nvPr/>
        </p:nvSpPr>
        <p:spPr>
          <a:xfrm>
            <a:off x="1405890" y="5069205"/>
            <a:ext cx="4229100" cy="1126462"/>
          </a:xfrm>
          <a:prstGeom prst="rect">
            <a:avLst/>
          </a:prstGeom>
          <a:noFill/>
        </p:spPr>
        <p:txBody>
          <a:bodyPr wrap="square" rtlCol="0" anchor="t">
            <a:spAutoFit/>
          </a:bodyPr>
          <a:lstStyle/>
          <a:p>
            <a:pPr marL="285750" indent="-285750">
              <a:buFont typeface="Arial" panose="020B0604020202020204" pitchFamily="34" charset="0"/>
              <a:buChar char="•"/>
            </a:pPr>
            <a:r>
              <a:rPr lang="zh-CN" altLang="en-US" sz="1600" dirty="0">
                <a:solidFill>
                  <a:schemeClr val="tx1">
                    <a:lumMod val="85000"/>
                    <a:lumOff val="15000"/>
                  </a:schemeClr>
                </a:solidFill>
              </a:rPr>
              <a:t>使用无状态</a:t>
            </a:r>
            <a:r>
              <a:rPr lang="en-US" altLang="zh-CN" sz="1600" dirty="0">
                <a:solidFill>
                  <a:schemeClr val="tx1">
                    <a:lumMod val="85000"/>
                    <a:lumOff val="15000"/>
                  </a:schemeClr>
                </a:solidFill>
              </a:rPr>
              <a:t>SPV</a:t>
            </a:r>
            <a:r>
              <a:rPr lang="zh-CN" altLang="en-US" sz="1600" dirty="0">
                <a:solidFill>
                  <a:schemeClr val="tx1">
                    <a:lumMod val="85000"/>
                    <a:lumOff val="15000"/>
                  </a:schemeClr>
                </a:solidFill>
              </a:rPr>
              <a:t>按需证明</a:t>
            </a:r>
            <a:endParaRPr lang="en-US" altLang="zh-CN" sz="1600" dirty="0">
              <a:solidFill>
                <a:schemeClr val="tx1">
                  <a:lumMod val="85000"/>
                  <a:lumOff val="15000"/>
                </a:schemeClr>
              </a:solidFill>
            </a:endParaRPr>
          </a:p>
          <a:p>
            <a:pPr marL="285750" indent="-285750">
              <a:buFont typeface="Arial" panose="020B0604020202020204" pitchFamily="34" charset="0"/>
              <a:buChar char="•"/>
            </a:pPr>
            <a:r>
              <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恒定储存复杂度</a:t>
            </a:r>
            <a:endPar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marL="285750" indent="-285750" fontAlgn="auto">
              <a:lnSpc>
                <a:spcPct val="120000"/>
              </a:lnSpc>
              <a:buFont typeface="Arial" panose="020B0604020202020204" pitchFamily="34" charset="0"/>
              <a:buChar char="•"/>
            </a:pPr>
            <a:r>
              <a:rPr lang="zh-CN" altLang="en-US" sz="16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需要特定脚本语言，不兼容于比特币</a:t>
            </a:r>
            <a:endPar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endPar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6" name="文本框 5">
            <a:extLst>
              <a:ext uri="{FF2B5EF4-FFF2-40B4-BE49-F238E27FC236}">
                <a16:creationId xmlns:a16="http://schemas.microsoft.com/office/drawing/2014/main" id="{4E475E49-1444-680A-B27C-D1FF059AF26A}"/>
              </a:ext>
            </a:extLst>
          </p:cNvPr>
          <p:cNvSpPr txBox="1"/>
          <p:nvPr>
            <p:custDataLst>
              <p:tags r:id="rId8"/>
            </p:custDataLst>
          </p:nvPr>
        </p:nvSpPr>
        <p:spPr>
          <a:xfrm>
            <a:off x="408305" y="949960"/>
            <a:ext cx="6323965" cy="460375"/>
          </a:xfrm>
          <a:prstGeom prst="rect">
            <a:avLst/>
          </a:prstGeom>
          <a:noFill/>
        </p:spPr>
        <p:txBody>
          <a:bodyPr wrap="square" rtlCol="0">
            <a:spAutoFit/>
          </a:bodyPr>
          <a:lstStyle/>
          <a:p>
            <a:pPr marL="457200" indent="-457200">
              <a:buFont typeface="+mj-lt"/>
              <a:buAutoNum type="arabicPeriod" startAt="3"/>
            </a:pPr>
            <a:r>
              <a:rPr lang="zh-CN" altLang="en-US"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跨链数字资产交易协议证明机制</a:t>
            </a:r>
          </a:p>
        </p:txBody>
      </p:sp>
      <p:sp>
        <p:nvSpPr>
          <p:cNvPr id="7" name="文本框 6">
            <a:extLst>
              <a:ext uri="{FF2B5EF4-FFF2-40B4-BE49-F238E27FC236}">
                <a16:creationId xmlns:a16="http://schemas.microsoft.com/office/drawing/2014/main" id="{73D7BF30-4EAF-7E59-DE28-ED746809EF19}"/>
              </a:ext>
            </a:extLst>
          </p:cNvPr>
          <p:cNvSpPr txBox="1"/>
          <p:nvPr/>
        </p:nvSpPr>
        <p:spPr>
          <a:xfrm>
            <a:off x="11736779" y="6499761"/>
            <a:ext cx="455221" cy="369332"/>
          </a:xfrm>
          <a:prstGeom prst="rect">
            <a:avLst/>
          </a:prstGeom>
          <a:noFill/>
        </p:spPr>
        <p:txBody>
          <a:bodyPr wrap="square" rtlCol="0">
            <a:spAutoFit/>
          </a:bodyPr>
          <a:lstStyle/>
          <a:p>
            <a:pPr algn="ctr"/>
            <a:r>
              <a:rPr lang="en-US" altLang="zh-CN" dirty="0"/>
              <a:t>21</a:t>
            </a:r>
            <a:endParaRPr lang="zh-CN" alt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mc:Choice>
    <mc:Fallback xmlns="">
      <p:transition spd="med"/>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up)">
                                      <p:cBhvr>
                                        <p:cTn id="7" dur="500"/>
                                        <p:tgtEl>
                                          <p:spTgt spid="46"/>
                                        </p:tgtEl>
                                      </p:cBhvr>
                                    </p:animEffect>
                                  </p:childTnLst>
                                </p:cTn>
                              </p:par>
                            </p:childTnLst>
                          </p:cTn>
                        </p:par>
                        <p:par>
                          <p:cTn id="8" fill="hold">
                            <p:stCondLst>
                              <p:cond delay="500"/>
                            </p:stCondLst>
                            <p:childTnLst>
                              <p:par>
                                <p:cTn id="9" presetID="22" presetClass="entr" presetSubtype="2" fill="hold" grpId="0" nodeType="afterEffect">
                                  <p:stCondLst>
                                    <p:cond delay="0"/>
                                  </p:stCondLst>
                                  <p:childTnLst>
                                    <p:set>
                                      <p:cBhvr>
                                        <p:cTn id="10" dur="1" fill="hold">
                                          <p:stCondLst>
                                            <p:cond delay="0"/>
                                          </p:stCondLst>
                                        </p:cTn>
                                        <p:tgtEl>
                                          <p:spTgt spid="79"/>
                                        </p:tgtEl>
                                        <p:attrNameLst>
                                          <p:attrName>style.visibility</p:attrName>
                                        </p:attrNameLst>
                                      </p:cBhvr>
                                      <p:to>
                                        <p:strVal val="visible"/>
                                      </p:to>
                                    </p:set>
                                    <p:animEffect transition="in" filter="wipe(right)">
                                      <p:cBhvr>
                                        <p:cTn id="11" dur="500"/>
                                        <p:tgtEl>
                                          <p:spTgt spid="79"/>
                                        </p:tgtEl>
                                      </p:cBhvr>
                                    </p:animEffect>
                                  </p:childTnLst>
                                </p:cTn>
                              </p:par>
                              <p:par>
                                <p:cTn id="12" presetID="22" presetClass="entr" presetSubtype="8" fill="hold" grpId="0" nodeType="withEffect">
                                  <p:stCondLst>
                                    <p:cond delay="0"/>
                                  </p:stCondLst>
                                  <p:childTnLst>
                                    <p:set>
                                      <p:cBhvr>
                                        <p:cTn id="13" dur="500" fill="hold">
                                          <p:stCondLst>
                                            <p:cond delay="0"/>
                                          </p:stCondLst>
                                        </p:cTn>
                                        <p:tgtEl>
                                          <p:spTgt spid="80"/>
                                        </p:tgtEl>
                                        <p:attrNameLst>
                                          <p:attrName>style.visibility</p:attrName>
                                        </p:attrNameLst>
                                      </p:cBhvr>
                                      <p:to>
                                        <p:strVal val="visible"/>
                                      </p:to>
                                    </p:set>
                                    <p:animEffect transition="in" filter="wipe(left)">
                                      <p:cBhvr>
                                        <p:cTn id="14" dur="500"/>
                                        <p:tgtEl>
                                          <p:spTgt spid="80"/>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250" fill="hold">
                                          <p:stCondLst>
                                            <p:cond delay="0"/>
                                          </p:stCondLst>
                                        </p:cTn>
                                        <p:tgtEl>
                                          <p:spTgt spid="65"/>
                                        </p:tgtEl>
                                        <p:attrNameLst>
                                          <p:attrName>style.visibility</p:attrName>
                                        </p:attrNameLst>
                                      </p:cBhvr>
                                      <p:to>
                                        <p:strVal val="visible"/>
                                      </p:to>
                                    </p:set>
                                    <p:animEffect transition="in" filter="fade">
                                      <p:cBhvr>
                                        <p:cTn id="18" dur="250"/>
                                        <p:tgtEl>
                                          <p:spTgt spid="65"/>
                                        </p:tgtEl>
                                      </p:cBhvr>
                                    </p:animEffect>
                                  </p:childTnLst>
                                </p:cTn>
                              </p:par>
                            </p:childTnLst>
                          </p:cTn>
                        </p:par>
                        <p:par>
                          <p:cTn id="19" fill="hold">
                            <p:stCondLst>
                              <p:cond delay="1500"/>
                            </p:stCondLst>
                            <p:childTnLst>
                              <p:par>
                                <p:cTn id="20" presetID="22" presetClass="entr" presetSubtype="2" fill="hold" nodeType="afterEffect">
                                  <p:stCondLst>
                                    <p:cond delay="0"/>
                                  </p:stCondLst>
                                  <p:childTnLst>
                                    <p:set>
                                      <p:cBhvr>
                                        <p:cTn id="21" dur="250" fill="hold">
                                          <p:stCondLst>
                                            <p:cond delay="0"/>
                                          </p:stCondLst>
                                        </p:cTn>
                                        <p:tgtEl>
                                          <p:spTgt spid="68"/>
                                        </p:tgtEl>
                                        <p:attrNameLst>
                                          <p:attrName>style.visibility</p:attrName>
                                        </p:attrNameLst>
                                      </p:cBhvr>
                                      <p:to>
                                        <p:strVal val="visible"/>
                                      </p:to>
                                    </p:set>
                                    <p:animEffect transition="in" filter="wipe(right)">
                                      <p:cBhvr>
                                        <p:cTn id="22" dur="250"/>
                                        <p:tgtEl>
                                          <p:spTgt spid="68"/>
                                        </p:tgtEl>
                                      </p:cBhvr>
                                    </p:animEffect>
                                  </p:childTnLst>
                                </p:cTn>
                              </p:par>
                            </p:childTnLst>
                          </p:cTn>
                        </p:par>
                        <p:par>
                          <p:cTn id="23" fill="hold">
                            <p:stCondLst>
                              <p:cond delay="2000"/>
                            </p:stCondLst>
                            <p:childTnLst>
                              <p:par>
                                <p:cTn id="24" presetID="10" presetClass="entr" presetSubtype="0" fill="hold" grpId="0" nodeType="afterEffect">
                                  <p:stCondLst>
                                    <p:cond delay="0"/>
                                  </p:stCondLst>
                                  <p:childTnLst>
                                    <p:set>
                                      <p:cBhvr>
                                        <p:cTn id="25" dur="250" fill="hold">
                                          <p:stCondLst>
                                            <p:cond delay="0"/>
                                          </p:stCondLst>
                                        </p:cTn>
                                        <p:tgtEl>
                                          <p:spTgt spid="48"/>
                                        </p:tgtEl>
                                        <p:attrNameLst>
                                          <p:attrName>style.visibility</p:attrName>
                                        </p:attrNameLst>
                                      </p:cBhvr>
                                      <p:to>
                                        <p:strVal val="visible"/>
                                      </p:to>
                                    </p:set>
                                    <p:animEffect transition="in" filter="fade">
                                      <p:cBhvr>
                                        <p:cTn id="26" dur="250"/>
                                        <p:tgtEl>
                                          <p:spTgt spid="48"/>
                                        </p:tgtEl>
                                      </p:cBhvr>
                                    </p:animEffect>
                                  </p:childTnLst>
                                </p:cTn>
                              </p:par>
                            </p:childTnLst>
                          </p:cTn>
                        </p:par>
                        <p:par>
                          <p:cTn id="27" fill="hold">
                            <p:stCondLst>
                              <p:cond delay="2500"/>
                            </p:stCondLst>
                            <p:childTnLst>
                              <p:par>
                                <p:cTn id="28" presetID="10" presetClass="entr" presetSubtype="0" fill="hold" grpId="0" nodeType="afterEffect">
                                  <p:stCondLst>
                                    <p:cond delay="0"/>
                                  </p:stCondLst>
                                  <p:childTnLst>
                                    <p:set>
                                      <p:cBhvr>
                                        <p:cTn id="29" dur="1" fill="hold">
                                          <p:stCondLst>
                                            <p:cond delay="0"/>
                                          </p:stCondLst>
                                        </p:cTn>
                                        <p:tgtEl>
                                          <p:spTgt spid="76"/>
                                        </p:tgtEl>
                                        <p:attrNameLst>
                                          <p:attrName>style.visibility</p:attrName>
                                        </p:attrNameLst>
                                      </p:cBhvr>
                                      <p:to>
                                        <p:strVal val="visible"/>
                                      </p:to>
                                    </p:set>
                                    <p:animEffect transition="in" filter="fade">
                                      <p:cBhvr>
                                        <p:cTn id="30" dur="500"/>
                                        <p:tgtEl>
                                          <p:spTgt spid="76"/>
                                        </p:tgtEl>
                                      </p:cBhvr>
                                    </p:animEffect>
                                  </p:childTnLst>
                                </p:cTn>
                              </p:par>
                            </p:childTnLst>
                          </p:cTn>
                        </p:par>
                        <p:par>
                          <p:cTn id="31" fill="hold">
                            <p:stCondLst>
                              <p:cond delay="3000"/>
                            </p:stCondLst>
                            <p:childTnLst>
                              <p:par>
                                <p:cTn id="32" presetID="10" presetClass="entr" presetSubtype="0" fill="hold" grpId="0" nodeType="afterEffect">
                                  <p:stCondLst>
                                    <p:cond delay="0"/>
                                  </p:stCondLst>
                                  <p:childTnLst>
                                    <p:set>
                                      <p:cBhvr>
                                        <p:cTn id="33" dur="250" fill="hold">
                                          <p:stCondLst>
                                            <p:cond delay="0"/>
                                          </p:stCondLst>
                                        </p:cTn>
                                        <p:tgtEl>
                                          <p:spTgt spid="67"/>
                                        </p:tgtEl>
                                        <p:attrNameLst>
                                          <p:attrName>style.visibility</p:attrName>
                                        </p:attrNameLst>
                                      </p:cBhvr>
                                      <p:to>
                                        <p:strVal val="visible"/>
                                      </p:to>
                                    </p:set>
                                    <p:animEffect transition="in" filter="fade">
                                      <p:cBhvr>
                                        <p:cTn id="34" dur="250"/>
                                        <p:tgtEl>
                                          <p:spTgt spid="67"/>
                                        </p:tgtEl>
                                      </p:cBhvr>
                                    </p:animEffect>
                                  </p:childTnLst>
                                </p:cTn>
                              </p:par>
                            </p:childTnLst>
                          </p:cTn>
                        </p:par>
                        <p:par>
                          <p:cTn id="35" fill="hold">
                            <p:stCondLst>
                              <p:cond delay="3500"/>
                            </p:stCondLst>
                            <p:childTnLst>
                              <p:par>
                                <p:cTn id="36" presetID="22" presetClass="entr" presetSubtype="8" fill="hold" nodeType="afterEffect">
                                  <p:stCondLst>
                                    <p:cond delay="0"/>
                                  </p:stCondLst>
                                  <p:childTnLst>
                                    <p:set>
                                      <p:cBhvr>
                                        <p:cTn id="37" dur="250" fill="hold">
                                          <p:stCondLst>
                                            <p:cond delay="0"/>
                                          </p:stCondLst>
                                        </p:cTn>
                                        <p:tgtEl>
                                          <p:spTgt spid="69"/>
                                        </p:tgtEl>
                                        <p:attrNameLst>
                                          <p:attrName>style.visibility</p:attrName>
                                        </p:attrNameLst>
                                      </p:cBhvr>
                                      <p:to>
                                        <p:strVal val="visible"/>
                                      </p:to>
                                    </p:set>
                                    <p:animEffect transition="in" filter="wipe(left)">
                                      <p:cBhvr>
                                        <p:cTn id="38" dur="250"/>
                                        <p:tgtEl>
                                          <p:spTgt spid="69"/>
                                        </p:tgtEl>
                                      </p:cBhvr>
                                    </p:animEffect>
                                  </p:childTnLst>
                                </p:cTn>
                              </p:par>
                            </p:childTnLst>
                          </p:cTn>
                        </p:par>
                        <p:par>
                          <p:cTn id="39" fill="hold">
                            <p:stCondLst>
                              <p:cond delay="4000"/>
                            </p:stCondLst>
                            <p:childTnLst>
                              <p:par>
                                <p:cTn id="40" presetID="10" presetClass="entr" presetSubtype="0" fill="hold" grpId="0" nodeType="afterEffect">
                                  <p:stCondLst>
                                    <p:cond delay="0"/>
                                  </p:stCondLst>
                                  <p:childTnLst>
                                    <p:set>
                                      <p:cBhvr>
                                        <p:cTn id="41" dur="250" fill="hold">
                                          <p:stCondLst>
                                            <p:cond delay="0"/>
                                          </p:stCondLst>
                                        </p:cTn>
                                        <p:tgtEl>
                                          <p:spTgt spid="58"/>
                                        </p:tgtEl>
                                        <p:attrNameLst>
                                          <p:attrName>style.visibility</p:attrName>
                                        </p:attrNameLst>
                                      </p:cBhvr>
                                      <p:to>
                                        <p:strVal val="visible"/>
                                      </p:to>
                                    </p:set>
                                    <p:animEffect transition="in" filter="fade">
                                      <p:cBhvr>
                                        <p:cTn id="42" dur="250"/>
                                        <p:tgtEl>
                                          <p:spTgt spid="58"/>
                                        </p:tgtEl>
                                      </p:cBhvr>
                                    </p:animEffect>
                                  </p:childTnLst>
                                </p:cTn>
                              </p:par>
                            </p:childTnLst>
                          </p:cTn>
                        </p:par>
                        <p:par>
                          <p:cTn id="43" fill="hold">
                            <p:stCondLst>
                              <p:cond delay="4500"/>
                            </p:stCondLst>
                            <p:childTnLst>
                              <p:par>
                                <p:cTn id="44" presetID="10" presetClass="entr" presetSubtype="0" fill="hold" grpId="0" nodeType="afterEffect">
                                  <p:stCondLst>
                                    <p:cond delay="0"/>
                                  </p:stCondLst>
                                  <p:childTnLst>
                                    <p:set>
                                      <p:cBhvr>
                                        <p:cTn id="45" dur="500" fill="hold">
                                          <p:stCondLst>
                                            <p:cond delay="0"/>
                                          </p:stCondLst>
                                        </p:cTn>
                                        <p:tgtEl>
                                          <p:spTgt spid="77"/>
                                        </p:tgtEl>
                                        <p:attrNameLst>
                                          <p:attrName>style.visibility</p:attrName>
                                        </p:attrNameLst>
                                      </p:cBhvr>
                                      <p:to>
                                        <p:strVal val="visible"/>
                                      </p:to>
                                    </p:set>
                                    <p:animEffect transition="in" filter="fade">
                                      <p:cBhvr>
                                        <p:cTn id="46" dur="500"/>
                                        <p:tgtEl>
                                          <p:spTgt spid="77"/>
                                        </p:tgtEl>
                                      </p:cBhvr>
                                    </p:animEffect>
                                  </p:childTnLst>
                                </p:cTn>
                              </p:par>
                            </p:childTnLst>
                          </p:cTn>
                        </p:par>
                        <p:par>
                          <p:cTn id="47" fill="hold">
                            <p:stCondLst>
                              <p:cond delay="5000"/>
                            </p:stCondLst>
                            <p:childTnLst>
                              <p:par>
                                <p:cTn id="48" presetID="10" presetClass="entr" presetSubtype="0" fill="hold" grpId="0" nodeType="afterEffect">
                                  <p:stCondLst>
                                    <p:cond delay="0"/>
                                  </p:stCondLst>
                                  <p:childTnLst>
                                    <p:set>
                                      <p:cBhvr>
                                        <p:cTn id="49" dur="250" fill="hold">
                                          <p:stCondLst>
                                            <p:cond delay="0"/>
                                          </p:stCondLst>
                                        </p:cTn>
                                        <p:tgtEl>
                                          <p:spTgt spid="66"/>
                                        </p:tgtEl>
                                        <p:attrNameLst>
                                          <p:attrName>style.visibility</p:attrName>
                                        </p:attrNameLst>
                                      </p:cBhvr>
                                      <p:to>
                                        <p:strVal val="visible"/>
                                      </p:to>
                                    </p:set>
                                    <p:animEffect transition="in" filter="fade">
                                      <p:cBhvr>
                                        <p:cTn id="50" dur="250"/>
                                        <p:tgtEl>
                                          <p:spTgt spid="66"/>
                                        </p:tgtEl>
                                      </p:cBhvr>
                                    </p:animEffect>
                                  </p:childTnLst>
                                </p:cTn>
                              </p:par>
                            </p:childTnLst>
                          </p:cTn>
                        </p:par>
                        <p:par>
                          <p:cTn id="51" fill="hold">
                            <p:stCondLst>
                              <p:cond delay="5500"/>
                            </p:stCondLst>
                            <p:childTnLst>
                              <p:par>
                                <p:cTn id="52" presetID="22" presetClass="entr" presetSubtype="2" fill="hold" nodeType="afterEffect">
                                  <p:stCondLst>
                                    <p:cond delay="0"/>
                                  </p:stCondLst>
                                  <p:childTnLst>
                                    <p:set>
                                      <p:cBhvr>
                                        <p:cTn id="53" dur="250" fill="hold">
                                          <p:stCondLst>
                                            <p:cond delay="0"/>
                                          </p:stCondLst>
                                        </p:cTn>
                                        <p:tgtEl>
                                          <p:spTgt spid="75"/>
                                        </p:tgtEl>
                                        <p:attrNameLst>
                                          <p:attrName>style.visibility</p:attrName>
                                        </p:attrNameLst>
                                      </p:cBhvr>
                                      <p:to>
                                        <p:strVal val="visible"/>
                                      </p:to>
                                    </p:set>
                                    <p:animEffect transition="in" filter="wipe(right)">
                                      <p:cBhvr>
                                        <p:cTn id="54" dur="250"/>
                                        <p:tgtEl>
                                          <p:spTgt spid="75"/>
                                        </p:tgtEl>
                                      </p:cBhvr>
                                    </p:animEffect>
                                  </p:childTnLst>
                                </p:cTn>
                              </p:par>
                            </p:childTnLst>
                          </p:cTn>
                        </p:par>
                        <p:par>
                          <p:cTn id="55" fill="hold">
                            <p:stCondLst>
                              <p:cond delay="6000"/>
                            </p:stCondLst>
                            <p:childTnLst>
                              <p:par>
                                <p:cTn id="56" presetID="10" presetClass="entr" presetSubtype="0" fill="hold" grpId="0" nodeType="afterEffect">
                                  <p:stCondLst>
                                    <p:cond delay="0"/>
                                  </p:stCondLst>
                                  <p:childTnLst>
                                    <p:set>
                                      <p:cBhvr>
                                        <p:cTn id="57" dur="250" fill="hold">
                                          <p:stCondLst>
                                            <p:cond delay="0"/>
                                          </p:stCondLst>
                                        </p:cTn>
                                        <p:tgtEl>
                                          <p:spTgt spid="64"/>
                                        </p:tgtEl>
                                        <p:attrNameLst>
                                          <p:attrName>style.visibility</p:attrName>
                                        </p:attrNameLst>
                                      </p:cBhvr>
                                      <p:to>
                                        <p:strVal val="visible"/>
                                      </p:to>
                                    </p:set>
                                    <p:animEffect transition="in" filter="fade">
                                      <p:cBhvr>
                                        <p:cTn id="58" dur="250"/>
                                        <p:tgtEl>
                                          <p:spTgt spid="64"/>
                                        </p:tgtEl>
                                      </p:cBhvr>
                                    </p:animEffect>
                                  </p:childTnLst>
                                </p:cTn>
                              </p:par>
                            </p:childTnLst>
                          </p:cTn>
                        </p:par>
                        <p:par>
                          <p:cTn id="59" fill="hold">
                            <p:stCondLst>
                              <p:cond delay="6500"/>
                            </p:stCondLst>
                            <p:childTnLst>
                              <p:par>
                                <p:cTn id="60" presetID="10" presetClass="entr" presetSubtype="0" fill="hold" grpId="0" nodeType="afterEffect">
                                  <p:stCondLst>
                                    <p:cond delay="0"/>
                                  </p:stCondLst>
                                  <p:childTnLst>
                                    <p:set>
                                      <p:cBhvr>
                                        <p:cTn id="61" dur="1" fill="hold">
                                          <p:stCondLst>
                                            <p:cond delay="0"/>
                                          </p:stCondLst>
                                        </p:cTn>
                                        <p:tgtEl>
                                          <p:spTgt spid="78"/>
                                        </p:tgtEl>
                                        <p:attrNameLst>
                                          <p:attrName>style.visibility</p:attrName>
                                        </p:attrNameLst>
                                      </p:cBhvr>
                                      <p:to>
                                        <p:strVal val="visible"/>
                                      </p:to>
                                    </p:set>
                                    <p:animEffect transition="in" filter="fade">
                                      <p:cBhvr>
                                        <p:cTn id="62"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79" grpId="0" animBg="1"/>
      <p:bldP spid="48" grpId="0"/>
      <p:bldP spid="58" grpId="0"/>
      <p:bldP spid="64" grpId="0"/>
      <p:bldP spid="65" grpId="0" animBg="1"/>
      <p:bldP spid="66" grpId="0" animBg="1"/>
      <p:bldP spid="67" grpId="0" animBg="1"/>
      <p:bldP spid="76" grpId="0"/>
      <p:bldP spid="76" grpId="1"/>
      <p:bldP spid="77" grpId="0"/>
      <p:bldP spid="78"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 name="矩形 4"/>
          <p:cNvSpPr/>
          <p:nvPr>
            <p:custDataLst>
              <p:tags r:id="rId2"/>
            </p:custDataLst>
          </p:nvPr>
        </p:nvSpPr>
        <p:spPr>
          <a:xfrm>
            <a:off x="5862320" y="-635"/>
            <a:ext cx="3115945" cy="721995"/>
          </a:xfrm>
          <a:prstGeom prst="rect">
            <a:avLst/>
          </a:prstGeom>
          <a:solidFill>
            <a:schemeClr val="bg1">
              <a:lumMod val="95000"/>
            </a:schemeClr>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custDataLst>
              <p:tags r:id="rId3"/>
            </p:custDataLst>
          </p:nvPr>
        </p:nvSpPr>
        <p:spPr>
          <a:xfrm>
            <a:off x="5862320" y="3175"/>
            <a:ext cx="3114675"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custDataLst>
              <p:tags r:id="rId4"/>
            </p:custDataLst>
          </p:nvPr>
        </p:nvSpPr>
        <p:spPr>
          <a:xfrm>
            <a:off x="3871595" y="-635"/>
            <a:ext cx="19907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664970" y="-635"/>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5"/>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p>
        </p:txBody>
      </p:sp>
      <p:pic>
        <p:nvPicPr>
          <p:cNvPr id="21" name="Picture 2" descr="C:\Program Files\Apache Software Foundation\Tomcat 6.0\webapps\topo1\images\sklois1 (2).jpg"/>
          <p:cNvPicPr>
            <a:picLocks noChangeAspect="1" noChangeArrowheads="1"/>
          </p:cNvPicPr>
          <p:nvPr>
            <p:custDataLst>
              <p:tags r:id="rId6"/>
            </p:custDataLst>
          </p:nvPr>
        </p:nvPicPr>
        <p:blipFill>
          <a:blip r:embed="rId16"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 name="等腰三角形 14"/>
          <p:cNvSpPr/>
          <p:nvPr>
            <p:custDataLst>
              <p:tags r:id="rId7"/>
            </p:custDataLst>
          </p:nvPr>
        </p:nvSpPr>
        <p:spPr>
          <a:xfrm rot="10800000">
            <a:off x="7274560" y="720725"/>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a:extLst>
              <a:ext uri="{FF2B5EF4-FFF2-40B4-BE49-F238E27FC236}">
                <a16:creationId xmlns:a16="http://schemas.microsoft.com/office/drawing/2014/main" id="{11A19961-98DC-A920-DC59-10D4312DE80C}"/>
              </a:ext>
            </a:extLst>
          </p:cNvPr>
          <p:cNvGrpSpPr/>
          <p:nvPr/>
        </p:nvGrpSpPr>
        <p:grpSpPr>
          <a:xfrm>
            <a:off x="556577" y="1917144"/>
            <a:ext cx="11078845" cy="3122176"/>
            <a:chOff x="519430" y="1909227"/>
            <a:chExt cx="11078845" cy="3122176"/>
          </a:xfrm>
        </p:grpSpPr>
        <p:sp>
          <p:nvSpPr>
            <p:cNvPr id="24" name="右箭头 23"/>
            <p:cNvSpPr/>
            <p:nvPr>
              <p:custDataLst>
                <p:tags r:id="rId8"/>
              </p:custDataLst>
            </p:nvPr>
          </p:nvSpPr>
          <p:spPr>
            <a:xfrm>
              <a:off x="4152900" y="2002820"/>
              <a:ext cx="355600" cy="520700"/>
            </a:xfrm>
            <a:prstGeom prst="rightArrow">
              <a:avLst/>
            </a:prstGeom>
            <a:solidFill>
              <a:schemeClr val="bg1"/>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右箭头 25"/>
            <p:cNvSpPr/>
            <p:nvPr>
              <p:custDataLst>
                <p:tags r:id="rId9"/>
              </p:custDataLst>
            </p:nvPr>
          </p:nvSpPr>
          <p:spPr>
            <a:xfrm>
              <a:off x="4152900" y="3068985"/>
              <a:ext cx="355600" cy="520700"/>
            </a:xfrm>
            <a:prstGeom prst="rightArrow">
              <a:avLst/>
            </a:prstGeom>
            <a:solidFill>
              <a:schemeClr val="bg1"/>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右箭头 26"/>
            <p:cNvSpPr/>
            <p:nvPr>
              <p:custDataLst>
                <p:tags r:id="rId10"/>
              </p:custDataLst>
            </p:nvPr>
          </p:nvSpPr>
          <p:spPr>
            <a:xfrm>
              <a:off x="4152900" y="4051330"/>
              <a:ext cx="355600" cy="520700"/>
            </a:xfrm>
            <a:prstGeom prst="rightArrow">
              <a:avLst/>
            </a:prstGeom>
            <a:solidFill>
              <a:schemeClr val="bg1"/>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4907280" y="2063115"/>
              <a:ext cx="6307212" cy="400110"/>
            </a:xfrm>
            <a:prstGeom prst="rect">
              <a:avLst/>
            </a:prstGeom>
            <a:noFill/>
          </p:spPr>
          <p:txBody>
            <a:bodyPr wrap="square" rtlCol="0" anchor="t">
              <a:spAutoFit/>
            </a:bodyPr>
            <a:lstStyle/>
            <a:p>
              <a:r>
                <a:rPr lang="zh-CN" altLang="en-US" sz="2000" b="1" dirty="0">
                  <a:solidFill>
                    <a:srgbClr val="04579A"/>
                  </a:solidFill>
                  <a:sym typeface="+mn-ea"/>
                </a:rPr>
                <a:t>恶意环境下分布式数字资产交易协议设计与分析</a:t>
              </a:r>
              <a:r>
                <a:rPr lang="en-US" altLang="zh-CN" sz="2000" b="1" dirty="0">
                  <a:latin typeface="微软雅黑" panose="020B0503020204020204" charset="-122"/>
                  <a:ea typeface="微软雅黑" panose="020B0503020204020204" charset="-122"/>
                  <a:cs typeface="微软雅黑" panose="020B0503020204020204" charset="-122"/>
                  <a:sym typeface="+mn-ea"/>
                </a:rPr>
                <a:t>	</a:t>
              </a:r>
            </a:p>
          </p:txBody>
        </p:sp>
        <p:sp>
          <p:nvSpPr>
            <p:cNvPr id="28" name="文本框 27"/>
            <p:cNvSpPr txBox="1"/>
            <p:nvPr/>
          </p:nvSpPr>
          <p:spPr>
            <a:xfrm>
              <a:off x="4907279" y="3155315"/>
              <a:ext cx="6556375" cy="707886"/>
            </a:xfrm>
            <a:prstGeom prst="rect">
              <a:avLst/>
            </a:prstGeom>
            <a:noFill/>
          </p:spPr>
          <p:txBody>
            <a:bodyPr wrap="square" rtlCol="0" anchor="t">
              <a:spAutoFit/>
            </a:bodyPr>
            <a:lstStyle/>
            <a:p>
              <a:r>
                <a:rPr lang="zh-CN" altLang="en-US" sz="2000" b="1" dirty="0">
                  <a:solidFill>
                    <a:srgbClr val="04579A"/>
                  </a:solidFill>
                  <a:sym typeface="+mn-ea"/>
                </a:rPr>
                <a:t>大规模环境下可扩展分布式数字资产交易协议设计与分析</a:t>
              </a:r>
              <a:r>
                <a:rPr lang="en-US" altLang="zh-CN" sz="2000" b="1" dirty="0">
                  <a:latin typeface="微软雅黑" panose="020B0503020204020204" charset="-122"/>
                  <a:ea typeface="微软雅黑" panose="020B0503020204020204" charset="-122"/>
                  <a:cs typeface="微软雅黑" panose="020B0503020204020204" charset="-122"/>
                  <a:sym typeface="+mn-ea"/>
                </a:rPr>
                <a:t>	</a:t>
              </a:r>
            </a:p>
          </p:txBody>
        </p:sp>
        <p:sp>
          <p:nvSpPr>
            <p:cNvPr id="29" name="文本框 28"/>
            <p:cNvSpPr txBox="1"/>
            <p:nvPr/>
          </p:nvSpPr>
          <p:spPr>
            <a:xfrm>
              <a:off x="4907280" y="4127500"/>
              <a:ext cx="6690995" cy="398780"/>
            </a:xfrm>
            <a:prstGeom prst="rect">
              <a:avLst/>
            </a:prstGeom>
            <a:noFill/>
          </p:spPr>
          <p:txBody>
            <a:bodyPr wrap="square" rtlCol="0" anchor="t">
              <a:spAutoFit/>
            </a:bodyPr>
            <a:lstStyle/>
            <a:p>
              <a:r>
                <a:rPr lang="zh-CN" altLang="en-US" sz="2000" b="1" dirty="0">
                  <a:solidFill>
                    <a:srgbClr val="04579A"/>
                  </a:solidFill>
                  <a:sym typeface="+mn-ea"/>
                </a:rPr>
                <a:t>多源异构环境下分布式数字资产跨链验证协议设计与分析</a:t>
              </a:r>
            </a:p>
          </p:txBody>
        </p:sp>
        <p:sp>
          <p:nvSpPr>
            <p:cNvPr id="7" name="文本框 6"/>
            <p:cNvSpPr txBox="1"/>
            <p:nvPr>
              <p:custDataLst>
                <p:tags r:id="rId11"/>
              </p:custDataLst>
            </p:nvPr>
          </p:nvSpPr>
          <p:spPr>
            <a:xfrm>
              <a:off x="520700" y="1909227"/>
              <a:ext cx="3234690" cy="707886"/>
            </a:xfrm>
            <a:prstGeom prst="rect">
              <a:avLst/>
            </a:prstGeom>
            <a:noFill/>
          </p:spPr>
          <p:txBody>
            <a:bodyPr wrap="square" rtlCol="0">
              <a:spAutoFit/>
            </a:bodyPr>
            <a:lstStyle/>
            <a:p>
              <a:pPr marL="457200" indent="-457200" algn="ctr">
                <a:buAutoNum type="arabicPeriod"/>
              </a:pPr>
              <a:r>
                <a:rPr lang="zh-CN" altLang="en-US"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恶意场景下分布式数字</a:t>
              </a:r>
              <a:endParaRPr lang="en-US" altLang="zh-CN"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algn="ctr"/>
              <a:r>
                <a:rPr lang="zh-CN" altLang="en-US"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资产交易安全性</a:t>
              </a:r>
            </a:p>
          </p:txBody>
        </p:sp>
        <p:sp>
          <p:nvSpPr>
            <p:cNvPr id="6" name="文本框 5"/>
            <p:cNvSpPr txBox="1"/>
            <p:nvPr>
              <p:custDataLst>
                <p:tags r:id="rId12"/>
              </p:custDataLst>
            </p:nvPr>
          </p:nvSpPr>
          <p:spPr>
            <a:xfrm>
              <a:off x="519430" y="2947749"/>
              <a:ext cx="3235960" cy="707886"/>
            </a:xfrm>
            <a:prstGeom prst="rect">
              <a:avLst/>
            </a:prstGeom>
            <a:noFill/>
          </p:spPr>
          <p:txBody>
            <a:bodyPr wrap="square" rtlCol="0">
              <a:spAutoFit/>
            </a:bodyPr>
            <a:lstStyle/>
            <a:p>
              <a:pPr algn="ctr"/>
              <a:r>
                <a:rPr lang="en-US" altLang="zh-CN"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2.   </a:t>
              </a:r>
              <a:r>
                <a:rPr lang="zh-CN" altLang="en-US"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链下数字资产交易协议性能</a:t>
              </a:r>
              <a:endParaRPr lang="en-US" altLang="zh-CN"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8" name="文本框 7"/>
            <p:cNvSpPr txBox="1"/>
            <p:nvPr>
              <p:custDataLst>
                <p:tags r:id="rId13"/>
              </p:custDataLst>
            </p:nvPr>
          </p:nvSpPr>
          <p:spPr>
            <a:xfrm>
              <a:off x="519430" y="4015740"/>
              <a:ext cx="3237230" cy="1015663"/>
            </a:xfrm>
            <a:prstGeom prst="rect">
              <a:avLst/>
            </a:prstGeom>
            <a:noFill/>
          </p:spPr>
          <p:txBody>
            <a:bodyPr wrap="square" rtlCol="0">
              <a:spAutoFit/>
            </a:bodyPr>
            <a:lstStyle/>
            <a:p>
              <a:r>
                <a:rPr lang="en-US" altLang="zh-CN" sz="2000" b="1" dirty="0">
                  <a:solidFill>
                    <a:schemeClr val="tx1">
                      <a:lumMod val="85000"/>
                      <a:lumOff val="15000"/>
                    </a:schemeClr>
                  </a:solidFill>
                </a:rPr>
                <a:t>3.    </a:t>
              </a:r>
              <a:r>
                <a:rPr lang="zh-CN" altLang="en-US" sz="2000" b="1" dirty="0">
                  <a:solidFill>
                    <a:schemeClr val="tx1">
                      <a:lumMod val="85000"/>
                      <a:lumOff val="15000"/>
                    </a:schemeClr>
                  </a:solidFill>
                </a:rPr>
                <a:t>跨链数字资产交易协议</a:t>
              </a:r>
              <a:endParaRPr lang="en-US" altLang="zh-CN" sz="2000" b="1" dirty="0">
                <a:solidFill>
                  <a:schemeClr val="tx1">
                    <a:lumMod val="85000"/>
                    <a:lumOff val="15000"/>
                  </a:schemeClr>
                </a:solidFill>
              </a:endParaRPr>
            </a:p>
            <a:p>
              <a:pPr algn="ctr"/>
              <a:r>
                <a:rPr lang="zh-CN" altLang="en-US" sz="2000" b="1" dirty="0">
                  <a:solidFill>
                    <a:schemeClr val="tx1">
                      <a:lumMod val="85000"/>
                      <a:lumOff val="15000"/>
                    </a:schemeClr>
                  </a:solidFill>
                </a:rPr>
                <a:t>证明机制</a:t>
              </a:r>
            </a:p>
            <a:p>
              <a:pPr algn="ctr"/>
              <a:endParaRPr lang="zh-CN" altLang="en-US" sz="2000" b="1" dirty="0">
                <a:solidFill>
                  <a:schemeClr val="tx1">
                    <a:lumMod val="85000"/>
                    <a:lumOff val="15000"/>
                  </a:schemeClr>
                </a:solidFill>
              </a:endParaRPr>
            </a:p>
          </p:txBody>
        </p:sp>
      </p:grpSp>
      <p:sp>
        <p:nvSpPr>
          <p:cNvPr id="10" name="文本框 9">
            <a:extLst>
              <a:ext uri="{FF2B5EF4-FFF2-40B4-BE49-F238E27FC236}">
                <a16:creationId xmlns:a16="http://schemas.microsoft.com/office/drawing/2014/main" id="{7B3311FA-8C86-9266-5DF4-8EBD51F5952E}"/>
              </a:ext>
            </a:extLst>
          </p:cNvPr>
          <p:cNvSpPr txBox="1"/>
          <p:nvPr/>
        </p:nvSpPr>
        <p:spPr>
          <a:xfrm>
            <a:off x="11736779" y="6499761"/>
            <a:ext cx="455221" cy="369332"/>
          </a:xfrm>
          <a:prstGeom prst="rect">
            <a:avLst/>
          </a:prstGeom>
          <a:noFill/>
        </p:spPr>
        <p:txBody>
          <a:bodyPr wrap="square" rtlCol="0">
            <a:spAutoFit/>
          </a:bodyPr>
          <a:lstStyle/>
          <a:p>
            <a:pPr algn="ctr"/>
            <a:r>
              <a:rPr lang="en-US" altLang="zh-CN" dirty="0"/>
              <a:t>22</a:t>
            </a:r>
            <a:endParaRPr lang="zh-CN" altLang="en-US" dirty="0"/>
          </a:p>
        </p:txBody>
      </p:sp>
    </p:spTree>
    <p:custDataLst>
      <p:tags r:id="rId1"/>
    </p:custData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3" name="矩形: 圆角 12">
            <a:extLst>
              <a:ext uri="{FF2B5EF4-FFF2-40B4-BE49-F238E27FC236}">
                <a16:creationId xmlns:a16="http://schemas.microsoft.com/office/drawing/2014/main" id="{15F5FEF4-2917-991E-4D40-2C85A82B30CF}"/>
              </a:ext>
            </a:extLst>
          </p:cNvPr>
          <p:cNvSpPr/>
          <p:nvPr/>
        </p:nvSpPr>
        <p:spPr>
          <a:xfrm>
            <a:off x="5680364" y="2572987"/>
            <a:ext cx="2751117" cy="1939636"/>
          </a:xfrm>
          <a:prstGeom prst="round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custDataLst>
              <p:tags r:id="rId2"/>
            </p:custDataLst>
          </p:nvPr>
        </p:nvSpPr>
        <p:spPr>
          <a:xfrm>
            <a:off x="5862320" y="-635"/>
            <a:ext cx="3115945" cy="721995"/>
          </a:xfrm>
          <a:prstGeom prst="rect">
            <a:avLst/>
          </a:prstGeom>
          <a:solidFill>
            <a:schemeClr val="bg1">
              <a:lumMod val="95000"/>
            </a:schemeClr>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custDataLst>
              <p:tags r:id="rId3"/>
            </p:custDataLst>
          </p:nvPr>
        </p:nvSpPr>
        <p:spPr>
          <a:xfrm>
            <a:off x="5862320" y="3175"/>
            <a:ext cx="3114675"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custDataLst>
              <p:tags r:id="rId4"/>
            </p:custDataLst>
          </p:nvPr>
        </p:nvSpPr>
        <p:spPr>
          <a:xfrm>
            <a:off x="3871595" y="-635"/>
            <a:ext cx="19907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664970" y="-635"/>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5"/>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p>
        </p:txBody>
      </p:sp>
      <p:pic>
        <p:nvPicPr>
          <p:cNvPr id="21" name="Picture 2" descr="C:\Program Files\Apache Software Foundation\Tomcat 6.0\webapps\topo1\images\sklois1 (2).jpg"/>
          <p:cNvPicPr>
            <a:picLocks noChangeAspect="1" noChangeArrowheads="1"/>
          </p:cNvPicPr>
          <p:nvPr>
            <p:custDataLst>
              <p:tags r:id="rId6"/>
            </p:custDataLst>
          </p:nvPr>
        </p:nvPicPr>
        <p:blipFill>
          <a:blip r:embed="rId16"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 name="等腰三角形 14"/>
          <p:cNvSpPr/>
          <p:nvPr>
            <p:custDataLst>
              <p:tags r:id="rId7"/>
            </p:custDataLst>
          </p:nvPr>
        </p:nvSpPr>
        <p:spPr>
          <a:xfrm rot="10800000">
            <a:off x="7274560" y="720725"/>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custDataLst>
              <p:tags r:id="rId8"/>
            </p:custDataLst>
          </p:nvPr>
        </p:nvSpPr>
        <p:spPr>
          <a:xfrm>
            <a:off x="594995" y="1421765"/>
            <a:ext cx="10808970" cy="398780"/>
          </a:xfrm>
          <a:prstGeom prst="rect">
            <a:avLst/>
          </a:prstGeom>
          <a:noFill/>
        </p:spPr>
        <p:txBody>
          <a:bodyPr wrap="square" rtlCol="0" anchor="t">
            <a:spAutoFit/>
          </a:bodyPr>
          <a:lstStyle/>
          <a:p>
            <a:r>
              <a:rPr lang="zh-CN" altLang="en-US" sz="2000" b="1" dirty="0">
                <a:solidFill>
                  <a:srgbClr val="04579A"/>
                </a:solidFill>
                <a:sym typeface="+mn-ea"/>
              </a:rPr>
              <a:t>恶意环境下分布式数字资产交易协议设计与分析</a:t>
            </a:r>
            <a:r>
              <a:rPr lang="en-US" altLang="zh-CN" sz="2000" b="1" dirty="0">
                <a:latin typeface="微软雅黑" panose="020B0503020204020204" charset="-122"/>
                <a:ea typeface="微软雅黑" panose="020B0503020204020204" charset="-122"/>
                <a:cs typeface="微软雅黑" panose="020B0503020204020204" charset="-122"/>
                <a:sym typeface="+mn-ea"/>
              </a:rPr>
              <a:t>	</a:t>
            </a:r>
          </a:p>
        </p:txBody>
      </p:sp>
      <p:sp>
        <p:nvSpPr>
          <p:cNvPr id="4" name="平行四边形 3"/>
          <p:cNvSpPr/>
          <p:nvPr>
            <p:custDataLst>
              <p:tags r:id="rId9"/>
            </p:custDataLst>
          </p:nvPr>
        </p:nvSpPr>
        <p:spPr>
          <a:xfrm>
            <a:off x="594995" y="2014220"/>
            <a:ext cx="1614170" cy="412750"/>
          </a:xfrm>
          <a:prstGeom prst="parallelogram">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t>研究内容</a:t>
            </a:r>
          </a:p>
        </p:txBody>
      </p:sp>
      <p:sp>
        <p:nvSpPr>
          <p:cNvPr id="16" name="平行四边形 15"/>
          <p:cNvSpPr/>
          <p:nvPr>
            <p:custDataLst>
              <p:tags r:id="rId10"/>
            </p:custDataLst>
          </p:nvPr>
        </p:nvSpPr>
        <p:spPr>
          <a:xfrm>
            <a:off x="594995" y="5148580"/>
            <a:ext cx="1614170" cy="412750"/>
          </a:xfrm>
          <a:prstGeom prst="parallelogram">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t>预期目标</a:t>
            </a:r>
          </a:p>
        </p:txBody>
      </p:sp>
      <p:sp>
        <p:nvSpPr>
          <p:cNvPr id="6" name="文本框 5"/>
          <p:cNvSpPr txBox="1"/>
          <p:nvPr>
            <p:custDataLst>
              <p:tags r:id="rId11"/>
            </p:custDataLst>
          </p:nvPr>
        </p:nvSpPr>
        <p:spPr>
          <a:xfrm>
            <a:off x="940435" y="5659755"/>
            <a:ext cx="10016490" cy="1080135"/>
          </a:xfrm>
          <a:prstGeom prst="rect">
            <a:avLst/>
          </a:prstGeom>
          <a:noFill/>
        </p:spPr>
        <p:txBody>
          <a:bodyPr wrap="square" rtlCol="0" anchor="t">
            <a:noAutofit/>
          </a:bodyPr>
          <a:lstStyle/>
          <a:p>
            <a:pPr indent="0" fontAlgn="auto">
              <a:lnSpc>
                <a:spcPct val="120000"/>
              </a:lnSpc>
              <a:spcBef>
                <a:spcPts val="600"/>
              </a:spcBef>
              <a:buFont typeface="Arial" panose="020B0604020202020204" pitchFamily="34" charset="0"/>
              <a:buNone/>
            </a:pPr>
            <a:r>
              <a:rPr lang="zh-CN" altLang="en-US" dirty="0">
                <a:latin typeface="微软雅黑" panose="020B0503020204020204" charset="-122"/>
                <a:ea typeface="微软雅黑" panose="020B0503020204020204" charset="-122"/>
                <a:cs typeface="微软雅黑" panose="020B0503020204020204" charset="-122"/>
                <a:sym typeface="+mn-ea"/>
              </a:rPr>
              <a:t>提出可证明安全的分布式数字资产交易协议</a:t>
            </a:r>
            <a:endParaRPr lang="zh-CN" altLang="en-US" b="1"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393" name="文本框 392"/>
          <p:cNvSpPr txBox="1"/>
          <p:nvPr>
            <p:custDataLst>
              <p:tags r:id="rId12"/>
            </p:custDataLst>
          </p:nvPr>
        </p:nvSpPr>
        <p:spPr>
          <a:xfrm>
            <a:off x="594995" y="2743200"/>
            <a:ext cx="4663440" cy="2058577"/>
          </a:xfrm>
          <a:prstGeom prst="rect">
            <a:avLst/>
          </a:prstGeom>
          <a:noFill/>
        </p:spPr>
        <p:txBody>
          <a:bodyPr wrap="square" rtlCol="0" anchor="t">
            <a:spAutoFit/>
          </a:bodyPr>
          <a:lstStyle/>
          <a:p>
            <a:pPr marL="285750" indent="-285750" fontAlgn="auto">
              <a:lnSpc>
                <a:spcPct val="120000"/>
              </a:lnSpc>
              <a:buFont typeface="Arial" panose="020B0604020202020204" pitchFamily="34" charset="0"/>
              <a:buChar char="•"/>
            </a:pPr>
            <a:r>
              <a:rPr lang="zh-CN" altLang="en-US" dirty="0">
                <a:latin typeface="微软雅黑" panose="020B0503020204020204" charset="-122"/>
                <a:ea typeface="微软雅黑" panose="020B0503020204020204" charset="-122"/>
                <a:cs typeface="微软雅黑" panose="020B0503020204020204" charset="-122"/>
                <a:sym typeface="+mn-ea"/>
              </a:rPr>
              <a:t>现有的分布式资产交易协议资产兑换机制依赖于诚实矿工假设，难以应对现实中恶意攻击</a:t>
            </a:r>
            <a:endParaRPr lang="zh-CN" altLang="en-US" b="1" dirty="0">
              <a:latin typeface="微软雅黑" panose="020B0503020204020204" charset="-122"/>
              <a:ea typeface="微软雅黑" panose="020B0503020204020204" charset="-122"/>
              <a:cs typeface="微软雅黑" panose="020B0503020204020204" charset="-122"/>
              <a:sym typeface="+mn-ea"/>
            </a:endParaRPr>
          </a:p>
          <a:p>
            <a:pPr marL="285750" indent="-285750" fontAlgn="auto">
              <a:lnSpc>
                <a:spcPct val="120000"/>
              </a:lnSpc>
              <a:buFont typeface="Arial" panose="020B0604020202020204" pitchFamily="34" charset="0"/>
              <a:buChar char="•"/>
            </a:pPr>
            <a:r>
              <a:rPr lang="zh-CN" altLang="en-US" dirty="0">
                <a:latin typeface="微软雅黑" panose="020B0503020204020204" charset="-122"/>
                <a:ea typeface="微软雅黑" panose="020B0503020204020204" charset="-122"/>
                <a:cs typeface="微软雅黑" panose="020B0503020204020204" charset="-122"/>
                <a:sym typeface="+mn-ea"/>
              </a:rPr>
              <a:t>分析现有协议的安全漏洞及潜在攻击，重构现有资产兑换范式</a:t>
            </a:r>
          </a:p>
          <a:p>
            <a:pPr marL="285750" indent="-285750" fontAlgn="auto">
              <a:lnSpc>
                <a:spcPct val="120000"/>
              </a:lnSpc>
              <a:buFont typeface="Arial" panose="020B0604020202020204" pitchFamily="34" charset="0"/>
              <a:buChar char="•"/>
            </a:pPr>
            <a:r>
              <a:rPr lang="zh-CN" altLang="en-US" dirty="0">
                <a:latin typeface="微软雅黑" panose="020B0503020204020204" charset="-122"/>
                <a:ea typeface="微软雅黑" panose="020B0503020204020204" charset="-122"/>
                <a:cs typeface="微软雅黑" panose="020B0503020204020204" charset="-122"/>
                <a:sym typeface="+mn-ea"/>
              </a:rPr>
              <a:t>完成安全性分析与证明</a:t>
            </a:r>
          </a:p>
        </p:txBody>
      </p:sp>
      <p:sp>
        <p:nvSpPr>
          <p:cNvPr id="10" name="文本框 9"/>
          <p:cNvSpPr txBox="1"/>
          <p:nvPr>
            <p:custDataLst>
              <p:tags r:id="rId13"/>
            </p:custDataLst>
          </p:nvPr>
        </p:nvSpPr>
        <p:spPr>
          <a:xfrm>
            <a:off x="5603875" y="4745990"/>
            <a:ext cx="5731123" cy="748327"/>
          </a:xfrm>
          <a:prstGeom prst="rect">
            <a:avLst/>
          </a:prstGeom>
          <a:noFill/>
        </p:spPr>
        <p:txBody>
          <a:bodyPr wrap="square" rtlCol="0" anchor="t">
            <a:noAutofit/>
          </a:bodyPr>
          <a:lstStyle/>
          <a:p>
            <a:pPr>
              <a:lnSpc>
                <a:spcPct val="150000"/>
              </a:lnSpc>
            </a:pPr>
            <a:r>
              <a:rPr lang="zh-CN" altLang="en-US" sz="1400" dirty="0">
                <a:latin typeface="微软雅黑" panose="020B0503020204020204" charset="-122"/>
                <a:ea typeface="微软雅黑" panose="020B0503020204020204" charset="-122"/>
                <a:cs typeface="等线" panose="02010600030101010101" charset="-122"/>
                <a:sym typeface="+mn-ea"/>
              </a:rPr>
              <a:t>分布式资产交易协议的基础构建范式</a:t>
            </a:r>
            <a:r>
              <a:rPr lang="en-US" altLang="zh-CN" sz="1400" dirty="0">
                <a:latin typeface="微软雅黑" panose="020B0503020204020204" charset="-122"/>
                <a:ea typeface="微软雅黑" panose="020B0503020204020204" charset="-122"/>
                <a:cs typeface="等线" panose="02010600030101010101" charset="-122"/>
                <a:sym typeface="+mn-ea"/>
              </a:rPr>
              <a:t>HTLC</a:t>
            </a:r>
            <a:r>
              <a:rPr lang="zh-CN" altLang="en-US" sz="1400" dirty="0">
                <a:latin typeface="微软雅黑" panose="020B0503020204020204" charset="-122"/>
                <a:ea typeface="微软雅黑" panose="020B0503020204020204" charset="-122"/>
                <a:cs typeface="等线" panose="02010600030101010101" charset="-122"/>
                <a:sym typeface="+mn-ea"/>
              </a:rPr>
              <a:t>范式通过时间锁定保证资产的合法兑换，但在贿赂矿工的前提下恶意用户抢先侵占诚实用户的资产</a:t>
            </a:r>
            <a:endParaRPr lang="en-US" altLang="zh-CN" sz="1400" dirty="0">
              <a:latin typeface="微软雅黑" panose="020B0503020204020204" charset="-122"/>
              <a:ea typeface="微软雅黑" panose="020B0503020204020204" charset="-122"/>
              <a:cs typeface="等线" panose="02010600030101010101" charset="-122"/>
              <a:sym typeface="+mn-ea"/>
            </a:endParaRPr>
          </a:p>
        </p:txBody>
      </p:sp>
      <p:grpSp>
        <p:nvGrpSpPr>
          <p:cNvPr id="12" name="组合 11">
            <a:extLst>
              <a:ext uri="{FF2B5EF4-FFF2-40B4-BE49-F238E27FC236}">
                <a16:creationId xmlns:a16="http://schemas.microsoft.com/office/drawing/2014/main" id="{4F52FF28-672C-8866-D60F-CADF879A9F9C}"/>
              </a:ext>
            </a:extLst>
          </p:cNvPr>
          <p:cNvGrpSpPr/>
          <p:nvPr/>
        </p:nvGrpSpPr>
        <p:grpSpPr>
          <a:xfrm>
            <a:off x="5739738" y="2642772"/>
            <a:ext cx="5555599" cy="1826606"/>
            <a:chOff x="5768523" y="2579139"/>
            <a:chExt cx="6120582" cy="2020936"/>
          </a:xfrm>
        </p:grpSpPr>
        <p:pic>
          <p:nvPicPr>
            <p:cNvPr id="7" name="图片 6">
              <a:extLst>
                <a:ext uri="{FF2B5EF4-FFF2-40B4-BE49-F238E27FC236}">
                  <a16:creationId xmlns:a16="http://schemas.microsoft.com/office/drawing/2014/main" id="{F5FFDA90-983E-144F-31C1-226E1FF4DF81}"/>
                </a:ext>
              </a:extLst>
            </p:cNvPr>
            <p:cNvPicPr>
              <a:picLocks noChangeAspect="1"/>
            </p:cNvPicPr>
            <p:nvPr/>
          </p:nvPicPr>
          <p:blipFill>
            <a:blip r:embed="rId17"/>
            <a:stretch>
              <a:fillRect/>
            </a:stretch>
          </p:blipFill>
          <p:spPr>
            <a:xfrm>
              <a:off x="5768523" y="2579139"/>
              <a:ext cx="3012073" cy="2020936"/>
            </a:xfrm>
            <a:prstGeom prst="rect">
              <a:avLst/>
            </a:prstGeom>
          </p:spPr>
        </p:pic>
        <p:pic>
          <p:nvPicPr>
            <p:cNvPr id="8" name="图片 7">
              <a:extLst>
                <a:ext uri="{FF2B5EF4-FFF2-40B4-BE49-F238E27FC236}">
                  <a16:creationId xmlns:a16="http://schemas.microsoft.com/office/drawing/2014/main" id="{CE8CE03E-08CD-D3B0-2FAF-FED6298DBCF0}"/>
                </a:ext>
              </a:extLst>
            </p:cNvPr>
            <p:cNvPicPr>
              <a:picLocks noChangeAspect="1"/>
            </p:cNvPicPr>
            <p:nvPr/>
          </p:nvPicPr>
          <p:blipFill>
            <a:blip r:embed="rId18"/>
            <a:stretch>
              <a:fillRect/>
            </a:stretch>
          </p:blipFill>
          <p:spPr>
            <a:xfrm>
              <a:off x="9034296" y="2594683"/>
              <a:ext cx="2854809" cy="1965887"/>
            </a:xfrm>
            <a:prstGeom prst="rect">
              <a:avLst/>
            </a:prstGeom>
          </p:spPr>
        </p:pic>
      </p:grpSp>
      <p:sp>
        <p:nvSpPr>
          <p:cNvPr id="14" name="矩形: 圆角 13">
            <a:extLst>
              <a:ext uri="{FF2B5EF4-FFF2-40B4-BE49-F238E27FC236}">
                <a16:creationId xmlns:a16="http://schemas.microsoft.com/office/drawing/2014/main" id="{BFA2EE2B-4B0B-8C8A-8F5A-0F6858FF002E}"/>
              </a:ext>
            </a:extLst>
          </p:cNvPr>
          <p:cNvSpPr/>
          <p:nvPr/>
        </p:nvSpPr>
        <p:spPr>
          <a:xfrm>
            <a:off x="8583881" y="2572987"/>
            <a:ext cx="2751117" cy="1939636"/>
          </a:xfrm>
          <a:prstGeom prst="round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27F04CEA-83D4-78D8-533C-8945E2EB7CD0}"/>
              </a:ext>
            </a:extLst>
          </p:cNvPr>
          <p:cNvSpPr txBox="1"/>
          <p:nvPr/>
        </p:nvSpPr>
        <p:spPr>
          <a:xfrm>
            <a:off x="11736779" y="6499761"/>
            <a:ext cx="455221" cy="369332"/>
          </a:xfrm>
          <a:prstGeom prst="rect">
            <a:avLst/>
          </a:prstGeom>
          <a:noFill/>
        </p:spPr>
        <p:txBody>
          <a:bodyPr wrap="square" rtlCol="0">
            <a:spAutoFit/>
          </a:bodyPr>
          <a:lstStyle/>
          <a:p>
            <a:pPr algn="ctr"/>
            <a:r>
              <a:rPr lang="en-US" altLang="zh-CN" dirty="0"/>
              <a:t>23</a:t>
            </a:r>
            <a:endParaRPr lang="zh-CN" alt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mc:Choice>
    <mc:Fallback xmlns="">
      <p:transition spd="med"/>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 name="矩形 4"/>
          <p:cNvSpPr/>
          <p:nvPr>
            <p:custDataLst>
              <p:tags r:id="rId2"/>
            </p:custDataLst>
          </p:nvPr>
        </p:nvSpPr>
        <p:spPr>
          <a:xfrm>
            <a:off x="5862320" y="-635"/>
            <a:ext cx="3115945" cy="721995"/>
          </a:xfrm>
          <a:prstGeom prst="rect">
            <a:avLst/>
          </a:prstGeom>
          <a:solidFill>
            <a:schemeClr val="bg1">
              <a:lumMod val="95000"/>
            </a:schemeClr>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custDataLst>
              <p:tags r:id="rId3"/>
            </p:custDataLst>
          </p:nvPr>
        </p:nvSpPr>
        <p:spPr>
          <a:xfrm>
            <a:off x="5862320" y="3175"/>
            <a:ext cx="3114675"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custDataLst>
              <p:tags r:id="rId4"/>
            </p:custDataLst>
          </p:nvPr>
        </p:nvSpPr>
        <p:spPr>
          <a:xfrm>
            <a:off x="3871595" y="-635"/>
            <a:ext cx="19907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664970" y="-635"/>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5"/>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p>
        </p:txBody>
      </p:sp>
      <p:pic>
        <p:nvPicPr>
          <p:cNvPr id="21" name="Picture 2" descr="C:\Program Files\Apache Software Foundation\Tomcat 6.0\webapps\topo1\images\sklois1 (2).jpg"/>
          <p:cNvPicPr>
            <a:picLocks noChangeAspect="1" noChangeArrowheads="1"/>
          </p:cNvPicPr>
          <p:nvPr>
            <p:custDataLst>
              <p:tags r:id="rId6"/>
            </p:custDataLst>
          </p:nvPr>
        </p:nvPicPr>
        <p:blipFill>
          <a:blip r:embed="rId16"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 name="等腰三角形 14"/>
          <p:cNvSpPr/>
          <p:nvPr>
            <p:custDataLst>
              <p:tags r:id="rId7"/>
            </p:custDataLst>
          </p:nvPr>
        </p:nvSpPr>
        <p:spPr>
          <a:xfrm rot="10800000">
            <a:off x="7274560" y="720725"/>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custDataLst>
              <p:tags r:id="rId8"/>
            </p:custDataLst>
          </p:nvPr>
        </p:nvSpPr>
        <p:spPr>
          <a:xfrm>
            <a:off x="594995" y="1421765"/>
            <a:ext cx="10808970" cy="398780"/>
          </a:xfrm>
          <a:prstGeom prst="rect">
            <a:avLst/>
          </a:prstGeom>
          <a:noFill/>
        </p:spPr>
        <p:txBody>
          <a:bodyPr wrap="square" rtlCol="0" anchor="t">
            <a:spAutoFit/>
          </a:bodyPr>
          <a:lstStyle/>
          <a:p>
            <a:r>
              <a:rPr lang="zh-CN" altLang="en-US" sz="2000" b="1" dirty="0">
                <a:solidFill>
                  <a:srgbClr val="04579A"/>
                </a:solidFill>
                <a:sym typeface="+mn-ea"/>
              </a:rPr>
              <a:t>大规模环境下可扩展分布式数字资产交易协议设计与分析</a:t>
            </a:r>
            <a:endParaRPr lang="en-US" altLang="zh-CN" sz="2000" b="1" dirty="0">
              <a:latin typeface="微软雅黑" panose="020B0503020204020204" charset="-122"/>
              <a:ea typeface="微软雅黑" panose="020B0503020204020204" charset="-122"/>
              <a:cs typeface="微软雅黑" panose="020B0503020204020204" charset="-122"/>
              <a:sym typeface="+mn-ea"/>
            </a:endParaRPr>
          </a:p>
        </p:txBody>
      </p:sp>
      <p:sp>
        <p:nvSpPr>
          <p:cNvPr id="11" name="文本框 10"/>
          <p:cNvSpPr txBox="1"/>
          <p:nvPr>
            <p:custDataLst>
              <p:tags r:id="rId9"/>
            </p:custDataLst>
          </p:nvPr>
        </p:nvSpPr>
        <p:spPr>
          <a:xfrm>
            <a:off x="940435" y="5659755"/>
            <a:ext cx="10016490" cy="1080135"/>
          </a:xfrm>
          <a:prstGeom prst="rect">
            <a:avLst/>
          </a:prstGeom>
          <a:noFill/>
        </p:spPr>
        <p:txBody>
          <a:bodyPr wrap="square" rtlCol="0" anchor="t">
            <a:noAutofit/>
          </a:bodyPr>
          <a:lstStyle/>
          <a:p>
            <a:pPr marL="285750" indent="-285750" fontAlgn="auto">
              <a:lnSpc>
                <a:spcPct val="120000"/>
              </a:lnSpc>
              <a:spcBef>
                <a:spcPts val="0"/>
              </a:spcBef>
              <a:buFont typeface="Arial" panose="020B0604020202020204" pitchFamily="34" charset="0"/>
              <a:buChar char="•"/>
            </a:pPr>
            <a:r>
              <a:rPr lang="zh-CN" altLang="en-US" dirty="0">
                <a:sym typeface="+mn-ea"/>
              </a:rPr>
              <a:t>提出强可靠的可扩展分布式数字资产交易协议</a:t>
            </a:r>
            <a:endParaRPr lang="zh-CN" altLang="en-US" b="1"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13" name="平行四边形 12"/>
          <p:cNvSpPr/>
          <p:nvPr>
            <p:custDataLst>
              <p:tags r:id="rId10"/>
            </p:custDataLst>
          </p:nvPr>
        </p:nvSpPr>
        <p:spPr>
          <a:xfrm>
            <a:off x="594995" y="2014220"/>
            <a:ext cx="1614170" cy="412750"/>
          </a:xfrm>
          <a:prstGeom prst="parallelogram">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t>研究内容</a:t>
            </a:r>
          </a:p>
        </p:txBody>
      </p:sp>
      <p:sp>
        <p:nvSpPr>
          <p:cNvPr id="16" name="平行四边形 15"/>
          <p:cNvSpPr/>
          <p:nvPr>
            <p:custDataLst>
              <p:tags r:id="rId11"/>
            </p:custDataLst>
          </p:nvPr>
        </p:nvSpPr>
        <p:spPr>
          <a:xfrm>
            <a:off x="594995" y="5148580"/>
            <a:ext cx="1614170" cy="412750"/>
          </a:xfrm>
          <a:prstGeom prst="parallelogram">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t>预期目标</a:t>
            </a:r>
          </a:p>
        </p:txBody>
      </p:sp>
      <p:sp>
        <p:nvSpPr>
          <p:cNvPr id="393" name="文本框 392"/>
          <p:cNvSpPr txBox="1"/>
          <p:nvPr>
            <p:custDataLst>
              <p:tags r:id="rId12"/>
            </p:custDataLst>
          </p:nvPr>
        </p:nvSpPr>
        <p:spPr>
          <a:xfrm>
            <a:off x="594995" y="2743200"/>
            <a:ext cx="4476115" cy="1393779"/>
          </a:xfrm>
          <a:prstGeom prst="rect">
            <a:avLst/>
          </a:prstGeom>
          <a:noFill/>
        </p:spPr>
        <p:txBody>
          <a:bodyPr wrap="square" rtlCol="0" anchor="t">
            <a:spAutoFit/>
          </a:bodyPr>
          <a:lstStyle/>
          <a:p>
            <a:pPr marL="285750" indent="-285750" fontAlgn="auto">
              <a:lnSpc>
                <a:spcPct val="120000"/>
              </a:lnSpc>
              <a:buFont typeface="Arial" panose="020B0604020202020204" pitchFamily="34" charset="0"/>
              <a:buChar char="•"/>
            </a:pPr>
            <a:r>
              <a:rPr lang="zh-CN" altLang="en-US" dirty="0">
                <a:latin typeface="微软雅黑" panose="020B0503020204020204" charset="-122"/>
                <a:ea typeface="微软雅黑" panose="020B0503020204020204" charset="-122"/>
                <a:cs typeface="微软雅黑" panose="020B0503020204020204" charset="-122"/>
                <a:sym typeface="+mn-ea"/>
              </a:rPr>
              <a:t>研究满足信道资产流动性的再平衡机制</a:t>
            </a:r>
            <a:endParaRPr lang="en-US" altLang="zh-CN" dirty="0">
              <a:latin typeface="微软雅黑" panose="020B0503020204020204" charset="-122"/>
              <a:ea typeface="微软雅黑" panose="020B0503020204020204" charset="-122"/>
              <a:cs typeface="微软雅黑" panose="020B0503020204020204" charset="-122"/>
              <a:sym typeface="+mn-ea"/>
            </a:endParaRPr>
          </a:p>
          <a:p>
            <a:pPr marL="285750" indent="-285750" fontAlgn="auto">
              <a:lnSpc>
                <a:spcPct val="120000"/>
              </a:lnSpc>
              <a:buFont typeface="Arial" panose="020B0604020202020204" pitchFamily="34" charset="0"/>
              <a:buChar char="•"/>
            </a:pPr>
            <a:r>
              <a:rPr lang="zh-CN" altLang="en-US" dirty="0">
                <a:latin typeface="微软雅黑" panose="020B0503020204020204" charset="-122"/>
                <a:ea typeface="微软雅黑" panose="020B0503020204020204" charset="-122"/>
                <a:cs typeface="微软雅黑" panose="020B0503020204020204" charset="-122"/>
                <a:sym typeface="+mn-ea"/>
              </a:rPr>
              <a:t>设计高效虚拟信道协议</a:t>
            </a:r>
            <a:endParaRPr lang="en-US" altLang="zh-CN" dirty="0">
              <a:latin typeface="微软雅黑" panose="020B0503020204020204" charset="-122"/>
              <a:ea typeface="微软雅黑" panose="020B0503020204020204" charset="-122"/>
              <a:cs typeface="微软雅黑" panose="020B0503020204020204" charset="-122"/>
              <a:sym typeface="+mn-ea"/>
            </a:endParaRPr>
          </a:p>
          <a:p>
            <a:pPr marL="285750" indent="-285750" fontAlgn="auto">
              <a:lnSpc>
                <a:spcPct val="120000"/>
              </a:lnSpc>
              <a:buFont typeface="Arial" panose="020B0604020202020204" pitchFamily="34" charset="0"/>
              <a:buChar char="•"/>
            </a:pPr>
            <a:r>
              <a:rPr lang="zh-CN" altLang="en-US" dirty="0">
                <a:latin typeface="微软雅黑" panose="020B0503020204020204" charset="-122"/>
                <a:ea typeface="微软雅黑" panose="020B0503020204020204" charset="-122"/>
                <a:cs typeface="微软雅黑" panose="020B0503020204020204" charset="-122"/>
                <a:sym typeface="+mn-ea"/>
              </a:rPr>
              <a:t>设计多方信道安全更新协议</a:t>
            </a:r>
          </a:p>
          <a:p>
            <a:pPr marL="285750" indent="-285750" fontAlgn="auto">
              <a:lnSpc>
                <a:spcPct val="120000"/>
              </a:lnSpc>
              <a:buFont typeface="Arial" panose="020B0604020202020204" pitchFamily="34" charset="0"/>
              <a:buChar char="•"/>
            </a:pPr>
            <a:r>
              <a:rPr lang="zh-CN" altLang="en-US" dirty="0">
                <a:latin typeface="微软雅黑" panose="020B0503020204020204" charset="-122"/>
                <a:ea typeface="微软雅黑" panose="020B0503020204020204" charset="-122"/>
                <a:sym typeface="+mn-ea"/>
              </a:rPr>
              <a:t>完成实验并在真实网络中进行测试</a:t>
            </a:r>
          </a:p>
        </p:txBody>
      </p:sp>
      <p:pic>
        <p:nvPicPr>
          <p:cNvPr id="4" name="图片 3">
            <a:extLst>
              <a:ext uri="{FF2B5EF4-FFF2-40B4-BE49-F238E27FC236}">
                <a16:creationId xmlns:a16="http://schemas.microsoft.com/office/drawing/2014/main" id="{7342DEFF-F6DB-FEAD-CB9E-9D43088F81A6}"/>
              </a:ext>
            </a:extLst>
          </p:cNvPr>
          <p:cNvPicPr>
            <a:picLocks noChangeAspect="1"/>
          </p:cNvPicPr>
          <p:nvPr/>
        </p:nvPicPr>
        <p:blipFill>
          <a:blip r:embed="rId17"/>
          <a:stretch>
            <a:fillRect/>
          </a:stretch>
        </p:blipFill>
        <p:spPr>
          <a:xfrm>
            <a:off x="6445660" y="2371916"/>
            <a:ext cx="4304149" cy="2188654"/>
          </a:xfrm>
          <a:prstGeom prst="rect">
            <a:avLst/>
          </a:prstGeom>
        </p:spPr>
      </p:pic>
      <p:sp>
        <p:nvSpPr>
          <p:cNvPr id="6" name="文本框 5">
            <a:extLst>
              <a:ext uri="{FF2B5EF4-FFF2-40B4-BE49-F238E27FC236}">
                <a16:creationId xmlns:a16="http://schemas.microsoft.com/office/drawing/2014/main" id="{2DB0C791-B9C4-5640-5C4D-D8A35594CDE8}"/>
              </a:ext>
            </a:extLst>
          </p:cNvPr>
          <p:cNvSpPr txBox="1"/>
          <p:nvPr>
            <p:custDataLst>
              <p:tags r:id="rId13"/>
            </p:custDataLst>
          </p:nvPr>
        </p:nvSpPr>
        <p:spPr>
          <a:xfrm>
            <a:off x="6302014" y="4658995"/>
            <a:ext cx="4591440" cy="748327"/>
          </a:xfrm>
          <a:prstGeom prst="rect">
            <a:avLst/>
          </a:prstGeom>
          <a:noFill/>
        </p:spPr>
        <p:txBody>
          <a:bodyPr wrap="square" rtlCol="0" anchor="t">
            <a:noAutofit/>
          </a:bodyPr>
          <a:lstStyle/>
          <a:p>
            <a:pPr>
              <a:lnSpc>
                <a:spcPct val="150000"/>
              </a:lnSpc>
            </a:pPr>
            <a:r>
              <a:rPr lang="zh-CN" altLang="en-US" sz="1400" dirty="0">
                <a:latin typeface="微软雅黑" panose="020B0503020204020204" charset="-122"/>
                <a:ea typeface="微软雅黑" panose="020B0503020204020204" charset="-122"/>
                <a:cs typeface="等线" panose="02010600030101010101" charset="-122"/>
                <a:sym typeface="+mn-ea"/>
              </a:rPr>
              <a:t>现有链下可扩展性方案对于多跳支付导致的方向性永久流量衰减只起到暂时的缓解作用，不能释放其理想性能</a:t>
            </a:r>
            <a:endParaRPr lang="en-US" altLang="zh-CN" sz="1400" dirty="0">
              <a:latin typeface="微软雅黑" panose="020B0503020204020204" charset="-122"/>
              <a:ea typeface="微软雅黑" panose="020B0503020204020204" charset="-122"/>
              <a:cs typeface="等线" panose="02010600030101010101" charset="-122"/>
              <a:sym typeface="+mn-ea"/>
            </a:endParaRPr>
          </a:p>
        </p:txBody>
      </p:sp>
      <p:sp>
        <p:nvSpPr>
          <p:cNvPr id="8" name="文本框 7">
            <a:extLst>
              <a:ext uri="{FF2B5EF4-FFF2-40B4-BE49-F238E27FC236}">
                <a16:creationId xmlns:a16="http://schemas.microsoft.com/office/drawing/2014/main" id="{1297C035-A5E7-7B4A-FD56-57335EED3448}"/>
              </a:ext>
            </a:extLst>
          </p:cNvPr>
          <p:cNvSpPr txBox="1"/>
          <p:nvPr/>
        </p:nvSpPr>
        <p:spPr>
          <a:xfrm>
            <a:off x="11736779" y="6499761"/>
            <a:ext cx="455221" cy="369332"/>
          </a:xfrm>
          <a:prstGeom prst="rect">
            <a:avLst/>
          </a:prstGeom>
          <a:noFill/>
        </p:spPr>
        <p:txBody>
          <a:bodyPr wrap="square" rtlCol="0">
            <a:spAutoFit/>
          </a:bodyPr>
          <a:lstStyle/>
          <a:p>
            <a:pPr algn="ctr"/>
            <a:r>
              <a:rPr lang="en-US" altLang="zh-CN" dirty="0"/>
              <a:t>24</a:t>
            </a:r>
            <a:endParaRPr lang="zh-CN" alt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mc:Choice>
    <mc:Fallback xmlns="">
      <p:transition spd="med"/>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 name="矩形 4"/>
          <p:cNvSpPr/>
          <p:nvPr>
            <p:custDataLst>
              <p:tags r:id="rId2"/>
            </p:custDataLst>
          </p:nvPr>
        </p:nvSpPr>
        <p:spPr>
          <a:xfrm>
            <a:off x="5862320" y="-635"/>
            <a:ext cx="3115945" cy="721995"/>
          </a:xfrm>
          <a:prstGeom prst="rect">
            <a:avLst/>
          </a:prstGeom>
          <a:solidFill>
            <a:schemeClr val="bg1">
              <a:lumMod val="95000"/>
            </a:schemeClr>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custDataLst>
              <p:tags r:id="rId3"/>
            </p:custDataLst>
          </p:nvPr>
        </p:nvSpPr>
        <p:spPr>
          <a:xfrm>
            <a:off x="5862320" y="3175"/>
            <a:ext cx="3114675"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custDataLst>
              <p:tags r:id="rId4"/>
            </p:custDataLst>
          </p:nvPr>
        </p:nvSpPr>
        <p:spPr>
          <a:xfrm>
            <a:off x="3871595" y="-635"/>
            <a:ext cx="19907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664970" y="-635"/>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5"/>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p>
        </p:txBody>
      </p:sp>
      <p:pic>
        <p:nvPicPr>
          <p:cNvPr id="21" name="Picture 2" descr="C:\Program Files\Apache Software Foundation\Tomcat 6.0\webapps\topo1\images\sklois1 (2).jpg"/>
          <p:cNvPicPr>
            <a:picLocks noChangeAspect="1" noChangeArrowheads="1"/>
          </p:cNvPicPr>
          <p:nvPr>
            <p:custDataLst>
              <p:tags r:id="rId6"/>
            </p:custDataLst>
          </p:nvPr>
        </p:nvPicPr>
        <p:blipFill>
          <a:blip r:embed="rId13"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 name="等腰三角形 14"/>
          <p:cNvSpPr/>
          <p:nvPr>
            <p:custDataLst>
              <p:tags r:id="rId7"/>
            </p:custDataLst>
          </p:nvPr>
        </p:nvSpPr>
        <p:spPr>
          <a:xfrm rot="10800000">
            <a:off x="7274560" y="720725"/>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594995" y="1421765"/>
            <a:ext cx="10808970" cy="400110"/>
          </a:xfrm>
          <a:prstGeom prst="rect">
            <a:avLst/>
          </a:prstGeom>
          <a:noFill/>
        </p:spPr>
        <p:txBody>
          <a:bodyPr wrap="square" rtlCol="0" anchor="t">
            <a:spAutoFit/>
          </a:bodyPr>
          <a:lstStyle/>
          <a:p>
            <a:r>
              <a:rPr lang="zh-CN" altLang="en-US" sz="2000" b="1" dirty="0">
                <a:solidFill>
                  <a:srgbClr val="04579A"/>
                </a:solidFill>
                <a:sym typeface="+mn-ea"/>
              </a:rPr>
              <a:t>多源异构环境下分布式数字资产跨链验证协议设计与分析</a:t>
            </a:r>
            <a:r>
              <a:rPr lang="en-US" altLang="zh-CN" sz="2000" b="1" dirty="0">
                <a:latin typeface="微软雅黑" panose="020B0503020204020204" charset="-122"/>
                <a:ea typeface="微软雅黑" panose="020B0503020204020204" charset="-122"/>
                <a:cs typeface="微软雅黑" panose="020B0503020204020204" charset="-122"/>
                <a:sym typeface="+mn-ea"/>
              </a:rPr>
              <a:t>	</a:t>
            </a:r>
          </a:p>
        </p:txBody>
      </p:sp>
      <p:sp>
        <p:nvSpPr>
          <p:cNvPr id="16" name="平行四边形 15"/>
          <p:cNvSpPr/>
          <p:nvPr>
            <p:custDataLst>
              <p:tags r:id="rId8"/>
            </p:custDataLst>
          </p:nvPr>
        </p:nvSpPr>
        <p:spPr>
          <a:xfrm>
            <a:off x="594995" y="5148580"/>
            <a:ext cx="1614170" cy="412750"/>
          </a:xfrm>
          <a:prstGeom prst="parallelogram">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t>预期目标</a:t>
            </a:r>
          </a:p>
        </p:txBody>
      </p:sp>
      <p:sp>
        <p:nvSpPr>
          <p:cNvPr id="11" name="文本框 10"/>
          <p:cNvSpPr txBox="1"/>
          <p:nvPr>
            <p:custDataLst>
              <p:tags r:id="rId9"/>
            </p:custDataLst>
          </p:nvPr>
        </p:nvSpPr>
        <p:spPr>
          <a:xfrm>
            <a:off x="940435" y="5659755"/>
            <a:ext cx="10016490" cy="1080135"/>
          </a:xfrm>
          <a:prstGeom prst="rect">
            <a:avLst/>
          </a:prstGeom>
          <a:noFill/>
        </p:spPr>
        <p:txBody>
          <a:bodyPr wrap="square" rtlCol="0" anchor="t">
            <a:noAutofit/>
          </a:bodyPr>
          <a:lstStyle/>
          <a:p>
            <a:pPr marL="285750" indent="-285750" fontAlgn="auto">
              <a:lnSpc>
                <a:spcPct val="120000"/>
              </a:lnSpc>
              <a:buFont typeface="Arial" panose="020B0604020202020204" pitchFamily="34" charset="0"/>
              <a:buChar char="•"/>
            </a:pPr>
            <a:r>
              <a:rPr lang="zh-CN" altLang="en-US" dirty="0">
                <a:sym typeface="+mn-ea"/>
              </a:rPr>
              <a:t>设计互操作性增强的高效分布式数字资产交易协议</a:t>
            </a:r>
            <a:endParaRPr lang="zh-CN" altLang="en-US" b="1" dirty="0">
              <a:sym typeface="+mn-ea"/>
            </a:endParaRPr>
          </a:p>
        </p:txBody>
      </p:sp>
      <p:sp>
        <p:nvSpPr>
          <p:cNvPr id="17" name="平行四边形 16"/>
          <p:cNvSpPr/>
          <p:nvPr>
            <p:custDataLst>
              <p:tags r:id="rId10"/>
            </p:custDataLst>
          </p:nvPr>
        </p:nvSpPr>
        <p:spPr>
          <a:xfrm>
            <a:off x="594995" y="2014220"/>
            <a:ext cx="1614170" cy="412750"/>
          </a:xfrm>
          <a:prstGeom prst="parallelogram">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t>研究内容</a:t>
            </a:r>
          </a:p>
        </p:txBody>
      </p:sp>
      <p:sp>
        <p:nvSpPr>
          <p:cNvPr id="393" name="文本框 392"/>
          <p:cNvSpPr txBox="1"/>
          <p:nvPr/>
        </p:nvSpPr>
        <p:spPr>
          <a:xfrm>
            <a:off x="594995" y="2743200"/>
            <a:ext cx="4855779" cy="1726178"/>
          </a:xfrm>
          <a:prstGeom prst="rect">
            <a:avLst/>
          </a:prstGeom>
          <a:noFill/>
        </p:spPr>
        <p:txBody>
          <a:bodyPr wrap="square" rtlCol="0" anchor="t">
            <a:spAutoFit/>
          </a:bodyPr>
          <a:lstStyle/>
          <a:p>
            <a:pPr marL="285750" indent="-285750" fontAlgn="auto">
              <a:lnSpc>
                <a:spcPct val="120000"/>
              </a:lnSpc>
              <a:buFont typeface="Arial" panose="020B0604020202020204" pitchFamily="34" charset="0"/>
              <a:buChar char="•"/>
            </a:pPr>
            <a:r>
              <a:rPr lang="zh-CN" altLang="en-US" dirty="0">
                <a:latin typeface="微软雅黑" panose="020B0503020204020204" charset="-122"/>
                <a:ea typeface="微软雅黑" panose="020B0503020204020204" charset="-122"/>
                <a:cs typeface="微软雅黑" panose="020B0503020204020204" charset="-122"/>
                <a:sym typeface="+mn-ea"/>
              </a:rPr>
              <a:t>研究异构区块链之间通用跨链交易验证机制</a:t>
            </a:r>
            <a:endParaRPr lang="en-US" altLang="zh-CN" dirty="0">
              <a:latin typeface="微软雅黑" panose="020B0503020204020204" charset="-122"/>
              <a:ea typeface="微软雅黑" panose="020B0503020204020204" charset="-122"/>
              <a:cs typeface="微软雅黑" panose="020B0503020204020204" charset="-122"/>
              <a:sym typeface="+mn-ea"/>
            </a:endParaRPr>
          </a:p>
          <a:p>
            <a:pPr marL="285750" indent="-285750" fontAlgn="auto">
              <a:lnSpc>
                <a:spcPct val="120000"/>
              </a:lnSpc>
              <a:buFont typeface="Arial" panose="020B0604020202020204" pitchFamily="34" charset="0"/>
              <a:buChar char="•"/>
            </a:pPr>
            <a:r>
              <a:rPr lang="zh-CN" altLang="en-US" dirty="0">
                <a:latin typeface="微软雅黑" panose="020B0503020204020204" charset="-122"/>
                <a:ea typeface="微软雅黑" panose="020B0503020204020204" charset="-122"/>
                <a:cs typeface="微软雅黑" panose="020B0503020204020204" charset="-122"/>
                <a:sym typeface="+mn-ea"/>
              </a:rPr>
              <a:t>使用基础数字签名技术结合随机化承诺方案弱化目标链上条件支付的脚本语言需求</a:t>
            </a:r>
            <a:endParaRPr lang="en-US" altLang="zh-CN" dirty="0">
              <a:latin typeface="微软雅黑" panose="020B0503020204020204" charset="-122"/>
              <a:ea typeface="微软雅黑" panose="020B0503020204020204" charset="-122"/>
              <a:cs typeface="微软雅黑" panose="020B0503020204020204" charset="-122"/>
              <a:sym typeface="+mn-ea"/>
            </a:endParaRPr>
          </a:p>
          <a:p>
            <a:pPr marL="285750" indent="-285750" fontAlgn="auto">
              <a:lnSpc>
                <a:spcPct val="120000"/>
              </a:lnSpc>
              <a:buFont typeface="Arial" panose="020B0604020202020204" pitchFamily="34" charset="0"/>
              <a:buChar char="•"/>
            </a:pPr>
            <a:r>
              <a:rPr lang="zh-CN" altLang="en-US" dirty="0">
                <a:latin typeface="微软雅黑" panose="020B0503020204020204" charset="-122"/>
                <a:ea typeface="微软雅黑" panose="020B0503020204020204" charset="-122"/>
                <a:cs typeface="微软雅黑" panose="020B0503020204020204" charset="-122"/>
                <a:sym typeface="+mn-ea"/>
              </a:rPr>
              <a:t>实现链下状态更新和条件支付之间的双向绑定机制</a:t>
            </a:r>
          </a:p>
        </p:txBody>
      </p:sp>
      <p:pic>
        <p:nvPicPr>
          <p:cNvPr id="4" name="图片 3">
            <a:extLst>
              <a:ext uri="{FF2B5EF4-FFF2-40B4-BE49-F238E27FC236}">
                <a16:creationId xmlns:a16="http://schemas.microsoft.com/office/drawing/2014/main" id="{951F9D44-EA21-1CFF-FCAD-AFE087F506FE}"/>
              </a:ext>
            </a:extLst>
          </p:cNvPr>
          <p:cNvPicPr>
            <a:picLocks noChangeAspect="1"/>
          </p:cNvPicPr>
          <p:nvPr/>
        </p:nvPicPr>
        <p:blipFill>
          <a:blip r:embed="rId14"/>
          <a:stretch>
            <a:fillRect/>
          </a:stretch>
        </p:blipFill>
        <p:spPr>
          <a:xfrm>
            <a:off x="5918255" y="2139702"/>
            <a:ext cx="5722841" cy="2933832"/>
          </a:xfrm>
          <a:prstGeom prst="rect">
            <a:avLst/>
          </a:prstGeom>
        </p:spPr>
      </p:pic>
      <p:sp>
        <p:nvSpPr>
          <p:cNvPr id="6" name="文本框 5">
            <a:extLst>
              <a:ext uri="{FF2B5EF4-FFF2-40B4-BE49-F238E27FC236}">
                <a16:creationId xmlns:a16="http://schemas.microsoft.com/office/drawing/2014/main" id="{998131AA-0BEE-69D5-9364-F5CD47BAB0AF}"/>
              </a:ext>
            </a:extLst>
          </p:cNvPr>
          <p:cNvSpPr txBox="1"/>
          <p:nvPr/>
        </p:nvSpPr>
        <p:spPr>
          <a:xfrm>
            <a:off x="11736779" y="6499761"/>
            <a:ext cx="455221" cy="369332"/>
          </a:xfrm>
          <a:prstGeom prst="rect">
            <a:avLst/>
          </a:prstGeom>
          <a:noFill/>
        </p:spPr>
        <p:txBody>
          <a:bodyPr wrap="square" rtlCol="0">
            <a:spAutoFit/>
          </a:bodyPr>
          <a:lstStyle/>
          <a:p>
            <a:pPr algn="ctr"/>
            <a:r>
              <a:rPr lang="en-US" altLang="zh-CN" dirty="0"/>
              <a:t>25</a:t>
            </a:r>
            <a:endParaRPr lang="zh-CN" alt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mc:Choice>
    <mc:Fallback xmlns="">
      <p:transition spd="med"/>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9" name="矩形 8"/>
          <p:cNvSpPr/>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custDataLst>
              <p:tags r:id="rId2"/>
            </p:custDataLst>
          </p:nvPr>
        </p:nvSpPr>
        <p:spPr>
          <a:xfrm>
            <a:off x="8977630" y="3175"/>
            <a:ext cx="3214370"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custDataLst>
              <p:tags r:id="rId3"/>
            </p:custDataLst>
          </p:nvPr>
        </p:nvSpPr>
        <p:spPr>
          <a:xfrm>
            <a:off x="5862320" y="-635"/>
            <a:ext cx="3115945" cy="721995"/>
          </a:xfrm>
          <a:prstGeom prst="rect">
            <a:avLst/>
          </a:prstGeom>
          <a:solidFill>
            <a:schemeClr val="bg1">
              <a:lumMod val="95000"/>
            </a:schemeClr>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custDataLst>
              <p:tags r:id="rId4"/>
            </p:custDataLst>
          </p:nvPr>
        </p:nvSpPr>
        <p:spPr>
          <a:xfrm>
            <a:off x="3871595" y="-635"/>
            <a:ext cx="19907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664970" y="-635"/>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5"/>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工作计划与进度安排</a:t>
            </a:r>
          </a:p>
        </p:txBody>
      </p:sp>
      <p:pic>
        <p:nvPicPr>
          <p:cNvPr id="21" name="Picture 2" descr="C:\Program Files\Apache Software Foundation\Tomcat 6.0\webapps\topo1\images\sklois1 (2).jpg"/>
          <p:cNvPicPr>
            <a:picLocks noChangeAspect="1" noChangeArrowheads="1"/>
          </p:cNvPicPr>
          <p:nvPr>
            <p:custDataLst>
              <p:tags r:id="rId6"/>
            </p:custDataLst>
          </p:nvPr>
        </p:nvPicPr>
        <p:blipFill>
          <a:blip r:embed="rId11"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 name="等腰三角形 14"/>
          <p:cNvSpPr/>
          <p:nvPr>
            <p:custDataLst>
              <p:tags r:id="rId7"/>
            </p:custDataLst>
          </p:nvPr>
        </p:nvSpPr>
        <p:spPr>
          <a:xfrm rot="10800000">
            <a:off x="10666730" y="720725"/>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408940" y="1227455"/>
            <a:ext cx="11480165" cy="2130840"/>
          </a:xfrm>
          <a:prstGeom prst="rect">
            <a:avLst/>
          </a:prstGeom>
          <a:noFill/>
        </p:spPr>
        <p:txBody>
          <a:bodyPr wrap="square" rtlCol="0" anchor="t">
            <a:spAutoFit/>
          </a:bodyPr>
          <a:lstStyle/>
          <a:p>
            <a:pPr indent="0" fontAlgn="auto">
              <a:lnSpc>
                <a:spcPct val="120000"/>
              </a:lnSpc>
              <a:spcBef>
                <a:spcPts val="600"/>
              </a:spcBef>
              <a:spcAft>
                <a:spcPts val="600"/>
              </a:spcAft>
            </a:pPr>
            <a:r>
              <a:rPr lang="zh-CN" altLang="en-US" sz="2400" b="1" dirty="0">
                <a:solidFill>
                  <a:schemeClr val="tx1"/>
                </a:solidFill>
              </a:rPr>
              <a:t>已有工作</a:t>
            </a:r>
            <a:r>
              <a:rPr lang="zh-CN" altLang="en-US" dirty="0"/>
              <a:t> </a:t>
            </a:r>
          </a:p>
          <a:p>
            <a:pPr marL="342900" indent="-342900" fontAlgn="auto">
              <a:lnSpc>
                <a:spcPct val="150000"/>
              </a:lnSpc>
              <a:buAutoNum type="arabicPeriod"/>
            </a:pPr>
            <a:r>
              <a:rPr lang="en-US" altLang="zh-CN" sz="1600" dirty="0">
                <a:solidFill>
                  <a:schemeClr val="tx1">
                    <a:lumMod val="85000"/>
                    <a:lumOff val="15000"/>
                  </a:schemeClr>
                </a:solidFill>
              </a:rPr>
              <a:t>Tian A, Ni P, Gao Y, et al. Horcrux: Synthesize, Split, Shift and Stay Alive Preventing Channel Depletion via Universal and Enhanced Multi-hop Payments[J]. Cryptology </a:t>
            </a:r>
            <a:r>
              <a:rPr lang="en-US" altLang="zh-CN" sz="1600" dirty="0" err="1">
                <a:solidFill>
                  <a:schemeClr val="tx1">
                    <a:lumMod val="85000"/>
                    <a:lumOff val="15000"/>
                  </a:schemeClr>
                </a:solidFill>
              </a:rPr>
              <a:t>ePrint</a:t>
            </a:r>
            <a:r>
              <a:rPr lang="en-US" altLang="zh-CN" sz="1600" dirty="0">
                <a:solidFill>
                  <a:schemeClr val="tx1">
                    <a:lumMod val="85000"/>
                    <a:lumOff val="15000"/>
                  </a:schemeClr>
                </a:solidFill>
              </a:rPr>
              <a:t> Archive, 2024.</a:t>
            </a:r>
          </a:p>
          <a:p>
            <a:pPr fontAlgn="auto">
              <a:lnSpc>
                <a:spcPct val="150000"/>
              </a:lnSpc>
            </a:pPr>
            <a:r>
              <a:rPr lang="en-US" altLang="zh-CN" dirty="0">
                <a:solidFill>
                  <a:srgbClr val="04579A"/>
                </a:solidFill>
              </a:rPr>
              <a:t>     </a:t>
            </a:r>
            <a:r>
              <a:rPr lang="zh-CN" altLang="en-US" dirty="0">
                <a:solidFill>
                  <a:srgbClr val="04579A"/>
                </a:solidFill>
              </a:rPr>
              <a:t>该工作设计了无额外信任假设的抗信道干涸的多方虚拟信道协议</a:t>
            </a:r>
            <a:endParaRPr lang="zh-CN" altLang="en-US" dirty="0"/>
          </a:p>
          <a:p>
            <a:pPr marL="342900" indent="-342900" fontAlgn="auto">
              <a:lnSpc>
                <a:spcPct val="150000"/>
              </a:lnSpc>
              <a:buFont typeface="+mj-lt"/>
              <a:buAutoNum type="arabicPeriod" startAt="2"/>
            </a:pPr>
            <a:endParaRPr lang="zh-CN" altLang="en-US" dirty="0">
              <a:solidFill>
                <a:srgbClr val="04579A"/>
              </a:solidFill>
            </a:endParaRPr>
          </a:p>
        </p:txBody>
      </p:sp>
      <p:pic>
        <p:nvPicPr>
          <p:cNvPr id="7" name="图片 6">
            <a:extLst>
              <a:ext uri="{FF2B5EF4-FFF2-40B4-BE49-F238E27FC236}">
                <a16:creationId xmlns:a16="http://schemas.microsoft.com/office/drawing/2014/main" id="{ADB3D6BB-F9EF-30F5-E5EA-B7ED39B50CB7}"/>
              </a:ext>
            </a:extLst>
          </p:cNvPr>
          <p:cNvPicPr>
            <a:picLocks noChangeAspect="1"/>
          </p:cNvPicPr>
          <p:nvPr/>
        </p:nvPicPr>
        <p:blipFill>
          <a:blip r:embed="rId12"/>
          <a:stretch>
            <a:fillRect/>
          </a:stretch>
        </p:blipFill>
        <p:spPr>
          <a:xfrm>
            <a:off x="1045028" y="3267251"/>
            <a:ext cx="9858082" cy="2750818"/>
          </a:xfrm>
          <a:prstGeom prst="rect">
            <a:avLst/>
          </a:prstGeom>
        </p:spPr>
      </p:pic>
      <p:sp>
        <p:nvSpPr>
          <p:cNvPr id="26" name="文本框 25"/>
          <p:cNvSpPr txBox="1"/>
          <p:nvPr>
            <p:custDataLst>
              <p:tags r:id="rId8"/>
            </p:custDataLst>
          </p:nvPr>
        </p:nvSpPr>
        <p:spPr>
          <a:xfrm>
            <a:off x="4963477" y="6018069"/>
            <a:ext cx="2371090" cy="306705"/>
          </a:xfrm>
          <a:prstGeom prst="rect">
            <a:avLst/>
          </a:prstGeom>
          <a:solidFill>
            <a:srgbClr val="04579A"/>
          </a:solidFill>
          <a:effectLst>
            <a:outerShdw blurRad="50800" dist="38100" dir="2700000" algn="tl" rotWithShape="0">
              <a:prstClr val="black">
                <a:alpha val="40000"/>
              </a:prstClr>
            </a:outerShdw>
          </a:effectLst>
        </p:spPr>
        <p:txBody>
          <a:bodyPr wrap="square" rtlCol="0">
            <a:spAutoFit/>
          </a:bodyPr>
          <a:lstStyle/>
          <a:p>
            <a:pPr algn="ctr"/>
            <a:r>
              <a:rPr lang="zh-CN" altLang="en-US" sz="1400" dirty="0">
                <a:solidFill>
                  <a:schemeClr val="bg1"/>
                </a:solidFill>
              </a:rPr>
              <a:t>实测结果</a:t>
            </a:r>
          </a:p>
        </p:txBody>
      </p:sp>
      <p:sp>
        <p:nvSpPr>
          <p:cNvPr id="4" name="文本框 3">
            <a:extLst>
              <a:ext uri="{FF2B5EF4-FFF2-40B4-BE49-F238E27FC236}">
                <a16:creationId xmlns:a16="http://schemas.microsoft.com/office/drawing/2014/main" id="{A1FA0CCE-355C-B643-133C-46B59850856F}"/>
              </a:ext>
            </a:extLst>
          </p:cNvPr>
          <p:cNvSpPr txBox="1"/>
          <p:nvPr/>
        </p:nvSpPr>
        <p:spPr>
          <a:xfrm>
            <a:off x="11736779" y="6499761"/>
            <a:ext cx="455221" cy="369332"/>
          </a:xfrm>
          <a:prstGeom prst="rect">
            <a:avLst/>
          </a:prstGeom>
          <a:noFill/>
        </p:spPr>
        <p:txBody>
          <a:bodyPr wrap="square" rtlCol="0">
            <a:spAutoFit/>
          </a:bodyPr>
          <a:lstStyle/>
          <a:p>
            <a:pPr algn="ctr"/>
            <a:r>
              <a:rPr lang="en-US" altLang="zh-CN" dirty="0"/>
              <a:t>26</a:t>
            </a:r>
            <a:endParaRPr lang="zh-CN" altLang="en-US" dirty="0"/>
          </a:p>
        </p:txBody>
      </p:sp>
    </p:spTree>
    <p:custDataLst>
      <p:tags r:id="rId1"/>
    </p:custData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9" name="矩形 8"/>
          <p:cNvSpPr/>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custDataLst>
              <p:tags r:id="rId2"/>
            </p:custDataLst>
          </p:nvPr>
        </p:nvSpPr>
        <p:spPr>
          <a:xfrm>
            <a:off x="8977630" y="3175"/>
            <a:ext cx="3214370"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custDataLst>
              <p:tags r:id="rId3"/>
            </p:custDataLst>
          </p:nvPr>
        </p:nvSpPr>
        <p:spPr>
          <a:xfrm>
            <a:off x="5862320" y="-635"/>
            <a:ext cx="3115945" cy="721995"/>
          </a:xfrm>
          <a:prstGeom prst="rect">
            <a:avLst/>
          </a:prstGeom>
          <a:solidFill>
            <a:schemeClr val="bg1">
              <a:lumMod val="95000"/>
            </a:schemeClr>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custDataLst>
              <p:tags r:id="rId4"/>
            </p:custDataLst>
          </p:nvPr>
        </p:nvSpPr>
        <p:spPr>
          <a:xfrm>
            <a:off x="3871595" y="-635"/>
            <a:ext cx="19907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664970" y="-635"/>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5"/>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工作计划与进度安排</a:t>
            </a:r>
          </a:p>
        </p:txBody>
      </p:sp>
      <p:pic>
        <p:nvPicPr>
          <p:cNvPr id="21" name="Picture 2" descr="C:\Program Files\Apache Software Foundation\Tomcat 6.0\webapps\topo1\images\sklois1 (2).jpg"/>
          <p:cNvPicPr>
            <a:picLocks noChangeAspect="1" noChangeArrowheads="1"/>
          </p:cNvPicPr>
          <p:nvPr>
            <p:custDataLst>
              <p:tags r:id="rId6"/>
            </p:custDataLst>
          </p:nvPr>
        </p:nvPicPr>
        <p:blipFill>
          <a:blip r:embed="rId10"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 name="等腰三角形 14"/>
          <p:cNvSpPr/>
          <p:nvPr>
            <p:custDataLst>
              <p:tags r:id="rId7"/>
            </p:custDataLst>
          </p:nvPr>
        </p:nvSpPr>
        <p:spPr>
          <a:xfrm rot="10800000">
            <a:off x="10666730" y="720725"/>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408940" y="1227455"/>
            <a:ext cx="11480165" cy="2086597"/>
          </a:xfrm>
          <a:prstGeom prst="rect">
            <a:avLst/>
          </a:prstGeom>
          <a:noFill/>
        </p:spPr>
        <p:txBody>
          <a:bodyPr wrap="square" rtlCol="0" anchor="t">
            <a:spAutoFit/>
          </a:bodyPr>
          <a:lstStyle/>
          <a:p>
            <a:pPr indent="0" fontAlgn="auto">
              <a:lnSpc>
                <a:spcPct val="120000"/>
              </a:lnSpc>
              <a:spcBef>
                <a:spcPts val="600"/>
              </a:spcBef>
              <a:spcAft>
                <a:spcPts val="600"/>
              </a:spcAft>
            </a:pPr>
            <a:r>
              <a:rPr lang="zh-CN" altLang="en-US" sz="2400" b="1" dirty="0">
                <a:solidFill>
                  <a:schemeClr val="tx1"/>
                </a:solidFill>
              </a:rPr>
              <a:t>已有工作</a:t>
            </a:r>
            <a:r>
              <a:rPr lang="zh-CN" altLang="en-US" dirty="0"/>
              <a:t> </a:t>
            </a:r>
          </a:p>
          <a:p>
            <a:pPr marL="342900" indent="-342900" fontAlgn="auto">
              <a:lnSpc>
                <a:spcPct val="150000"/>
              </a:lnSpc>
              <a:buFont typeface="+mj-lt"/>
              <a:buAutoNum type="arabicPeriod" startAt="2"/>
            </a:pPr>
            <a:r>
              <a:rPr lang="en-US" altLang="zh-CN" sz="1600" dirty="0">
                <a:solidFill>
                  <a:schemeClr val="tx1">
                    <a:lumMod val="85000"/>
                    <a:lumOff val="15000"/>
                  </a:schemeClr>
                </a:solidFill>
              </a:rPr>
              <a:t>Ni P, Tian A, Xu J. Warning! The Timeout T Cannot Protect You From Losing Coins: PipeSwap: Forcing the Timely Release of a Secret for Atomic Cross-Chain Swaps[C]//2025 IEEE Symposium on Security and Privacy (SP). IEEE, 2025: 1566-1583</a:t>
            </a:r>
            <a:r>
              <a:rPr lang="zh-CN" altLang="en-US" sz="1600" dirty="0">
                <a:solidFill>
                  <a:schemeClr val="tx1">
                    <a:lumMod val="85000"/>
                    <a:lumOff val="15000"/>
                  </a:schemeClr>
                </a:solidFill>
              </a:rPr>
              <a:t>.</a:t>
            </a:r>
          </a:p>
          <a:p>
            <a:pPr indent="457200" fontAlgn="auto">
              <a:lnSpc>
                <a:spcPct val="150000"/>
              </a:lnSpc>
              <a:buFont typeface="+mj-lt"/>
              <a:buNone/>
            </a:pPr>
            <a:r>
              <a:rPr lang="zh-CN" altLang="en-US" dirty="0">
                <a:solidFill>
                  <a:srgbClr val="04579A"/>
                </a:solidFill>
              </a:rPr>
              <a:t>该工作设计了抗</a:t>
            </a:r>
            <a:r>
              <a:rPr lang="en-US" altLang="zh-CN" dirty="0">
                <a:solidFill>
                  <a:srgbClr val="04579A"/>
                </a:solidFill>
              </a:rPr>
              <a:t>double-claiming</a:t>
            </a:r>
            <a:r>
              <a:rPr lang="zh-CN" altLang="en-US" dirty="0">
                <a:solidFill>
                  <a:srgbClr val="04579A"/>
                </a:solidFill>
              </a:rPr>
              <a:t>攻击的通用跨链原子交换协议。</a:t>
            </a:r>
          </a:p>
        </p:txBody>
      </p:sp>
      <p:pic>
        <p:nvPicPr>
          <p:cNvPr id="4" name="图片 3">
            <a:extLst>
              <a:ext uri="{FF2B5EF4-FFF2-40B4-BE49-F238E27FC236}">
                <a16:creationId xmlns:a16="http://schemas.microsoft.com/office/drawing/2014/main" id="{B2AE2AAB-AD58-3F9C-FF8F-19CD57B649B4}"/>
              </a:ext>
            </a:extLst>
          </p:cNvPr>
          <p:cNvPicPr>
            <a:picLocks noChangeAspect="1"/>
          </p:cNvPicPr>
          <p:nvPr/>
        </p:nvPicPr>
        <p:blipFill>
          <a:blip r:embed="rId11"/>
          <a:stretch>
            <a:fillRect/>
          </a:stretch>
        </p:blipFill>
        <p:spPr>
          <a:xfrm>
            <a:off x="3319896" y="3876662"/>
            <a:ext cx="5552207" cy="1586345"/>
          </a:xfrm>
          <a:prstGeom prst="rect">
            <a:avLst/>
          </a:prstGeom>
        </p:spPr>
      </p:pic>
      <p:sp>
        <p:nvSpPr>
          <p:cNvPr id="6" name="文本框 5">
            <a:extLst>
              <a:ext uri="{FF2B5EF4-FFF2-40B4-BE49-F238E27FC236}">
                <a16:creationId xmlns:a16="http://schemas.microsoft.com/office/drawing/2014/main" id="{10DC3565-FBB2-5A0B-38A9-08D7945862C2}"/>
              </a:ext>
            </a:extLst>
          </p:cNvPr>
          <p:cNvSpPr txBox="1"/>
          <p:nvPr/>
        </p:nvSpPr>
        <p:spPr>
          <a:xfrm>
            <a:off x="3007101" y="5630545"/>
            <a:ext cx="6177796" cy="369332"/>
          </a:xfrm>
          <a:prstGeom prst="rect">
            <a:avLst/>
          </a:prstGeom>
          <a:noFill/>
        </p:spPr>
        <p:txBody>
          <a:bodyPr wrap="square" rtlCol="0">
            <a:spAutoFit/>
          </a:bodyPr>
          <a:lstStyle/>
          <a:p>
            <a:pPr algn="ctr"/>
            <a:r>
              <a:rPr lang="zh-CN" altLang="en-US" dirty="0"/>
              <a:t>两阶段交易架构</a:t>
            </a:r>
            <a:r>
              <a:rPr lang="en-US" altLang="zh-CN" dirty="0"/>
              <a:t>+</a:t>
            </a:r>
            <a:r>
              <a:rPr lang="zh-CN" altLang="en-US" dirty="0"/>
              <a:t>可验证时间离散对数方案</a:t>
            </a:r>
            <a:r>
              <a:rPr lang="en-US" altLang="zh-CN" dirty="0"/>
              <a:t>+</a:t>
            </a:r>
            <a:r>
              <a:rPr lang="zh-CN" altLang="en-US" dirty="0"/>
              <a:t>两方适配器签名</a:t>
            </a:r>
          </a:p>
        </p:txBody>
      </p:sp>
      <p:sp>
        <p:nvSpPr>
          <p:cNvPr id="7" name="文本框 6">
            <a:extLst>
              <a:ext uri="{FF2B5EF4-FFF2-40B4-BE49-F238E27FC236}">
                <a16:creationId xmlns:a16="http://schemas.microsoft.com/office/drawing/2014/main" id="{BB840072-B95B-D9FE-F259-1B8494E435A2}"/>
              </a:ext>
            </a:extLst>
          </p:cNvPr>
          <p:cNvSpPr txBox="1"/>
          <p:nvPr/>
        </p:nvSpPr>
        <p:spPr>
          <a:xfrm>
            <a:off x="11736779" y="6499761"/>
            <a:ext cx="455221" cy="369332"/>
          </a:xfrm>
          <a:prstGeom prst="rect">
            <a:avLst/>
          </a:prstGeom>
          <a:noFill/>
        </p:spPr>
        <p:txBody>
          <a:bodyPr wrap="square" rtlCol="0">
            <a:spAutoFit/>
          </a:bodyPr>
          <a:lstStyle/>
          <a:p>
            <a:pPr algn="ctr"/>
            <a:r>
              <a:rPr lang="en-US" altLang="zh-CN" dirty="0"/>
              <a:t>27</a:t>
            </a:r>
            <a:endParaRPr lang="zh-CN" alt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mc:Choice>
    <mc:Fallback xmlns="">
      <p:transition spd="med"/>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9" name="矩形 8"/>
          <p:cNvSpPr/>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custDataLst>
              <p:tags r:id="rId2"/>
            </p:custDataLst>
          </p:nvPr>
        </p:nvSpPr>
        <p:spPr>
          <a:xfrm>
            <a:off x="8977630" y="3175"/>
            <a:ext cx="3214370"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custDataLst>
              <p:tags r:id="rId3"/>
            </p:custDataLst>
          </p:nvPr>
        </p:nvSpPr>
        <p:spPr>
          <a:xfrm>
            <a:off x="5862320" y="-635"/>
            <a:ext cx="3115945" cy="721995"/>
          </a:xfrm>
          <a:prstGeom prst="rect">
            <a:avLst/>
          </a:prstGeom>
          <a:solidFill>
            <a:schemeClr val="bg1">
              <a:lumMod val="95000"/>
            </a:schemeClr>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custDataLst>
              <p:tags r:id="rId4"/>
            </p:custDataLst>
          </p:nvPr>
        </p:nvSpPr>
        <p:spPr>
          <a:xfrm>
            <a:off x="3871595" y="-635"/>
            <a:ext cx="19907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664970" y="-635"/>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5"/>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工作计划与进度安排</a:t>
            </a:r>
          </a:p>
        </p:txBody>
      </p:sp>
      <p:pic>
        <p:nvPicPr>
          <p:cNvPr id="21" name="Picture 2" descr="C:\Program Files\Apache Software Foundation\Tomcat 6.0\webapps\topo1\images\sklois1 (2).jpg"/>
          <p:cNvPicPr>
            <a:picLocks noChangeAspect="1" noChangeArrowheads="1"/>
          </p:cNvPicPr>
          <p:nvPr>
            <p:custDataLst>
              <p:tags r:id="rId6"/>
            </p:custDataLst>
          </p:nvPr>
        </p:nvPicPr>
        <p:blipFill>
          <a:blip r:embed="rId28"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 name="等腰三角形 14"/>
          <p:cNvSpPr/>
          <p:nvPr>
            <p:custDataLst>
              <p:tags r:id="rId7"/>
            </p:custDataLst>
          </p:nvPr>
        </p:nvSpPr>
        <p:spPr>
          <a:xfrm rot="10800000">
            <a:off x="10666730" y="720725"/>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custDataLst>
              <p:tags r:id="rId8"/>
            </p:custDataLst>
          </p:nvPr>
        </p:nvSpPr>
        <p:spPr>
          <a:xfrm>
            <a:off x="3445510" y="5293360"/>
            <a:ext cx="6096000" cy="423545"/>
          </a:xfrm>
          <a:prstGeom prst="rect">
            <a:avLst/>
          </a:prstGeom>
          <a:noFill/>
        </p:spPr>
        <p:txBody>
          <a:bodyPr wrap="square" rtlCol="0" anchor="t">
            <a:spAutoFit/>
          </a:bodyPr>
          <a:lstStyle/>
          <a:p>
            <a:pPr indent="0" fontAlgn="auto">
              <a:lnSpc>
                <a:spcPct val="120000"/>
              </a:lnSpc>
            </a:pPr>
            <a:r>
              <a:rPr lang="zh-CN" altLang="en-US"/>
              <a:t>撰写博士论文，准备毕业答辩</a:t>
            </a:r>
          </a:p>
        </p:txBody>
      </p:sp>
      <p:cxnSp>
        <p:nvCxnSpPr>
          <p:cNvPr id="13" name="直接连接符 12"/>
          <p:cNvCxnSpPr/>
          <p:nvPr>
            <p:custDataLst>
              <p:tags r:id="rId9"/>
            </p:custDataLst>
          </p:nvPr>
        </p:nvCxnSpPr>
        <p:spPr>
          <a:xfrm>
            <a:off x="2721610" y="1696720"/>
            <a:ext cx="0" cy="457200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4" name="文本框 13"/>
          <p:cNvSpPr txBox="1"/>
          <p:nvPr>
            <p:custDataLst>
              <p:tags r:id="rId10"/>
            </p:custDataLst>
          </p:nvPr>
        </p:nvSpPr>
        <p:spPr>
          <a:xfrm>
            <a:off x="3416300" y="2045335"/>
            <a:ext cx="7265035" cy="728533"/>
          </a:xfrm>
          <a:prstGeom prst="rect">
            <a:avLst/>
          </a:prstGeom>
          <a:noFill/>
        </p:spPr>
        <p:txBody>
          <a:bodyPr wrap="square" rtlCol="0" anchor="t">
            <a:spAutoFit/>
          </a:bodyPr>
          <a:lstStyle/>
          <a:p>
            <a:pPr indent="0" fontAlgn="auto">
              <a:lnSpc>
                <a:spcPct val="120000"/>
              </a:lnSpc>
            </a:pPr>
            <a:r>
              <a:rPr lang="zh-CN" altLang="en-US" dirty="0">
                <a:sym typeface="+mn-ea"/>
              </a:rPr>
              <a:t>设计恶意场景下的可证明安全的分布式资产交易协议，完成协议安全性分析</a:t>
            </a:r>
          </a:p>
        </p:txBody>
      </p:sp>
      <p:sp>
        <p:nvSpPr>
          <p:cNvPr id="4" name="文本框 3"/>
          <p:cNvSpPr txBox="1"/>
          <p:nvPr>
            <p:custDataLst>
              <p:tags r:id="rId11"/>
            </p:custDataLst>
          </p:nvPr>
        </p:nvSpPr>
        <p:spPr>
          <a:xfrm>
            <a:off x="3416300" y="3128010"/>
            <a:ext cx="7898130" cy="728533"/>
          </a:xfrm>
          <a:prstGeom prst="rect">
            <a:avLst/>
          </a:prstGeom>
          <a:noFill/>
        </p:spPr>
        <p:txBody>
          <a:bodyPr wrap="square" rtlCol="0" anchor="t">
            <a:spAutoFit/>
          </a:bodyPr>
          <a:lstStyle/>
          <a:p>
            <a:pPr indent="0" fontAlgn="auto">
              <a:lnSpc>
                <a:spcPct val="120000"/>
              </a:lnSpc>
            </a:pPr>
            <a:r>
              <a:rPr lang="zh-CN" altLang="en-US" dirty="0">
                <a:sym typeface="+mn-ea"/>
              </a:rPr>
              <a:t>根据分布式资产交易协议研究进展，完善已有工作，设计可证明安全的高效带状态的跨链桥协议</a:t>
            </a:r>
          </a:p>
        </p:txBody>
      </p:sp>
      <p:sp>
        <p:nvSpPr>
          <p:cNvPr id="16" name="文本框 15"/>
          <p:cNvSpPr txBox="1"/>
          <p:nvPr>
            <p:custDataLst>
              <p:tags r:id="rId12"/>
            </p:custDataLst>
          </p:nvPr>
        </p:nvSpPr>
        <p:spPr>
          <a:xfrm>
            <a:off x="3416300" y="4210685"/>
            <a:ext cx="7898765" cy="396134"/>
          </a:xfrm>
          <a:prstGeom prst="rect">
            <a:avLst/>
          </a:prstGeom>
          <a:noFill/>
        </p:spPr>
        <p:txBody>
          <a:bodyPr wrap="square" rtlCol="0" anchor="t">
            <a:spAutoFit/>
          </a:bodyPr>
          <a:lstStyle/>
          <a:p>
            <a:pPr indent="0" fontAlgn="auto">
              <a:lnSpc>
                <a:spcPct val="120000"/>
              </a:lnSpc>
            </a:pPr>
            <a:r>
              <a:rPr lang="zh-CN" altLang="en-US" dirty="0">
                <a:sym typeface="+mn-ea"/>
              </a:rPr>
              <a:t>完成对高效带状态的跨链桥协议的安全性分析、系统实现和性能测试</a:t>
            </a:r>
          </a:p>
        </p:txBody>
      </p:sp>
      <p:sp>
        <p:nvSpPr>
          <p:cNvPr id="17" name="椭圆 16"/>
          <p:cNvSpPr/>
          <p:nvPr>
            <p:custDataLst>
              <p:tags r:id="rId13"/>
            </p:custDataLst>
          </p:nvPr>
        </p:nvSpPr>
        <p:spPr>
          <a:xfrm>
            <a:off x="2645410" y="2160905"/>
            <a:ext cx="139700" cy="139700"/>
          </a:xfrm>
          <a:prstGeom prst="ellips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custDataLst>
              <p:tags r:id="rId14"/>
            </p:custDataLst>
          </p:nvPr>
        </p:nvSpPr>
        <p:spPr>
          <a:xfrm>
            <a:off x="2645410" y="3253105"/>
            <a:ext cx="139700" cy="139700"/>
          </a:xfrm>
          <a:prstGeom prst="ellips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custDataLst>
              <p:tags r:id="rId15"/>
            </p:custDataLst>
          </p:nvPr>
        </p:nvSpPr>
        <p:spPr>
          <a:xfrm>
            <a:off x="2645410" y="4345305"/>
            <a:ext cx="139700" cy="139700"/>
          </a:xfrm>
          <a:prstGeom prst="ellips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custDataLst>
              <p:tags r:id="rId16"/>
            </p:custDataLst>
          </p:nvPr>
        </p:nvSpPr>
        <p:spPr>
          <a:xfrm>
            <a:off x="2645410" y="5437505"/>
            <a:ext cx="139700" cy="139700"/>
          </a:xfrm>
          <a:prstGeom prst="ellips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 name="直接连接符 21"/>
          <p:cNvCxnSpPr>
            <a:stCxn id="17" idx="6"/>
          </p:cNvCxnSpPr>
          <p:nvPr>
            <p:custDataLst>
              <p:tags r:id="rId17"/>
            </p:custDataLst>
          </p:nvPr>
        </p:nvCxnSpPr>
        <p:spPr>
          <a:xfrm>
            <a:off x="2785110" y="2230755"/>
            <a:ext cx="489585" cy="0"/>
          </a:xfrm>
          <a:prstGeom prst="line">
            <a:avLst/>
          </a:prstGeom>
          <a:ln w="12700" cmpd="sng">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custDataLst>
              <p:tags r:id="rId18"/>
            </p:custDataLst>
          </p:nvPr>
        </p:nvCxnSpPr>
        <p:spPr>
          <a:xfrm>
            <a:off x="2785110" y="3324860"/>
            <a:ext cx="553085" cy="0"/>
          </a:xfrm>
          <a:prstGeom prst="line">
            <a:avLst/>
          </a:prstGeom>
          <a:ln w="12700" cmpd="sng">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custDataLst>
              <p:tags r:id="rId19"/>
            </p:custDataLst>
          </p:nvPr>
        </p:nvCxnSpPr>
        <p:spPr>
          <a:xfrm>
            <a:off x="2785110" y="4418965"/>
            <a:ext cx="514985" cy="0"/>
          </a:xfrm>
          <a:prstGeom prst="line">
            <a:avLst/>
          </a:prstGeom>
          <a:ln w="12700" cmpd="sng">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6" name="文本框 25"/>
          <p:cNvSpPr txBox="1"/>
          <p:nvPr>
            <p:custDataLst>
              <p:tags r:id="rId20"/>
            </p:custDataLst>
          </p:nvPr>
        </p:nvSpPr>
        <p:spPr>
          <a:xfrm>
            <a:off x="520700" y="1978660"/>
            <a:ext cx="2124075" cy="427746"/>
          </a:xfrm>
          <a:prstGeom prst="rect">
            <a:avLst/>
          </a:prstGeom>
          <a:noFill/>
        </p:spPr>
        <p:txBody>
          <a:bodyPr wrap="square" rtlCol="0" anchor="t">
            <a:spAutoFit/>
          </a:bodyPr>
          <a:lstStyle/>
          <a:p>
            <a:pPr indent="0" fontAlgn="auto">
              <a:lnSpc>
                <a:spcPct val="120000"/>
              </a:lnSpc>
            </a:pPr>
            <a:r>
              <a:rPr lang="zh-CN" altLang="en-US" sz="2000" b="1" dirty="0">
                <a:solidFill>
                  <a:srgbClr val="04579A"/>
                </a:solidFill>
                <a:sym typeface="+mn-ea"/>
              </a:rPr>
              <a:t>202</a:t>
            </a:r>
            <a:r>
              <a:rPr lang="en-US" altLang="zh-CN" sz="2000" b="1" dirty="0">
                <a:solidFill>
                  <a:srgbClr val="04579A"/>
                </a:solidFill>
                <a:sym typeface="+mn-ea"/>
              </a:rPr>
              <a:t>5</a:t>
            </a:r>
            <a:r>
              <a:rPr lang="zh-CN" altLang="en-US" sz="2000" b="1" dirty="0">
                <a:solidFill>
                  <a:srgbClr val="04579A"/>
                </a:solidFill>
                <a:sym typeface="+mn-ea"/>
              </a:rPr>
              <a:t>/06-202</a:t>
            </a:r>
            <a:r>
              <a:rPr lang="en-US" altLang="zh-CN" sz="2000" b="1" dirty="0">
                <a:solidFill>
                  <a:srgbClr val="04579A"/>
                </a:solidFill>
                <a:sym typeface="+mn-ea"/>
              </a:rPr>
              <a:t>5</a:t>
            </a:r>
            <a:r>
              <a:rPr lang="zh-CN" altLang="en-US" sz="2000" b="1" dirty="0">
                <a:solidFill>
                  <a:srgbClr val="04579A"/>
                </a:solidFill>
                <a:sym typeface="+mn-ea"/>
              </a:rPr>
              <a:t>/10</a:t>
            </a:r>
          </a:p>
        </p:txBody>
      </p:sp>
      <p:sp>
        <p:nvSpPr>
          <p:cNvPr id="27" name="文本框 26"/>
          <p:cNvSpPr txBox="1"/>
          <p:nvPr>
            <p:custDataLst>
              <p:tags r:id="rId21"/>
            </p:custDataLst>
          </p:nvPr>
        </p:nvSpPr>
        <p:spPr>
          <a:xfrm>
            <a:off x="520700" y="3057525"/>
            <a:ext cx="6096000" cy="427746"/>
          </a:xfrm>
          <a:prstGeom prst="rect">
            <a:avLst/>
          </a:prstGeom>
          <a:noFill/>
        </p:spPr>
        <p:txBody>
          <a:bodyPr wrap="square" rtlCol="0" anchor="t">
            <a:spAutoFit/>
          </a:bodyPr>
          <a:lstStyle/>
          <a:p>
            <a:pPr indent="0" fontAlgn="auto">
              <a:lnSpc>
                <a:spcPct val="120000"/>
              </a:lnSpc>
            </a:pPr>
            <a:r>
              <a:rPr lang="zh-CN" altLang="en-US" sz="2000" b="1" dirty="0">
                <a:solidFill>
                  <a:srgbClr val="04579A"/>
                </a:solidFill>
                <a:sym typeface="+mn-ea"/>
              </a:rPr>
              <a:t>202</a:t>
            </a:r>
            <a:r>
              <a:rPr lang="en-US" altLang="zh-CN" sz="2000" b="1" dirty="0">
                <a:solidFill>
                  <a:srgbClr val="04579A"/>
                </a:solidFill>
                <a:sym typeface="+mn-ea"/>
              </a:rPr>
              <a:t>5</a:t>
            </a:r>
            <a:r>
              <a:rPr lang="zh-CN" altLang="en-US" sz="2000" b="1" dirty="0">
                <a:solidFill>
                  <a:srgbClr val="04579A"/>
                </a:solidFill>
                <a:sym typeface="+mn-ea"/>
              </a:rPr>
              <a:t>/11-202</a:t>
            </a:r>
            <a:r>
              <a:rPr lang="en-US" altLang="zh-CN" sz="2000" b="1" dirty="0">
                <a:solidFill>
                  <a:srgbClr val="04579A"/>
                </a:solidFill>
                <a:sym typeface="+mn-ea"/>
              </a:rPr>
              <a:t>6</a:t>
            </a:r>
            <a:r>
              <a:rPr lang="zh-CN" altLang="en-US" sz="2000" b="1" dirty="0">
                <a:solidFill>
                  <a:srgbClr val="04579A"/>
                </a:solidFill>
                <a:sym typeface="+mn-ea"/>
              </a:rPr>
              <a:t>/06</a:t>
            </a:r>
          </a:p>
        </p:txBody>
      </p:sp>
      <p:sp>
        <p:nvSpPr>
          <p:cNvPr id="29" name="文本框 28"/>
          <p:cNvSpPr txBox="1"/>
          <p:nvPr>
            <p:custDataLst>
              <p:tags r:id="rId22"/>
            </p:custDataLst>
          </p:nvPr>
        </p:nvSpPr>
        <p:spPr>
          <a:xfrm>
            <a:off x="520700" y="4150995"/>
            <a:ext cx="2265045" cy="427746"/>
          </a:xfrm>
          <a:prstGeom prst="rect">
            <a:avLst/>
          </a:prstGeom>
          <a:noFill/>
        </p:spPr>
        <p:txBody>
          <a:bodyPr wrap="square" rtlCol="0" anchor="t">
            <a:spAutoFit/>
          </a:bodyPr>
          <a:lstStyle/>
          <a:p>
            <a:pPr indent="0" fontAlgn="auto">
              <a:lnSpc>
                <a:spcPct val="120000"/>
              </a:lnSpc>
            </a:pPr>
            <a:r>
              <a:rPr lang="zh-CN" altLang="en-US" sz="2000" b="1" dirty="0">
                <a:solidFill>
                  <a:srgbClr val="04579A"/>
                </a:solidFill>
                <a:sym typeface="+mn-ea"/>
              </a:rPr>
              <a:t>202</a:t>
            </a:r>
            <a:r>
              <a:rPr lang="en-US" altLang="zh-CN" sz="2000" b="1" dirty="0">
                <a:solidFill>
                  <a:srgbClr val="04579A"/>
                </a:solidFill>
                <a:sym typeface="+mn-ea"/>
              </a:rPr>
              <a:t>6</a:t>
            </a:r>
            <a:r>
              <a:rPr lang="zh-CN" altLang="en-US" sz="2000" b="1" dirty="0">
                <a:solidFill>
                  <a:srgbClr val="04579A"/>
                </a:solidFill>
                <a:sym typeface="+mn-ea"/>
              </a:rPr>
              <a:t>/07-202</a:t>
            </a:r>
            <a:r>
              <a:rPr lang="en-US" altLang="zh-CN" sz="2000" b="1" dirty="0">
                <a:solidFill>
                  <a:srgbClr val="04579A"/>
                </a:solidFill>
                <a:sym typeface="+mn-ea"/>
              </a:rPr>
              <a:t>6</a:t>
            </a:r>
            <a:r>
              <a:rPr lang="zh-CN" altLang="en-US" sz="2000" b="1" dirty="0">
                <a:solidFill>
                  <a:srgbClr val="04579A"/>
                </a:solidFill>
                <a:sym typeface="+mn-ea"/>
              </a:rPr>
              <a:t>/11</a:t>
            </a:r>
          </a:p>
        </p:txBody>
      </p:sp>
      <p:sp>
        <p:nvSpPr>
          <p:cNvPr id="31" name="文本框 30"/>
          <p:cNvSpPr txBox="1"/>
          <p:nvPr>
            <p:custDataLst>
              <p:tags r:id="rId23"/>
            </p:custDataLst>
          </p:nvPr>
        </p:nvSpPr>
        <p:spPr>
          <a:xfrm>
            <a:off x="520700" y="5244465"/>
            <a:ext cx="2125345" cy="427746"/>
          </a:xfrm>
          <a:prstGeom prst="rect">
            <a:avLst/>
          </a:prstGeom>
          <a:noFill/>
        </p:spPr>
        <p:txBody>
          <a:bodyPr wrap="square" rtlCol="0" anchor="t">
            <a:spAutoFit/>
          </a:bodyPr>
          <a:lstStyle/>
          <a:p>
            <a:pPr indent="0" fontAlgn="auto">
              <a:lnSpc>
                <a:spcPct val="120000"/>
              </a:lnSpc>
            </a:pPr>
            <a:r>
              <a:rPr lang="zh-CN" altLang="en-US" sz="2000" b="1" dirty="0">
                <a:solidFill>
                  <a:srgbClr val="04579A"/>
                </a:solidFill>
                <a:sym typeface="+mn-ea"/>
              </a:rPr>
              <a:t>202</a:t>
            </a:r>
            <a:r>
              <a:rPr lang="en-US" altLang="zh-CN" sz="2000" b="1" dirty="0">
                <a:solidFill>
                  <a:srgbClr val="04579A"/>
                </a:solidFill>
                <a:sym typeface="+mn-ea"/>
              </a:rPr>
              <a:t>6</a:t>
            </a:r>
            <a:r>
              <a:rPr lang="zh-CN" altLang="en-US" sz="2000" b="1" dirty="0">
                <a:solidFill>
                  <a:srgbClr val="04579A"/>
                </a:solidFill>
                <a:sym typeface="+mn-ea"/>
              </a:rPr>
              <a:t>/12-202</a:t>
            </a:r>
            <a:r>
              <a:rPr lang="en-US" altLang="zh-CN" sz="2000" b="1" dirty="0">
                <a:solidFill>
                  <a:srgbClr val="04579A"/>
                </a:solidFill>
                <a:sym typeface="+mn-ea"/>
              </a:rPr>
              <a:t>7</a:t>
            </a:r>
            <a:r>
              <a:rPr lang="zh-CN" altLang="en-US" sz="2000" b="1" dirty="0">
                <a:solidFill>
                  <a:srgbClr val="04579A"/>
                </a:solidFill>
                <a:sym typeface="+mn-ea"/>
              </a:rPr>
              <a:t>/05</a:t>
            </a:r>
          </a:p>
        </p:txBody>
      </p:sp>
      <p:cxnSp>
        <p:nvCxnSpPr>
          <p:cNvPr id="32" name="直接连接符 31"/>
          <p:cNvCxnSpPr/>
          <p:nvPr>
            <p:custDataLst>
              <p:tags r:id="rId24"/>
            </p:custDataLst>
          </p:nvPr>
        </p:nvCxnSpPr>
        <p:spPr>
          <a:xfrm>
            <a:off x="2797175" y="5500370"/>
            <a:ext cx="514985" cy="0"/>
          </a:xfrm>
          <a:prstGeom prst="line">
            <a:avLst/>
          </a:prstGeom>
          <a:ln w="12700" cmpd="sng">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33" name="文本框 32"/>
          <p:cNvSpPr txBox="1"/>
          <p:nvPr>
            <p:custDataLst>
              <p:tags r:id="rId25"/>
            </p:custDataLst>
          </p:nvPr>
        </p:nvSpPr>
        <p:spPr>
          <a:xfrm>
            <a:off x="520700" y="1115060"/>
            <a:ext cx="6096000" cy="460375"/>
          </a:xfrm>
          <a:prstGeom prst="rect">
            <a:avLst/>
          </a:prstGeom>
          <a:noFill/>
        </p:spPr>
        <p:txBody>
          <a:bodyPr wrap="square" rtlCol="0" anchor="t">
            <a:spAutoFit/>
          </a:bodyPr>
          <a:lstStyle/>
          <a:p>
            <a:r>
              <a:rPr lang="zh-CN" altLang="en-US" sz="2400" b="1">
                <a:sym typeface="+mn-ea"/>
              </a:rPr>
              <a:t>未来进度安排</a:t>
            </a:r>
          </a:p>
        </p:txBody>
      </p:sp>
      <p:sp>
        <p:nvSpPr>
          <p:cNvPr id="7" name="文本框 6">
            <a:extLst>
              <a:ext uri="{FF2B5EF4-FFF2-40B4-BE49-F238E27FC236}">
                <a16:creationId xmlns:a16="http://schemas.microsoft.com/office/drawing/2014/main" id="{7D7C1620-2F9C-90BF-A85E-E3E54246A3B8}"/>
              </a:ext>
            </a:extLst>
          </p:cNvPr>
          <p:cNvSpPr txBox="1"/>
          <p:nvPr/>
        </p:nvSpPr>
        <p:spPr>
          <a:xfrm>
            <a:off x="11736779" y="6499761"/>
            <a:ext cx="455221" cy="369332"/>
          </a:xfrm>
          <a:prstGeom prst="rect">
            <a:avLst/>
          </a:prstGeom>
          <a:noFill/>
        </p:spPr>
        <p:txBody>
          <a:bodyPr wrap="square" rtlCol="0">
            <a:spAutoFit/>
          </a:bodyPr>
          <a:lstStyle/>
          <a:p>
            <a:pPr algn="ctr"/>
            <a:r>
              <a:rPr lang="en-US" altLang="zh-CN" dirty="0"/>
              <a:t>28</a:t>
            </a:r>
            <a:endParaRPr lang="zh-CN" alt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mc:Choice>
    <mc:Fallback xmlns="">
      <p:transition spd="med"/>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21" name="Picture 2" descr="C:\Program Files\Apache Software Foundation\Tomcat 6.0\webapps\topo1\images\sklois1 (2).jpg"/>
          <p:cNvPicPr>
            <a:picLocks noChangeAspect="1" noChangeArrowheads="1"/>
          </p:cNvPicPr>
          <p:nvPr>
            <p:custDataLst>
              <p:tags r:id="rId2"/>
            </p:custDataLst>
          </p:nvPr>
        </p:nvPicPr>
        <p:blipFill>
          <a:blip r:embed="rId6"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 name="文本框 9"/>
          <p:cNvSpPr txBox="1"/>
          <p:nvPr/>
        </p:nvSpPr>
        <p:spPr>
          <a:xfrm>
            <a:off x="3233420" y="2622550"/>
            <a:ext cx="5725795" cy="583565"/>
          </a:xfrm>
          <a:prstGeom prst="rect">
            <a:avLst/>
          </a:prstGeom>
          <a:noFill/>
        </p:spPr>
        <p:txBody>
          <a:bodyPr wrap="square" rtlCol="0">
            <a:spAutoFit/>
          </a:bodyPr>
          <a:lstStyle/>
          <a:p>
            <a:pPr algn="ctr"/>
            <a:r>
              <a:rPr lang="zh-CN" altLang="en-US" sz="3200" b="1">
                <a:solidFill>
                  <a:srgbClr val="04579A"/>
                </a:solidFill>
              </a:rPr>
              <a:t>恳请各位老师批评指正</a:t>
            </a:r>
          </a:p>
        </p:txBody>
      </p:sp>
      <p:sp>
        <p:nvSpPr>
          <p:cNvPr id="11" name="矩形 10"/>
          <p:cNvSpPr/>
          <p:nvPr/>
        </p:nvSpPr>
        <p:spPr>
          <a:xfrm>
            <a:off x="0" y="6419850"/>
            <a:ext cx="12191365" cy="438150"/>
          </a:xfrm>
          <a:prstGeom prst="rect">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custDataLst>
              <p:tags r:id="rId3"/>
            </p:custDataLst>
          </p:nvPr>
        </p:nvSpPr>
        <p:spPr>
          <a:xfrm>
            <a:off x="4184015" y="3836035"/>
            <a:ext cx="3822700" cy="521970"/>
          </a:xfrm>
          <a:prstGeom prst="rect">
            <a:avLst/>
          </a:prstGeom>
          <a:noFill/>
        </p:spPr>
        <p:txBody>
          <a:bodyPr wrap="square" rtlCol="0">
            <a:spAutoFit/>
          </a:bodyPr>
          <a:lstStyle/>
          <a:p>
            <a:pPr algn="ctr"/>
            <a:r>
              <a:rPr lang="en-US" altLang="zh-CN" sz="2800" b="1">
                <a:solidFill>
                  <a:schemeClr val="tx1">
                    <a:lumMod val="75000"/>
                    <a:lumOff val="25000"/>
                  </a:schemeClr>
                </a:solidFill>
              </a:rPr>
              <a:t>  </a:t>
            </a:r>
            <a:r>
              <a:rPr lang="zh-CN" altLang="en-US" sz="2800" b="1">
                <a:solidFill>
                  <a:schemeClr val="tx1">
                    <a:lumMod val="75000"/>
                    <a:lumOff val="25000"/>
                  </a:schemeClr>
                </a:solidFill>
              </a:rPr>
              <a:t>谢谢！</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mc:Choice>
    <mc:Fallback xmlns="">
      <p:transition spd="med"/>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DkxYTViYTE5M2M4ZGVlNmQ2NmQ5M2RhZDhjNmY4NjYifQ=="/>
  <p:tag name="KSO_WPP_MARK_KEY" val="8c6ff8f2-d2a6-4ef2-8f4b-35906fe5544d"/>
</p:tagLst>
</file>

<file path=ppt/tags/tag2.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881,&quot;width&quot;:1504}"/>
</p:tagLst>
</file>

<file path=ppt/tags/tag70.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5940"/>
  <p:tag name="KSO_WM_TAG_VERSION" val="1.0"/>
  <p:tag name="KSO_WM_SLIDE_ID" val="diagram20185940_1"/>
  <p:tag name="KSO_WM_SLIDE_INDEX" val="1"/>
  <p:tag name="KSO_WM_SLIDE_ITEM_CNT" val="6"/>
  <p:tag name="KSO_WM_SLIDE_LAYOUT" val="a_f_l"/>
  <p:tag name="KSO_WM_SLIDE_LAYOUT_CNT" val="1_2_1"/>
  <p:tag name="KSO_WM_SLIDE_TYPE" val="contents"/>
  <p:tag name="KSO_WM_SLIDE_SUBTYPE" val="diag"/>
  <p:tag name="KSO_WM_BEAUTIFY_FLAG" val="#wm#"/>
  <p:tag name="KSO_WM_DIAGRAM_GROUP_CODE" val="l1-1"/>
</p:tagLst>
</file>

<file path=ppt/tags/tag71.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5940"/>
  <p:tag name="KSO_WM_TAG_VERSION" val="1.0"/>
  <p:tag name="KSO_WM_UNIT_TYPE" val="l_h_i"/>
  <p:tag name="KSO_WM_UNIT_INDEX" val="1_1_1"/>
  <p:tag name="KSO_WM_UNIT_ID" val="diagram20185940_1*l_h_i*1_1_1"/>
  <p:tag name="KSO_WM_UNIT_LAYERLEVEL" val="1_1_1"/>
  <p:tag name="KSO_WM_BEAUTIFY_FLAG" val="#wm#"/>
  <p:tag name="KSO_WM_DIAGRAM_GROUP_CODE" val="l1-1"/>
  <p:tag name="KSO_WM_UNIT_TEXT_FILL_FORE_SCHEMECOLOR_INDEX" val="13"/>
  <p:tag name="KSO_WM_UNIT_TEXT_FILL_TYPE" val="1"/>
  <p:tag name="KSO_WM_UNIT_USESOURCEFORMAT_APPLY" val="1"/>
</p:tagLst>
</file>

<file path=ppt/tags/tag72.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5940"/>
  <p:tag name="KSO_WM_TAG_VERSION" val="1.0"/>
  <p:tag name="KSO_WM_UNIT_TYPE" val="l_h_f"/>
  <p:tag name="KSO_WM_UNIT_INDEX" val="1_1_1"/>
  <p:tag name="KSO_WM_UNIT_ID" val="diagram20185940_1*l_h_f*1_1_1"/>
  <p:tag name="KSO_WM_UNIT_LAYERLEVEL" val="1_1_1"/>
  <p:tag name="KSO_WM_UNIT_VALUE" val="18"/>
  <p:tag name="KSO_WM_UNIT_HIGHLIGHT" val="0"/>
  <p:tag name="KSO_WM_UNIT_COMPATIBLE" val="0"/>
  <p:tag name="KSO_WM_UNIT_CLEAR" val="0"/>
  <p:tag name="KSO_WM_BEAUTIFY_FLAG" val="#wm#"/>
  <p:tag name="KSO_WM_DIAGRAM_GROUP_CODE" val="l1-1"/>
  <p:tag name="KSO_WM_UNIT_PRESET_TEXT" val="此部分内容作为文字排版占位显示"/>
  <p:tag name="KSO_WM_UNIT_TEXT_FILL_FORE_SCHEMECOLOR_INDEX" val="13"/>
  <p:tag name="KSO_WM_UNIT_TEXT_FILL_TYPE" val="1"/>
  <p:tag name="KSO_WM_UNIT_USESOURCEFORMAT_APPLY" val="1"/>
</p:tagLst>
</file>

<file path=ppt/tags/tag73.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5940"/>
  <p:tag name="KSO_WM_TAG_VERSION" val="1.0"/>
  <p:tag name="KSO_WM_UNIT_TYPE" val="l_h_i"/>
  <p:tag name="KSO_WM_UNIT_INDEX" val="1_2_1"/>
  <p:tag name="KSO_WM_UNIT_ID" val="diagram20185940_1*l_h_i*1_2_1"/>
  <p:tag name="KSO_WM_UNIT_LAYERLEVEL" val="1_1_1"/>
  <p:tag name="KSO_WM_BEAUTIFY_FLAG" val="#wm#"/>
  <p:tag name="KSO_WM_DIAGRAM_GROUP_CODE" val="l1-1"/>
  <p:tag name="KSO_WM_UNIT_TEXT_FILL_FORE_SCHEMECOLOR_INDEX" val="13"/>
  <p:tag name="KSO_WM_UNIT_TEXT_FILL_TYPE" val="1"/>
  <p:tag name="KSO_WM_UNIT_USESOURCEFORMAT_APPLY" val="1"/>
</p:tagLst>
</file>

<file path=ppt/tags/tag74.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5940"/>
  <p:tag name="KSO_WM_TAG_VERSION" val="1.0"/>
  <p:tag name="KSO_WM_UNIT_TYPE" val="l_h_i"/>
  <p:tag name="KSO_WM_UNIT_INDEX" val="1_3_1"/>
  <p:tag name="KSO_WM_UNIT_ID" val="diagram20185940_1*l_h_i*1_3_1"/>
  <p:tag name="KSO_WM_UNIT_LAYERLEVEL" val="1_1_1"/>
  <p:tag name="KSO_WM_BEAUTIFY_FLAG" val="#wm#"/>
  <p:tag name="KSO_WM_DIAGRAM_GROUP_CODE" val="l1-1"/>
  <p:tag name="KSO_WM_UNIT_TEXT_FILL_FORE_SCHEMECOLOR_INDEX" val="13"/>
  <p:tag name="KSO_WM_UNIT_TEXT_FILL_TYPE" val="1"/>
  <p:tag name="KSO_WM_UNIT_USESOURCEFORMAT_APPLY" val="1"/>
</p:tagLst>
</file>

<file path=ppt/tags/tag75.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5940"/>
  <p:tag name="KSO_WM_TAG_VERSION" val="1.0"/>
  <p:tag name="KSO_WM_UNIT_TYPE" val="l_h_i"/>
  <p:tag name="KSO_WM_UNIT_INDEX" val="1_4_1"/>
  <p:tag name="KSO_WM_UNIT_ID" val="diagram20185940_1*l_h_i*1_4_1"/>
  <p:tag name="KSO_WM_UNIT_LAYERLEVEL" val="1_1_1"/>
  <p:tag name="KSO_WM_BEAUTIFY_FLAG" val="#wm#"/>
  <p:tag name="KSO_WM_DIAGRAM_GROUP_CODE" val="l1-1"/>
  <p:tag name="KSO_WM_UNIT_TEXT_FILL_FORE_SCHEMECOLOR_INDEX" val="13"/>
  <p:tag name="KSO_WM_UNIT_TEXT_FILL_TYPE" val="1"/>
  <p:tag name="KSO_WM_UNIT_USESOURCEFORMAT_APPLY" val="1"/>
</p:tagLst>
</file>

<file path=ppt/tags/tag76.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5940"/>
  <p:tag name="KSO_WM_TAG_VERSION" val="1.0"/>
  <p:tag name="KSO_WM_UNIT_TYPE" val="a"/>
  <p:tag name="KSO_WM_UNIT_INDEX" val="1"/>
  <p:tag name="KSO_WM_UNIT_ID" val="diagram20185940_1*a*1"/>
  <p:tag name="KSO_WM_UNIT_LAYERLEVEL" val="1"/>
  <p:tag name="KSO_WM_UNIT_ISCONTENTSTITLE" val="1"/>
  <p:tag name="KSO_WM_UNIT_VALUE" val="28"/>
  <p:tag name="KSO_WM_UNIT_HIGHLIGHT" val="0"/>
  <p:tag name="KSO_WM_UNIT_COMPATIBLE" val="0"/>
  <p:tag name="KSO_WM_UNIT_CLEAR" val="0"/>
  <p:tag name="KSO_WM_BEAUTIFY_FLAG" val="#wm#"/>
  <p:tag name="KSO_WM_UNIT_PRESET_TEXT" val="全文档_x000B_主题目录编辑"/>
</p:tagLst>
</file>

<file path=ppt/tags/tag7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85940_1*i*9"/>
  <p:tag name="KSO_WM_TEMPLATE_CATEGORY" val="diagram"/>
  <p:tag name="KSO_WM_TEMPLATE_INDEX" val="20185940"/>
  <p:tag name="KSO_WM_UNIT_INDEX" val="9"/>
</p:tagLst>
</file>

<file path=ppt/tags/tag78.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5940"/>
  <p:tag name="KSO_WM_TAG_VERSION" val="1.0"/>
  <p:tag name="KSO_WM_UNIT_TYPE" val="f"/>
  <p:tag name="KSO_WM_UNIT_INDEX" val="1"/>
  <p:tag name="KSO_WM_UNIT_ID" val="diagram20185940_1*f*1"/>
  <p:tag name="KSO_WM_UNIT_LAYERLEVEL" val="1"/>
  <p:tag name="KSO_WM_UNIT_VALUE" val="18"/>
  <p:tag name="KSO_WM_UNIT_HIGHLIGHT" val="0"/>
  <p:tag name="KSO_WM_UNIT_COMPATIBLE" val="0"/>
  <p:tag name="KSO_WM_UNIT_CLEAR" val="0"/>
  <p:tag name="KSO_WM_BEAUTIFY_FLAG" val="#wm#"/>
  <p:tag name="KSO_WM_UNIT_PRESET_TEXT" val="CONGTENT"/>
</p:tagLst>
</file>

<file path=ppt/tags/tag7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85940_1*i*11"/>
  <p:tag name="KSO_WM_TEMPLATE_CATEGORY" val="diagram"/>
  <p:tag name="KSO_WM_TEMPLATE_INDEX" val="20185940"/>
  <p:tag name="KSO_WM_UNIT_INDEX" val="11"/>
</p:tagLst>
</file>

<file path=ppt/tags/tag80.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5940"/>
  <p:tag name="KSO_WM_TAG_VERSION" val="1.0"/>
  <p:tag name="KSO_WM_UNIT_TYPE" val="f"/>
  <p:tag name="KSO_WM_UNIT_INDEX" val="2"/>
  <p:tag name="KSO_WM_UNIT_ID" val="diagram20185940_1*f*2"/>
  <p:tag name="KSO_WM_UNIT_LAYERLEVEL" val="1"/>
  <p:tag name="KSO_WM_UNIT_VALUE" val="42"/>
  <p:tag name="KSO_WM_UNIT_HIGHLIGHT" val="0"/>
  <p:tag name="KSO_WM_UNIT_COMPATIBLE" val="0"/>
  <p:tag name="KSO_WM_UNIT_CLEAR" val="0"/>
  <p:tag name="KSO_WM_BEAUTIFY_FLAG" val="#wm#"/>
  <p:tag name="KSO_WM_UNIT_PRESET_TEXT" val="此部分内容作为文字排版占位显示_x000B_（建议使用主题字体）"/>
</p:tagLst>
</file>

<file path=ppt/tags/tag81.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5940"/>
  <p:tag name="KSO_WM_TAG_VERSION" val="1.0"/>
  <p:tag name="KSO_WM_UNIT_TYPE" val="l_i"/>
  <p:tag name="KSO_WM_UNIT_INDEX" val="1_5"/>
  <p:tag name="KSO_WM_UNIT_ID" val="diagram20185940_1*l_i*1_5"/>
  <p:tag name="KSO_WM_UNIT_LAYERLEVEL" val="1_1"/>
  <p:tag name="KSO_WM_BEAUTIFY_FLAG" val="#wm#"/>
  <p:tag name="KSO_WM_DIAGRAM_GROUP_CODE" val="l1-1"/>
  <p:tag name="KSO_WM_UNIT_LINE_FORE_SCHEMECOLOR_INDEX" val="13"/>
  <p:tag name="KSO_WM_UNIT_LINE_FILL_TYPE" val="2"/>
  <p:tag name="KSO_WM_UNIT_USESOURCEFORMAT_APPLY" val="1"/>
</p:tagLst>
</file>

<file path=ppt/tags/tag82.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5940"/>
  <p:tag name="KSO_WM_TAG_VERSION" val="1.0"/>
  <p:tag name="KSO_WM_UNIT_TYPE" val="l_i"/>
  <p:tag name="KSO_WM_UNIT_INDEX" val="1_6"/>
  <p:tag name="KSO_WM_UNIT_ID" val="diagram20185940_1*l_i*1_6"/>
  <p:tag name="KSO_WM_UNIT_LAYERLEVEL" val="1_1"/>
  <p:tag name="KSO_WM_BEAUTIFY_FLAG" val="#wm#"/>
  <p:tag name="KSO_WM_DIAGRAM_GROUP_CODE" val="l1-1"/>
  <p:tag name="KSO_WM_UNIT_LINE_FORE_SCHEMECOLOR_INDEX" val="13"/>
  <p:tag name="KSO_WM_UNIT_LINE_FILL_TYPE" val="2"/>
  <p:tag name="KSO_WM_UNIT_USESOURCEFORMAT_APPLY" val="1"/>
</p:tagLst>
</file>

<file path=ppt/tags/tag83.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5940"/>
  <p:tag name="KSO_WM_TAG_VERSION" val="1.0"/>
  <p:tag name="KSO_WM_UNIT_TYPE" val="l_i"/>
  <p:tag name="KSO_WM_UNIT_INDEX" val="1_7"/>
  <p:tag name="KSO_WM_UNIT_ID" val="diagram20185940_1*l_i*1_7"/>
  <p:tag name="KSO_WM_UNIT_LAYERLEVEL" val="1_1"/>
  <p:tag name="KSO_WM_BEAUTIFY_FLAG" val="#wm#"/>
  <p:tag name="KSO_WM_DIAGRAM_GROUP_CODE" val="l1-1"/>
  <p:tag name="KSO_WM_UNIT_LINE_FORE_SCHEMECOLOR_INDEX" val="13"/>
  <p:tag name="KSO_WM_UNIT_LINE_FILL_TYPE" val="2"/>
  <p:tag name="KSO_WM_UNIT_USESOURCEFORMAT_APPLY" val="1"/>
</p:tagLst>
</file>

<file path=ppt/tags/tag84.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5940"/>
  <p:tag name="KSO_WM_TAG_VERSION" val="1.0"/>
  <p:tag name="KSO_WM_UNIT_TYPE" val="l_h_f"/>
  <p:tag name="KSO_WM_UNIT_INDEX" val="1_1_1"/>
  <p:tag name="KSO_WM_UNIT_ID" val="diagram20185940_1*l_h_f*1_1_1"/>
  <p:tag name="KSO_WM_UNIT_LAYERLEVEL" val="1_1_1"/>
  <p:tag name="KSO_WM_UNIT_VALUE" val="18"/>
  <p:tag name="KSO_WM_UNIT_HIGHLIGHT" val="0"/>
  <p:tag name="KSO_WM_UNIT_COMPATIBLE" val="0"/>
  <p:tag name="KSO_WM_UNIT_CLEAR" val="0"/>
  <p:tag name="KSO_WM_BEAUTIFY_FLAG" val=""/>
  <p:tag name="KSO_WM_DIAGRAM_GROUP_CODE" val="l1-1"/>
  <p:tag name="KSO_WM_UNIT_PRESET_TEXT" val="此部分内容作为文字排版占位显示"/>
  <p:tag name="KSO_WM_UNIT_TEXT_FILL_FORE_SCHEMECOLOR_INDEX" val="13"/>
  <p:tag name="KSO_WM_UNIT_TEXT_FILL_TYPE" val="1"/>
  <p:tag name="KSO_WM_UNIT_USESOURCEFORMAT_APPLY" val="1"/>
</p:tagLst>
</file>

<file path=ppt/tags/tag85.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5940"/>
  <p:tag name="KSO_WM_TAG_VERSION" val="1.0"/>
  <p:tag name="KSO_WM_UNIT_TYPE" val="l_h_f"/>
  <p:tag name="KSO_WM_UNIT_INDEX" val="1_1_1"/>
  <p:tag name="KSO_WM_UNIT_ID" val="diagram20185940_1*l_h_f*1_1_1"/>
  <p:tag name="KSO_WM_UNIT_LAYERLEVEL" val="1_1_1"/>
  <p:tag name="KSO_WM_UNIT_VALUE" val="18"/>
  <p:tag name="KSO_WM_UNIT_HIGHLIGHT" val="0"/>
  <p:tag name="KSO_WM_UNIT_COMPATIBLE" val="0"/>
  <p:tag name="KSO_WM_UNIT_CLEAR" val="0"/>
  <p:tag name="KSO_WM_BEAUTIFY_FLAG" val=""/>
  <p:tag name="KSO_WM_DIAGRAM_GROUP_CODE" val="l1-1"/>
  <p:tag name="KSO_WM_UNIT_PRESET_TEXT" val="此部分内容作为文字排版占位显示"/>
  <p:tag name="KSO_WM_UNIT_TEXT_FILL_FORE_SCHEMECOLOR_INDEX" val="13"/>
  <p:tag name="KSO_WM_UNIT_TEXT_FILL_TYPE" val="1"/>
  <p:tag name="KSO_WM_UNIT_USESOURCEFORMAT_APPLY" val="1"/>
</p:tagLst>
</file>

<file path=ppt/tags/tag86.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5940"/>
  <p:tag name="KSO_WM_TAG_VERSION" val="1.0"/>
  <p:tag name="KSO_WM_UNIT_TYPE" val="l_h_f"/>
  <p:tag name="KSO_WM_UNIT_INDEX" val="1_1_1"/>
  <p:tag name="KSO_WM_UNIT_ID" val="diagram20185940_1*l_h_f*1_1_1"/>
  <p:tag name="KSO_WM_UNIT_LAYERLEVEL" val="1_1_1"/>
  <p:tag name="KSO_WM_UNIT_VALUE" val="18"/>
  <p:tag name="KSO_WM_UNIT_HIGHLIGHT" val="0"/>
  <p:tag name="KSO_WM_UNIT_COMPATIBLE" val="0"/>
  <p:tag name="KSO_WM_UNIT_CLEAR" val="0"/>
  <p:tag name="KSO_WM_BEAUTIFY_FLAG" val=""/>
  <p:tag name="KSO_WM_DIAGRAM_GROUP_CODE" val="l1-1"/>
  <p:tag name="KSO_WM_UNIT_PRESET_TEXT" val="此部分内容作为文字排版占位显示"/>
  <p:tag name="KSO_WM_UNIT_TEXT_FILL_FORE_SCHEMECOLOR_INDEX" val="13"/>
  <p:tag name="KSO_WM_UNIT_TEXT_FILL_TYPE" val="1"/>
  <p:tag name="KSO_WM_UNIT_USESOURCEFORMAT_APPLY" val="1"/>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881,&quot;width&quot;:1504}"/>
</p:tagLst>
</file>

<file path=ppt/tags/tag88.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881,&quot;width&quot;:1504}"/>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TIMING" val="|21.318"/>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881,&quot;width&quot;:1504}"/>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9.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TIMING" val="|21.318"/>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881,&quot;width&quot;:1504}"/>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5.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7.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TIMING" val="|13.697|11.029"/>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7.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TIMING" val="|13.697|11.029"/>
</p:tagLst>
</file>

<file path=ppt/tags/tag168.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NOCLEAR" val="0"/>
  <p:tag name="KSO_WM_UNIT_VALUE" val="44"/>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787_2*l_h_f*1_1_1"/>
  <p:tag name="KSO_WM_TEMPLATE_CATEGORY" val="diagram"/>
  <p:tag name="KSO_WM_TEMPLATE_INDEX" val="787"/>
  <p:tag name="KSO_WM_UNIT_LAYERLEVEL" val="1_1_1"/>
  <p:tag name="KSO_WM_TAG_VERSION" val="1.0"/>
  <p:tag name="KSO_WM_BEAUTIFY_FLAG" val=""/>
  <p:tag name="KSO_WM_UNIT_PRESET_TEXT" val="单击此处添加文本具体内容，简明扼要的阐述您的观点。根据需要可酌情增减文字"/>
  <p:tag name="KSO_WM_UNIT_TEXT_FILL_FORE_SCHEMECOLOR_INDEX" val="13"/>
  <p:tag name="KSO_WM_UNIT_TEXT_FILL_TYPE" val="1"/>
</p:tagLst>
</file>

<file path=ppt/tags/tag1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1.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NOCLEAR" val="0"/>
  <p:tag name="KSO_WM_UNIT_VALUE" val="44"/>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787_2*l_h_f*1_2_1"/>
  <p:tag name="KSO_WM_TEMPLATE_CATEGORY" val="diagram"/>
  <p:tag name="KSO_WM_TEMPLATE_INDEX" val="787"/>
  <p:tag name="KSO_WM_UNIT_LAYERLEVEL" val="1_1_1"/>
  <p:tag name="KSO_WM_TAG_VERSION" val="1.0"/>
  <p:tag name="KSO_WM_BEAUTIFY_FLAG" val=""/>
  <p:tag name="KSO_WM_UNIT_PRESET_TEXT" val="单击此处添加文本具体内容，简明扼要的阐述您的观点。根据需要可酌情增减文字"/>
  <p:tag name="KSO_WM_UNIT_TEXT_FILL_FORE_SCHEMECOLOR_INDEX" val="13"/>
  <p:tag name="KSO_WM_UNIT_TEXT_FILL_TYPE" val="1"/>
</p:tagLst>
</file>

<file path=ppt/tags/tag172.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NOCLEAR" val="0"/>
  <p:tag name="KSO_WM_UNIT_VALUE" val="44"/>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787_2*l_h_f*1_3_1"/>
  <p:tag name="KSO_WM_TEMPLATE_CATEGORY" val="diagram"/>
  <p:tag name="KSO_WM_TEMPLATE_INDEX" val="787"/>
  <p:tag name="KSO_WM_UNIT_LAYERLEVEL" val="1_1_1"/>
  <p:tag name="KSO_WM_TAG_VERSION" val="1.0"/>
  <p:tag name="KSO_WM_BEAUTIFY_FLAG" val=""/>
  <p:tag name="KSO_WM_UNIT_PRESET_TEXT" val="单击此处添加文本具体内容，简明扼要的阐述您的观点。根据需要可酌情增减文字"/>
  <p:tag name="KSO_WM_UNIT_TEXT_FILL_FORE_SCHEMECOLOR_INDEX" val="13"/>
  <p:tag name="KSO_WM_UNIT_TEXT_FILL_TYPE" val="1"/>
</p:tagLst>
</file>

<file path=ppt/tags/tag1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2.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1401.3373365358955,&quot;width&quot;:1419.2496662216288}"/>
</p:tagLst>
</file>

<file path=ppt/tags/tag183.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1401.3373365358955,&quot;width&quot;:1399.7715048636276}"/>
</p:tagLst>
</file>

<file path=ppt/tags/tag184.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1401.3373365358955,&quot;width&quot;:1418.3642952508105}"/>
</p:tagLst>
</file>

<file path=ppt/tags/tag185.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1401.3373365358955,&quot;width&quot;:1399.7715048636276}"/>
</p:tagLst>
</file>

<file path=ppt/tags/tag1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902.0149124702831,&quot;width&quot;:1055.2586872586871}"/>
</p:tagLst>
</file>

<file path=ppt/tags/tag193.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322.2334125783445,&quot;width&quot;:1662.7088803088802}"/>
</p:tagLst>
</file>

<file path=ppt/tags/tag194.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1322.2334125783445,&quot;width&quot;:1662.0324324324324}"/>
</p:tagLst>
</file>

<file path=ppt/tags/tag195.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1322.2334125783445,&quot;width&quot;:1662.0324324324324}"/>
</p:tagLst>
</file>

<file path=ppt/tags/tag196.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1322.2334125783445,&quot;width&quot;:1662.7088803088802}"/>
</p:tagLst>
</file>

<file path=ppt/tags/tag1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0.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TIMING" val="|20.004|7.503"/>
</p:tagLst>
</file>

<file path=ppt/tags/tag2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2.xml><?xml version="1.0" encoding="utf-8"?>
<p:tagLst xmlns:a="http://schemas.openxmlformats.org/drawingml/2006/main" xmlns:r="http://schemas.openxmlformats.org/officeDocument/2006/relationships" xmlns:p="http://schemas.openxmlformats.org/presentationml/2006/main">
  <p:tag name="OP_SCP_SHAPE_TYPE" val="Image"/>
  <p:tag name="OP_SCP_ITEM_INDEX" val="1"/>
</p:tagLst>
</file>

<file path=ppt/tags/tag223.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224.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
</p:tagLst>
</file>

<file path=ppt/tags/tag225.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
</p:tagLst>
</file>

<file path=ppt/tags/tag226.xml><?xml version="1.0" encoding="utf-8"?>
<p:tagLst xmlns:a="http://schemas.openxmlformats.org/drawingml/2006/main" xmlns:r="http://schemas.openxmlformats.org/officeDocument/2006/relationships" xmlns:p="http://schemas.openxmlformats.org/presentationml/2006/main">
  <p:tag name="OP_SCP_SHAPE_TYPE" val="Image"/>
  <p:tag name="OP_SCP_ITEM_INDEX" val="1"/>
</p:tagLst>
</file>

<file path=ppt/tags/tag227.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22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TIMING" val="|20.004|7.503"/>
</p:tagLst>
</file>

<file path=ppt/tags/tag2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7.xml><?xml version="1.0" encoding="utf-8"?>
<p:tagLst xmlns:a="http://schemas.openxmlformats.org/drawingml/2006/main" xmlns:r="http://schemas.openxmlformats.org/officeDocument/2006/relationships" xmlns:p="http://schemas.openxmlformats.org/presentationml/2006/main">
  <p:tag name="KSO_WM_UNIT_TEXTBOXSTYLE_GUID" val="{180b372e-d0d3-4dd5-b652-56a1fe5b3a65}"/>
</p:tagLst>
</file>

<file path=ppt/tags/tag238.xml><?xml version="1.0" encoding="utf-8"?>
<p:tagLst xmlns:a="http://schemas.openxmlformats.org/drawingml/2006/main" xmlns:r="http://schemas.openxmlformats.org/officeDocument/2006/relationships" xmlns:p="http://schemas.openxmlformats.org/presentationml/2006/main">
  <p:tag name="KSO_WM_UNIT_TEXTBOXSTYLE_SHAPETYPE" val="0"/>
  <p:tag name="KSO_WM_UNIT_TEXTBOXSTYLE_TEMPLATETYPE" val="1"/>
  <p:tag name="KSO_WM_UNIT_PRESET_TEXT" val="点击此处添加正文，文字是您思想的提炼。&#10;为了演示发布的良好效果，请言简意赅的阐述您的观点。&#10;您的正文已经经简明扼要。字字珠玑，但信息却千丝万缕、错综复杂。"/>
  <p:tag name="KSO_WM_UNIT_NOCLEAR" val="1"/>
  <p:tag name="KSO_WM_UNIT_VALUE" val="130"/>
  <p:tag name="KSO_WM_UNIT_HIGHLIGHT" val="0"/>
  <p:tag name="KSO_WM_UNIT_COMPATIBLE" val="0"/>
  <p:tag name="KSO_WM_UNIT_DIAGRAM_ISNUMVISUAL" val="0"/>
  <p:tag name="KSO_WM_UNIT_DIAGRAM_ISREFERUNIT" val="0"/>
  <p:tag name="KSO_WM_UNIT_TYPE" val="f"/>
  <p:tag name="KSO_WM_UNIT_INDEX" val="1"/>
  <p:tag name="KSO_WM_UNIT_ID" val="mixed20201941_118*f*1"/>
  <p:tag name="KSO_WM_TEMPLATE_CATEGORY" val="mixed"/>
  <p:tag name="KSO_WM_TEMPLATE_INDEX" val="20201941"/>
  <p:tag name="KSO_WM_UNIT_LAYERLEVEL" val="1"/>
  <p:tag name="KSO_WM_TAG_VERSION" val="1.0"/>
  <p:tag name="KSO_WM_BEAUTIFY_FLAG" val="#wm#"/>
  <p:tag name="KSO_WM_UNIT_TEXTBOXSTYLE_GUID" val="{180b372e-d0d3-4dd5-b652-56a1fe5b3a65}"/>
  <p:tag name="KSO_WM_UNIT_TEXTBOXSTYLE_TYPE" val="8"/>
</p:tagLst>
</file>

<file path=ppt/tags/tag2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0.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37.75"/>
  <p:tag name="KSO_WM_UNIT_TEXTBOXSTYLE_ADJUSTTOP" val="0_-19.70001"/>
  <p:tag name="KSO_WM_UNIT_TEXTBOXSTYLE_ADJUSTWIDTH" val="100_75.45001"/>
  <p:tag name="KSO_WM_UNIT_TEXTBOXSTYLE_ADJUSTHEIGTH" val="100_39.35001"/>
  <p:tag name="KSO_WM_UNIT_HIGHLIGHT" val="0"/>
  <p:tag name="KSO_WM_UNIT_COMPATIBLE" val="0"/>
  <p:tag name="KSO_WM_UNIT_DIAGRAM_ISNUMVISUAL" val="0"/>
  <p:tag name="KSO_WM_UNIT_DIAGRAM_ISREFERUNIT" val="0"/>
  <p:tag name="KSO_WM_UNIT_TYPE" val="i"/>
  <p:tag name="KSO_WM_UNIT_INDEX" val="1"/>
  <p:tag name="KSO_WM_UNIT_ID" val="mixed20201941_118*i*1"/>
  <p:tag name="KSO_WM_TEMPLATE_CATEGORY" val="mixed"/>
  <p:tag name="KSO_WM_TEMPLATE_INDEX" val="20201941"/>
  <p:tag name="KSO_WM_UNIT_LAYERLEVEL" val="1"/>
  <p:tag name="KSO_WM_TAG_VERSION" val="1.0"/>
  <p:tag name="KSO_WM_BEAUTIFY_FLAG" val="#wm#"/>
  <p:tag name="KSO_WM_UNIT_TEXTBOXSTYLE_GUID" val="{180b372e-d0d3-4dd5-b652-56a1fe5b3a65}"/>
  <p:tag name="KSO_WM_UNIT_FILL_FORE_SCHEMECOLOR_INDEX_BRIGHTNESS" val="0"/>
  <p:tag name="KSO_WM_UNIT_FILL_FORE_SCHEMECOLOR_INDEX" val="14"/>
  <p:tag name="KSO_WM_UNIT_FILL_TYPE" val="1"/>
  <p:tag name="KSO_WM_UNIT_LINE_FORE_SCHEMECOLOR_INDEX_BRIGHTNESS" val="0.25"/>
  <p:tag name="KSO_WM_UNIT_LINE_FORE_SCHEMECOLOR_INDEX" val="13"/>
  <p:tag name="KSO_WM_UNIT_LINE_FILL_TYPE" val="2"/>
  <p:tag name="KSO_WM_UNIT_SHADOW_SCHEMECOLOR_INDEX_BRIGHTNESS" val="0"/>
  <p:tag name="KSO_WM_UNIT_SHADOW_SCHEMECOLOR_INDEX" val="5"/>
  <p:tag name="KSO_WM_UNIT_TEXT_FILL_FORE_SCHEMECOLOR_INDEX_BRIGHTNESS" val="0"/>
  <p:tag name="KSO_WM_UNIT_TEXT_FILL_FORE_SCHEMECOLOR_INDEX" val="2"/>
  <p:tag name="KSO_WM_UNIT_TEXT_FILL_TYPE" val="1"/>
</p:tagLst>
</file>

<file path=ppt/tags/tag241.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53.5451"/>
  <p:tag name="KSO_WM_UNIT_TEXTBOXSTYLE_ADJUSTTOP" val="4.335529_0"/>
  <p:tag name="KSO_WM_UNIT_HIGHLIGHT" val="0"/>
  <p:tag name="KSO_WM_UNIT_COMPATIBLE" val="0"/>
  <p:tag name="KSO_WM_UNIT_DIAGRAM_ISNUMVISUAL" val="0"/>
  <p:tag name="KSO_WM_UNIT_DIAGRAM_ISREFERUNIT" val="0"/>
  <p:tag name="KSO_WM_UNIT_TYPE" val="i"/>
  <p:tag name="KSO_WM_UNIT_INDEX" val="2"/>
  <p:tag name="KSO_WM_UNIT_ID" val="mixed20201941_118*i*2"/>
  <p:tag name="KSO_WM_TEMPLATE_CATEGORY" val="mixed"/>
  <p:tag name="KSO_WM_TEMPLATE_INDEX" val="20201941"/>
  <p:tag name="KSO_WM_UNIT_LAYERLEVEL" val="1"/>
  <p:tag name="KSO_WM_TAG_VERSION" val="1.0"/>
  <p:tag name="KSO_WM_BEAUTIFY_FLAG" val="#wm#"/>
  <p:tag name="KSO_WM_UNIT_TEXTBOXSTYLE_GUID" val="{180b372e-d0d3-4dd5-b652-56a1fe5b3a65}"/>
</p:tagLst>
</file>

<file path=ppt/tags/tag2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mixed20201941_118*i*3"/>
  <p:tag name="KSO_WM_TEMPLATE_CATEGORY" val="mixed"/>
  <p:tag name="KSO_WM_TEMPLATE_INDEX" val="20201941"/>
  <p:tag name="KSO_WM_UNIT_LAYERLEVEL" val="1"/>
  <p:tag name="KSO_WM_TAG_VERSION" val="1.0"/>
  <p:tag name="KSO_WM_BEAUTIFY_FLAG" val="#wm#"/>
  <p:tag name="KSO_WM_UNIT_TEXT_FILL_FORE_SCHEMECOLOR_INDEX_BRIGHTNESS" val="0"/>
  <p:tag name="KSO_WM_UNIT_TEXT_FILL_FORE_SCHEMECOLOR_INDEX" val="2"/>
  <p:tag name="KSO_WM_UNIT_TEXT_FILL_TYPE" val="1"/>
</p:tagLst>
</file>

<file path=ppt/tags/tag2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mixed20201941_118*i*4"/>
  <p:tag name="KSO_WM_TEMPLATE_CATEGORY" val="mixed"/>
  <p:tag name="KSO_WM_TEMPLATE_INDEX" val="20201941"/>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4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TIMING" val="|20.004|7.503"/>
</p:tagLst>
</file>

<file path=ppt/tags/tag2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7.xml><?xml version="1.0" encoding="utf-8"?>
<p:tagLst xmlns:a="http://schemas.openxmlformats.org/drawingml/2006/main" xmlns:r="http://schemas.openxmlformats.org/officeDocument/2006/relationships" xmlns:p="http://schemas.openxmlformats.org/presentationml/2006/main">
  <p:tag name="KSO_WM_UNIT_TABLE_BEAUTIFY" val="smartTable{3c00d0fa-c125-4f99-9f09-066c0097282e}"/>
  <p:tag name="TABLE_ENDDRAG_ORIGIN_RECT" val="531*51"/>
  <p:tag name="TABLE_ENDDRAG_RECT" val="386*298*532*51"/>
</p:tagLst>
</file>

<file path=ppt/tags/tag2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7.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2.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TIMING" val="|25.921"/>
</p:tagLst>
</file>

<file path=ppt/tags/tag2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8.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4.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5.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0.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TIMING" val="|1.812|13.026|13.403|13.32|11.806|0.83|15.519|8.997"/>
</p:tagLst>
</file>

<file path=ppt/tags/tag3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5.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4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6.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881,&quot;width&quot;:1504}"/>
</p:tagLst>
</file>

<file path=ppt/tags/tag4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8.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TIMING" val="|3.801|6.97|8.736|7.621|5.46|5.694"/>
</p:tagLst>
</file>

<file path=ppt/tags/tag4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6.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TIMING" val="|3.801|6.97|8.736|7.621|5.46|5.694"/>
</p:tagLst>
</file>

<file path=ppt/tags/tag4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4.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3502"/>
  <p:tag name="OP_SCP_COMPONENT_INFO" val="{&quot;title&quot;:&quot;渐变4项流程坐标轴&quot;,&quot;description&quot;:&quot;蓝色,渐变,4项&quot;,&quot;keywords&quot;:[&quot;蓝色&quot;,&quot;渐变&quot;,&quot;4项&quot;],&quot;labels&quot;:[]}"/>
  <p:tag name="OP_SCP_GROUP_ID" val="465a46dd-083c-98b4-4aed-22f5d85469ba"/>
  <p:tag name="OP_SCP_ITEM_COUNT" val="4"/>
</p:tagLst>
</file>

<file path=ppt/tags/tag455.xml><?xml version="1.0" encoding="utf-8"?>
<p:tagLst xmlns:a="http://schemas.openxmlformats.org/drawingml/2006/main" xmlns:r="http://schemas.openxmlformats.org/officeDocument/2006/relationships" xmlns:p="http://schemas.openxmlformats.org/presentationml/2006/main">
  <p:tag name="OP_SCP_SHAPE_TYPE" val="Body"/>
  <p:tag name="OP_SCP_ITEM_INDEX" val="2"/>
  <p:tag name="OP_SCP_DEFAULT_TEXT" val="单机此处添加标题&#10;单机此处添加标题&#10;单机此处添加标题"/>
</p:tagLst>
</file>

<file path=ppt/tags/tag456.xml><?xml version="1.0" encoding="utf-8"?>
<p:tagLst xmlns:a="http://schemas.openxmlformats.org/drawingml/2006/main" xmlns:r="http://schemas.openxmlformats.org/officeDocument/2006/relationships" xmlns:p="http://schemas.openxmlformats.org/presentationml/2006/main">
  <p:tag name="OP_SCP_SHAPE_TYPE" val="Title"/>
  <p:tag name="OP_SCP_ITEM_INDEX" val="2"/>
  <p:tag name="OP_SCP_DEFAULT_TEXT" val="添加标题"/>
</p:tagLst>
</file>

<file path=ppt/tags/tag457.xml><?xml version="1.0" encoding="utf-8"?>
<p:tagLst xmlns:a="http://schemas.openxmlformats.org/drawingml/2006/main" xmlns:r="http://schemas.openxmlformats.org/officeDocument/2006/relationships" xmlns:p="http://schemas.openxmlformats.org/presentationml/2006/main">
  <p:tag name="OP_SCP_SHAPE_TYPE" val="Body"/>
  <p:tag name="OP_SCP_ITEM_INDEX" val="4"/>
  <p:tag name="OP_SCP_DEFAULT_TEXT" val="单机此处添加标题&#10;单机此处添加标题&#10;单机此处添加标题"/>
</p:tagLst>
</file>

<file path=ppt/tags/tag458.xml><?xml version="1.0" encoding="utf-8"?>
<p:tagLst xmlns:a="http://schemas.openxmlformats.org/drawingml/2006/main" xmlns:r="http://schemas.openxmlformats.org/officeDocument/2006/relationships" xmlns:p="http://schemas.openxmlformats.org/presentationml/2006/main">
  <p:tag name="OP_SCP_SHAPE_TYPE" val="Title"/>
  <p:tag name="OP_SCP_ITEM_INDEX" val="4"/>
  <p:tag name="OP_SCP_DEFAULT_TEXT" val="添加标题"/>
</p:tagLst>
</file>

<file path=ppt/tags/tag459.xml><?xml version="1.0" encoding="utf-8"?>
<p:tagLst xmlns:a="http://schemas.openxmlformats.org/drawingml/2006/main" xmlns:r="http://schemas.openxmlformats.org/officeDocument/2006/relationships" xmlns:p="http://schemas.openxmlformats.org/presentationml/2006/main">
  <p:tag name="OP_SCP_SHAPE_TYPE" val="Body"/>
  <p:tag name="OP_SCP_ITEM_INDEX" val="3"/>
  <p:tag name="OP_SCP_DEFAULT_TEXT" val="单机此处添加标题&#10;单机此处添加标题&#10;单机此处添加标题"/>
</p:tagLst>
</file>

<file path=ppt/tags/tag460.xml><?xml version="1.0" encoding="utf-8"?>
<p:tagLst xmlns:a="http://schemas.openxmlformats.org/drawingml/2006/main" xmlns:r="http://schemas.openxmlformats.org/officeDocument/2006/relationships" xmlns:p="http://schemas.openxmlformats.org/presentationml/2006/main">
  <p:tag name="OP_SCP_SHAPE_TYPE" val="Title"/>
  <p:tag name="OP_SCP_ITEM_INDEX" val="3"/>
  <p:tag name="OP_SCP_DEFAULT_TEXT" val="添加标题"/>
</p:tagLst>
</file>

<file path=ppt/tags/tag461.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机此处添加标题&#10;单机此处添加标题&#10;单机此处添加标题"/>
</p:tagLst>
</file>

<file path=ppt/tags/tag462.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463.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4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5.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4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3.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4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6.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4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9.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5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2.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5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7.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881,&quot;width&quot;:1504}"/>
</p:tagLst>
</file>

<file path=ppt/tags/tag5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2.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5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0.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5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7.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5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2.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573.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881,&quot;width&quot;:1504}"/>
</p:tagLst>
</file>

<file path=ppt/tags/tag574.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743</TotalTime>
  <Words>5227</Words>
  <Application>Microsoft Office PowerPoint</Application>
  <PresentationFormat>宽屏</PresentationFormat>
  <Paragraphs>502</Paragraphs>
  <Slides>31</Slides>
  <Notes>31</Notes>
  <HiddenSlides>1</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31</vt:i4>
      </vt:variant>
    </vt:vector>
  </HeadingPairs>
  <TitlesOfParts>
    <vt:vector size="38" baseType="lpstr">
      <vt:lpstr>黑体</vt:lpstr>
      <vt:lpstr>微软雅黑</vt:lpstr>
      <vt:lpstr>Arial</vt:lpstr>
      <vt:lpstr>Calibri</vt:lpstr>
      <vt:lpstr>Cambria Math</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taq</dc:creator>
  <cp:lastModifiedBy>anqi tian</cp:lastModifiedBy>
  <cp:revision>702</cp:revision>
  <dcterms:created xsi:type="dcterms:W3CDTF">2019-06-19T02:08:00Z</dcterms:created>
  <dcterms:modified xsi:type="dcterms:W3CDTF">2025-06-25T18:15:59Z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2052-12.1.0.16929</vt:lpwstr>
  </property>
  <property fmtid="{D5CDD505-2E9C-101B-9397-08002B2CF9AE}" pid="3" name="ICV">
    <vt:lpwstr>EC2061831A4A4ACDA986A104407D2185_13</vt:lpwstr>
  </property>
</Properties>
</file>