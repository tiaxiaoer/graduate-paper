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21678900" cy="12192000"/>
  <p:notesSz cx="12192000" cy="216789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传统授权协议研究现状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7112000"/>
            <a:ext cx="20154900" cy="508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Shape 19"/>
          <p:cNvSpPr/>
          <p:nvPr/>
        </p:nvSpPr>
        <p:spPr>
          <a:xfrm>
            <a:off x="21590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3" name="Text 20"/>
          <p:cNvSpPr/>
          <p:nvPr/>
        </p:nvSpPr>
        <p:spPr>
          <a:xfrm>
            <a:off x="16510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0160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795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Computer Systems [4]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795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提出BLP机密性模型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01015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8" name="Text 25"/>
          <p:cNvSpPr/>
          <p:nvPr/>
        </p:nvSpPr>
        <p:spPr>
          <a:xfrm>
            <a:off x="4502150" y="7391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1977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3867150" y="7747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0" name="Text 27"/>
          <p:cNvSpPr/>
          <p:nvPr/>
        </p:nvSpPr>
        <p:spPr>
          <a:xfrm>
            <a:off x="3930650" y="7810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for Secure Systems [5]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3930650" y="9067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完整性保护模型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78613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3" name="Text 30"/>
          <p:cNvSpPr/>
          <p:nvPr/>
        </p:nvSpPr>
        <p:spPr>
          <a:xfrm>
            <a:off x="73533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7183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5" name="Text 32"/>
          <p:cNvSpPr/>
          <p:nvPr/>
        </p:nvSpPr>
        <p:spPr>
          <a:xfrm>
            <a:off x="67818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[9]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7818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角色抽象层简化权限管理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1071245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8" name="Text 35"/>
          <p:cNvSpPr/>
          <p:nvPr/>
        </p:nvSpPr>
        <p:spPr>
          <a:xfrm>
            <a:off x="10204450" y="7391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9569450" y="7747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0" name="Text 37"/>
          <p:cNvSpPr/>
          <p:nvPr/>
        </p:nvSpPr>
        <p:spPr>
          <a:xfrm>
            <a:off x="9632950" y="7810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Authorization Framework [16]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9632950" y="9067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委托授权范式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135636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3" name="Text 40"/>
          <p:cNvSpPr/>
          <p:nvPr/>
        </p:nvSpPr>
        <p:spPr>
          <a:xfrm>
            <a:off x="130556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124206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5" name="Text 42"/>
          <p:cNvSpPr/>
          <p:nvPr/>
        </p:nvSpPr>
        <p:spPr>
          <a:xfrm>
            <a:off x="124841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Macaroons [31]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124841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HMAC链权限单调衰减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1641475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8" name="Text 45"/>
          <p:cNvSpPr/>
          <p:nvPr/>
        </p:nvSpPr>
        <p:spPr>
          <a:xfrm>
            <a:off x="15906750" y="7391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2400" dirty="0"/>
          </a:p>
        </p:txBody>
      </p:sp>
      <p:sp>
        <p:nvSpPr>
          <p:cNvPr id="49" name="Shape 46"/>
          <p:cNvSpPr/>
          <p:nvPr/>
        </p:nvSpPr>
        <p:spPr>
          <a:xfrm>
            <a:off x="15271750" y="7747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0" name="Text 47"/>
          <p:cNvSpPr/>
          <p:nvPr/>
        </p:nvSpPr>
        <p:spPr>
          <a:xfrm>
            <a:off x="15335250" y="7810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[32]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15335250" y="9067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传递性委托</a:t>
            </a:r>
            <a:endParaRPr lang="en-US" sz="2200" dirty="0"/>
          </a:p>
        </p:txBody>
      </p:sp>
      <p:sp>
        <p:nvSpPr>
          <p:cNvPr id="52" name="Shape 49"/>
          <p:cNvSpPr/>
          <p:nvPr/>
        </p:nvSpPr>
        <p:spPr>
          <a:xfrm>
            <a:off x="192659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3" name="Text 50"/>
          <p:cNvSpPr/>
          <p:nvPr/>
        </p:nvSpPr>
        <p:spPr>
          <a:xfrm>
            <a:off x="187579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400" dirty="0"/>
          </a:p>
        </p:txBody>
      </p:sp>
      <p:sp>
        <p:nvSpPr>
          <p:cNvPr id="54" name="Shape 51"/>
          <p:cNvSpPr/>
          <p:nvPr/>
        </p:nvSpPr>
        <p:spPr>
          <a:xfrm>
            <a:off x="181229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5" name="Text 52"/>
          <p:cNvSpPr/>
          <p:nvPr/>
        </p:nvSpPr>
        <p:spPr>
          <a:xfrm>
            <a:off x="181864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Least Privilege Auth [33]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181864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WebAssembly动态评估</a:t>
            </a:r>
            <a:endParaRPr lang="en-US" sz="2200" dirty="0"/>
          </a:p>
        </p:txBody>
      </p:sp>
      <p:sp>
        <p:nvSpPr>
          <p:cNvPr id="57" name="Text 54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智能体授权协议研究现状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7112000"/>
            <a:ext cx="20154900" cy="508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Shape 19"/>
          <p:cNvSpPr/>
          <p:nvPr/>
        </p:nvSpPr>
        <p:spPr>
          <a:xfrm>
            <a:off x="21590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3" name="Text 20"/>
          <p:cNvSpPr/>
          <p:nvPr/>
        </p:nvSpPr>
        <p:spPr>
          <a:xfrm>
            <a:off x="16510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0160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795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Is Not Enough for AI Agents [34]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795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揭示结构性不匹配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01015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28" name="Text 25"/>
          <p:cNvSpPr/>
          <p:nvPr/>
        </p:nvSpPr>
        <p:spPr>
          <a:xfrm>
            <a:off x="4502150" y="7391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3867150" y="7747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0" name="Text 27"/>
          <p:cNvSpPr/>
          <p:nvPr/>
        </p:nvSpPr>
        <p:spPr>
          <a:xfrm>
            <a:off x="3930650" y="7810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Permissions [41]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3930650" y="9067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LLM+CF混合模型，85.1%准确率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78613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3" name="Text 30"/>
          <p:cNvSpPr/>
          <p:nvPr/>
        </p:nvSpPr>
        <p:spPr>
          <a:xfrm>
            <a:off x="73533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7183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35" name="Text 32"/>
          <p:cNvSpPr/>
          <p:nvPr/>
        </p:nvSpPr>
        <p:spPr>
          <a:xfrm>
            <a:off x="67818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Delegation for AI Agents [35]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7818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Agent-ID + Delegation Token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1071245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38" name="Text 35"/>
          <p:cNvSpPr/>
          <p:nvPr/>
        </p:nvSpPr>
        <p:spPr>
          <a:xfrm>
            <a:off x="10204450" y="7391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9569450" y="7747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0" name="Text 37"/>
          <p:cNvSpPr/>
          <p:nvPr/>
        </p:nvSpPr>
        <p:spPr>
          <a:xfrm>
            <a:off x="9632950" y="7810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 Access Control [38]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9632950" y="9067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资源风险评分+不确定性估计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135636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3" name="Text 40"/>
          <p:cNvSpPr/>
          <p:nvPr/>
        </p:nvSpPr>
        <p:spPr>
          <a:xfrm>
            <a:off x="130556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124206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45" name="Text 42"/>
          <p:cNvSpPr/>
          <p:nvPr/>
        </p:nvSpPr>
        <p:spPr>
          <a:xfrm>
            <a:off x="124841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PAuth [36]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124841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参数级权限控制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1641475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48" name="Text 45"/>
          <p:cNvSpPr/>
          <p:nvPr/>
        </p:nvSpPr>
        <p:spPr>
          <a:xfrm>
            <a:off x="15906750" y="7391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  <p:sp>
        <p:nvSpPr>
          <p:cNvPr id="49" name="Shape 46"/>
          <p:cNvSpPr/>
          <p:nvPr/>
        </p:nvSpPr>
        <p:spPr>
          <a:xfrm>
            <a:off x="15271750" y="7747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0" name="Text 47"/>
          <p:cNvSpPr/>
          <p:nvPr/>
        </p:nvSpPr>
        <p:spPr>
          <a:xfrm>
            <a:off x="15335250" y="7810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Pre-Action Auth [37]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15335250" y="9067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工具调用前确定性拦截</a:t>
            </a:r>
            <a:endParaRPr lang="en-US" sz="2200" dirty="0"/>
          </a:p>
        </p:txBody>
      </p:sp>
      <p:sp>
        <p:nvSpPr>
          <p:cNvPr id="52" name="Shape 49"/>
          <p:cNvSpPr/>
          <p:nvPr/>
        </p:nvSpPr>
        <p:spPr>
          <a:xfrm>
            <a:off x="19265900" y="6985000"/>
            <a:ext cx="254000" cy="254000"/>
          </a:xfrm>
          <a:prstGeom prst="ellipse">
            <a:avLst/>
          </a:prstGeom>
          <a:solidFill>
            <a:srgbClr val="04579A"/>
          </a:solidFill>
          <a:ln/>
        </p:spPr>
      </p:sp>
      <p:sp>
        <p:nvSpPr>
          <p:cNvPr id="53" name="Text 50"/>
          <p:cNvSpPr/>
          <p:nvPr/>
        </p:nvSpPr>
        <p:spPr>
          <a:xfrm>
            <a:off x="18757900" y="65024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  <p:sp>
        <p:nvSpPr>
          <p:cNvPr id="54" name="Shape 51"/>
          <p:cNvSpPr/>
          <p:nvPr/>
        </p:nvSpPr>
        <p:spPr>
          <a:xfrm>
            <a:off x="18122900" y="4191000"/>
            <a:ext cx="2540000" cy="22860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/>
        </p:spPr>
      </p:sp>
      <p:sp>
        <p:nvSpPr>
          <p:cNvPr id="55" name="Text 52"/>
          <p:cNvSpPr/>
          <p:nvPr/>
        </p:nvSpPr>
        <p:spPr>
          <a:xfrm>
            <a:off x="18186400" y="4254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Propagation [40]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18186400" y="55118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形式化分析授权传播</a:t>
            </a:r>
            <a:endParaRPr lang="en-US" sz="2200" dirty="0"/>
          </a:p>
        </p:txBody>
      </p:sp>
      <p:sp>
        <p:nvSpPr>
          <p:cNvPr id="57" name="Text 54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9989" y="0"/>
            <a:ext cx="3860800" cy="1283589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2892" y="-1143"/>
            <a:ext cx="3454400" cy="1283589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2001" y="-1143"/>
            <a:ext cx="5486400" cy="128358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5961360" y="0"/>
            <a:ext cx="5713349" cy="1282319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3044571" y="270891"/>
            <a:ext cx="3691509" cy="677291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82011" y="189611"/>
            <a:ext cx="4016629" cy="839851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760091" y="128651"/>
            <a:ext cx="4260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选题背景及意义</a:t>
            </a:r>
            <a:endParaRPr lang="en-US" sz="2670" dirty="0"/>
          </a:p>
        </p:txBody>
      </p:sp>
      <p:sp>
        <p:nvSpPr>
          <p:cNvPr id="9" name="Shape 7"/>
          <p:cNvSpPr/>
          <p:nvPr/>
        </p:nvSpPr>
        <p:spPr>
          <a:xfrm>
            <a:off x="6967601" y="270891"/>
            <a:ext cx="3285109" cy="67729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6805041" y="189611"/>
            <a:ext cx="3610229" cy="839851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683121" y="128651"/>
            <a:ext cx="3854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506583" y="270891"/>
            <a:ext cx="5317109" cy="677291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0344023" y="189611"/>
            <a:ext cx="5642229" cy="839851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10222103" y="128651"/>
            <a:ext cx="58860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主要研究内容及预期目标</a:t>
            </a:r>
            <a:endParaRPr lang="en-US" sz="2670" dirty="0"/>
          </a:p>
        </p:txBody>
      </p:sp>
      <p:sp>
        <p:nvSpPr>
          <p:cNvPr id="15" name="Shape 13"/>
          <p:cNvSpPr/>
          <p:nvPr/>
        </p:nvSpPr>
        <p:spPr>
          <a:xfrm>
            <a:off x="16046069" y="270891"/>
            <a:ext cx="5543931" cy="677291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15883509" y="189611"/>
            <a:ext cx="5869051" cy="839851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5761589" y="128651"/>
            <a:ext cx="611289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工作计划与进度安排</a:t>
            </a:r>
            <a:endParaRPr lang="en-US" sz="2670" dirty="0"/>
          </a:p>
        </p:txBody>
      </p:sp>
      <p:pic>
        <p:nvPicPr>
          <p:cNvPr id="18" name="Image 0" descr="https://kimi-img.moonshot.cn/pub/slides/okc/flfuysioo4gzm/mnt/agents/output/temp3_pptd/images/image_1.jpg">    </p:cNvPr>
          <p:cNvPicPr>
            <a:picLocks noChangeAspect="1"/>
          </p:cNvPicPr>
          <p:nvPr/>
        </p:nvPicPr>
        <p:blipFill>
          <a:blip r:embed="rId1"/>
          <a:srcRect l="5060" r="29000" t="0" b="0"/>
          <a:stretch/>
        </p:blipFill>
        <p:spPr>
          <a:xfrm>
            <a:off x="725932" y="187452"/>
            <a:ext cx="1697863" cy="9945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0">
            <a:off x="8506079" y="1282319"/>
            <a:ext cx="519303" cy="4064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1587500"/>
            <a:ext cx="1270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现有研究不足总结</a:t>
            </a:r>
            <a:endParaRPr lang="en-US" sz="4200" dirty="0"/>
          </a:p>
        </p:txBody>
      </p:sp>
      <p:sp>
        <p:nvSpPr>
          <p:cNvPr id="21" name="Shape 18"/>
          <p:cNvSpPr/>
          <p:nvPr/>
        </p:nvSpPr>
        <p:spPr>
          <a:xfrm>
            <a:off x="762000" y="2540000"/>
            <a:ext cx="20154900" cy="635000"/>
          </a:xfrm>
          <a:prstGeom prst="rect">
            <a:avLst/>
          </a:prstGeom>
          <a:solidFill>
            <a:srgbClr val="04579A"/>
          </a:solidFill>
          <a:ln/>
        </p:spPr>
      </p:sp>
      <p:sp>
        <p:nvSpPr>
          <p:cNvPr id="22" name="Text 19"/>
          <p:cNvSpPr/>
          <p:nvPr/>
        </p:nvSpPr>
        <p:spPr>
          <a:xfrm>
            <a:off x="889000" y="254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研究工作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937000" y="254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541000" y="2540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存在的不足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762000" y="3175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26" name="Text 23"/>
          <p:cNvSpPr/>
          <p:nvPr/>
        </p:nvSpPr>
        <p:spPr>
          <a:xfrm>
            <a:off x="889000" y="3238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Chopra [34]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937000" y="3238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揭示传统授权与智能体的结构性不匹配，提出四项设计方向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541000" y="3238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仅指出问题，未给出完整解决方案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4000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889000" y="4064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et al. [35]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937000" y="406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可认证委托框架：Agent-ID + Delegation Token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541000" y="4064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解决身份缺失但未解决授权粒度宽泛问题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4826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34" name="Text 31"/>
          <p:cNvSpPr/>
          <p:nvPr/>
        </p:nvSpPr>
        <p:spPr>
          <a:xfrm>
            <a:off x="889000" y="4889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Fleming et al. [38]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937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不确定性感知的LLM-TBAC动态授权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541000" y="4889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LLM可能幻觉策略，静态风险评分不够灵活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62000" y="5651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89000" y="5715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[36] (PAuth)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3937000" y="571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精确任务范围授权，参数级权限控制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541000" y="5715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未考虑有序多任务的顺序授权约束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62000" y="6477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42" name="Text 39"/>
          <p:cNvSpPr/>
          <p:nvPr/>
        </p:nvSpPr>
        <p:spPr>
          <a:xfrm>
            <a:off x="889000" y="6540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Uchibeke [37] (OAP)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3937000" y="654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工具调用前确定性预授权，53ms延迟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541000" y="654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仅覆盖单工具层面，未解决跨工具参数级约束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62000" y="8128000"/>
            <a:ext cx="20154900" cy="825500"/>
          </a:xfrm>
          <a:prstGeom prst="rect">
            <a:avLst/>
          </a:prstGeom>
          <a:solidFill>
            <a:srgbClr val="F0F7FC"/>
          </a:solidFill>
          <a:ln/>
        </p:spPr>
      </p:sp>
      <p:sp>
        <p:nvSpPr>
          <p:cNvPr id="46" name="Text 43"/>
          <p:cNvSpPr/>
          <p:nvPr/>
        </p:nvSpPr>
        <p:spPr>
          <a:xfrm>
            <a:off x="889000" y="819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et al. [41]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3937000" y="819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自动化权限预测：LLM+CF混合模型，85.1%准确率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541000" y="819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预测模型而非确定性策略，低置信度需人工介入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62000" y="8953500"/>
            <a:ext cx="20154900" cy="82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889000" y="90170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4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Tallam [40]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3987292" y="901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授权传播形式化分析，七项结构要求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0541000" y="9017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EC5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仅提出框架性要求，未给出具体协议设计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25932" y="10033000"/>
            <a:ext cx="20154900" cy="177800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/>
        </p:spPr>
      </p:sp>
      <p:sp>
        <p:nvSpPr>
          <p:cNvPr id="54" name="Text 51"/>
          <p:cNvSpPr/>
          <p:nvPr/>
        </p:nvSpPr>
        <p:spPr>
          <a:xfrm>
            <a:off x="1143000" y="10223500"/>
            <a:ext cx="193929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核心缺口：</a:t>
            </a:r>
            <a:pPr algn="l"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现有工作均未同时满足 (1) 操作参数级精确授权  (2) 任务上下文条件感知  (3) 多智能体顺序授权约束</a:t>
            </a:r>
            <a:endParaRPr lang="en-US" sz="2400" dirty="0"/>
          </a:p>
          <a:p>
            <a:pPr algn="l">
              <a:lnSpc>
                <a:spcPct val="16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本课题旨在设计面向复杂任务的智能体授权协议，填补上述三项不足</a:t>
            </a:r>
            <a:endParaRPr lang="en-US" sz="2400" dirty="0"/>
          </a:p>
        </p:txBody>
      </p:sp>
      <p:sp>
        <p:nvSpPr>
          <p:cNvPr id="55" name="Text 52"/>
          <p:cNvSpPr/>
          <p:nvPr/>
        </p:nvSpPr>
        <p:spPr>
          <a:xfrm>
            <a:off x="20320000" y="1155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未命名演示文稿</dc:title>
  <dc:subject>未命名演示文稿</dc:subject>
  <dc:creator>Kimi</dc:creator>
  <cp:lastModifiedBy>Kimi</cp:lastModifiedBy>
  <cp:revision>1</cp:revision>
  <dcterms:created xsi:type="dcterms:W3CDTF">2026-06-27T10:31:29Z</dcterms:created>
  <dcterms:modified xsi:type="dcterms:W3CDTF">2026-06-27T10:31:29Z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{"Label":"未命名演示文稿","ContentProducer":"001191110108MACG2KBH8F10000","ProduceID":"19f081e2-ab72-80ca-8000-0000c8693465","ReservedCode1":"","ContentPropagator":"001191110108MACG2KBH8F20000","PropagateID":"19ee528b-5122-8cdd-8000-091226114ca8","ReservedCode2":""}</vt:lpwstr>
  </property>
</Properties>
</file>