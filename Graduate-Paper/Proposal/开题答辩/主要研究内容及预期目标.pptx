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notesMasterIdLst>
    <p:notesMasterId r:id="rId8"/>
  </p:notesMasterIdLst>
  <p:sldSz cx="16259175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2219515" y="857"/>
            <a:ext cx="2895028" cy="962501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shape1"/>
          <p:cNvSpPr/>
          <p:nvPr/>
        </p:nvSpPr>
        <p:spPr>
          <a:xfrm>
            <a:off x="5161121" y="0"/>
            <a:ext cx="2590323" cy="962501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shape2"/>
          <p:cNvSpPr/>
          <p:nvPr/>
        </p:nvSpPr>
        <p:spPr>
          <a:xfrm>
            <a:off x="7814976" y="0"/>
            <a:ext cx="4114038" cy="96250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hape3"/>
          <p:cNvSpPr/>
          <p:nvPr/>
        </p:nvSpPr>
        <p:spPr>
          <a:xfrm>
            <a:off x="11968638" y="857"/>
            <a:ext cx="4284154" cy="9615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shape4"/>
          <p:cNvSpPr/>
          <p:nvPr/>
        </p:nvSpPr>
        <p:spPr>
          <a:xfrm>
            <a:off x="2378202" y="204025"/>
            <a:ext cx="2577560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hape5"/>
          <p:cNvSpPr/>
          <p:nvPr/>
        </p:nvSpPr>
        <p:spPr>
          <a:xfrm>
            <a:off x="2304002" y="143065"/>
            <a:ext cx="2726150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hape6"/>
          <p:cNvSpPr/>
          <p:nvPr/>
        </p:nvSpPr>
        <p:spPr>
          <a:xfrm>
            <a:off x="2231612" y="97345"/>
            <a:ext cx="2870835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ext7"/>
          <p:cNvSpPr txBox="1"/>
          <p:nvPr/>
        </p:nvSpPr>
        <p:spPr>
          <a:xfrm>
            <a:off x="2219515" y="51625"/>
            <a:ext cx="2895028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选题背景及意义</a:t>
            </a:r>
          </a:p>
        </p:txBody>
      </p:sp>
      <p:sp>
        <p:nvSpPr>
          <p:cNvPr id="10" name="dsl:shape8"/>
          <p:cNvSpPr/>
          <p:nvPr/>
        </p:nvSpPr>
        <p:spPr>
          <a:xfrm>
            <a:off x="5291328" y="204025"/>
            <a:ext cx="2330005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hape9"/>
          <p:cNvSpPr/>
          <p:nvPr/>
        </p:nvSpPr>
        <p:spPr>
          <a:xfrm>
            <a:off x="5226653" y="143065"/>
            <a:ext cx="2459450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shape10"/>
          <p:cNvSpPr/>
          <p:nvPr/>
        </p:nvSpPr>
        <p:spPr>
          <a:xfrm>
            <a:off x="5161121" y="97345"/>
            <a:ext cx="2590323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ext11"/>
          <p:cNvSpPr txBox="1"/>
          <p:nvPr/>
        </p:nvSpPr>
        <p:spPr>
          <a:xfrm>
            <a:off x="5161121" y="51625"/>
            <a:ext cx="2590323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FFFFFF"/>
                </a:solidFill>
                <a:latin typeface="Arial"/>
                <a:ea typeface="Arial"/>
              </a:rPr>
              <a:t>国内外研究现状</a:t>
            </a:r>
          </a:p>
        </p:txBody>
      </p:sp>
      <p:sp>
        <p:nvSpPr>
          <p:cNvPr id="14" name="dsl:shape12"/>
          <p:cNvSpPr/>
          <p:nvPr/>
        </p:nvSpPr>
        <p:spPr>
          <a:xfrm>
            <a:off x="7964138" y="204025"/>
            <a:ext cx="3815619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shape13"/>
          <p:cNvSpPr/>
          <p:nvPr/>
        </p:nvSpPr>
        <p:spPr>
          <a:xfrm>
            <a:off x="7889843" y="143065"/>
            <a:ext cx="3964114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shape14"/>
          <p:cNvSpPr/>
          <p:nvPr/>
        </p:nvSpPr>
        <p:spPr>
          <a:xfrm>
            <a:off x="7814976" y="97345"/>
            <a:ext cx="4114038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7814976" y="51625"/>
            <a:ext cx="4114038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主要研究内容及预期目标</a:t>
            </a:r>
          </a:p>
        </p:txBody>
      </p:sp>
      <p:sp>
        <p:nvSpPr>
          <p:cNvPr id="18" name="dsl:shape16"/>
          <p:cNvSpPr/>
          <p:nvPr/>
        </p:nvSpPr>
        <p:spPr>
          <a:xfrm>
            <a:off x="12117895" y="204025"/>
            <a:ext cx="3987069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shape17"/>
          <p:cNvSpPr/>
          <p:nvPr/>
        </p:nvSpPr>
        <p:spPr>
          <a:xfrm>
            <a:off x="12043695" y="143065"/>
            <a:ext cx="4135564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hape18"/>
          <p:cNvSpPr/>
          <p:nvPr/>
        </p:nvSpPr>
        <p:spPr>
          <a:xfrm>
            <a:off x="11968638" y="97345"/>
            <a:ext cx="4284154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xt19"/>
          <p:cNvSpPr txBox="1"/>
          <p:nvPr/>
        </p:nvSpPr>
        <p:spPr>
          <a:xfrm>
            <a:off x="11968638" y="51625"/>
            <a:ext cx="4284154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工作计划与进度安排</a:t>
            </a:r>
          </a:p>
        </p:txBody>
      </p:sp>
      <p:pic>
        <p:nvPicPr>
          <p:cNvPr id="22" name="dsl:image20" descr="/mnt/agents/output/temp5_pptd/images/image_1.jpg"/>
          <p:cNvPicPr>
            <a:picLocks noChangeAspect="1"/>
          </p:cNvPicPr>
          <p:nvPr/>
        </p:nvPicPr>
        <p:blipFill>
          <a:blip r:embed="rId2"/>
          <a:srcRect l="5060" r="28999"/>
          <a:stretch>
            <a:fillRect/>
          </a:stretch>
        </p:blipFill>
        <p:spPr>
          <a:xfrm>
            <a:off x="544353" y="141446"/>
            <a:ext cx="1273111" cy="7457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shape21"/>
          <p:cNvSpPr/>
          <p:nvPr/>
        </p:nvSpPr>
        <p:spPr>
          <a:xfrm rot="10800000">
            <a:off x="6378321" y="962406"/>
            <a:ext cx="389382" cy="304704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itle"/>
          <p:cNvSpPr txBox="1"/>
          <p:nvPr/>
        </p:nvSpPr>
        <p:spPr>
          <a:xfrm>
            <a:off x="571500" y="1143000"/>
            <a:ext cx="571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04579A"/>
                </a:solidFill>
                <a:latin typeface="Arial"/>
                <a:ea typeface="Arial"/>
              </a:rPr>
              <a:t>现有研究不足总结</a:t>
            </a:r>
          </a:p>
        </p:txBody>
      </p:sp>
      <p:sp>
        <p:nvSpPr>
          <p:cNvPr id="25" name="dsl:left-area-bg"/>
          <p:cNvSpPr/>
          <p:nvPr/>
        </p:nvSpPr>
        <p:spPr>
          <a:xfrm>
            <a:off x="571500" y="1857375"/>
            <a:ext cx="7429500" cy="3143250"/>
          </a:xfrm>
          <a:prstGeom prst="roundRect">
            <a:avLst>
              <a:gd name="adj" fmla="val 2000"/>
            </a:avLst>
          </a:prstGeom>
          <a:solidFill>
            <a:srgbClr val="E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left-header"/>
          <p:cNvSpPr/>
          <p:nvPr/>
        </p:nvSpPr>
        <p:spPr>
          <a:xfrm>
            <a:off x="571500" y="1857375"/>
            <a:ext cx="7429500" cy="523875"/>
          </a:xfrm>
          <a:prstGeom prst="roundRect">
            <a:avLst>
              <a:gd name="adj" fmla="val 2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left-title"/>
          <p:cNvSpPr txBox="1"/>
          <p:nvPr/>
        </p:nvSpPr>
        <p:spPr>
          <a:xfrm>
            <a:off x="762000" y="1857375"/>
            <a:ext cx="7048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800" noProof="1">
                <a:solidFill>
                  <a:srgbClr val="FFFFFF"/>
                </a:solidFill>
                <a:latin typeface="Arial"/>
                <a:ea typeface="Arial"/>
              </a:rPr>
              <a:t>传统授权领域</a:t>
            </a:r>
          </a:p>
        </p:txBody>
      </p:sp>
      <p:sp>
        <p:nvSpPr>
          <p:cNvPr id="28" name="dsl:left-item1-bg"/>
          <p:cNvSpPr/>
          <p:nvPr/>
        </p:nvSpPr>
        <p:spPr>
          <a:xfrm>
            <a:off x="952500" y="2619375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left-item1"/>
          <p:cNvSpPr txBox="1"/>
          <p:nvPr/>
        </p:nvSpPr>
        <p:spPr>
          <a:xfrm>
            <a:off x="1143000" y="2619375"/>
            <a:ext cx="342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动态令牌权限衰减</a:t>
            </a:r>
          </a:p>
        </p:txBody>
      </p:sp>
      <p:sp>
        <p:nvSpPr>
          <p:cNvPr id="30" name="dsl:left-item2-bg"/>
          <p:cNvSpPr/>
          <p:nvPr/>
        </p:nvSpPr>
        <p:spPr>
          <a:xfrm>
            <a:off x="952500" y="3762375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left-item2"/>
          <p:cNvSpPr txBox="1"/>
          <p:nvPr/>
        </p:nvSpPr>
        <p:spPr>
          <a:xfrm>
            <a:off x="1143000" y="3762375"/>
            <a:ext cx="342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去中心化传递委托</a:t>
            </a:r>
          </a:p>
        </p:txBody>
      </p:sp>
      <p:sp>
        <p:nvSpPr>
          <p:cNvPr id="32" name="dsl:right-area-bg"/>
          <p:cNvSpPr/>
          <p:nvPr/>
        </p:nvSpPr>
        <p:spPr>
          <a:xfrm>
            <a:off x="8258175" y="1857375"/>
            <a:ext cx="7429500" cy="3143250"/>
          </a:xfrm>
          <a:prstGeom prst="roundRect">
            <a:avLst>
              <a:gd name="adj" fmla="val 2000"/>
            </a:avLst>
          </a:prstGeom>
          <a:solidFill>
            <a:srgbClr val="E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sl:right-header"/>
          <p:cNvSpPr/>
          <p:nvPr/>
        </p:nvSpPr>
        <p:spPr>
          <a:xfrm>
            <a:off x="8258175" y="1857375"/>
            <a:ext cx="7429500" cy="523875"/>
          </a:xfrm>
          <a:prstGeom prst="roundRect">
            <a:avLst>
              <a:gd name="adj" fmla="val 2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right-title"/>
          <p:cNvSpPr txBox="1"/>
          <p:nvPr/>
        </p:nvSpPr>
        <p:spPr>
          <a:xfrm>
            <a:off x="8448675" y="1857375"/>
            <a:ext cx="7048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800" noProof="1">
                <a:solidFill>
                  <a:srgbClr val="FFFFFF"/>
                </a:solidFill>
                <a:latin typeface="Arial"/>
                <a:ea typeface="Arial"/>
              </a:rPr>
              <a:t>智能体授权领域</a:t>
            </a:r>
          </a:p>
        </p:txBody>
      </p:sp>
      <p:sp>
        <p:nvSpPr>
          <p:cNvPr id="35" name="dsl:right-item1-bg"/>
          <p:cNvSpPr/>
          <p:nvPr/>
        </p:nvSpPr>
        <p:spPr>
          <a:xfrm>
            <a:off x="8639175" y="2619375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right-item1"/>
          <p:cNvSpPr txBox="1"/>
          <p:nvPr/>
        </p:nvSpPr>
        <p:spPr>
          <a:xfrm>
            <a:off x="8829675" y="2619375"/>
            <a:ext cx="342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自动权限预测</a:t>
            </a:r>
          </a:p>
        </p:txBody>
      </p:sp>
      <p:sp>
        <p:nvSpPr>
          <p:cNvPr id="37" name="dsl:right-item2-bg"/>
          <p:cNvSpPr/>
          <p:nvPr/>
        </p:nvSpPr>
        <p:spPr>
          <a:xfrm>
            <a:off x="8639175" y="3476625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right-item2"/>
          <p:cNvSpPr txBox="1"/>
          <p:nvPr/>
        </p:nvSpPr>
        <p:spPr>
          <a:xfrm>
            <a:off x="8829675" y="3476625"/>
            <a:ext cx="342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多智能体委托授权</a:t>
            </a:r>
          </a:p>
        </p:txBody>
      </p:sp>
      <p:sp>
        <p:nvSpPr>
          <p:cNvPr id="39" name="dsl:right-item3-bg"/>
          <p:cNvSpPr/>
          <p:nvPr/>
        </p:nvSpPr>
        <p:spPr>
          <a:xfrm>
            <a:off x="8639175" y="4333875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sl:right-item3"/>
          <p:cNvSpPr txBox="1"/>
          <p:nvPr/>
        </p:nvSpPr>
        <p:spPr>
          <a:xfrm>
            <a:off x="8829675" y="4333875"/>
            <a:ext cx="342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工具调用前确定性授权</a:t>
            </a:r>
          </a:p>
        </p:txBody>
      </p:sp>
      <p:sp>
        <p:nvSpPr>
          <p:cNvPr id="41" name="dsl:v-arrow-left"/>
          <p:cNvSpPr/>
          <p:nvPr/>
        </p:nvSpPr>
        <p:spPr>
          <a:xfrm rot="660000">
            <a:off x="4286250" y="4924425"/>
            <a:ext cx="3924300" cy="5715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sl:v-arrow-right"/>
          <p:cNvSpPr/>
          <p:nvPr/>
        </p:nvSpPr>
        <p:spPr>
          <a:xfrm rot="10140000">
            <a:off x="8134350" y="4924425"/>
            <a:ext cx="3914775" cy="5715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sl:v-arrow-down"/>
          <p:cNvSpPr/>
          <p:nvPr/>
        </p:nvSpPr>
        <p:spPr>
          <a:xfrm>
            <a:off x="8115300" y="5715000"/>
            <a:ext cx="38100" cy="28575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sl:v-arrow-tip"/>
          <p:cNvSpPr/>
          <p:nvPr/>
        </p:nvSpPr>
        <p:spPr>
          <a:xfrm>
            <a:off x="8039100" y="6000750"/>
            <a:ext cx="190500" cy="190500"/>
          </a:xfrm>
          <a:prstGeom prst="triangle">
            <a:avLst>
              <a:gd name="adj" fmla="val 50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sl:core-bg"/>
          <p:cNvSpPr/>
          <p:nvPr/>
        </p:nvSpPr>
        <p:spPr>
          <a:xfrm>
            <a:off x="571500" y="6191250"/>
            <a:ext cx="15116175" cy="1619250"/>
          </a:xfrm>
          <a:prstGeom prst="roundRect">
            <a:avLst>
              <a:gd name="adj" fmla="val 1500"/>
            </a:avLst>
          </a:prstGeom>
          <a:solidFill>
            <a:srgbClr val="FFF3E0"/>
          </a:solidFill>
          <a:ln w="38100">
            <a:solidFill>
              <a:srgbClr val="E651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sl:core-title"/>
          <p:cNvSpPr txBox="1"/>
          <p:nvPr/>
        </p:nvSpPr>
        <p:spPr>
          <a:xfrm>
            <a:off x="762000" y="628650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E65100"/>
                </a:solidFill>
                <a:latin typeface="Arial"/>
                <a:ea typeface="Arial"/>
              </a:rPr>
              <a:t>▾ 核心不足</a:t>
            </a:r>
          </a:p>
        </p:txBody>
      </p:sp>
      <p:sp>
        <p:nvSpPr>
          <p:cNvPr id="47" name="dsl:core-body"/>
          <p:cNvSpPr txBox="1"/>
          <p:nvPr/>
        </p:nvSpPr>
        <p:spPr>
          <a:xfrm>
            <a:off x="762000" y="6715125"/>
            <a:ext cx="14735175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1.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未有完整的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细粒度授权框架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方案    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2.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未解决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操作参数级约束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问题    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3.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缺乏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有序任务顺序授权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研究</a:t>
            </a:r>
          </a:p>
        </p:txBody>
      </p:sp>
      <p:sp>
        <p:nvSpPr>
          <p:cNvPr id="48" name="dsl:page-num"/>
          <p:cNvSpPr txBox="1"/>
          <p:nvPr/>
        </p:nvSpPr>
        <p:spPr>
          <a:xfrm>
            <a:off x="15240000" y="8667750"/>
            <a:ext cx="762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2100" noProof="1">
                <a:solidFill>
                  <a:srgbClr val="666666"/>
                </a:solidFill>
                <a:latin typeface="Arial"/>
                <a:ea typeface="Arial"/>
              </a:rPr>
              <a:t>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2219515" y="857"/>
            <a:ext cx="2895028" cy="962501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shape1"/>
          <p:cNvSpPr/>
          <p:nvPr/>
        </p:nvSpPr>
        <p:spPr>
          <a:xfrm>
            <a:off x="5161121" y="0"/>
            <a:ext cx="2590323" cy="962501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shape2"/>
          <p:cNvSpPr/>
          <p:nvPr/>
        </p:nvSpPr>
        <p:spPr>
          <a:xfrm>
            <a:off x="7814976" y="0"/>
            <a:ext cx="4114038" cy="962501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hape3"/>
          <p:cNvSpPr/>
          <p:nvPr/>
        </p:nvSpPr>
        <p:spPr>
          <a:xfrm>
            <a:off x="11968638" y="857"/>
            <a:ext cx="4284154" cy="9615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shape4"/>
          <p:cNvSpPr/>
          <p:nvPr/>
        </p:nvSpPr>
        <p:spPr>
          <a:xfrm>
            <a:off x="2378202" y="204025"/>
            <a:ext cx="2577560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hape5"/>
          <p:cNvSpPr/>
          <p:nvPr/>
        </p:nvSpPr>
        <p:spPr>
          <a:xfrm>
            <a:off x="2304002" y="143065"/>
            <a:ext cx="2726150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hape6"/>
          <p:cNvSpPr/>
          <p:nvPr/>
        </p:nvSpPr>
        <p:spPr>
          <a:xfrm>
            <a:off x="2231612" y="97345"/>
            <a:ext cx="2870835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ext7"/>
          <p:cNvSpPr txBox="1"/>
          <p:nvPr/>
        </p:nvSpPr>
        <p:spPr>
          <a:xfrm>
            <a:off x="2219515" y="51625"/>
            <a:ext cx="2895028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选题背景及意义</a:t>
            </a:r>
          </a:p>
        </p:txBody>
      </p:sp>
      <p:sp>
        <p:nvSpPr>
          <p:cNvPr id="10" name="dsl:shape8"/>
          <p:cNvSpPr/>
          <p:nvPr/>
        </p:nvSpPr>
        <p:spPr>
          <a:xfrm>
            <a:off x="5291328" y="204025"/>
            <a:ext cx="2330005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hape9"/>
          <p:cNvSpPr/>
          <p:nvPr/>
        </p:nvSpPr>
        <p:spPr>
          <a:xfrm>
            <a:off x="5226653" y="143065"/>
            <a:ext cx="2459450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shape10"/>
          <p:cNvSpPr/>
          <p:nvPr/>
        </p:nvSpPr>
        <p:spPr>
          <a:xfrm>
            <a:off x="5161121" y="97345"/>
            <a:ext cx="2590323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ext11"/>
          <p:cNvSpPr txBox="1"/>
          <p:nvPr/>
        </p:nvSpPr>
        <p:spPr>
          <a:xfrm>
            <a:off x="5161121" y="51625"/>
            <a:ext cx="2590323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国内外研究现状</a:t>
            </a:r>
          </a:p>
        </p:txBody>
      </p:sp>
      <p:sp>
        <p:nvSpPr>
          <p:cNvPr id="14" name="dsl:shape12"/>
          <p:cNvSpPr/>
          <p:nvPr/>
        </p:nvSpPr>
        <p:spPr>
          <a:xfrm>
            <a:off x="7964138" y="204025"/>
            <a:ext cx="3815619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shape13"/>
          <p:cNvSpPr/>
          <p:nvPr/>
        </p:nvSpPr>
        <p:spPr>
          <a:xfrm>
            <a:off x="7889843" y="143065"/>
            <a:ext cx="3964114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shape14"/>
          <p:cNvSpPr/>
          <p:nvPr/>
        </p:nvSpPr>
        <p:spPr>
          <a:xfrm>
            <a:off x="7814976" y="97345"/>
            <a:ext cx="4114038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7814976" y="51625"/>
            <a:ext cx="4114038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FFFFFF"/>
                </a:solidFill>
                <a:latin typeface="Arial"/>
                <a:ea typeface="Arial"/>
              </a:rPr>
              <a:t>主要研究内容及预期目标</a:t>
            </a:r>
          </a:p>
        </p:txBody>
      </p:sp>
      <p:sp>
        <p:nvSpPr>
          <p:cNvPr id="18" name="dsl:shape16"/>
          <p:cNvSpPr/>
          <p:nvPr/>
        </p:nvSpPr>
        <p:spPr>
          <a:xfrm>
            <a:off x="12117895" y="204025"/>
            <a:ext cx="3987069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shape17"/>
          <p:cNvSpPr/>
          <p:nvPr/>
        </p:nvSpPr>
        <p:spPr>
          <a:xfrm>
            <a:off x="12043695" y="143065"/>
            <a:ext cx="4135564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hape18"/>
          <p:cNvSpPr/>
          <p:nvPr/>
        </p:nvSpPr>
        <p:spPr>
          <a:xfrm>
            <a:off x="11968638" y="97345"/>
            <a:ext cx="4284154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xt19"/>
          <p:cNvSpPr txBox="1"/>
          <p:nvPr/>
        </p:nvSpPr>
        <p:spPr>
          <a:xfrm>
            <a:off x="11968638" y="51625"/>
            <a:ext cx="4284154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工作计划与进度安排</a:t>
            </a:r>
          </a:p>
        </p:txBody>
      </p:sp>
      <p:pic>
        <p:nvPicPr>
          <p:cNvPr id="22" name="dsl:image20" descr="/mnt/agents/output/temp5_pptd/images/image_1.jpg"/>
          <p:cNvPicPr>
            <a:picLocks noChangeAspect="1"/>
          </p:cNvPicPr>
          <p:nvPr/>
        </p:nvPicPr>
        <p:blipFill>
          <a:blip r:embed="rId2"/>
          <a:srcRect l="5060" r="28999"/>
          <a:stretch>
            <a:fillRect/>
          </a:stretch>
        </p:blipFill>
        <p:spPr>
          <a:xfrm>
            <a:off x="544353" y="141446"/>
            <a:ext cx="1273111" cy="7457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shape21"/>
          <p:cNvSpPr/>
          <p:nvPr/>
        </p:nvSpPr>
        <p:spPr>
          <a:xfrm rot="10800000">
            <a:off x="9677400" y="962406"/>
            <a:ext cx="389382" cy="304704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itle"/>
          <p:cNvSpPr txBox="1"/>
          <p:nvPr/>
        </p:nvSpPr>
        <p:spPr>
          <a:xfrm>
            <a:off x="571500" y="1123950"/>
            <a:ext cx="6667500" cy="4953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04579A"/>
                </a:solidFill>
                <a:latin typeface="Arial"/>
                <a:ea typeface="Arial"/>
              </a:rPr>
              <a:t>主要研究内容及预期目标</a:t>
            </a:r>
          </a:p>
        </p:txBody>
      </p:sp>
      <p:sp>
        <p:nvSpPr>
          <p:cNvPr id="25" name="dsl:frame-bg"/>
          <p:cNvSpPr/>
          <p:nvPr/>
        </p:nvSpPr>
        <p:spPr>
          <a:xfrm>
            <a:off x="381000" y="1714500"/>
            <a:ext cx="15525750" cy="2476500"/>
          </a:xfrm>
          <a:prstGeom prst="roundRect">
            <a:avLst>
              <a:gd name="adj" fmla="val 1500"/>
            </a:avLst>
          </a:prstGeom>
          <a:solidFill>
            <a:srgbClr val="E8F4FD"/>
          </a:solidFill>
          <a:ln w="25400">
            <a:solidFill>
              <a:srgbClr val="04579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q1-num"/>
          <p:cNvSpPr txBox="1"/>
          <p:nvPr/>
        </p:nvSpPr>
        <p:spPr>
          <a:xfrm>
            <a:off x="571500" y="1905000"/>
            <a:ext cx="40005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1. 授权过于宽泛</a:t>
            </a:r>
          </a:p>
        </p:txBody>
      </p:sp>
      <p:sp>
        <p:nvSpPr>
          <p:cNvPr id="27" name="dsl:arrow1-outer"/>
          <p:cNvSpPr/>
          <p:nvPr/>
        </p:nvSpPr>
        <p:spPr>
          <a:xfrm rot="5400000">
            <a:off x="4667250" y="2000250"/>
            <a:ext cx="571500" cy="666750"/>
          </a:xfrm>
          <a:prstGeom prst="triangle">
            <a:avLst>
              <a:gd name="adj" fmla="val 15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r1-text"/>
          <p:cNvSpPr txBox="1"/>
          <p:nvPr/>
        </p:nvSpPr>
        <p:spPr>
          <a:xfrm>
            <a:off x="5524500" y="1905000"/>
            <a:ext cx="100965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650" noProof="1">
                <a:solidFill>
                  <a:srgbClr val="04579A"/>
                </a:solidFill>
                <a:latin typeface="Arial"/>
                <a:ea typeface="Arial"/>
              </a:rPr>
              <a:t>基于操作参数约束需求的智能体授权协议设计</a:t>
            </a:r>
          </a:p>
        </p:txBody>
      </p:sp>
      <p:sp>
        <p:nvSpPr>
          <p:cNvPr id="29" name="dsl:q2-num"/>
          <p:cNvSpPr txBox="1"/>
          <p:nvPr/>
        </p:nvSpPr>
        <p:spPr>
          <a:xfrm>
            <a:off x="571500" y="3429000"/>
            <a:ext cx="40005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2. 无法保证有序任务的顺序授权</a:t>
            </a:r>
          </a:p>
        </p:txBody>
      </p:sp>
      <p:sp>
        <p:nvSpPr>
          <p:cNvPr id="30" name="dsl:arrow2-outer"/>
          <p:cNvSpPr/>
          <p:nvPr/>
        </p:nvSpPr>
        <p:spPr>
          <a:xfrm rot="5400000">
            <a:off x="4667250" y="3524250"/>
            <a:ext cx="571500" cy="666750"/>
          </a:xfrm>
          <a:prstGeom prst="triangle">
            <a:avLst>
              <a:gd name="adj" fmla="val 15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r2-text"/>
          <p:cNvSpPr txBox="1"/>
          <p:nvPr/>
        </p:nvSpPr>
        <p:spPr>
          <a:xfrm>
            <a:off x="5524500" y="3429000"/>
            <a:ext cx="100965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650" noProof="1">
                <a:solidFill>
                  <a:srgbClr val="04579A"/>
                </a:solidFill>
                <a:latin typeface="Arial"/>
                <a:ea typeface="Arial"/>
              </a:rPr>
              <a:t>基于顺序执行约束需求的智能体授权协议设计</a:t>
            </a:r>
          </a:p>
        </p:txBody>
      </p:sp>
      <p:sp>
        <p:nvSpPr>
          <p:cNvPr id="32" name="dsl:down-line"/>
          <p:cNvSpPr/>
          <p:nvPr/>
        </p:nvSpPr>
        <p:spPr>
          <a:xfrm>
            <a:off x="8124825" y="4191000"/>
            <a:ext cx="38100" cy="5715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sl:down-tip"/>
          <p:cNvSpPr/>
          <p:nvPr/>
        </p:nvSpPr>
        <p:spPr>
          <a:xfrm>
            <a:off x="8048625" y="4762500"/>
            <a:ext cx="190500" cy="190500"/>
          </a:xfrm>
          <a:prstGeom prst="triangle">
            <a:avLst>
              <a:gd name="adj" fmla="val 50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q3-num"/>
          <p:cNvSpPr txBox="1"/>
          <p:nvPr/>
        </p:nvSpPr>
        <p:spPr>
          <a:xfrm>
            <a:off x="571500" y="5143500"/>
            <a:ext cx="40005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3. 工程实现</a:t>
            </a:r>
          </a:p>
        </p:txBody>
      </p:sp>
      <p:sp>
        <p:nvSpPr>
          <p:cNvPr id="35" name="dsl:arrow3-outer"/>
          <p:cNvSpPr/>
          <p:nvPr/>
        </p:nvSpPr>
        <p:spPr>
          <a:xfrm rot="5400000">
            <a:off x="4667250" y="5238750"/>
            <a:ext cx="571500" cy="666750"/>
          </a:xfrm>
          <a:prstGeom prst="triangle">
            <a:avLst>
              <a:gd name="adj" fmla="val 15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r3-text"/>
          <p:cNvSpPr txBox="1"/>
          <p:nvPr/>
        </p:nvSpPr>
        <p:spPr>
          <a:xfrm>
            <a:off x="5524500" y="5143500"/>
            <a:ext cx="10096500" cy="476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650" noProof="1">
                <a:solidFill>
                  <a:srgbClr val="04579A"/>
                </a:solidFill>
                <a:latin typeface="Arial"/>
                <a:ea typeface="Arial"/>
              </a:rPr>
              <a:t>基于复杂任务授权需求的智能体授权协议应用实现</a:t>
            </a:r>
          </a:p>
        </p:txBody>
      </p:sp>
      <p:sp>
        <p:nvSpPr>
          <p:cNvPr id="37" name="dsl:derive-label"/>
          <p:cNvSpPr txBox="1"/>
          <p:nvPr/>
        </p:nvSpPr>
        <p:spPr>
          <a:xfrm>
            <a:off x="8382000" y="4238625"/>
            <a:ext cx="190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350" noProof="1">
                <a:solidFill>
                  <a:srgbClr val="E65100"/>
                </a:solidFill>
                <a:latin typeface="Arial"/>
                <a:ea typeface="Arial"/>
              </a:rPr>
              <a:t>推导 →</a:t>
            </a:r>
          </a:p>
        </p:txBody>
      </p:sp>
      <p:sp>
        <p:nvSpPr>
          <p:cNvPr id="38" name="dsl:page-num"/>
          <p:cNvSpPr txBox="1"/>
          <p:nvPr/>
        </p:nvSpPr>
        <p:spPr>
          <a:xfrm>
            <a:off x="15240000" y="8667750"/>
            <a:ext cx="762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2100" noProof="1">
                <a:solidFill>
                  <a:srgbClr val="666666"/>
                </a:solidFill>
                <a:latin typeface="Arial"/>
                <a:ea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4472C4"/>
    <Color name="secondary" value="#ED7D31"/>
    <Color name="dark" value="#000000"/>
    <Color name="light" value="#FFFFFF"/>
    <Color name="accent3" value="#A5A5A5"/>
    <Color name="accent4" value="#FFC000"/>
    <Color name="accent5" value="#5B9BD5"/>
    <Color name="accent6" value="#70AD47"/>
  </Colors>
</DslMetadata>
</file>

<file path=customXml/itemProps1.xml><?xml version="1.0" encoding="utf-8"?>
<ns0:datastoreItem xmlns:ns0="http://schemas.openxmlformats.org/officeDocument/2006/customXml" ns0:itemID="{01B03AC5-01A6-487E-9B00-D308BFA7C011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