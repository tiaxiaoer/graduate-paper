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73" r:id="rId3"/>
    <p:sldId id="274" r:id="rId5"/>
    <p:sldId id="275" r:id="rId6"/>
    <p:sldId id="276" r:id="rId7"/>
    <p:sldId id="277" r:id="rId8"/>
    <p:sldId id="278" r:id="rId9"/>
    <p:sldId id="279" r:id="rId10"/>
  </p:sldIdLst>
  <p:sldSz cx="16256000" cy="9144000"/>
  <p:notesSz cx="9144000" cy="1625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1200" b="0" i="0" u="none" strike="noStrike" kern="1200" baseline="0" dirty="0">
                <a:solidFill>
                  <a:schemeClr val="tx1"/>
                </a:solidFill>
                <a:latin typeface="+mn-lt"/>
                <a:ea typeface="+mn-ea"/>
                <a:cs typeface="+mn-cs"/>
              </a:rPr>
              <a:t>用户规模与交易需求指数级增长的数字资产市场带来了新的技术需求。</a:t>
            </a:r>
            <a:endParaRPr lang="en-US" altLang="zh-CN" sz="1200" b="0" i="0" u="none" strike="noStrike" kern="1200" baseline="0" dirty="0">
              <a:solidFill>
                <a:schemeClr val="tx1"/>
              </a:solidFill>
              <a:latin typeface="+mn-lt"/>
              <a:ea typeface="+mn-ea"/>
              <a:cs typeface="+mn-cs"/>
            </a:endParaRPr>
          </a:p>
          <a:p>
            <a:endParaRPr lang="en-US" altLang="zh-CN"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u="none" strike="noStrike" kern="1200" baseline="0" dirty="0">
                <a:solidFill>
                  <a:schemeClr val="tx1"/>
                </a:solidFill>
                <a:latin typeface="+mn-lt"/>
                <a:ea typeface="+mn-ea"/>
                <a:cs typeface="+mn-cs"/>
              </a:rPr>
              <a:t>首先是</a:t>
            </a:r>
            <a:r>
              <a:rPr lang="zh-CN" altLang="en-US" sz="1200" dirty="0">
                <a:solidFill>
                  <a:schemeClr val="tx1">
                    <a:lumMod val="85000"/>
                    <a:lumOff val="15000"/>
                  </a:schemeClr>
                </a:solidFill>
                <a:sym typeface="+mn-ea"/>
              </a:rPr>
              <a:t>现实网络环境对分布式数字资产交易协议的安全性和健壮性提出了更高的要求。</a:t>
            </a:r>
            <a:endParaRPr lang="zh-CN" altLang="en-US" sz="1200" dirty="0">
              <a:solidFill>
                <a:schemeClr val="tx1">
                  <a:lumMod val="85000"/>
                  <a:lumOff val="15000"/>
                </a:schemeClr>
              </a:solidFill>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第二，</a:t>
            </a:r>
            <a:r>
              <a:rPr lang="zh-CN" altLang="en-US" sz="1200" dirty="0">
                <a:solidFill>
                  <a:schemeClr val="tx1">
                    <a:lumMod val="85000"/>
                    <a:lumOff val="15000"/>
                  </a:schemeClr>
                </a:solidFill>
                <a:sym typeface="+mn-ea"/>
              </a:rPr>
              <a:t>大规模、高并发的交易场景要求分布式数字资产交易协议具有可扩展性</a:t>
            </a:r>
            <a:endParaRPr lang="zh-CN" altLang="en-US" sz="1200" dirty="0">
              <a:sym typeface="+mn-ea"/>
            </a:endParaRPr>
          </a:p>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下面我将简要介绍我的三项对应的研究内容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598400" y="1219200"/>
            <a:ext cx="13065600" cy="3427200"/>
          </a:xfrm>
        </p:spPr>
        <p:txBody>
          <a:bodyPr lIns="90000" tIns="46800" rIns="90000" bIns="46800" anchor="b" anchorCtr="0">
            <a:normAutofit/>
          </a:bodyPr>
          <a:lstStyle>
            <a:lvl1pPr algn="ctr">
              <a:defRPr sz="8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598400" y="4747200"/>
            <a:ext cx="13065600" cy="1963200"/>
          </a:xfrm>
        </p:spPr>
        <p:txBody>
          <a:bodyPr lIns="90000" tIns="46800" rIns="90000" bIns="46800">
            <a:normAutofit/>
          </a:bodyPr>
          <a:lstStyle>
            <a:lvl1pPr marL="0" indent="0" algn="ctr">
              <a:lnSpc>
                <a:spcPct val="110000"/>
              </a:lnSpc>
              <a:buNone/>
              <a:defRPr sz="3200" spc="200"/>
            </a:lvl1pPr>
            <a:lvl2pPr marL="609600" indent="0" algn="ctr">
              <a:buNone/>
              <a:defRPr sz="2665"/>
            </a:lvl2pPr>
            <a:lvl3pPr marL="1219200" indent="0" algn="ctr">
              <a:buNone/>
              <a:defRPr sz="2400"/>
            </a:lvl3pPr>
            <a:lvl4pPr marL="1828800" indent="0" algn="ctr">
              <a:buNone/>
              <a:defRPr sz="2135"/>
            </a:lvl4pPr>
            <a:lvl5pPr marL="2438400" indent="0" algn="ctr">
              <a:buNone/>
              <a:defRPr sz="2135"/>
            </a:lvl5pPr>
            <a:lvl6pPr marL="3048000" indent="0" algn="ctr">
              <a:buNone/>
              <a:defRPr sz="2135"/>
            </a:lvl6pPr>
            <a:lvl7pPr marL="3657600" indent="0" algn="ctr">
              <a:buNone/>
              <a:defRPr sz="2135"/>
            </a:lvl7pPr>
            <a:lvl8pPr marL="4267200" indent="0" algn="ctr">
              <a:buNone/>
              <a:defRPr sz="2135"/>
            </a:lvl8pPr>
            <a:lvl9pPr marL="4876800" indent="0" algn="ctr">
              <a:buNone/>
              <a:defRPr sz="2135"/>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816000" y="8419200"/>
            <a:ext cx="3600000" cy="422400"/>
          </a:xfrm>
        </p:spPr>
        <p:txBody>
          <a:bodyPr/>
          <a:lstStyle/>
          <a:p>
            <a:fld id="{93CBA602-00DB-4BC5-AF0E-E8CF46ADAD71}" type="datetime1">
              <a:rPr lang="zh-CN" altLang="en-US" smtClean="0"/>
            </a:fld>
            <a:endParaRPr lang="zh-CN" altLang="en-US"/>
          </a:p>
        </p:txBody>
      </p:sp>
      <p:sp>
        <p:nvSpPr>
          <p:cNvPr id="17" name="页脚占位符 16"/>
          <p:cNvSpPr>
            <a:spLocks noGrp="1"/>
          </p:cNvSpPr>
          <p:nvPr>
            <p:ph type="ftr" sz="quarter" idx="11"/>
            <p:custDataLst>
              <p:tags r:id="rId5"/>
            </p:custDataLst>
          </p:nvPr>
        </p:nvSpPr>
        <p:spPr>
          <a:xfrm>
            <a:off x="5488000" y="8419200"/>
            <a:ext cx="5280000" cy="4224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11836800" y="8419200"/>
            <a:ext cx="3600000" cy="4224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1.jpeg"/><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5" Type="http://schemas.openxmlformats.org/officeDocument/2006/relationships/notesSlide" Target="../notesSlides/notesSlide1.xml"/><Relationship Id="rId14" Type="http://schemas.openxmlformats.org/officeDocument/2006/relationships/slideLayout" Target="../slideLayouts/slideLayout2.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9" Type="http://schemas.openxmlformats.org/officeDocument/2006/relationships/image" Target="../media/image1.jpeg"/><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notesSlide" Target="../notesSlides/notesSlide2.xml"/><Relationship Id="rId14" Type="http://schemas.openxmlformats.org/officeDocument/2006/relationships/slideLayout" Target="../slideLayouts/slideLayout2.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8.xml"/></Relationships>
</file>

<file path=ppt/slides/_rels/slide3.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2" Type="http://schemas.openxmlformats.org/officeDocument/2006/relationships/notesSlide" Target="../notesSlides/notesSlide3.xml"/><Relationship Id="rId21" Type="http://schemas.openxmlformats.org/officeDocument/2006/relationships/slideLayout" Target="../slideLayouts/slideLayout1.xml"/><Relationship Id="rId20" Type="http://schemas.openxmlformats.org/officeDocument/2006/relationships/tags" Target="../tags/tag48.xml"/><Relationship Id="rId2" Type="http://schemas.openxmlformats.org/officeDocument/2006/relationships/tags" Target="../tags/tag30.xml"/><Relationship Id="rId19" Type="http://schemas.openxmlformats.org/officeDocument/2006/relationships/tags" Target="../tags/tag47.xml"/><Relationship Id="rId18" Type="http://schemas.openxmlformats.org/officeDocument/2006/relationships/tags" Target="../tags/tag46.xml"/><Relationship Id="rId17" Type="http://schemas.openxmlformats.org/officeDocument/2006/relationships/tags" Target="../tags/tag45.xml"/><Relationship Id="rId16" Type="http://schemas.openxmlformats.org/officeDocument/2006/relationships/tags" Target="../tags/tag44.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9" Type="http://schemas.openxmlformats.org/officeDocument/2006/relationships/notesSlide" Target="../notesSlides/notesSlide4.xml"/><Relationship Id="rId18" Type="http://schemas.openxmlformats.org/officeDocument/2006/relationships/slideLayout" Target="../slideLayouts/slideLayout1.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2" Type="http://schemas.openxmlformats.org/officeDocument/2006/relationships/notesSlide" Target="../notesSlides/notesSlide7.xml"/><Relationship Id="rId11" Type="http://schemas.openxmlformats.org/officeDocument/2006/relationships/slideLayout" Target="../slideLayouts/slideLayout1.xml"/><Relationship Id="rId10" Type="http://schemas.openxmlformats.org/officeDocument/2006/relationships/tags" Target="../tags/tag73.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654473" y="3809153"/>
            <a:ext cx="14037733" cy="7628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文本框 6"/>
          <p:cNvSpPr txBox="1"/>
          <p:nvPr>
            <p:custDataLst>
              <p:tags r:id="rId1"/>
            </p:custDataLst>
          </p:nvPr>
        </p:nvSpPr>
        <p:spPr>
          <a:xfrm>
            <a:off x="643467" y="1196340"/>
            <a:ext cx="14772640" cy="501650"/>
          </a:xfrm>
          <a:prstGeom prst="rect">
            <a:avLst/>
          </a:prstGeom>
          <a:noFill/>
        </p:spPr>
        <p:txBody>
          <a:bodyPr wrap="square" rtlCol="0" anchor="t">
            <a:spAutoFit/>
          </a:bodyPr>
          <a:lstStyle/>
          <a:p>
            <a:r>
              <a:rPr lang="zh-CN" altLang="en-US" sz="2665" dirty="0"/>
              <a:t>数字资产市场为区块链提供了新的</a:t>
            </a:r>
            <a:r>
              <a:rPr lang="zh-CN" altLang="en-US" sz="2665" b="1" dirty="0">
                <a:solidFill>
                  <a:srgbClr val="04579A"/>
                </a:solidFill>
              </a:rPr>
              <a:t>应用方向</a:t>
            </a:r>
            <a:r>
              <a:rPr lang="zh-CN" altLang="en-US" sz="2665" dirty="0"/>
              <a:t>，但同时也带来了新的</a:t>
            </a:r>
            <a:r>
              <a:rPr lang="zh-CN" altLang="en-US" sz="2665" b="1" dirty="0">
                <a:solidFill>
                  <a:srgbClr val="04579A"/>
                </a:solidFill>
              </a:rPr>
              <a:t>技术需求</a:t>
            </a:r>
            <a:r>
              <a:rPr lang="zh-CN" altLang="en-US" sz="2665" dirty="0"/>
              <a:t>：</a:t>
            </a:r>
            <a:endParaRPr lang="zh-CN" altLang="en-US" sz="2665" dirty="0"/>
          </a:p>
        </p:txBody>
      </p:sp>
      <p:sp>
        <p:nvSpPr>
          <p:cNvPr id="11" name="矩形 10"/>
          <p:cNvSpPr/>
          <p:nvPr>
            <p:custDataLst>
              <p:tags r:id="rId2"/>
            </p:custDataLst>
          </p:nvPr>
        </p:nvSpPr>
        <p:spPr>
          <a:xfrm>
            <a:off x="2219960" y="0"/>
            <a:ext cx="2942167" cy="962660"/>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 name="矩形 9"/>
          <p:cNvSpPr/>
          <p:nvPr>
            <p:custDataLst>
              <p:tags r:id="rId3"/>
            </p:custDataLst>
          </p:nvPr>
        </p:nvSpPr>
        <p:spPr>
          <a:xfrm>
            <a:off x="5162127" y="-847"/>
            <a:ext cx="2654300" cy="9626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2" name="矩形 11"/>
          <p:cNvSpPr/>
          <p:nvPr>
            <p:custDataLst>
              <p:tags r:id="rId4"/>
            </p:custDataLst>
          </p:nvPr>
        </p:nvSpPr>
        <p:spPr>
          <a:xfrm>
            <a:off x="7816427" y="-847"/>
            <a:ext cx="4154593" cy="9626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矩形 12"/>
          <p:cNvSpPr/>
          <p:nvPr>
            <p:custDataLst>
              <p:tags r:id="rId5"/>
            </p:custDataLst>
          </p:nvPr>
        </p:nvSpPr>
        <p:spPr>
          <a:xfrm>
            <a:off x="11971020" y="0"/>
            <a:ext cx="4284980" cy="9618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矩形 15"/>
          <p:cNvSpPr/>
          <p:nvPr>
            <p:custDataLst>
              <p:tags r:id="rId6"/>
            </p:custDataLst>
          </p:nvPr>
        </p:nvSpPr>
        <p:spPr>
          <a:xfrm>
            <a:off x="2219960" y="-847"/>
            <a:ext cx="2942167" cy="962660"/>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 name="文本框 16"/>
          <p:cNvSpPr txBox="1"/>
          <p:nvPr>
            <p:custDataLst>
              <p:tags r:id="rId7"/>
            </p:custDataLst>
          </p:nvPr>
        </p:nvSpPr>
        <p:spPr>
          <a:xfrm>
            <a:off x="2428240" y="215053"/>
            <a:ext cx="13423900" cy="460375"/>
          </a:xfrm>
          <a:prstGeom prst="rect">
            <a:avLst/>
          </a:prstGeom>
          <a:noFill/>
        </p:spPr>
        <p:txBody>
          <a:bodyPr wrap="square" rtlCol="0">
            <a:spAutoFit/>
          </a:bodyPr>
          <a:lstStyle/>
          <a:p>
            <a:pPr indent="0" fontAlgn="auto">
              <a:lnSpc>
                <a:spcPct val="100000"/>
              </a:lnSpc>
            </a:pPr>
            <a:r>
              <a:rPr lang="en-US" altLang="zh-CN" sz="2400" dirty="0">
                <a:solidFill>
                  <a:schemeClr val="bg1"/>
                </a:solidFill>
                <a:latin typeface="Arial" panose="020B0604020202020204" pitchFamily="34" charset="0"/>
                <a:sym typeface="+mn-ea"/>
              </a:rPr>
              <a:t>  </a:t>
            </a:r>
            <a:r>
              <a:rPr lang="zh-CN" altLang="en-US" sz="2400" dirty="0">
                <a:solidFill>
                  <a:schemeClr val="bg1"/>
                </a:solidFill>
                <a:latin typeface="Arial" panose="020B0604020202020204" pitchFamily="34" charset="0"/>
                <a:sym typeface="+mn-ea"/>
              </a:rPr>
              <a:t>选题背景及意义</a:t>
            </a:r>
            <a:r>
              <a:rPr lang="en-US" altLang="zh-CN" sz="2400" dirty="0">
                <a:solidFill>
                  <a:prstClr val="black"/>
                </a:solidFill>
                <a:latin typeface="Arial" panose="020B0604020202020204" pitchFamily="34" charset="0"/>
                <a:sym typeface="+mn-ea"/>
              </a:rPr>
              <a:t>       </a:t>
            </a:r>
            <a:r>
              <a:rPr lang="zh-CN" altLang="en-US" sz="2400" dirty="0">
                <a:solidFill>
                  <a:prstClr val="black"/>
                </a:solidFill>
                <a:latin typeface="Arial" panose="020B0604020202020204" pitchFamily="34" charset="0"/>
                <a:sym typeface="+mn-ea"/>
              </a:rPr>
              <a:t>国内外研究现状</a:t>
            </a:r>
            <a:r>
              <a:rPr lang="en-US" altLang="zh-CN" sz="2400" dirty="0">
                <a:solidFill>
                  <a:prstClr val="black"/>
                </a:solidFill>
                <a:latin typeface="Arial" panose="020B0604020202020204" pitchFamily="34" charset="0"/>
                <a:sym typeface="+mn-ea"/>
              </a:rPr>
              <a:t>       </a:t>
            </a:r>
            <a:r>
              <a:rPr lang="zh-CN" altLang="en-US" sz="2400" dirty="0">
                <a:solidFill>
                  <a:prstClr val="black"/>
                </a:solidFill>
                <a:latin typeface="Arial" panose="020B0604020202020204" pitchFamily="34" charset="0"/>
                <a:sym typeface="+mn-ea"/>
              </a:rPr>
              <a:t>主要研究内容及预期目标</a:t>
            </a:r>
            <a:r>
              <a:rPr lang="en-US" altLang="zh-CN" sz="2400" dirty="0">
                <a:solidFill>
                  <a:prstClr val="black"/>
                </a:solidFill>
                <a:latin typeface="Arial" panose="020B0604020202020204" pitchFamily="34" charset="0"/>
                <a:sym typeface="+mn-ea"/>
              </a:rPr>
              <a:t>             </a:t>
            </a:r>
            <a:r>
              <a:rPr lang="zh-CN" altLang="en-US" sz="2400" dirty="0">
                <a:solidFill>
                  <a:prstClr val="black"/>
                </a:solidFill>
                <a:latin typeface="Arial" panose="020B0604020202020204" pitchFamily="34" charset="0"/>
                <a:sym typeface="+mn-ea"/>
              </a:rPr>
              <a:t>工作计划与进度安排</a:t>
            </a:r>
            <a:endParaRPr lang="zh-CN" altLang="en-US" sz="2400" dirty="0">
              <a:solidFill>
                <a:prstClr val="black"/>
              </a:solidFill>
              <a:latin typeface="Arial" panose="020B0604020202020204" pitchFamily="34" charset="0"/>
              <a:sym typeface="+mn-ea"/>
            </a:endParaRPr>
          </a:p>
        </p:txBody>
      </p:sp>
      <p:pic>
        <p:nvPicPr>
          <p:cNvPr id="18"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544407" y="140547"/>
            <a:ext cx="1273387" cy="74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3496733" y="961813"/>
            <a:ext cx="389467" cy="3048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矩形 1"/>
          <p:cNvSpPr/>
          <p:nvPr>
            <p:custDataLst>
              <p:tags r:id="rId11"/>
            </p:custDataLst>
          </p:nvPr>
        </p:nvSpPr>
        <p:spPr>
          <a:xfrm>
            <a:off x="643467" y="2236047"/>
            <a:ext cx="14037733" cy="7628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燕尾形 3"/>
          <p:cNvSpPr/>
          <p:nvPr>
            <p:custDataLst>
              <p:tags r:id="rId12"/>
            </p:custDataLst>
          </p:nvPr>
        </p:nvSpPr>
        <p:spPr>
          <a:xfrm>
            <a:off x="1358900" y="3119967"/>
            <a:ext cx="485987" cy="343747"/>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文本框 4"/>
          <p:cNvSpPr txBox="1"/>
          <p:nvPr/>
        </p:nvSpPr>
        <p:spPr>
          <a:xfrm>
            <a:off x="742527" y="2218267"/>
            <a:ext cx="14771793" cy="446341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665" dirty="0">
                <a:solidFill>
                  <a:schemeClr val="tx1">
                    <a:lumMod val="85000"/>
                    <a:lumOff val="15000"/>
                  </a:schemeClr>
                </a:solidFill>
                <a:sym typeface="+mn-ea"/>
              </a:rPr>
              <a:t>智能体执行任务的自主性对智能体的授权粒度提出了更高的要求</a:t>
            </a:r>
            <a:endParaRPr lang="zh-CN" altLang="en-US" sz="2665" dirty="0">
              <a:solidFill>
                <a:schemeClr val="tx1">
                  <a:lumMod val="85000"/>
                  <a:lumOff val="15000"/>
                </a:schemeClr>
              </a:solidFill>
              <a:sym typeface="+mn-ea"/>
            </a:endParaRPr>
          </a:p>
          <a:p>
            <a:pPr marL="457200" lvl="1" indent="457200" algn="l" fontAlgn="auto">
              <a:lnSpc>
                <a:spcPct val="150000"/>
              </a:lnSpc>
              <a:spcAft>
                <a:spcPts val="1200"/>
              </a:spcAft>
              <a:buClrTx/>
              <a:buSzTx/>
              <a:buFontTx/>
              <a:buNone/>
            </a:pPr>
            <a:r>
              <a:rPr lang="zh-CN" altLang="en-US" sz="3200" b="1" dirty="0">
                <a:solidFill>
                  <a:srgbClr val="04579A"/>
                </a:solidFill>
                <a:sym typeface="+mn-ea"/>
              </a:rPr>
              <a:t>智能体授权协议的授权粒度需要匹配具体任务级语义</a:t>
            </a:r>
            <a:endParaRPr lang="zh-CN" altLang="en-US" sz="3200" b="1" dirty="0">
              <a:solidFill>
                <a:srgbClr val="04579A"/>
              </a:solidFill>
              <a:sym typeface="+mn-ea"/>
            </a:endParaRPr>
          </a:p>
          <a:p>
            <a:pPr marL="457200" lvl="0" indent="-457200" fontAlgn="auto">
              <a:lnSpc>
                <a:spcPct val="150000"/>
              </a:lnSpc>
              <a:buAutoNum type="arabicPeriod"/>
            </a:pPr>
            <a:r>
              <a:rPr lang="zh-CN" altLang="en-US" sz="2665" dirty="0">
                <a:solidFill>
                  <a:schemeClr val="bg1">
                    <a:lumMod val="95000"/>
                  </a:schemeClr>
                </a:solidFill>
                <a:sym typeface="+mn-ea"/>
              </a:rPr>
              <a:t>区块链具有长期部署的需要</a:t>
            </a:r>
            <a:endParaRPr lang="zh-CN" altLang="en-US" sz="2665" dirty="0">
              <a:solidFill>
                <a:schemeClr val="bg1">
                  <a:lumMod val="95000"/>
                </a:schemeClr>
              </a:solidFill>
              <a:sym typeface="+mn-ea"/>
            </a:endParaRPr>
          </a:p>
          <a:p>
            <a:pPr lvl="1" indent="457200">
              <a:lnSpc>
                <a:spcPct val="150000"/>
              </a:lnSpc>
              <a:spcAft>
                <a:spcPts val="1200"/>
              </a:spcAft>
            </a:pPr>
            <a:r>
              <a:rPr lang="zh-CN" altLang="en-US" sz="3200" b="1" dirty="0">
                <a:solidFill>
                  <a:schemeClr val="bg1">
                    <a:lumMod val="95000"/>
                  </a:schemeClr>
                </a:solidFill>
                <a:sym typeface="+mn-ea"/>
              </a:rPr>
              <a:t>分布式数字资产交易协议需要高性能的链下方案构造</a:t>
            </a:r>
            <a:endParaRPr lang="zh-CN" altLang="en-US" sz="3200" b="1" dirty="0">
              <a:solidFill>
                <a:schemeClr val="bg1">
                  <a:lumMod val="95000"/>
                </a:schemeClr>
              </a:solidFill>
              <a:sym typeface="+mn-ea"/>
            </a:endParaRPr>
          </a:p>
          <a:p>
            <a:pPr marL="457200" lvl="0" indent="-457200" fontAlgn="auto">
              <a:lnSpc>
                <a:spcPct val="150000"/>
              </a:lnSpc>
              <a:buAutoNum type="arabicPeriod"/>
            </a:pPr>
            <a:r>
              <a:rPr lang="zh-CN" altLang="en-US" sz="2665" dirty="0">
                <a:solidFill>
                  <a:schemeClr val="bg1">
                    <a:lumMod val="95000"/>
                  </a:schemeClr>
                </a:solidFill>
                <a:sym typeface="+mn-ea"/>
              </a:rPr>
              <a:t>异构区块链系统间的互联互通要求分布式数字资产交易协议具有互操作性</a:t>
            </a:r>
            <a:endParaRPr lang="zh-CN" altLang="en-US" sz="2665" dirty="0">
              <a:solidFill>
                <a:schemeClr val="bg1">
                  <a:lumMod val="95000"/>
                </a:schemeClr>
              </a:solidFill>
              <a:sym typeface="+mn-ea"/>
            </a:endParaRPr>
          </a:p>
          <a:p>
            <a:pPr lvl="1" indent="457200">
              <a:lnSpc>
                <a:spcPct val="150000"/>
              </a:lnSpc>
            </a:pPr>
            <a:r>
              <a:rPr lang="zh-CN" altLang="en-US" sz="3200" b="1" dirty="0">
                <a:solidFill>
                  <a:schemeClr val="bg1">
                    <a:lumMod val="95000"/>
                  </a:schemeClr>
                </a:solidFill>
                <a:sym typeface="+mn-ea"/>
              </a:rPr>
              <a:t>分布式数字资产交易协议需要高效的跨链证明协议</a:t>
            </a:r>
            <a:endParaRPr lang="zh-CN" altLang="en-US" sz="3200" b="1" dirty="0">
              <a:solidFill>
                <a:schemeClr val="bg1">
                  <a:lumMod val="95000"/>
                </a:schemeClr>
              </a:solidFill>
              <a:sym typeface="+mn-ea"/>
            </a:endParaRPr>
          </a:p>
        </p:txBody>
      </p:sp>
      <p:sp>
        <p:nvSpPr>
          <p:cNvPr id="3" name="文本框 2"/>
          <p:cNvSpPr txBox="1"/>
          <p:nvPr/>
        </p:nvSpPr>
        <p:spPr>
          <a:xfrm>
            <a:off x="15649039" y="8666348"/>
            <a:ext cx="606961" cy="460375"/>
          </a:xfrm>
          <a:prstGeom prst="rect">
            <a:avLst/>
          </a:prstGeom>
          <a:noFill/>
        </p:spPr>
        <p:txBody>
          <a:bodyPr wrap="square" rtlCol="0">
            <a:spAutoFit/>
          </a:bodyPr>
          <a:lstStyle/>
          <a:p>
            <a:pPr algn="ctr"/>
            <a:r>
              <a:rPr lang="en-US" altLang="zh-CN" sz="2400" dirty="0"/>
              <a:t>4</a:t>
            </a:r>
            <a:endParaRPr lang="zh-CN" altLang="en-US" sz="2400" dirty="0"/>
          </a:p>
        </p:txBody>
      </p:sp>
      <p:sp>
        <p:nvSpPr>
          <p:cNvPr id="6" name="矩形 5"/>
          <p:cNvSpPr/>
          <p:nvPr/>
        </p:nvSpPr>
        <p:spPr>
          <a:xfrm>
            <a:off x="654473" y="5267831"/>
            <a:ext cx="14037733" cy="7628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ustDataLst>
      <p:tags r:id="rId13"/>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54473" y="5296253"/>
            <a:ext cx="14037733" cy="7628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矩形 26"/>
          <p:cNvSpPr/>
          <p:nvPr/>
        </p:nvSpPr>
        <p:spPr>
          <a:xfrm>
            <a:off x="654473" y="3809153"/>
            <a:ext cx="14037733" cy="7628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燕尾形 7"/>
          <p:cNvSpPr/>
          <p:nvPr/>
        </p:nvSpPr>
        <p:spPr>
          <a:xfrm>
            <a:off x="1358900" y="4713393"/>
            <a:ext cx="485987" cy="343747"/>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文本框 6"/>
          <p:cNvSpPr txBox="1"/>
          <p:nvPr>
            <p:custDataLst>
              <p:tags r:id="rId1"/>
            </p:custDataLst>
          </p:nvPr>
        </p:nvSpPr>
        <p:spPr>
          <a:xfrm>
            <a:off x="643467" y="1196340"/>
            <a:ext cx="14772640" cy="501650"/>
          </a:xfrm>
          <a:prstGeom prst="rect">
            <a:avLst/>
          </a:prstGeom>
          <a:noFill/>
        </p:spPr>
        <p:txBody>
          <a:bodyPr wrap="square" rtlCol="0" anchor="t">
            <a:spAutoFit/>
          </a:bodyPr>
          <a:lstStyle/>
          <a:p>
            <a:r>
              <a:rPr lang="zh-CN" altLang="en-US" sz="2665" dirty="0"/>
              <a:t>数字资产市场为区块链提供了新的</a:t>
            </a:r>
            <a:r>
              <a:rPr lang="zh-CN" altLang="en-US" sz="2665" b="1" dirty="0">
                <a:solidFill>
                  <a:srgbClr val="04579A"/>
                </a:solidFill>
              </a:rPr>
              <a:t>应用方向</a:t>
            </a:r>
            <a:r>
              <a:rPr lang="zh-CN" altLang="en-US" sz="2665" dirty="0"/>
              <a:t>，但同时也带来了新的</a:t>
            </a:r>
            <a:r>
              <a:rPr lang="zh-CN" altLang="en-US" sz="2665" b="1" dirty="0">
                <a:solidFill>
                  <a:srgbClr val="04579A"/>
                </a:solidFill>
              </a:rPr>
              <a:t>技术需求</a:t>
            </a:r>
            <a:r>
              <a:rPr lang="zh-CN" altLang="en-US" sz="2665" dirty="0"/>
              <a:t>：</a:t>
            </a:r>
            <a:endParaRPr lang="zh-CN" altLang="en-US" sz="2665" dirty="0"/>
          </a:p>
        </p:txBody>
      </p:sp>
      <p:sp>
        <p:nvSpPr>
          <p:cNvPr id="11" name="矩形 10"/>
          <p:cNvSpPr/>
          <p:nvPr>
            <p:custDataLst>
              <p:tags r:id="rId2"/>
            </p:custDataLst>
          </p:nvPr>
        </p:nvSpPr>
        <p:spPr>
          <a:xfrm>
            <a:off x="2219960" y="0"/>
            <a:ext cx="2942167" cy="962660"/>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 name="矩形 9"/>
          <p:cNvSpPr/>
          <p:nvPr>
            <p:custDataLst>
              <p:tags r:id="rId3"/>
            </p:custDataLst>
          </p:nvPr>
        </p:nvSpPr>
        <p:spPr>
          <a:xfrm>
            <a:off x="5162127" y="-847"/>
            <a:ext cx="2654300" cy="9626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2" name="矩形 11"/>
          <p:cNvSpPr/>
          <p:nvPr>
            <p:custDataLst>
              <p:tags r:id="rId4"/>
            </p:custDataLst>
          </p:nvPr>
        </p:nvSpPr>
        <p:spPr>
          <a:xfrm>
            <a:off x="7816427" y="-847"/>
            <a:ext cx="4154593" cy="9626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矩形 12"/>
          <p:cNvSpPr/>
          <p:nvPr>
            <p:custDataLst>
              <p:tags r:id="rId5"/>
            </p:custDataLst>
          </p:nvPr>
        </p:nvSpPr>
        <p:spPr>
          <a:xfrm>
            <a:off x="11971020" y="0"/>
            <a:ext cx="4284980" cy="9618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矩形 15"/>
          <p:cNvSpPr/>
          <p:nvPr>
            <p:custDataLst>
              <p:tags r:id="rId6"/>
            </p:custDataLst>
          </p:nvPr>
        </p:nvSpPr>
        <p:spPr>
          <a:xfrm>
            <a:off x="2219960" y="-847"/>
            <a:ext cx="2942167" cy="962660"/>
          </a:xfrm>
          <a:prstGeom prst="rect">
            <a:avLst/>
          </a:prstGeom>
          <a:solidFill>
            <a:srgbClr val="04579A"/>
          </a:solidFill>
          <a:ln>
            <a:solidFill>
              <a:srgbClr val="0457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 name="文本框 16"/>
          <p:cNvSpPr txBox="1"/>
          <p:nvPr>
            <p:custDataLst>
              <p:tags r:id="rId7"/>
            </p:custDataLst>
          </p:nvPr>
        </p:nvSpPr>
        <p:spPr>
          <a:xfrm>
            <a:off x="2428240" y="215053"/>
            <a:ext cx="13423900" cy="460375"/>
          </a:xfrm>
          <a:prstGeom prst="rect">
            <a:avLst/>
          </a:prstGeom>
          <a:noFill/>
        </p:spPr>
        <p:txBody>
          <a:bodyPr wrap="square" rtlCol="0">
            <a:spAutoFit/>
          </a:bodyPr>
          <a:lstStyle/>
          <a:p>
            <a:pPr indent="0" fontAlgn="auto">
              <a:lnSpc>
                <a:spcPct val="100000"/>
              </a:lnSpc>
            </a:pPr>
            <a:r>
              <a:rPr lang="en-US" altLang="zh-CN" sz="2400" dirty="0">
                <a:solidFill>
                  <a:schemeClr val="bg1"/>
                </a:solidFill>
                <a:latin typeface="Arial" panose="020B0604020202020204" pitchFamily="34" charset="0"/>
                <a:sym typeface="+mn-ea"/>
              </a:rPr>
              <a:t>  </a:t>
            </a:r>
            <a:r>
              <a:rPr lang="zh-CN" altLang="en-US" sz="2400" dirty="0">
                <a:solidFill>
                  <a:schemeClr val="bg1"/>
                </a:solidFill>
                <a:latin typeface="Arial" panose="020B0604020202020204" pitchFamily="34" charset="0"/>
                <a:sym typeface="+mn-ea"/>
              </a:rPr>
              <a:t>选题背景及意义</a:t>
            </a:r>
            <a:r>
              <a:rPr lang="en-US" altLang="zh-CN" sz="2400" dirty="0">
                <a:solidFill>
                  <a:prstClr val="black"/>
                </a:solidFill>
                <a:latin typeface="Arial" panose="020B0604020202020204" pitchFamily="34" charset="0"/>
                <a:sym typeface="+mn-ea"/>
              </a:rPr>
              <a:t>       </a:t>
            </a:r>
            <a:r>
              <a:rPr lang="zh-CN" altLang="en-US" sz="2400" dirty="0">
                <a:solidFill>
                  <a:prstClr val="black"/>
                </a:solidFill>
                <a:latin typeface="Arial" panose="020B0604020202020204" pitchFamily="34" charset="0"/>
                <a:sym typeface="+mn-ea"/>
              </a:rPr>
              <a:t>国内外研究现状</a:t>
            </a:r>
            <a:r>
              <a:rPr lang="en-US" altLang="zh-CN" sz="2400" dirty="0">
                <a:solidFill>
                  <a:prstClr val="black"/>
                </a:solidFill>
                <a:latin typeface="Arial" panose="020B0604020202020204" pitchFamily="34" charset="0"/>
                <a:sym typeface="+mn-ea"/>
              </a:rPr>
              <a:t>       </a:t>
            </a:r>
            <a:r>
              <a:rPr lang="zh-CN" altLang="en-US" sz="2400" dirty="0">
                <a:solidFill>
                  <a:prstClr val="black"/>
                </a:solidFill>
                <a:latin typeface="Arial" panose="020B0604020202020204" pitchFamily="34" charset="0"/>
                <a:sym typeface="+mn-ea"/>
              </a:rPr>
              <a:t>主要研究内容及预期目标</a:t>
            </a:r>
            <a:r>
              <a:rPr lang="en-US" altLang="zh-CN" sz="2400" dirty="0">
                <a:solidFill>
                  <a:prstClr val="black"/>
                </a:solidFill>
                <a:latin typeface="Arial" panose="020B0604020202020204" pitchFamily="34" charset="0"/>
                <a:sym typeface="+mn-ea"/>
              </a:rPr>
              <a:t>             </a:t>
            </a:r>
            <a:r>
              <a:rPr lang="zh-CN" altLang="en-US" sz="2400" dirty="0">
                <a:solidFill>
                  <a:prstClr val="black"/>
                </a:solidFill>
                <a:latin typeface="Arial" panose="020B0604020202020204" pitchFamily="34" charset="0"/>
                <a:sym typeface="+mn-ea"/>
              </a:rPr>
              <a:t>工作计划与进度安排</a:t>
            </a:r>
            <a:endParaRPr lang="zh-CN" altLang="en-US" sz="2400" dirty="0">
              <a:solidFill>
                <a:prstClr val="black"/>
              </a:solidFill>
              <a:latin typeface="Arial" panose="020B0604020202020204" pitchFamily="34" charset="0"/>
              <a:sym typeface="+mn-ea"/>
            </a:endParaRPr>
          </a:p>
        </p:txBody>
      </p:sp>
      <p:pic>
        <p:nvPicPr>
          <p:cNvPr id="18" name="Picture 2" descr="C:\Program Files\Apache Software Foundation\Tomcat 6.0\webapps\topo1\images\sklois1 (2).jpg"/>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l="5061" r="29001"/>
          <a:stretch>
            <a:fillRect/>
          </a:stretch>
        </p:blipFill>
        <p:spPr bwMode="auto">
          <a:xfrm>
            <a:off x="544407" y="140547"/>
            <a:ext cx="1273387" cy="74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 name="等腰三角形 19"/>
          <p:cNvSpPr/>
          <p:nvPr>
            <p:custDataLst>
              <p:tags r:id="rId10"/>
            </p:custDataLst>
          </p:nvPr>
        </p:nvSpPr>
        <p:spPr>
          <a:xfrm rot="10800000">
            <a:off x="3496733" y="961813"/>
            <a:ext cx="389467" cy="304800"/>
          </a:xfrm>
          <a:prstGeom prst="triangle">
            <a:avLst/>
          </a:prstGeom>
          <a:solidFill>
            <a:srgbClr val="045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矩形 1"/>
          <p:cNvSpPr/>
          <p:nvPr>
            <p:custDataLst>
              <p:tags r:id="rId11"/>
            </p:custDataLst>
          </p:nvPr>
        </p:nvSpPr>
        <p:spPr>
          <a:xfrm>
            <a:off x="643467" y="2236047"/>
            <a:ext cx="14037733" cy="7628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742527" y="2218267"/>
            <a:ext cx="14771793" cy="5202555"/>
          </a:xfrm>
          <a:prstGeom prst="rect">
            <a:avLst/>
          </a:prstGeom>
          <a:noFill/>
        </p:spPr>
        <p:txBody>
          <a:bodyPr wrap="square" rtlCol="0" anchor="t">
            <a:spAutoFit/>
          </a:bodyPr>
          <a:lstStyle/>
          <a:p>
            <a:pPr marL="457200" lvl="0" indent="-457200" fontAlgn="auto">
              <a:lnSpc>
                <a:spcPct val="150000"/>
              </a:lnSpc>
              <a:buFont typeface="Arial" panose="020B0604020202020204" pitchFamily="34" charset="0"/>
              <a:buAutoNum type="arabicPeriod"/>
            </a:pPr>
            <a:r>
              <a:rPr lang="zh-CN" altLang="en-US" sz="2665" dirty="0">
                <a:solidFill>
                  <a:schemeClr val="tx1">
                    <a:lumMod val="85000"/>
                    <a:lumOff val="15000"/>
                  </a:schemeClr>
                </a:solidFill>
                <a:sym typeface="+mn-ea"/>
              </a:rPr>
              <a:t>智能体执行任务的自主性对智能体授权协议的授权粒度提出了更高的要求</a:t>
            </a:r>
            <a:endParaRPr lang="zh-CN" altLang="en-US" sz="2665" dirty="0">
              <a:solidFill>
                <a:schemeClr val="tx1">
                  <a:lumMod val="85000"/>
                  <a:lumOff val="15000"/>
                </a:schemeClr>
              </a:solidFill>
              <a:sym typeface="+mn-ea"/>
            </a:endParaRPr>
          </a:p>
          <a:p>
            <a:pPr lvl="1" indent="457200">
              <a:lnSpc>
                <a:spcPct val="150000"/>
              </a:lnSpc>
              <a:spcAft>
                <a:spcPts val="1200"/>
              </a:spcAft>
            </a:pPr>
            <a:r>
              <a:rPr lang="zh-CN" altLang="en-US" sz="3200" b="1" dirty="0">
                <a:solidFill>
                  <a:srgbClr val="04579A"/>
                </a:solidFill>
                <a:sym typeface="+mn-ea"/>
              </a:rPr>
              <a:t>智能体授权协议的授权粒度需要匹配具体任务级语义</a:t>
            </a:r>
            <a:endParaRPr lang="zh-CN" altLang="en-US" sz="3200" b="1" dirty="0">
              <a:solidFill>
                <a:srgbClr val="04579A"/>
              </a:solidFill>
              <a:sym typeface="+mn-ea"/>
            </a:endParaRPr>
          </a:p>
          <a:p>
            <a:pPr marL="457200" lvl="0" indent="-457200" fontAlgn="auto">
              <a:lnSpc>
                <a:spcPct val="150000"/>
              </a:lnSpc>
              <a:buAutoNum type="arabicPeriod"/>
            </a:pPr>
            <a:r>
              <a:rPr lang="zh-CN" altLang="en-US" sz="2665" dirty="0">
                <a:sym typeface="+mn-ea"/>
              </a:rPr>
              <a:t>智能体执行任务的自主性要求更灵活的智能体授权</a:t>
            </a:r>
            <a:endParaRPr lang="zh-CN" altLang="en-US" sz="2665" dirty="0">
              <a:sym typeface="+mn-ea"/>
            </a:endParaRPr>
          </a:p>
          <a:p>
            <a:pPr marL="457200" lvl="1" indent="457200" fontAlgn="auto">
              <a:lnSpc>
                <a:spcPct val="150000"/>
              </a:lnSpc>
              <a:spcAft>
                <a:spcPts val="1200"/>
              </a:spcAft>
              <a:buNone/>
            </a:pPr>
            <a:r>
              <a:rPr lang="zh-CN" altLang="en-US" sz="3200" b="1" dirty="0">
                <a:solidFill>
                  <a:srgbClr val="04579A"/>
                </a:solidFill>
                <a:sym typeface="+mn-ea"/>
              </a:rPr>
              <a:t>对智能体的授权需要以任务上下文为条件</a:t>
            </a:r>
            <a:endParaRPr lang="zh-CN" altLang="en-US" sz="3200" dirty="0">
              <a:solidFill>
                <a:srgbClr val="04579A"/>
              </a:solidFill>
              <a:sym typeface="+mn-ea"/>
            </a:endParaRPr>
          </a:p>
          <a:p>
            <a:pPr marL="457200" lvl="0" indent="-457200" fontAlgn="auto">
              <a:lnSpc>
                <a:spcPct val="150000"/>
              </a:lnSpc>
              <a:buAutoNum type="arabicPeriod"/>
            </a:pPr>
            <a:r>
              <a:rPr lang="zh-CN" altLang="en-US" sz="2665" dirty="0">
                <a:solidFill>
                  <a:schemeClr val="bg1">
                    <a:lumMod val="95000"/>
                  </a:schemeClr>
                </a:solidFill>
                <a:sym typeface="+mn-ea"/>
              </a:rPr>
              <a:t>异构区块链系统间的互联互通要求分布式数字资产交易协议具有互操作性</a:t>
            </a:r>
            <a:endParaRPr lang="zh-CN" altLang="en-US" sz="2665" dirty="0">
              <a:solidFill>
                <a:schemeClr val="bg1">
                  <a:lumMod val="95000"/>
                </a:schemeClr>
              </a:solidFill>
              <a:sym typeface="+mn-ea"/>
            </a:endParaRPr>
          </a:p>
          <a:p>
            <a:pPr lvl="1" indent="457200">
              <a:lnSpc>
                <a:spcPct val="150000"/>
              </a:lnSpc>
            </a:pPr>
            <a:r>
              <a:rPr lang="zh-CN" altLang="en-US" sz="3200" b="1" dirty="0">
                <a:solidFill>
                  <a:schemeClr val="bg1">
                    <a:lumMod val="95000"/>
                  </a:schemeClr>
                </a:solidFill>
                <a:sym typeface="+mn-ea"/>
              </a:rPr>
              <a:t>分布式数字资产交易协议需要高效的跨链证明协议</a:t>
            </a:r>
            <a:endParaRPr lang="en-US" altLang="zh-CN" sz="3200" b="1" dirty="0">
              <a:solidFill>
                <a:schemeClr val="bg1">
                  <a:lumMod val="95000"/>
                </a:schemeClr>
              </a:solidFill>
              <a:sym typeface="+mn-ea"/>
            </a:endParaRPr>
          </a:p>
          <a:p>
            <a:pPr lvl="1" indent="457200">
              <a:lnSpc>
                <a:spcPct val="150000"/>
              </a:lnSpc>
            </a:pPr>
            <a:endParaRPr lang="zh-CN" altLang="en-US" sz="3200" b="1" dirty="0">
              <a:solidFill>
                <a:schemeClr val="bg1">
                  <a:lumMod val="95000"/>
                </a:schemeClr>
              </a:solidFill>
              <a:sym typeface="+mn-ea"/>
            </a:endParaRPr>
          </a:p>
        </p:txBody>
      </p:sp>
      <p:sp>
        <p:nvSpPr>
          <p:cNvPr id="4" name="燕尾形 3"/>
          <p:cNvSpPr/>
          <p:nvPr>
            <p:custDataLst>
              <p:tags r:id="rId12"/>
            </p:custDataLst>
          </p:nvPr>
        </p:nvSpPr>
        <p:spPr>
          <a:xfrm>
            <a:off x="1358900" y="3119967"/>
            <a:ext cx="485987" cy="343747"/>
          </a:xfrm>
          <a:prstGeom prst="chevron">
            <a:avLst/>
          </a:prstGeom>
          <a:solidFill>
            <a:srgbClr val="0457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文本框 5"/>
          <p:cNvSpPr txBox="1"/>
          <p:nvPr/>
        </p:nvSpPr>
        <p:spPr>
          <a:xfrm>
            <a:off x="15649039" y="8666348"/>
            <a:ext cx="606961" cy="460375"/>
          </a:xfrm>
          <a:prstGeom prst="rect">
            <a:avLst/>
          </a:prstGeom>
          <a:noFill/>
        </p:spPr>
        <p:txBody>
          <a:bodyPr wrap="square" rtlCol="0">
            <a:spAutoFit/>
          </a:bodyPr>
          <a:lstStyle/>
          <a:p>
            <a:pPr algn="ctr"/>
            <a:r>
              <a:rPr lang="en-US" altLang="zh-CN" sz="2400" dirty="0"/>
              <a:t>7</a:t>
            </a:r>
            <a:endParaRPr lang="zh-CN" altLang="en-US" sz="2400" dirty="0"/>
          </a:p>
        </p:txBody>
      </p:sp>
    </p:spTree>
    <p:custDataLst>
      <p:tags r:id="rId13"/>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219960" y="0"/>
            <a:ext cx="2895600" cy="962660"/>
          </a:xfrm>
          <a:prstGeom prst="rect">
            <a:avLst/>
          </a:prstGeom>
          <a:solidFill>
            <a:srgbClr val="F2F2F2"/>
          </a:solidFill>
          <a:ln w="12700">
            <a:solidFill>
              <a:srgbClr val="F2F2F2"/>
            </a:solidFill>
            <a:prstDash val="solid"/>
          </a:ln>
        </p:spPr>
      </p:sp>
      <p:sp>
        <p:nvSpPr>
          <p:cNvPr id="3"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4" name="Shape 2"/>
          <p:cNvSpPr/>
          <p:nvPr/>
        </p:nvSpPr>
        <p:spPr>
          <a:xfrm>
            <a:off x="7816469" y="-889"/>
            <a:ext cx="4114800" cy="962660"/>
          </a:xfrm>
          <a:prstGeom prst="rect">
            <a:avLst/>
          </a:prstGeom>
          <a:solidFill>
            <a:srgbClr val="F2F2F2"/>
          </a:solidFill>
        </p:spPr>
      </p:sp>
      <p:sp>
        <p:nvSpPr>
          <p:cNvPr id="5" name="Shape 3"/>
          <p:cNvSpPr/>
          <p:nvPr/>
        </p:nvSpPr>
        <p:spPr>
          <a:xfrm>
            <a:off x="11971020" y="0"/>
            <a:ext cx="4284980" cy="961771"/>
          </a:xfrm>
          <a:prstGeom prst="rect">
            <a:avLst/>
          </a:prstGeom>
          <a:solidFill>
            <a:srgbClr val="F2F2F2"/>
          </a:solidFill>
        </p:spPr>
      </p:sp>
      <p:sp>
        <p:nvSpPr>
          <p:cNvPr id="6" name="Shape 4"/>
          <p:cNvSpPr/>
          <p:nvPr/>
        </p:nvSpPr>
        <p:spPr>
          <a:xfrm>
            <a:off x="2283460" y="203200"/>
            <a:ext cx="2768600" cy="508000"/>
          </a:xfrm>
          <a:prstGeom prst="rect">
            <a:avLst/>
          </a:prstGeom>
          <a:noFill/>
        </p:spPr>
      </p:sp>
      <p:sp>
        <p:nvSpPr>
          <p:cNvPr id="7" name="Text 5"/>
          <p:cNvSpPr/>
          <p:nvPr/>
        </p:nvSpPr>
        <p:spPr>
          <a:xfrm>
            <a:off x="2161540" y="142240"/>
            <a:ext cx="3012440" cy="629920"/>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选题背景及意义</a:t>
            </a:r>
            <a:endParaRPr lang="en-US" sz="2000" dirty="0"/>
          </a:p>
        </p:txBody>
      </p:sp>
      <p:sp>
        <p:nvSpPr>
          <p:cNvPr id="8" name="Shape 6"/>
          <p:cNvSpPr/>
          <p:nvPr/>
        </p:nvSpPr>
        <p:spPr>
          <a:xfrm>
            <a:off x="5225669" y="203200"/>
            <a:ext cx="2463800" cy="508000"/>
          </a:xfrm>
          <a:prstGeom prst="rect">
            <a:avLst/>
          </a:prstGeom>
          <a:noFill/>
        </p:spPr>
      </p:sp>
      <p:sp>
        <p:nvSpPr>
          <p:cNvPr id="9" name="Text 7"/>
          <p:cNvSpPr/>
          <p:nvPr/>
        </p:nvSpPr>
        <p:spPr>
          <a:xfrm>
            <a:off x="5103749" y="142240"/>
            <a:ext cx="2707640" cy="629920"/>
          </a:xfrm>
          <a:prstGeom prst="rect">
            <a:avLst/>
          </a:prstGeom>
          <a:noFill/>
        </p:spPr>
        <p:txBody>
          <a:bodyPr wrap="none" lIns="0" tIns="0" rIns="0" bIns="0" rtlCol="0" anchor="ctr"/>
          <a:lstStyle/>
          <a:p>
            <a:pPr algn="ctr">
              <a:lnSpc>
                <a:spcPct val="120000"/>
              </a:lnSpc>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国内外研究现状</a:t>
            </a:r>
            <a:endParaRPr lang="en-US" sz="2000" dirty="0"/>
          </a:p>
        </p:txBody>
      </p:sp>
      <p:sp>
        <p:nvSpPr>
          <p:cNvPr id="10" name="Shape 8"/>
          <p:cNvSpPr/>
          <p:nvPr/>
        </p:nvSpPr>
        <p:spPr>
          <a:xfrm>
            <a:off x="7879969" y="203200"/>
            <a:ext cx="3987800" cy="508000"/>
          </a:xfrm>
          <a:prstGeom prst="rect">
            <a:avLst/>
          </a:prstGeom>
          <a:noFill/>
        </p:spPr>
      </p:sp>
      <p:sp>
        <p:nvSpPr>
          <p:cNvPr id="11" name="Text 9"/>
          <p:cNvSpPr/>
          <p:nvPr/>
        </p:nvSpPr>
        <p:spPr>
          <a:xfrm>
            <a:off x="7758049" y="142240"/>
            <a:ext cx="4231640" cy="629920"/>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主要研究内容及预期目标</a:t>
            </a:r>
            <a:endParaRPr lang="en-US" sz="2000" dirty="0"/>
          </a:p>
        </p:txBody>
      </p:sp>
      <p:sp>
        <p:nvSpPr>
          <p:cNvPr id="12" name="Shape 10"/>
          <p:cNvSpPr/>
          <p:nvPr/>
        </p:nvSpPr>
        <p:spPr>
          <a:xfrm>
            <a:off x="12034520" y="203200"/>
            <a:ext cx="4157980" cy="508000"/>
          </a:xfrm>
          <a:prstGeom prst="rect">
            <a:avLst/>
          </a:prstGeom>
          <a:noFill/>
        </p:spPr>
      </p:sp>
      <p:sp>
        <p:nvSpPr>
          <p:cNvPr id="13" name="Text 11"/>
          <p:cNvSpPr/>
          <p:nvPr/>
        </p:nvSpPr>
        <p:spPr>
          <a:xfrm>
            <a:off x="11912600" y="142240"/>
            <a:ext cx="4401820" cy="629920"/>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工作计划与进度安排</a:t>
            </a:r>
            <a:endParaRPr lang="en-US" sz="2000" dirty="0"/>
          </a:p>
        </p:txBody>
      </p:sp>
      <p:pic>
        <p:nvPicPr>
          <p:cNvPr id="14" name="Image 0" descr="https://kimi-img.moonshot.cn/pub/slides/okc/flfuysioo4gzm/mnt/agents/output/new_pptd/images/image_2.jpg"/>
          <p:cNvPicPr>
            <a:picLocks noChangeAspect="1"/>
          </p:cNvPicPr>
          <p:nvPr/>
        </p:nvPicPr>
        <p:blipFill>
          <a:blip r:embed="rId1"/>
          <a:srcRect l="5060" r="29000"/>
          <a:stretch>
            <a:fillRect/>
          </a:stretch>
        </p:blipFill>
        <p:spPr>
          <a:xfrm>
            <a:off x="544449" y="140589"/>
            <a:ext cx="1273429" cy="745871"/>
          </a:xfrm>
          <a:prstGeom prst="rect">
            <a:avLst/>
          </a:prstGeom>
        </p:spPr>
      </p:pic>
      <p:sp>
        <p:nvSpPr>
          <p:cNvPr id="15" name="Shape 12"/>
          <p:cNvSpPr/>
          <p:nvPr/>
        </p:nvSpPr>
        <p:spPr>
          <a:xfrm rot="10800000">
            <a:off x="6379591" y="961771"/>
            <a:ext cx="389509" cy="304800"/>
          </a:xfrm>
          <a:prstGeom prst="triangle">
            <a:avLst>
              <a:gd name="adj" fmla="val 50000"/>
            </a:avLst>
          </a:prstGeom>
          <a:solidFill>
            <a:srgbClr val="04579A"/>
          </a:solidFill>
        </p:spPr>
      </p:sp>
      <p:sp>
        <p:nvSpPr>
          <p:cNvPr id="16" name="Shape 13"/>
          <p:cNvSpPr/>
          <p:nvPr/>
        </p:nvSpPr>
        <p:spPr>
          <a:xfrm>
            <a:off x="762000" y="1333500"/>
            <a:ext cx="11430000" cy="533400"/>
          </a:xfrm>
          <a:prstGeom prst="rect">
            <a:avLst/>
          </a:prstGeom>
          <a:noFill/>
        </p:spPr>
      </p:sp>
      <p:sp>
        <p:nvSpPr>
          <p:cNvPr id="17" name="Text 14"/>
          <p:cNvSpPr/>
          <p:nvPr/>
        </p:nvSpPr>
        <p:spPr>
          <a:xfrm>
            <a:off x="640080" y="1272540"/>
            <a:ext cx="11673840" cy="655320"/>
          </a:xfrm>
          <a:prstGeom prst="rect">
            <a:avLst/>
          </a:prstGeom>
          <a:noFill/>
        </p:spPr>
        <p:txBody>
          <a:bodyPr wrap="none" lIns="0" tIns="0" rIns="0" bIns="0" rtlCol="0" anchor="ctr"/>
          <a:lstStyle/>
          <a:p>
            <a:pPr algn="l">
              <a:lnSpc>
                <a:spcPct val="120000"/>
              </a:lnSpc>
            </a:pPr>
            <a:r>
              <a:rPr lang="en-US" sz="2800" b="1" dirty="0">
                <a:solidFill>
                  <a:srgbClr val="04579A"/>
                </a:solidFill>
                <a:latin typeface="Arial" panose="020B0604020202020204" pitchFamily="34" charset="0"/>
                <a:ea typeface="Arial" panose="020B0604020202020204" pitchFamily="34" charset="-122"/>
                <a:cs typeface="Arial" panose="020B0604020202020204" pitchFamily="34" charset="-120"/>
              </a:rPr>
              <a:t>传统授权协议研究现状</a:t>
            </a:r>
            <a:endParaRPr lang="en-US" sz="2800" dirty="0"/>
          </a:p>
        </p:txBody>
      </p:sp>
      <p:sp>
        <p:nvSpPr>
          <p:cNvPr id="18" name="Shape 15"/>
          <p:cNvSpPr/>
          <p:nvPr>
            <p:custDataLst>
              <p:tags r:id="rId2"/>
            </p:custDataLst>
          </p:nvPr>
        </p:nvSpPr>
        <p:spPr>
          <a:xfrm>
            <a:off x="1397000" y="2032000"/>
            <a:ext cx="38100" cy="6413500"/>
          </a:xfrm>
          <a:prstGeom prst="rect">
            <a:avLst/>
          </a:prstGeom>
          <a:solidFill>
            <a:srgbClr val="04579A"/>
          </a:solidFill>
        </p:spPr>
      </p:sp>
      <p:sp>
        <p:nvSpPr>
          <p:cNvPr id="19" name="Shape 16"/>
          <p:cNvSpPr/>
          <p:nvPr>
            <p:custDataLst>
              <p:tags r:id="rId3"/>
            </p:custDataLst>
          </p:nvPr>
        </p:nvSpPr>
        <p:spPr>
          <a:xfrm>
            <a:off x="1282700" y="2095500"/>
            <a:ext cx="266700" cy="266700"/>
          </a:xfrm>
          <a:prstGeom prst="ellipse">
            <a:avLst/>
          </a:prstGeom>
          <a:solidFill>
            <a:srgbClr val="04579A"/>
          </a:solidFill>
        </p:spPr>
      </p:sp>
      <p:sp>
        <p:nvSpPr>
          <p:cNvPr id="20" name="Shape 17"/>
          <p:cNvSpPr/>
          <p:nvPr/>
        </p:nvSpPr>
        <p:spPr>
          <a:xfrm>
            <a:off x="508000" y="2070100"/>
            <a:ext cx="736600" cy="304800"/>
          </a:xfrm>
          <a:prstGeom prst="rect">
            <a:avLst/>
          </a:prstGeom>
          <a:noFill/>
        </p:spPr>
      </p:sp>
      <p:sp>
        <p:nvSpPr>
          <p:cNvPr id="21" name="Text 18"/>
          <p:cNvSpPr/>
          <p:nvPr>
            <p:custDataLst>
              <p:tags r:id="rId4"/>
            </p:custDataLst>
          </p:nvPr>
        </p:nvSpPr>
        <p:spPr>
          <a:xfrm>
            <a:off x="259080" y="2009140"/>
            <a:ext cx="980440" cy="426720"/>
          </a:xfrm>
          <a:prstGeom prst="rect">
            <a:avLst/>
          </a:prstGeom>
          <a:noFill/>
        </p:spPr>
        <p:txBody>
          <a:bodyPr wrap="none" lIns="0" tIns="0" rIns="0" bIns="0" rtlCol="0" anchor="ctr"/>
          <a:lstStyle/>
          <a:p>
            <a:pPr algn="r">
              <a:lnSpc>
                <a:spcPct val="120000"/>
              </a:lnSpc>
            </a:pPr>
            <a:r>
              <a:rPr lang="en-US" sz="1400" b="1" dirty="0">
                <a:solidFill>
                  <a:srgbClr val="04579A"/>
                </a:solidFill>
                <a:latin typeface="Arial" panose="020B0604020202020204" pitchFamily="34" charset="0"/>
                <a:ea typeface="Arial" panose="020B0604020202020204" pitchFamily="34" charset="-122"/>
                <a:cs typeface="Arial" panose="020B0604020202020204" pitchFamily="34" charset="-120"/>
              </a:rPr>
              <a:t>1970s</a:t>
            </a:r>
            <a:endParaRPr lang="en-US" sz="1400" dirty="0"/>
          </a:p>
        </p:txBody>
      </p:sp>
      <p:sp>
        <p:nvSpPr>
          <p:cNvPr id="22" name="Shape 19"/>
          <p:cNvSpPr/>
          <p:nvPr/>
        </p:nvSpPr>
        <p:spPr>
          <a:xfrm>
            <a:off x="1714500" y="2032000"/>
            <a:ext cx="6858000" cy="787400"/>
          </a:xfrm>
          <a:prstGeom prst="rect">
            <a:avLst/>
          </a:prstGeom>
          <a:noFill/>
        </p:spPr>
      </p:sp>
      <p:sp>
        <p:nvSpPr>
          <p:cNvPr id="23" name="Text 20"/>
          <p:cNvSpPr/>
          <p:nvPr>
            <p:custDataLst>
              <p:tags r:id="rId5"/>
            </p:custDataLst>
          </p:nvPr>
        </p:nvSpPr>
        <p:spPr>
          <a:xfrm>
            <a:off x="1592580" y="1971040"/>
            <a:ext cx="7101840" cy="909320"/>
          </a:xfrm>
          <a:prstGeom prst="rect">
            <a:avLst/>
          </a:prstGeom>
          <a:noFill/>
        </p:spPr>
        <p:txBody>
          <a:bodyPr wrap="square" lIns="0" tIns="0" rIns="0" bIns="0" rtlCol="0" anchor="t"/>
          <a:lstStyle/>
          <a:p>
            <a:pPr algn="l">
              <a:lnSpc>
                <a:spcPct val="150000"/>
              </a:lnSpc>
            </a:pPr>
            <a:r>
              <a:rPr lang="en-US" sz="1600" b="1" dirty="0">
                <a:solidFill>
                  <a:srgbClr val="333333"/>
                </a:solidFill>
                <a:latin typeface="Arial" panose="020B0604020202020204" pitchFamily="34" charset="0"/>
                <a:ea typeface="Arial" panose="020B0604020202020204" pitchFamily="34" charset="-122"/>
                <a:cs typeface="Arial" panose="020B0604020202020204" pitchFamily="34" charset="-120"/>
              </a:rPr>
              <a:t>BLP [4] / Biba [5]</a:t>
            </a:r>
            <a:r>
              <a:rPr lang="en-US" sz="1600" dirty="0">
                <a:solidFill>
                  <a:srgbClr val="333333"/>
                </a:solidFill>
                <a:latin typeface="Arial" panose="020B0604020202020204" pitchFamily="34" charset="0"/>
                <a:ea typeface="Arial" panose="020B0604020202020204" pitchFamily="34" charset="-122"/>
                <a:cs typeface="Arial" panose="020B0604020202020204" pitchFamily="34" charset="-120"/>
              </a:rPr>
              <a:t> — Bell-LaPadula机密性模型与Biba完整性模型</a:t>
            </a:r>
            <a:endParaRPr lang="en-US" sz="1600" dirty="0"/>
          </a:p>
          <a:p>
            <a:pPr algn="l">
              <a:lnSpc>
                <a:spcPct val="150000"/>
              </a:lnSpc>
            </a:pPr>
            <a:r>
              <a:rPr lang="en-US" sz="1600" dirty="0">
                <a:solidFill>
                  <a:srgbClr val="666666"/>
                </a:solidFill>
                <a:latin typeface="Arial" panose="020B0604020202020204" pitchFamily="34" charset="0"/>
                <a:ea typeface="Arial" panose="020B0604020202020204" pitchFamily="34" charset="-122"/>
                <a:cs typeface="Arial" panose="020B0604020202020204" pitchFamily="34" charset="-120"/>
              </a:rPr>
              <a:t>MAC强制访问控制双支柱</a:t>
            </a:r>
            <a:endParaRPr lang="en-US" sz="1600" dirty="0"/>
          </a:p>
        </p:txBody>
      </p:sp>
      <p:sp>
        <p:nvSpPr>
          <p:cNvPr id="24" name="Shape 21"/>
          <p:cNvSpPr/>
          <p:nvPr>
            <p:custDataLst>
              <p:tags r:id="rId6"/>
            </p:custDataLst>
          </p:nvPr>
        </p:nvSpPr>
        <p:spPr>
          <a:xfrm>
            <a:off x="1262380" y="3149600"/>
            <a:ext cx="266700" cy="266700"/>
          </a:xfrm>
          <a:prstGeom prst="ellipse">
            <a:avLst/>
          </a:prstGeom>
          <a:solidFill>
            <a:srgbClr val="04579A"/>
          </a:solidFill>
        </p:spPr>
      </p:sp>
      <p:sp>
        <p:nvSpPr>
          <p:cNvPr id="25" name="Shape 22"/>
          <p:cNvSpPr/>
          <p:nvPr/>
        </p:nvSpPr>
        <p:spPr>
          <a:xfrm>
            <a:off x="441960" y="3124200"/>
            <a:ext cx="635000" cy="304800"/>
          </a:xfrm>
          <a:prstGeom prst="rect">
            <a:avLst/>
          </a:prstGeom>
          <a:noFill/>
        </p:spPr>
      </p:sp>
      <p:sp>
        <p:nvSpPr>
          <p:cNvPr id="26" name="Text 23"/>
          <p:cNvSpPr/>
          <p:nvPr>
            <p:custDataLst>
              <p:tags r:id="rId7"/>
            </p:custDataLst>
          </p:nvPr>
        </p:nvSpPr>
        <p:spPr>
          <a:xfrm>
            <a:off x="320040" y="3063240"/>
            <a:ext cx="878840" cy="426720"/>
          </a:xfrm>
          <a:prstGeom prst="rect">
            <a:avLst/>
          </a:prstGeom>
          <a:noFill/>
        </p:spPr>
        <p:txBody>
          <a:bodyPr wrap="none" lIns="0" tIns="0" rIns="0" bIns="0" rtlCol="0" anchor="ctr"/>
          <a:lstStyle/>
          <a:p>
            <a:pPr algn="r">
              <a:lnSpc>
                <a:spcPct val="120000"/>
              </a:lnSpc>
            </a:pPr>
            <a:r>
              <a:rPr lang="en-US" sz="1400" b="1" dirty="0">
                <a:solidFill>
                  <a:srgbClr val="04579A"/>
                </a:solidFill>
                <a:latin typeface="Arial" panose="020B0604020202020204" pitchFamily="34" charset="0"/>
                <a:ea typeface="Arial" panose="020B0604020202020204" pitchFamily="34" charset="-122"/>
                <a:cs typeface="Arial" panose="020B0604020202020204" pitchFamily="34" charset="-120"/>
              </a:rPr>
              <a:t>1996</a:t>
            </a:r>
            <a:endParaRPr lang="en-US" sz="1400" dirty="0"/>
          </a:p>
        </p:txBody>
      </p:sp>
      <p:sp>
        <p:nvSpPr>
          <p:cNvPr id="27" name="Shape 24"/>
          <p:cNvSpPr/>
          <p:nvPr/>
        </p:nvSpPr>
        <p:spPr>
          <a:xfrm>
            <a:off x="1732280" y="3098800"/>
            <a:ext cx="6858000" cy="787400"/>
          </a:xfrm>
          <a:prstGeom prst="rect">
            <a:avLst/>
          </a:prstGeom>
          <a:noFill/>
        </p:spPr>
      </p:sp>
      <p:sp>
        <p:nvSpPr>
          <p:cNvPr id="28" name="Text 25"/>
          <p:cNvSpPr/>
          <p:nvPr>
            <p:custDataLst>
              <p:tags r:id="rId8"/>
            </p:custDataLst>
          </p:nvPr>
        </p:nvSpPr>
        <p:spPr>
          <a:xfrm>
            <a:off x="1610360" y="3037840"/>
            <a:ext cx="7101840" cy="909320"/>
          </a:xfrm>
          <a:prstGeom prst="rect">
            <a:avLst/>
          </a:prstGeom>
          <a:noFill/>
        </p:spPr>
        <p:txBody>
          <a:bodyPr wrap="square" lIns="0" tIns="0" rIns="0" bIns="0" rtlCol="0" anchor="t"/>
          <a:lstStyle/>
          <a:p>
            <a:pPr algn="l">
              <a:lnSpc>
                <a:spcPct val="150000"/>
              </a:lnSpc>
            </a:pPr>
            <a:r>
              <a:rPr lang="en-US" sz="1600" b="1" dirty="0">
                <a:solidFill>
                  <a:srgbClr val="333333"/>
                </a:solidFill>
                <a:latin typeface="Arial" panose="020B0604020202020204" pitchFamily="34" charset="0"/>
                <a:ea typeface="Arial" panose="020B0604020202020204" pitchFamily="34" charset="-122"/>
                <a:cs typeface="Arial" panose="020B0604020202020204" pitchFamily="34" charset="-120"/>
              </a:rPr>
              <a:t>RBAC [9] / NIST RBAC [10]</a:t>
            </a:r>
            <a:r>
              <a:rPr lang="en-US" sz="1600" dirty="0">
                <a:solidFill>
                  <a:srgbClr val="333333"/>
                </a:solidFill>
                <a:latin typeface="Arial" panose="020B0604020202020204" pitchFamily="34" charset="0"/>
                <a:ea typeface="Arial" panose="020B0604020202020204" pitchFamily="34" charset="-122"/>
                <a:cs typeface="Arial" panose="020B0604020202020204" pitchFamily="34" charset="-120"/>
              </a:rPr>
              <a:t> — Sandhu角色访问控制模型</a:t>
            </a:r>
            <a:endParaRPr lang="en-US" sz="1600" dirty="0"/>
          </a:p>
          <a:p>
            <a:pPr algn="l">
              <a:lnSpc>
                <a:spcPct val="150000"/>
              </a:lnSpc>
            </a:pPr>
            <a:r>
              <a:rPr lang="en-US" sz="1600" dirty="0">
                <a:solidFill>
                  <a:srgbClr val="666666"/>
                </a:solidFill>
                <a:latin typeface="Arial" panose="020B0604020202020204" pitchFamily="34" charset="0"/>
                <a:ea typeface="Arial" panose="020B0604020202020204" pitchFamily="34" charset="-122"/>
                <a:cs typeface="Arial" panose="020B0604020202020204" pitchFamily="34" charset="-120"/>
              </a:rPr>
              <a:t>角色抽象简化权限管理</a:t>
            </a:r>
            <a:endParaRPr lang="en-US" sz="1600" dirty="0"/>
          </a:p>
        </p:txBody>
      </p:sp>
      <p:sp>
        <p:nvSpPr>
          <p:cNvPr id="29" name="Shape 26"/>
          <p:cNvSpPr/>
          <p:nvPr>
            <p:custDataLst>
              <p:tags r:id="rId9"/>
            </p:custDataLst>
          </p:nvPr>
        </p:nvSpPr>
        <p:spPr>
          <a:xfrm>
            <a:off x="1244600" y="4114800"/>
            <a:ext cx="266700" cy="266700"/>
          </a:xfrm>
          <a:prstGeom prst="ellipse">
            <a:avLst/>
          </a:prstGeom>
          <a:solidFill>
            <a:srgbClr val="04579A"/>
          </a:solidFill>
        </p:spPr>
      </p:sp>
      <p:sp>
        <p:nvSpPr>
          <p:cNvPr id="30" name="Shape 27"/>
          <p:cNvSpPr/>
          <p:nvPr/>
        </p:nvSpPr>
        <p:spPr>
          <a:xfrm>
            <a:off x="604520" y="4089400"/>
            <a:ext cx="635000" cy="304800"/>
          </a:xfrm>
          <a:prstGeom prst="rect">
            <a:avLst/>
          </a:prstGeom>
          <a:noFill/>
        </p:spPr>
      </p:sp>
      <p:sp>
        <p:nvSpPr>
          <p:cNvPr id="31" name="Text 28"/>
          <p:cNvSpPr/>
          <p:nvPr>
            <p:custDataLst>
              <p:tags r:id="rId10"/>
            </p:custDataLst>
          </p:nvPr>
        </p:nvSpPr>
        <p:spPr>
          <a:xfrm>
            <a:off x="302260" y="4028440"/>
            <a:ext cx="878840" cy="426720"/>
          </a:xfrm>
          <a:prstGeom prst="rect">
            <a:avLst/>
          </a:prstGeom>
          <a:noFill/>
        </p:spPr>
        <p:txBody>
          <a:bodyPr wrap="none" lIns="0" tIns="0" rIns="0" bIns="0" rtlCol="0" anchor="ctr"/>
          <a:lstStyle/>
          <a:p>
            <a:pPr algn="r">
              <a:lnSpc>
                <a:spcPct val="120000"/>
              </a:lnSpc>
            </a:pPr>
            <a:r>
              <a:rPr lang="en-US" sz="1300" b="1" dirty="0">
                <a:solidFill>
                  <a:srgbClr val="04579A"/>
                </a:solidFill>
                <a:latin typeface="Arial" panose="020B0604020202020204" pitchFamily="34" charset="0"/>
                <a:ea typeface="Arial" panose="020B0604020202020204" pitchFamily="34" charset="-122"/>
                <a:cs typeface="Arial" panose="020B0604020202020204" pitchFamily="34" charset="-120"/>
              </a:rPr>
              <a:t>2012</a:t>
            </a:r>
            <a:endParaRPr lang="en-US" sz="1300" dirty="0"/>
          </a:p>
        </p:txBody>
      </p:sp>
      <p:sp>
        <p:nvSpPr>
          <p:cNvPr id="32" name="Shape 29"/>
          <p:cNvSpPr/>
          <p:nvPr/>
        </p:nvSpPr>
        <p:spPr>
          <a:xfrm>
            <a:off x="1714500" y="4064000"/>
            <a:ext cx="6858000" cy="787400"/>
          </a:xfrm>
          <a:prstGeom prst="rect">
            <a:avLst/>
          </a:prstGeom>
          <a:noFill/>
        </p:spPr>
      </p:sp>
      <p:sp>
        <p:nvSpPr>
          <p:cNvPr id="33" name="Text 30"/>
          <p:cNvSpPr/>
          <p:nvPr>
            <p:custDataLst>
              <p:tags r:id="rId11"/>
            </p:custDataLst>
          </p:nvPr>
        </p:nvSpPr>
        <p:spPr>
          <a:xfrm>
            <a:off x="1592580" y="4003040"/>
            <a:ext cx="7101840" cy="909320"/>
          </a:xfrm>
          <a:prstGeom prst="rect">
            <a:avLst/>
          </a:prstGeom>
          <a:noFill/>
        </p:spPr>
        <p:txBody>
          <a:bodyPr wrap="square" lIns="0" tIns="0" rIns="0" bIns="0" rtlCol="0" anchor="t"/>
          <a:lstStyle/>
          <a:p>
            <a:pPr algn="l">
              <a:lnSpc>
                <a:spcPct val="150000"/>
              </a:lnSpc>
            </a:pPr>
            <a:r>
              <a:rPr lang="en-US" sz="1600" b="1" dirty="0">
                <a:solidFill>
                  <a:srgbClr val="333333"/>
                </a:solidFill>
                <a:latin typeface="Arial" panose="020B0604020202020204" pitchFamily="34" charset="0"/>
                <a:ea typeface="Arial" panose="020B0604020202020204" pitchFamily="34" charset="-122"/>
                <a:cs typeface="Arial" panose="020B0604020202020204" pitchFamily="34" charset="-120"/>
              </a:rPr>
              <a:t>OAuth 2.0 [16]</a:t>
            </a:r>
            <a:r>
              <a:rPr lang="en-US" sz="1600" dirty="0">
                <a:solidFill>
                  <a:srgbClr val="333333"/>
                </a:solidFill>
                <a:latin typeface="Arial" panose="020B0604020202020204" pitchFamily="34" charset="0"/>
                <a:ea typeface="Arial" panose="020B0604020202020204" pitchFamily="34" charset="-122"/>
                <a:cs typeface="Arial" panose="020B0604020202020204" pitchFamily="34" charset="-120"/>
              </a:rPr>
              <a:t> — Hardt, RFC 6749 委托授权框架</a:t>
            </a:r>
            <a:endParaRPr lang="en-US" sz="1600" dirty="0"/>
          </a:p>
          <a:p>
            <a:pPr algn="l">
              <a:lnSpc>
                <a:spcPct val="150000"/>
              </a:lnSpc>
            </a:pPr>
            <a:r>
              <a:rPr lang="en-US" sz="1600" dirty="0">
                <a:solidFill>
                  <a:srgbClr val="666666"/>
                </a:solidFill>
                <a:latin typeface="Arial" panose="020B0604020202020204" pitchFamily="34" charset="0"/>
                <a:ea typeface="Arial" panose="020B0604020202020204" pitchFamily="34" charset="-122"/>
                <a:cs typeface="Arial" panose="020B0604020202020204" pitchFamily="34" charset="-120"/>
              </a:rPr>
              <a:t>Bearer Token粗粒度静态权限，泄露后全权限滥用，违背最小权限原则</a:t>
            </a:r>
            <a:endParaRPr lang="en-US" sz="1600" dirty="0"/>
          </a:p>
        </p:txBody>
      </p:sp>
      <p:sp>
        <p:nvSpPr>
          <p:cNvPr id="34" name="Shape 31"/>
          <p:cNvSpPr/>
          <p:nvPr>
            <p:custDataLst>
              <p:tags r:id="rId12"/>
            </p:custDataLst>
          </p:nvPr>
        </p:nvSpPr>
        <p:spPr>
          <a:xfrm>
            <a:off x="1244600" y="5187315"/>
            <a:ext cx="266700" cy="266700"/>
          </a:xfrm>
          <a:prstGeom prst="ellipse">
            <a:avLst/>
          </a:prstGeom>
          <a:solidFill>
            <a:srgbClr val="04579A"/>
          </a:solidFill>
        </p:spPr>
      </p:sp>
      <p:sp>
        <p:nvSpPr>
          <p:cNvPr id="35" name="Shape 32"/>
          <p:cNvSpPr/>
          <p:nvPr/>
        </p:nvSpPr>
        <p:spPr>
          <a:xfrm>
            <a:off x="360680" y="5161915"/>
            <a:ext cx="698500" cy="304800"/>
          </a:xfrm>
          <a:prstGeom prst="rect">
            <a:avLst/>
          </a:prstGeom>
          <a:noFill/>
        </p:spPr>
      </p:sp>
      <p:sp>
        <p:nvSpPr>
          <p:cNvPr id="36" name="Text 33"/>
          <p:cNvSpPr/>
          <p:nvPr>
            <p:custDataLst>
              <p:tags r:id="rId13"/>
            </p:custDataLst>
          </p:nvPr>
        </p:nvSpPr>
        <p:spPr>
          <a:xfrm>
            <a:off x="360680" y="5100955"/>
            <a:ext cx="838200" cy="426720"/>
          </a:xfrm>
          <a:prstGeom prst="rect">
            <a:avLst/>
          </a:prstGeom>
          <a:noFill/>
        </p:spPr>
        <p:txBody>
          <a:bodyPr wrap="none" lIns="0" tIns="0" rIns="0" bIns="0" rtlCol="0" anchor="ctr"/>
          <a:lstStyle/>
          <a:p>
            <a:pPr algn="r">
              <a:lnSpc>
                <a:spcPct val="120000"/>
              </a:lnSpc>
            </a:pPr>
            <a:r>
              <a:rPr lang="en-US" sz="1300" b="1" dirty="0">
                <a:solidFill>
                  <a:srgbClr val="04579A"/>
                </a:solidFill>
                <a:latin typeface="Arial" panose="020B0604020202020204" pitchFamily="34" charset="0"/>
                <a:ea typeface="Arial" panose="020B0604020202020204" pitchFamily="34" charset="-122"/>
                <a:cs typeface="Arial" panose="020B0604020202020204" pitchFamily="34" charset="-120"/>
              </a:rPr>
              <a:t>2014</a:t>
            </a:r>
            <a:endParaRPr lang="en-US" sz="1300" dirty="0"/>
          </a:p>
        </p:txBody>
      </p:sp>
      <p:sp>
        <p:nvSpPr>
          <p:cNvPr id="37" name="Shape 34"/>
          <p:cNvSpPr/>
          <p:nvPr/>
        </p:nvSpPr>
        <p:spPr>
          <a:xfrm>
            <a:off x="1714500" y="5136515"/>
            <a:ext cx="6858000" cy="787400"/>
          </a:xfrm>
          <a:prstGeom prst="rect">
            <a:avLst/>
          </a:prstGeom>
          <a:noFill/>
        </p:spPr>
      </p:sp>
      <p:sp>
        <p:nvSpPr>
          <p:cNvPr id="38" name="Text 35"/>
          <p:cNvSpPr/>
          <p:nvPr>
            <p:custDataLst>
              <p:tags r:id="rId14"/>
            </p:custDataLst>
          </p:nvPr>
        </p:nvSpPr>
        <p:spPr>
          <a:xfrm>
            <a:off x="1592580" y="5075555"/>
            <a:ext cx="7101840" cy="909320"/>
          </a:xfrm>
          <a:prstGeom prst="rect">
            <a:avLst/>
          </a:prstGeom>
          <a:noFill/>
        </p:spPr>
        <p:txBody>
          <a:bodyPr wrap="square" lIns="0" tIns="0" rIns="0" bIns="0" rtlCol="0" anchor="t"/>
          <a:lstStyle/>
          <a:p>
            <a:pPr algn="l">
              <a:lnSpc>
                <a:spcPct val="150000"/>
              </a:lnSpc>
            </a:pPr>
            <a:r>
              <a:rPr lang="en-US" sz="1600" b="1" dirty="0">
                <a:solidFill>
                  <a:srgbClr val="333333"/>
                </a:solidFill>
                <a:latin typeface="Arial" panose="020B0604020202020204" pitchFamily="34" charset="0"/>
                <a:ea typeface="Arial" panose="020B0604020202020204" pitchFamily="34" charset="-122"/>
                <a:cs typeface="Arial" panose="020B0604020202020204" pitchFamily="34" charset="-120"/>
              </a:rPr>
              <a:t>Macaroons [31]</a:t>
            </a:r>
            <a:r>
              <a:rPr lang="en-US" sz="1600" dirty="0">
                <a:solidFill>
                  <a:srgbClr val="333333"/>
                </a:solidFill>
                <a:latin typeface="Arial" panose="020B0604020202020204" pitchFamily="34" charset="0"/>
                <a:ea typeface="Arial" panose="020B0604020202020204" pitchFamily="34" charset="-122"/>
                <a:cs typeface="Arial" panose="020B0604020202020204" pitchFamily="34" charset="-120"/>
              </a:rPr>
              <a:t> — Birgisson等, NDSS</a:t>
            </a:r>
            <a:endParaRPr lang="en-US" sz="1600" dirty="0"/>
          </a:p>
          <a:p>
            <a:pPr algn="l">
              <a:lnSpc>
                <a:spcPct val="150000"/>
              </a:lnSpc>
            </a:pPr>
            <a:r>
              <a:rPr lang="en-US" sz="1600" dirty="0">
                <a:solidFill>
                  <a:srgbClr val="666666"/>
                </a:solidFill>
                <a:latin typeface="Arial" panose="020B0604020202020204" pitchFamily="34" charset="0"/>
                <a:ea typeface="Arial" panose="020B0604020202020204" pitchFamily="34" charset="-122"/>
                <a:cs typeface="Arial" panose="020B0604020202020204" pitchFamily="34" charset="-120"/>
              </a:rPr>
              <a:t>嵌套HMAC链实现权限单调衰减与第三方约束，但未解决跨域互操作</a:t>
            </a:r>
            <a:r>
              <a:rPr lang="zh-CN" altLang="en-US" sz="1600" dirty="0">
                <a:solidFill>
                  <a:srgbClr val="666666"/>
                </a:solidFill>
                <a:latin typeface="Arial" panose="020B0604020202020204" pitchFamily="34" charset="0"/>
                <a:ea typeface="宋体" panose="02010600030101010101" pitchFamily="2" charset="-122"/>
                <a:cs typeface="Arial" panose="020B0604020202020204" pitchFamily="34" charset="-120"/>
              </a:rPr>
              <a:t>，尽管涉及添加第三方约束，但只能</a:t>
            </a:r>
            <a:r>
              <a:rPr lang="zh-CN" altLang="en-US" sz="1600" dirty="0">
                <a:solidFill>
                  <a:srgbClr val="666666"/>
                </a:solidFill>
                <a:latin typeface="Arial" panose="020B0604020202020204" pitchFamily="34" charset="0"/>
                <a:ea typeface="宋体" panose="02010600030101010101" pitchFamily="2" charset="-122"/>
                <a:cs typeface="Arial" panose="020B0604020202020204" pitchFamily="34" charset="-120"/>
              </a:rPr>
              <a:t>添加类似时间、</a:t>
            </a:r>
            <a:r>
              <a:rPr lang="en-US" altLang="zh-CN" sz="1600" dirty="0">
                <a:solidFill>
                  <a:srgbClr val="666666"/>
                </a:solidFill>
                <a:latin typeface="Arial" panose="020B0604020202020204" pitchFamily="34" charset="0"/>
                <a:ea typeface="宋体" panose="02010600030101010101" pitchFamily="2" charset="-122"/>
                <a:cs typeface="Arial" panose="020B0604020202020204" pitchFamily="34" charset="-120"/>
              </a:rPr>
              <a:t>IP</a:t>
            </a:r>
            <a:r>
              <a:rPr lang="zh-CN" altLang="en-US" sz="1600" dirty="0">
                <a:solidFill>
                  <a:srgbClr val="666666"/>
                </a:solidFill>
                <a:latin typeface="Arial" panose="020B0604020202020204" pitchFamily="34" charset="0"/>
                <a:ea typeface="宋体" panose="02010600030101010101" pitchFamily="2" charset="-122"/>
                <a:cs typeface="Arial" panose="020B0604020202020204" pitchFamily="34" charset="-120"/>
              </a:rPr>
              <a:t>这些静态</a:t>
            </a:r>
            <a:r>
              <a:rPr lang="zh-CN" altLang="en-US" sz="1600" dirty="0">
                <a:solidFill>
                  <a:srgbClr val="666666"/>
                </a:solidFill>
                <a:latin typeface="Arial" panose="020B0604020202020204" pitchFamily="34" charset="0"/>
                <a:ea typeface="宋体" panose="02010600030101010101" pitchFamily="2" charset="-122"/>
                <a:cs typeface="Arial" panose="020B0604020202020204" pitchFamily="34" charset="-120"/>
              </a:rPr>
              <a:t>约束</a:t>
            </a:r>
            <a:endParaRPr lang="zh-CN" altLang="en-US" sz="1600" dirty="0">
              <a:solidFill>
                <a:srgbClr val="666666"/>
              </a:solidFill>
              <a:latin typeface="Arial" panose="020B0604020202020204" pitchFamily="34" charset="0"/>
              <a:ea typeface="宋体" panose="02010600030101010101" pitchFamily="2" charset="-122"/>
              <a:cs typeface="Arial" panose="020B0604020202020204" pitchFamily="34" charset="-120"/>
            </a:endParaRPr>
          </a:p>
        </p:txBody>
      </p:sp>
      <p:sp>
        <p:nvSpPr>
          <p:cNvPr id="39" name="Shape 36"/>
          <p:cNvSpPr/>
          <p:nvPr>
            <p:custDataLst>
              <p:tags r:id="rId15"/>
            </p:custDataLst>
          </p:nvPr>
        </p:nvSpPr>
        <p:spPr>
          <a:xfrm>
            <a:off x="1282700" y="6305550"/>
            <a:ext cx="266700" cy="266700"/>
          </a:xfrm>
          <a:prstGeom prst="ellipse">
            <a:avLst/>
          </a:prstGeom>
          <a:solidFill>
            <a:srgbClr val="04579A"/>
          </a:solidFill>
        </p:spPr>
      </p:sp>
      <p:sp>
        <p:nvSpPr>
          <p:cNvPr id="40" name="Shape 37"/>
          <p:cNvSpPr/>
          <p:nvPr/>
        </p:nvSpPr>
        <p:spPr>
          <a:xfrm>
            <a:off x="302260" y="6045835"/>
            <a:ext cx="635000" cy="304800"/>
          </a:xfrm>
          <a:prstGeom prst="rect">
            <a:avLst/>
          </a:prstGeom>
          <a:noFill/>
        </p:spPr>
      </p:sp>
      <p:sp>
        <p:nvSpPr>
          <p:cNvPr id="41" name="Text 38"/>
          <p:cNvSpPr/>
          <p:nvPr>
            <p:custDataLst>
              <p:tags r:id="rId16"/>
            </p:custDataLst>
          </p:nvPr>
        </p:nvSpPr>
        <p:spPr>
          <a:xfrm>
            <a:off x="320040" y="6242050"/>
            <a:ext cx="878840" cy="426720"/>
          </a:xfrm>
          <a:prstGeom prst="rect">
            <a:avLst/>
          </a:prstGeom>
          <a:noFill/>
        </p:spPr>
        <p:txBody>
          <a:bodyPr wrap="none" lIns="0" tIns="0" rIns="0" bIns="0" rtlCol="0" anchor="ctr"/>
          <a:lstStyle/>
          <a:p>
            <a:pPr algn="r">
              <a:lnSpc>
                <a:spcPct val="120000"/>
              </a:lnSpc>
            </a:pPr>
            <a:r>
              <a:rPr lang="en-US" sz="1300" b="1" dirty="0">
                <a:solidFill>
                  <a:srgbClr val="04579A"/>
                </a:solidFill>
                <a:latin typeface="Arial" panose="020B0604020202020204" pitchFamily="34" charset="0"/>
                <a:ea typeface="Arial" panose="020B0604020202020204" pitchFamily="34" charset="-122"/>
                <a:cs typeface="Arial" panose="020B0604020202020204" pitchFamily="34" charset="-120"/>
              </a:rPr>
              <a:t>2019</a:t>
            </a:r>
            <a:endParaRPr lang="en-US" sz="1300" dirty="0"/>
          </a:p>
        </p:txBody>
      </p:sp>
      <p:sp>
        <p:nvSpPr>
          <p:cNvPr id="42" name="Shape 39"/>
          <p:cNvSpPr/>
          <p:nvPr/>
        </p:nvSpPr>
        <p:spPr>
          <a:xfrm>
            <a:off x="1714500" y="6242050"/>
            <a:ext cx="6858000" cy="787400"/>
          </a:xfrm>
          <a:prstGeom prst="rect">
            <a:avLst/>
          </a:prstGeom>
          <a:noFill/>
        </p:spPr>
      </p:sp>
      <p:sp>
        <p:nvSpPr>
          <p:cNvPr id="43" name="Text 40"/>
          <p:cNvSpPr/>
          <p:nvPr>
            <p:custDataLst>
              <p:tags r:id="rId17"/>
            </p:custDataLst>
          </p:nvPr>
        </p:nvSpPr>
        <p:spPr>
          <a:xfrm>
            <a:off x="1592580" y="6181090"/>
            <a:ext cx="7101840" cy="909320"/>
          </a:xfrm>
          <a:prstGeom prst="rect">
            <a:avLst/>
          </a:prstGeom>
          <a:noFill/>
        </p:spPr>
        <p:txBody>
          <a:bodyPr wrap="square" lIns="0" tIns="0" rIns="0" bIns="0" rtlCol="0" anchor="t"/>
          <a:lstStyle/>
          <a:p>
            <a:pPr algn="l">
              <a:lnSpc>
                <a:spcPct val="150000"/>
              </a:lnSpc>
            </a:pPr>
            <a:r>
              <a:rPr lang="en-US" sz="1600" b="1" dirty="0">
                <a:solidFill>
                  <a:srgbClr val="333333"/>
                </a:solidFill>
                <a:latin typeface="Arial" panose="020B0604020202020204" pitchFamily="34" charset="0"/>
                <a:ea typeface="Arial" panose="020B0604020202020204" pitchFamily="34" charset="-122"/>
                <a:cs typeface="Arial" panose="020B0604020202020204" pitchFamily="34" charset="-120"/>
              </a:rPr>
              <a:t>WAVE [32]</a:t>
            </a:r>
            <a:r>
              <a:rPr lang="en-US" sz="1600" dirty="0">
                <a:solidFill>
                  <a:srgbClr val="333333"/>
                </a:solidFill>
                <a:latin typeface="Arial" panose="020B0604020202020204" pitchFamily="34" charset="0"/>
                <a:ea typeface="Arial" panose="020B0604020202020204" pitchFamily="34" charset="-122"/>
                <a:cs typeface="Arial" panose="020B0604020202020204" pitchFamily="34" charset="-120"/>
              </a:rPr>
              <a:t> — Andersen等, 去中心化授权框架</a:t>
            </a:r>
            <a:endParaRPr lang="en-US" sz="1600" dirty="0"/>
          </a:p>
          <a:p>
            <a:pPr algn="l">
              <a:lnSpc>
                <a:spcPct val="150000"/>
              </a:lnSpc>
            </a:pPr>
            <a:r>
              <a:rPr lang="en-US" sz="1600" dirty="0">
                <a:solidFill>
                  <a:srgbClr val="666666"/>
                </a:solidFill>
                <a:latin typeface="Arial" panose="020B0604020202020204" pitchFamily="34" charset="0"/>
                <a:ea typeface="Arial" panose="020B0604020202020204" pitchFamily="34" charset="-122"/>
                <a:cs typeface="Arial" panose="020B0604020202020204" pitchFamily="34" charset="-120"/>
              </a:rPr>
              <a:t>传递性委托+Attestation链，但缺乏历史状态与动态上下文表达</a:t>
            </a:r>
            <a:endParaRPr lang="en-US" sz="1600" dirty="0"/>
          </a:p>
        </p:txBody>
      </p:sp>
      <p:sp>
        <p:nvSpPr>
          <p:cNvPr id="44" name="Shape 41"/>
          <p:cNvSpPr/>
          <p:nvPr>
            <p:custDataLst>
              <p:tags r:id="rId18"/>
            </p:custDataLst>
          </p:nvPr>
        </p:nvSpPr>
        <p:spPr>
          <a:xfrm>
            <a:off x="1282700" y="7337425"/>
            <a:ext cx="266700" cy="266700"/>
          </a:xfrm>
          <a:prstGeom prst="ellipse">
            <a:avLst/>
          </a:prstGeom>
          <a:solidFill>
            <a:srgbClr val="04579A"/>
          </a:solidFill>
        </p:spPr>
      </p:sp>
      <p:sp>
        <p:nvSpPr>
          <p:cNvPr id="45" name="Shape 42"/>
          <p:cNvSpPr/>
          <p:nvPr/>
        </p:nvSpPr>
        <p:spPr>
          <a:xfrm>
            <a:off x="360680" y="7299325"/>
            <a:ext cx="698500" cy="304800"/>
          </a:xfrm>
          <a:prstGeom prst="rect">
            <a:avLst/>
          </a:prstGeom>
          <a:noFill/>
        </p:spPr>
      </p:sp>
      <p:sp>
        <p:nvSpPr>
          <p:cNvPr id="46" name="Text 43"/>
          <p:cNvSpPr/>
          <p:nvPr>
            <p:custDataLst>
              <p:tags r:id="rId19"/>
            </p:custDataLst>
          </p:nvPr>
        </p:nvSpPr>
        <p:spPr>
          <a:xfrm>
            <a:off x="256540" y="7245350"/>
            <a:ext cx="942340" cy="426720"/>
          </a:xfrm>
          <a:prstGeom prst="rect">
            <a:avLst/>
          </a:prstGeom>
          <a:noFill/>
        </p:spPr>
        <p:txBody>
          <a:bodyPr wrap="none" lIns="0" tIns="0" rIns="0" bIns="0" rtlCol="0" anchor="ctr"/>
          <a:lstStyle/>
          <a:p>
            <a:pPr algn="r">
              <a:lnSpc>
                <a:spcPct val="120000"/>
              </a:lnSpc>
            </a:pPr>
            <a:r>
              <a:rPr lang="en-US" sz="1300" b="1" dirty="0">
                <a:solidFill>
                  <a:srgbClr val="04579A"/>
                </a:solidFill>
                <a:latin typeface="Arial" panose="020B0604020202020204" pitchFamily="34" charset="0"/>
                <a:ea typeface="Arial" panose="020B0604020202020204" pitchFamily="34" charset="-122"/>
                <a:cs typeface="Arial" panose="020B0604020202020204" pitchFamily="34" charset="-120"/>
              </a:rPr>
              <a:t>2024</a:t>
            </a:r>
            <a:endParaRPr lang="en-US" sz="1300" dirty="0"/>
          </a:p>
        </p:txBody>
      </p:sp>
      <p:sp>
        <p:nvSpPr>
          <p:cNvPr id="47" name="Shape 44"/>
          <p:cNvSpPr/>
          <p:nvPr/>
        </p:nvSpPr>
        <p:spPr>
          <a:xfrm>
            <a:off x="1714500" y="7273925"/>
            <a:ext cx="6858000" cy="787400"/>
          </a:xfrm>
          <a:prstGeom prst="rect">
            <a:avLst/>
          </a:prstGeom>
          <a:noFill/>
        </p:spPr>
      </p:sp>
      <p:sp>
        <p:nvSpPr>
          <p:cNvPr id="48" name="Text 45"/>
          <p:cNvSpPr/>
          <p:nvPr>
            <p:custDataLst>
              <p:tags r:id="rId20"/>
            </p:custDataLst>
          </p:nvPr>
        </p:nvSpPr>
        <p:spPr>
          <a:xfrm>
            <a:off x="1592580" y="7212965"/>
            <a:ext cx="7101840" cy="909320"/>
          </a:xfrm>
          <a:prstGeom prst="rect">
            <a:avLst/>
          </a:prstGeom>
          <a:noFill/>
        </p:spPr>
        <p:txBody>
          <a:bodyPr wrap="square" lIns="0" tIns="0" rIns="0" bIns="0" rtlCol="0" anchor="t"/>
          <a:lstStyle/>
          <a:p>
            <a:pPr algn="l">
              <a:lnSpc>
                <a:spcPct val="150000"/>
              </a:lnSpc>
            </a:pPr>
            <a:r>
              <a:rPr lang="en-US" sz="1600" b="1" dirty="0">
                <a:solidFill>
                  <a:srgbClr val="333333"/>
                </a:solidFill>
                <a:latin typeface="Arial" panose="020B0604020202020204" pitchFamily="34" charset="0"/>
                <a:ea typeface="Arial" panose="020B0604020202020204" pitchFamily="34" charset="-122"/>
                <a:cs typeface="Arial" panose="020B0604020202020204" pitchFamily="34" charset="-120"/>
              </a:rPr>
              <a:t>StatefulAuth [33]</a:t>
            </a:r>
            <a:r>
              <a:rPr lang="en-US" sz="1600" dirty="0">
                <a:solidFill>
                  <a:srgbClr val="333333"/>
                </a:solidFill>
                <a:latin typeface="Arial" panose="020B0604020202020204" pitchFamily="34" charset="0"/>
                <a:ea typeface="Arial" panose="020B0604020202020204" pitchFamily="34" charset="-122"/>
                <a:cs typeface="Arial" panose="020B0604020202020204" pitchFamily="34" charset="-120"/>
              </a:rPr>
              <a:t> — Cao等, USENIX Security</a:t>
            </a:r>
            <a:endParaRPr lang="en-US" sz="1600" dirty="0"/>
          </a:p>
          <a:p>
            <a:pPr algn="l">
              <a:lnSpc>
                <a:spcPct val="150000"/>
              </a:lnSpc>
            </a:pPr>
            <a:r>
              <a:rPr lang="en-US" sz="1600" dirty="0">
                <a:solidFill>
                  <a:srgbClr val="666666"/>
                </a:solidFill>
                <a:latin typeface="Arial" panose="020B0604020202020204" pitchFamily="34" charset="0"/>
                <a:ea typeface="Arial" panose="020B0604020202020204" pitchFamily="34" charset="-122"/>
                <a:cs typeface="Arial" panose="020B0604020202020204" pitchFamily="34" charset="-120"/>
              </a:rPr>
              <a:t>WebAssembly策略+操作日志动态评估，但权限粒度仍停留在资源/操作类型层面</a:t>
            </a:r>
            <a:endParaRPr lang="en-US" sz="1600" dirty="0"/>
          </a:p>
        </p:txBody>
      </p:sp>
      <p:sp>
        <p:nvSpPr>
          <p:cNvPr id="49" name="Shape 46"/>
          <p:cNvSpPr/>
          <p:nvPr/>
        </p:nvSpPr>
        <p:spPr>
          <a:xfrm>
            <a:off x="8890000" y="2032000"/>
            <a:ext cx="6604000" cy="6413500"/>
          </a:xfrm>
          <a:prstGeom prst="roundRect">
            <a:avLst>
              <a:gd name="adj" fmla="val 3000"/>
            </a:avLst>
          </a:prstGeom>
          <a:solidFill>
            <a:srgbClr val="E8F4FD"/>
          </a:solidFill>
        </p:spPr>
      </p:sp>
      <p:sp>
        <p:nvSpPr>
          <p:cNvPr id="50" name="Shape 47"/>
          <p:cNvSpPr/>
          <p:nvPr/>
        </p:nvSpPr>
        <p:spPr>
          <a:xfrm>
            <a:off x="9144000" y="2184400"/>
            <a:ext cx="6096000" cy="381000"/>
          </a:xfrm>
          <a:prstGeom prst="rect">
            <a:avLst/>
          </a:prstGeom>
          <a:noFill/>
        </p:spPr>
      </p:sp>
      <p:sp>
        <p:nvSpPr>
          <p:cNvPr id="51" name="Text 48"/>
          <p:cNvSpPr/>
          <p:nvPr/>
        </p:nvSpPr>
        <p:spPr>
          <a:xfrm>
            <a:off x="9022080" y="2123440"/>
            <a:ext cx="6339840" cy="502920"/>
          </a:xfrm>
          <a:prstGeom prst="rect">
            <a:avLst/>
          </a:prstGeom>
          <a:noFill/>
        </p:spPr>
        <p:txBody>
          <a:bodyPr wrap="none" lIns="0" tIns="0" rIns="0" bIns="0" rtlCol="0" anchor="ctr"/>
          <a:lstStyle/>
          <a:p>
            <a:pPr algn="l">
              <a:lnSpc>
                <a:spcPct val="120000"/>
              </a:lnSpc>
            </a:pPr>
            <a:r>
              <a:rPr lang="en-US" sz="1800" b="1" dirty="0">
                <a:solidFill>
                  <a:srgbClr val="04579A"/>
                </a:solidFill>
                <a:latin typeface="Arial" panose="020B0604020202020204" pitchFamily="34" charset="0"/>
                <a:ea typeface="Arial" panose="020B0604020202020204" pitchFamily="34" charset="-122"/>
                <a:cs typeface="Arial" panose="020B0604020202020204" pitchFamily="34" charset="-120"/>
              </a:rPr>
              <a:t>发展趋势</a:t>
            </a:r>
            <a:endParaRPr lang="en-US" sz="1800" b="1" dirty="0"/>
          </a:p>
        </p:txBody>
      </p:sp>
      <p:sp>
        <p:nvSpPr>
          <p:cNvPr id="52" name="Shape 49"/>
          <p:cNvSpPr/>
          <p:nvPr/>
        </p:nvSpPr>
        <p:spPr>
          <a:xfrm>
            <a:off x="9144000" y="2667000"/>
            <a:ext cx="6096000" cy="5588000"/>
          </a:xfrm>
          <a:prstGeom prst="rect">
            <a:avLst/>
          </a:prstGeom>
          <a:noFill/>
        </p:spPr>
      </p:sp>
      <p:sp>
        <p:nvSpPr>
          <p:cNvPr id="53" name="Text 50"/>
          <p:cNvSpPr/>
          <p:nvPr/>
        </p:nvSpPr>
        <p:spPr>
          <a:xfrm>
            <a:off x="9022080" y="2606040"/>
            <a:ext cx="6339840" cy="5709920"/>
          </a:xfrm>
          <a:prstGeom prst="rect">
            <a:avLst/>
          </a:prstGeom>
          <a:noFill/>
        </p:spPr>
        <p:txBody>
          <a:bodyPr wrap="square" lIns="0" tIns="0" rIns="0" bIns="0" rtlCol="0" anchor="t"/>
          <a:lstStyle/>
          <a:p>
            <a:pPr algn="l">
              <a:lnSpc>
                <a:spcPct val="170000"/>
              </a:lnSpc>
            </a:pPr>
            <a:r>
              <a:rPr lang="en-US" b="1" dirty="0">
                <a:solidFill>
                  <a:srgbClr val="333333"/>
                </a:solidFill>
                <a:latin typeface="Arial" panose="020B0604020202020204" pitchFamily="34" charset="0"/>
                <a:ea typeface="Arial" panose="020B0604020202020204" pitchFamily="34" charset="-122"/>
                <a:cs typeface="Arial" panose="020B0604020202020204" pitchFamily="34" charset="-120"/>
              </a:rPr>
              <a:t>1. 策略表达标准化</a:t>
            </a:r>
            <a:endParaRPr lang="en-US" dirty="0"/>
          </a:p>
          <a:p>
            <a:pPr algn="l">
              <a:lnSpc>
                <a:spcPct val="170000"/>
              </a:lnSpc>
            </a:pPr>
            <a:r>
              <a:rPr lang="en-US" dirty="0">
                <a:solidFill>
                  <a:srgbClr val="666666"/>
                </a:solidFill>
                <a:latin typeface="Arial" panose="020B0604020202020204" pitchFamily="34" charset="0"/>
                <a:ea typeface="Arial" panose="020B0604020202020204" pitchFamily="34" charset="-122"/>
                <a:cs typeface="Arial" panose="020B0604020202020204" pitchFamily="34" charset="-120"/>
              </a:rPr>
              <a:t>Biscuit等将Datalog声明式策略嵌入令牌，解决跨服务策略互操作</a:t>
            </a:r>
            <a:endParaRPr lang="en-US" dirty="0"/>
          </a:p>
          <a:p>
            <a:pPr algn="l">
              <a:lnSpc>
                <a:spcPct val="170000"/>
              </a:lnSpc>
              <a:spcBef>
                <a:spcPts val="1335"/>
              </a:spcBef>
            </a:pPr>
            <a:r>
              <a:rPr lang="en-US" b="1" dirty="0">
                <a:solidFill>
                  <a:srgbClr val="333333"/>
                </a:solidFill>
                <a:latin typeface="Arial" panose="020B0604020202020204" pitchFamily="34" charset="0"/>
                <a:ea typeface="Arial" panose="020B0604020202020204" pitchFamily="34" charset="-122"/>
                <a:cs typeface="Arial" panose="020B0604020202020204" pitchFamily="34" charset="-120"/>
              </a:rPr>
              <a:t>2. 零信任深度融合</a:t>
            </a:r>
            <a:endParaRPr lang="en-US" dirty="0"/>
          </a:p>
          <a:p>
            <a:pPr algn="l">
              <a:lnSpc>
                <a:spcPct val="170000"/>
              </a:lnSpc>
            </a:pPr>
            <a:r>
              <a:rPr lang="en-US" dirty="0">
                <a:solidFill>
                  <a:srgbClr val="666666"/>
                </a:solidFill>
                <a:latin typeface="Arial" panose="020B0604020202020204" pitchFamily="34" charset="0"/>
                <a:ea typeface="Arial" panose="020B0604020202020204" pitchFamily="34" charset="-122"/>
                <a:cs typeface="Arial" panose="020B0604020202020204" pitchFamily="34" charset="-120"/>
              </a:rPr>
              <a:t>永不信任、持续验证，基于实时上下文与历史行为动态授权 [22]</a:t>
            </a:r>
            <a:endParaRPr lang="en-US" dirty="0"/>
          </a:p>
          <a:p>
            <a:pPr algn="l">
              <a:lnSpc>
                <a:spcPct val="170000"/>
              </a:lnSpc>
              <a:spcBef>
                <a:spcPts val="1335"/>
              </a:spcBef>
            </a:pPr>
            <a:r>
              <a:rPr lang="en-US" b="1" dirty="0">
                <a:solidFill>
                  <a:srgbClr val="FF0000"/>
                </a:solidFill>
                <a:latin typeface="Arial" panose="020B0604020202020204" pitchFamily="34" charset="0"/>
                <a:ea typeface="Arial" panose="020B0604020202020204" pitchFamily="34" charset="-122"/>
                <a:cs typeface="Arial" panose="020B0604020202020204" pitchFamily="34" charset="-120"/>
              </a:rPr>
              <a:t>3. 局限</a:t>
            </a:r>
            <a:endParaRPr lang="en-US" dirty="0">
              <a:solidFill>
                <a:srgbClr val="FF0000"/>
              </a:solidFill>
            </a:endParaRPr>
          </a:p>
          <a:p>
            <a:pPr algn="l">
              <a:lnSpc>
                <a:spcPct val="170000"/>
              </a:lnSpc>
            </a:pPr>
            <a:r>
              <a:rPr lang="en-US" dirty="0">
                <a:solidFill>
                  <a:srgbClr val="EC5F74"/>
                </a:solidFill>
                <a:latin typeface="Arial" panose="020B0604020202020204" pitchFamily="34" charset="0"/>
                <a:ea typeface="Arial" panose="020B0604020202020204" pitchFamily="34" charset="-122"/>
                <a:cs typeface="Arial" panose="020B0604020202020204" pitchFamily="34" charset="-120"/>
              </a:rPr>
              <a:t>权限粒度停留在资源/操作类型层面，未精确到操作参数级</a:t>
            </a:r>
            <a:endParaRPr lang="en-US" dirty="0"/>
          </a:p>
          <a:p>
            <a:pPr algn="l">
              <a:lnSpc>
                <a:spcPct val="170000"/>
              </a:lnSpc>
              <a:spcBef>
                <a:spcPts val="1335"/>
              </a:spcBef>
            </a:pPr>
            <a:r>
              <a:rPr lang="en-US" b="1" dirty="0">
                <a:solidFill>
                  <a:srgbClr val="333333"/>
                </a:solidFill>
                <a:latin typeface="Arial" panose="020B0604020202020204" pitchFamily="34" charset="0"/>
                <a:ea typeface="Arial" panose="020B0604020202020204" pitchFamily="34" charset="-122"/>
                <a:cs typeface="Arial" panose="020B0604020202020204" pitchFamily="34" charset="-120"/>
              </a:rPr>
              <a:t>4. 前沿方向</a:t>
            </a:r>
            <a:endParaRPr lang="en-US" dirty="0"/>
          </a:p>
          <a:p>
            <a:pPr algn="l">
              <a:lnSpc>
                <a:spcPct val="170000"/>
              </a:lnSpc>
            </a:pPr>
            <a:r>
              <a:rPr lang="en-US" dirty="0">
                <a:solidFill>
                  <a:srgbClr val="666666"/>
                </a:solidFill>
                <a:latin typeface="Arial" panose="020B0604020202020204" pitchFamily="34" charset="0"/>
                <a:ea typeface="Arial" panose="020B0604020202020204" pitchFamily="34" charset="-122"/>
                <a:cs typeface="Arial" panose="020B0604020202020204" pitchFamily="34" charset="-120"/>
              </a:rPr>
              <a:t>面向AI Agent支持自主代理身份治理、任务级权限委托与细粒度访问控制</a:t>
            </a:r>
            <a:endParaRPr lang="en-US" dirty="0"/>
          </a:p>
        </p:txBody>
      </p:sp>
      <p:sp>
        <p:nvSpPr>
          <p:cNvPr id="54" name="Shape 51"/>
          <p:cNvSpPr/>
          <p:nvPr/>
        </p:nvSpPr>
        <p:spPr>
          <a:xfrm>
            <a:off x="15240000" y="8636000"/>
            <a:ext cx="635000" cy="381000"/>
          </a:xfrm>
          <a:prstGeom prst="rect">
            <a:avLst/>
          </a:prstGeom>
          <a:noFill/>
        </p:spPr>
      </p:sp>
      <p:sp>
        <p:nvSpPr>
          <p:cNvPr id="55" name="Text 52"/>
          <p:cNvSpPr/>
          <p:nvPr/>
        </p:nvSpPr>
        <p:spPr>
          <a:xfrm>
            <a:off x="15118080" y="8575040"/>
            <a:ext cx="878840" cy="502920"/>
          </a:xfrm>
          <a:prstGeom prst="rect">
            <a:avLst/>
          </a:prstGeom>
          <a:noFill/>
        </p:spPr>
        <p:txBody>
          <a:bodyPr wrap="none" lIns="0" tIns="0" rIns="0" bIns="0" rtlCol="0" anchor="ctr"/>
          <a:lstStyle/>
          <a:p>
            <a:pPr algn="r">
              <a:lnSpc>
                <a:spcPct val="120000"/>
              </a:lnSpc>
            </a:pPr>
            <a:r>
              <a:rPr lang="en-US" sz="1800" dirty="0">
                <a:solidFill>
                  <a:srgbClr val="666666"/>
                </a:solidFill>
                <a:latin typeface="Arial" panose="020B0604020202020204" pitchFamily="34" charset="0"/>
                <a:ea typeface="Arial" panose="020B0604020202020204" pitchFamily="34" charset="-122"/>
                <a:cs typeface="Arial" panose="020B0604020202020204" pitchFamily="34" charset="-120"/>
              </a:rPr>
              <a:t>11</a:t>
            </a:r>
            <a:endParaRPr lang="en-US" sz="18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219960" y="0"/>
            <a:ext cx="2895600" cy="962660"/>
          </a:xfrm>
          <a:prstGeom prst="rect">
            <a:avLst/>
          </a:prstGeom>
          <a:solidFill>
            <a:srgbClr val="F2F2F2"/>
          </a:solidFill>
          <a:ln w="12700">
            <a:solidFill>
              <a:srgbClr val="F2F2F2"/>
            </a:solidFill>
            <a:prstDash val="solid"/>
          </a:ln>
        </p:spPr>
      </p:sp>
      <p:sp>
        <p:nvSpPr>
          <p:cNvPr id="3" name="Shape 1"/>
          <p:cNvSpPr/>
          <p:nvPr/>
        </p:nvSpPr>
        <p:spPr>
          <a:xfrm>
            <a:off x="5162169" y="-889"/>
            <a:ext cx="2590800" cy="962660"/>
          </a:xfrm>
          <a:prstGeom prst="rect">
            <a:avLst/>
          </a:prstGeom>
          <a:solidFill>
            <a:srgbClr val="04579A"/>
          </a:solidFill>
          <a:ln w="12700">
            <a:solidFill>
              <a:srgbClr val="04579A"/>
            </a:solidFill>
            <a:prstDash val="solid"/>
          </a:ln>
        </p:spPr>
      </p:sp>
      <p:sp>
        <p:nvSpPr>
          <p:cNvPr id="4" name="Shape 2"/>
          <p:cNvSpPr/>
          <p:nvPr/>
        </p:nvSpPr>
        <p:spPr>
          <a:xfrm>
            <a:off x="7816469" y="-889"/>
            <a:ext cx="4114800" cy="962660"/>
          </a:xfrm>
          <a:prstGeom prst="rect">
            <a:avLst/>
          </a:prstGeom>
          <a:solidFill>
            <a:srgbClr val="F2F2F2"/>
          </a:solidFill>
        </p:spPr>
      </p:sp>
      <p:sp>
        <p:nvSpPr>
          <p:cNvPr id="5" name="Shape 3"/>
          <p:cNvSpPr/>
          <p:nvPr/>
        </p:nvSpPr>
        <p:spPr>
          <a:xfrm>
            <a:off x="11971020" y="0"/>
            <a:ext cx="4284980" cy="961771"/>
          </a:xfrm>
          <a:prstGeom prst="rect">
            <a:avLst/>
          </a:prstGeom>
          <a:solidFill>
            <a:srgbClr val="F2F2F2"/>
          </a:solidFill>
        </p:spPr>
      </p:sp>
      <p:sp>
        <p:nvSpPr>
          <p:cNvPr id="6" name="Shape 4"/>
          <p:cNvSpPr/>
          <p:nvPr/>
        </p:nvSpPr>
        <p:spPr>
          <a:xfrm>
            <a:off x="2283460" y="203200"/>
            <a:ext cx="2768600" cy="508000"/>
          </a:xfrm>
          <a:prstGeom prst="rect">
            <a:avLst/>
          </a:prstGeom>
          <a:noFill/>
        </p:spPr>
      </p:sp>
      <p:sp>
        <p:nvSpPr>
          <p:cNvPr id="7" name="Text 5"/>
          <p:cNvSpPr/>
          <p:nvPr/>
        </p:nvSpPr>
        <p:spPr>
          <a:xfrm>
            <a:off x="2161540" y="142240"/>
            <a:ext cx="3012440" cy="629920"/>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选题背景及意义</a:t>
            </a:r>
            <a:endParaRPr lang="en-US" sz="2000" dirty="0"/>
          </a:p>
        </p:txBody>
      </p:sp>
      <p:sp>
        <p:nvSpPr>
          <p:cNvPr id="8" name="Shape 6"/>
          <p:cNvSpPr/>
          <p:nvPr/>
        </p:nvSpPr>
        <p:spPr>
          <a:xfrm>
            <a:off x="5225669" y="203200"/>
            <a:ext cx="2463800" cy="508000"/>
          </a:xfrm>
          <a:prstGeom prst="rect">
            <a:avLst/>
          </a:prstGeom>
          <a:noFill/>
        </p:spPr>
      </p:sp>
      <p:sp>
        <p:nvSpPr>
          <p:cNvPr id="9" name="Text 7"/>
          <p:cNvSpPr/>
          <p:nvPr/>
        </p:nvSpPr>
        <p:spPr>
          <a:xfrm>
            <a:off x="5103749" y="142240"/>
            <a:ext cx="2707640" cy="629920"/>
          </a:xfrm>
          <a:prstGeom prst="rect">
            <a:avLst/>
          </a:prstGeom>
          <a:noFill/>
        </p:spPr>
        <p:txBody>
          <a:bodyPr wrap="none" lIns="0" tIns="0" rIns="0" bIns="0" rtlCol="0" anchor="ctr"/>
          <a:lstStyle/>
          <a:p>
            <a:pPr algn="ctr">
              <a:lnSpc>
                <a:spcPct val="120000"/>
              </a:lnSpc>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国内外研究现状</a:t>
            </a:r>
            <a:endParaRPr lang="en-US" sz="2000" dirty="0"/>
          </a:p>
        </p:txBody>
      </p:sp>
      <p:sp>
        <p:nvSpPr>
          <p:cNvPr id="10" name="Shape 8"/>
          <p:cNvSpPr/>
          <p:nvPr/>
        </p:nvSpPr>
        <p:spPr>
          <a:xfrm>
            <a:off x="7879969" y="203200"/>
            <a:ext cx="3987800" cy="508000"/>
          </a:xfrm>
          <a:prstGeom prst="rect">
            <a:avLst/>
          </a:prstGeom>
          <a:noFill/>
        </p:spPr>
      </p:sp>
      <p:sp>
        <p:nvSpPr>
          <p:cNvPr id="11" name="Text 9"/>
          <p:cNvSpPr/>
          <p:nvPr/>
        </p:nvSpPr>
        <p:spPr>
          <a:xfrm>
            <a:off x="7758049" y="142240"/>
            <a:ext cx="4231640" cy="629920"/>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主要研究内容及预期目标</a:t>
            </a:r>
            <a:endParaRPr lang="en-US" sz="2000" dirty="0"/>
          </a:p>
        </p:txBody>
      </p:sp>
      <p:sp>
        <p:nvSpPr>
          <p:cNvPr id="12" name="Shape 10"/>
          <p:cNvSpPr/>
          <p:nvPr/>
        </p:nvSpPr>
        <p:spPr>
          <a:xfrm>
            <a:off x="12034520" y="203200"/>
            <a:ext cx="4157980" cy="508000"/>
          </a:xfrm>
          <a:prstGeom prst="rect">
            <a:avLst/>
          </a:prstGeom>
          <a:noFill/>
        </p:spPr>
      </p:sp>
      <p:sp>
        <p:nvSpPr>
          <p:cNvPr id="13" name="Text 11"/>
          <p:cNvSpPr/>
          <p:nvPr/>
        </p:nvSpPr>
        <p:spPr>
          <a:xfrm>
            <a:off x="11912600" y="142240"/>
            <a:ext cx="4401820" cy="629920"/>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工作计划与进度安排</a:t>
            </a:r>
            <a:endParaRPr lang="en-US" sz="2000" dirty="0"/>
          </a:p>
        </p:txBody>
      </p:sp>
      <p:pic>
        <p:nvPicPr>
          <p:cNvPr id="14" name="Image 0" descr="https://kimi-img.moonshot.cn/pub/slides/okc/flfuysioo4gzm/mnt/agents/output/new_pptd/images/image_2.jpg"/>
          <p:cNvPicPr>
            <a:picLocks noChangeAspect="1"/>
          </p:cNvPicPr>
          <p:nvPr/>
        </p:nvPicPr>
        <p:blipFill>
          <a:blip r:embed="rId1"/>
          <a:srcRect l="5060" r="29000"/>
          <a:stretch>
            <a:fillRect/>
          </a:stretch>
        </p:blipFill>
        <p:spPr>
          <a:xfrm>
            <a:off x="544449" y="140589"/>
            <a:ext cx="1273429" cy="745871"/>
          </a:xfrm>
          <a:prstGeom prst="rect">
            <a:avLst/>
          </a:prstGeom>
        </p:spPr>
      </p:pic>
      <p:sp>
        <p:nvSpPr>
          <p:cNvPr id="15" name="Shape 12"/>
          <p:cNvSpPr/>
          <p:nvPr/>
        </p:nvSpPr>
        <p:spPr>
          <a:xfrm rot="10800000">
            <a:off x="6379591" y="961771"/>
            <a:ext cx="389509" cy="304800"/>
          </a:xfrm>
          <a:prstGeom prst="triangle">
            <a:avLst>
              <a:gd name="adj" fmla="val 50000"/>
            </a:avLst>
          </a:prstGeom>
          <a:solidFill>
            <a:srgbClr val="04579A"/>
          </a:solidFill>
        </p:spPr>
      </p:sp>
      <p:sp>
        <p:nvSpPr>
          <p:cNvPr id="16" name="Shape 13"/>
          <p:cNvSpPr/>
          <p:nvPr/>
        </p:nvSpPr>
        <p:spPr>
          <a:xfrm>
            <a:off x="762000" y="1333500"/>
            <a:ext cx="11430000" cy="533400"/>
          </a:xfrm>
          <a:prstGeom prst="rect">
            <a:avLst/>
          </a:prstGeom>
          <a:noFill/>
        </p:spPr>
      </p:sp>
      <p:sp>
        <p:nvSpPr>
          <p:cNvPr id="17" name="Text 14"/>
          <p:cNvSpPr/>
          <p:nvPr/>
        </p:nvSpPr>
        <p:spPr>
          <a:xfrm>
            <a:off x="640080" y="1272540"/>
            <a:ext cx="11673840" cy="655320"/>
          </a:xfrm>
          <a:prstGeom prst="rect">
            <a:avLst/>
          </a:prstGeom>
          <a:noFill/>
        </p:spPr>
        <p:txBody>
          <a:bodyPr wrap="none" lIns="0" tIns="0" rIns="0" bIns="0" rtlCol="0" anchor="ctr"/>
          <a:lstStyle/>
          <a:p>
            <a:pPr algn="l">
              <a:lnSpc>
                <a:spcPct val="120000"/>
              </a:lnSpc>
            </a:pPr>
            <a:r>
              <a:rPr lang="en-US" sz="2800" b="1" dirty="0">
                <a:solidFill>
                  <a:srgbClr val="04579A"/>
                </a:solidFill>
                <a:latin typeface="Arial" panose="020B0604020202020204" pitchFamily="34" charset="0"/>
                <a:ea typeface="Arial" panose="020B0604020202020204" pitchFamily="34" charset="-122"/>
                <a:cs typeface="Arial" panose="020B0604020202020204" pitchFamily="34" charset="-120"/>
              </a:rPr>
              <a:t>智能体授权协议研究现状</a:t>
            </a:r>
            <a:endParaRPr lang="en-US" sz="2800" dirty="0"/>
          </a:p>
        </p:txBody>
      </p:sp>
      <p:sp>
        <p:nvSpPr>
          <p:cNvPr id="18" name="Shape 15"/>
          <p:cNvSpPr/>
          <p:nvPr>
            <p:custDataLst>
              <p:tags r:id="rId2"/>
            </p:custDataLst>
          </p:nvPr>
        </p:nvSpPr>
        <p:spPr>
          <a:xfrm>
            <a:off x="762000" y="2006600"/>
            <a:ext cx="7175500" cy="2032000"/>
          </a:xfrm>
          <a:prstGeom prst="roundRect">
            <a:avLst>
              <a:gd name="adj" fmla="val 5000"/>
            </a:avLst>
          </a:prstGeom>
          <a:solidFill>
            <a:srgbClr val="E8F4FD"/>
          </a:solidFill>
        </p:spPr>
      </p:sp>
      <p:sp>
        <p:nvSpPr>
          <p:cNvPr id="19" name="Shape 16"/>
          <p:cNvSpPr/>
          <p:nvPr/>
        </p:nvSpPr>
        <p:spPr>
          <a:xfrm>
            <a:off x="894080" y="2098040"/>
            <a:ext cx="406400" cy="330200"/>
          </a:xfrm>
          <a:prstGeom prst="rect">
            <a:avLst/>
          </a:prstGeom>
          <a:noFill/>
        </p:spPr>
      </p:sp>
      <p:sp>
        <p:nvSpPr>
          <p:cNvPr id="20" name="Text 17"/>
          <p:cNvSpPr/>
          <p:nvPr>
            <p:custDataLst>
              <p:tags r:id="rId3"/>
            </p:custDataLst>
          </p:nvPr>
        </p:nvSpPr>
        <p:spPr>
          <a:xfrm>
            <a:off x="830580" y="2047240"/>
            <a:ext cx="558800" cy="452120"/>
          </a:xfrm>
          <a:prstGeom prst="rect">
            <a:avLst/>
          </a:prstGeom>
          <a:noFill/>
        </p:spPr>
        <p:txBody>
          <a:bodyPr wrap="none" lIns="0" tIns="0" rIns="0" bIns="0" rtlCol="0" anchor="ctr"/>
          <a:lstStyle/>
          <a:p>
            <a:pPr algn="ctr">
              <a:lnSpc>
                <a:spcPct val="120000"/>
              </a:lnSpc>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1</a:t>
            </a:r>
            <a:endPar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21" name="Shape 18"/>
          <p:cNvSpPr/>
          <p:nvPr/>
        </p:nvSpPr>
        <p:spPr>
          <a:xfrm>
            <a:off x="1371600" y="2108200"/>
            <a:ext cx="6350000" cy="330200"/>
          </a:xfrm>
          <a:prstGeom prst="rect">
            <a:avLst/>
          </a:prstGeom>
          <a:noFill/>
        </p:spPr>
      </p:sp>
      <p:sp>
        <p:nvSpPr>
          <p:cNvPr id="22" name="Text 19"/>
          <p:cNvSpPr/>
          <p:nvPr>
            <p:custDataLst>
              <p:tags r:id="rId4"/>
            </p:custDataLst>
          </p:nvPr>
        </p:nvSpPr>
        <p:spPr>
          <a:xfrm>
            <a:off x="1249680" y="2047240"/>
            <a:ext cx="6593840" cy="452120"/>
          </a:xfrm>
          <a:prstGeom prst="rect">
            <a:avLst/>
          </a:prstGeom>
          <a:noFill/>
        </p:spPr>
        <p:txBody>
          <a:bodyPr wrap="none" lIns="0" tIns="0" rIns="0" bIns="0" rtlCol="0" anchor="ctr"/>
          <a:lstStyle/>
          <a:p>
            <a:pPr algn="l">
              <a:lnSpc>
                <a:spcPct val="120000"/>
              </a:lnSpc>
            </a:pPr>
            <a:r>
              <a:rPr lang="en-US" sz="1600" b="1" dirty="0">
                <a:solidFill>
                  <a:schemeClr val="tx1"/>
                </a:solidFill>
                <a:latin typeface="Arial" panose="020B0604020202020204" pitchFamily="34" charset="0"/>
                <a:ea typeface="Arial" panose="020B0604020202020204" pitchFamily="34" charset="-122"/>
                <a:cs typeface="Arial" panose="020B0604020202020204" pitchFamily="34" charset="-120"/>
              </a:rPr>
              <a:t>Chopra等 — 传统授权与智能体的结构性不匹配 </a:t>
            </a:r>
            <a:r>
              <a:rPr lang="en-US" sz="1600" b="1" baseline="30000" dirty="0">
                <a:solidFill>
                  <a:schemeClr val="tx1"/>
                </a:solidFill>
                <a:latin typeface="Arial" panose="020B0604020202020204" pitchFamily="34" charset="0"/>
                <a:ea typeface="Arial" panose="020B0604020202020204" pitchFamily="34" charset="-122"/>
                <a:cs typeface="Arial" panose="020B0604020202020204" pitchFamily="34" charset="-120"/>
              </a:rPr>
              <a:t>[34]</a:t>
            </a:r>
            <a:endParaRPr lang="en-US" sz="1600" b="1" baseline="30000"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23" name="Shape 20"/>
          <p:cNvSpPr/>
          <p:nvPr/>
        </p:nvSpPr>
        <p:spPr>
          <a:xfrm>
            <a:off x="952500" y="2489200"/>
            <a:ext cx="6794500" cy="1397000"/>
          </a:xfrm>
          <a:prstGeom prst="rect">
            <a:avLst/>
          </a:prstGeom>
          <a:noFill/>
        </p:spPr>
      </p:sp>
      <p:sp>
        <p:nvSpPr>
          <p:cNvPr id="24" name="Text 21"/>
          <p:cNvSpPr/>
          <p:nvPr>
            <p:custDataLst>
              <p:tags r:id="rId5"/>
            </p:custDataLst>
          </p:nvPr>
        </p:nvSpPr>
        <p:spPr>
          <a:xfrm>
            <a:off x="830580" y="2428240"/>
            <a:ext cx="7038340" cy="1518920"/>
          </a:xfrm>
          <a:prstGeom prst="rect">
            <a:avLst/>
          </a:prstGeom>
          <a:noFill/>
        </p:spPr>
        <p:txBody>
          <a:bodyPr wrap="square" lIns="0" tIns="0" rIns="0" bIns="0" rtlCol="0" anchor="t"/>
          <a:lstStyle/>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不足：</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权限粒度过大、无动态策略执行、缺乏自主系统控制</a:t>
            </a:r>
            <a:endParaRPr lang="en-US" sz="1600" dirty="0"/>
          </a:p>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方向：</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基于能力的模型 + 实时策略引擎 + 跨服务标准化 + 边缘验证</a:t>
            </a:r>
            <a:endParaRPr lang="en-US" sz="1600" dirty="0"/>
          </a:p>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意义：</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首次从系统架构层面揭示传统授权与自主智能体的根本性矛盾</a:t>
            </a:r>
            <a:endParaRPr lang="en-US" sz="1600" dirty="0"/>
          </a:p>
        </p:txBody>
      </p:sp>
      <p:sp>
        <p:nvSpPr>
          <p:cNvPr id="25" name="Shape 22"/>
          <p:cNvSpPr/>
          <p:nvPr>
            <p:custDataLst>
              <p:tags r:id="rId6"/>
            </p:custDataLst>
          </p:nvPr>
        </p:nvSpPr>
        <p:spPr>
          <a:xfrm>
            <a:off x="8318500" y="2006600"/>
            <a:ext cx="7175500" cy="2032000"/>
          </a:xfrm>
          <a:prstGeom prst="roundRect">
            <a:avLst>
              <a:gd name="adj" fmla="val 5000"/>
            </a:avLst>
          </a:prstGeom>
          <a:solidFill>
            <a:srgbClr val="E8F4FD"/>
          </a:solidFill>
        </p:spPr>
      </p:sp>
      <p:sp>
        <p:nvSpPr>
          <p:cNvPr id="26" name="Shape 23"/>
          <p:cNvSpPr/>
          <p:nvPr/>
        </p:nvSpPr>
        <p:spPr>
          <a:xfrm>
            <a:off x="8318500" y="2108200"/>
            <a:ext cx="406400" cy="330200"/>
          </a:xfrm>
          <a:prstGeom prst="rect">
            <a:avLst/>
          </a:prstGeom>
          <a:noFill/>
        </p:spPr>
      </p:sp>
      <p:sp>
        <p:nvSpPr>
          <p:cNvPr id="27" name="Text 24"/>
          <p:cNvSpPr/>
          <p:nvPr>
            <p:custDataLst>
              <p:tags r:id="rId7"/>
            </p:custDataLst>
          </p:nvPr>
        </p:nvSpPr>
        <p:spPr>
          <a:xfrm>
            <a:off x="8387080" y="2047240"/>
            <a:ext cx="422275" cy="452120"/>
          </a:xfrm>
          <a:prstGeom prst="rect">
            <a:avLst/>
          </a:prstGeom>
          <a:noFill/>
        </p:spPr>
        <p:txBody>
          <a:bodyPr wrap="none" lIns="0" tIns="0" rIns="0" bIns="0" rtlCol="0" anchor="ctr"/>
          <a:lstStyle/>
          <a:p>
            <a:pPr algn="ctr">
              <a:lnSpc>
                <a:spcPct val="120000"/>
              </a:lnSpc>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2</a:t>
            </a:r>
            <a:endPar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28" name="Shape 25"/>
          <p:cNvSpPr/>
          <p:nvPr/>
        </p:nvSpPr>
        <p:spPr>
          <a:xfrm>
            <a:off x="8928100" y="2108200"/>
            <a:ext cx="6350000" cy="330200"/>
          </a:xfrm>
          <a:prstGeom prst="rect">
            <a:avLst/>
          </a:prstGeom>
          <a:noFill/>
        </p:spPr>
      </p:sp>
      <p:sp>
        <p:nvSpPr>
          <p:cNvPr id="29" name="Text 26"/>
          <p:cNvSpPr/>
          <p:nvPr>
            <p:custDataLst>
              <p:tags r:id="rId8"/>
            </p:custDataLst>
          </p:nvPr>
        </p:nvSpPr>
        <p:spPr>
          <a:xfrm>
            <a:off x="8806180" y="2047240"/>
            <a:ext cx="6593840" cy="452120"/>
          </a:xfrm>
          <a:prstGeom prst="rect">
            <a:avLst/>
          </a:prstGeom>
          <a:noFill/>
        </p:spPr>
        <p:txBody>
          <a:bodyPr wrap="none" lIns="0" tIns="0" rIns="0" bIns="0" rtlCol="0" anchor="ctr"/>
          <a:lstStyle/>
          <a:p>
            <a:pPr algn="l">
              <a:lnSpc>
                <a:spcPct val="120000"/>
              </a:lnSpc>
            </a:pPr>
            <a:r>
              <a:rPr lang="en-US" sz="1600" b="1" dirty="0">
                <a:solidFill>
                  <a:schemeClr val="tx1"/>
                </a:solidFill>
                <a:latin typeface="Arial" panose="020B0604020202020204" pitchFamily="34" charset="0"/>
                <a:ea typeface="Arial" panose="020B0604020202020204" pitchFamily="34" charset="-122"/>
                <a:cs typeface="Arial" panose="020B0604020202020204" pitchFamily="34" charset="-120"/>
              </a:rPr>
              <a:t>South等 — 可认证可审计委托授权框架</a:t>
            </a:r>
            <a:r>
              <a:rPr lang="en-US" sz="1600" b="1" baseline="30000" dirty="0">
                <a:solidFill>
                  <a:schemeClr val="tx1"/>
                </a:solidFill>
                <a:latin typeface="Arial" panose="020B0604020202020204" pitchFamily="34" charset="0"/>
                <a:ea typeface="Arial" panose="020B0604020202020204" pitchFamily="34" charset="-122"/>
                <a:cs typeface="Arial" panose="020B0604020202020204" pitchFamily="34" charset="-120"/>
              </a:rPr>
              <a:t> [35]</a:t>
            </a:r>
            <a:endParaRPr lang="en-US" sz="1600" b="1" baseline="30000"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30" name="Shape 27"/>
          <p:cNvSpPr/>
          <p:nvPr/>
        </p:nvSpPr>
        <p:spPr>
          <a:xfrm>
            <a:off x="8509000" y="2489200"/>
            <a:ext cx="6794500" cy="1397000"/>
          </a:xfrm>
          <a:prstGeom prst="rect">
            <a:avLst/>
          </a:prstGeom>
          <a:noFill/>
        </p:spPr>
      </p:sp>
      <p:sp>
        <p:nvSpPr>
          <p:cNvPr id="31" name="Text 28"/>
          <p:cNvSpPr/>
          <p:nvPr>
            <p:custDataLst>
              <p:tags r:id="rId9"/>
            </p:custDataLst>
          </p:nvPr>
        </p:nvSpPr>
        <p:spPr>
          <a:xfrm>
            <a:off x="8387080" y="2428240"/>
            <a:ext cx="7038340" cy="1518920"/>
          </a:xfrm>
          <a:prstGeom prst="rect">
            <a:avLst/>
          </a:prstGeom>
          <a:noFill/>
        </p:spPr>
        <p:txBody>
          <a:bodyPr wrap="square" lIns="0" tIns="0" rIns="0" bIns="0" rtlCol="0" anchor="t"/>
          <a:lstStyle/>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机制：</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Agent-ID Token + Delegation Token + W3C VC</a:t>
            </a:r>
            <a:endParaRPr lang="en-US" sz="1600" dirty="0"/>
          </a:p>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创新：</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自然语言权限翻译 + 跨域多智能体相互认证</a:t>
            </a:r>
            <a:endParaRPr lang="en-US" sz="1600" dirty="0"/>
          </a:p>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意义：</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首次将Web身份基础设施与智能体委托需求系统性融合</a:t>
            </a:r>
            <a:endParaRPr lang="en-US" sz="1600" dirty="0"/>
          </a:p>
        </p:txBody>
      </p:sp>
      <p:sp>
        <p:nvSpPr>
          <p:cNvPr id="39" name="Shape 36"/>
          <p:cNvSpPr/>
          <p:nvPr>
            <p:custDataLst>
              <p:tags r:id="rId10"/>
            </p:custDataLst>
          </p:nvPr>
        </p:nvSpPr>
        <p:spPr>
          <a:xfrm>
            <a:off x="8318500" y="4254500"/>
            <a:ext cx="7175500" cy="2032000"/>
          </a:xfrm>
          <a:prstGeom prst="roundRect">
            <a:avLst>
              <a:gd name="adj" fmla="val 5000"/>
            </a:avLst>
          </a:prstGeom>
          <a:solidFill>
            <a:srgbClr val="E8F4FD"/>
          </a:solidFill>
        </p:spPr>
      </p:sp>
      <p:sp>
        <p:nvSpPr>
          <p:cNvPr id="40" name="Shape 37"/>
          <p:cNvSpPr/>
          <p:nvPr/>
        </p:nvSpPr>
        <p:spPr>
          <a:xfrm>
            <a:off x="8509000" y="4356100"/>
            <a:ext cx="406400" cy="330200"/>
          </a:xfrm>
          <a:prstGeom prst="rect">
            <a:avLst/>
          </a:prstGeom>
          <a:noFill/>
        </p:spPr>
      </p:sp>
      <p:sp>
        <p:nvSpPr>
          <p:cNvPr id="41" name="Text 38"/>
          <p:cNvSpPr/>
          <p:nvPr>
            <p:custDataLst>
              <p:tags r:id="rId11"/>
            </p:custDataLst>
          </p:nvPr>
        </p:nvSpPr>
        <p:spPr>
          <a:xfrm>
            <a:off x="8387080" y="4295140"/>
            <a:ext cx="422275" cy="452120"/>
          </a:xfrm>
          <a:prstGeom prst="rect">
            <a:avLst/>
          </a:prstGeom>
          <a:noFill/>
        </p:spPr>
        <p:txBody>
          <a:bodyPr wrap="none" lIns="0" tIns="0" rIns="0" bIns="0" rtlCol="0" anchor="ctr"/>
          <a:lstStyle/>
          <a:p>
            <a:pPr algn="ctr">
              <a:lnSpc>
                <a:spcPct val="120000"/>
              </a:lnSpc>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4</a:t>
            </a:r>
            <a:endPar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42" name="Shape 39"/>
          <p:cNvSpPr/>
          <p:nvPr/>
        </p:nvSpPr>
        <p:spPr>
          <a:xfrm>
            <a:off x="8928100" y="4356100"/>
            <a:ext cx="6350000" cy="330200"/>
          </a:xfrm>
          <a:prstGeom prst="rect">
            <a:avLst/>
          </a:prstGeom>
          <a:noFill/>
        </p:spPr>
      </p:sp>
      <p:sp>
        <p:nvSpPr>
          <p:cNvPr id="43" name="Text 40"/>
          <p:cNvSpPr/>
          <p:nvPr>
            <p:custDataLst>
              <p:tags r:id="rId12"/>
            </p:custDataLst>
          </p:nvPr>
        </p:nvSpPr>
        <p:spPr>
          <a:xfrm>
            <a:off x="8806180" y="4295140"/>
            <a:ext cx="6593840" cy="452120"/>
          </a:xfrm>
          <a:prstGeom prst="rect">
            <a:avLst/>
          </a:prstGeom>
          <a:noFill/>
        </p:spPr>
        <p:txBody>
          <a:bodyPr wrap="none" lIns="0" tIns="0" rIns="0" bIns="0" rtlCol="0" anchor="ctr"/>
          <a:lstStyle/>
          <a:p>
            <a:pPr algn="l">
              <a:lnSpc>
                <a:spcPct val="120000"/>
              </a:lnSpc>
            </a:pPr>
            <a:r>
              <a:rPr lang="en-US" sz="1600" b="1" dirty="0">
                <a:solidFill>
                  <a:schemeClr val="tx1"/>
                </a:solidFill>
                <a:latin typeface="Arial" panose="020B0604020202020204" pitchFamily="34" charset="0"/>
                <a:ea typeface="Arial" panose="020B0604020202020204" pitchFamily="34" charset="-122"/>
                <a:cs typeface="Arial" panose="020B0604020202020204" pitchFamily="34" charset="-120"/>
              </a:rPr>
              <a:t>Tallam — 授权传播问题 </a:t>
            </a:r>
            <a:r>
              <a:rPr lang="en-US" sz="1600" b="1" baseline="30000" dirty="0">
                <a:solidFill>
                  <a:schemeClr val="tx1"/>
                </a:solidFill>
                <a:latin typeface="Arial" panose="020B0604020202020204" pitchFamily="34" charset="0"/>
                <a:ea typeface="Arial" panose="020B0604020202020204" pitchFamily="34" charset="-122"/>
                <a:cs typeface="Arial" panose="020B0604020202020204" pitchFamily="34" charset="-120"/>
              </a:rPr>
              <a:t>[30]</a:t>
            </a:r>
            <a:endParaRPr lang="en-US" sz="1600" b="1" baseline="30000"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44" name="Shape 41"/>
          <p:cNvSpPr/>
          <p:nvPr/>
        </p:nvSpPr>
        <p:spPr>
          <a:xfrm>
            <a:off x="8509000" y="4737100"/>
            <a:ext cx="6794500" cy="1397000"/>
          </a:xfrm>
          <a:prstGeom prst="rect">
            <a:avLst/>
          </a:prstGeom>
          <a:noFill/>
        </p:spPr>
      </p:sp>
      <p:sp>
        <p:nvSpPr>
          <p:cNvPr id="45" name="Text 42"/>
          <p:cNvSpPr/>
          <p:nvPr>
            <p:custDataLst>
              <p:tags r:id="rId13"/>
            </p:custDataLst>
          </p:nvPr>
        </p:nvSpPr>
        <p:spPr>
          <a:xfrm>
            <a:off x="8387080" y="4676140"/>
            <a:ext cx="7038340" cy="1518920"/>
          </a:xfrm>
          <a:prstGeom prst="rect">
            <a:avLst/>
          </a:prstGeom>
          <a:noFill/>
        </p:spPr>
        <p:txBody>
          <a:bodyPr wrap="square" lIns="0" tIns="0" rIns="0" bIns="0" rtlCol="0" anchor="t"/>
          <a:lstStyle/>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问题：</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委托链中权限放大、混淆副手攻击、审计不可追溯</a:t>
            </a:r>
            <a:endParaRPr lang="en-US" sz="1600" dirty="0"/>
          </a:p>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发现：</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即使完美防御提示注入，仍存在结构性授权传播风险</a:t>
            </a:r>
            <a:endParaRPr lang="en-US" sz="1600" dirty="0"/>
          </a:p>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核心：</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权限单调衰减、身份可验证追溯、委托可撤销三大不变量</a:t>
            </a:r>
            <a:endParaRPr lang="en-US" sz="1600" dirty="0"/>
          </a:p>
        </p:txBody>
      </p:sp>
      <p:sp>
        <p:nvSpPr>
          <p:cNvPr id="46" name="Shape 43"/>
          <p:cNvSpPr/>
          <p:nvPr/>
        </p:nvSpPr>
        <p:spPr>
          <a:xfrm>
            <a:off x="762000" y="6540500"/>
            <a:ext cx="14732000" cy="1879600"/>
          </a:xfrm>
          <a:prstGeom prst="roundRect">
            <a:avLst>
              <a:gd name="adj" fmla="val 3000"/>
            </a:avLst>
          </a:prstGeom>
          <a:solidFill>
            <a:srgbClr val="005C8F"/>
          </a:solidFill>
        </p:spPr>
      </p:sp>
      <p:sp>
        <p:nvSpPr>
          <p:cNvPr id="47" name="Shape 44"/>
          <p:cNvSpPr/>
          <p:nvPr/>
        </p:nvSpPr>
        <p:spPr>
          <a:xfrm>
            <a:off x="1016000" y="6667500"/>
            <a:ext cx="14224000" cy="1651000"/>
          </a:xfrm>
          <a:prstGeom prst="rect">
            <a:avLst/>
          </a:prstGeom>
          <a:noFill/>
        </p:spPr>
      </p:sp>
      <p:sp>
        <p:nvSpPr>
          <p:cNvPr id="48" name="Text 45"/>
          <p:cNvSpPr/>
          <p:nvPr/>
        </p:nvSpPr>
        <p:spPr>
          <a:xfrm>
            <a:off x="894080" y="6606540"/>
            <a:ext cx="14467840" cy="1772920"/>
          </a:xfrm>
          <a:prstGeom prst="rect">
            <a:avLst/>
          </a:prstGeom>
          <a:noFill/>
        </p:spPr>
        <p:txBody>
          <a:bodyPr wrap="square" lIns="0" tIns="0" rIns="0" bIns="0" rtlCol="0" anchor="t"/>
          <a:lstStyle/>
          <a:p>
            <a:pPr algn="l">
              <a:lnSpc>
                <a:spcPct val="170000"/>
              </a:lnSpc>
            </a:pPr>
            <a:r>
              <a:rPr lang="en-US" sz="2000" b="1" dirty="0">
                <a:solidFill>
                  <a:srgbClr val="FFFFFF"/>
                </a:solidFill>
                <a:latin typeface="Arial" panose="020B0604020202020204" pitchFamily="34" charset="0"/>
                <a:ea typeface="Arial" panose="020B0604020202020204" pitchFamily="34" charset="-122"/>
                <a:cs typeface="Arial" panose="020B0604020202020204" pitchFamily="34" charset="-120"/>
              </a:rPr>
              <a:t>现有研究不足总结：</a:t>
            </a:r>
            <a:endParaRPr lang="en-US" sz="2000" dirty="0"/>
          </a:p>
          <a:p>
            <a:pPr algn="l">
              <a:lnSpc>
                <a:spcPct val="170000"/>
              </a:lnSpc>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1. 权限粒度仍停留在资源/操作类型层面，未精确到操作参数级（如限定邮件收件人地址、API参数范围）</a:t>
            </a:r>
            <a:endParaRPr lang="en-US" sz="2000" dirty="0"/>
          </a:p>
          <a:p>
            <a:pPr algn="l">
              <a:lnSpc>
                <a:spcPct val="170000"/>
              </a:lnSpc>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2. 缺乏对智能体当前任务、环境上下文的实时感知能力，无法支持上下文条件触发授权</a:t>
            </a:r>
            <a:endParaRPr lang="en-US" sz="2000" dirty="0"/>
          </a:p>
        </p:txBody>
      </p:sp>
      <p:sp>
        <p:nvSpPr>
          <p:cNvPr id="49" name="Shape 46"/>
          <p:cNvSpPr/>
          <p:nvPr/>
        </p:nvSpPr>
        <p:spPr>
          <a:xfrm>
            <a:off x="15240000" y="8636000"/>
            <a:ext cx="635000" cy="381000"/>
          </a:xfrm>
          <a:prstGeom prst="rect">
            <a:avLst/>
          </a:prstGeom>
          <a:noFill/>
        </p:spPr>
      </p:sp>
      <p:sp>
        <p:nvSpPr>
          <p:cNvPr id="50" name="Text 47"/>
          <p:cNvSpPr/>
          <p:nvPr/>
        </p:nvSpPr>
        <p:spPr>
          <a:xfrm>
            <a:off x="15118080" y="8575040"/>
            <a:ext cx="878840" cy="502920"/>
          </a:xfrm>
          <a:prstGeom prst="rect">
            <a:avLst/>
          </a:prstGeom>
          <a:noFill/>
        </p:spPr>
        <p:txBody>
          <a:bodyPr wrap="none" lIns="0" tIns="0" rIns="0" bIns="0" rtlCol="0" anchor="ctr"/>
          <a:lstStyle/>
          <a:p>
            <a:pPr algn="r">
              <a:lnSpc>
                <a:spcPct val="120000"/>
              </a:lnSpc>
            </a:pPr>
            <a:r>
              <a:rPr lang="en-US" sz="1800" dirty="0">
                <a:solidFill>
                  <a:srgbClr val="666666"/>
                </a:solidFill>
                <a:latin typeface="Arial" panose="020B0604020202020204" pitchFamily="34" charset="0"/>
                <a:ea typeface="Arial" panose="020B0604020202020204" pitchFamily="34" charset="-122"/>
                <a:cs typeface="Arial" panose="020B0604020202020204" pitchFamily="34" charset="-120"/>
              </a:rPr>
              <a:t>12</a:t>
            </a:r>
            <a:endParaRPr lang="en-US" sz="1800" dirty="0"/>
          </a:p>
        </p:txBody>
      </p:sp>
      <p:sp>
        <p:nvSpPr>
          <p:cNvPr id="51" name="Shape 15"/>
          <p:cNvSpPr/>
          <p:nvPr>
            <p:custDataLst>
              <p:tags r:id="rId14"/>
            </p:custDataLst>
          </p:nvPr>
        </p:nvSpPr>
        <p:spPr>
          <a:xfrm>
            <a:off x="762000" y="4254500"/>
            <a:ext cx="7175500" cy="2032000"/>
          </a:xfrm>
          <a:prstGeom prst="roundRect">
            <a:avLst>
              <a:gd name="adj" fmla="val 5000"/>
            </a:avLst>
          </a:prstGeom>
          <a:solidFill>
            <a:srgbClr val="E8F4FD"/>
          </a:solidFill>
        </p:spPr>
      </p:sp>
      <p:sp>
        <p:nvSpPr>
          <p:cNvPr id="52" name="Shape 30"/>
          <p:cNvSpPr/>
          <p:nvPr/>
        </p:nvSpPr>
        <p:spPr>
          <a:xfrm>
            <a:off x="952500" y="4356100"/>
            <a:ext cx="406400" cy="330200"/>
          </a:xfrm>
          <a:prstGeom prst="rect">
            <a:avLst/>
          </a:prstGeom>
          <a:noFill/>
        </p:spPr>
      </p:sp>
      <p:sp>
        <p:nvSpPr>
          <p:cNvPr id="53" name="Text 31"/>
          <p:cNvSpPr/>
          <p:nvPr>
            <p:custDataLst>
              <p:tags r:id="rId15"/>
            </p:custDataLst>
          </p:nvPr>
        </p:nvSpPr>
        <p:spPr>
          <a:xfrm>
            <a:off x="830580" y="4295140"/>
            <a:ext cx="558800" cy="452120"/>
          </a:xfrm>
          <a:prstGeom prst="rect">
            <a:avLst/>
          </a:prstGeom>
          <a:noFill/>
        </p:spPr>
        <p:txBody>
          <a:bodyPr wrap="none" lIns="0" tIns="0" rIns="0" bIns="0" rtlCol="0" anchor="ctr"/>
          <a:lstStyle/>
          <a:p>
            <a:pPr algn="ctr">
              <a:lnSpc>
                <a:spcPct val="120000"/>
              </a:lnSpc>
            </a:pPr>
            <a:r>
              <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rPr>
              <a:t>3</a:t>
            </a:r>
            <a:endParaRPr lang="en-US" sz="2000" b="1"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54" name="Shape 32"/>
          <p:cNvSpPr/>
          <p:nvPr/>
        </p:nvSpPr>
        <p:spPr>
          <a:xfrm>
            <a:off x="1371600" y="4356100"/>
            <a:ext cx="6350000" cy="330200"/>
          </a:xfrm>
          <a:prstGeom prst="rect">
            <a:avLst/>
          </a:prstGeom>
          <a:noFill/>
        </p:spPr>
      </p:sp>
      <p:sp>
        <p:nvSpPr>
          <p:cNvPr id="55" name="Text 33"/>
          <p:cNvSpPr/>
          <p:nvPr>
            <p:custDataLst>
              <p:tags r:id="rId16"/>
            </p:custDataLst>
          </p:nvPr>
        </p:nvSpPr>
        <p:spPr>
          <a:xfrm>
            <a:off x="1249680" y="4295140"/>
            <a:ext cx="6593840" cy="452120"/>
          </a:xfrm>
          <a:prstGeom prst="rect">
            <a:avLst/>
          </a:prstGeom>
          <a:noFill/>
        </p:spPr>
        <p:txBody>
          <a:bodyPr wrap="none" lIns="0" tIns="0" rIns="0" bIns="0" rtlCol="0" anchor="ctr"/>
          <a:lstStyle/>
          <a:p>
            <a:pPr algn="l">
              <a:lnSpc>
                <a:spcPct val="120000"/>
              </a:lnSpc>
            </a:pPr>
            <a:r>
              <a:rPr lang="en-US" sz="1600" b="1" dirty="0">
                <a:solidFill>
                  <a:schemeClr val="tx1"/>
                </a:solidFill>
                <a:latin typeface="Arial" panose="020B0604020202020204" pitchFamily="34" charset="0"/>
                <a:ea typeface="Arial" panose="020B0604020202020204" pitchFamily="34" charset="-122"/>
                <a:cs typeface="Arial" panose="020B0604020202020204" pitchFamily="34" charset="-120"/>
              </a:rPr>
              <a:t>Fleming等 — 任务级动态授权框架 </a:t>
            </a:r>
            <a:r>
              <a:rPr lang="en-US" sz="1600" b="1" baseline="30000" dirty="0">
                <a:solidFill>
                  <a:schemeClr val="tx1"/>
                </a:solidFill>
                <a:latin typeface="Arial" panose="020B0604020202020204" pitchFamily="34" charset="0"/>
                <a:ea typeface="Arial" panose="020B0604020202020204" pitchFamily="34" charset="-122"/>
                <a:cs typeface="Arial" panose="020B0604020202020204" pitchFamily="34" charset="-120"/>
              </a:rPr>
              <a:t>[36]</a:t>
            </a:r>
            <a:endParaRPr lang="en-US" sz="1600" b="1" baseline="30000" dirty="0">
              <a:solidFill>
                <a:schemeClr val="tx1"/>
              </a:solidFill>
              <a:latin typeface="Arial" panose="020B0604020202020204" pitchFamily="34" charset="0"/>
              <a:ea typeface="Arial" panose="020B0604020202020204" pitchFamily="34" charset="-122"/>
              <a:cs typeface="Arial" panose="020B0604020202020204" pitchFamily="34" charset="-120"/>
            </a:endParaRPr>
          </a:p>
        </p:txBody>
      </p:sp>
      <p:sp>
        <p:nvSpPr>
          <p:cNvPr id="56" name="Shape 34"/>
          <p:cNvSpPr/>
          <p:nvPr/>
        </p:nvSpPr>
        <p:spPr>
          <a:xfrm>
            <a:off x="952500" y="4737100"/>
            <a:ext cx="6794500" cy="1397000"/>
          </a:xfrm>
          <a:prstGeom prst="rect">
            <a:avLst/>
          </a:prstGeom>
          <a:noFill/>
        </p:spPr>
      </p:sp>
      <p:sp>
        <p:nvSpPr>
          <p:cNvPr id="57" name="Text 35"/>
          <p:cNvSpPr/>
          <p:nvPr>
            <p:custDataLst>
              <p:tags r:id="rId17"/>
            </p:custDataLst>
          </p:nvPr>
        </p:nvSpPr>
        <p:spPr>
          <a:xfrm>
            <a:off x="894080" y="4737100"/>
            <a:ext cx="6974840" cy="1457960"/>
          </a:xfrm>
          <a:prstGeom prst="rect">
            <a:avLst/>
          </a:prstGeom>
          <a:noFill/>
        </p:spPr>
        <p:txBody>
          <a:bodyPr wrap="square" lIns="0" tIns="0" rIns="0" bIns="0" rtlCol="0" anchor="t"/>
          <a:lstStyle/>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方法：</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资源风险评分 + 模型不确定性估计 + LLM策略合成</a:t>
            </a:r>
            <a:endParaRPr lang="en-US" sz="1600" dirty="0"/>
          </a:p>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特点：</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基于任务语义自动合成最小权限策略，实时适应任务演化</a:t>
            </a:r>
            <a:endParaRPr lang="en-US" sz="1600" dirty="0"/>
          </a:p>
          <a:p>
            <a:pPr algn="l">
              <a:lnSpc>
                <a:spcPct val="160000"/>
              </a:lnSpc>
            </a:pPr>
            <a:r>
              <a:rPr lang="en-US" sz="1600" b="1" dirty="0">
                <a:solidFill>
                  <a:srgbClr val="444444"/>
                </a:solidFill>
                <a:latin typeface="Arial" panose="020B0604020202020204" pitchFamily="34" charset="0"/>
                <a:ea typeface="Arial" panose="020B0604020202020204" pitchFamily="34" charset="-122"/>
                <a:cs typeface="Arial" panose="020B0604020202020204" pitchFamily="34" charset="-120"/>
              </a:rPr>
              <a:t>局限：</a:t>
            </a:r>
            <a:r>
              <a:rPr lang="en-US" sz="1600" dirty="0">
                <a:solidFill>
                  <a:srgbClr val="444444"/>
                </a:solidFill>
                <a:latin typeface="Arial" panose="020B0604020202020204" pitchFamily="34" charset="0"/>
                <a:ea typeface="Arial" panose="020B0604020202020204" pitchFamily="34" charset="-122"/>
                <a:cs typeface="Arial" panose="020B0604020202020204" pitchFamily="34" charset="-120"/>
              </a:rPr>
              <a:t>LLM可能幻觉策略，静态风险评分不够灵活</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219558" y="893"/>
            <a:ext cx="2895035" cy="962504"/>
          </a:xfrm>
          <a:prstGeom prst="rect">
            <a:avLst/>
          </a:prstGeom>
          <a:solidFill>
            <a:srgbClr val="F2F2F2"/>
          </a:solidFill>
          <a:ln w="12700">
            <a:solidFill>
              <a:srgbClr val="F2F2F2"/>
            </a:solidFill>
            <a:prstDash val="solid"/>
          </a:ln>
        </p:spPr>
      </p:sp>
      <p:sp>
        <p:nvSpPr>
          <p:cNvPr id="3" name="Shape 1"/>
          <p:cNvSpPr/>
          <p:nvPr/>
        </p:nvSpPr>
        <p:spPr>
          <a:xfrm>
            <a:off x="5161161" y="36"/>
            <a:ext cx="2590294" cy="962504"/>
          </a:xfrm>
          <a:prstGeom prst="rect">
            <a:avLst/>
          </a:prstGeom>
          <a:solidFill>
            <a:srgbClr val="04579A"/>
          </a:solidFill>
          <a:ln w="12700">
            <a:solidFill>
              <a:srgbClr val="04579A"/>
            </a:solidFill>
            <a:prstDash val="solid"/>
          </a:ln>
        </p:spPr>
      </p:sp>
      <p:sp>
        <p:nvSpPr>
          <p:cNvPr id="4" name="Shape 2"/>
          <p:cNvSpPr/>
          <p:nvPr/>
        </p:nvSpPr>
        <p:spPr>
          <a:xfrm>
            <a:off x="7814974" y="36"/>
            <a:ext cx="4113996" cy="962504"/>
          </a:xfrm>
          <a:prstGeom prst="rect">
            <a:avLst/>
          </a:prstGeom>
          <a:solidFill>
            <a:srgbClr val="F2F2F2"/>
          </a:solidFill>
        </p:spPr>
      </p:sp>
      <p:sp>
        <p:nvSpPr>
          <p:cNvPr id="5" name="Shape 3"/>
          <p:cNvSpPr/>
          <p:nvPr/>
        </p:nvSpPr>
        <p:spPr>
          <a:xfrm>
            <a:off x="11968682" y="893"/>
            <a:ext cx="4284175" cy="961551"/>
          </a:xfrm>
          <a:prstGeom prst="rect">
            <a:avLst/>
          </a:prstGeom>
          <a:solidFill>
            <a:srgbClr val="F2F2F2"/>
          </a:solidFill>
        </p:spPr>
      </p:sp>
      <p:sp>
        <p:nvSpPr>
          <p:cNvPr id="6" name="Shape 4"/>
          <p:cNvSpPr/>
          <p:nvPr/>
        </p:nvSpPr>
        <p:spPr>
          <a:xfrm>
            <a:off x="2282982" y="204021"/>
            <a:ext cx="2768091" cy="507869"/>
          </a:xfrm>
          <a:prstGeom prst="rect">
            <a:avLst/>
          </a:prstGeom>
          <a:noFill/>
        </p:spPr>
      </p:sp>
      <p:sp>
        <p:nvSpPr>
          <p:cNvPr id="7" name="Shape 5"/>
          <p:cNvSpPr/>
          <p:nvPr/>
        </p:nvSpPr>
        <p:spPr>
          <a:xfrm>
            <a:off x="2161086" y="143073"/>
            <a:ext cx="3011883" cy="629765"/>
          </a:xfrm>
          <a:prstGeom prst="rect">
            <a:avLst/>
          </a:prstGeom>
          <a:noFill/>
        </p:spPr>
      </p:sp>
      <p:sp>
        <p:nvSpPr>
          <p:cNvPr id="8" name="Text 6"/>
          <p:cNvSpPr/>
          <p:nvPr/>
        </p:nvSpPr>
        <p:spPr>
          <a:xfrm>
            <a:off x="2069664" y="97362"/>
            <a:ext cx="3194728" cy="721187"/>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选题背景及意义</a:t>
            </a:r>
            <a:endParaRPr lang="en-US" sz="2000" dirty="0"/>
          </a:p>
        </p:txBody>
      </p:sp>
      <p:sp>
        <p:nvSpPr>
          <p:cNvPr id="9" name="Shape 7"/>
          <p:cNvSpPr/>
          <p:nvPr/>
        </p:nvSpPr>
        <p:spPr>
          <a:xfrm>
            <a:off x="5224680" y="204021"/>
            <a:ext cx="2463351" cy="507869"/>
          </a:xfrm>
          <a:prstGeom prst="rect">
            <a:avLst/>
          </a:prstGeom>
          <a:noFill/>
        </p:spPr>
      </p:sp>
      <p:sp>
        <p:nvSpPr>
          <p:cNvPr id="10" name="Shape 8"/>
          <p:cNvSpPr/>
          <p:nvPr/>
        </p:nvSpPr>
        <p:spPr>
          <a:xfrm>
            <a:off x="5102784" y="143073"/>
            <a:ext cx="2707143" cy="629765"/>
          </a:xfrm>
          <a:prstGeom prst="rect">
            <a:avLst/>
          </a:prstGeom>
          <a:noFill/>
        </p:spPr>
      </p:sp>
      <p:sp>
        <p:nvSpPr>
          <p:cNvPr id="11" name="Text 9"/>
          <p:cNvSpPr/>
          <p:nvPr/>
        </p:nvSpPr>
        <p:spPr>
          <a:xfrm>
            <a:off x="5011362" y="97362"/>
            <a:ext cx="2889987" cy="721187"/>
          </a:xfrm>
          <a:prstGeom prst="rect">
            <a:avLst/>
          </a:prstGeom>
          <a:noFill/>
        </p:spPr>
        <p:txBody>
          <a:bodyPr wrap="none" lIns="0" tIns="0" rIns="0" bIns="0" rtlCol="0" anchor="ctr"/>
          <a:lstStyle/>
          <a:p>
            <a:pPr algn="ctr">
              <a:lnSpc>
                <a:spcPct val="120000"/>
              </a:lnSpc>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国内外研究现状</a:t>
            </a:r>
            <a:endParaRPr lang="en-US" sz="2000" dirty="0"/>
          </a:p>
        </p:txBody>
      </p:sp>
      <p:sp>
        <p:nvSpPr>
          <p:cNvPr id="12" name="Shape 10"/>
          <p:cNvSpPr/>
          <p:nvPr/>
        </p:nvSpPr>
        <p:spPr>
          <a:xfrm>
            <a:off x="7878399" y="204021"/>
            <a:ext cx="3987053" cy="507869"/>
          </a:xfrm>
          <a:prstGeom prst="rect">
            <a:avLst/>
          </a:prstGeom>
          <a:noFill/>
        </p:spPr>
      </p:sp>
      <p:sp>
        <p:nvSpPr>
          <p:cNvPr id="13" name="Shape 11"/>
          <p:cNvSpPr/>
          <p:nvPr/>
        </p:nvSpPr>
        <p:spPr>
          <a:xfrm>
            <a:off x="7756502" y="143073"/>
            <a:ext cx="4230845" cy="629765"/>
          </a:xfrm>
          <a:prstGeom prst="rect">
            <a:avLst/>
          </a:prstGeom>
          <a:noFill/>
        </p:spPr>
      </p:sp>
      <p:sp>
        <p:nvSpPr>
          <p:cNvPr id="14" name="Text 12"/>
          <p:cNvSpPr/>
          <p:nvPr/>
        </p:nvSpPr>
        <p:spPr>
          <a:xfrm>
            <a:off x="7665080" y="97362"/>
            <a:ext cx="4413690" cy="721187"/>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主要研究内容及预期目标</a:t>
            </a:r>
            <a:endParaRPr lang="en-US" sz="2000" dirty="0"/>
          </a:p>
        </p:txBody>
      </p:sp>
      <p:sp>
        <p:nvSpPr>
          <p:cNvPr id="15" name="Shape 13"/>
          <p:cNvSpPr/>
          <p:nvPr/>
        </p:nvSpPr>
        <p:spPr>
          <a:xfrm>
            <a:off x="12032202" y="204021"/>
            <a:ext cx="4157136" cy="507869"/>
          </a:xfrm>
          <a:prstGeom prst="rect">
            <a:avLst/>
          </a:prstGeom>
          <a:noFill/>
        </p:spPr>
      </p:sp>
      <p:sp>
        <p:nvSpPr>
          <p:cNvPr id="16" name="Shape 14"/>
          <p:cNvSpPr/>
          <p:nvPr/>
        </p:nvSpPr>
        <p:spPr>
          <a:xfrm>
            <a:off x="11910306" y="143073"/>
            <a:ext cx="4400929" cy="629765"/>
          </a:xfrm>
          <a:prstGeom prst="rect">
            <a:avLst/>
          </a:prstGeom>
          <a:noFill/>
        </p:spPr>
      </p:sp>
      <p:sp>
        <p:nvSpPr>
          <p:cNvPr id="17" name="Text 15"/>
          <p:cNvSpPr/>
          <p:nvPr/>
        </p:nvSpPr>
        <p:spPr>
          <a:xfrm>
            <a:off x="11818883" y="97362"/>
            <a:ext cx="4583773" cy="721187"/>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工作计划与进度安排</a:t>
            </a:r>
            <a:endParaRPr lang="en-US" sz="2000" dirty="0"/>
          </a:p>
        </p:txBody>
      </p:sp>
      <p:pic>
        <p:nvPicPr>
          <p:cNvPr id="18" name="Image 0" descr="https://kimi-img.moonshot.cn/pub/slides/okc/flfuysioo4gzm/mnt/agents/output/temp3_pptd/images/image_1.jpg"/>
          <p:cNvPicPr>
            <a:picLocks noChangeAspect="1"/>
          </p:cNvPicPr>
          <p:nvPr/>
        </p:nvPicPr>
        <p:blipFill>
          <a:blip r:embed="rId1"/>
          <a:srcRect l="5060" r="29000"/>
          <a:stretch>
            <a:fillRect/>
          </a:stretch>
        </p:blipFill>
        <p:spPr>
          <a:xfrm>
            <a:off x="544343" y="141454"/>
            <a:ext cx="1273149" cy="745757"/>
          </a:xfrm>
          <a:prstGeom prst="rect">
            <a:avLst/>
          </a:prstGeom>
        </p:spPr>
      </p:pic>
      <p:sp>
        <p:nvSpPr>
          <p:cNvPr id="19" name="Shape 16"/>
          <p:cNvSpPr/>
          <p:nvPr/>
        </p:nvSpPr>
        <p:spPr>
          <a:xfrm rot="10800000">
            <a:off x="6378313" y="962444"/>
            <a:ext cx="389401" cy="304740"/>
          </a:xfrm>
          <a:prstGeom prst="triangle">
            <a:avLst>
              <a:gd name="adj" fmla="val 50000"/>
            </a:avLst>
          </a:prstGeom>
          <a:solidFill>
            <a:srgbClr val="04579A"/>
          </a:solidFill>
        </p:spPr>
      </p:sp>
      <p:sp>
        <p:nvSpPr>
          <p:cNvPr id="20" name="Text 17"/>
          <p:cNvSpPr/>
          <p:nvPr/>
        </p:nvSpPr>
        <p:spPr>
          <a:xfrm>
            <a:off x="571388" y="1191285"/>
            <a:ext cx="9523140" cy="619004"/>
          </a:xfrm>
          <a:prstGeom prst="rect">
            <a:avLst/>
          </a:prstGeom>
          <a:noFill/>
        </p:spPr>
        <p:txBody>
          <a:bodyPr wrap="none" lIns="0" tIns="0" rIns="0" bIns="0" rtlCol="0" anchor="ctr"/>
          <a:lstStyle/>
          <a:p>
            <a:pPr algn="l">
              <a:lnSpc>
                <a:spcPct val="120000"/>
              </a:lnSpc>
            </a:pPr>
            <a:r>
              <a:rPr lang="en-US" sz="3150" b="1" dirty="0">
                <a:solidFill>
                  <a:srgbClr val="04579A"/>
                </a:solidFill>
                <a:latin typeface="Arial" panose="020B0604020202020204" pitchFamily="34" charset="0"/>
                <a:ea typeface="Arial" panose="020B0604020202020204" pitchFamily="34" charset="-122"/>
                <a:cs typeface="Arial" panose="020B0604020202020204" pitchFamily="34" charset="-120"/>
              </a:rPr>
              <a:t>现有研究不足总结</a:t>
            </a:r>
            <a:endParaRPr lang="en-US" sz="3150" dirty="0"/>
          </a:p>
        </p:txBody>
      </p:sp>
      <p:sp>
        <p:nvSpPr>
          <p:cNvPr id="54" name="Text 51"/>
          <p:cNvSpPr/>
          <p:nvPr/>
        </p:nvSpPr>
        <p:spPr>
          <a:xfrm>
            <a:off x="857083" y="7667021"/>
            <a:ext cx="14541835" cy="1047545"/>
          </a:xfrm>
          <a:prstGeom prst="rect">
            <a:avLst/>
          </a:prstGeom>
          <a:noFill/>
        </p:spPr>
        <p:txBody>
          <a:bodyPr wrap="square" lIns="0" tIns="0" rIns="0" bIns="0" rtlCol="0" anchor="t"/>
          <a:lstStyle/>
          <a:p>
            <a:pPr algn="l">
              <a:lnSpc>
                <a:spcPct val="160000"/>
              </a:lnSpc>
            </a:pPr>
            <a:endParaRPr lang="en-US" dirty="0"/>
          </a:p>
        </p:txBody>
      </p:sp>
      <p:sp>
        <p:nvSpPr>
          <p:cNvPr id="55" name="Text 52"/>
          <p:cNvSpPr/>
          <p:nvPr/>
        </p:nvSpPr>
        <p:spPr>
          <a:xfrm>
            <a:off x="15237024" y="8666950"/>
            <a:ext cx="761851" cy="380926"/>
          </a:xfrm>
          <a:prstGeom prst="rect">
            <a:avLst/>
          </a:prstGeom>
          <a:noFill/>
        </p:spPr>
        <p:txBody>
          <a:bodyPr wrap="none" lIns="0" tIns="0" rIns="0" bIns="0" rtlCol="0" anchor="ctr"/>
          <a:lstStyle/>
          <a:p>
            <a:pPr algn="r">
              <a:lnSpc>
                <a:spcPct val="120000"/>
              </a:lnSpc>
            </a:pPr>
            <a:r>
              <a:rPr lang="en-US" sz="2100" dirty="0">
                <a:solidFill>
                  <a:srgbClr val="666666"/>
                </a:solidFill>
                <a:latin typeface="Arial" panose="020B0604020202020204" pitchFamily="34" charset="0"/>
                <a:ea typeface="Arial" panose="020B0604020202020204" pitchFamily="34" charset="-122"/>
                <a:cs typeface="Arial" panose="020B0604020202020204" pitchFamily="34" charset="-120"/>
              </a:rPr>
              <a:t>13</a:t>
            </a:r>
            <a:endParaRPr lang="en-US" sz="2100" dirty="0"/>
          </a:p>
        </p:txBody>
      </p:sp>
      <p:sp>
        <p:nvSpPr>
          <p:cNvPr id="62" name="文本框 61"/>
          <p:cNvSpPr txBox="1"/>
          <p:nvPr/>
        </p:nvSpPr>
        <p:spPr>
          <a:xfrm>
            <a:off x="3691890" y="2632075"/>
            <a:ext cx="8935720" cy="922020"/>
          </a:xfrm>
          <a:prstGeom prst="rect">
            <a:avLst/>
          </a:prstGeom>
          <a:noFill/>
        </p:spPr>
        <p:txBody>
          <a:bodyPr wrap="square" rtlCol="0">
            <a:spAutoFit/>
          </a:bodyPr>
          <a:p>
            <a:r>
              <a:rPr lang="zh-CN" altLang="en-US"/>
              <a:t>传统授</a:t>
            </a:r>
            <a:r>
              <a:rPr lang="zh-CN" altLang="en-US"/>
              <a:t>领域致力于研究</a:t>
            </a:r>
            <a:endParaRPr lang="zh-CN" altLang="en-US"/>
          </a:p>
          <a:p>
            <a:pPr indent="457200"/>
            <a:r>
              <a:rPr lang="zh-CN" altLang="en-US"/>
              <a:t>动态衰减令牌的权限，以便满足最小权限原则：</a:t>
            </a:r>
            <a:r>
              <a:rPr lang="en-US" altLang="zh-CN"/>
              <a:t>Macroons</a:t>
            </a:r>
            <a:r>
              <a:rPr lang="zh-CN" altLang="en-US"/>
              <a:t>、</a:t>
            </a:r>
            <a:r>
              <a:rPr lang="en-US" altLang="zh-CN"/>
              <a:t>Stateful Least Auth</a:t>
            </a:r>
            <a:endParaRPr lang="zh-CN" altLang="en-US"/>
          </a:p>
          <a:p>
            <a:pPr indent="457200"/>
            <a:r>
              <a:rPr lang="zh-CN" altLang="en-US"/>
              <a:t>去中心化授权，离线验证凭证：</a:t>
            </a:r>
            <a:r>
              <a:rPr lang="en-US" altLang="zh-CN"/>
              <a:t>WAVE</a:t>
            </a:r>
            <a:endParaRPr lang="en-US" altLang="zh-CN"/>
          </a:p>
        </p:txBody>
      </p:sp>
      <p:sp>
        <p:nvSpPr>
          <p:cNvPr id="63" name="文本框 62"/>
          <p:cNvSpPr txBox="1"/>
          <p:nvPr/>
        </p:nvSpPr>
        <p:spPr>
          <a:xfrm>
            <a:off x="3771265" y="3909695"/>
            <a:ext cx="9077960" cy="1586230"/>
          </a:xfrm>
          <a:prstGeom prst="rect">
            <a:avLst/>
          </a:prstGeom>
          <a:noFill/>
        </p:spPr>
        <p:txBody>
          <a:bodyPr wrap="square" rtlCol="0">
            <a:noAutofit/>
          </a:bodyPr>
          <a:p>
            <a:r>
              <a:rPr lang="zh-CN" altLang="en-US"/>
              <a:t>现有智能体授权领域致力于</a:t>
            </a:r>
            <a:r>
              <a:rPr lang="zh-CN" altLang="en-US"/>
              <a:t>研究</a:t>
            </a:r>
            <a:endParaRPr lang="zh-CN" altLang="en-US"/>
          </a:p>
          <a:p>
            <a:pPr indent="457200"/>
            <a:r>
              <a:rPr lang="zh-CN" altLang="en-US"/>
              <a:t>自动授权，解放人类监督任务</a:t>
            </a:r>
            <a:r>
              <a:rPr lang="en-US" altLang="zh-CN"/>
              <a:t> : Automating Permissions</a:t>
            </a:r>
            <a:endParaRPr lang="en-US" altLang="zh-CN"/>
          </a:p>
          <a:p>
            <a:pPr indent="457200"/>
            <a:r>
              <a:rPr lang="zh-CN" altLang="en-US"/>
              <a:t>委托授权，适配多智能体系统的授权需求：</a:t>
            </a:r>
            <a:r>
              <a:rPr lang="en-US" altLang="zh-CN"/>
              <a:t>Authenticated Delegation for AI Agents</a:t>
            </a:r>
            <a:endParaRPr lang="en-US" altLang="zh-CN"/>
          </a:p>
          <a:p>
            <a:pPr indent="457200"/>
            <a:r>
              <a:rPr lang="zh-CN" altLang="en-US"/>
              <a:t>收紧授权，保证最小权限原则：</a:t>
            </a:r>
            <a:r>
              <a:rPr lang="en-US" altLang="zh-CN"/>
              <a:t>Deterministic Pre-Action Auth</a:t>
            </a:r>
            <a:endParaRPr lang="zh-CN" altLang="en-US"/>
          </a:p>
        </p:txBody>
      </p:sp>
      <p:sp>
        <p:nvSpPr>
          <p:cNvPr id="64" name="文本框 63"/>
          <p:cNvSpPr txBox="1"/>
          <p:nvPr/>
        </p:nvSpPr>
        <p:spPr>
          <a:xfrm>
            <a:off x="3763645" y="5537200"/>
            <a:ext cx="5715000" cy="922020"/>
          </a:xfrm>
          <a:prstGeom prst="rect">
            <a:avLst/>
          </a:prstGeom>
          <a:noFill/>
        </p:spPr>
        <p:txBody>
          <a:bodyPr wrap="square" rtlCol="0">
            <a:spAutoFit/>
          </a:bodyPr>
          <a:p>
            <a:r>
              <a:rPr lang="zh-CN" altLang="en-US"/>
              <a:t>传统授权聚焦动态衰减</a:t>
            </a:r>
            <a:r>
              <a:rPr lang="zh-CN" altLang="en-US"/>
              <a:t>令牌权限</a:t>
            </a:r>
            <a:endParaRPr lang="zh-CN" altLang="en-US"/>
          </a:p>
          <a:p>
            <a:r>
              <a:rPr lang="zh-CN" altLang="en-US"/>
              <a:t>现有智能体授权致力于研究自动授权、委托授权，收紧授权，</a:t>
            </a:r>
            <a:endParaRPr lang="zh-CN" altLang="en-US"/>
          </a:p>
        </p:txBody>
      </p:sp>
      <p:sp>
        <p:nvSpPr>
          <p:cNvPr id="65" name="文本框 64"/>
          <p:cNvSpPr txBox="1"/>
          <p:nvPr/>
        </p:nvSpPr>
        <p:spPr>
          <a:xfrm>
            <a:off x="10772775" y="5378450"/>
            <a:ext cx="3261995" cy="878205"/>
          </a:xfrm>
          <a:prstGeom prst="rect">
            <a:avLst/>
          </a:prstGeom>
          <a:noFill/>
        </p:spPr>
        <p:txBody>
          <a:bodyPr wrap="square" rtlCol="0">
            <a:noAutofit/>
          </a:bodyPr>
          <a:p>
            <a:r>
              <a:rPr lang="zh-CN" altLang="en-US">
                <a:sym typeface="+mn-ea"/>
              </a:rPr>
              <a:t>尽管</a:t>
            </a:r>
            <a:r>
              <a:rPr lang="en-US" altLang="zh-CN">
                <a:sym typeface="+mn-ea"/>
              </a:rPr>
              <a:t>OAuth is not enough</a:t>
            </a:r>
            <a:r>
              <a:rPr lang="zh-CN" altLang="en-US">
                <a:sym typeface="+mn-ea"/>
              </a:rPr>
              <a:t>提出目前需要细粒度的授权</a:t>
            </a:r>
            <a:r>
              <a:rPr lang="zh-CN" altLang="en-US">
                <a:sym typeface="+mn-ea"/>
              </a:rPr>
              <a:t>框架，但未有完整方案出现</a:t>
            </a:r>
            <a:endParaRPr lang="zh-CN" altLang="en-US"/>
          </a:p>
          <a:p>
            <a:endParaRPr lang="zh-CN" altLang="en-US"/>
          </a:p>
        </p:txBody>
      </p:sp>
      <p:sp>
        <p:nvSpPr>
          <p:cNvPr id="66" name="文本框 65"/>
          <p:cNvSpPr txBox="1"/>
          <p:nvPr/>
        </p:nvSpPr>
        <p:spPr>
          <a:xfrm>
            <a:off x="10875645" y="6640195"/>
            <a:ext cx="3159125" cy="645160"/>
          </a:xfrm>
          <a:prstGeom prst="rect">
            <a:avLst/>
          </a:prstGeom>
          <a:noFill/>
        </p:spPr>
        <p:txBody>
          <a:bodyPr wrap="square" rtlCol="0">
            <a:spAutoFit/>
          </a:bodyPr>
          <a:p>
            <a:r>
              <a:rPr lang="zh-CN" altLang="en-US"/>
              <a:t>并且没有针对保证有序任务中顺序授权的</a:t>
            </a:r>
            <a:r>
              <a:rPr lang="zh-CN" altLang="en-US"/>
              <a:t>研究</a:t>
            </a:r>
            <a:endParaRPr lang="zh-CN" altLang="en-US"/>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219558" y="893"/>
            <a:ext cx="2895035" cy="962504"/>
          </a:xfrm>
          <a:prstGeom prst="rect">
            <a:avLst/>
          </a:prstGeom>
          <a:solidFill>
            <a:srgbClr val="F2F2F2"/>
          </a:solidFill>
          <a:ln w="12700">
            <a:solidFill>
              <a:srgbClr val="F2F2F2"/>
            </a:solidFill>
            <a:prstDash val="solid"/>
          </a:ln>
        </p:spPr>
      </p:sp>
      <p:sp>
        <p:nvSpPr>
          <p:cNvPr id="3" name="Shape 1"/>
          <p:cNvSpPr/>
          <p:nvPr/>
        </p:nvSpPr>
        <p:spPr>
          <a:xfrm>
            <a:off x="5161161" y="36"/>
            <a:ext cx="2590294" cy="962504"/>
          </a:xfrm>
          <a:prstGeom prst="rect">
            <a:avLst/>
          </a:prstGeom>
          <a:solidFill>
            <a:srgbClr val="04579A"/>
          </a:solidFill>
          <a:ln w="12700">
            <a:solidFill>
              <a:srgbClr val="04579A"/>
            </a:solidFill>
            <a:prstDash val="solid"/>
          </a:ln>
        </p:spPr>
      </p:sp>
      <p:sp>
        <p:nvSpPr>
          <p:cNvPr id="4" name="Shape 2"/>
          <p:cNvSpPr/>
          <p:nvPr/>
        </p:nvSpPr>
        <p:spPr>
          <a:xfrm>
            <a:off x="7814974" y="36"/>
            <a:ext cx="4113996" cy="962504"/>
          </a:xfrm>
          <a:prstGeom prst="rect">
            <a:avLst/>
          </a:prstGeom>
          <a:solidFill>
            <a:srgbClr val="F2F2F2"/>
          </a:solidFill>
        </p:spPr>
      </p:sp>
      <p:sp>
        <p:nvSpPr>
          <p:cNvPr id="5" name="Shape 3"/>
          <p:cNvSpPr/>
          <p:nvPr/>
        </p:nvSpPr>
        <p:spPr>
          <a:xfrm>
            <a:off x="11968682" y="893"/>
            <a:ext cx="4284175" cy="961551"/>
          </a:xfrm>
          <a:prstGeom prst="rect">
            <a:avLst/>
          </a:prstGeom>
          <a:solidFill>
            <a:srgbClr val="F2F2F2"/>
          </a:solidFill>
        </p:spPr>
      </p:sp>
      <p:sp>
        <p:nvSpPr>
          <p:cNvPr id="6" name="Shape 4"/>
          <p:cNvSpPr/>
          <p:nvPr/>
        </p:nvSpPr>
        <p:spPr>
          <a:xfrm>
            <a:off x="2282982" y="204021"/>
            <a:ext cx="2768091" cy="507869"/>
          </a:xfrm>
          <a:prstGeom prst="rect">
            <a:avLst/>
          </a:prstGeom>
          <a:noFill/>
        </p:spPr>
      </p:sp>
      <p:sp>
        <p:nvSpPr>
          <p:cNvPr id="7" name="Shape 5"/>
          <p:cNvSpPr/>
          <p:nvPr/>
        </p:nvSpPr>
        <p:spPr>
          <a:xfrm>
            <a:off x="2161086" y="143073"/>
            <a:ext cx="3011883" cy="629765"/>
          </a:xfrm>
          <a:prstGeom prst="rect">
            <a:avLst/>
          </a:prstGeom>
          <a:noFill/>
        </p:spPr>
      </p:sp>
      <p:sp>
        <p:nvSpPr>
          <p:cNvPr id="8" name="Text 6"/>
          <p:cNvSpPr/>
          <p:nvPr/>
        </p:nvSpPr>
        <p:spPr>
          <a:xfrm>
            <a:off x="2069664" y="97362"/>
            <a:ext cx="3194728" cy="721187"/>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选题背景及意义</a:t>
            </a:r>
            <a:endParaRPr lang="en-US" sz="2000" dirty="0"/>
          </a:p>
        </p:txBody>
      </p:sp>
      <p:sp>
        <p:nvSpPr>
          <p:cNvPr id="9" name="Shape 7"/>
          <p:cNvSpPr/>
          <p:nvPr/>
        </p:nvSpPr>
        <p:spPr>
          <a:xfrm>
            <a:off x="5224680" y="204021"/>
            <a:ext cx="2463351" cy="507869"/>
          </a:xfrm>
          <a:prstGeom prst="rect">
            <a:avLst/>
          </a:prstGeom>
          <a:noFill/>
        </p:spPr>
      </p:sp>
      <p:sp>
        <p:nvSpPr>
          <p:cNvPr id="10" name="Shape 8"/>
          <p:cNvSpPr/>
          <p:nvPr/>
        </p:nvSpPr>
        <p:spPr>
          <a:xfrm>
            <a:off x="5102784" y="143073"/>
            <a:ext cx="2707143" cy="629765"/>
          </a:xfrm>
          <a:prstGeom prst="rect">
            <a:avLst/>
          </a:prstGeom>
          <a:noFill/>
        </p:spPr>
      </p:sp>
      <p:sp>
        <p:nvSpPr>
          <p:cNvPr id="11" name="Text 9"/>
          <p:cNvSpPr/>
          <p:nvPr/>
        </p:nvSpPr>
        <p:spPr>
          <a:xfrm>
            <a:off x="5011362" y="97362"/>
            <a:ext cx="2889987" cy="721187"/>
          </a:xfrm>
          <a:prstGeom prst="rect">
            <a:avLst/>
          </a:prstGeom>
          <a:noFill/>
        </p:spPr>
        <p:txBody>
          <a:bodyPr wrap="none" lIns="0" tIns="0" rIns="0" bIns="0" rtlCol="0" anchor="ctr"/>
          <a:lstStyle/>
          <a:p>
            <a:pPr algn="ctr">
              <a:lnSpc>
                <a:spcPct val="120000"/>
              </a:lnSpc>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国内外研究现状</a:t>
            </a:r>
            <a:endParaRPr lang="en-US" sz="2000" dirty="0"/>
          </a:p>
        </p:txBody>
      </p:sp>
      <p:sp>
        <p:nvSpPr>
          <p:cNvPr id="12" name="Shape 10"/>
          <p:cNvSpPr/>
          <p:nvPr/>
        </p:nvSpPr>
        <p:spPr>
          <a:xfrm>
            <a:off x="7878399" y="204021"/>
            <a:ext cx="3987053" cy="507869"/>
          </a:xfrm>
          <a:prstGeom prst="rect">
            <a:avLst/>
          </a:prstGeom>
          <a:noFill/>
        </p:spPr>
      </p:sp>
      <p:sp>
        <p:nvSpPr>
          <p:cNvPr id="13" name="Shape 11"/>
          <p:cNvSpPr/>
          <p:nvPr/>
        </p:nvSpPr>
        <p:spPr>
          <a:xfrm>
            <a:off x="7756502" y="143073"/>
            <a:ext cx="4230845" cy="629765"/>
          </a:xfrm>
          <a:prstGeom prst="rect">
            <a:avLst/>
          </a:prstGeom>
          <a:noFill/>
        </p:spPr>
      </p:sp>
      <p:sp>
        <p:nvSpPr>
          <p:cNvPr id="14" name="Text 12"/>
          <p:cNvSpPr/>
          <p:nvPr/>
        </p:nvSpPr>
        <p:spPr>
          <a:xfrm>
            <a:off x="7665080" y="97362"/>
            <a:ext cx="4413690" cy="721187"/>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主要研究内容及预期目标</a:t>
            </a:r>
            <a:endParaRPr lang="en-US" sz="2000" dirty="0"/>
          </a:p>
        </p:txBody>
      </p:sp>
      <p:sp>
        <p:nvSpPr>
          <p:cNvPr id="15" name="Shape 13"/>
          <p:cNvSpPr/>
          <p:nvPr/>
        </p:nvSpPr>
        <p:spPr>
          <a:xfrm>
            <a:off x="12032202" y="204021"/>
            <a:ext cx="4157136" cy="507869"/>
          </a:xfrm>
          <a:prstGeom prst="rect">
            <a:avLst/>
          </a:prstGeom>
          <a:noFill/>
        </p:spPr>
      </p:sp>
      <p:sp>
        <p:nvSpPr>
          <p:cNvPr id="16" name="Shape 14"/>
          <p:cNvSpPr/>
          <p:nvPr/>
        </p:nvSpPr>
        <p:spPr>
          <a:xfrm>
            <a:off x="11910306" y="143073"/>
            <a:ext cx="4400929" cy="629765"/>
          </a:xfrm>
          <a:prstGeom prst="rect">
            <a:avLst/>
          </a:prstGeom>
          <a:noFill/>
        </p:spPr>
      </p:sp>
      <p:sp>
        <p:nvSpPr>
          <p:cNvPr id="17" name="Text 15"/>
          <p:cNvSpPr/>
          <p:nvPr/>
        </p:nvSpPr>
        <p:spPr>
          <a:xfrm>
            <a:off x="11818883" y="97362"/>
            <a:ext cx="4583773" cy="721187"/>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工作计划与进度安排</a:t>
            </a:r>
            <a:endParaRPr lang="en-US" sz="2000" dirty="0"/>
          </a:p>
        </p:txBody>
      </p:sp>
      <p:pic>
        <p:nvPicPr>
          <p:cNvPr id="18" name="Image 0" descr="https://kimi-img.moonshot.cn/pub/slides/okc/flfuysioo4gzm/mnt/agents/output/temp3_pptd/images/image_1.jpg"/>
          <p:cNvPicPr>
            <a:picLocks noChangeAspect="1"/>
          </p:cNvPicPr>
          <p:nvPr/>
        </p:nvPicPr>
        <p:blipFill>
          <a:blip r:embed="rId1"/>
          <a:srcRect l="5060" r="29000"/>
          <a:stretch>
            <a:fillRect/>
          </a:stretch>
        </p:blipFill>
        <p:spPr>
          <a:xfrm>
            <a:off x="544343" y="141454"/>
            <a:ext cx="1273149" cy="745757"/>
          </a:xfrm>
          <a:prstGeom prst="rect">
            <a:avLst/>
          </a:prstGeom>
        </p:spPr>
      </p:pic>
      <p:sp>
        <p:nvSpPr>
          <p:cNvPr id="19" name="Shape 16"/>
          <p:cNvSpPr/>
          <p:nvPr/>
        </p:nvSpPr>
        <p:spPr>
          <a:xfrm rot="10800000">
            <a:off x="6378313" y="962444"/>
            <a:ext cx="389401" cy="304740"/>
          </a:xfrm>
          <a:prstGeom prst="triangle">
            <a:avLst>
              <a:gd name="adj" fmla="val 50000"/>
            </a:avLst>
          </a:prstGeom>
          <a:solidFill>
            <a:srgbClr val="04579A"/>
          </a:solidFill>
        </p:spPr>
      </p:sp>
      <p:sp>
        <p:nvSpPr>
          <p:cNvPr id="20" name="Text 17"/>
          <p:cNvSpPr/>
          <p:nvPr/>
        </p:nvSpPr>
        <p:spPr>
          <a:xfrm>
            <a:off x="571388" y="1191285"/>
            <a:ext cx="9523140" cy="619004"/>
          </a:xfrm>
          <a:prstGeom prst="rect">
            <a:avLst/>
          </a:prstGeom>
          <a:noFill/>
        </p:spPr>
        <p:txBody>
          <a:bodyPr wrap="none" lIns="0" tIns="0" rIns="0" bIns="0" rtlCol="0" anchor="ctr"/>
          <a:lstStyle/>
          <a:p>
            <a:pPr algn="l">
              <a:lnSpc>
                <a:spcPct val="120000"/>
              </a:lnSpc>
            </a:pPr>
            <a:r>
              <a:rPr lang="en-US" sz="3150" b="1" dirty="0">
                <a:solidFill>
                  <a:srgbClr val="04579A"/>
                </a:solidFill>
                <a:latin typeface="Arial" panose="020B0604020202020204" pitchFamily="34" charset="0"/>
                <a:ea typeface="Arial" panose="020B0604020202020204" pitchFamily="34" charset="-122"/>
                <a:cs typeface="Arial" panose="020B0604020202020204" pitchFamily="34" charset="-120"/>
              </a:rPr>
              <a:t>现有研究不足总结</a:t>
            </a:r>
            <a:endParaRPr lang="en-US" sz="3150" dirty="0"/>
          </a:p>
        </p:txBody>
      </p:sp>
      <p:sp>
        <p:nvSpPr>
          <p:cNvPr id="21" name="Shape 18"/>
          <p:cNvSpPr/>
          <p:nvPr/>
        </p:nvSpPr>
        <p:spPr>
          <a:xfrm>
            <a:off x="571388" y="1905521"/>
            <a:ext cx="15113223" cy="476157"/>
          </a:xfrm>
          <a:prstGeom prst="rect">
            <a:avLst/>
          </a:prstGeom>
          <a:solidFill>
            <a:srgbClr val="04579A"/>
          </a:solidFill>
        </p:spPr>
      </p:sp>
      <p:sp>
        <p:nvSpPr>
          <p:cNvPr id="22" name="Text 19"/>
          <p:cNvSpPr/>
          <p:nvPr/>
        </p:nvSpPr>
        <p:spPr>
          <a:xfrm>
            <a:off x="666620" y="1905521"/>
            <a:ext cx="2095091" cy="476157"/>
          </a:xfrm>
          <a:prstGeom prst="rect">
            <a:avLst/>
          </a:prstGeom>
          <a:noFill/>
        </p:spPr>
        <p:txBody>
          <a:bodyPr wrap="none" lIns="0" tIns="0" rIns="0" bIns="0" rtlCol="0" anchor="ctr"/>
          <a:lstStyle/>
          <a:p>
            <a:pPr algn="ctr">
              <a:lnSpc>
                <a:spcPct val="120000"/>
              </a:lnSpc>
            </a:pPr>
            <a:r>
              <a:rPr lang="en-US" b="1" dirty="0">
                <a:solidFill>
                  <a:srgbClr val="FFFFFF"/>
                </a:solidFill>
                <a:latin typeface="Arial" panose="020B0604020202020204" pitchFamily="34" charset="0"/>
                <a:ea typeface="Arial" panose="020B0604020202020204" pitchFamily="34" charset="-122"/>
                <a:cs typeface="Arial" panose="020B0604020202020204" pitchFamily="34" charset="-120"/>
              </a:rPr>
              <a:t>研究工作</a:t>
            </a:r>
            <a:endParaRPr lang="en-US" dirty="0"/>
          </a:p>
        </p:txBody>
      </p:sp>
      <p:sp>
        <p:nvSpPr>
          <p:cNvPr id="23" name="Text 20"/>
          <p:cNvSpPr/>
          <p:nvPr/>
        </p:nvSpPr>
        <p:spPr>
          <a:xfrm>
            <a:off x="4281805" y="1905635"/>
            <a:ext cx="3432175" cy="476250"/>
          </a:xfrm>
          <a:prstGeom prst="rect">
            <a:avLst/>
          </a:prstGeom>
          <a:noFill/>
        </p:spPr>
        <p:txBody>
          <a:bodyPr wrap="none" lIns="0" tIns="0" rIns="0" bIns="0" rtlCol="0" anchor="ctr"/>
          <a:lstStyle/>
          <a:p>
            <a:pPr algn="ctr">
              <a:lnSpc>
                <a:spcPct val="120000"/>
              </a:lnSpc>
            </a:pPr>
            <a:r>
              <a:rPr lang="en-US" b="1" dirty="0">
                <a:solidFill>
                  <a:srgbClr val="FFFFFF"/>
                </a:solidFill>
                <a:latin typeface="Arial" panose="020B0604020202020204" pitchFamily="34" charset="0"/>
                <a:ea typeface="Arial" panose="020B0604020202020204" pitchFamily="34" charset="-122"/>
                <a:cs typeface="Arial" panose="020B0604020202020204" pitchFamily="34" charset="-120"/>
              </a:rPr>
              <a:t>核心贡献</a:t>
            </a:r>
            <a:endParaRPr lang="en-US" dirty="0"/>
          </a:p>
        </p:txBody>
      </p:sp>
      <p:sp>
        <p:nvSpPr>
          <p:cNvPr id="24" name="Text 21"/>
          <p:cNvSpPr/>
          <p:nvPr/>
        </p:nvSpPr>
        <p:spPr>
          <a:xfrm>
            <a:off x="7904206" y="1905521"/>
            <a:ext cx="4761570" cy="476157"/>
          </a:xfrm>
          <a:prstGeom prst="rect">
            <a:avLst/>
          </a:prstGeom>
          <a:noFill/>
        </p:spPr>
        <p:txBody>
          <a:bodyPr wrap="none" lIns="0" tIns="0" rIns="0" bIns="0" rtlCol="0" anchor="ctr"/>
          <a:lstStyle/>
          <a:p>
            <a:pPr algn="ctr">
              <a:lnSpc>
                <a:spcPct val="120000"/>
              </a:lnSpc>
            </a:pPr>
            <a:r>
              <a:rPr lang="en-US" b="1" dirty="0">
                <a:solidFill>
                  <a:srgbClr val="FFFFFF"/>
                </a:solidFill>
                <a:latin typeface="Arial" panose="020B0604020202020204" pitchFamily="34" charset="0"/>
                <a:ea typeface="Arial" panose="020B0604020202020204" pitchFamily="34" charset="-122"/>
                <a:cs typeface="Arial" panose="020B0604020202020204" pitchFamily="34" charset="-120"/>
              </a:rPr>
              <a:t>存在的不足</a:t>
            </a:r>
            <a:endParaRPr lang="en-US" dirty="0"/>
          </a:p>
        </p:txBody>
      </p:sp>
      <p:sp>
        <p:nvSpPr>
          <p:cNvPr id="25" name="Shape 22"/>
          <p:cNvSpPr/>
          <p:nvPr/>
        </p:nvSpPr>
        <p:spPr>
          <a:xfrm>
            <a:off x="571388" y="2381678"/>
            <a:ext cx="15113223" cy="619004"/>
          </a:xfrm>
          <a:prstGeom prst="rect">
            <a:avLst/>
          </a:prstGeom>
          <a:solidFill>
            <a:srgbClr val="F0F7FC"/>
          </a:solidFill>
        </p:spPr>
      </p:sp>
      <p:sp>
        <p:nvSpPr>
          <p:cNvPr id="26" name="Text 23"/>
          <p:cNvSpPr/>
          <p:nvPr/>
        </p:nvSpPr>
        <p:spPr>
          <a:xfrm>
            <a:off x="666620" y="2429293"/>
            <a:ext cx="2095091" cy="523773"/>
          </a:xfrm>
          <a:prstGeom prst="rect">
            <a:avLst/>
          </a:prstGeom>
          <a:noFill/>
        </p:spPr>
        <p:txBody>
          <a:bodyPr wrap="none" lIns="0" tIns="0" rIns="0" bIns="0" rtlCol="0" anchor="ctr"/>
          <a:lstStyle/>
          <a:p>
            <a:pPr algn="l">
              <a:lnSpc>
                <a:spcPct val="120000"/>
              </a:lnSpc>
            </a:pPr>
            <a:r>
              <a:rPr lang="en-US" sz="1350" b="1" dirty="0">
                <a:solidFill>
                  <a:srgbClr val="04579A"/>
                </a:solidFill>
                <a:latin typeface="Arial" panose="020B0604020202020204" pitchFamily="34" charset="0"/>
                <a:ea typeface="Arial" panose="020B0604020202020204" pitchFamily="34" charset="-122"/>
                <a:cs typeface="Arial" panose="020B0604020202020204" pitchFamily="34" charset="-120"/>
                <a:sym typeface="+mn-ea"/>
              </a:rPr>
              <a:t>OAuth Is Not Enough for AI Agents [34]</a:t>
            </a:r>
            <a:endParaRPr lang="en-US" sz="1350" dirty="0"/>
          </a:p>
        </p:txBody>
      </p:sp>
      <p:sp>
        <p:nvSpPr>
          <p:cNvPr id="27" name="Text 24"/>
          <p:cNvSpPr/>
          <p:nvPr/>
        </p:nvSpPr>
        <p:spPr>
          <a:xfrm>
            <a:off x="4313555" y="2429510"/>
            <a:ext cx="3400425" cy="523875"/>
          </a:xfrm>
          <a:prstGeom prst="rect">
            <a:avLst/>
          </a:prstGeom>
          <a:noFill/>
        </p:spPr>
        <p:txBody>
          <a:bodyPr wrap="square" lIns="0" tIns="0" rIns="0" bIns="0" rtlCol="0" anchor="ctr"/>
          <a:lstStyle/>
          <a:p>
            <a:pPr algn="l">
              <a:lnSpc>
                <a:spcPct val="130000"/>
              </a:lnSpc>
            </a:pPr>
            <a:r>
              <a:rPr lang="en-US" sz="1200" dirty="0">
                <a:solidFill>
                  <a:srgbClr val="333333"/>
                </a:solidFill>
                <a:latin typeface="Arial" panose="020B0604020202020204" pitchFamily="34" charset="0"/>
                <a:ea typeface="Arial" panose="020B0604020202020204" pitchFamily="34" charset="-122"/>
                <a:cs typeface="Arial" panose="020B0604020202020204" pitchFamily="34" charset="-120"/>
              </a:rPr>
              <a:t>揭示传统授权与智能体的结构性不匹配，提出四项设计方向</a:t>
            </a:r>
            <a:endParaRPr lang="en-US" sz="1200" dirty="0"/>
          </a:p>
        </p:txBody>
      </p:sp>
      <p:sp>
        <p:nvSpPr>
          <p:cNvPr id="28" name="Text 25"/>
          <p:cNvSpPr/>
          <p:nvPr/>
        </p:nvSpPr>
        <p:spPr>
          <a:xfrm>
            <a:off x="7904206" y="2429293"/>
            <a:ext cx="4761570" cy="523773"/>
          </a:xfrm>
          <a:prstGeom prst="rect">
            <a:avLst/>
          </a:prstGeom>
          <a:noFill/>
        </p:spPr>
        <p:txBody>
          <a:bodyPr wrap="square" lIns="0" tIns="0" rIns="0" bIns="0" rtlCol="0" anchor="ctr"/>
          <a:lstStyle/>
          <a:p>
            <a:pPr algn="l">
              <a:lnSpc>
                <a:spcPct val="130000"/>
              </a:lnSpc>
            </a:pPr>
            <a:r>
              <a:rPr lang="en-US" sz="1200" dirty="0">
                <a:solidFill>
                  <a:srgbClr val="EC5F74"/>
                </a:solidFill>
                <a:latin typeface="Arial" panose="020B0604020202020204" pitchFamily="34" charset="0"/>
                <a:ea typeface="Arial" panose="020B0604020202020204" pitchFamily="34" charset="-122"/>
                <a:cs typeface="Arial" panose="020B0604020202020204" pitchFamily="34" charset="-120"/>
              </a:rPr>
              <a:t>仅指出问题，未给出完整解决方案</a:t>
            </a:r>
            <a:endParaRPr lang="en-US" sz="1200" dirty="0"/>
          </a:p>
        </p:txBody>
      </p:sp>
      <p:sp>
        <p:nvSpPr>
          <p:cNvPr id="29" name="Shape 26"/>
          <p:cNvSpPr/>
          <p:nvPr/>
        </p:nvSpPr>
        <p:spPr>
          <a:xfrm>
            <a:off x="571388" y="3000682"/>
            <a:ext cx="15113223" cy="619004"/>
          </a:xfrm>
          <a:prstGeom prst="rect">
            <a:avLst/>
          </a:prstGeom>
          <a:solidFill>
            <a:srgbClr val="FFFFFF"/>
          </a:solidFill>
        </p:spPr>
        <p:txBody>
          <a:bodyPr/>
          <a:p>
            <a:endParaRPr lang="zh-CN" altLang="en-US"/>
          </a:p>
        </p:txBody>
      </p:sp>
      <p:sp>
        <p:nvSpPr>
          <p:cNvPr id="30" name="Text 27"/>
          <p:cNvSpPr/>
          <p:nvPr/>
        </p:nvSpPr>
        <p:spPr>
          <a:xfrm>
            <a:off x="666620" y="3048298"/>
            <a:ext cx="2095091" cy="523773"/>
          </a:xfrm>
          <a:prstGeom prst="rect">
            <a:avLst/>
          </a:prstGeom>
          <a:noFill/>
        </p:spPr>
        <p:txBody>
          <a:bodyPr wrap="none" lIns="0" tIns="0" rIns="0" bIns="0" rtlCol="0" anchor="ctr"/>
          <a:lstStyle/>
          <a:p>
            <a:pPr algn="l">
              <a:lnSpc>
                <a:spcPct val="120000"/>
              </a:lnSpc>
            </a:pPr>
            <a:r>
              <a:rPr lang="en-US" sz="1350" b="1" dirty="0">
                <a:solidFill>
                  <a:srgbClr val="04579A"/>
                </a:solidFill>
                <a:latin typeface="Arial" panose="020B0604020202020204" pitchFamily="34" charset="0"/>
                <a:ea typeface="Arial" panose="020B0604020202020204" pitchFamily="34" charset="-122"/>
                <a:cs typeface="Arial" panose="020B0604020202020204" pitchFamily="34" charset="-120"/>
                <a:sym typeface="+mn-ea"/>
              </a:rPr>
              <a:t>Automating Permissions [41]</a:t>
            </a:r>
            <a:endParaRPr lang="en-US" sz="1350" dirty="0"/>
          </a:p>
        </p:txBody>
      </p:sp>
      <p:sp>
        <p:nvSpPr>
          <p:cNvPr id="31" name="Text 28"/>
          <p:cNvSpPr/>
          <p:nvPr/>
        </p:nvSpPr>
        <p:spPr>
          <a:xfrm>
            <a:off x="4293235" y="3048000"/>
            <a:ext cx="3420745" cy="523875"/>
          </a:xfrm>
          <a:prstGeom prst="rect">
            <a:avLst/>
          </a:prstGeom>
          <a:noFill/>
        </p:spPr>
        <p:txBody>
          <a:bodyPr wrap="square" lIns="0" tIns="0" rIns="0" bIns="0" rtlCol="0" anchor="ctr"/>
          <a:lstStyle/>
          <a:p>
            <a:pPr algn="l">
              <a:lnSpc>
                <a:spcPct val="130000"/>
              </a:lnSpc>
            </a:pPr>
            <a:endParaRPr lang="en-US" sz="1200" dirty="0"/>
          </a:p>
        </p:txBody>
      </p:sp>
      <p:sp>
        <p:nvSpPr>
          <p:cNvPr id="32" name="Text 29"/>
          <p:cNvSpPr/>
          <p:nvPr/>
        </p:nvSpPr>
        <p:spPr>
          <a:xfrm>
            <a:off x="7904206" y="3048298"/>
            <a:ext cx="4761570" cy="523773"/>
          </a:xfrm>
          <a:prstGeom prst="rect">
            <a:avLst/>
          </a:prstGeom>
          <a:noFill/>
        </p:spPr>
        <p:txBody>
          <a:bodyPr wrap="square" lIns="0" tIns="0" rIns="0" bIns="0" rtlCol="0" anchor="ctr"/>
          <a:lstStyle/>
          <a:p>
            <a:pPr algn="l">
              <a:lnSpc>
                <a:spcPct val="130000"/>
              </a:lnSpc>
            </a:pPr>
            <a:r>
              <a:rPr lang="en-US" sz="1200" dirty="0">
                <a:solidFill>
                  <a:srgbClr val="EC5F74"/>
                </a:solidFill>
                <a:latin typeface="Arial" panose="020B0604020202020204" pitchFamily="34" charset="0"/>
                <a:ea typeface="Arial" panose="020B0604020202020204" pitchFamily="34" charset="-122"/>
                <a:cs typeface="Arial" panose="020B0604020202020204" pitchFamily="34" charset="-120"/>
              </a:rPr>
              <a:t>解决身份缺失但未解决授权粒度宽泛问题</a:t>
            </a:r>
            <a:endParaRPr lang="en-US" sz="1200" dirty="0"/>
          </a:p>
        </p:txBody>
      </p:sp>
      <p:sp>
        <p:nvSpPr>
          <p:cNvPr id="33" name="Shape 30"/>
          <p:cNvSpPr/>
          <p:nvPr/>
        </p:nvSpPr>
        <p:spPr>
          <a:xfrm>
            <a:off x="571388" y="3619686"/>
            <a:ext cx="15113223" cy="619004"/>
          </a:xfrm>
          <a:prstGeom prst="rect">
            <a:avLst/>
          </a:prstGeom>
          <a:solidFill>
            <a:srgbClr val="F0F7FC"/>
          </a:solidFill>
        </p:spPr>
      </p:sp>
      <p:sp>
        <p:nvSpPr>
          <p:cNvPr id="34" name="Text 31"/>
          <p:cNvSpPr/>
          <p:nvPr/>
        </p:nvSpPr>
        <p:spPr>
          <a:xfrm>
            <a:off x="666620" y="3667302"/>
            <a:ext cx="2095091" cy="523773"/>
          </a:xfrm>
          <a:prstGeom prst="rect">
            <a:avLst/>
          </a:prstGeom>
          <a:noFill/>
        </p:spPr>
        <p:txBody>
          <a:bodyPr wrap="none" lIns="0" tIns="0" rIns="0" bIns="0" rtlCol="0" anchor="ctr"/>
          <a:lstStyle/>
          <a:p>
            <a:pPr algn="l">
              <a:lnSpc>
                <a:spcPct val="120000"/>
              </a:lnSpc>
            </a:pPr>
            <a:r>
              <a:rPr lang="en-US" sz="1350" b="1" dirty="0">
                <a:solidFill>
                  <a:srgbClr val="04579A"/>
                </a:solidFill>
                <a:latin typeface="Arial" panose="020B0604020202020204" pitchFamily="34" charset="0"/>
                <a:ea typeface="Arial" panose="020B0604020202020204" pitchFamily="34" charset="-122"/>
                <a:cs typeface="Arial" panose="020B0604020202020204" pitchFamily="34" charset="-120"/>
                <a:sym typeface="+mn-ea"/>
              </a:rPr>
              <a:t>Authenticated Delegation for AI Agents [35]</a:t>
            </a:r>
            <a:endParaRPr lang="en-US" sz="1350" dirty="0"/>
          </a:p>
        </p:txBody>
      </p:sp>
      <p:sp>
        <p:nvSpPr>
          <p:cNvPr id="35" name="Text 32"/>
          <p:cNvSpPr/>
          <p:nvPr/>
        </p:nvSpPr>
        <p:spPr>
          <a:xfrm>
            <a:off x="4281170" y="3667125"/>
            <a:ext cx="3432810" cy="523875"/>
          </a:xfrm>
          <a:prstGeom prst="rect">
            <a:avLst/>
          </a:prstGeom>
          <a:noFill/>
        </p:spPr>
        <p:txBody>
          <a:bodyPr wrap="square" lIns="0" tIns="0" rIns="0" bIns="0" rtlCol="0" anchor="ctr"/>
          <a:lstStyle/>
          <a:p>
            <a:pPr algn="l">
              <a:lnSpc>
                <a:spcPct val="130000"/>
              </a:lnSpc>
            </a:pPr>
            <a:r>
              <a:rPr lang="en-US" sz="1200" dirty="0">
                <a:solidFill>
                  <a:srgbClr val="333333"/>
                </a:solidFill>
                <a:latin typeface="Arial" panose="020B0604020202020204" pitchFamily="34" charset="0"/>
                <a:ea typeface="Arial" panose="020B0604020202020204" pitchFamily="34" charset="-122"/>
                <a:cs typeface="Arial" panose="020B0604020202020204" pitchFamily="34" charset="-120"/>
                <a:sym typeface="+mn-ea"/>
              </a:rPr>
              <a:t>Agent-ID + Delegation Token</a:t>
            </a:r>
            <a:endParaRPr lang="en-US" sz="1200" dirty="0"/>
          </a:p>
          <a:p>
            <a:pPr algn="l">
              <a:lnSpc>
                <a:spcPct val="130000"/>
              </a:lnSpc>
            </a:pPr>
            <a:r>
              <a:rPr lang="en-US" sz="1200" dirty="0">
                <a:solidFill>
                  <a:srgbClr val="333333"/>
                </a:solidFill>
                <a:latin typeface="Arial" panose="020B0604020202020204" pitchFamily="34" charset="0"/>
                <a:ea typeface="Arial" panose="020B0604020202020204" pitchFamily="34" charset="-122"/>
                <a:cs typeface="Arial" panose="020B0604020202020204" pitchFamily="34" charset="-120"/>
              </a:rPr>
              <a:t>M-TBAC动态授权</a:t>
            </a:r>
            <a:endParaRPr lang="en-US" sz="1200" dirty="0"/>
          </a:p>
        </p:txBody>
      </p:sp>
      <p:sp>
        <p:nvSpPr>
          <p:cNvPr id="36" name="Text 33"/>
          <p:cNvSpPr/>
          <p:nvPr/>
        </p:nvSpPr>
        <p:spPr>
          <a:xfrm>
            <a:off x="7904206" y="3667302"/>
            <a:ext cx="4761570" cy="523773"/>
          </a:xfrm>
          <a:prstGeom prst="rect">
            <a:avLst/>
          </a:prstGeom>
          <a:noFill/>
        </p:spPr>
        <p:txBody>
          <a:bodyPr wrap="square" lIns="0" tIns="0" rIns="0" bIns="0" rtlCol="0" anchor="ctr"/>
          <a:lstStyle/>
          <a:p>
            <a:pPr algn="l">
              <a:lnSpc>
                <a:spcPct val="130000"/>
              </a:lnSpc>
            </a:pPr>
            <a:r>
              <a:rPr lang="en-US" sz="1200" dirty="0">
                <a:solidFill>
                  <a:srgbClr val="EC5F74"/>
                </a:solidFill>
                <a:latin typeface="Arial" panose="020B0604020202020204" pitchFamily="34" charset="0"/>
                <a:ea typeface="Arial" panose="020B0604020202020204" pitchFamily="34" charset="-122"/>
                <a:cs typeface="Arial" panose="020B0604020202020204" pitchFamily="34" charset="-120"/>
              </a:rPr>
              <a:t>LLM可能幻觉策略，静态风险评分不够灵活</a:t>
            </a:r>
            <a:endParaRPr lang="en-US" sz="1200" dirty="0"/>
          </a:p>
        </p:txBody>
      </p:sp>
      <p:sp>
        <p:nvSpPr>
          <p:cNvPr id="37" name="Shape 34"/>
          <p:cNvSpPr/>
          <p:nvPr/>
        </p:nvSpPr>
        <p:spPr>
          <a:xfrm>
            <a:off x="571388" y="4238690"/>
            <a:ext cx="15113223" cy="619004"/>
          </a:xfrm>
          <a:prstGeom prst="rect">
            <a:avLst/>
          </a:prstGeom>
          <a:solidFill>
            <a:srgbClr val="FFFFFF"/>
          </a:solidFill>
        </p:spPr>
      </p:sp>
      <p:sp>
        <p:nvSpPr>
          <p:cNvPr id="41" name="Shape 38"/>
          <p:cNvSpPr/>
          <p:nvPr/>
        </p:nvSpPr>
        <p:spPr>
          <a:xfrm>
            <a:off x="544083" y="4238569"/>
            <a:ext cx="15113223" cy="619004"/>
          </a:xfrm>
          <a:prstGeom prst="rect">
            <a:avLst/>
          </a:prstGeom>
          <a:solidFill>
            <a:srgbClr val="F0F7FC"/>
          </a:solidFill>
        </p:spPr>
      </p:sp>
      <p:sp>
        <p:nvSpPr>
          <p:cNvPr id="42" name="Text 39"/>
          <p:cNvSpPr/>
          <p:nvPr/>
        </p:nvSpPr>
        <p:spPr>
          <a:xfrm>
            <a:off x="639315" y="4286185"/>
            <a:ext cx="2095091" cy="523773"/>
          </a:xfrm>
          <a:prstGeom prst="rect">
            <a:avLst/>
          </a:prstGeom>
          <a:noFill/>
        </p:spPr>
        <p:txBody>
          <a:bodyPr wrap="none" lIns="0" tIns="0" rIns="0" bIns="0" rtlCol="0" anchor="ctr"/>
          <a:lstStyle/>
          <a:p>
            <a:pPr algn="l">
              <a:lnSpc>
                <a:spcPct val="120000"/>
              </a:lnSpc>
            </a:pPr>
            <a:r>
              <a:rPr lang="en-US" sz="1350" b="1" dirty="0">
                <a:solidFill>
                  <a:srgbClr val="04579A"/>
                </a:solidFill>
                <a:latin typeface="Arial" panose="020B0604020202020204" pitchFamily="34" charset="0"/>
                <a:ea typeface="Arial" panose="020B0604020202020204" pitchFamily="34" charset="-122"/>
                <a:cs typeface="Arial" panose="020B0604020202020204" pitchFamily="34" charset="-120"/>
                <a:sym typeface="+mn-ea"/>
              </a:rPr>
              <a:t>Uncertainty-Aware Access Control [38]</a:t>
            </a:r>
            <a:endParaRPr lang="en-US" sz="1350" dirty="0"/>
          </a:p>
        </p:txBody>
      </p:sp>
      <p:sp>
        <p:nvSpPr>
          <p:cNvPr id="43" name="Text 40"/>
          <p:cNvSpPr/>
          <p:nvPr/>
        </p:nvSpPr>
        <p:spPr>
          <a:xfrm>
            <a:off x="4248150" y="4857750"/>
            <a:ext cx="3416935" cy="523875"/>
          </a:xfrm>
          <a:prstGeom prst="rect">
            <a:avLst/>
          </a:prstGeom>
          <a:noFill/>
        </p:spPr>
        <p:txBody>
          <a:bodyPr wrap="square" lIns="0" tIns="0" rIns="0" bIns="0" rtlCol="0" anchor="ctr"/>
          <a:lstStyle/>
          <a:p>
            <a:pPr algn="l">
              <a:lnSpc>
                <a:spcPct val="130000"/>
              </a:lnSpc>
            </a:pPr>
            <a:r>
              <a:rPr lang="en-US" sz="1200" dirty="0">
                <a:solidFill>
                  <a:srgbClr val="333333"/>
                </a:solidFill>
                <a:latin typeface="Arial" panose="020B0604020202020204" pitchFamily="34" charset="0"/>
                <a:ea typeface="Arial" panose="020B0604020202020204" pitchFamily="34" charset="-122"/>
                <a:cs typeface="Arial" panose="020B0604020202020204" pitchFamily="34" charset="-120"/>
              </a:rPr>
              <a:t>工具调用前确定性预授权，53ms延迟</a:t>
            </a:r>
            <a:endParaRPr lang="en-US" sz="1200" dirty="0"/>
          </a:p>
        </p:txBody>
      </p:sp>
      <p:sp>
        <p:nvSpPr>
          <p:cNvPr id="44" name="Text 41"/>
          <p:cNvSpPr/>
          <p:nvPr/>
        </p:nvSpPr>
        <p:spPr>
          <a:xfrm>
            <a:off x="7876901" y="4286185"/>
            <a:ext cx="4761570" cy="523773"/>
          </a:xfrm>
          <a:prstGeom prst="rect">
            <a:avLst/>
          </a:prstGeom>
          <a:noFill/>
        </p:spPr>
        <p:txBody>
          <a:bodyPr wrap="square" lIns="0" tIns="0" rIns="0" bIns="0" rtlCol="0" anchor="ctr"/>
          <a:lstStyle/>
          <a:p>
            <a:pPr algn="l">
              <a:lnSpc>
                <a:spcPct val="130000"/>
              </a:lnSpc>
            </a:pPr>
            <a:r>
              <a:rPr lang="en-US" sz="1200" dirty="0">
                <a:solidFill>
                  <a:srgbClr val="EC5F74"/>
                </a:solidFill>
                <a:latin typeface="Arial" panose="020B0604020202020204" pitchFamily="34" charset="0"/>
                <a:ea typeface="Arial" panose="020B0604020202020204" pitchFamily="34" charset="-122"/>
                <a:cs typeface="Arial" panose="020B0604020202020204" pitchFamily="34" charset="-120"/>
              </a:rPr>
              <a:t>仅覆盖单工具层面，未解决跨工具参数级约束</a:t>
            </a:r>
            <a:endParaRPr lang="en-US" sz="1200" dirty="0"/>
          </a:p>
        </p:txBody>
      </p:sp>
      <p:sp>
        <p:nvSpPr>
          <p:cNvPr id="46" name="Text 43"/>
          <p:cNvSpPr/>
          <p:nvPr/>
        </p:nvSpPr>
        <p:spPr>
          <a:xfrm>
            <a:off x="639315" y="4905068"/>
            <a:ext cx="2095091" cy="523773"/>
          </a:xfrm>
          <a:prstGeom prst="rect">
            <a:avLst/>
          </a:prstGeom>
          <a:noFill/>
        </p:spPr>
        <p:txBody>
          <a:bodyPr wrap="none" lIns="0" tIns="0" rIns="0" bIns="0" rtlCol="0" anchor="ctr"/>
          <a:lstStyle/>
          <a:p>
            <a:pPr algn="l">
              <a:lnSpc>
                <a:spcPct val="120000"/>
              </a:lnSpc>
            </a:pPr>
            <a:r>
              <a:rPr lang="en-US" sz="1350" b="1" dirty="0">
                <a:solidFill>
                  <a:srgbClr val="04579A"/>
                </a:solidFill>
                <a:latin typeface="Arial" panose="020B0604020202020204" pitchFamily="34" charset="0"/>
                <a:ea typeface="Arial" panose="020B0604020202020204" pitchFamily="34" charset="-122"/>
                <a:cs typeface="Arial" panose="020B0604020202020204" pitchFamily="34" charset="-120"/>
                <a:sym typeface="+mn-ea"/>
              </a:rPr>
              <a:t>Deterministic Pre-Action Auth [37]</a:t>
            </a:r>
            <a:endParaRPr lang="en-US" sz="1350" dirty="0"/>
          </a:p>
        </p:txBody>
      </p:sp>
      <p:sp>
        <p:nvSpPr>
          <p:cNvPr id="47" name="Text 44"/>
          <p:cNvSpPr/>
          <p:nvPr/>
        </p:nvSpPr>
        <p:spPr>
          <a:xfrm>
            <a:off x="4257675" y="4286250"/>
            <a:ext cx="3393440" cy="523875"/>
          </a:xfrm>
          <a:prstGeom prst="rect">
            <a:avLst/>
          </a:prstGeom>
          <a:noFill/>
        </p:spPr>
        <p:txBody>
          <a:bodyPr wrap="square" lIns="0" tIns="0" rIns="0" bIns="0" rtlCol="0" anchor="ctr"/>
          <a:lstStyle/>
          <a:p>
            <a:pPr algn="l">
              <a:lnSpc>
                <a:spcPct val="130000"/>
              </a:lnSpc>
            </a:pPr>
            <a:r>
              <a:rPr lang="en-US" sz="1200" dirty="0">
                <a:solidFill>
                  <a:srgbClr val="333333"/>
                </a:solidFill>
                <a:latin typeface="Arial" panose="020B0604020202020204" pitchFamily="34" charset="0"/>
                <a:ea typeface="Arial" panose="020B0604020202020204" pitchFamily="34" charset="-122"/>
                <a:cs typeface="Arial" panose="020B0604020202020204" pitchFamily="34" charset="-120"/>
              </a:rPr>
              <a:t>自动化权限预测：LLM+CF混合模型，85.1%准确率</a:t>
            </a:r>
            <a:endParaRPr lang="en-US" sz="1200" dirty="0"/>
          </a:p>
        </p:txBody>
      </p:sp>
      <p:sp>
        <p:nvSpPr>
          <p:cNvPr id="48" name="Text 45"/>
          <p:cNvSpPr/>
          <p:nvPr/>
        </p:nvSpPr>
        <p:spPr>
          <a:xfrm>
            <a:off x="7876901" y="4905068"/>
            <a:ext cx="4761570" cy="523773"/>
          </a:xfrm>
          <a:prstGeom prst="rect">
            <a:avLst/>
          </a:prstGeom>
          <a:noFill/>
        </p:spPr>
        <p:txBody>
          <a:bodyPr wrap="square" lIns="0" tIns="0" rIns="0" bIns="0" rtlCol="0" anchor="ctr"/>
          <a:lstStyle/>
          <a:p>
            <a:pPr algn="l">
              <a:lnSpc>
                <a:spcPct val="130000"/>
              </a:lnSpc>
            </a:pPr>
            <a:r>
              <a:rPr lang="en-US" sz="1200" dirty="0">
                <a:solidFill>
                  <a:srgbClr val="EC5F74"/>
                </a:solidFill>
                <a:latin typeface="Arial" panose="020B0604020202020204" pitchFamily="34" charset="0"/>
                <a:ea typeface="Arial" panose="020B0604020202020204" pitchFamily="34" charset="-122"/>
                <a:cs typeface="Arial" panose="020B0604020202020204" pitchFamily="34" charset="-120"/>
              </a:rPr>
              <a:t>预测模型而非确定性策略，低置信度需人工介入</a:t>
            </a:r>
            <a:endParaRPr lang="en-US" sz="1200" dirty="0"/>
          </a:p>
        </p:txBody>
      </p:sp>
      <p:sp>
        <p:nvSpPr>
          <p:cNvPr id="49" name="Shape 46"/>
          <p:cNvSpPr/>
          <p:nvPr/>
        </p:nvSpPr>
        <p:spPr>
          <a:xfrm>
            <a:off x="544083" y="5476457"/>
            <a:ext cx="15113223" cy="619004"/>
          </a:xfrm>
          <a:prstGeom prst="rect">
            <a:avLst/>
          </a:prstGeom>
          <a:solidFill>
            <a:srgbClr val="FFFFFF"/>
          </a:solidFill>
        </p:spPr>
      </p:sp>
      <p:sp>
        <p:nvSpPr>
          <p:cNvPr id="50" name="Text 47"/>
          <p:cNvSpPr/>
          <p:nvPr/>
        </p:nvSpPr>
        <p:spPr>
          <a:xfrm>
            <a:off x="639315" y="5524072"/>
            <a:ext cx="2095091" cy="523773"/>
          </a:xfrm>
          <a:prstGeom prst="rect">
            <a:avLst/>
          </a:prstGeom>
          <a:noFill/>
        </p:spPr>
        <p:txBody>
          <a:bodyPr wrap="none" lIns="0" tIns="0" rIns="0" bIns="0" rtlCol="0" anchor="ctr"/>
          <a:lstStyle/>
          <a:p>
            <a:pPr algn="l">
              <a:lnSpc>
                <a:spcPct val="120000"/>
              </a:lnSpc>
            </a:pPr>
            <a:r>
              <a:rPr lang="en-US" sz="1350" b="1" dirty="0">
                <a:solidFill>
                  <a:srgbClr val="04579A"/>
                </a:solidFill>
                <a:latin typeface="Arial" panose="020B0604020202020204" pitchFamily="34" charset="0"/>
                <a:ea typeface="Arial" panose="020B0604020202020204" pitchFamily="34" charset="-122"/>
                <a:cs typeface="Arial" panose="020B0604020202020204" pitchFamily="34" charset="-120"/>
                <a:sym typeface="+mn-ea"/>
              </a:rPr>
              <a:t>Authorization Propagation [40]</a:t>
            </a:r>
            <a:endParaRPr lang="en-US" sz="1350" dirty="0"/>
          </a:p>
        </p:txBody>
      </p:sp>
      <p:sp>
        <p:nvSpPr>
          <p:cNvPr id="51" name="Text 48"/>
          <p:cNvSpPr/>
          <p:nvPr/>
        </p:nvSpPr>
        <p:spPr>
          <a:xfrm>
            <a:off x="4257675" y="5523865"/>
            <a:ext cx="3466465" cy="523875"/>
          </a:xfrm>
          <a:prstGeom prst="rect">
            <a:avLst/>
          </a:prstGeom>
          <a:noFill/>
        </p:spPr>
        <p:txBody>
          <a:bodyPr wrap="square" lIns="0" tIns="0" rIns="0" bIns="0" rtlCol="0" anchor="ctr"/>
          <a:lstStyle/>
          <a:p>
            <a:pPr algn="l">
              <a:lnSpc>
                <a:spcPct val="130000"/>
              </a:lnSpc>
            </a:pPr>
            <a:r>
              <a:rPr lang="en-US" sz="1200" dirty="0">
                <a:solidFill>
                  <a:srgbClr val="333333"/>
                </a:solidFill>
                <a:latin typeface="Arial" panose="020B0604020202020204" pitchFamily="34" charset="0"/>
                <a:ea typeface="Arial" panose="020B0604020202020204" pitchFamily="34" charset="-122"/>
                <a:cs typeface="Arial" panose="020B0604020202020204" pitchFamily="34" charset="-120"/>
              </a:rPr>
              <a:t>授权传播形式化分析，七项结构要求</a:t>
            </a:r>
            <a:endParaRPr lang="en-US" sz="1200" dirty="0"/>
          </a:p>
        </p:txBody>
      </p:sp>
      <p:sp>
        <p:nvSpPr>
          <p:cNvPr id="52" name="Text 49"/>
          <p:cNvSpPr/>
          <p:nvPr/>
        </p:nvSpPr>
        <p:spPr>
          <a:xfrm>
            <a:off x="7876901" y="5524072"/>
            <a:ext cx="4761570" cy="523773"/>
          </a:xfrm>
          <a:prstGeom prst="rect">
            <a:avLst/>
          </a:prstGeom>
          <a:noFill/>
        </p:spPr>
        <p:txBody>
          <a:bodyPr wrap="square" lIns="0" tIns="0" rIns="0" bIns="0" rtlCol="0" anchor="ctr"/>
          <a:lstStyle/>
          <a:p>
            <a:pPr algn="l">
              <a:lnSpc>
                <a:spcPct val="130000"/>
              </a:lnSpc>
            </a:pPr>
            <a:r>
              <a:rPr lang="en-US" sz="1200" dirty="0">
                <a:solidFill>
                  <a:srgbClr val="EC5F74"/>
                </a:solidFill>
                <a:latin typeface="Arial" panose="020B0604020202020204" pitchFamily="34" charset="0"/>
                <a:ea typeface="Arial" panose="020B0604020202020204" pitchFamily="34" charset="-122"/>
                <a:cs typeface="Arial" panose="020B0604020202020204" pitchFamily="34" charset="-120"/>
              </a:rPr>
              <a:t>仅提出框架性要求，未给出具体协议设计</a:t>
            </a:r>
            <a:endParaRPr lang="en-US" sz="1200" dirty="0"/>
          </a:p>
        </p:txBody>
      </p:sp>
      <p:sp>
        <p:nvSpPr>
          <p:cNvPr id="53" name="Shape 50"/>
          <p:cNvSpPr/>
          <p:nvPr/>
        </p:nvSpPr>
        <p:spPr>
          <a:xfrm>
            <a:off x="544343" y="7524173"/>
            <a:ext cx="15113223" cy="1333240"/>
          </a:xfrm>
          <a:prstGeom prst="roundRect">
            <a:avLst>
              <a:gd name="adj" fmla="val 2000"/>
            </a:avLst>
          </a:prstGeom>
          <a:solidFill>
            <a:srgbClr val="FFF3E0"/>
          </a:solidFill>
        </p:spPr>
      </p:sp>
      <p:sp>
        <p:nvSpPr>
          <p:cNvPr id="54" name="Text 51"/>
          <p:cNvSpPr/>
          <p:nvPr/>
        </p:nvSpPr>
        <p:spPr>
          <a:xfrm>
            <a:off x="857083" y="7667021"/>
            <a:ext cx="14541835" cy="1047545"/>
          </a:xfrm>
          <a:prstGeom prst="rect">
            <a:avLst/>
          </a:prstGeom>
          <a:noFill/>
        </p:spPr>
        <p:txBody>
          <a:bodyPr wrap="square" lIns="0" tIns="0" rIns="0" bIns="0" rtlCol="0" anchor="t"/>
          <a:lstStyle/>
          <a:p>
            <a:pPr algn="l">
              <a:lnSpc>
                <a:spcPct val="160000"/>
              </a:lnSpc>
            </a:pPr>
            <a:r>
              <a:rPr lang="en-US" b="1" dirty="0">
                <a:solidFill>
                  <a:srgbClr val="333333"/>
                </a:solidFill>
                <a:latin typeface="Arial" panose="020B0604020202020204" pitchFamily="34" charset="0"/>
                <a:ea typeface="Arial" panose="020B0604020202020204" pitchFamily="34" charset="-122"/>
                <a:cs typeface="Arial" panose="020B0604020202020204" pitchFamily="34" charset="-120"/>
              </a:rPr>
              <a:t>核心缺口：</a:t>
            </a:r>
            <a:r>
              <a:rPr lang="en-US" dirty="0">
                <a:solidFill>
                  <a:srgbClr val="333333"/>
                </a:solidFill>
                <a:latin typeface="Arial" panose="020B0604020202020204" pitchFamily="34" charset="0"/>
                <a:ea typeface="Arial" panose="020B0604020202020204" pitchFamily="34" charset="-122"/>
                <a:cs typeface="Arial" panose="020B0604020202020204" pitchFamily="34" charset="-120"/>
              </a:rPr>
              <a:t>现有工作均未同时满足 (1) 操作参数级精确授权  (2) 任务上下文条件感知  (3) 多智能体顺序授权约束</a:t>
            </a:r>
            <a:endParaRPr lang="en-US" dirty="0"/>
          </a:p>
          <a:p>
            <a:pPr algn="l">
              <a:lnSpc>
                <a:spcPct val="160000"/>
              </a:lnSpc>
            </a:pPr>
            <a:r>
              <a:rPr lang="en-US" dirty="0">
                <a:solidFill>
                  <a:srgbClr val="333333"/>
                </a:solidFill>
                <a:latin typeface="Arial" panose="020B0604020202020204" pitchFamily="34" charset="0"/>
                <a:ea typeface="Arial" panose="020B0604020202020204" pitchFamily="34" charset="-122"/>
                <a:cs typeface="Arial" panose="020B0604020202020204" pitchFamily="34" charset="-120"/>
              </a:rPr>
              <a:t>本课题旨在设计面向复杂任务的智能体授权协议，填补上述三项不足</a:t>
            </a:r>
            <a:endParaRPr lang="en-US" dirty="0"/>
          </a:p>
        </p:txBody>
      </p:sp>
      <p:sp>
        <p:nvSpPr>
          <p:cNvPr id="55" name="Text 52"/>
          <p:cNvSpPr/>
          <p:nvPr/>
        </p:nvSpPr>
        <p:spPr>
          <a:xfrm>
            <a:off x="15237024" y="8666950"/>
            <a:ext cx="761851" cy="380926"/>
          </a:xfrm>
          <a:prstGeom prst="rect">
            <a:avLst/>
          </a:prstGeom>
          <a:noFill/>
        </p:spPr>
        <p:txBody>
          <a:bodyPr wrap="none" lIns="0" tIns="0" rIns="0" bIns="0" rtlCol="0" anchor="ctr"/>
          <a:lstStyle/>
          <a:p>
            <a:pPr algn="r">
              <a:lnSpc>
                <a:spcPct val="120000"/>
              </a:lnSpc>
            </a:pPr>
            <a:r>
              <a:rPr lang="en-US" sz="2100" dirty="0">
                <a:solidFill>
                  <a:srgbClr val="666666"/>
                </a:solidFill>
                <a:latin typeface="Arial" panose="020B0604020202020204" pitchFamily="34" charset="0"/>
                <a:ea typeface="Arial" panose="020B0604020202020204" pitchFamily="34" charset="-122"/>
                <a:cs typeface="Arial" panose="020B0604020202020204" pitchFamily="34" charset="-120"/>
              </a:rPr>
              <a:t>13</a:t>
            </a:r>
            <a:endParaRPr lang="en-US" sz="21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2219960" y="0"/>
            <a:ext cx="2895600" cy="965200"/>
          </a:xfrm>
          <a:prstGeom prst="rect">
            <a:avLst/>
          </a:prstGeom>
          <a:solidFill>
            <a:srgbClr val="F2F2F2"/>
          </a:solidFill>
        </p:spPr>
      </p:sp>
      <p:sp>
        <p:nvSpPr>
          <p:cNvPr id="4" name="Shape 1"/>
          <p:cNvSpPr/>
          <p:nvPr/>
        </p:nvSpPr>
        <p:spPr>
          <a:xfrm>
            <a:off x="5162169" y="0"/>
            <a:ext cx="2590800" cy="965200"/>
          </a:xfrm>
          <a:prstGeom prst="rect">
            <a:avLst/>
          </a:prstGeom>
          <a:solidFill>
            <a:srgbClr val="F2F2F2"/>
          </a:solidFill>
        </p:spPr>
      </p:sp>
      <p:sp>
        <p:nvSpPr>
          <p:cNvPr id="5" name="Shape 2"/>
          <p:cNvSpPr/>
          <p:nvPr/>
        </p:nvSpPr>
        <p:spPr>
          <a:xfrm>
            <a:off x="11971020" y="0"/>
            <a:ext cx="4284980" cy="965200"/>
          </a:xfrm>
          <a:prstGeom prst="rect">
            <a:avLst/>
          </a:prstGeom>
          <a:solidFill>
            <a:srgbClr val="F2F2F2"/>
          </a:solidFill>
        </p:spPr>
      </p:sp>
      <p:sp>
        <p:nvSpPr>
          <p:cNvPr id="6" name="Shape 3"/>
          <p:cNvSpPr/>
          <p:nvPr/>
        </p:nvSpPr>
        <p:spPr>
          <a:xfrm>
            <a:off x="7816469" y="0"/>
            <a:ext cx="4114800" cy="965200"/>
          </a:xfrm>
          <a:prstGeom prst="rect">
            <a:avLst/>
          </a:prstGeom>
          <a:solidFill>
            <a:srgbClr val="04579A"/>
          </a:solidFill>
        </p:spPr>
      </p:sp>
      <p:sp>
        <p:nvSpPr>
          <p:cNvPr id="7" name="Text 4"/>
          <p:cNvSpPr/>
          <p:nvPr/>
        </p:nvSpPr>
        <p:spPr>
          <a:xfrm>
            <a:off x="2283460" y="203200"/>
            <a:ext cx="2768600" cy="508000"/>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选题背景及意义</a:t>
            </a:r>
            <a:endParaRPr lang="en-US" sz="2000" dirty="0"/>
          </a:p>
        </p:txBody>
      </p:sp>
      <p:sp>
        <p:nvSpPr>
          <p:cNvPr id="8" name="Text 5"/>
          <p:cNvSpPr/>
          <p:nvPr/>
        </p:nvSpPr>
        <p:spPr>
          <a:xfrm>
            <a:off x="5225669" y="203200"/>
            <a:ext cx="2463800" cy="508000"/>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国内外研究现状</a:t>
            </a:r>
            <a:endParaRPr lang="en-US" sz="2000" dirty="0"/>
          </a:p>
        </p:txBody>
      </p:sp>
      <p:sp>
        <p:nvSpPr>
          <p:cNvPr id="9" name="Text 6"/>
          <p:cNvSpPr/>
          <p:nvPr/>
        </p:nvSpPr>
        <p:spPr>
          <a:xfrm>
            <a:off x="7879969" y="203200"/>
            <a:ext cx="3987800" cy="508000"/>
          </a:xfrm>
          <a:prstGeom prst="rect">
            <a:avLst/>
          </a:prstGeom>
          <a:noFill/>
        </p:spPr>
        <p:txBody>
          <a:bodyPr wrap="none" lIns="0" tIns="0" rIns="0" bIns="0" rtlCol="0" anchor="ctr"/>
          <a:lstStyle/>
          <a:p>
            <a:pPr algn="ctr">
              <a:lnSpc>
                <a:spcPct val="120000"/>
              </a:lnSpc>
            </a:pPr>
            <a:r>
              <a:rPr lang="en-US" sz="2000" dirty="0">
                <a:solidFill>
                  <a:srgbClr val="FFFFFF"/>
                </a:solidFill>
                <a:latin typeface="Arial" panose="020B0604020202020204" pitchFamily="34" charset="0"/>
                <a:ea typeface="Arial" panose="020B0604020202020204" pitchFamily="34" charset="-122"/>
                <a:cs typeface="Arial" panose="020B0604020202020204" pitchFamily="34" charset="-120"/>
              </a:rPr>
              <a:t>主要研究内容及预期目标</a:t>
            </a:r>
            <a:endParaRPr lang="en-US" sz="2000" dirty="0"/>
          </a:p>
        </p:txBody>
      </p:sp>
      <p:sp>
        <p:nvSpPr>
          <p:cNvPr id="10" name="Text 7"/>
          <p:cNvSpPr/>
          <p:nvPr/>
        </p:nvSpPr>
        <p:spPr>
          <a:xfrm>
            <a:off x="12034520" y="203200"/>
            <a:ext cx="4157980" cy="508000"/>
          </a:xfrm>
          <a:prstGeom prst="rect">
            <a:avLst/>
          </a:prstGeom>
          <a:noFill/>
        </p:spPr>
        <p:txBody>
          <a:bodyPr wrap="none" lIns="0" tIns="0" rIns="0" bIns="0" rtlCol="0" anchor="ctr"/>
          <a:lstStyle/>
          <a:p>
            <a:pPr algn="ctr">
              <a:lnSpc>
                <a:spcPct val="120000"/>
              </a:lnSpc>
            </a:pPr>
            <a:r>
              <a:rPr lang="en-US" sz="2000" dirty="0">
                <a:solidFill>
                  <a:srgbClr val="333333"/>
                </a:solidFill>
                <a:latin typeface="Arial" panose="020B0604020202020204" pitchFamily="34" charset="0"/>
                <a:ea typeface="Arial" panose="020B0604020202020204" pitchFamily="34" charset="-122"/>
                <a:cs typeface="Arial" panose="020B0604020202020204" pitchFamily="34" charset="-120"/>
              </a:rPr>
              <a:t>工作计划与进度安排</a:t>
            </a:r>
            <a:endParaRPr lang="en-US" sz="2000" dirty="0"/>
          </a:p>
        </p:txBody>
      </p:sp>
      <p:sp>
        <p:nvSpPr>
          <p:cNvPr id="11" name="Shape 8"/>
          <p:cNvSpPr/>
          <p:nvPr/>
        </p:nvSpPr>
        <p:spPr>
          <a:xfrm rot="10800000">
            <a:off x="9683369" y="965200"/>
            <a:ext cx="381000" cy="304800"/>
          </a:xfrm>
          <a:prstGeom prst="triangle">
            <a:avLst>
              <a:gd name="adj" fmla="val 50000"/>
            </a:avLst>
          </a:prstGeom>
          <a:solidFill>
            <a:srgbClr val="04579A"/>
          </a:solidFill>
        </p:spPr>
      </p:sp>
      <p:pic>
        <p:nvPicPr>
          <p:cNvPr id="12" name="Image 0" descr="https://kimi-img.moonshot.cn/pub/slides/okc/flfuysioo4gzm/mnt/agents/output/new_pptd/images/image_2.jpg"/>
          <p:cNvPicPr>
            <a:picLocks noChangeAspect="1"/>
          </p:cNvPicPr>
          <p:nvPr/>
        </p:nvPicPr>
        <p:blipFill>
          <a:blip r:embed="rId1"/>
          <a:srcRect l="5060" r="29000"/>
          <a:stretch>
            <a:fillRect/>
          </a:stretch>
        </p:blipFill>
        <p:spPr>
          <a:xfrm>
            <a:off x="544449" y="140589"/>
            <a:ext cx="1273429" cy="745871"/>
          </a:xfrm>
          <a:prstGeom prst="rect">
            <a:avLst/>
          </a:prstGeom>
        </p:spPr>
      </p:pic>
      <p:sp>
        <p:nvSpPr>
          <p:cNvPr id="13" name="Shape 9"/>
          <p:cNvSpPr/>
          <p:nvPr>
            <p:custDataLst>
              <p:tags r:id="rId2"/>
            </p:custDataLst>
          </p:nvPr>
        </p:nvSpPr>
        <p:spPr>
          <a:xfrm>
            <a:off x="5586730" y="2680970"/>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4" name="Shape 10"/>
          <p:cNvSpPr/>
          <p:nvPr>
            <p:custDataLst>
              <p:tags r:id="rId3"/>
            </p:custDataLst>
          </p:nvPr>
        </p:nvSpPr>
        <p:spPr>
          <a:xfrm>
            <a:off x="5586730" y="4102481"/>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5" name="Shape 11"/>
          <p:cNvSpPr/>
          <p:nvPr>
            <p:custDataLst>
              <p:tags r:id="rId4"/>
            </p:custDataLst>
          </p:nvPr>
        </p:nvSpPr>
        <p:spPr>
          <a:xfrm>
            <a:off x="5586730" y="5412359"/>
            <a:ext cx="474091" cy="694309"/>
          </a:xfrm>
          <a:prstGeom prst="rightArrow">
            <a:avLst>
              <a:gd name="adj1" fmla="val 50000"/>
              <a:gd name="adj2" fmla="val 50000"/>
            </a:avLst>
          </a:prstGeom>
          <a:solidFill>
            <a:srgbClr val="FFFFFF"/>
          </a:solidFill>
          <a:ln w="12700">
            <a:solidFill>
              <a:srgbClr val="04579A"/>
            </a:solidFill>
            <a:prstDash val="solid"/>
          </a:ln>
        </p:spPr>
      </p:sp>
      <p:sp>
        <p:nvSpPr>
          <p:cNvPr id="16" name="Text 12"/>
          <p:cNvSpPr/>
          <p:nvPr>
            <p:custDataLst>
              <p:tags r:id="rId5"/>
            </p:custDataLst>
          </p:nvPr>
        </p:nvSpPr>
        <p:spPr>
          <a:xfrm>
            <a:off x="6592570" y="2761361"/>
            <a:ext cx="8409559" cy="531749"/>
          </a:xfrm>
          <a:prstGeom prst="rect">
            <a:avLst/>
          </a:prstGeom>
          <a:noFill/>
        </p:spPr>
        <p:txBody>
          <a:bodyPr wrap="square" lIns="0" tIns="0" rIns="0" bIns="0" rtlCol="0" anchor="t"/>
          <a:lstStyle/>
          <a:p>
            <a:pPr algn="l">
              <a:lnSpc>
                <a:spcPct val="120000"/>
              </a:lnSpc>
            </a:pPr>
            <a:r>
              <a:rPr lang="en-US" sz="2670" b="1" dirty="0">
                <a:solidFill>
                  <a:srgbClr val="04579A"/>
                </a:solidFill>
                <a:latin typeface="Arial" panose="020B0604020202020204" pitchFamily="34" charset="0"/>
                <a:ea typeface="Arial" panose="020B0604020202020204" pitchFamily="34" charset="-122"/>
                <a:cs typeface="Arial" panose="020B0604020202020204" pitchFamily="34" charset="-120"/>
              </a:rPr>
              <a:t>基于操作参数约束需求的智能体授权协议设计</a:t>
            </a: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7" name="Text 13"/>
          <p:cNvSpPr/>
          <p:nvPr>
            <p:custDataLst>
              <p:tags r:id="rId6"/>
            </p:custDataLst>
          </p:nvPr>
        </p:nvSpPr>
        <p:spPr>
          <a:xfrm>
            <a:off x="6592570" y="4217670"/>
            <a:ext cx="8741791" cy="531749"/>
          </a:xfrm>
          <a:prstGeom prst="rect">
            <a:avLst/>
          </a:prstGeom>
          <a:noFill/>
        </p:spPr>
        <p:txBody>
          <a:bodyPr wrap="square" lIns="0" tIns="0" rIns="0" bIns="0" rtlCol="0" anchor="t"/>
          <a:lstStyle/>
          <a:p>
            <a:pPr algn="l">
              <a:lnSpc>
                <a:spcPct val="120000"/>
              </a:lnSpc>
            </a:pPr>
            <a:r>
              <a:rPr lang="en-US" sz="2670" b="1" dirty="0">
                <a:solidFill>
                  <a:srgbClr val="04579A"/>
                </a:solidFill>
                <a:latin typeface="Arial" panose="020B0604020202020204" pitchFamily="34" charset="0"/>
                <a:ea typeface="Arial" panose="020B0604020202020204" pitchFamily="34" charset="-122"/>
                <a:cs typeface="Arial" panose="020B0604020202020204" pitchFamily="34" charset="-120"/>
              </a:rPr>
              <a:t>基于顺序执行约束需求的智能体授权协议设计</a:t>
            </a:r>
            <a:r>
              <a:rPr lang="en-US" sz="2670" b="1" dirty="0">
                <a:solidFill>
                  <a:srgbClr val="04579A"/>
                </a:solidFill>
                <a:latin typeface="MiSans" pitchFamily="34" charset="0"/>
                <a:ea typeface="MiSans" pitchFamily="34" charset="-122"/>
                <a:cs typeface="MiSans" pitchFamily="34" charset="-120"/>
              </a:rPr>
              <a:t>	</a:t>
            </a:r>
            <a:endParaRPr lang="en-US" sz="2670" dirty="0"/>
          </a:p>
        </p:txBody>
      </p:sp>
      <p:sp>
        <p:nvSpPr>
          <p:cNvPr id="18" name="Text 14"/>
          <p:cNvSpPr/>
          <p:nvPr>
            <p:custDataLst>
              <p:tags r:id="rId7"/>
            </p:custDataLst>
          </p:nvPr>
        </p:nvSpPr>
        <p:spPr>
          <a:xfrm>
            <a:off x="6592570" y="5513832"/>
            <a:ext cx="8921369" cy="531749"/>
          </a:xfrm>
          <a:prstGeom prst="rect">
            <a:avLst/>
          </a:prstGeom>
          <a:noFill/>
        </p:spPr>
        <p:txBody>
          <a:bodyPr wrap="square" lIns="0" tIns="0" rIns="0" bIns="0" rtlCol="0" anchor="t"/>
          <a:lstStyle/>
          <a:p>
            <a:pPr algn="l">
              <a:lnSpc>
                <a:spcPct val="120000"/>
              </a:lnSpc>
            </a:pPr>
            <a:r>
              <a:rPr lang="en-US" sz="2670" b="1" dirty="0">
                <a:solidFill>
                  <a:srgbClr val="04579A"/>
                </a:solidFill>
                <a:latin typeface="Arial" panose="020B0604020202020204" pitchFamily="34" charset="0"/>
                <a:ea typeface="Arial" panose="020B0604020202020204" pitchFamily="34" charset="-122"/>
                <a:cs typeface="Arial" panose="020B0604020202020204" pitchFamily="34" charset="-120"/>
              </a:rPr>
              <a:t>基于复杂任务授权需求的智能体授权协议应用实现</a:t>
            </a:r>
            <a:endParaRPr lang="en-US" sz="2670" dirty="0"/>
          </a:p>
        </p:txBody>
      </p:sp>
      <p:sp>
        <p:nvSpPr>
          <p:cNvPr id="19" name="Text 15"/>
          <p:cNvSpPr/>
          <p:nvPr>
            <p:custDataLst>
              <p:tags r:id="rId8"/>
            </p:custDataLst>
          </p:nvPr>
        </p:nvSpPr>
        <p:spPr>
          <a:xfrm>
            <a:off x="743839" y="2556129"/>
            <a:ext cx="4312920" cy="942340"/>
          </a:xfrm>
          <a:prstGeom prst="rect">
            <a:avLst/>
          </a:prstGeom>
          <a:noFill/>
        </p:spPr>
        <p:txBody>
          <a:bodyPr wrap="square" lIns="0" tIns="0" rIns="0" bIns="0" rtlCol="0" anchor="t"/>
          <a:lstStyle/>
          <a:p>
            <a:pPr marL="424180" indent="-424180" algn="ctr">
              <a:lnSpc>
                <a:spcPct val="120000"/>
              </a:lnSpc>
              <a:spcBef>
                <a:spcPts val="10"/>
              </a:spcBef>
              <a:buSzPct val="100000"/>
              <a:buFont typeface="+mj-lt"/>
              <a:buAutoNum type="arabicPeriod"/>
            </a:pPr>
            <a:r>
              <a:rPr lang="en-US" sz="2670" b="1" dirty="0">
                <a:solidFill>
                  <a:srgbClr val="262626"/>
                </a:solidFill>
                <a:latin typeface="MiSans" pitchFamily="34" charset="0"/>
                <a:ea typeface="MiSans" pitchFamily="34" charset="-122"/>
                <a:cs typeface="MiSans" pitchFamily="34" charset="-120"/>
              </a:rPr>
              <a:t>复杂任务场景下的智能体授权</a:t>
            </a:r>
            <a:r>
              <a:rPr lang="en-US" sz="2670" b="1" dirty="0">
                <a:solidFill>
                  <a:srgbClr val="262626"/>
                </a:solidFill>
                <a:latin typeface="MiSans" pitchFamily="34" charset="0"/>
                <a:ea typeface="MiSans" pitchFamily="34" charset="-122"/>
                <a:cs typeface="MiSans" pitchFamily="34" charset="-120"/>
              </a:rPr>
              <a:t>粒度</a:t>
            </a:r>
            <a:endParaRPr lang="en-US" sz="2670" dirty="0"/>
          </a:p>
        </p:txBody>
      </p:sp>
      <p:sp>
        <p:nvSpPr>
          <p:cNvPr id="20" name="Text 16"/>
          <p:cNvSpPr/>
          <p:nvPr>
            <p:custDataLst>
              <p:tags r:id="rId9"/>
            </p:custDataLst>
          </p:nvPr>
        </p:nvSpPr>
        <p:spPr>
          <a:xfrm>
            <a:off x="742061" y="3940937"/>
            <a:ext cx="4314571" cy="942340"/>
          </a:xfrm>
          <a:prstGeom prst="rect">
            <a:avLst/>
          </a:prstGeom>
          <a:noFill/>
        </p:spPr>
        <p:txBody>
          <a:bodyPr wrap="square" lIns="0" tIns="0" rIns="0" bIns="0" rtlCol="0" anchor="t"/>
          <a:lstStyle/>
          <a:p>
            <a:pPr algn="ctr">
              <a:lnSpc>
                <a:spcPct val="120000"/>
              </a:lnSpc>
            </a:pPr>
            <a:r>
              <a:rPr lang="en-US" sz="2670" b="1" dirty="0">
                <a:solidFill>
                  <a:srgbClr val="262626"/>
                </a:solidFill>
                <a:latin typeface="MiSans" pitchFamily="34" charset="0"/>
                <a:ea typeface="MiSans" pitchFamily="34" charset="-122"/>
                <a:cs typeface="MiSans" pitchFamily="34" charset="-120"/>
              </a:rPr>
              <a:t>2. 复杂任务场景下的智能体上下文感知</a:t>
            </a:r>
            <a:endParaRPr lang="en-US" sz="2670" dirty="0"/>
          </a:p>
        </p:txBody>
      </p:sp>
      <p:sp>
        <p:nvSpPr>
          <p:cNvPr id="21" name="Text 17"/>
          <p:cNvSpPr/>
          <p:nvPr>
            <p:custDataLst>
              <p:tags r:id="rId10"/>
            </p:custDataLst>
          </p:nvPr>
        </p:nvSpPr>
        <p:spPr>
          <a:xfrm>
            <a:off x="742061" y="5364861"/>
            <a:ext cx="4316349" cy="942340"/>
          </a:xfrm>
          <a:prstGeom prst="rect">
            <a:avLst/>
          </a:prstGeom>
          <a:noFill/>
        </p:spPr>
        <p:txBody>
          <a:bodyPr wrap="square" lIns="0" tIns="0" rIns="0" bIns="0" rtlCol="0" anchor="t"/>
          <a:lstStyle/>
          <a:p>
            <a:pPr algn="ctr">
              <a:lnSpc>
                <a:spcPct val="120000"/>
              </a:lnSpc>
            </a:pPr>
            <a:r>
              <a:rPr lang="en-US" sz="2670" b="1" dirty="0">
                <a:solidFill>
                  <a:srgbClr val="262626"/>
                </a:solidFill>
                <a:latin typeface="Arial" panose="020B0604020202020204" pitchFamily="34" charset="0"/>
                <a:ea typeface="Arial" panose="020B0604020202020204" pitchFamily="34" charset="-122"/>
                <a:cs typeface="Arial" panose="020B0604020202020204" pitchFamily="34" charset="-120"/>
              </a:rPr>
              <a:t>3.  复杂任务场景下</a:t>
            </a:r>
            <a:r>
              <a:rPr lang="zh-CN" altLang="en-US" sz="2670" b="1" dirty="0">
                <a:solidFill>
                  <a:srgbClr val="262626"/>
                </a:solidFill>
                <a:latin typeface="Arial" panose="020B0604020202020204" pitchFamily="34" charset="0"/>
                <a:ea typeface="Arial" panose="020B0604020202020204" pitchFamily="34" charset="-122"/>
                <a:cs typeface="Arial" panose="020B0604020202020204" pitchFamily="34" charset="-120"/>
              </a:rPr>
              <a:t>的</a:t>
            </a:r>
            <a:r>
              <a:rPr lang="en-US" sz="2670" b="1" dirty="0">
                <a:solidFill>
                  <a:srgbClr val="262626"/>
                </a:solidFill>
                <a:latin typeface="Arial" panose="020B0604020202020204" pitchFamily="34" charset="0"/>
                <a:ea typeface="Arial" panose="020B0604020202020204" pitchFamily="34" charset="-122"/>
                <a:cs typeface="Arial" panose="020B0604020202020204" pitchFamily="34" charset="-120"/>
              </a:rPr>
              <a:t>智能体授权协议</a:t>
            </a:r>
            <a:endParaRPr lang="en-US" sz="2670" dirty="0"/>
          </a:p>
        </p:txBody>
      </p:sp>
      <p:sp>
        <p:nvSpPr>
          <p:cNvPr id="22" name="Text 18"/>
          <p:cNvSpPr/>
          <p:nvPr/>
        </p:nvSpPr>
        <p:spPr>
          <a:xfrm>
            <a:off x="15649067" y="8666353"/>
            <a:ext cx="606933" cy="492506"/>
          </a:xfrm>
          <a:prstGeom prst="rect">
            <a:avLst/>
          </a:prstGeom>
          <a:noFill/>
        </p:spPr>
        <p:txBody>
          <a:bodyPr wrap="square" lIns="0" tIns="0" rIns="0" bIns="0" rtlCol="0" anchor="t"/>
          <a:lstStyle/>
          <a:p>
            <a:pPr algn="ctr">
              <a:lnSpc>
                <a:spcPct val="120000"/>
              </a:lnSpc>
            </a:pPr>
            <a:r>
              <a:rPr lang="en-US" sz="2400" dirty="0">
                <a:solidFill>
                  <a:srgbClr val="000000"/>
                </a:solidFill>
                <a:latin typeface="Arial" panose="020B0604020202020204" pitchFamily="34" charset="0"/>
                <a:ea typeface="Arial" panose="020B0604020202020204" pitchFamily="34" charset="-122"/>
                <a:cs typeface="Arial" panose="020B0604020202020204" pitchFamily="34" charset="-120"/>
              </a:rPr>
              <a:t>22</a:t>
            </a:r>
            <a:endParaRPr lang="en-US" sz="2400" dirty="0"/>
          </a:p>
        </p:txBody>
      </p:sp>
    </p:spTree>
  </p:cSld>
  <p:clrMapOvr>
    <a:masterClrMapping/>
  </p:clrMapOvr>
  <p:transition>
    <p:fade/>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xml><?xml version="1.0" encoding="utf-8"?>
<p:tagLst xmlns:p="http://schemas.openxmlformats.org/presentationml/2006/main">
  <p:tag name="KSO_WM_DIAGRAM_VIRTUALLY_FRAME" val="{&quot;height&quot;:509.8,&quot;left&quot;:20.2,&quot;top&quot;:155.2,&quot;width&quot;:665.8}"/>
</p:tagLst>
</file>

<file path=ppt/tags/tag31.xml><?xml version="1.0" encoding="utf-8"?>
<p:tagLst xmlns:p="http://schemas.openxmlformats.org/presentationml/2006/main">
  <p:tag name="KSO_WM_DIAGRAM_VIRTUALLY_FRAME" val="{&quot;height&quot;:509.8,&quot;left&quot;:20.2,&quot;top&quot;:155.2,&quot;width&quot;:665.8}"/>
</p:tagLst>
</file>

<file path=ppt/tags/tag32.xml><?xml version="1.0" encoding="utf-8"?>
<p:tagLst xmlns:p="http://schemas.openxmlformats.org/presentationml/2006/main">
  <p:tag name="KSO_WM_DIAGRAM_VIRTUALLY_FRAME" val="{&quot;height&quot;:509.8,&quot;left&quot;:20.2,&quot;top&quot;:155.2,&quot;width&quot;:665.8}"/>
</p:tagLst>
</file>

<file path=ppt/tags/tag33.xml><?xml version="1.0" encoding="utf-8"?>
<p:tagLst xmlns:p="http://schemas.openxmlformats.org/presentationml/2006/main">
  <p:tag name="KSO_WM_DIAGRAM_VIRTUALLY_FRAME" val="{&quot;height&quot;:509.8,&quot;left&quot;:20.2,&quot;top&quot;:155.2,&quot;width&quot;:665.8}"/>
</p:tagLst>
</file>

<file path=ppt/tags/tag34.xml><?xml version="1.0" encoding="utf-8"?>
<p:tagLst xmlns:p="http://schemas.openxmlformats.org/presentationml/2006/main">
  <p:tag name="KSO_WM_DIAGRAM_VIRTUALLY_FRAME" val="{&quot;height&quot;:509.8,&quot;left&quot;:20.2,&quot;top&quot;:155.2,&quot;width&quot;:665.8}"/>
</p:tagLst>
</file>

<file path=ppt/tags/tag35.xml><?xml version="1.0" encoding="utf-8"?>
<p:tagLst xmlns:p="http://schemas.openxmlformats.org/presentationml/2006/main">
  <p:tag name="KSO_WM_DIAGRAM_VIRTUALLY_FRAME" val="{&quot;height&quot;:509.8,&quot;left&quot;:20.2,&quot;top&quot;:155.2,&quot;width&quot;:665.8}"/>
</p:tagLst>
</file>

<file path=ppt/tags/tag36.xml><?xml version="1.0" encoding="utf-8"?>
<p:tagLst xmlns:p="http://schemas.openxmlformats.org/presentationml/2006/main">
  <p:tag name="KSO_WM_DIAGRAM_VIRTUALLY_FRAME" val="{&quot;height&quot;:509.8,&quot;left&quot;:20.2,&quot;top&quot;:155.2,&quot;width&quot;:665.8}"/>
</p:tagLst>
</file>

<file path=ppt/tags/tag37.xml><?xml version="1.0" encoding="utf-8"?>
<p:tagLst xmlns:p="http://schemas.openxmlformats.org/presentationml/2006/main">
  <p:tag name="KSO_WM_DIAGRAM_VIRTUALLY_FRAME" val="{&quot;height&quot;:509.8,&quot;left&quot;:20.2,&quot;top&quot;:155.2,&quot;width&quot;:665.8}"/>
</p:tagLst>
</file>

<file path=ppt/tags/tag38.xml><?xml version="1.0" encoding="utf-8"?>
<p:tagLst xmlns:p="http://schemas.openxmlformats.org/presentationml/2006/main">
  <p:tag name="KSO_WM_DIAGRAM_VIRTUALLY_FRAME" val="{&quot;height&quot;:509.8,&quot;left&quot;:20.2,&quot;top&quot;:155.2,&quot;width&quot;:665.8}"/>
</p:tagLst>
</file>

<file path=ppt/tags/tag39.xml><?xml version="1.0" encoding="utf-8"?>
<p:tagLst xmlns:p="http://schemas.openxmlformats.org/presentationml/2006/main">
  <p:tag name="KSO_WM_DIAGRAM_VIRTUALLY_FRAME" val="{&quot;height&quot;:509.8,&quot;left&quot;:20.2,&quot;top&quot;:155.2,&quot;width&quot;:665.8}"/>
</p:tagLst>
</file>

<file path=ppt/tags/tag40.xml><?xml version="1.0" encoding="utf-8"?>
<p:tagLst xmlns:p="http://schemas.openxmlformats.org/presentationml/2006/main">
  <p:tag name="KSO_WM_DIAGRAM_VIRTUALLY_FRAME" val="{&quot;height&quot;:509.8,&quot;left&quot;:20.2,&quot;top&quot;:155.2,&quot;width&quot;:665.8}"/>
</p:tagLst>
</file>

<file path=ppt/tags/tag41.xml><?xml version="1.0" encoding="utf-8"?>
<p:tagLst xmlns:p="http://schemas.openxmlformats.org/presentationml/2006/main">
  <p:tag name="KSO_WM_DIAGRAM_VIRTUALLY_FRAME" val="{&quot;height&quot;:509.8,&quot;left&quot;:20.2,&quot;top&quot;:155.2,&quot;width&quot;:665.8}"/>
</p:tagLst>
</file>

<file path=ppt/tags/tag42.xml><?xml version="1.0" encoding="utf-8"?>
<p:tagLst xmlns:p="http://schemas.openxmlformats.org/presentationml/2006/main">
  <p:tag name="KSO_WM_DIAGRAM_VIRTUALLY_FRAME" val="{&quot;height&quot;:509.8,&quot;left&quot;:20.2,&quot;top&quot;:155.2,&quot;width&quot;:665.8}"/>
</p:tagLst>
</file>

<file path=ppt/tags/tag43.xml><?xml version="1.0" encoding="utf-8"?>
<p:tagLst xmlns:p="http://schemas.openxmlformats.org/presentationml/2006/main">
  <p:tag name="KSO_WM_DIAGRAM_VIRTUALLY_FRAME" val="{&quot;height&quot;:509.8,&quot;left&quot;:20.2,&quot;top&quot;:155.2,&quot;width&quot;:665.8}"/>
</p:tagLst>
</file>

<file path=ppt/tags/tag44.xml><?xml version="1.0" encoding="utf-8"?>
<p:tagLst xmlns:p="http://schemas.openxmlformats.org/presentationml/2006/main">
  <p:tag name="KSO_WM_DIAGRAM_VIRTUALLY_FRAME" val="{&quot;height&quot;:509.8,&quot;left&quot;:20.2,&quot;top&quot;:155.2,&quot;width&quot;:665.8}"/>
</p:tagLst>
</file>

<file path=ppt/tags/tag45.xml><?xml version="1.0" encoding="utf-8"?>
<p:tagLst xmlns:p="http://schemas.openxmlformats.org/presentationml/2006/main">
  <p:tag name="KSO_WM_DIAGRAM_VIRTUALLY_FRAME" val="{&quot;height&quot;:509.8,&quot;left&quot;:20.2,&quot;top&quot;:155.2,&quot;width&quot;:665.8}"/>
</p:tagLst>
</file>

<file path=ppt/tags/tag46.xml><?xml version="1.0" encoding="utf-8"?>
<p:tagLst xmlns:p="http://schemas.openxmlformats.org/presentationml/2006/main">
  <p:tag name="KSO_WM_DIAGRAM_VIRTUALLY_FRAME" val="{&quot;height&quot;:509.8,&quot;left&quot;:20.2,&quot;top&quot;:155.2,&quot;width&quot;:665.8}"/>
</p:tagLst>
</file>

<file path=ppt/tags/tag47.xml><?xml version="1.0" encoding="utf-8"?>
<p:tagLst xmlns:p="http://schemas.openxmlformats.org/presentationml/2006/main">
  <p:tag name="KSO_WM_DIAGRAM_VIRTUALLY_FRAME" val="{&quot;height&quot;:509.8,&quot;left&quot;:20.2,&quot;top&quot;:155.2,&quot;width&quot;:665.8}"/>
</p:tagLst>
</file>

<file path=ppt/tags/tag48.xml><?xml version="1.0" encoding="utf-8"?>
<p:tagLst xmlns:p="http://schemas.openxmlformats.org/presentationml/2006/main">
  <p:tag name="KSO_WM_DIAGRAM_VIRTUALLY_FRAME" val="{&quot;height&quot;:509.8,&quot;left&quot;:20.2,&quot;top&quot;:155.2,&quot;width&quot;:665.8}"/>
</p:tagLst>
</file>

<file path=ppt/tags/tag49.xml><?xml version="1.0" encoding="utf-8"?>
<p:tagLst xmlns:p="http://schemas.openxmlformats.org/presentationml/2006/main">
  <p:tag name="KSO_WM_DIAGRAM_VIRTUALLY_FRAME" val="{&quot;height&quot;:562,&quot;left&quot;:60,&quot;top&quot;:158,&quot;width&quot;:1160}"/>
</p:tagLst>
</file>

<file path=ppt/tags/tag50.xml><?xml version="1.0" encoding="utf-8"?>
<p:tagLst xmlns:p="http://schemas.openxmlformats.org/presentationml/2006/main">
  <p:tag name="KSO_WM_DIAGRAM_VIRTUALLY_FRAME" val="{&quot;height&quot;:562,&quot;left&quot;:60,&quot;top&quot;:158,&quot;width&quot;:1160}"/>
</p:tagLst>
</file>

<file path=ppt/tags/tag51.xml><?xml version="1.0" encoding="utf-8"?>
<p:tagLst xmlns:p="http://schemas.openxmlformats.org/presentationml/2006/main">
  <p:tag name="KSO_WM_DIAGRAM_VIRTUALLY_FRAME" val="{&quot;height&quot;:562,&quot;left&quot;:60,&quot;top&quot;:158,&quot;width&quot;:1160}"/>
</p:tagLst>
</file>

<file path=ppt/tags/tag52.xml><?xml version="1.0" encoding="utf-8"?>
<p:tagLst xmlns:p="http://schemas.openxmlformats.org/presentationml/2006/main">
  <p:tag name="KSO_WM_DIAGRAM_VIRTUALLY_FRAME" val="{&quot;height&quot;:562,&quot;left&quot;:60,&quot;top&quot;:158,&quot;width&quot;:1160}"/>
</p:tagLst>
</file>

<file path=ppt/tags/tag53.xml><?xml version="1.0" encoding="utf-8"?>
<p:tagLst xmlns:p="http://schemas.openxmlformats.org/presentationml/2006/main">
  <p:tag name="KSO_WM_DIAGRAM_VIRTUALLY_FRAME" val="{&quot;height&quot;:562,&quot;left&quot;:60,&quot;top&quot;:158,&quot;width&quot;:1160}"/>
</p:tagLst>
</file>

<file path=ppt/tags/tag54.xml><?xml version="1.0" encoding="utf-8"?>
<p:tagLst xmlns:p="http://schemas.openxmlformats.org/presentationml/2006/main">
  <p:tag name="KSO_WM_DIAGRAM_VIRTUALLY_FRAME" val="{&quot;height&quot;:562,&quot;left&quot;:60,&quot;top&quot;:158,&quot;width&quot;:1160}"/>
</p:tagLst>
</file>

<file path=ppt/tags/tag55.xml><?xml version="1.0" encoding="utf-8"?>
<p:tagLst xmlns:p="http://schemas.openxmlformats.org/presentationml/2006/main">
  <p:tag name="KSO_WM_DIAGRAM_VIRTUALLY_FRAME" val="{&quot;height&quot;:562,&quot;left&quot;:60,&quot;top&quot;:158,&quot;width&quot;:1160}"/>
</p:tagLst>
</file>

<file path=ppt/tags/tag56.xml><?xml version="1.0" encoding="utf-8"?>
<p:tagLst xmlns:p="http://schemas.openxmlformats.org/presentationml/2006/main">
  <p:tag name="KSO_WM_DIAGRAM_VIRTUALLY_FRAME" val="{&quot;height&quot;:562,&quot;left&quot;:60,&quot;top&quot;:158,&quot;width&quot;:1160}"/>
</p:tagLst>
</file>

<file path=ppt/tags/tag57.xml><?xml version="1.0" encoding="utf-8"?>
<p:tagLst xmlns:p="http://schemas.openxmlformats.org/presentationml/2006/main">
  <p:tag name="KSO_WM_DIAGRAM_VIRTUALLY_FRAME" val="{&quot;height&quot;:562,&quot;left&quot;:60,&quot;top&quot;:158,&quot;width&quot;:1160}"/>
</p:tagLst>
</file>

<file path=ppt/tags/tag58.xml><?xml version="1.0" encoding="utf-8"?>
<p:tagLst xmlns:p="http://schemas.openxmlformats.org/presentationml/2006/main">
  <p:tag name="KSO_WM_DIAGRAM_VIRTUALLY_FRAME" val="{&quot;height&quot;:562,&quot;left&quot;:60,&quot;top&quot;:158,&quot;width&quot;:1160}"/>
</p:tagLst>
</file>

<file path=ppt/tags/tag59.xml><?xml version="1.0" encoding="utf-8"?>
<p:tagLst xmlns:p="http://schemas.openxmlformats.org/presentationml/2006/main">
  <p:tag name="KSO_WM_DIAGRAM_VIRTUALLY_FRAME" val="{&quot;height&quot;:562,&quot;left&quot;:60,&quot;top&quot;:158,&quot;width&quot;:1160}"/>
</p:tagLst>
</file>

<file path=ppt/tags/tag60.xml><?xml version="1.0" encoding="utf-8"?>
<p:tagLst xmlns:p="http://schemas.openxmlformats.org/presentationml/2006/main">
  <p:tag name="KSO_WM_DIAGRAM_VIRTUALLY_FRAME" val="{&quot;height&quot;:562,&quot;left&quot;:60,&quot;top&quot;:158,&quot;width&quot;:1160}"/>
</p:tagLst>
</file>

<file path=ppt/tags/tag61.xml><?xml version="1.0" encoding="utf-8"?>
<p:tagLst xmlns:p="http://schemas.openxmlformats.org/presentationml/2006/main">
  <p:tag name="KSO_WM_DIAGRAM_VIRTUALLY_FRAME" val="{&quot;height&quot;:562,&quot;left&quot;:60,&quot;top&quot;:158,&quot;width&quot;:1160}"/>
</p:tagLst>
</file>

<file path=ppt/tags/tag62.xml><?xml version="1.0" encoding="utf-8"?>
<p:tagLst xmlns:p="http://schemas.openxmlformats.org/presentationml/2006/main">
  <p:tag name="KSO_WM_DIAGRAM_VIRTUALLY_FRAME" val="{&quot;height&quot;:562,&quot;left&quot;:60,&quot;top&quot;:158,&quot;width&quot;:1160}"/>
</p:tagLst>
</file>

<file path=ppt/tags/tag63.xml><?xml version="1.0" encoding="utf-8"?>
<p:tagLst xmlns:p="http://schemas.openxmlformats.org/presentationml/2006/main">
  <p:tag name="KSO_WM_DIAGRAM_VIRTUALLY_FRAME" val="{&quot;height&quot;:562,&quot;left&quot;:60,&quot;top&quot;:158,&quot;width&quot;:1160}"/>
</p:tagLst>
</file>

<file path=ppt/tags/tag64.xml><?xml version="1.0" encoding="utf-8"?>
<p:tagLst xmlns:p="http://schemas.openxmlformats.org/presentationml/2006/main">
  <p:tag name="KSO_WM_DIAGRAM_VIRTUALLY_FRAME" val="{&quot;height&quot;:562,&quot;left&quot;:60,&quot;top&quot;:158,&quot;width&quot;:1160}"/>
</p:tagLst>
</file>

<file path=ppt/tags/tag65.xml><?xml version="1.0" encoding="utf-8"?>
<p:tagLst xmlns:p="http://schemas.openxmlformats.org/presentationml/2006/main">
  <p:tag name="KSO_WM_DIAGRAM_VIRTUALLY_FRAME" val="{&quot;height&quot;:295.36,&quot;left&quot;:58.42999999999999,&quot;top&quot;:201.27,&quot;width&quot;:1163.14}"/>
</p:tagLst>
</file>

<file path=ppt/tags/tag66.xml><?xml version="1.0" encoding="utf-8"?>
<p:tagLst xmlns:p="http://schemas.openxmlformats.org/presentationml/2006/main">
  <p:tag name="KSO_WM_DIAGRAM_VIRTUALLY_FRAME" val="{&quot;height&quot;:295.36,&quot;left&quot;:58.42999999999999,&quot;top&quot;:201.27,&quot;width&quot;:1163.14}"/>
</p:tagLst>
</file>

<file path=ppt/tags/tag67.xml><?xml version="1.0" encoding="utf-8"?>
<p:tagLst xmlns:p="http://schemas.openxmlformats.org/presentationml/2006/main">
  <p:tag name="KSO_WM_DIAGRAM_VIRTUALLY_FRAME" val="{&quot;height&quot;:295.36,&quot;left&quot;:58.42999999999999,&quot;top&quot;:201.27,&quot;width&quot;:1163.14}"/>
</p:tagLst>
</file>

<file path=ppt/tags/tag68.xml><?xml version="1.0" encoding="utf-8"?>
<p:tagLst xmlns:p="http://schemas.openxmlformats.org/presentationml/2006/main">
  <p:tag name="KSO_WM_DIAGRAM_VIRTUALLY_FRAME" val="{&quot;height&quot;:295.36,&quot;left&quot;:58.42999999999999,&quot;top&quot;:201.27,&quot;width&quot;:1163.14}"/>
</p:tagLst>
</file>

<file path=ppt/tags/tag69.xml><?xml version="1.0" encoding="utf-8"?>
<p:tagLst xmlns:p="http://schemas.openxmlformats.org/presentationml/2006/main">
  <p:tag name="KSO_WM_DIAGRAM_VIRTUALLY_FRAME" val="{&quot;height&quot;:295.36,&quot;left&quot;:58.42999999999999,&quot;top&quot;:201.27,&quot;width&quot;:1163.14}"/>
</p:tagLst>
</file>

<file path=ppt/tags/tag70.xml><?xml version="1.0" encoding="utf-8"?>
<p:tagLst xmlns:p="http://schemas.openxmlformats.org/presentationml/2006/main">
  <p:tag name="KSO_WM_DIAGRAM_VIRTUALLY_FRAME" val="{&quot;height&quot;:295.36,&quot;left&quot;:58.42999999999999,&quot;top&quot;:201.27,&quot;width&quot;:1163.14}"/>
</p:tagLst>
</file>

<file path=ppt/tags/tag71.xml><?xml version="1.0" encoding="utf-8"?>
<p:tagLst xmlns:p="http://schemas.openxmlformats.org/presentationml/2006/main">
  <p:tag name="KSO_WM_DIAGRAM_VIRTUALLY_FRAME" val="{&quot;height&quot;:295.36,&quot;left&quot;:58.42999999999999,&quot;top&quot;:201.27,&quot;width&quot;:1163.14}"/>
</p:tagLst>
</file>

<file path=ppt/tags/tag72.xml><?xml version="1.0" encoding="utf-8"?>
<p:tagLst xmlns:p="http://schemas.openxmlformats.org/presentationml/2006/main">
  <p:tag name="KSO_WM_DIAGRAM_VIRTUALLY_FRAME" val="{&quot;height&quot;:295.36,&quot;left&quot;:58.42999999999999,&quot;top&quot;:201.27,&quot;width&quot;:1163.14}"/>
</p:tagLst>
</file>

<file path=ppt/tags/tag73.xml><?xml version="1.0" encoding="utf-8"?>
<p:tagLst xmlns:p="http://schemas.openxmlformats.org/presentationml/2006/main">
  <p:tag name="KSO_WM_DIAGRAM_VIRTUALLY_FRAME" val="{&quot;height&quot;:295.36,&quot;left&quot;:58.42999999999999,&quot;top&quot;:201.27,&quot;width&quot;:1163.14}"/>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2875</Words>
  <Application>WPS 演示</Application>
  <PresentationFormat>On-screen Show (16:9)</PresentationFormat>
  <Paragraphs>235</Paragraphs>
  <Slides>7</Slides>
  <Notes>17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vt:i4>
      </vt:variant>
    </vt:vector>
  </HeadingPairs>
  <TitlesOfParts>
    <vt:vector size="23" baseType="lpstr">
      <vt:lpstr>Arial</vt:lpstr>
      <vt:lpstr>宋体</vt:lpstr>
      <vt:lpstr>Wingdings</vt:lpstr>
      <vt:lpstr>Calibri</vt:lpstr>
      <vt:lpstr>等线</vt:lpstr>
      <vt:lpstr>微软雅黑</vt:lpstr>
      <vt:lpstr>Arial Unicode MS</vt:lpstr>
      <vt:lpstr>等线 Light</vt:lpstr>
      <vt:lpstr>Calibri Light</vt:lpstr>
      <vt:lpstr>Arial</vt:lpstr>
      <vt:lpstr>Arial</vt:lpstr>
      <vt:lpstr>MiSans</vt:lpstr>
      <vt:lpstr>MiSans Semibold</vt:lpstr>
      <vt:lpstr>MiSans</vt:lpstr>
      <vt:lpstr>MiSans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面向复杂任务智能体授权协议研究与实现 - 开题报告</dc:title>
  <dc:creator>Kimi</dc:creator>
  <dc:subject>面向复杂任务智能体授权协议研究与实现 - 开题报告</dc:subject>
  <cp:lastModifiedBy>风雨中行走</cp:lastModifiedBy>
  <cp:revision>3</cp:revision>
  <dcterms:created xsi:type="dcterms:W3CDTF">2026-06-25T07:24:00Z</dcterms:created>
  <dcterms:modified xsi:type="dcterms:W3CDTF">2026-06-27T16:55:14Z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{"Label":"面向复杂任务智能体授权协议研究与实现 - 开题报告","ContentProducer":"001191110108MACG2KBH8F10000","ProduceID":"19efccc8-6752-8721-8000-0000dd944ad4","ReservedCode1":"","ContentPropagator":"001191110108MACG2KBH8F20000","PropagateID":"19ee528b-5122-8cdd-8000-091226114ca8","ReservedCode2":""}</vt:lpwstr>
  </property>
  <property fmtid="{D5CDD505-2E9C-101B-9397-08002B2CF9AE}" pid="3" name="ICV">
    <vt:lpwstr>BCD53D5ACB674685AB8DA18A078FEE07_12</vt:lpwstr>
  </property>
  <property fmtid="{D5CDD505-2E9C-101B-9397-08002B2CF9AE}" pid="4" name="KSOProductBuildVer">
    <vt:lpwstr>2052-12.1.0.26895</vt:lpwstr>
  </property>
</Properties>
</file>