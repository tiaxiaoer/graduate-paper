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73" r:id="rId3"/>
    <p:sldId id="274" r:id="rId5"/>
  </p:sldIdLst>
  <p:sldSz cx="16256000" cy="9144000"/>
  <p:notesSz cx="9144000" cy="1625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7" Type="http://schemas.openxmlformats.org/officeDocument/2006/relationships/viewProps" Target="viewProps.xml"/><Relationship Id="rId6" Type="http://schemas.openxmlformats.org/officeDocument/2006/relationships/presProps" Target="presProps.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598400" y="1219200"/>
            <a:ext cx="13065600" cy="3427200"/>
          </a:xfrm>
        </p:spPr>
        <p:txBody>
          <a:bodyPr lIns="90000" tIns="46800" rIns="90000" bIns="46800" anchor="b" anchorCtr="0">
            <a:normAutofit/>
          </a:bodyPr>
          <a:lstStyle>
            <a:lvl1pPr algn="ctr">
              <a:defRPr sz="8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598400" y="4747200"/>
            <a:ext cx="13065600" cy="1963200"/>
          </a:xfrm>
        </p:spPr>
        <p:txBody>
          <a:bodyPr lIns="90000" tIns="46800" rIns="90000" bIns="46800">
            <a:normAutofit/>
          </a:bodyPr>
          <a:lstStyle>
            <a:lvl1pPr marL="0" indent="0" algn="ctr">
              <a:lnSpc>
                <a:spcPct val="110000"/>
              </a:lnSpc>
              <a:buNone/>
              <a:defRPr sz="3200" spc="200"/>
            </a:lvl1pPr>
            <a:lvl2pPr marL="609600" indent="0" algn="ctr">
              <a:buNone/>
              <a:defRPr sz="2665"/>
            </a:lvl2pPr>
            <a:lvl3pPr marL="1219200" indent="0" algn="ctr">
              <a:buNone/>
              <a:defRPr sz="2400"/>
            </a:lvl3pPr>
            <a:lvl4pPr marL="1828800" indent="0" algn="ctr">
              <a:buNone/>
              <a:defRPr sz="2135"/>
            </a:lvl4pPr>
            <a:lvl5pPr marL="2438400" indent="0" algn="ctr">
              <a:buNone/>
              <a:defRPr sz="2135"/>
            </a:lvl5pPr>
            <a:lvl6pPr marL="3048000" indent="0" algn="ctr">
              <a:buNone/>
              <a:defRPr sz="2135"/>
            </a:lvl6pPr>
            <a:lvl7pPr marL="3657600" indent="0" algn="ctr">
              <a:buNone/>
              <a:defRPr sz="2135"/>
            </a:lvl7pPr>
            <a:lvl8pPr marL="4267200" indent="0" algn="ctr">
              <a:buNone/>
              <a:defRPr sz="2135"/>
            </a:lvl8pPr>
            <a:lvl9pPr marL="4876800" indent="0" algn="ctr">
              <a:buNone/>
              <a:defRPr sz="2135"/>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a:xfrm>
            <a:off x="816000" y="8419200"/>
            <a:ext cx="3600000" cy="422400"/>
          </a:xfrm>
        </p:spPr>
        <p:txBody>
          <a:bodyPr/>
          <a:lstStyle/>
          <a:p>
            <a:fld id="{93CBA602-00DB-4BC5-AF0E-E8CF46ADAD71}" type="datetime1">
              <a:rPr lang="zh-CN" altLang="en-US" smtClean="0"/>
            </a:fld>
            <a:endParaRPr lang="zh-CN" altLang="en-US"/>
          </a:p>
        </p:txBody>
      </p:sp>
      <p:sp>
        <p:nvSpPr>
          <p:cNvPr id="17" name="页脚占位符 16"/>
          <p:cNvSpPr>
            <a:spLocks noGrp="1"/>
          </p:cNvSpPr>
          <p:nvPr>
            <p:ph type="ftr" sz="quarter" idx="11"/>
            <p:custDataLst>
              <p:tags r:id="rId5"/>
            </p:custDataLst>
          </p:nvPr>
        </p:nvSpPr>
        <p:spPr>
          <a:xfrm>
            <a:off x="5488000" y="8419200"/>
            <a:ext cx="5280000" cy="422400"/>
          </a:xfrm>
        </p:spPr>
        <p:txBody>
          <a:bodyPr/>
          <a:lstStyle/>
          <a:p>
            <a:endParaRPr lang="zh-CN" altLang="en-US" dirty="0"/>
          </a:p>
        </p:txBody>
      </p:sp>
      <p:sp>
        <p:nvSpPr>
          <p:cNvPr id="18" name="灯片编号占位符 17"/>
          <p:cNvSpPr>
            <a:spLocks noGrp="1"/>
          </p:cNvSpPr>
          <p:nvPr>
            <p:ph type="sldNum" sz="quarter" idx="12"/>
            <p:custDataLst>
              <p:tags r:id="rId6"/>
            </p:custDataLst>
          </p:nvPr>
        </p:nvSpPr>
        <p:spPr>
          <a:xfrm>
            <a:off x="11836800" y="8419200"/>
            <a:ext cx="3600000" cy="422400"/>
          </a:xfrm>
        </p:spPr>
        <p:txBody>
          <a:bodyPr/>
          <a:lstStyle/>
          <a:p>
            <a:fld id="{49AE70B2-8BF9-45C0-BB95-33D1B9D3A854}" type="slidenum">
              <a:rPr lang="zh-CN" altLang="en-US" smtClean="0"/>
            </a:fld>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1.jpeg"/><Relationship Id="rId8" Type="http://schemas.openxmlformats.org/officeDocument/2006/relationships/tags" Target="../tags/tag13.xml"/><Relationship Id="rId7" Type="http://schemas.openxmlformats.org/officeDocument/2006/relationships/tags" Target="../tags/tag12.xml"/><Relationship Id="rId6" Type="http://schemas.openxmlformats.org/officeDocument/2006/relationships/tags" Target="../tags/tag11.xml"/><Relationship Id="rId5" Type="http://schemas.openxmlformats.org/officeDocument/2006/relationships/tags" Target="../tags/tag10.xml"/><Relationship Id="rId4" Type="http://schemas.openxmlformats.org/officeDocument/2006/relationships/tags" Target="../tags/tag9.xml"/><Relationship Id="rId3" Type="http://schemas.openxmlformats.org/officeDocument/2006/relationships/tags" Target="../tags/tag8.xml"/><Relationship Id="rId2" Type="http://schemas.openxmlformats.org/officeDocument/2006/relationships/tags" Target="../tags/tag7.xml"/><Relationship Id="rId15" Type="http://schemas.openxmlformats.org/officeDocument/2006/relationships/notesSlide" Target="../notesSlides/notesSlide1.xml"/><Relationship Id="rId14" Type="http://schemas.openxmlformats.org/officeDocument/2006/relationships/slideLayout" Target="../slideLayouts/slideLayout2.xml"/><Relationship Id="rId13" Type="http://schemas.openxmlformats.org/officeDocument/2006/relationships/tags" Target="../tags/tag17.xml"/><Relationship Id="rId12" Type="http://schemas.openxmlformats.org/officeDocument/2006/relationships/tags" Target="../tags/tag16.xml"/><Relationship Id="rId11" Type="http://schemas.openxmlformats.org/officeDocument/2006/relationships/tags" Target="../tags/tag15.xml"/><Relationship Id="rId10" Type="http://schemas.openxmlformats.org/officeDocument/2006/relationships/tags" Target="../tags/tag14.xml"/><Relationship Id="rId1" Type="http://schemas.openxmlformats.org/officeDocument/2006/relationships/tags" Target="../tags/tag6.xml"/></Relationships>
</file>

<file path=ppt/slides/_rels/slide2.xml.rels><?xml version="1.0" encoding="UTF-8" standalone="yes"?>
<Relationships xmlns="http://schemas.openxmlformats.org/package/2006/relationships"><Relationship Id="rId9" Type="http://schemas.openxmlformats.org/officeDocument/2006/relationships/image" Target="../media/image1.jpeg"/><Relationship Id="rId8" Type="http://schemas.openxmlformats.org/officeDocument/2006/relationships/tags" Target="../tags/tag25.xml"/><Relationship Id="rId7" Type="http://schemas.openxmlformats.org/officeDocument/2006/relationships/tags" Target="../tags/tag24.xml"/><Relationship Id="rId6" Type="http://schemas.openxmlformats.org/officeDocument/2006/relationships/tags" Target="../tags/tag23.xml"/><Relationship Id="rId5" Type="http://schemas.openxmlformats.org/officeDocument/2006/relationships/tags" Target="../tags/tag22.xml"/><Relationship Id="rId4" Type="http://schemas.openxmlformats.org/officeDocument/2006/relationships/tags" Target="../tags/tag21.xml"/><Relationship Id="rId3" Type="http://schemas.openxmlformats.org/officeDocument/2006/relationships/tags" Target="../tags/tag20.xml"/><Relationship Id="rId2" Type="http://schemas.openxmlformats.org/officeDocument/2006/relationships/tags" Target="../tags/tag19.xml"/><Relationship Id="rId15" Type="http://schemas.openxmlformats.org/officeDocument/2006/relationships/notesSlide" Target="../notesSlides/notesSlide2.xml"/><Relationship Id="rId14" Type="http://schemas.openxmlformats.org/officeDocument/2006/relationships/slideLayout" Target="../slideLayouts/slideLayout2.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tags" Target="../tags/tag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654473" y="3809153"/>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7" name="文本框 6"/>
          <p:cNvSpPr txBox="1"/>
          <p:nvPr>
            <p:custDataLst>
              <p:tags r:id="rId1"/>
            </p:custDataLst>
          </p:nvPr>
        </p:nvSpPr>
        <p:spPr>
          <a:xfrm>
            <a:off x="643467" y="1196340"/>
            <a:ext cx="14772640" cy="501650"/>
          </a:xfrm>
          <a:prstGeom prst="rect">
            <a:avLst/>
          </a:prstGeom>
          <a:noFill/>
        </p:spPr>
        <p:txBody>
          <a:bodyPr wrap="square" rtlCol="0" anchor="t">
            <a:spAutoFit/>
          </a:bodyPr>
          <a:lstStyle/>
          <a:p>
            <a:r>
              <a:rPr lang="zh-CN" altLang="en-US" sz="2665" dirty="0"/>
              <a:t>数字资产市场为区块链提供了新的</a:t>
            </a:r>
            <a:r>
              <a:rPr lang="zh-CN" altLang="en-US" sz="2665" b="1" dirty="0">
                <a:solidFill>
                  <a:srgbClr val="04579A"/>
                </a:solidFill>
              </a:rPr>
              <a:t>应用方向</a:t>
            </a:r>
            <a:r>
              <a:rPr lang="zh-CN" altLang="en-US" sz="2665" dirty="0"/>
              <a:t>，但同时也带来了新的</a:t>
            </a:r>
            <a:r>
              <a:rPr lang="zh-CN" altLang="en-US" sz="2665" b="1" dirty="0">
                <a:solidFill>
                  <a:srgbClr val="04579A"/>
                </a:solidFill>
              </a:rPr>
              <a:t>技术需求</a:t>
            </a:r>
            <a:r>
              <a:rPr lang="zh-CN" altLang="en-US" sz="2665" dirty="0"/>
              <a:t>：</a:t>
            </a:r>
            <a:endParaRPr lang="zh-CN" altLang="en-US" sz="2665" dirty="0"/>
          </a:p>
        </p:txBody>
      </p:sp>
      <p:sp>
        <p:nvSpPr>
          <p:cNvPr id="11" name="矩形 10"/>
          <p:cNvSpPr/>
          <p:nvPr>
            <p:custDataLst>
              <p:tags r:id="rId2"/>
            </p:custDataLst>
          </p:nvPr>
        </p:nvSpPr>
        <p:spPr>
          <a:xfrm>
            <a:off x="2219960" y="0"/>
            <a:ext cx="2942167" cy="962660"/>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0" name="矩形 9"/>
          <p:cNvSpPr/>
          <p:nvPr>
            <p:custDataLst>
              <p:tags r:id="rId3"/>
            </p:custDataLst>
          </p:nvPr>
        </p:nvSpPr>
        <p:spPr>
          <a:xfrm>
            <a:off x="5162127" y="-847"/>
            <a:ext cx="2654300" cy="9626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2" name="矩形 11"/>
          <p:cNvSpPr/>
          <p:nvPr>
            <p:custDataLst>
              <p:tags r:id="rId4"/>
            </p:custDataLst>
          </p:nvPr>
        </p:nvSpPr>
        <p:spPr>
          <a:xfrm>
            <a:off x="7816427" y="-847"/>
            <a:ext cx="4154593" cy="9626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3" name="矩形 12"/>
          <p:cNvSpPr/>
          <p:nvPr>
            <p:custDataLst>
              <p:tags r:id="rId5"/>
            </p:custDataLst>
          </p:nvPr>
        </p:nvSpPr>
        <p:spPr>
          <a:xfrm>
            <a:off x="11971020" y="0"/>
            <a:ext cx="4284980" cy="9618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6" name="矩形 15"/>
          <p:cNvSpPr/>
          <p:nvPr>
            <p:custDataLst>
              <p:tags r:id="rId6"/>
            </p:custDataLst>
          </p:nvPr>
        </p:nvSpPr>
        <p:spPr>
          <a:xfrm>
            <a:off x="2219960" y="-847"/>
            <a:ext cx="2942167" cy="962660"/>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7" name="文本框 16"/>
          <p:cNvSpPr txBox="1"/>
          <p:nvPr>
            <p:custDataLst>
              <p:tags r:id="rId7"/>
            </p:custDataLst>
          </p:nvPr>
        </p:nvSpPr>
        <p:spPr>
          <a:xfrm>
            <a:off x="2428240" y="215053"/>
            <a:ext cx="13423900" cy="460375"/>
          </a:xfrm>
          <a:prstGeom prst="rect">
            <a:avLst/>
          </a:prstGeom>
          <a:noFill/>
        </p:spPr>
        <p:txBody>
          <a:bodyPr wrap="square" rtlCol="0">
            <a:spAutoFit/>
          </a:bodyPr>
          <a:lstStyle/>
          <a:p>
            <a:pPr indent="0" fontAlgn="auto">
              <a:lnSpc>
                <a:spcPct val="100000"/>
              </a:lnSpc>
            </a:pPr>
            <a:r>
              <a:rPr lang="en-US" altLang="zh-CN" sz="2400" dirty="0">
                <a:solidFill>
                  <a:schemeClr val="bg1"/>
                </a:solidFill>
                <a:latin typeface="Arial" panose="020B0604020202020204" pitchFamily="34" charset="0"/>
                <a:sym typeface="+mn-ea"/>
              </a:rPr>
              <a:t>  </a:t>
            </a:r>
            <a:r>
              <a:rPr lang="zh-CN" altLang="en-US" sz="2400" dirty="0">
                <a:solidFill>
                  <a:schemeClr val="bg1"/>
                </a:solidFill>
                <a:latin typeface="Arial" panose="020B0604020202020204" pitchFamily="34" charset="0"/>
                <a:sym typeface="+mn-ea"/>
              </a:rPr>
              <a:t>选题背景及意义</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国内外研究现状</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主要研究内容及预期目标</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工作计划与进度安排</a:t>
            </a:r>
            <a:endParaRPr lang="zh-CN" altLang="en-US" sz="2400"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544407" y="140547"/>
            <a:ext cx="1273387" cy="74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3496733" y="961813"/>
            <a:ext cx="389467" cy="3048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矩形 1"/>
          <p:cNvSpPr/>
          <p:nvPr>
            <p:custDataLst>
              <p:tags r:id="rId11"/>
            </p:custDataLst>
          </p:nvPr>
        </p:nvSpPr>
        <p:spPr>
          <a:xfrm>
            <a:off x="643467" y="2236047"/>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4" name="燕尾形 3"/>
          <p:cNvSpPr/>
          <p:nvPr>
            <p:custDataLst>
              <p:tags r:id="rId12"/>
            </p:custDataLst>
          </p:nvPr>
        </p:nvSpPr>
        <p:spPr>
          <a:xfrm>
            <a:off x="1358900" y="3119967"/>
            <a:ext cx="485987" cy="343747"/>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5" name="文本框 4"/>
          <p:cNvSpPr txBox="1"/>
          <p:nvPr/>
        </p:nvSpPr>
        <p:spPr>
          <a:xfrm>
            <a:off x="742527" y="2218267"/>
            <a:ext cx="14771793" cy="446341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665" dirty="0">
                <a:solidFill>
                  <a:schemeClr val="tx1">
                    <a:lumMod val="85000"/>
                    <a:lumOff val="15000"/>
                  </a:schemeClr>
                </a:solidFill>
                <a:sym typeface="+mn-ea"/>
              </a:rPr>
              <a:t>智能体执行任务的自主性对智能体的授权粒度提出了更高的要求</a:t>
            </a:r>
            <a:endParaRPr lang="zh-CN" altLang="en-US" sz="2665"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3200" b="1" dirty="0">
                <a:solidFill>
                  <a:srgbClr val="04579A"/>
                </a:solidFill>
                <a:sym typeface="+mn-ea"/>
              </a:rPr>
              <a:t>智能体授权协议的授权粒度需要匹配具体任务级语义</a:t>
            </a:r>
            <a:endParaRPr lang="zh-CN" altLang="en-US" sz="3200" b="1" dirty="0">
              <a:solidFill>
                <a:srgbClr val="04579A"/>
              </a:solidFill>
              <a:sym typeface="+mn-ea"/>
            </a:endParaRPr>
          </a:p>
          <a:p>
            <a:pPr marL="457200" lvl="0" indent="-457200" fontAlgn="auto">
              <a:lnSpc>
                <a:spcPct val="150000"/>
              </a:lnSpc>
              <a:buAutoNum type="arabicPeriod"/>
            </a:pPr>
            <a:r>
              <a:rPr lang="zh-CN" altLang="en-US" sz="2665" dirty="0">
                <a:solidFill>
                  <a:schemeClr val="bg1">
                    <a:lumMod val="95000"/>
                  </a:schemeClr>
                </a:solidFill>
                <a:sym typeface="+mn-ea"/>
              </a:rPr>
              <a:t>区块链具有长期部署的需要</a:t>
            </a:r>
            <a:endParaRPr lang="zh-CN" altLang="en-US" sz="2665" dirty="0">
              <a:solidFill>
                <a:schemeClr val="bg1">
                  <a:lumMod val="95000"/>
                </a:schemeClr>
              </a:solidFill>
              <a:sym typeface="+mn-ea"/>
            </a:endParaRPr>
          </a:p>
          <a:p>
            <a:pPr lvl="1" indent="457200">
              <a:lnSpc>
                <a:spcPct val="150000"/>
              </a:lnSpc>
              <a:spcAft>
                <a:spcPts val="1200"/>
              </a:spcAft>
            </a:pPr>
            <a:r>
              <a:rPr lang="zh-CN" altLang="en-US" sz="3200" b="1" dirty="0">
                <a:solidFill>
                  <a:schemeClr val="bg1">
                    <a:lumMod val="95000"/>
                  </a:schemeClr>
                </a:solidFill>
                <a:sym typeface="+mn-ea"/>
              </a:rPr>
              <a:t>分布式数字资产交易协议需要高性能的链下方案构造</a:t>
            </a:r>
            <a:endParaRPr lang="zh-CN" altLang="en-US" sz="3200" b="1" dirty="0">
              <a:solidFill>
                <a:schemeClr val="bg1">
                  <a:lumMod val="95000"/>
                </a:schemeClr>
              </a:solidFill>
              <a:sym typeface="+mn-ea"/>
            </a:endParaRPr>
          </a:p>
          <a:p>
            <a:pPr marL="457200" lvl="0" indent="-457200" fontAlgn="auto">
              <a:lnSpc>
                <a:spcPct val="150000"/>
              </a:lnSpc>
              <a:buAutoNum type="arabicPeriod"/>
            </a:pPr>
            <a:r>
              <a:rPr lang="zh-CN" altLang="en-US" sz="2665" dirty="0">
                <a:solidFill>
                  <a:schemeClr val="bg1">
                    <a:lumMod val="95000"/>
                  </a:schemeClr>
                </a:solidFill>
                <a:sym typeface="+mn-ea"/>
              </a:rPr>
              <a:t>异构区块链系统间的互联互通要求分布式数字资产交易协议具有互操作性</a:t>
            </a:r>
            <a:endParaRPr lang="zh-CN" altLang="en-US" sz="2665" dirty="0">
              <a:solidFill>
                <a:schemeClr val="bg1">
                  <a:lumMod val="95000"/>
                </a:schemeClr>
              </a:solidFill>
              <a:sym typeface="+mn-ea"/>
            </a:endParaRPr>
          </a:p>
          <a:p>
            <a:pPr lvl="1" indent="457200">
              <a:lnSpc>
                <a:spcPct val="150000"/>
              </a:lnSpc>
            </a:pPr>
            <a:r>
              <a:rPr lang="zh-CN" altLang="en-US" sz="3200" b="1" dirty="0">
                <a:solidFill>
                  <a:schemeClr val="bg1">
                    <a:lumMod val="95000"/>
                  </a:schemeClr>
                </a:solidFill>
                <a:sym typeface="+mn-ea"/>
              </a:rPr>
              <a:t>分布式数字资产交易协议需要高效的跨链证明协议</a:t>
            </a:r>
            <a:endParaRPr lang="zh-CN" altLang="en-US" sz="3200" b="1" dirty="0">
              <a:solidFill>
                <a:schemeClr val="bg1">
                  <a:lumMod val="95000"/>
                </a:schemeClr>
              </a:solidFill>
              <a:sym typeface="+mn-ea"/>
            </a:endParaRPr>
          </a:p>
        </p:txBody>
      </p:sp>
      <p:sp>
        <p:nvSpPr>
          <p:cNvPr id="3" name="文本框 2"/>
          <p:cNvSpPr txBox="1"/>
          <p:nvPr/>
        </p:nvSpPr>
        <p:spPr>
          <a:xfrm>
            <a:off x="15649039" y="8666348"/>
            <a:ext cx="606961" cy="460375"/>
          </a:xfrm>
          <a:prstGeom prst="rect">
            <a:avLst/>
          </a:prstGeom>
          <a:noFill/>
        </p:spPr>
        <p:txBody>
          <a:bodyPr wrap="square" rtlCol="0">
            <a:spAutoFit/>
          </a:bodyPr>
          <a:lstStyle/>
          <a:p>
            <a:pPr algn="ctr"/>
            <a:r>
              <a:rPr lang="en-US" altLang="zh-CN" sz="2400" dirty="0"/>
              <a:t>4</a:t>
            </a:r>
            <a:endParaRPr lang="zh-CN" altLang="en-US" sz="2400" dirty="0"/>
          </a:p>
        </p:txBody>
      </p:sp>
      <p:sp>
        <p:nvSpPr>
          <p:cNvPr id="6" name="矩形 5"/>
          <p:cNvSpPr/>
          <p:nvPr/>
        </p:nvSpPr>
        <p:spPr>
          <a:xfrm>
            <a:off x="654473" y="5267831"/>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Tree>
    <p:custDataLst>
      <p:tags r:id="rId13"/>
    </p:custData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654473" y="5296253"/>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7" name="矩形 26"/>
          <p:cNvSpPr/>
          <p:nvPr/>
        </p:nvSpPr>
        <p:spPr>
          <a:xfrm>
            <a:off x="654473" y="3809153"/>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8" name="燕尾形 7"/>
          <p:cNvSpPr/>
          <p:nvPr/>
        </p:nvSpPr>
        <p:spPr>
          <a:xfrm>
            <a:off x="1358900" y="4713393"/>
            <a:ext cx="485987" cy="343747"/>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7" name="文本框 6"/>
          <p:cNvSpPr txBox="1"/>
          <p:nvPr>
            <p:custDataLst>
              <p:tags r:id="rId1"/>
            </p:custDataLst>
          </p:nvPr>
        </p:nvSpPr>
        <p:spPr>
          <a:xfrm>
            <a:off x="643467" y="1196340"/>
            <a:ext cx="14772640" cy="501650"/>
          </a:xfrm>
          <a:prstGeom prst="rect">
            <a:avLst/>
          </a:prstGeom>
          <a:noFill/>
        </p:spPr>
        <p:txBody>
          <a:bodyPr wrap="square" rtlCol="0" anchor="t">
            <a:spAutoFit/>
          </a:bodyPr>
          <a:lstStyle/>
          <a:p>
            <a:r>
              <a:rPr lang="zh-CN" altLang="en-US" sz="2665" dirty="0"/>
              <a:t>数字资产市场为区块链提供了新的</a:t>
            </a:r>
            <a:r>
              <a:rPr lang="zh-CN" altLang="en-US" sz="2665" b="1" dirty="0">
                <a:solidFill>
                  <a:srgbClr val="04579A"/>
                </a:solidFill>
              </a:rPr>
              <a:t>应用方向</a:t>
            </a:r>
            <a:r>
              <a:rPr lang="zh-CN" altLang="en-US" sz="2665" dirty="0"/>
              <a:t>，但同时也带来了新的</a:t>
            </a:r>
            <a:r>
              <a:rPr lang="zh-CN" altLang="en-US" sz="2665" b="1" dirty="0">
                <a:solidFill>
                  <a:srgbClr val="04579A"/>
                </a:solidFill>
              </a:rPr>
              <a:t>技术需求</a:t>
            </a:r>
            <a:r>
              <a:rPr lang="zh-CN" altLang="en-US" sz="2665" dirty="0"/>
              <a:t>：</a:t>
            </a:r>
            <a:endParaRPr lang="zh-CN" altLang="en-US" sz="2665" dirty="0"/>
          </a:p>
        </p:txBody>
      </p:sp>
      <p:sp>
        <p:nvSpPr>
          <p:cNvPr id="11" name="矩形 10"/>
          <p:cNvSpPr/>
          <p:nvPr>
            <p:custDataLst>
              <p:tags r:id="rId2"/>
            </p:custDataLst>
          </p:nvPr>
        </p:nvSpPr>
        <p:spPr>
          <a:xfrm>
            <a:off x="2219960" y="0"/>
            <a:ext cx="2942167" cy="962660"/>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0" name="矩形 9"/>
          <p:cNvSpPr/>
          <p:nvPr>
            <p:custDataLst>
              <p:tags r:id="rId3"/>
            </p:custDataLst>
          </p:nvPr>
        </p:nvSpPr>
        <p:spPr>
          <a:xfrm>
            <a:off x="5162127" y="-847"/>
            <a:ext cx="2654300" cy="9626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2" name="矩形 11"/>
          <p:cNvSpPr/>
          <p:nvPr>
            <p:custDataLst>
              <p:tags r:id="rId4"/>
            </p:custDataLst>
          </p:nvPr>
        </p:nvSpPr>
        <p:spPr>
          <a:xfrm>
            <a:off x="7816427" y="-847"/>
            <a:ext cx="4154593" cy="9626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3" name="矩形 12"/>
          <p:cNvSpPr/>
          <p:nvPr>
            <p:custDataLst>
              <p:tags r:id="rId5"/>
            </p:custDataLst>
          </p:nvPr>
        </p:nvSpPr>
        <p:spPr>
          <a:xfrm>
            <a:off x="11971020" y="0"/>
            <a:ext cx="4284980" cy="96181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6" name="矩形 15"/>
          <p:cNvSpPr/>
          <p:nvPr>
            <p:custDataLst>
              <p:tags r:id="rId6"/>
            </p:custDataLst>
          </p:nvPr>
        </p:nvSpPr>
        <p:spPr>
          <a:xfrm>
            <a:off x="2219960" y="-847"/>
            <a:ext cx="2942167" cy="962660"/>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17" name="文本框 16"/>
          <p:cNvSpPr txBox="1"/>
          <p:nvPr>
            <p:custDataLst>
              <p:tags r:id="rId7"/>
            </p:custDataLst>
          </p:nvPr>
        </p:nvSpPr>
        <p:spPr>
          <a:xfrm>
            <a:off x="2428240" y="215053"/>
            <a:ext cx="13423900" cy="460375"/>
          </a:xfrm>
          <a:prstGeom prst="rect">
            <a:avLst/>
          </a:prstGeom>
          <a:noFill/>
        </p:spPr>
        <p:txBody>
          <a:bodyPr wrap="square" rtlCol="0">
            <a:spAutoFit/>
          </a:bodyPr>
          <a:lstStyle/>
          <a:p>
            <a:pPr indent="0" fontAlgn="auto">
              <a:lnSpc>
                <a:spcPct val="100000"/>
              </a:lnSpc>
            </a:pPr>
            <a:r>
              <a:rPr lang="en-US" altLang="zh-CN" sz="2400" dirty="0">
                <a:solidFill>
                  <a:schemeClr val="bg1"/>
                </a:solidFill>
                <a:latin typeface="Arial" panose="020B0604020202020204" pitchFamily="34" charset="0"/>
                <a:sym typeface="+mn-ea"/>
              </a:rPr>
              <a:t>  </a:t>
            </a:r>
            <a:r>
              <a:rPr lang="zh-CN" altLang="en-US" sz="2400" dirty="0">
                <a:solidFill>
                  <a:schemeClr val="bg1"/>
                </a:solidFill>
                <a:latin typeface="Arial" panose="020B0604020202020204" pitchFamily="34" charset="0"/>
                <a:sym typeface="+mn-ea"/>
              </a:rPr>
              <a:t>选题背景及意义</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国内外研究现状</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主要研究内容及预期目标</a:t>
            </a:r>
            <a:r>
              <a:rPr lang="en-US" altLang="zh-CN" sz="2400" dirty="0">
                <a:solidFill>
                  <a:prstClr val="black"/>
                </a:solidFill>
                <a:latin typeface="Arial" panose="020B0604020202020204" pitchFamily="34" charset="0"/>
                <a:sym typeface="+mn-ea"/>
              </a:rPr>
              <a:t>             </a:t>
            </a:r>
            <a:r>
              <a:rPr lang="zh-CN" altLang="en-US" sz="2400" dirty="0">
                <a:solidFill>
                  <a:prstClr val="black"/>
                </a:solidFill>
                <a:latin typeface="Arial" panose="020B0604020202020204" pitchFamily="34" charset="0"/>
                <a:sym typeface="+mn-ea"/>
              </a:rPr>
              <a:t>工作计划与进度安排</a:t>
            </a:r>
            <a:endParaRPr lang="zh-CN" altLang="en-US" sz="2400"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544407" y="140547"/>
            <a:ext cx="1273387" cy="745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3496733" y="961813"/>
            <a:ext cx="389467" cy="3048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2" name="矩形 1"/>
          <p:cNvSpPr/>
          <p:nvPr>
            <p:custDataLst>
              <p:tags r:id="rId11"/>
            </p:custDataLst>
          </p:nvPr>
        </p:nvSpPr>
        <p:spPr>
          <a:xfrm>
            <a:off x="643467" y="2236047"/>
            <a:ext cx="14037733" cy="76284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3" name="文本框 2"/>
          <p:cNvSpPr txBox="1"/>
          <p:nvPr/>
        </p:nvSpPr>
        <p:spPr>
          <a:xfrm>
            <a:off x="742527" y="2218267"/>
            <a:ext cx="14771793" cy="520255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665" dirty="0">
                <a:solidFill>
                  <a:schemeClr val="tx1">
                    <a:lumMod val="85000"/>
                    <a:lumOff val="15000"/>
                  </a:schemeClr>
                </a:solidFill>
                <a:sym typeface="+mn-ea"/>
              </a:rPr>
              <a:t>智能体执行任务的自主性对智能体授权协议的授权粒度提出了更高的要求</a:t>
            </a:r>
            <a:endParaRPr lang="zh-CN" altLang="en-US" sz="2665" dirty="0">
              <a:solidFill>
                <a:schemeClr val="tx1">
                  <a:lumMod val="85000"/>
                  <a:lumOff val="15000"/>
                </a:schemeClr>
              </a:solidFill>
              <a:sym typeface="+mn-ea"/>
            </a:endParaRPr>
          </a:p>
          <a:p>
            <a:pPr lvl="1" indent="457200">
              <a:lnSpc>
                <a:spcPct val="150000"/>
              </a:lnSpc>
              <a:spcAft>
                <a:spcPts val="1200"/>
              </a:spcAft>
            </a:pPr>
            <a:r>
              <a:rPr lang="zh-CN" altLang="en-US" sz="3200" b="1" dirty="0">
                <a:solidFill>
                  <a:srgbClr val="04579A"/>
                </a:solidFill>
                <a:sym typeface="+mn-ea"/>
              </a:rPr>
              <a:t>智能体授权协议的授权粒度需要匹配具体任务级语义</a:t>
            </a:r>
            <a:endParaRPr lang="zh-CN" altLang="en-US" sz="3200" b="1" dirty="0">
              <a:solidFill>
                <a:srgbClr val="04579A"/>
              </a:solidFill>
              <a:sym typeface="+mn-ea"/>
            </a:endParaRPr>
          </a:p>
          <a:p>
            <a:pPr marL="457200" lvl="0" indent="-457200" fontAlgn="auto">
              <a:lnSpc>
                <a:spcPct val="150000"/>
              </a:lnSpc>
              <a:buAutoNum type="arabicPeriod"/>
            </a:pPr>
            <a:r>
              <a:rPr lang="zh-CN" altLang="en-US" sz="2665" dirty="0">
                <a:sym typeface="+mn-ea"/>
              </a:rPr>
              <a:t>智能体执行任务的自主性要求更灵活的智能体授权</a:t>
            </a:r>
            <a:endParaRPr lang="zh-CN" altLang="en-US" sz="2665" dirty="0">
              <a:sym typeface="+mn-ea"/>
            </a:endParaRPr>
          </a:p>
          <a:p>
            <a:pPr marL="457200" lvl="1" indent="457200" fontAlgn="auto">
              <a:lnSpc>
                <a:spcPct val="150000"/>
              </a:lnSpc>
              <a:spcAft>
                <a:spcPts val="1200"/>
              </a:spcAft>
              <a:buNone/>
            </a:pPr>
            <a:r>
              <a:rPr lang="zh-CN" altLang="en-US" sz="3200" b="1" dirty="0">
                <a:solidFill>
                  <a:srgbClr val="04579A"/>
                </a:solidFill>
                <a:sym typeface="+mn-ea"/>
              </a:rPr>
              <a:t>对智能体的授权需要以任务上下文为条件</a:t>
            </a:r>
            <a:endParaRPr lang="zh-CN" altLang="en-US" sz="3200" dirty="0">
              <a:solidFill>
                <a:srgbClr val="04579A"/>
              </a:solidFill>
              <a:sym typeface="+mn-ea"/>
            </a:endParaRPr>
          </a:p>
          <a:p>
            <a:pPr marL="457200" lvl="0" indent="-457200" fontAlgn="auto">
              <a:lnSpc>
                <a:spcPct val="150000"/>
              </a:lnSpc>
              <a:buAutoNum type="arabicPeriod"/>
            </a:pPr>
            <a:r>
              <a:rPr lang="zh-CN" altLang="en-US" sz="2665" dirty="0">
                <a:solidFill>
                  <a:schemeClr val="bg1">
                    <a:lumMod val="95000"/>
                  </a:schemeClr>
                </a:solidFill>
                <a:sym typeface="+mn-ea"/>
              </a:rPr>
              <a:t>异构区块链系统间的互联互通要求分布式数字资产交易协议具有互操作性</a:t>
            </a:r>
            <a:endParaRPr lang="zh-CN" altLang="en-US" sz="2665" dirty="0">
              <a:solidFill>
                <a:schemeClr val="bg1">
                  <a:lumMod val="95000"/>
                </a:schemeClr>
              </a:solidFill>
              <a:sym typeface="+mn-ea"/>
            </a:endParaRPr>
          </a:p>
          <a:p>
            <a:pPr lvl="1" indent="457200">
              <a:lnSpc>
                <a:spcPct val="150000"/>
              </a:lnSpc>
            </a:pPr>
            <a:r>
              <a:rPr lang="zh-CN" altLang="en-US" sz="3200" b="1" dirty="0">
                <a:solidFill>
                  <a:schemeClr val="bg1">
                    <a:lumMod val="95000"/>
                  </a:schemeClr>
                </a:solidFill>
                <a:sym typeface="+mn-ea"/>
              </a:rPr>
              <a:t>分布式数字资产交易协议需要高效的跨链证明协议</a:t>
            </a:r>
            <a:endParaRPr lang="en-US" altLang="zh-CN" sz="3200" b="1" dirty="0">
              <a:solidFill>
                <a:schemeClr val="bg1">
                  <a:lumMod val="95000"/>
                </a:schemeClr>
              </a:solidFill>
              <a:sym typeface="+mn-ea"/>
            </a:endParaRPr>
          </a:p>
          <a:p>
            <a:pPr lvl="1" indent="457200">
              <a:lnSpc>
                <a:spcPct val="150000"/>
              </a:lnSpc>
            </a:pPr>
            <a:endParaRPr lang="zh-CN" altLang="en-US" sz="3200" b="1" dirty="0">
              <a:solidFill>
                <a:schemeClr val="bg1">
                  <a:lumMod val="95000"/>
                </a:schemeClr>
              </a:solidFill>
              <a:sym typeface="+mn-ea"/>
            </a:endParaRPr>
          </a:p>
        </p:txBody>
      </p:sp>
      <p:sp>
        <p:nvSpPr>
          <p:cNvPr id="4" name="燕尾形 3"/>
          <p:cNvSpPr/>
          <p:nvPr>
            <p:custDataLst>
              <p:tags r:id="rId12"/>
            </p:custDataLst>
          </p:nvPr>
        </p:nvSpPr>
        <p:spPr>
          <a:xfrm>
            <a:off x="1358900" y="3119967"/>
            <a:ext cx="485987" cy="343747"/>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sp>
        <p:nvSpPr>
          <p:cNvPr id="6" name="文本框 5"/>
          <p:cNvSpPr txBox="1"/>
          <p:nvPr/>
        </p:nvSpPr>
        <p:spPr>
          <a:xfrm>
            <a:off x="15649039" y="8666348"/>
            <a:ext cx="606961" cy="460375"/>
          </a:xfrm>
          <a:prstGeom prst="rect">
            <a:avLst/>
          </a:prstGeom>
          <a:noFill/>
        </p:spPr>
        <p:txBody>
          <a:bodyPr wrap="square" rtlCol="0">
            <a:spAutoFit/>
          </a:bodyPr>
          <a:lstStyle/>
          <a:p>
            <a:pPr algn="ctr"/>
            <a:r>
              <a:rPr lang="en-US" altLang="zh-CN" sz="2400" dirty="0"/>
              <a:t>7</a:t>
            </a:r>
            <a:endParaRPr lang="zh-CN" altLang="en-US" sz="2400" dirty="0"/>
          </a:p>
        </p:txBody>
      </p:sp>
    </p:spTree>
    <p:custDataLst>
      <p:tags r:id="rId13"/>
    </p:custDataLst>
  </p:cSld>
  <p:clrMapOvr>
    <a:masterClrMapping/>
  </p:clrMapOvr>
  <p:transition/>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485</Words>
  <Application>WPS 演示</Application>
  <PresentationFormat>On-screen Show (16:9)</PresentationFormat>
  <Paragraphs>27</Paragraphs>
  <Slides>2</Slides>
  <Notes>17</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2</vt:i4>
      </vt:variant>
    </vt:vector>
  </HeadingPairs>
  <TitlesOfParts>
    <vt:vector size="17" baseType="lpstr">
      <vt:lpstr>Arial</vt:lpstr>
      <vt:lpstr>宋体</vt:lpstr>
      <vt:lpstr>Wingdings</vt:lpstr>
      <vt:lpstr>Quattrocento Sans</vt:lpstr>
      <vt:lpstr>Segoe Print</vt:lpstr>
      <vt:lpstr>Quattrocento Sans</vt:lpstr>
      <vt:lpstr>Quattrocento Sans</vt:lpstr>
      <vt:lpstr>Calibri</vt:lpstr>
      <vt:lpstr>微软雅黑</vt:lpstr>
      <vt:lpstr>Arial Unicode MS</vt:lpstr>
      <vt:lpstr>MingLiU-ExtB</vt:lpstr>
      <vt:lpstr>等线</vt:lpstr>
      <vt:lpstr>等线 Light</vt:lpstr>
      <vt:lpstr>Calibri Light</vt:lpstr>
      <vt:lpstr>Office Theme</vt:lpstr>
      <vt:lpstr>PowerPoint 演示文稿</vt:lpstr>
      <vt:lpstr>PowerPoint 演示文稿</vt:lpstr>
    </vt:vector>
  </TitlesOfParts>
  <Company>Moonshot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面向复杂任务智能体授权协议研究与实现 - 开题报告</dc:title>
  <dc:creator>Kimi</dc:creator>
  <dc:subject>面向复杂任务智能体授权协议研究与实现 - 开题报告</dc:subject>
  <cp:lastModifiedBy>风雨中行走</cp:lastModifiedBy>
  <cp:revision>2</cp:revision>
  <dcterms:created xsi:type="dcterms:W3CDTF">2026-06-25T07:24:00Z</dcterms:created>
  <dcterms:modified xsi:type="dcterms:W3CDTF">2026-06-25T09:46:16Z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{"Label":"面向复杂任务智能体授权协议研究与实现 - 开题报告","ContentProducer":"001191110108MACG2KBH8F10000","ProduceID":"19efccc8-6752-8721-8000-0000dd944ad4","ReservedCode1":"","ContentPropagator":"001191110108MACG2KBH8F20000","PropagateID":"19ee528b-5122-8cdd-8000-091226114ca8","ReservedCode2":""}</vt:lpwstr>
  </property>
  <property fmtid="{D5CDD505-2E9C-101B-9397-08002B2CF9AE}" pid="3" name="ICV">
    <vt:lpwstr>BCD53D5ACB674685AB8DA18A078FEE07_12</vt:lpwstr>
  </property>
  <property fmtid="{D5CDD505-2E9C-101B-9397-08002B2CF9AE}" pid="4" name="KSOProductBuildVer">
    <vt:lpwstr>2052-12.1.0.26895</vt:lpwstr>
  </property>
</Properties>
</file>