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21678900" cy="12192000"/>
  <p:notesSz cx="12192000" cy="216789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59989" y="0"/>
            <a:ext cx="3860800" cy="1283589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82892" y="-1143"/>
            <a:ext cx="3454400" cy="1283589"/>
          </a:xfrm>
          <a:prstGeom prst="rect">
            <a:avLst/>
          </a:prstGeom>
          <a:solidFill>
            <a:srgbClr val="04579A"/>
          </a:solidFill>
          <a:ln w="12700">
            <a:solidFill>
              <a:srgbClr val="0457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2001" y="-1143"/>
            <a:ext cx="5486400" cy="1283589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15961360" y="0"/>
            <a:ext cx="5713349" cy="1282319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3044571" y="270891"/>
            <a:ext cx="3691509" cy="677291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2882011" y="189611"/>
            <a:ext cx="4016629" cy="839851"/>
          </a:xfrm>
          <a:prstGeom prst="rect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2760091" y="128651"/>
            <a:ext cx="4260469" cy="961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7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选题背景及意义</a:t>
            </a:r>
            <a:endParaRPr lang="en-US" sz="2670" dirty="0"/>
          </a:p>
        </p:txBody>
      </p:sp>
      <p:sp>
        <p:nvSpPr>
          <p:cNvPr id="9" name="Shape 7"/>
          <p:cNvSpPr/>
          <p:nvPr/>
        </p:nvSpPr>
        <p:spPr>
          <a:xfrm>
            <a:off x="6967601" y="270891"/>
            <a:ext cx="3285109" cy="677291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6805041" y="189611"/>
            <a:ext cx="3610229" cy="839851"/>
          </a:xfrm>
          <a:prstGeom prst="rect">
            <a:avLst/>
          </a:prstGeom>
          <a:noFill/>
          <a:ln/>
        </p:spPr>
      </p:sp>
      <p:sp>
        <p:nvSpPr>
          <p:cNvPr id="11" name="Text 9"/>
          <p:cNvSpPr/>
          <p:nvPr/>
        </p:nvSpPr>
        <p:spPr>
          <a:xfrm>
            <a:off x="6683121" y="128651"/>
            <a:ext cx="3854069" cy="961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国内外研究现状</a:t>
            </a:r>
            <a:endParaRPr lang="en-US" sz="2670" dirty="0"/>
          </a:p>
        </p:txBody>
      </p:sp>
      <p:sp>
        <p:nvSpPr>
          <p:cNvPr id="12" name="Shape 10"/>
          <p:cNvSpPr/>
          <p:nvPr/>
        </p:nvSpPr>
        <p:spPr>
          <a:xfrm>
            <a:off x="10506583" y="270891"/>
            <a:ext cx="5317109" cy="677291"/>
          </a:xfrm>
          <a:prstGeom prst="rect">
            <a:avLst/>
          </a:prstGeom>
          <a:noFill/>
          <a:ln/>
        </p:spPr>
      </p:sp>
      <p:sp>
        <p:nvSpPr>
          <p:cNvPr id="13" name="Shape 11"/>
          <p:cNvSpPr/>
          <p:nvPr/>
        </p:nvSpPr>
        <p:spPr>
          <a:xfrm>
            <a:off x="10344023" y="189611"/>
            <a:ext cx="5642229" cy="839851"/>
          </a:xfrm>
          <a:prstGeom prst="rect">
            <a:avLst/>
          </a:prstGeom>
          <a:noFill/>
          <a:ln/>
        </p:spPr>
      </p:sp>
      <p:sp>
        <p:nvSpPr>
          <p:cNvPr id="14" name="Text 12"/>
          <p:cNvSpPr/>
          <p:nvPr/>
        </p:nvSpPr>
        <p:spPr>
          <a:xfrm>
            <a:off x="10222103" y="128651"/>
            <a:ext cx="5886069" cy="961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7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主要研究内容及预期目标</a:t>
            </a:r>
            <a:endParaRPr lang="en-US" sz="2670" dirty="0"/>
          </a:p>
        </p:txBody>
      </p:sp>
      <p:sp>
        <p:nvSpPr>
          <p:cNvPr id="15" name="Shape 13"/>
          <p:cNvSpPr/>
          <p:nvPr/>
        </p:nvSpPr>
        <p:spPr>
          <a:xfrm>
            <a:off x="16046069" y="270891"/>
            <a:ext cx="5543931" cy="677291"/>
          </a:xfrm>
          <a:prstGeom prst="rect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15883509" y="189611"/>
            <a:ext cx="5869051" cy="839851"/>
          </a:xfrm>
          <a:prstGeom prst="rect">
            <a:avLst/>
          </a:prstGeom>
          <a:noFill/>
          <a:ln/>
        </p:spPr>
      </p:sp>
      <p:sp>
        <p:nvSpPr>
          <p:cNvPr id="17" name="Text 15"/>
          <p:cNvSpPr/>
          <p:nvPr/>
        </p:nvSpPr>
        <p:spPr>
          <a:xfrm>
            <a:off x="15761589" y="128651"/>
            <a:ext cx="6112891" cy="961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7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工作计划与进度安排</a:t>
            </a:r>
            <a:endParaRPr lang="en-US" sz="2670" dirty="0"/>
          </a:p>
        </p:txBody>
      </p:sp>
      <p:pic>
        <p:nvPicPr>
          <p:cNvPr id="18" name="Image 0" descr="https://kimi-img.moonshot.cn/pub/slides/okc/flfuysioo4gzm/mnt/agents/output/temp3_pptd/images/image_1.jpg">    </p:cNvPr>
          <p:cNvPicPr>
            <a:picLocks noChangeAspect="1"/>
          </p:cNvPicPr>
          <p:nvPr/>
        </p:nvPicPr>
        <p:blipFill>
          <a:blip r:embed="rId1"/>
          <a:srcRect l="5060" r="29000" t="0" b="0"/>
          <a:stretch/>
        </p:blipFill>
        <p:spPr>
          <a:xfrm>
            <a:off x="725932" y="187452"/>
            <a:ext cx="1697863" cy="994537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 rot="10800000">
            <a:off x="8506079" y="1282319"/>
            <a:ext cx="519303" cy="406400"/>
          </a:xfrm>
          <a:prstGeom prst="triangle">
            <a:avLst>
              <a:gd name="adj" fmla="val 50000"/>
            </a:avLst>
          </a:prstGeom>
          <a:solidFill>
            <a:srgbClr val="04579A"/>
          </a:solidFill>
          <a:ln/>
        </p:spPr>
      </p:sp>
      <p:sp>
        <p:nvSpPr>
          <p:cNvPr id="20" name="Text 17"/>
          <p:cNvSpPr/>
          <p:nvPr/>
        </p:nvSpPr>
        <p:spPr>
          <a:xfrm>
            <a:off x="762000" y="1587500"/>
            <a:ext cx="1143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传统授权协议研究现状</a:t>
            </a:r>
            <a:endParaRPr lang="en-US" sz="4200" dirty="0"/>
          </a:p>
        </p:txBody>
      </p:sp>
      <p:sp>
        <p:nvSpPr>
          <p:cNvPr id="21" name="Shape 18"/>
          <p:cNvSpPr/>
          <p:nvPr/>
        </p:nvSpPr>
        <p:spPr>
          <a:xfrm>
            <a:off x="762000" y="6858000"/>
            <a:ext cx="20154900" cy="50800"/>
          </a:xfrm>
          <a:prstGeom prst="rect">
            <a:avLst/>
          </a:prstGeom>
          <a:solidFill>
            <a:srgbClr val="04579A"/>
          </a:solidFill>
          <a:ln/>
        </p:spPr>
      </p:sp>
      <p:sp>
        <p:nvSpPr>
          <p:cNvPr id="22" name="Shape 19"/>
          <p:cNvSpPr/>
          <p:nvPr/>
        </p:nvSpPr>
        <p:spPr>
          <a:xfrm>
            <a:off x="2159000" y="6731000"/>
            <a:ext cx="254000" cy="254000"/>
          </a:xfrm>
          <a:prstGeom prst="ellipse">
            <a:avLst/>
          </a:prstGeom>
          <a:solidFill>
            <a:srgbClr val="04579A"/>
          </a:solidFill>
          <a:ln/>
        </p:spPr>
      </p:sp>
      <p:sp>
        <p:nvSpPr>
          <p:cNvPr id="23" name="Text 20"/>
          <p:cNvSpPr/>
          <p:nvPr/>
        </p:nvSpPr>
        <p:spPr>
          <a:xfrm>
            <a:off x="1651000" y="62230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1973</a:t>
            </a:r>
            <a:endParaRPr lang="en-US" sz="2200" dirty="0"/>
          </a:p>
        </p:txBody>
      </p:sp>
      <p:sp>
        <p:nvSpPr>
          <p:cNvPr id="24" name="Shape 21"/>
          <p:cNvSpPr/>
          <p:nvPr/>
        </p:nvSpPr>
        <p:spPr>
          <a:xfrm>
            <a:off x="1016000" y="3683000"/>
            <a:ext cx="2540000" cy="2476500"/>
          </a:xfrm>
          <a:prstGeom prst="roundRect">
            <a:avLst>
              <a:gd name="adj" fmla="val 3000"/>
            </a:avLst>
          </a:prstGeom>
          <a:solidFill>
            <a:srgbClr val="E8F4FD"/>
          </a:solidFill>
          <a:ln/>
        </p:spPr>
      </p:sp>
      <p:sp>
        <p:nvSpPr>
          <p:cNvPr id="25" name="Text 22"/>
          <p:cNvSpPr/>
          <p:nvPr/>
        </p:nvSpPr>
        <p:spPr>
          <a:xfrm>
            <a:off x="1092200" y="3759200"/>
            <a:ext cx="2387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Computer Systems [4]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092200" y="4826000"/>
            <a:ext cx="23876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提出BLP机密性模型，MAC强制访问控制双支柱之一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010150" y="6731000"/>
            <a:ext cx="254000" cy="254000"/>
          </a:xfrm>
          <a:prstGeom prst="ellipse">
            <a:avLst/>
          </a:prstGeom>
          <a:solidFill>
            <a:srgbClr val="04579A"/>
          </a:solidFill>
          <a:ln/>
        </p:spPr>
      </p:sp>
      <p:sp>
        <p:nvSpPr>
          <p:cNvPr id="28" name="Text 25"/>
          <p:cNvSpPr/>
          <p:nvPr/>
        </p:nvSpPr>
        <p:spPr>
          <a:xfrm>
            <a:off x="4502150" y="71755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1977</a:t>
            </a:r>
            <a:endParaRPr lang="en-US" sz="2200" dirty="0"/>
          </a:p>
        </p:txBody>
      </p:sp>
      <p:sp>
        <p:nvSpPr>
          <p:cNvPr id="29" name="Shape 26"/>
          <p:cNvSpPr/>
          <p:nvPr/>
        </p:nvSpPr>
        <p:spPr>
          <a:xfrm>
            <a:off x="3867150" y="7556500"/>
            <a:ext cx="2540000" cy="2476500"/>
          </a:xfrm>
          <a:prstGeom prst="roundRect">
            <a:avLst>
              <a:gd name="adj" fmla="val 3000"/>
            </a:avLst>
          </a:prstGeom>
          <a:solidFill>
            <a:srgbClr val="E8F4FD"/>
          </a:solidFill>
          <a:ln/>
        </p:spPr>
      </p:sp>
      <p:sp>
        <p:nvSpPr>
          <p:cNvPr id="30" name="Text 27"/>
          <p:cNvSpPr/>
          <p:nvPr/>
        </p:nvSpPr>
        <p:spPr>
          <a:xfrm>
            <a:off x="3943350" y="7632700"/>
            <a:ext cx="2387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 for Secure Computer Systems [5]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3943350" y="8699500"/>
            <a:ext cx="23876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提出完整性保护模型，MAC机密性与完整性互补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7861300" y="6731000"/>
            <a:ext cx="254000" cy="254000"/>
          </a:xfrm>
          <a:prstGeom prst="ellipse">
            <a:avLst/>
          </a:prstGeom>
          <a:solidFill>
            <a:srgbClr val="04579A"/>
          </a:solidFill>
          <a:ln/>
        </p:spPr>
      </p:sp>
      <p:sp>
        <p:nvSpPr>
          <p:cNvPr id="33" name="Text 30"/>
          <p:cNvSpPr/>
          <p:nvPr/>
        </p:nvSpPr>
        <p:spPr>
          <a:xfrm>
            <a:off x="7353300" y="62230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1996</a:t>
            </a:r>
            <a:endParaRPr lang="en-US" sz="2200" dirty="0"/>
          </a:p>
        </p:txBody>
      </p:sp>
      <p:sp>
        <p:nvSpPr>
          <p:cNvPr id="34" name="Shape 31"/>
          <p:cNvSpPr/>
          <p:nvPr/>
        </p:nvSpPr>
        <p:spPr>
          <a:xfrm>
            <a:off x="6718300" y="3683000"/>
            <a:ext cx="2540000" cy="2476500"/>
          </a:xfrm>
          <a:prstGeom prst="roundRect">
            <a:avLst>
              <a:gd name="adj" fmla="val 3000"/>
            </a:avLst>
          </a:prstGeom>
          <a:solidFill>
            <a:srgbClr val="E8F4FD"/>
          </a:solidFill>
          <a:ln/>
        </p:spPr>
      </p:sp>
      <p:sp>
        <p:nvSpPr>
          <p:cNvPr id="35" name="Text 32"/>
          <p:cNvSpPr/>
          <p:nvPr/>
        </p:nvSpPr>
        <p:spPr>
          <a:xfrm>
            <a:off x="6794500" y="3759200"/>
            <a:ext cx="2387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Control Models [9]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794500" y="4826000"/>
            <a:ext cx="23876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引入角色抽象层简化大规模权限管理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10712450" y="6731000"/>
            <a:ext cx="254000" cy="254000"/>
          </a:xfrm>
          <a:prstGeom prst="ellipse">
            <a:avLst/>
          </a:prstGeom>
          <a:solidFill>
            <a:srgbClr val="04579A"/>
          </a:solidFill>
          <a:ln/>
        </p:spPr>
      </p:sp>
      <p:sp>
        <p:nvSpPr>
          <p:cNvPr id="38" name="Text 35"/>
          <p:cNvSpPr/>
          <p:nvPr/>
        </p:nvSpPr>
        <p:spPr>
          <a:xfrm>
            <a:off x="10204450" y="71755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</a:t>
            </a:r>
            <a:endParaRPr lang="en-US" sz="2200" dirty="0"/>
          </a:p>
        </p:txBody>
      </p:sp>
      <p:sp>
        <p:nvSpPr>
          <p:cNvPr id="39" name="Shape 36"/>
          <p:cNvSpPr/>
          <p:nvPr/>
        </p:nvSpPr>
        <p:spPr>
          <a:xfrm>
            <a:off x="9569450" y="7556500"/>
            <a:ext cx="2540000" cy="2476500"/>
          </a:xfrm>
          <a:prstGeom prst="roundRect">
            <a:avLst>
              <a:gd name="adj" fmla="val 3000"/>
            </a:avLst>
          </a:prstGeom>
          <a:solidFill>
            <a:srgbClr val="E8F4FD"/>
          </a:solidFill>
          <a:ln/>
        </p:spPr>
      </p:sp>
      <p:sp>
        <p:nvSpPr>
          <p:cNvPr id="40" name="Text 37"/>
          <p:cNvSpPr/>
          <p:nvPr/>
        </p:nvSpPr>
        <p:spPr>
          <a:xfrm>
            <a:off x="9645650" y="7632700"/>
            <a:ext cx="2387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OAuth 2.0 Authorization Framework [16]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9645650" y="8699500"/>
            <a:ext cx="23876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定义委托授权范式，Bearer Token粗粒度静态权限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13563600" y="6731000"/>
            <a:ext cx="254000" cy="254000"/>
          </a:xfrm>
          <a:prstGeom prst="ellipse">
            <a:avLst/>
          </a:prstGeom>
          <a:solidFill>
            <a:srgbClr val="04579A"/>
          </a:solidFill>
          <a:ln/>
        </p:spPr>
      </p:sp>
      <p:sp>
        <p:nvSpPr>
          <p:cNvPr id="43" name="Text 40"/>
          <p:cNvSpPr/>
          <p:nvPr/>
        </p:nvSpPr>
        <p:spPr>
          <a:xfrm>
            <a:off x="13055600" y="62230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2014</a:t>
            </a:r>
            <a:endParaRPr lang="en-US" sz="2200" dirty="0"/>
          </a:p>
        </p:txBody>
      </p:sp>
      <p:sp>
        <p:nvSpPr>
          <p:cNvPr id="44" name="Shape 41"/>
          <p:cNvSpPr/>
          <p:nvPr/>
        </p:nvSpPr>
        <p:spPr>
          <a:xfrm>
            <a:off x="12420600" y="3683000"/>
            <a:ext cx="2540000" cy="2476500"/>
          </a:xfrm>
          <a:prstGeom prst="roundRect">
            <a:avLst>
              <a:gd name="adj" fmla="val 3000"/>
            </a:avLst>
          </a:prstGeom>
          <a:solidFill>
            <a:srgbClr val="E8F4FD"/>
          </a:solidFill>
          <a:ln/>
        </p:spPr>
      </p:sp>
      <p:sp>
        <p:nvSpPr>
          <p:cNvPr id="45" name="Text 42"/>
          <p:cNvSpPr/>
          <p:nvPr/>
        </p:nvSpPr>
        <p:spPr>
          <a:xfrm>
            <a:off x="12496800" y="3759200"/>
            <a:ext cx="2387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Macaroons for Decentralized Authorization [31]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12496800" y="4826000"/>
            <a:ext cx="23876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嵌套HMAC链实现权限单调衰减，NDSS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16414750" y="6731000"/>
            <a:ext cx="254000" cy="254000"/>
          </a:xfrm>
          <a:prstGeom prst="ellipse">
            <a:avLst/>
          </a:prstGeom>
          <a:solidFill>
            <a:srgbClr val="04579A"/>
          </a:solidFill>
          <a:ln/>
        </p:spPr>
      </p:sp>
      <p:sp>
        <p:nvSpPr>
          <p:cNvPr id="48" name="Text 45"/>
          <p:cNvSpPr/>
          <p:nvPr/>
        </p:nvSpPr>
        <p:spPr>
          <a:xfrm>
            <a:off x="15906750" y="71755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</a:t>
            </a:r>
            <a:endParaRPr lang="en-US" sz="2200" dirty="0"/>
          </a:p>
        </p:txBody>
      </p:sp>
      <p:sp>
        <p:nvSpPr>
          <p:cNvPr id="49" name="Shape 46"/>
          <p:cNvSpPr/>
          <p:nvPr/>
        </p:nvSpPr>
        <p:spPr>
          <a:xfrm>
            <a:off x="15271750" y="7556500"/>
            <a:ext cx="2540000" cy="2476500"/>
          </a:xfrm>
          <a:prstGeom prst="roundRect">
            <a:avLst>
              <a:gd name="adj" fmla="val 3000"/>
            </a:avLst>
          </a:prstGeom>
          <a:solidFill>
            <a:srgbClr val="E8F4FD"/>
          </a:solidFill>
          <a:ln/>
        </p:spPr>
      </p:sp>
      <p:sp>
        <p:nvSpPr>
          <p:cNvPr id="50" name="Text 47"/>
          <p:cNvSpPr/>
          <p:nvPr/>
        </p:nvSpPr>
        <p:spPr>
          <a:xfrm>
            <a:off x="15347950" y="7632700"/>
            <a:ext cx="2387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WAVE: Decentralized Authorization [32]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15347950" y="8699500"/>
            <a:ext cx="23876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基于能力的访问控制，传递性委托，USENIX Security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19265900" y="6731000"/>
            <a:ext cx="254000" cy="254000"/>
          </a:xfrm>
          <a:prstGeom prst="ellipse">
            <a:avLst/>
          </a:prstGeom>
          <a:solidFill>
            <a:srgbClr val="04579A"/>
          </a:solidFill>
          <a:ln/>
        </p:spPr>
      </p:sp>
      <p:sp>
        <p:nvSpPr>
          <p:cNvPr id="53" name="Text 50"/>
          <p:cNvSpPr/>
          <p:nvPr/>
        </p:nvSpPr>
        <p:spPr>
          <a:xfrm>
            <a:off x="18757900" y="62230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2200" dirty="0"/>
          </a:p>
        </p:txBody>
      </p:sp>
      <p:sp>
        <p:nvSpPr>
          <p:cNvPr id="54" name="Shape 51"/>
          <p:cNvSpPr/>
          <p:nvPr/>
        </p:nvSpPr>
        <p:spPr>
          <a:xfrm>
            <a:off x="18122900" y="3683000"/>
            <a:ext cx="2540000" cy="2476500"/>
          </a:xfrm>
          <a:prstGeom prst="roundRect">
            <a:avLst>
              <a:gd name="adj" fmla="val 3000"/>
            </a:avLst>
          </a:prstGeom>
          <a:solidFill>
            <a:srgbClr val="E8F4FD"/>
          </a:solidFill>
          <a:ln/>
        </p:spPr>
      </p:sp>
      <p:sp>
        <p:nvSpPr>
          <p:cNvPr id="55" name="Text 52"/>
          <p:cNvSpPr/>
          <p:nvPr/>
        </p:nvSpPr>
        <p:spPr>
          <a:xfrm>
            <a:off x="18199100" y="3759200"/>
            <a:ext cx="2387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Stateful Least Privilege Authorization [33]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18199100" y="4826000"/>
            <a:ext cx="23876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WebAssembly策略+操作日志动态评估，USENIX Security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20320000" y="11557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2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8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59989" y="0"/>
            <a:ext cx="3860800" cy="1283589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82892" y="-1143"/>
            <a:ext cx="3454400" cy="1283589"/>
          </a:xfrm>
          <a:prstGeom prst="rect">
            <a:avLst/>
          </a:prstGeom>
          <a:solidFill>
            <a:srgbClr val="04579A"/>
          </a:solidFill>
          <a:ln w="12700">
            <a:solidFill>
              <a:srgbClr val="0457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2001" y="-1143"/>
            <a:ext cx="5486400" cy="1283589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15961360" y="0"/>
            <a:ext cx="5713349" cy="1282319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3044571" y="270891"/>
            <a:ext cx="3691509" cy="677291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2882011" y="189611"/>
            <a:ext cx="4016629" cy="839851"/>
          </a:xfrm>
          <a:prstGeom prst="rect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2760091" y="128651"/>
            <a:ext cx="4260469" cy="961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7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选题背景及意义</a:t>
            </a:r>
            <a:endParaRPr lang="en-US" sz="2670" dirty="0"/>
          </a:p>
        </p:txBody>
      </p:sp>
      <p:sp>
        <p:nvSpPr>
          <p:cNvPr id="9" name="Shape 7"/>
          <p:cNvSpPr/>
          <p:nvPr/>
        </p:nvSpPr>
        <p:spPr>
          <a:xfrm>
            <a:off x="6967601" y="270891"/>
            <a:ext cx="3285109" cy="677291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6805041" y="189611"/>
            <a:ext cx="3610229" cy="839851"/>
          </a:xfrm>
          <a:prstGeom prst="rect">
            <a:avLst/>
          </a:prstGeom>
          <a:noFill/>
          <a:ln/>
        </p:spPr>
      </p:sp>
      <p:sp>
        <p:nvSpPr>
          <p:cNvPr id="11" name="Text 9"/>
          <p:cNvSpPr/>
          <p:nvPr/>
        </p:nvSpPr>
        <p:spPr>
          <a:xfrm>
            <a:off x="6683121" y="128651"/>
            <a:ext cx="3854069" cy="961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国内外研究现状</a:t>
            </a:r>
            <a:endParaRPr lang="en-US" sz="2670" dirty="0"/>
          </a:p>
        </p:txBody>
      </p:sp>
      <p:sp>
        <p:nvSpPr>
          <p:cNvPr id="12" name="Shape 10"/>
          <p:cNvSpPr/>
          <p:nvPr/>
        </p:nvSpPr>
        <p:spPr>
          <a:xfrm>
            <a:off x="10506583" y="270891"/>
            <a:ext cx="5317109" cy="677291"/>
          </a:xfrm>
          <a:prstGeom prst="rect">
            <a:avLst/>
          </a:prstGeom>
          <a:noFill/>
          <a:ln/>
        </p:spPr>
      </p:sp>
      <p:sp>
        <p:nvSpPr>
          <p:cNvPr id="13" name="Shape 11"/>
          <p:cNvSpPr/>
          <p:nvPr/>
        </p:nvSpPr>
        <p:spPr>
          <a:xfrm>
            <a:off x="10344023" y="189611"/>
            <a:ext cx="5642229" cy="839851"/>
          </a:xfrm>
          <a:prstGeom prst="rect">
            <a:avLst/>
          </a:prstGeom>
          <a:noFill/>
          <a:ln/>
        </p:spPr>
      </p:sp>
      <p:sp>
        <p:nvSpPr>
          <p:cNvPr id="14" name="Text 12"/>
          <p:cNvSpPr/>
          <p:nvPr/>
        </p:nvSpPr>
        <p:spPr>
          <a:xfrm>
            <a:off x="10222103" y="128651"/>
            <a:ext cx="5886069" cy="961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7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主要研究内容及预期目标</a:t>
            </a:r>
            <a:endParaRPr lang="en-US" sz="2670" dirty="0"/>
          </a:p>
        </p:txBody>
      </p:sp>
      <p:sp>
        <p:nvSpPr>
          <p:cNvPr id="15" name="Shape 13"/>
          <p:cNvSpPr/>
          <p:nvPr/>
        </p:nvSpPr>
        <p:spPr>
          <a:xfrm>
            <a:off x="16046069" y="270891"/>
            <a:ext cx="5543931" cy="677291"/>
          </a:xfrm>
          <a:prstGeom prst="rect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15883509" y="189611"/>
            <a:ext cx="5869051" cy="839851"/>
          </a:xfrm>
          <a:prstGeom prst="rect">
            <a:avLst/>
          </a:prstGeom>
          <a:noFill/>
          <a:ln/>
        </p:spPr>
      </p:sp>
      <p:sp>
        <p:nvSpPr>
          <p:cNvPr id="17" name="Text 15"/>
          <p:cNvSpPr/>
          <p:nvPr/>
        </p:nvSpPr>
        <p:spPr>
          <a:xfrm>
            <a:off x="15761589" y="128651"/>
            <a:ext cx="6112891" cy="961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7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工作计划与进度安排</a:t>
            </a:r>
            <a:endParaRPr lang="en-US" sz="2670" dirty="0"/>
          </a:p>
        </p:txBody>
      </p:sp>
      <p:pic>
        <p:nvPicPr>
          <p:cNvPr id="18" name="Image 0" descr="https://kimi-img.moonshot.cn/pub/slides/okc/flfuysioo4gzm/mnt/agents/output/temp3_pptd/images/image_1.jpg">    </p:cNvPr>
          <p:cNvPicPr>
            <a:picLocks noChangeAspect="1"/>
          </p:cNvPicPr>
          <p:nvPr/>
        </p:nvPicPr>
        <p:blipFill>
          <a:blip r:embed="rId1"/>
          <a:srcRect l="5060" r="29000" t="0" b="0"/>
          <a:stretch/>
        </p:blipFill>
        <p:spPr>
          <a:xfrm>
            <a:off x="725932" y="187452"/>
            <a:ext cx="1697863" cy="994537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 rot="10800000">
            <a:off x="8506079" y="1282319"/>
            <a:ext cx="519303" cy="406400"/>
          </a:xfrm>
          <a:prstGeom prst="triangle">
            <a:avLst>
              <a:gd name="adj" fmla="val 50000"/>
            </a:avLst>
          </a:prstGeom>
          <a:solidFill>
            <a:srgbClr val="04579A"/>
          </a:solidFill>
          <a:ln/>
        </p:spPr>
      </p:sp>
      <p:sp>
        <p:nvSpPr>
          <p:cNvPr id="20" name="Text 17"/>
          <p:cNvSpPr/>
          <p:nvPr/>
        </p:nvSpPr>
        <p:spPr>
          <a:xfrm>
            <a:off x="762000" y="1587500"/>
            <a:ext cx="1143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智能体授权协议研究现状</a:t>
            </a:r>
            <a:endParaRPr lang="en-US" sz="4200" dirty="0"/>
          </a:p>
        </p:txBody>
      </p:sp>
      <p:sp>
        <p:nvSpPr>
          <p:cNvPr id="21" name="Shape 18"/>
          <p:cNvSpPr/>
          <p:nvPr/>
        </p:nvSpPr>
        <p:spPr>
          <a:xfrm>
            <a:off x="762000" y="6858000"/>
            <a:ext cx="20154900" cy="50800"/>
          </a:xfrm>
          <a:prstGeom prst="rect">
            <a:avLst/>
          </a:prstGeom>
          <a:solidFill>
            <a:srgbClr val="04579A"/>
          </a:solidFill>
          <a:ln/>
        </p:spPr>
      </p:sp>
      <p:sp>
        <p:nvSpPr>
          <p:cNvPr id="22" name="Shape 19"/>
          <p:cNvSpPr/>
          <p:nvPr/>
        </p:nvSpPr>
        <p:spPr>
          <a:xfrm>
            <a:off x="2159000" y="6731000"/>
            <a:ext cx="254000" cy="254000"/>
          </a:xfrm>
          <a:prstGeom prst="ellipse">
            <a:avLst/>
          </a:prstGeom>
          <a:solidFill>
            <a:srgbClr val="04579A"/>
          </a:solidFill>
          <a:ln/>
        </p:spPr>
      </p:sp>
      <p:sp>
        <p:nvSpPr>
          <p:cNvPr id="23" name="Text 20"/>
          <p:cNvSpPr/>
          <p:nvPr/>
        </p:nvSpPr>
        <p:spPr>
          <a:xfrm>
            <a:off x="1714500" y="6223000"/>
            <a:ext cx="114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1016000" y="3683000"/>
            <a:ext cx="2540000" cy="2476500"/>
          </a:xfrm>
          <a:prstGeom prst="roundRect">
            <a:avLst>
              <a:gd name="adj" fmla="val 3000"/>
            </a:avLst>
          </a:prstGeom>
          <a:solidFill>
            <a:srgbClr val="E8F4FD"/>
          </a:solidFill>
          <a:ln/>
        </p:spPr>
      </p:sp>
      <p:sp>
        <p:nvSpPr>
          <p:cNvPr id="25" name="Text 22"/>
          <p:cNvSpPr/>
          <p:nvPr/>
        </p:nvSpPr>
        <p:spPr>
          <a:xfrm>
            <a:off x="1092200" y="3759200"/>
            <a:ext cx="2387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Is Not Enough for Autonomous AI Agents [34]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092200" y="4826000"/>
            <a:ext cx="23876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揭示传统授权与智能体的结构性不匹配，提出四项设计方向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010150" y="6731000"/>
            <a:ext cx="254000" cy="254000"/>
          </a:xfrm>
          <a:prstGeom prst="ellipse">
            <a:avLst/>
          </a:prstGeom>
          <a:solidFill>
            <a:srgbClr val="04579A"/>
          </a:solidFill>
          <a:ln/>
        </p:spPr>
      </p:sp>
      <p:sp>
        <p:nvSpPr>
          <p:cNvPr id="28" name="Text 25"/>
          <p:cNvSpPr/>
          <p:nvPr/>
        </p:nvSpPr>
        <p:spPr>
          <a:xfrm>
            <a:off x="4565650" y="7175500"/>
            <a:ext cx="114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3867150" y="7556500"/>
            <a:ext cx="2540000" cy="2476500"/>
          </a:xfrm>
          <a:prstGeom prst="roundRect">
            <a:avLst>
              <a:gd name="adj" fmla="val 3000"/>
            </a:avLst>
          </a:prstGeom>
          <a:solidFill>
            <a:srgbClr val="E8F4FD"/>
          </a:solidFill>
          <a:ln/>
        </p:spPr>
      </p:sp>
      <p:sp>
        <p:nvSpPr>
          <p:cNvPr id="30" name="Text 27"/>
          <p:cNvSpPr/>
          <p:nvPr/>
        </p:nvSpPr>
        <p:spPr>
          <a:xfrm>
            <a:off x="3943350" y="7632700"/>
            <a:ext cx="2387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Automating Data Access Permissions in AI Agents [41]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3943350" y="8699500"/>
            <a:ext cx="23876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LLM+协同过滤混合模型预测权限需求，总体准确率85.1%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7861300" y="6731000"/>
            <a:ext cx="254000" cy="254000"/>
          </a:xfrm>
          <a:prstGeom prst="ellipse">
            <a:avLst/>
          </a:prstGeom>
          <a:solidFill>
            <a:srgbClr val="04579A"/>
          </a:solidFill>
          <a:ln/>
        </p:spPr>
      </p:sp>
      <p:sp>
        <p:nvSpPr>
          <p:cNvPr id="33" name="Text 30"/>
          <p:cNvSpPr/>
          <p:nvPr/>
        </p:nvSpPr>
        <p:spPr>
          <a:xfrm>
            <a:off x="7416800" y="6223000"/>
            <a:ext cx="114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2000" dirty="0"/>
          </a:p>
        </p:txBody>
      </p:sp>
      <p:sp>
        <p:nvSpPr>
          <p:cNvPr id="34" name="Shape 31"/>
          <p:cNvSpPr/>
          <p:nvPr/>
        </p:nvSpPr>
        <p:spPr>
          <a:xfrm>
            <a:off x="6718300" y="3683000"/>
            <a:ext cx="2540000" cy="2476500"/>
          </a:xfrm>
          <a:prstGeom prst="roundRect">
            <a:avLst>
              <a:gd name="adj" fmla="val 3000"/>
            </a:avLst>
          </a:prstGeom>
          <a:solidFill>
            <a:srgbClr val="E8F4FD"/>
          </a:solidFill>
          <a:ln/>
        </p:spPr>
      </p:sp>
      <p:sp>
        <p:nvSpPr>
          <p:cNvPr id="35" name="Text 32"/>
          <p:cNvSpPr/>
          <p:nvPr/>
        </p:nvSpPr>
        <p:spPr>
          <a:xfrm>
            <a:off x="6794500" y="3759200"/>
            <a:ext cx="2387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Authenticated Delegation for AI Agents [35]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794500" y="4826000"/>
            <a:ext cx="23876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Agent-ID Token + Delegation Token，融合Web身份与智能体委托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10712450" y="6731000"/>
            <a:ext cx="254000" cy="254000"/>
          </a:xfrm>
          <a:prstGeom prst="ellipse">
            <a:avLst/>
          </a:prstGeom>
          <a:solidFill>
            <a:srgbClr val="04579A"/>
          </a:solidFill>
          <a:ln/>
        </p:spPr>
      </p:sp>
      <p:sp>
        <p:nvSpPr>
          <p:cNvPr id="38" name="Text 35"/>
          <p:cNvSpPr/>
          <p:nvPr/>
        </p:nvSpPr>
        <p:spPr>
          <a:xfrm>
            <a:off x="10267950" y="7175500"/>
            <a:ext cx="114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2000" dirty="0"/>
          </a:p>
        </p:txBody>
      </p:sp>
      <p:sp>
        <p:nvSpPr>
          <p:cNvPr id="39" name="Shape 36"/>
          <p:cNvSpPr/>
          <p:nvPr/>
        </p:nvSpPr>
        <p:spPr>
          <a:xfrm>
            <a:off x="9569450" y="7556500"/>
            <a:ext cx="2540000" cy="2476500"/>
          </a:xfrm>
          <a:prstGeom prst="roundRect">
            <a:avLst>
              <a:gd name="adj" fmla="val 3000"/>
            </a:avLst>
          </a:prstGeom>
          <a:solidFill>
            <a:srgbClr val="E8F4FD"/>
          </a:solidFill>
          <a:ln/>
        </p:spPr>
      </p:sp>
      <p:sp>
        <p:nvSpPr>
          <p:cNvPr id="40" name="Text 37"/>
          <p:cNvSpPr/>
          <p:nvPr/>
        </p:nvSpPr>
        <p:spPr>
          <a:xfrm>
            <a:off x="9645650" y="7632700"/>
            <a:ext cx="2387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Uncertainty-Aware Risk-Adaptive Access Control [38]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9645650" y="8699500"/>
            <a:ext cx="23876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资源风险评分 + 模型不确定性估计，突破非黑即白决策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13563600" y="6731000"/>
            <a:ext cx="254000" cy="254000"/>
          </a:xfrm>
          <a:prstGeom prst="ellipse">
            <a:avLst/>
          </a:prstGeom>
          <a:solidFill>
            <a:srgbClr val="04579A"/>
          </a:solidFill>
          <a:ln/>
        </p:spPr>
      </p:sp>
      <p:sp>
        <p:nvSpPr>
          <p:cNvPr id="43" name="Text 40"/>
          <p:cNvSpPr/>
          <p:nvPr/>
        </p:nvSpPr>
        <p:spPr>
          <a:xfrm>
            <a:off x="13119100" y="6223000"/>
            <a:ext cx="114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2000" dirty="0"/>
          </a:p>
        </p:txBody>
      </p:sp>
      <p:sp>
        <p:nvSpPr>
          <p:cNvPr id="44" name="Shape 41"/>
          <p:cNvSpPr/>
          <p:nvPr/>
        </p:nvSpPr>
        <p:spPr>
          <a:xfrm>
            <a:off x="12420600" y="3683000"/>
            <a:ext cx="2540000" cy="2476500"/>
          </a:xfrm>
          <a:prstGeom prst="roundRect">
            <a:avLst>
              <a:gd name="adj" fmla="val 3000"/>
            </a:avLst>
          </a:prstGeom>
          <a:solidFill>
            <a:srgbClr val="E8F4FD"/>
          </a:solidFill>
          <a:ln/>
        </p:spPr>
      </p:sp>
      <p:sp>
        <p:nvSpPr>
          <p:cNvPr id="45" name="Text 42"/>
          <p:cNvSpPr/>
          <p:nvPr/>
        </p:nvSpPr>
        <p:spPr>
          <a:xfrm>
            <a:off x="12496800" y="3759200"/>
            <a:ext cx="2387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PAuth: Precise Task-Scoped Authorization [36]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12496800" y="4826000"/>
            <a:ext cx="23876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精确任务范围授权，实现参数级权限控制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16414750" y="6731000"/>
            <a:ext cx="254000" cy="254000"/>
          </a:xfrm>
          <a:prstGeom prst="ellipse">
            <a:avLst/>
          </a:prstGeom>
          <a:solidFill>
            <a:srgbClr val="04579A"/>
          </a:solidFill>
          <a:ln/>
        </p:spPr>
      </p:sp>
      <p:sp>
        <p:nvSpPr>
          <p:cNvPr id="48" name="Text 45"/>
          <p:cNvSpPr/>
          <p:nvPr/>
        </p:nvSpPr>
        <p:spPr>
          <a:xfrm>
            <a:off x="15970250" y="7175500"/>
            <a:ext cx="114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2000" dirty="0"/>
          </a:p>
        </p:txBody>
      </p:sp>
      <p:sp>
        <p:nvSpPr>
          <p:cNvPr id="49" name="Shape 46"/>
          <p:cNvSpPr/>
          <p:nvPr/>
        </p:nvSpPr>
        <p:spPr>
          <a:xfrm>
            <a:off x="15271750" y="7556500"/>
            <a:ext cx="2540000" cy="2476500"/>
          </a:xfrm>
          <a:prstGeom prst="roundRect">
            <a:avLst>
              <a:gd name="adj" fmla="val 3000"/>
            </a:avLst>
          </a:prstGeom>
          <a:solidFill>
            <a:srgbClr val="E8F4FD"/>
          </a:solidFill>
          <a:ln/>
        </p:spPr>
      </p:sp>
      <p:sp>
        <p:nvSpPr>
          <p:cNvPr id="50" name="Text 47"/>
          <p:cNvSpPr/>
          <p:nvPr/>
        </p:nvSpPr>
        <p:spPr>
          <a:xfrm>
            <a:off x="15347950" y="7632700"/>
            <a:ext cx="2387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Pre-Action Authorization [37]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15347950" y="8699500"/>
            <a:ext cx="23876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工具调用前确定性策略拦截，攻击成功率0%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19265900" y="6731000"/>
            <a:ext cx="254000" cy="254000"/>
          </a:xfrm>
          <a:prstGeom prst="ellipse">
            <a:avLst/>
          </a:prstGeom>
          <a:solidFill>
            <a:srgbClr val="04579A"/>
          </a:solidFill>
          <a:ln/>
        </p:spPr>
      </p:sp>
      <p:sp>
        <p:nvSpPr>
          <p:cNvPr id="53" name="Text 50"/>
          <p:cNvSpPr/>
          <p:nvPr/>
        </p:nvSpPr>
        <p:spPr>
          <a:xfrm>
            <a:off x="18821400" y="6223000"/>
            <a:ext cx="114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2000" dirty="0"/>
          </a:p>
        </p:txBody>
      </p:sp>
      <p:sp>
        <p:nvSpPr>
          <p:cNvPr id="54" name="Shape 51"/>
          <p:cNvSpPr/>
          <p:nvPr/>
        </p:nvSpPr>
        <p:spPr>
          <a:xfrm>
            <a:off x="18122900" y="3683000"/>
            <a:ext cx="2540000" cy="2476500"/>
          </a:xfrm>
          <a:prstGeom prst="roundRect">
            <a:avLst>
              <a:gd name="adj" fmla="val 3000"/>
            </a:avLst>
          </a:prstGeom>
          <a:solidFill>
            <a:srgbClr val="E8F4FD"/>
          </a:solidFill>
          <a:ln/>
        </p:spPr>
      </p:sp>
      <p:sp>
        <p:nvSpPr>
          <p:cNvPr id="55" name="Text 52"/>
          <p:cNvSpPr/>
          <p:nvPr/>
        </p:nvSpPr>
        <p:spPr>
          <a:xfrm>
            <a:off x="18199100" y="3759200"/>
            <a:ext cx="2387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 Propagation in Multi-Agent Systems [40]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18199100" y="4826000"/>
            <a:ext cx="23876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形式化分析授权传播问题，提出七项结构要求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20320000" y="11557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2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8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59989" y="0"/>
            <a:ext cx="3860800" cy="1283589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82892" y="-1143"/>
            <a:ext cx="3454400" cy="1283589"/>
          </a:xfrm>
          <a:prstGeom prst="rect">
            <a:avLst/>
          </a:prstGeom>
          <a:solidFill>
            <a:srgbClr val="04579A"/>
          </a:solidFill>
          <a:ln w="12700">
            <a:solidFill>
              <a:srgbClr val="0457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2001" y="-1143"/>
            <a:ext cx="5486400" cy="1283589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15961360" y="0"/>
            <a:ext cx="5713349" cy="1282319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3044571" y="270891"/>
            <a:ext cx="3691509" cy="677291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2882011" y="189611"/>
            <a:ext cx="4016629" cy="839851"/>
          </a:xfrm>
          <a:prstGeom prst="rect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2760091" y="128651"/>
            <a:ext cx="4260469" cy="961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7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选题背景及意义</a:t>
            </a:r>
            <a:endParaRPr lang="en-US" sz="2670" dirty="0"/>
          </a:p>
        </p:txBody>
      </p:sp>
      <p:sp>
        <p:nvSpPr>
          <p:cNvPr id="9" name="Shape 7"/>
          <p:cNvSpPr/>
          <p:nvPr/>
        </p:nvSpPr>
        <p:spPr>
          <a:xfrm>
            <a:off x="6967601" y="270891"/>
            <a:ext cx="3285109" cy="677291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6805041" y="189611"/>
            <a:ext cx="3610229" cy="839851"/>
          </a:xfrm>
          <a:prstGeom prst="rect">
            <a:avLst/>
          </a:prstGeom>
          <a:noFill/>
          <a:ln/>
        </p:spPr>
      </p:sp>
      <p:sp>
        <p:nvSpPr>
          <p:cNvPr id="11" name="Text 9"/>
          <p:cNvSpPr/>
          <p:nvPr/>
        </p:nvSpPr>
        <p:spPr>
          <a:xfrm>
            <a:off x="6683121" y="128651"/>
            <a:ext cx="3854069" cy="961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国内外研究现状</a:t>
            </a:r>
            <a:endParaRPr lang="en-US" sz="2670" dirty="0"/>
          </a:p>
        </p:txBody>
      </p:sp>
      <p:sp>
        <p:nvSpPr>
          <p:cNvPr id="12" name="Shape 10"/>
          <p:cNvSpPr/>
          <p:nvPr/>
        </p:nvSpPr>
        <p:spPr>
          <a:xfrm>
            <a:off x="10506583" y="270891"/>
            <a:ext cx="5317109" cy="677291"/>
          </a:xfrm>
          <a:prstGeom prst="rect">
            <a:avLst/>
          </a:prstGeom>
          <a:noFill/>
          <a:ln/>
        </p:spPr>
      </p:sp>
      <p:sp>
        <p:nvSpPr>
          <p:cNvPr id="13" name="Shape 11"/>
          <p:cNvSpPr/>
          <p:nvPr/>
        </p:nvSpPr>
        <p:spPr>
          <a:xfrm>
            <a:off x="10344023" y="189611"/>
            <a:ext cx="5642229" cy="839851"/>
          </a:xfrm>
          <a:prstGeom prst="rect">
            <a:avLst/>
          </a:prstGeom>
          <a:noFill/>
          <a:ln/>
        </p:spPr>
      </p:sp>
      <p:sp>
        <p:nvSpPr>
          <p:cNvPr id="14" name="Text 12"/>
          <p:cNvSpPr/>
          <p:nvPr/>
        </p:nvSpPr>
        <p:spPr>
          <a:xfrm>
            <a:off x="10222103" y="128651"/>
            <a:ext cx="5886069" cy="961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7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主要研究内容及预期目标</a:t>
            </a:r>
            <a:endParaRPr lang="en-US" sz="2670" dirty="0"/>
          </a:p>
        </p:txBody>
      </p:sp>
      <p:sp>
        <p:nvSpPr>
          <p:cNvPr id="15" name="Shape 13"/>
          <p:cNvSpPr/>
          <p:nvPr/>
        </p:nvSpPr>
        <p:spPr>
          <a:xfrm>
            <a:off x="16046069" y="270891"/>
            <a:ext cx="5543931" cy="677291"/>
          </a:xfrm>
          <a:prstGeom prst="rect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15883509" y="189611"/>
            <a:ext cx="5869051" cy="839851"/>
          </a:xfrm>
          <a:prstGeom prst="rect">
            <a:avLst/>
          </a:prstGeom>
          <a:noFill/>
          <a:ln/>
        </p:spPr>
      </p:sp>
      <p:sp>
        <p:nvSpPr>
          <p:cNvPr id="17" name="Text 15"/>
          <p:cNvSpPr/>
          <p:nvPr/>
        </p:nvSpPr>
        <p:spPr>
          <a:xfrm>
            <a:off x="15761589" y="128651"/>
            <a:ext cx="6112891" cy="961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7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工作计划与进度安排</a:t>
            </a:r>
            <a:endParaRPr lang="en-US" sz="2670" dirty="0"/>
          </a:p>
        </p:txBody>
      </p:sp>
      <p:pic>
        <p:nvPicPr>
          <p:cNvPr id="18" name="Image 0" descr="https://kimi-img.moonshot.cn/pub/slides/okc/flfuysioo4gzm/mnt/agents/output/temp3_pptd/images/image_1.jpg">    </p:cNvPr>
          <p:cNvPicPr>
            <a:picLocks noChangeAspect="1"/>
          </p:cNvPicPr>
          <p:nvPr/>
        </p:nvPicPr>
        <p:blipFill>
          <a:blip r:embed="rId1"/>
          <a:srcRect l="5060" r="29000" t="0" b="0"/>
          <a:stretch/>
        </p:blipFill>
        <p:spPr>
          <a:xfrm>
            <a:off x="725932" y="187452"/>
            <a:ext cx="1697863" cy="994537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 rot="10800000">
            <a:off x="8506079" y="1282319"/>
            <a:ext cx="519303" cy="406400"/>
          </a:xfrm>
          <a:prstGeom prst="triangle">
            <a:avLst>
              <a:gd name="adj" fmla="val 50000"/>
            </a:avLst>
          </a:prstGeom>
          <a:solidFill>
            <a:srgbClr val="04579A"/>
          </a:solidFill>
          <a:ln/>
        </p:spPr>
      </p:sp>
      <p:sp>
        <p:nvSpPr>
          <p:cNvPr id="20" name="Text 17"/>
          <p:cNvSpPr/>
          <p:nvPr/>
        </p:nvSpPr>
        <p:spPr>
          <a:xfrm>
            <a:off x="762000" y="1587500"/>
            <a:ext cx="1270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现有研究不足总结</a:t>
            </a:r>
            <a:endParaRPr lang="en-US" sz="4200" dirty="0"/>
          </a:p>
        </p:txBody>
      </p:sp>
      <p:sp>
        <p:nvSpPr>
          <p:cNvPr id="21" name="Shape 18"/>
          <p:cNvSpPr/>
          <p:nvPr/>
        </p:nvSpPr>
        <p:spPr>
          <a:xfrm>
            <a:off x="762000" y="2540000"/>
            <a:ext cx="20154900" cy="635000"/>
          </a:xfrm>
          <a:prstGeom prst="rect">
            <a:avLst/>
          </a:prstGeom>
          <a:solidFill>
            <a:srgbClr val="04579A"/>
          </a:solidFill>
          <a:ln/>
        </p:spPr>
      </p:sp>
      <p:sp>
        <p:nvSpPr>
          <p:cNvPr id="22" name="Text 19"/>
          <p:cNvSpPr/>
          <p:nvPr/>
        </p:nvSpPr>
        <p:spPr>
          <a:xfrm>
            <a:off x="889000" y="25400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研究工作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3937000" y="2540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核心贡献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10541000" y="2540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存在的不足</a:t>
            </a:r>
            <a:endParaRPr lang="en-US" sz="2400" dirty="0"/>
          </a:p>
        </p:txBody>
      </p:sp>
      <p:sp>
        <p:nvSpPr>
          <p:cNvPr id="25" name="Shape 22"/>
          <p:cNvSpPr/>
          <p:nvPr/>
        </p:nvSpPr>
        <p:spPr>
          <a:xfrm>
            <a:off x="762000" y="3175000"/>
            <a:ext cx="20154900" cy="825500"/>
          </a:xfrm>
          <a:prstGeom prst="rect">
            <a:avLst/>
          </a:prstGeom>
          <a:solidFill>
            <a:srgbClr val="F0F7FC"/>
          </a:solidFill>
          <a:ln/>
        </p:spPr>
      </p:sp>
      <p:sp>
        <p:nvSpPr>
          <p:cNvPr id="26" name="Text 23"/>
          <p:cNvSpPr/>
          <p:nvPr/>
        </p:nvSpPr>
        <p:spPr>
          <a:xfrm>
            <a:off x="889000" y="3238500"/>
            <a:ext cx="279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Chopra [34]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3937000" y="32385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揭示传统授权与智能体的结构性不匹配，提出四项设计方向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0541000" y="32385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EC5F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仅指出问题，未给出完整解决方案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62000" y="4000500"/>
            <a:ext cx="20154900" cy="825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7"/>
          <p:cNvSpPr/>
          <p:nvPr/>
        </p:nvSpPr>
        <p:spPr>
          <a:xfrm>
            <a:off x="889000" y="4064000"/>
            <a:ext cx="279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et al. [35]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3937000" y="40640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可认证委托框架：Agent-ID + Delegation Token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0541000" y="40640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EC5F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解决身份缺失但未解决授权粒度宽泛问题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762000" y="4826000"/>
            <a:ext cx="20154900" cy="825500"/>
          </a:xfrm>
          <a:prstGeom prst="rect">
            <a:avLst/>
          </a:prstGeom>
          <a:solidFill>
            <a:srgbClr val="F0F7FC"/>
          </a:solidFill>
          <a:ln/>
        </p:spPr>
      </p:sp>
      <p:sp>
        <p:nvSpPr>
          <p:cNvPr id="34" name="Text 31"/>
          <p:cNvSpPr/>
          <p:nvPr/>
        </p:nvSpPr>
        <p:spPr>
          <a:xfrm>
            <a:off x="889000" y="4889500"/>
            <a:ext cx="279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Fleming et al. [38]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3937000" y="48895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不确定性感知的LLM-TBAC动态授权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10541000" y="48895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EC5F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LLM可能幻觉策略，静态风险评分不够灵活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762000" y="5651500"/>
            <a:ext cx="20154900" cy="825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5"/>
          <p:cNvSpPr/>
          <p:nvPr/>
        </p:nvSpPr>
        <p:spPr>
          <a:xfrm>
            <a:off x="889000" y="5715000"/>
            <a:ext cx="279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Sharma [36] (PAuth)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3937000" y="57150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精确任务范围授权，参数级权限控制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10541000" y="57150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EC5F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未考虑有序多任务的顺序授权约束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762000" y="6477000"/>
            <a:ext cx="20154900" cy="825500"/>
          </a:xfrm>
          <a:prstGeom prst="rect">
            <a:avLst/>
          </a:prstGeom>
          <a:solidFill>
            <a:srgbClr val="F0F7FC"/>
          </a:solidFill>
          <a:ln/>
        </p:spPr>
      </p:sp>
      <p:sp>
        <p:nvSpPr>
          <p:cNvPr id="42" name="Text 39"/>
          <p:cNvSpPr/>
          <p:nvPr/>
        </p:nvSpPr>
        <p:spPr>
          <a:xfrm>
            <a:off x="889000" y="6540500"/>
            <a:ext cx="279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Uchibeke [37] (OAP)</a:t>
            </a:r>
            <a:endParaRPr lang="en-US" sz="1800" dirty="0"/>
          </a:p>
        </p:txBody>
      </p:sp>
      <p:sp>
        <p:nvSpPr>
          <p:cNvPr id="43" name="Text 40"/>
          <p:cNvSpPr/>
          <p:nvPr/>
        </p:nvSpPr>
        <p:spPr>
          <a:xfrm>
            <a:off x="3937000" y="65405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工具调用前确定性预授权，53ms延迟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10541000" y="65405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EC5F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仅覆盖单工具层面，未解决跨工具参数级约束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762000" y="8128000"/>
            <a:ext cx="20154900" cy="825500"/>
          </a:xfrm>
          <a:prstGeom prst="rect">
            <a:avLst/>
          </a:prstGeom>
          <a:solidFill>
            <a:srgbClr val="F0F7FC"/>
          </a:solidFill>
          <a:ln/>
        </p:spPr>
      </p:sp>
      <p:sp>
        <p:nvSpPr>
          <p:cNvPr id="46" name="Text 43"/>
          <p:cNvSpPr/>
          <p:nvPr/>
        </p:nvSpPr>
        <p:spPr>
          <a:xfrm>
            <a:off x="889000" y="8191500"/>
            <a:ext cx="279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Wu et al. [41]</a:t>
            </a:r>
            <a:endParaRPr lang="en-US" sz="1800" dirty="0"/>
          </a:p>
        </p:txBody>
      </p:sp>
      <p:sp>
        <p:nvSpPr>
          <p:cNvPr id="47" name="Text 44"/>
          <p:cNvSpPr/>
          <p:nvPr/>
        </p:nvSpPr>
        <p:spPr>
          <a:xfrm>
            <a:off x="3937000" y="81915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自动化权限预测：LLM+CF混合模型，85.1%准确率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10541000" y="81915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EC5F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预测模型而非确定性策略，低置信度需人工介入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762000" y="8953500"/>
            <a:ext cx="20154900" cy="825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7"/>
          <p:cNvSpPr/>
          <p:nvPr/>
        </p:nvSpPr>
        <p:spPr>
          <a:xfrm>
            <a:off x="889000" y="9017000"/>
            <a:ext cx="279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Tallam [40]</a:t>
            </a:r>
            <a:endParaRPr lang="en-US" sz="1800" dirty="0"/>
          </a:p>
        </p:txBody>
      </p:sp>
      <p:sp>
        <p:nvSpPr>
          <p:cNvPr id="51" name="Text 48"/>
          <p:cNvSpPr/>
          <p:nvPr/>
        </p:nvSpPr>
        <p:spPr>
          <a:xfrm>
            <a:off x="3987292" y="90170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授权传播形式化分析，七项结构要求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10541000" y="90170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EC5F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仅提出框架性要求，未给出具体协议设计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725932" y="10033000"/>
            <a:ext cx="20154900" cy="1778000"/>
          </a:xfrm>
          <a:prstGeom prst="roundRect">
            <a:avLst>
              <a:gd name="adj" fmla="val 2000"/>
            </a:avLst>
          </a:prstGeom>
          <a:solidFill>
            <a:srgbClr val="FFF3E0"/>
          </a:solidFill>
          <a:ln/>
        </p:spPr>
      </p:sp>
      <p:sp>
        <p:nvSpPr>
          <p:cNvPr id="54" name="Text 51"/>
          <p:cNvSpPr/>
          <p:nvPr/>
        </p:nvSpPr>
        <p:spPr>
          <a:xfrm>
            <a:off x="1143000" y="10223500"/>
            <a:ext cx="193929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核心缺口：</a:t>
            </a:r>
            <a:pPr algn="l">
              <a:lnSpc>
                <a:spcPct val="160000"/>
              </a:lnSpc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现有工作均未同时满足 (1) 操作参数级精确授权  (2) 任务上下文条件感知  (3) 多智能体顺序授权约束</a:t>
            </a:r>
            <a:endParaRPr lang="en-US" sz="2400" dirty="0"/>
          </a:p>
          <a:p>
            <a:pPr algn="l">
              <a:lnSpc>
                <a:spcPct val="160000"/>
              </a:lnSpc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本课题旨在设计面向复杂任务的智能体授权协议，填补上述三项不足</a:t>
            </a:r>
            <a:endParaRPr lang="en-US" sz="2400" dirty="0"/>
          </a:p>
        </p:txBody>
      </p:sp>
      <p:sp>
        <p:nvSpPr>
          <p:cNvPr id="55" name="Text 52"/>
          <p:cNvSpPr/>
          <p:nvPr/>
        </p:nvSpPr>
        <p:spPr>
          <a:xfrm>
            <a:off x="20320000" y="11557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2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8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未命名演示文稿</dc:title>
  <dc:subject>未命名演示文稿</dc:subject>
  <dc:creator>Kimi</dc:creator>
  <cp:lastModifiedBy>Kimi</cp:lastModifiedBy>
  <cp:revision>1</cp:revision>
  <dcterms:created xsi:type="dcterms:W3CDTF">2026-06-27T10:15:24Z</dcterms:created>
  <dcterms:modified xsi:type="dcterms:W3CDTF">2026-06-27T10:15:24Z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{"Label":"未命名演示文稿","ContentProducer":"001191110108MACG2KBH8F10000","ProduceID":"19f081e2-ab72-80ca-8000-0000c8693465","ReservedCode1":"","ContentPropagator":"001191110108MACG2KBH8F20000","PropagateID":"19ee528b-5122-8cdd-8000-091226114ca8","ReservedCode2":""}</vt:lpwstr>
  </property>
</Properties>
</file>