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4.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 Id="rId4" Type="http://schemas.openxmlformats.org/officeDocument/2006/relationships/custom-properties" Target="docProps/custom.xml" />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Lst>
  <p:notesMasterIdLst>
    <p:notesMasterId r:id="rId60"/>
  </p:notesMasterIdLst>
  <p:sldSz cx="16256000" cy="9144000"/>
  <p:notesSz cx="9144000" cy="16256000"/>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notesMaster" Target="notesMasters/notesMaster1.xml"/><Relationship Id="rId61" Type="http://schemas.openxmlformats.org/officeDocument/2006/relationships/presProps" Target="presProps.xml"/><Relationship Id="rId62" Type="http://schemas.openxmlformats.org/officeDocument/2006/relationships/viewProps" Target="viewProps.xml"/><Relationship Id="rId63" Type="http://schemas.openxmlformats.org/officeDocument/2006/relationships/theme" Target="theme/theme1.xml"/><Relationship Id="rId64" Type="http://schemas.openxmlformats.org/officeDocument/2006/relationships/tableStyles" Target="tableStyles.xml"/></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count</c:v>
                </c:pt>
              </c:strCache>
            </c:strRef>
          </c:tx>
          <c:spPr>
            <a:solidFill>
              <a:schemeClr val="accent1"/>
            </a:solidFill>
            <a:ln w="9525" cap="flat">
              <a:solidFill>
                <a:srgbClr val="F9F9F9"/>
              </a:solidFill>
              <a:prstDash val="solid"/>
              <a:round/>
            </a:ln>
            <a:effectLst/>
          </c:spPr>
          <c:dPt>
            <c:idx val="0"/>
            <c:bubble3D val="0"/>
            <c:spPr>
              <a:solidFill>
                <a:srgbClr val="EC5F74"/>
              </a:solidFill>
              <a:effectLst/>
            </c:spPr>
          </c:dPt>
          <c:dPt>
            <c:idx val="1"/>
            <c:bubble3D val="0"/>
            <c:spPr>
              <a:solidFill>
                <a:srgbClr val="FFBA55"/>
              </a:solidFill>
              <a:effectLst/>
            </c:spPr>
          </c:dPt>
          <c:dPt>
            <c:idx val="2"/>
            <c:bubble3D val="0"/>
            <c:spPr>
              <a:solidFill>
                <a:srgbClr val="56CA95"/>
              </a:solidFill>
              <a:effectLst/>
            </c:spPr>
          </c:dPt>
          <c:dLbls>
            <c:dLbl>
              <c:idx val="0"/>
              <c:numFmt formatCode="0%" sourceLinked="0"/>
              <c:spPr/>
              <c:txPr>
                <a:bodyPr/>
                <a:lstStyle/>
                <a:p>
                  <a:pPr>
                    <a:defRPr sz="1400" b="0"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1400" b="0" i="0" u="none" strike="noStrike">
                      <a:solidFill>
                        <a:srgbClr val="FFFFFF"/>
                      </a:solidFill>
                      <a:latin typeface="Arial"/>
                    </a:defRPr>
                  </a:pPr>
                </a:p>
              </c:txPr>
              <c:showLegendKey val="0"/>
              <c:showVal val="0"/>
              <c:showCatName val="0"/>
              <c:showSerName val="0"/>
              <c:showPercent val="1"/>
              <c:showBubbleSize val="0"/>
            </c:dLbl>
            <c:dLbl>
              <c:idx val="2"/>
              <c:numFmt formatCode="0%" sourceLinked="0"/>
              <c:spPr/>
              <c:txPr>
                <a:bodyPr/>
                <a:lstStyle/>
                <a:p>
                  <a:pPr>
                    <a:defRPr sz="1400" b="0"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HIGH/CRITICAL</c:v>
                </c:pt>
                <c:pt idx="1">
                  <c:v>MEDIUM</c:v>
                </c:pt>
                <c:pt idx="2">
                  <c:v>LOW</c:v>
                </c:pt>
              </c:strCache>
            </c:strRef>
          </c:cat>
          <c:val>
            <c:numRef>
              <c:f>Sheet1!$B$2:$B$4</c:f>
              <c:numCache>
                <c:ptCount val="3"/>
                <c:pt idx="0">
                  <c:v>74.1</c:v>
                </c:pt>
                <c:pt idx="1">
                  <c:v>18.5</c:v>
                </c:pt>
                <c:pt idx="2">
                  <c:v>7.4</c:v>
                </c:pt>
              </c:numCache>
            </c:numRef>
          </c:val>
        </c:ser>
        <c:firstSliceAng val="0"/>
        <c:holeSize val="50"/>
      </c:doughnutChart>
      <c:spPr>
        <a:noFill/>
        <a:ln>
          <a:noFill/>
        </a:ln>
        <a:effectLst/>
      </c:spPr>
    </c:plotArea>
    <c:legend>
      <c:legendPos val="b"/>
      <c:overlay val="0"/>
      <c:txPr>
        <a:bodyPr/>
        <a:lstStyle/>
        <a:p>
          <a:pPr>
            <a:defRPr sz="1300">
              <a:solidFill>
                <a:srgbClr val="333333"/>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各位老师好，我是23级博士生田安琪，我的开题报告题为分布式数字资产协议设计与分析，导师是徐静老师。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我将分四个部分进行汇报
首先是第一部分，选题背景及意义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用户规模与交易需求指数级增长的数字资产市场带来了新的技术需求。
首先是现实网络环境对分布式数字资产交易协议的安全性和健壮性提出了更高的要求。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尽管区块链对传统的网络攻击具有良好的抵抗性，但是现代网络犯罪分子对区块链及其应用系统的恶意攻击从未停止，数字资产交易协议安全性破坏将导致用户的直接经济损失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第二，大规模、高并发的交易场景要求分布式数字资产交易协议具有可扩展性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最后，异构区块链系统间的互联互通要求分布式数字资产交易协议具有互操作性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分三部分介绍分布式数字资产交易协议的国内外研究现状
（点击）</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在2019年，Winzer首次提出理性矿工模型下的贿赂攻击
2021 年，MAD-HTLC团队对广泛作为基础组件使用的哈希时间锁范式进行改良，给出了抗贿赂攻击的资产兑换组件
2023年， He-HTLC团队在此基础上建模了主动理性矿工和被动理性矿工，并进一步给出了抗反向贿赂攻击的轻量级哈希时间锁范式
Aumayr等人分别在23年和24年对理性矿工假设下的分布式资产交易协议进行大胆尝试，给出了首个容忍拜占庭节点的链下资产交易协议
同年Karakostas等人发布了对贿赂攻击对PoS链的危害分析，为后续工作提供了可行的指南</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下面我将简要介绍我的三项对应的研究内容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恶意环境下分布式数字资产交易协议设计与分析
现有分布式资产交易协议通常依赖于底层区块链的诚实矿工假设，难以应对现实环境中日益复杂的恶意攻击场景。
基于已有工作对理性矿工和拜占庭节点的安全模型，需系统分析现有协议的安全漏洞及潜在攻击，重构现有资产兑换范式，
预期目标是设计可证明安全的分布式数字资产交易协议</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大规模环境下可扩展分布式数字资产交易协议设计与分析
当前链下交易协议通过链下支付信道、多跳路由及虚拟信道等技术已取得显著进展，但由于支付路径选择复杂、多跳支付成功率受限等因素，达不到理想性能
因此探索支付信道资产流动性优化机制以延长信道生命周期，优化现有多跳支付结构，设计多方信道安全更新机制并完成实验测试。
预期目标是提出强可靠的可扩展分布式数字资产交易协议</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多源异构环境下分布式数字资产跨链验证协议设计与分析
现有跨链验证机制在证明生成与验证过程中仍面临较高的计算与存储开销，且面临异构区块链系统间的验证协议适配挑战，
此项研究基于基础数字签名技术和随机化承诺方案等密码学组件，优化跨链证明的生成和验证算法，实现恒定链下计算、低链上存储的跨链桥结构。
目标是互操作性增强的高效分布式数字资产交易协议</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进度安排</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尽管区块链对传统的网络攻击具有良好的抵抗性，但是现代网络犯罪分子对区块链及其应用系统的恶意攻击从未停止，数字资产交易协议安全性破坏将导致用户的直接经济损失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相比于中心化架构，分布式架构能够不间断地提供高可用性、强可靠性服务，有效解决中心化架构中单点失效的安全隐患</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2008年，由中本聪设计的区块链结构和加密货币系统比特币在全球范围内获得成功
比特币以去中心化的方式维护了一个线性排序且能持续增长的交易日志，允许互联网中的任何节点随时自由地加入系统。（点击）
区块链以公开可验证、不可篡改以及去中心化的良好性质为数据确权提供了良好的基础设施（点击）</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在数据流通方面，比特币提供了链上点对点数字资产交易方案，允许用户在去中心化的、互不信任的环境中安全支付
截止目前基于区块链的加密货币系统已超过200种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用户规模与交易需求指数级增长的数字资产市场带来了新的技术需求。
首先是现实网络环境对分布式数字资产交易协议的安全性和健壮性提出了更高的要求。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尽管区块链对传统的网络攻击具有良好的抵抗性，但是现代网络犯罪分子对区块链及其应用系统的恶意攻击从未停止，数字资产交易协议安全性破坏将导致用户的直接经济损失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资产兑换协议是分布式数字资产交易协议的核心组件
现有的区块链协议中：资产兑换交易决定了托管资产的归属问题，用于保证诚实用户始终能得到合法财产。（点击）
然而现有资产兑换协议依赖于额外的可信假设，削弱了协议本身的安全性(点击）
因此，分布式数字资产交易协议需要去除可信假设并建立更贴合实际的安全模型。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第二，大规模、高并发的交易场景要求分布式数字资产交易协议具有可扩展性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和传统金融机构相比，基于区块链的密码货币系统的性能堪忧
这是由区块链的共识机制和密码学结构决定的，一个非常直觉的思路是优化共识方案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然而根据以太坊创始人所提出的区块链可扩展性三元悖论，即没有任何区块链系统能同时满足去中心化、可扩展性和安全性
在保证安全性的前提下，吞吐量和去中心化晨读相互制约 （点击）
现有共识机制优化方案只能做到有限的性能提升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相比难以普及部署硬件层和网络层的性能优化方案（点击）和性能提升有限的区块链层方案（点击），
链下层方案允许用户之间通过一个经过认证的私下信道进行交易，只在链上记录初始交易和结束交易，展现出的性能提升和良好的向后兼容性。
因此分布式数字资产交易协议需要高性能的链下方案构造满足大规模场景下的高吞吐量、低延迟交易要求。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最后，异构区块链系统间的互联互通要求分布式数字资产交易协议具有互操作性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跨区块链协议可以按照操作模式分为数据传输、资产交换和资产转移三种。（点击）
跨链分布式资产交易协议的协议流程主要分为资产托管、证明生成、证明验证和条件交易四部分（点击）
其中跨链证明的生成和验证机制是核心，决定了跨链资产交易协议的性能表现
跨链资产交易协议需要高效通用的跨链证明机制，满足异构区块链系统间互联互通的需求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以上三点，说明传统的分布式数字资产交易协议尚不足以支撑支撑大规模、高并发、异构化的区块链交易场景
应对新场景下特有的技术挑战，需要构建兼具安全性与高性能的分布式数字资产交易协议体系
接下来，我将针对上述三点，（切下一页）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分三部分介绍分布式数字资产交易协议的国内外研究现状
（点击）</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区块链允许共识节点，也称为矿工，获取区块内交易的小费来激励矿工提出区块（点击）
在现实中比特币和以太坊的矿工均优先打包小费金额高的交易上链 
与传统方案里资产兑换协议依赖的诚实矿工假设矛盾（点击）
在现实中恶意节点可以通过贿赂矿工延迟诚实用户的交易，抢先兑换其资产，破坏了传统资产交易方案的安全性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在2019年，Winzer首次提出理性矿工模型下的贿赂攻击
2021 年，MAD-HTLC团队对广泛作为基础组件使用的哈希时间锁范式进行改良，给出了抗贿赂攻击的资产兑换组件
2023年， He-HTLC团队在此基础上建模了主动理性矿工和被动理性矿工，并进一步给出了抗反向贿赂攻击的轻量级哈希时间锁范式
Aumayr等人分别在23年和24年对理性矿工假设下的分布式资产交易协议进行大胆尝试，给出了首个容忍拜占庭节点的链下资产交易协议
同年Karakostas等人发布了对贿赂攻击对PoS链的危害分析，为后续工作提供了可行的指南</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此外，现有工作在理性矿工模型下通过矿工激励机制优化事务处理逻辑
去除了部分传统方案依赖的可信假设，如节点实时在线假设，因此方案的可靠性和性能也得到了提升。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支付信道是目前最流行的链下方案，以两个链上交易的代价允许用户间进行多次免交易费、低延迟的链下交易。
在此基础上支付信道网络方案使用多跳支付技术，允许两个节点利用其他节点作为中介进行链下支付，进一步减少了链上负载
闪电网络是目前最大的支付信道网络，被多个密码学货币系统使用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然而
1. 多跳支付技术具有路由复杂以及中介抵押成本高的问题
2. 信道资金流动性的分布直接影响支付信道网络的整体支付能力
这两个核心问题制约了支付信道网络的性能表现
目前的解决思路主要有3种：
首先是降低去中心化程度以缩短路由长度的支付信道枢纽方案：通过在网络中设置多个大型枢纽节点作为支付中介方便路由，由于中心化结构，该方向的工作致力于提升方案的隐私性，
目前最先进的工作是23年提出的BlindHub，利用非交互式零知识证明构建匿名资产凭证，实现了兼容大部分区块链的强隐私性可变额度的支付信道枢纽协议
其次是将多跳支付多个中间节点抽象为仅在支付信道关闭时介入的中介的虚拟信道方案，由于减少了与中间节点的交互，方案的可靠性和抵押资产减少，该方向的工作致力于实现多信道原子更新，
目前最先进的工作是23年提出的Donner，提出了首个非递归结构的虚拟信道，降低了方案复杂度，但目前的虚拟信道方案仍然没有解决多米诺攻击
最后是以Revive为代表的信道再平衡方案，通过组织环形的信道路径进行资产转移，从而使信道资产流动性提升，优化支付信道网络性能，该方向的工作致力于消除可信假设，
目前最先进的工作为22年提出的Shaduf，提出首个非环形结构的再平衡协议，但由于依赖于智能合约，该工作的安全性和通用性仍需优化</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跨链数字资产交易协议的跨链证明主要包括：最长链证明、区块有效性证明、交易有效性证明以及交易内数据正确性证明。
其难点在于前两项证明需要节点参与共识机制，这在跨链场景下是不可能的
目前的解决思路主要有两种：基于SPV和轻客户端的方案和基于零知识证明的方案
基于轻客户端的方案优点在于计算和验证简单，但需要和链长线性相关的储存资源同时只限定与PoW链
基于零知识证明的方面优点在于可以为特殊的区块链定制零知识证明，但代价是昂贵的零知识证明计算和验证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2020年的Flyclient利用以非交互的抽样分布生成证明将SPV所需的储存复杂度降到对数级，但和区块链底层结构紧密相关，缺乏后向兼容性
2022年的zk-bridge是基于零知识证明的跨链桥协议的代表性工作，恒定储存复杂度，且支持不同应用事务的证明生成，但受限于昂贵的部署成本
23年的Glimpse使用无状态SPV按需证明机制，实现了恒定链上存储，但由于特殊脚本语言需要，难以兼容到现有主流区块链系统上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下面我将简要介绍我的三项对应的研究内容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恶意环境下分布式数字资产交易协议设计与分析
现有分布式资产交易协议通常依赖于底层区块链的诚实矿工假设，难以应对现实环境中日益复杂的恶意攻击场景。
基于已有工作对理性矿工和拜占庭节点的安全模型，需系统分析现有协议的安全漏洞及潜在攻击，重构现有资产兑换范式，
预期目标是设计可证明安全的分布式数字资产交易协议</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大规模环境下可扩展分布式数字资产交易协议设计与分析
当前链下交易协议通过链下支付信道、多跳路由及虚拟信道等技术已取得显著进展，但由于支付路径选择复杂、多跳支付成功率受限等因素，达不到理想性能
因此探索支付信道资产流动性优化机制以延长信道生命周期，优化现有多跳支付结构，设计多方信道安全更新机制并完成实验测试。
预期目标是提出强可靠的可扩展分布式数字资产交易协议</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多源异构环境下分布式数字资产跨链验证协议设计与分析
现有跨链验证机制在证明生成与验证过程中仍面临较高的计算与存储开销，且面临异构区块链系统间的验证协议适配挑战，
此项研究基于基础数字签名技术和随机化承诺方案等密码学组件，优化跨链证明的生成和验证算法，实现恒定链下计算、低链上存储的跨链桥结构。
目标是互操作性增强的高效分布式数字资产交易协议</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已有工作两篇
1 、 无额外信任假设的抗信道干涸的多方虚拟信道协议
通过设计高效的信道再平衡子协议以及时间切片技术，实现了高性能高可靠性的链下数字资产交易协议
目前该工作已被NDSS接收</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2、是抗double-claiming攻击的通用跨链原子交换协议，
在这个工作中，通过两阶段交易架构与可验证时间离散对数方案等密码学组件，实现了可证明安全的分布式数字资产交易协议
该工作目前已被SP接受</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进度安排</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以上是我的开题报告内容，恳请各位老师批评指正，谢谢！</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jp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1-2.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1-2.jpg"/><Relationship Id="rId2" Type="http://schemas.openxmlformats.org/officeDocument/2006/relationships/image" Target="../media/image-3-2.png"/><Relationship Id="rId3" Type="http://schemas.openxmlformats.org/officeDocument/2006/relationships/image" Target="../media/image-3-3.jp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2" Type="http://schemas.openxmlformats.org/officeDocument/2006/relationships/chart" Target="/ppt/charts/chart4.xml"/><Relationship Id="rId1" Type="http://schemas.openxmlformats.org/officeDocument/2006/relationships/image" Target="../media/image-1-2.jp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1-2.jp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1-2.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1-2.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1-2.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2.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2.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2.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2.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2.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2.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2.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2.jp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1.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1-2.jp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1-2.jp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1-2.jp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1-2.jpg"/><Relationship Id="rId2" Type="http://schemas.openxmlformats.org/officeDocument/2006/relationships/image" Target="../media/image-3-3.jpg"/><Relationship Id="rId3" Type="http://schemas.openxmlformats.org/officeDocument/2006/relationships/image" Target="../media/image-3-2.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1-2.jpg"/><Relationship Id="rId2" Type="http://schemas.openxmlformats.org/officeDocument/2006/relationships/image" Target="../media/image-30-2.jpg"/><Relationship Id="rId3" Type="http://schemas.openxmlformats.org/officeDocument/2006/relationships/image" Target="../media/image-30-2.jpg"/><Relationship Id="rId4" Type="http://schemas.openxmlformats.org/officeDocument/2006/relationships/image" Target="../media/image-30-2.jpg"/><Relationship Id="rId5" Type="http://schemas.openxmlformats.org/officeDocument/2006/relationships/image" Target="../media/image-30-2.jpg"/><Relationship Id="rId6" Type="http://schemas.openxmlformats.org/officeDocument/2006/relationships/image" Target="../media/image-30-2.jpg"/><Relationship Id="rId7" Type="http://schemas.openxmlformats.org/officeDocument/2006/relationships/image" Target="../media/image-30-2.jpg"/><Relationship Id="rId8" Type="http://schemas.openxmlformats.org/officeDocument/2006/relationships/image" Target="../media/image-30-2.jpg"/><Relationship Id="rId9" Type="http://schemas.openxmlformats.org/officeDocument/2006/relationships/image" Target="../media/image-30-2.jpg"/><Relationship Id="rId10" Type="http://schemas.openxmlformats.org/officeDocument/2006/relationships/image" Target="../media/image-30-2.jpg"/><Relationship Id="rId11" Type="http://schemas.openxmlformats.org/officeDocument/2006/relationships/slideLayout" Target="../slideLayouts/slideLayout1.xml"/><Relationship Id="rId1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image" Target="../media/image-1-2.jpg"/><Relationship Id="rId3" Type="http://schemas.openxmlformats.org/officeDocument/2006/relationships/slideLayout" Target="../slideLayouts/slideLayout1.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1-2.jpg"/><Relationship Id="rId3" Type="http://schemas.openxmlformats.org/officeDocument/2006/relationships/image" Target="../media/image-32-3.png"/><Relationship Id="rId4" Type="http://schemas.openxmlformats.org/officeDocument/2006/relationships/slideLayout" Target="../slideLayouts/slideLayout1.xml"/><Relationship Id="rId5"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1-2.jp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1-2.jp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slideLayout" Target="../slideLayouts/slideLayout1.xml"/><Relationship Id="rId5"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jpg"/><Relationship Id="rId3" Type="http://schemas.openxmlformats.org/officeDocument/2006/relationships/image" Target="../media/image-35-2.jpg"/><Relationship Id="rId4" Type="http://schemas.openxmlformats.org/officeDocument/2006/relationships/image" Target="../media/image-35-2.jpg"/><Relationship Id="rId5" Type="http://schemas.openxmlformats.org/officeDocument/2006/relationships/image" Target="../media/image-35-2.jpg"/><Relationship Id="rId6" Type="http://schemas.openxmlformats.org/officeDocument/2006/relationships/image" Target="../media/image-35-2.jpg"/><Relationship Id="rId7" Type="http://schemas.openxmlformats.org/officeDocument/2006/relationships/image" Target="../media/image-35-2.jpg"/><Relationship Id="rId8" Type="http://schemas.openxmlformats.org/officeDocument/2006/relationships/image" Target="../media/image-35-2.jpg"/><Relationship Id="rId9" Type="http://schemas.openxmlformats.org/officeDocument/2006/relationships/image" Target="../media/image-35-2.jpg"/><Relationship Id="rId10" Type="http://schemas.openxmlformats.org/officeDocument/2006/relationships/image" Target="../media/image-1-2.jpg"/><Relationship Id="rId11" Type="http://schemas.openxmlformats.org/officeDocument/2006/relationships/slideLayout" Target="../slideLayouts/slideLayout1.xml"/><Relationship Id="rId1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1-2.jp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jp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slideLayout" Target="../slideLayouts/slideLayout1.xml"/><Relationship Id="rId5"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7-1.jpg"/><Relationship Id="rId2" Type="http://schemas.openxmlformats.org/officeDocument/2006/relationships/image" Target="../media/image-38-2.png"/><Relationship Id="rId3" Type="http://schemas.openxmlformats.org/officeDocument/2006/relationships/slideLayout" Target="../slideLayouts/slideLayout1.xm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7-1.jp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1-2.jp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1-2.jpg"/><Relationship Id="rId2" Type="http://schemas.openxmlformats.org/officeDocument/2006/relationships/image" Target="../media/image-41-2.png"/><Relationship Id="rId3" Type="http://schemas.openxmlformats.org/officeDocument/2006/relationships/image" Target="../media/image-41-3.svg"/><Relationship Id="rId4" Type="http://schemas.openxmlformats.org/officeDocument/2006/relationships/image" Target="../media/image-41-4.png"/><Relationship Id="rId5" Type="http://schemas.openxmlformats.org/officeDocument/2006/relationships/image" Target="../media/image-41-5.svg"/><Relationship Id="rId6" Type="http://schemas.openxmlformats.org/officeDocument/2006/relationships/image" Target="../media/image-41-6.png"/><Relationship Id="rId7" Type="http://schemas.openxmlformats.org/officeDocument/2006/relationships/image" Target="../media/image-41-7.svg"/><Relationship Id="rId8" Type="http://schemas.openxmlformats.org/officeDocument/2006/relationships/slideLayout" Target="../slideLayouts/slideLayout1.xml"/><Relationship Id="rId9"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1-2.jp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1-2.jp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1-2.jpg"/><Relationship Id="rId2" Type="http://schemas.openxmlformats.org/officeDocument/2006/relationships/image" Target="../media/image-44-2.png"/><Relationship Id="rId3" Type="http://schemas.openxmlformats.org/officeDocument/2006/relationships/image" Target="../media/image-35-2.jpg"/><Relationship Id="rId4" Type="http://schemas.openxmlformats.org/officeDocument/2006/relationships/image" Target="../media/image-35-2.jpg"/><Relationship Id="rId5" Type="http://schemas.openxmlformats.org/officeDocument/2006/relationships/image" Target="../media/image-35-2.jpg"/><Relationship Id="rId6" Type="http://schemas.openxmlformats.org/officeDocument/2006/relationships/image" Target="../media/image-35-2.jpg"/><Relationship Id="rId7" Type="http://schemas.openxmlformats.org/officeDocument/2006/relationships/image" Target="../media/image-44-2.png"/><Relationship Id="rId8" Type="http://schemas.openxmlformats.org/officeDocument/2006/relationships/image" Target="../media/image-44-8.png"/><Relationship Id="rId9" Type="http://schemas.openxmlformats.org/officeDocument/2006/relationships/image" Target="../media/image-44-9.svg"/><Relationship Id="rId10" Type="http://schemas.openxmlformats.org/officeDocument/2006/relationships/image" Target="../media/image-44-10.png"/><Relationship Id="rId11" Type="http://schemas.openxmlformats.org/officeDocument/2006/relationships/image" Target="../media/image-44-11.svg"/><Relationship Id="rId12" Type="http://schemas.openxmlformats.org/officeDocument/2006/relationships/image" Target="../media/image-44-12.png"/><Relationship Id="rId13" Type="http://schemas.openxmlformats.org/officeDocument/2006/relationships/image" Target="../media/image-44-13.svg"/><Relationship Id="rId14" Type="http://schemas.openxmlformats.org/officeDocument/2006/relationships/image" Target="../media/image-44-14.png"/><Relationship Id="rId15" Type="http://schemas.openxmlformats.org/officeDocument/2006/relationships/image" Target="../media/image-44-15.svg"/><Relationship Id="rId16" Type="http://schemas.openxmlformats.org/officeDocument/2006/relationships/image" Target="../media/image-44-16.png"/><Relationship Id="rId17" Type="http://schemas.openxmlformats.org/officeDocument/2006/relationships/image" Target="../media/image-44-17.svg"/><Relationship Id="rId18" Type="http://schemas.openxmlformats.org/officeDocument/2006/relationships/slideLayout" Target="../slideLayouts/slideLayout1.xml"/><Relationship Id="rId19"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1-2.jp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1-2.jpg"/><Relationship Id="rId2" Type="http://schemas.openxmlformats.org/officeDocument/2006/relationships/image" Target="../media/image-46-2.png"/><Relationship Id="rId3" Type="http://schemas.openxmlformats.org/officeDocument/2006/relationships/slideLayout" Target="../slideLayouts/slideLayout1.xml"/><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1-2.jpg"/><Relationship Id="rId2" Type="http://schemas.openxmlformats.org/officeDocument/2006/relationships/image" Target="../media/image-47-2.png"/><Relationship Id="rId3" Type="http://schemas.openxmlformats.org/officeDocument/2006/relationships/image" Target="../media/image-47-3.png"/><Relationship Id="rId4" Type="http://schemas.openxmlformats.org/officeDocument/2006/relationships/slideLayout" Target="../slideLayouts/slideLayout1.xml"/><Relationship Id="rId5"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1-2.jp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1-2.jp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1-2.jp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1-2.jp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1-2.jp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1.xml"/><Relationship Id="rId5"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1-2.jp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1-2.jp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1-2.jpg"/><Relationship Id="rId2" Type="http://schemas.openxmlformats.org/officeDocument/2006/relationships/image" Target="../media/image-55-2.png"/><Relationship Id="rId3" Type="http://schemas.openxmlformats.org/officeDocument/2006/relationships/slideLayout" Target="../slideLayouts/slideLayout1.xml"/><Relationship Id="rId4"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1-2.jpg"/><Relationship Id="rId2" Type="http://schemas.openxmlformats.org/officeDocument/2006/relationships/image" Target="../media/image-56-2.png"/><Relationship Id="rId3" Type="http://schemas.openxmlformats.org/officeDocument/2006/relationships/slideLayout" Target="../slideLayouts/slideLayout1.xml"/><Relationship Id="rId4"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1-2.jpg"/><Relationship Id="rId2" Type="http://schemas.openxmlformats.org/officeDocument/2006/relationships/slideLayout" Target="../slideLayouts/slideLayout1.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1-2.jpg"/><Relationship Id="rId2" Type="http://schemas.openxmlformats.org/officeDocument/2006/relationships/slideLayout" Target="../slideLayouts/slideLayout1.xml"/><Relationship Id="rId3" Type="http://schemas.openxmlformats.org/officeDocument/2006/relationships/notesSlide" Target="../notesSlides/notesSlide5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5361940" y="5445760"/>
            <a:ext cx="1412240" cy="437769"/>
          </a:xfrm>
          <a:prstGeom prst="roundRect">
            <a:avLst>
              <a:gd name="adj" fmla="val 50000"/>
            </a:avLst>
          </a:prstGeom>
          <a:solidFill>
            <a:srgbClr val="03569A"/>
          </a:solidFill>
          <a:ln/>
        </p:spPr>
      </p:sp>
      <p:sp>
        <p:nvSpPr>
          <p:cNvPr id="4" name="Text 1"/>
          <p:cNvSpPr/>
          <p:nvPr/>
        </p:nvSpPr>
        <p:spPr>
          <a:xfrm>
            <a:off x="5304155" y="5448935"/>
            <a:ext cx="1527810" cy="431419"/>
          </a:xfrm>
          <a:prstGeom prst="rect">
            <a:avLst/>
          </a:prstGeom>
          <a:noFill/>
          <a:ln/>
        </p:spPr>
        <p:txBody>
          <a:bodyPr wrap="square" lIns="0" tIns="0" rIns="0" bIns="0" rtlCol="0" anchor="ctr"/>
          <a:lstStyle/>
          <a:p>
            <a:pPr algn="ctr">
              <a:lnSpc>
                <a:spcPct val="120000"/>
              </a:lnSpc>
            </a:pPr>
            <a:r>
              <a:rPr lang="en-US" sz="2400" dirty="0">
                <a:solidFill>
                  <a:srgbClr val="FFFFFF"/>
                </a:solidFill>
                <a:latin typeface="MiSans" pitchFamily="34" charset="0"/>
                <a:ea typeface="MiSans" pitchFamily="34" charset="-122"/>
                <a:cs typeface="MiSans" pitchFamily="34" charset="-120"/>
              </a:rPr>
              <a:t>报告人  </a:t>
            </a:r>
            <a:endParaRPr lang="en-US" sz="2400" dirty="0"/>
          </a:p>
        </p:txBody>
      </p:sp>
      <p:pic>
        <p:nvPicPr>
          <p:cNvPr id="5" name="Image 0" descr="https://kimi-img.moonshot.cn/pub/slides/okc/flfuysioo4gzm/mnt/agents/output/yuan_pptd/images/image_1.png">    </p:cNvPr>
          <p:cNvPicPr>
            <a:picLocks noChangeAspect="1"/>
          </p:cNvPicPr>
          <p:nvPr/>
        </p:nvPicPr>
        <p:blipFill>
          <a:blip r:embed="rId1"/>
          <a:stretch>
            <a:fillRect/>
          </a:stretch>
        </p:blipFill>
        <p:spPr>
          <a:xfrm>
            <a:off x="11641709" y="526669"/>
            <a:ext cx="4296791" cy="398780"/>
          </a:xfrm>
          <a:prstGeom prst="rect">
            <a:avLst/>
          </a:prstGeom>
        </p:spPr>
      </p:pic>
      <p:sp>
        <p:nvSpPr>
          <p:cNvPr id="6" name="Text 2"/>
          <p:cNvSpPr/>
          <p:nvPr/>
        </p:nvSpPr>
        <p:spPr>
          <a:xfrm>
            <a:off x="1302385" y="3297174"/>
            <a:ext cx="13651230" cy="942340"/>
          </a:xfrm>
          <a:prstGeom prst="rect">
            <a:avLst/>
          </a:prstGeom>
          <a:noFill/>
          <a:ln/>
        </p:spPr>
        <p:txBody>
          <a:bodyPr wrap="square" lIns="0" tIns="0" rIns="0" bIns="0" rtlCol="0" anchor="t"/>
          <a:lstStyle/>
          <a:p>
            <a:pPr algn="ctr">
              <a:lnSpc>
                <a:spcPct val="120000"/>
              </a:lnSpc>
            </a:pPr>
            <a:r>
              <a:rPr lang="en-US" sz="5330" b="1" spc="133" kern="0" dirty="0">
                <a:solidFill>
                  <a:srgbClr val="04579A"/>
                </a:solidFill>
                <a:latin typeface="Noto Sans SC" pitchFamily="34" charset="0"/>
                <a:ea typeface="Noto Sans SC" pitchFamily="34" charset="-122"/>
                <a:cs typeface="Noto Sans SC" pitchFamily="34" charset="-120"/>
              </a:rPr>
              <a:t>面向双重约束智能体授权协议设计与实现</a:t>
            </a:r>
            <a:endParaRPr lang="en-US" sz="5330" dirty="0"/>
          </a:p>
        </p:txBody>
      </p:sp>
      <p:sp>
        <p:nvSpPr>
          <p:cNvPr id="7" name="Shape 3"/>
          <p:cNvSpPr/>
          <p:nvPr/>
        </p:nvSpPr>
        <p:spPr>
          <a:xfrm>
            <a:off x="7100189" y="5285740"/>
            <a:ext cx="4541520" cy="1774571"/>
          </a:xfrm>
          <a:prstGeom prst="rect">
            <a:avLst/>
          </a:prstGeom>
          <a:noFill/>
          <a:ln/>
        </p:spPr>
      </p:sp>
      <p:sp>
        <p:nvSpPr>
          <p:cNvPr id="8" name="Text 4"/>
          <p:cNvSpPr/>
          <p:nvPr/>
        </p:nvSpPr>
        <p:spPr>
          <a:xfrm>
            <a:off x="7100189" y="5285740"/>
            <a:ext cx="4541520" cy="1774571"/>
          </a:xfrm>
          <a:prstGeom prst="rect">
            <a:avLst/>
          </a:prstGeom>
          <a:noFill/>
          <a:ln/>
        </p:spPr>
        <p:txBody>
          <a:bodyPr wrap="square" lIns="0" tIns="0" rIns="0" bIns="0" rtlCol="0" anchor="t"/>
          <a:lstStyle/>
          <a:p>
            <a:pPr algn="l">
              <a:lnSpc>
                <a:spcPct val="150000"/>
              </a:lnSpc>
            </a:pPr>
            <a:r>
              <a:rPr lang="en-US" sz="2400" spc="267" kern="0" dirty="0">
                <a:solidFill>
                  <a:srgbClr val="070A11"/>
                </a:solidFill>
                <a:latin typeface="MiSans" pitchFamily="34" charset="0"/>
                <a:ea typeface="MiSans" pitchFamily="34" charset="-122"/>
                <a:cs typeface="MiSans" pitchFamily="34" charset="-120"/>
              </a:rPr>
              <a:t>袁伟奇</a:t>
            </a:r>
            <a:endParaRPr lang="en-US" sz="2400" dirty="0"/>
          </a:p>
          <a:p>
            <a:pPr algn="l">
              <a:lnSpc>
                <a:spcPct val="150000"/>
              </a:lnSpc>
              <a:spcBef>
                <a:spcPts val="1333"/>
              </a:spcBef>
            </a:pPr>
            <a:r>
              <a:rPr lang="en-US" sz="2400" spc="267" kern="0" dirty="0">
                <a:solidFill>
                  <a:srgbClr val="070A11"/>
                </a:solidFill>
                <a:latin typeface="MiSans" pitchFamily="34" charset="0"/>
                <a:ea typeface="MiSans" pitchFamily="34" charset="-122"/>
                <a:cs typeface="MiSans" pitchFamily="34" charset="-120"/>
              </a:rPr>
              <a:t>202428015070001</a:t>
            </a:r>
            <a:endParaRPr lang="en-US" sz="2400" dirty="0"/>
          </a:p>
          <a:p>
            <a:pPr algn="l">
              <a:lnSpc>
                <a:spcPct val="150000"/>
              </a:lnSpc>
              <a:spcBef>
                <a:spcPts val="1333"/>
              </a:spcBef>
            </a:pPr>
            <a:r>
              <a:rPr lang="en-US" sz="2400" spc="267" kern="0" dirty="0">
                <a:solidFill>
                  <a:srgbClr val="070A11"/>
                </a:solidFill>
                <a:latin typeface="MiSans" pitchFamily="34" charset="0"/>
                <a:ea typeface="MiSans" pitchFamily="34" charset="-122"/>
                <a:cs typeface="MiSans" pitchFamily="34" charset="-120"/>
              </a:rPr>
              <a:t>徐静 研究员</a:t>
            </a:r>
            <a:endParaRPr lang="en-US" sz="2400" dirty="0"/>
          </a:p>
        </p:txBody>
      </p:sp>
      <p:sp>
        <p:nvSpPr>
          <p:cNvPr id="9" name="Shape 5"/>
          <p:cNvSpPr/>
          <p:nvPr/>
        </p:nvSpPr>
        <p:spPr>
          <a:xfrm>
            <a:off x="1413129" y="4537329"/>
            <a:ext cx="13315569" cy="0"/>
          </a:xfrm>
          <a:prstGeom prst="line">
            <a:avLst/>
          </a:prstGeom>
          <a:noFill/>
          <a:ln w="6350">
            <a:solidFill>
              <a:srgbClr val="7F7F7F"/>
            </a:solidFill>
            <a:prstDash val="solid"/>
            <a:headEnd type="none"/>
            <a:tailEnd type="none"/>
          </a:ln>
        </p:spPr>
      </p:sp>
      <p:sp>
        <p:nvSpPr>
          <p:cNvPr id="10" name="Shape 6"/>
          <p:cNvSpPr/>
          <p:nvPr/>
        </p:nvSpPr>
        <p:spPr>
          <a:xfrm>
            <a:off x="5553329" y="2118360"/>
            <a:ext cx="4875911" cy="592709"/>
          </a:xfrm>
          <a:prstGeom prst="roundRect">
            <a:avLst>
              <a:gd name="adj" fmla="val 50000"/>
            </a:avLst>
          </a:prstGeom>
          <a:gradFill rotWithShape="1" flip="none">
            <a:gsLst>
              <a:gs pos="0">
                <a:srgbClr val="02589B"/>
              </a:gs>
              <a:gs pos="100000">
                <a:srgbClr val="024171"/>
              </a:gs>
            </a:gsLst>
            <a:lin ang="20580000" scaled="1"/>
          </a:gradFill>
          <a:ln/>
          <a:effectLst>
            <a:outerShdw sx="100000" sy="100000" kx="0" ky="0" algn="bl" rotWithShape="0" blurRad="50800" dist="53848" dir="2700000">
              <a:srgbClr val="000000">
                <a:alpha val="34902"/>
              </a:srgbClr>
            </a:outerShdw>
          </a:effectLst>
        </p:spPr>
      </p:sp>
      <p:sp>
        <p:nvSpPr>
          <p:cNvPr id="11" name="Text 7"/>
          <p:cNvSpPr/>
          <p:nvPr/>
        </p:nvSpPr>
        <p:spPr>
          <a:xfrm>
            <a:off x="5993511" y="2175891"/>
            <a:ext cx="4268851" cy="491109"/>
          </a:xfrm>
          <a:prstGeom prst="rect">
            <a:avLst/>
          </a:prstGeom>
          <a:noFill/>
          <a:ln/>
        </p:spPr>
        <p:txBody>
          <a:bodyPr wrap="square" lIns="0" tIns="0" rIns="0" bIns="0" rtlCol="0" anchor="t"/>
          <a:lstStyle/>
          <a:p>
            <a:pPr algn="ctr">
              <a:lnSpc>
                <a:spcPct val="120000"/>
              </a:lnSpc>
            </a:pPr>
            <a:r>
              <a:rPr lang="en-US" sz="2400" dirty="0">
                <a:solidFill>
                  <a:srgbClr val="FFFFFF"/>
                </a:solidFill>
                <a:latin typeface="MiSans" pitchFamily="34" charset="0"/>
                <a:ea typeface="MiSans" pitchFamily="34" charset="-122"/>
                <a:cs typeface="MiSans" pitchFamily="34" charset="-120"/>
              </a:rPr>
              <a:t>硕士学位论文 开题报告</a:t>
            </a:r>
            <a:endParaRPr lang="en-US" sz="2400" dirty="0"/>
          </a:p>
        </p:txBody>
      </p:sp>
      <p:sp>
        <p:nvSpPr>
          <p:cNvPr id="12" name="Shape 8"/>
          <p:cNvSpPr/>
          <p:nvPr/>
        </p:nvSpPr>
        <p:spPr>
          <a:xfrm rot="5400000">
            <a:off x="6112129" y="2287651"/>
            <a:ext cx="254000" cy="254000"/>
          </a:xfrm>
          <a:prstGeom prst="triangle">
            <a:avLst>
              <a:gd name="adj" fmla="val 50000"/>
            </a:avLst>
          </a:prstGeom>
          <a:solidFill>
            <a:srgbClr val="FFFFFF"/>
          </a:solidFill>
          <a:ln/>
        </p:spPr>
      </p:sp>
      <p:sp>
        <p:nvSpPr>
          <p:cNvPr id="13" name="Shape 9"/>
          <p:cNvSpPr/>
          <p:nvPr/>
        </p:nvSpPr>
        <p:spPr>
          <a:xfrm>
            <a:off x="5361940" y="6015609"/>
            <a:ext cx="1412240" cy="437769"/>
          </a:xfrm>
          <a:prstGeom prst="roundRect">
            <a:avLst>
              <a:gd name="adj" fmla="val 50000"/>
            </a:avLst>
          </a:prstGeom>
          <a:solidFill>
            <a:srgbClr val="03569A"/>
          </a:solidFill>
          <a:ln/>
        </p:spPr>
      </p:sp>
      <p:sp>
        <p:nvSpPr>
          <p:cNvPr id="14" name="Text 10"/>
          <p:cNvSpPr/>
          <p:nvPr/>
        </p:nvSpPr>
        <p:spPr>
          <a:xfrm>
            <a:off x="5304155" y="6018784"/>
            <a:ext cx="1527810" cy="431419"/>
          </a:xfrm>
          <a:prstGeom prst="rect">
            <a:avLst/>
          </a:prstGeom>
          <a:noFill/>
          <a:ln/>
        </p:spPr>
        <p:txBody>
          <a:bodyPr wrap="square" lIns="0" tIns="0" rIns="0" bIns="0" rtlCol="0" anchor="ctr"/>
          <a:lstStyle/>
          <a:p>
            <a:pPr algn="ctr">
              <a:lnSpc>
                <a:spcPct val="120000"/>
              </a:lnSpc>
            </a:pPr>
            <a:r>
              <a:rPr lang="en-US" sz="2400" dirty="0">
                <a:solidFill>
                  <a:srgbClr val="FFFFFF"/>
                </a:solidFill>
                <a:latin typeface="Arial" pitchFamily="34" charset="0"/>
                <a:ea typeface="Arial" pitchFamily="34" charset="-122"/>
                <a:cs typeface="Arial" pitchFamily="34" charset="-120"/>
              </a:rPr>
              <a:t>学  号</a:t>
            </a:r>
            <a:endParaRPr lang="en-US" sz="2400" dirty="0"/>
          </a:p>
        </p:txBody>
      </p:sp>
      <p:sp>
        <p:nvSpPr>
          <p:cNvPr id="15" name="Shape 11"/>
          <p:cNvSpPr/>
          <p:nvPr/>
        </p:nvSpPr>
        <p:spPr>
          <a:xfrm>
            <a:off x="5361940" y="6585331"/>
            <a:ext cx="1412240" cy="437769"/>
          </a:xfrm>
          <a:prstGeom prst="roundRect">
            <a:avLst>
              <a:gd name="adj" fmla="val 50000"/>
            </a:avLst>
          </a:prstGeom>
          <a:solidFill>
            <a:srgbClr val="03569A"/>
          </a:solidFill>
          <a:ln/>
        </p:spPr>
      </p:sp>
      <p:sp>
        <p:nvSpPr>
          <p:cNvPr id="16" name="Text 12"/>
          <p:cNvSpPr/>
          <p:nvPr/>
        </p:nvSpPr>
        <p:spPr>
          <a:xfrm>
            <a:off x="5304155" y="6588506"/>
            <a:ext cx="1527810" cy="431419"/>
          </a:xfrm>
          <a:prstGeom prst="rect">
            <a:avLst/>
          </a:prstGeom>
          <a:noFill/>
          <a:ln/>
        </p:spPr>
        <p:txBody>
          <a:bodyPr wrap="square" lIns="0" tIns="0" rIns="0" bIns="0" rtlCol="0" anchor="ctr"/>
          <a:lstStyle/>
          <a:p>
            <a:pPr algn="ctr">
              <a:lnSpc>
                <a:spcPct val="120000"/>
              </a:lnSpc>
            </a:pPr>
            <a:r>
              <a:rPr lang="en-US" sz="2400" dirty="0">
                <a:solidFill>
                  <a:srgbClr val="FFFFFF"/>
                </a:solidFill>
                <a:latin typeface="Arial" pitchFamily="34" charset="0"/>
                <a:ea typeface="Arial" pitchFamily="34" charset="-122"/>
                <a:cs typeface="Arial" pitchFamily="34" charset="-120"/>
              </a:rPr>
              <a:t>导  师</a:t>
            </a:r>
            <a:endParaRPr lang="en-US" sz="2400" dirty="0"/>
          </a:p>
        </p:txBody>
      </p:sp>
      <p:pic>
        <p:nvPicPr>
          <p:cNvPr id="17" name="Image 1" descr="https://kimi-img.moonshot.cn/pub/slides/okc/flfuysioo4gzm/mnt/agents/output/yuan_pptd/images/image_2.jpg">    </p:cNvPr>
          <p:cNvPicPr>
            <a:picLocks noChangeAspect="1"/>
          </p:cNvPicPr>
          <p:nvPr/>
        </p:nvPicPr>
        <p:blipFill>
          <a:blip r:embed="rId2"/>
          <a:srcRect l="5060" r="29000" t="0" b="0"/>
          <a:stretch/>
        </p:blipFill>
        <p:spPr>
          <a:xfrm>
            <a:off x="544449" y="140589"/>
            <a:ext cx="1273429" cy="745871"/>
          </a:xfrm>
          <a:prstGeom prst="rect">
            <a:avLst/>
          </a:prstGeom>
        </p:spPr>
      </p:pic>
    </p:spTree>
  </p:cSld>
  <p:clrMapOvr>
    <a:masterClrMapping/>
  </p:clrMapOvr>
  <p:transition>
    <p:fade/>
    <p:spd val="med"/>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6397879" y="3018028"/>
            <a:ext cx="1924050" cy="602107"/>
          </a:xfrm>
          <a:prstGeom prst="rect">
            <a:avLst/>
          </a:prstGeom>
          <a:noFill/>
          <a:ln/>
          <a:effectLst>
            <a:outerShdw sx="100000" sy="100000" kx="0" ky="0" algn="bl" rotWithShape="0" blurRad="50800" dist="26924" dir="2700000">
              <a:srgbClr val="000000">
                <a:alpha val="40000"/>
              </a:srgbClr>
            </a:outerShdw>
          </a:effectLst>
        </p:spPr>
        <p:txBody>
          <a:bodyPr wrap="square" lIns="0" tIns="0" rIns="0" bIns="0" rtlCol="0" anchor="ctr"/>
          <a:lstStyle/>
          <a:p>
            <a:pPr algn="l">
              <a:lnSpc>
                <a:spcPct val="130000"/>
              </a:lnSpc>
            </a:pPr>
            <a:r>
              <a:rPr lang="en-US" sz="3200" b="1" dirty="0">
                <a:solidFill>
                  <a:srgbClr val="04579A"/>
                </a:solidFill>
                <a:latin typeface="Arial" pitchFamily="34" charset="0"/>
                <a:ea typeface="Arial" pitchFamily="34" charset="-122"/>
                <a:cs typeface="Arial" pitchFamily="34" charset="-120"/>
              </a:rPr>
              <a:t>01</a:t>
            </a:r>
            <a:endParaRPr lang="en-US" sz="3200" dirty="0"/>
          </a:p>
        </p:txBody>
      </p:sp>
      <p:sp>
        <p:nvSpPr>
          <p:cNvPr id="4" name="Text 1"/>
          <p:cNvSpPr/>
          <p:nvPr/>
        </p:nvSpPr>
        <p:spPr>
          <a:xfrm>
            <a:off x="6387084" y="3515360"/>
            <a:ext cx="4143121" cy="633349"/>
          </a:xfrm>
          <a:prstGeom prst="rect">
            <a:avLst/>
          </a:prstGeom>
          <a:noFill/>
          <a:ln/>
        </p:spPr>
        <p:txBody>
          <a:bodyPr wrap="square" lIns="0" tIns="0" rIns="0" bIns="0" rtlCol="0" anchor="b"/>
          <a:lstStyle/>
          <a:p>
            <a:pPr algn="l">
              <a:lnSpc>
                <a:spcPct val="120000"/>
              </a:lnSpc>
            </a:pPr>
            <a:r>
              <a:rPr lang="en-US" sz="2400" dirty="0">
                <a:solidFill>
                  <a:srgbClr val="000000"/>
                </a:solidFill>
                <a:latin typeface="Arial" pitchFamily="34" charset="0"/>
                <a:ea typeface="Arial" pitchFamily="34" charset="-122"/>
                <a:cs typeface="Arial" pitchFamily="34" charset="-120"/>
              </a:rPr>
              <a:t>选题背景及意义</a:t>
            </a:r>
            <a:endParaRPr lang="en-US" sz="2400" dirty="0"/>
          </a:p>
        </p:txBody>
      </p:sp>
      <p:sp>
        <p:nvSpPr>
          <p:cNvPr id="5" name="Text 2"/>
          <p:cNvSpPr/>
          <p:nvPr/>
        </p:nvSpPr>
        <p:spPr>
          <a:xfrm>
            <a:off x="6397879" y="4311015"/>
            <a:ext cx="1924050" cy="602107"/>
          </a:xfrm>
          <a:prstGeom prst="rect">
            <a:avLst/>
          </a:prstGeom>
          <a:noFill/>
          <a:ln/>
          <a:effectLst>
            <a:outerShdw sx="100000" sy="100000" kx="0" ky="0" algn="bl" rotWithShape="0" blurRad="50800" dist="26924" dir="2700000">
              <a:srgbClr val="000000">
                <a:alpha val="40000"/>
              </a:srgbClr>
            </a:outerShdw>
          </a:effectLst>
        </p:spPr>
        <p:txBody>
          <a:bodyPr wrap="square" lIns="0" tIns="0" rIns="0" bIns="0" rtlCol="0" anchor="ctr"/>
          <a:lstStyle/>
          <a:p>
            <a:pPr algn="l">
              <a:lnSpc>
                <a:spcPct val="130000"/>
              </a:lnSpc>
            </a:pPr>
            <a:r>
              <a:rPr lang="en-US" sz="3200" b="1" dirty="0">
                <a:solidFill>
                  <a:srgbClr val="04579A"/>
                </a:solidFill>
                <a:latin typeface="Arial" pitchFamily="34" charset="0"/>
                <a:ea typeface="Arial" pitchFamily="34" charset="-122"/>
                <a:cs typeface="Arial" pitchFamily="34" charset="-120"/>
              </a:rPr>
              <a:t>02</a:t>
            </a:r>
            <a:endParaRPr lang="en-US" sz="3200" dirty="0"/>
          </a:p>
        </p:txBody>
      </p:sp>
      <p:sp>
        <p:nvSpPr>
          <p:cNvPr id="6" name="Text 3"/>
          <p:cNvSpPr/>
          <p:nvPr/>
        </p:nvSpPr>
        <p:spPr>
          <a:xfrm>
            <a:off x="6397879" y="5597525"/>
            <a:ext cx="1924050" cy="602107"/>
          </a:xfrm>
          <a:prstGeom prst="rect">
            <a:avLst/>
          </a:prstGeom>
          <a:noFill/>
          <a:ln/>
          <a:effectLst>
            <a:outerShdw sx="100000" sy="100000" kx="0" ky="0" algn="bl" rotWithShape="0" blurRad="38100" dist="26924" dir="2700000">
              <a:srgbClr val="000000">
                <a:alpha val="42745"/>
              </a:srgbClr>
            </a:outerShdw>
          </a:effectLst>
        </p:spPr>
        <p:txBody>
          <a:bodyPr wrap="square" lIns="0" tIns="0" rIns="0" bIns="0" rtlCol="0" anchor="ctr"/>
          <a:lstStyle/>
          <a:p>
            <a:pPr algn="l">
              <a:lnSpc>
                <a:spcPct val="130000"/>
              </a:lnSpc>
            </a:pPr>
            <a:r>
              <a:rPr lang="en-US" sz="3200" b="1" dirty="0">
                <a:solidFill>
                  <a:srgbClr val="04579A"/>
                </a:solidFill>
                <a:latin typeface="Arial" pitchFamily="34" charset="0"/>
                <a:ea typeface="Arial" pitchFamily="34" charset="-122"/>
                <a:cs typeface="Arial" pitchFamily="34" charset="-120"/>
              </a:rPr>
              <a:t>03</a:t>
            </a:r>
            <a:endParaRPr lang="en-US" sz="3200" dirty="0"/>
          </a:p>
        </p:txBody>
      </p:sp>
      <p:sp>
        <p:nvSpPr>
          <p:cNvPr id="7" name="Text 4"/>
          <p:cNvSpPr/>
          <p:nvPr/>
        </p:nvSpPr>
        <p:spPr>
          <a:xfrm>
            <a:off x="6397879" y="6884035"/>
            <a:ext cx="1924050" cy="602107"/>
          </a:xfrm>
          <a:prstGeom prst="rect">
            <a:avLst/>
          </a:prstGeom>
          <a:noFill/>
          <a:ln/>
          <a:effectLst>
            <a:outerShdw sx="100000" sy="100000" kx="0" ky="0" algn="bl" rotWithShape="0" blurRad="38100" dist="26924" dir="2700000">
              <a:srgbClr val="000000">
                <a:alpha val="42745"/>
              </a:srgbClr>
            </a:outerShdw>
          </a:effectLst>
        </p:spPr>
        <p:txBody>
          <a:bodyPr wrap="square" lIns="0" tIns="0" rIns="0" bIns="0" rtlCol="0" anchor="ctr"/>
          <a:lstStyle/>
          <a:p>
            <a:pPr algn="l">
              <a:lnSpc>
                <a:spcPct val="130000"/>
              </a:lnSpc>
            </a:pPr>
            <a:r>
              <a:rPr lang="en-US" sz="3200" b="1" dirty="0">
                <a:solidFill>
                  <a:srgbClr val="04579A"/>
                </a:solidFill>
                <a:latin typeface="Arial" pitchFamily="34" charset="0"/>
                <a:ea typeface="Arial" pitchFamily="34" charset="-122"/>
                <a:cs typeface="Arial" pitchFamily="34" charset="-120"/>
              </a:rPr>
              <a:t>04</a:t>
            </a:r>
            <a:endParaRPr lang="en-US" sz="3200" dirty="0"/>
          </a:p>
        </p:txBody>
      </p:sp>
      <p:sp>
        <p:nvSpPr>
          <p:cNvPr id="8" name="Text 5"/>
          <p:cNvSpPr/>
          <p:nvPr/>
        </p:nvSpPr>
        <p:spPr>
          <a:xfrm>
            <a:off x="970153" y="2345309"/>
            <a:ext cx="3696208" cy="1402334"/>
          </a:xfrm>
          <a:prstGeom prst="rect">
            <a:avLst/>
          </a:prstGeom>
          <a:noFill/>
          <a:ln/>
        </p:spPr>
        <p:txBody>
          <a:bodyPr wrap="square" lIns="0" tIns="0" rIns="0" bIns="0" rtlCol="0" anchor="ctr"/>
          <a:lstStyle/>
          <a:p>
            <a:pPr algn="l">
              <a:lnSpc>
                <a:spcPct val="130000"/>
              </a:lnSpc>
            </a:pPr>
            <a:r>
              <a:rPr lang="en-US" sz="3730" b="1" dirty="0">
                <a:solidFill>
                  <a:srgbClr val="04579A"/>
                </a:solidFill>
                <a:latin typeface="Arial" pitchFamily="34" charset="0"/>
                <a:ea typeface="Arial" pitchFamily="34" charset="-122"/>
                <a:cs typeface="Arial" pitchFamily="34" charset="-120"/>
              </a:rPr>
              <a:t>报告提纲</a:t>
            </a:r>
            <a:endParaRPr lang="en-US" sz="3730" dirty="0"/>
          </a:p>
        </p:txBody>
      </p:sp>
      <p:sp>
        <p:nvSpPr>
          <p:cNvPr id="9" name="Shape 6"/>
          <p:cNvSpPr/>
          <p:nvPr/>
        </p:nvSpPr>
        <p:spPr>
          <a:xfrm>
            <a:off x="1011555" y="2193036"/>
            <a:ext cx="3653028" cy="0"/>
          </a:xfrm>
          <a:prstGeom prst="line">
            <a:avLst/>
          </a:prstGeom>
          <a:noFill/>
          <a:ln w="22225">
            <a:solidFill>
              <a:srgbClr val="2A2824"/>
            </a:solidFill>
            <a:prstDash val="solid"/>
            <a:headEnd type="none"/>
            <a:tailEnd type="none"/>
          </a:ln>
        </p:spPr>
      </p:sp>
      <p:sp>
        <p:nvSpPr>
          <p:cNvPr id="10" name="Text 7"/>
          <p:cNvSpPr/>
          <p:nvPr/>
        </p:nvSpPr>
        <p:spPr>
          <a:xfrm>
            <a:off x="893191" y="1787652"/>
            <a:ext cx="3958717" cy="328295"/>
          </a:xfrm>
          <a:prstGeom prst="rect">
            <a:avLst/>
          </a:prstGeom>
          <a:noFill/>
          <a:ln/>
        </p:spPr>
        <p:txBody>
          <a:bodyPr wrap="square" lIns="0" tIns="0" rIns="0" bIns="0" rtlCol="0" anchor="t"/>
          <a:lstStyle/>
          <a:p>
            <a:pPr algn="l">
              <a:lnSpc>
                <a:spcPct val="130000"/>
              </a:lnSpc>
            </a:pPr>
            <a:r>
              <a:rPr lang="en-US" sz="1600" b="1" dirty="0">
                <a:solidFill>
                  <a:srgbClr val="04579A"/>
                </a:solidFill>
                <a:latin typeface="Arial" pitchFamily="34" charset="0"/>
                <a:ea typeface="Arial" pitchFamily="34" charset="-122"/>
                <a:cs typeface="Arial" pitchFamily="34" charset="-120"/>
              </a:rPr>
              <a:t>OUTLINE</a:t>
            </a:r>
            <a:endParaRPr lang="en-US" sz="1600" dirty="0"/>
          </a:p>
        </p:txBody>
      </p:sp>
      <p:sp>
        <p:nvSpPr>
          <p:cNvPr id="11" name="Shape 8"/>
          <p:cNvSpPr/>
          <p:nvPr/>
        </p:nvSpPr>
        <p:spPr>
          <a:xfrm>
            <a:off x="1016127" y="3899916"/>
            <a:ext cx="3456432" cy="0"/>
          </a:xfrm>
          <a:prstGeom prst="line">
            <a:avLst/>
          </a:prstGeom>
          <a:noFill/>
          <a:ln w="31750">
            <a:solidFill>
              <a:srgbClr val="2A2824"/>
            </a:solidFill>
            <a:prstDash val="solid"/>
            <a:headEnd type="none"/>
            <a:tailEnd type="none"/>
          </a:ln>
        </p:spPr>
      </p:sp>
      <p:sp>
        <p:nvSpPr>
          <p:cNvPr id="12" name="Text 9"/>
          <p:cNvSpPr/>
          <p:nvPr/>
        </p:nvSpPr>
        <p:spPr>
          <a:xfrm>
            <a:off x="1001522" y="4013835"/>
            <a:ext cx="3081528" cy="1082167"/>
          </a:xfrm>
          <a:prstGeom prst="rect">
            <a:avLst/>
          </a:prstGeom>
          <a:noFill/>
          <a:ln/>
        </p:spPr>
        <p:txBody>
          <a:bodyPr wrap="square" lIns="0" tIns="0" rIns="0" bIns="0" rtlCol="0" anchor="t"/>
          <a:lstStyle/>
          <a:p>
            <a:pPr algn="ctr">
              <a:lnSpc>
                <a:spcPct val="130000"/>
              </a:lnSpc>
            </a:pPr>
            <a:r>
              <a:rPr lang="en-US" sz="1470" dirty="0">
                <a:solidFill>
                  <a:srgbClr val="000000"/>
                </a:solidFill>
                <a:latin typeface="Arial" pitchFamily="34" charset="0"/>
                <a:ea typeface="Arial" pitchFamily="34" charset="-122"/>
                <a:cs typeface="Arial" pitchFamily="34" charset="-120"/>
              </a:rPr>
              <a:t>分布式数字资产协议</a:t>
            </a:r>
            <a:endParaRPr lang="en-US" sz="1470" dirty="0"/>
          </a:p>
          <a:p>
            <a:pPr algn="ctr">
              <a:lnSpc>
                <a:spcPct val="130000"/>
              </a:lnSpc>
            </a:pPr>
            <a:r>
              <a:rPr lang="en-US" sz="1470" dirty="0">
                <a:solidFill>
                  <a:srgbClr val="000000"/>
                </a:solidFill>
                <a:latin typeface="Arial" pitchFamily="34" charset="0"/>
                <a:ea typeface="Arial" pitchFamily="34" charset="-122"/>
                <a:cs typeface="Arial" pitchFamily="34" charset="-120"/>
              </a:rPr>
              <a:t>设计与分析</a:t>
            </a:r>
            <a:endParaRPr lang="en-US" sz="1470" dirty="0"/>
          </a:p>
        </p:txBody>
      </p:sp>
      <p:sp>
        <p:nvSpPr>
          <p:cNvPr id="13" name="Shape 10"/>
          <p:cNvSpPr/>
          <p:nvPr/>
        </p:nvSpPr>
        <p:spPr>
          <a:xfrm>
            <a:off x="6255766" y="4088130"/>
            <a:ext cx="7621905" cy="0"/>
          </a:xfrm>
          <a:prstGeom prst="line">
            <a:avLst/>
          </a:prstGeom>
          <a:noFill/>
          <a:ln w="12700">
            <a:solidFill>
              <a:srgbClr val="000000"/>
            </a:solidFill>
            <a:prstDash val="solid"/>
            <a:headEnd type="none"/>
            <a:tailEnd type="none"/>
          </a:ln>
        </p:spPr>
      </p:sp>
      <p:sp>
        <p:nvSpPr>
          <p:cNvPr id="14" name="Shape 11"/>
          <p:cNvSpPr/>
          <p:nvPr/>
        </p:nvSpPr>
        <p:spPr>
          <a:xfrm>
            <a:off x="6255766" y="5407914"/>
            <a:ext cx="7621905" cy="0"/>
          </a:xfrm>
          <a:prstGeom prst="line">
            <a:avLst/>
          </a:prstGeom>
          <a:noFill/>
          <a:ln w="12700">
            <a:solidFill>
              <a:srgbClr val="000000"/>
            </a:solidFill>
            <a:prstDash val="solid"/>
            <a:headEnd type="none"/>
            <a:tailEnd type="none"/>
          </a:ln>
        </p:spPr>
      </p:sp>
      <p:sp>
        <p:nvSpPr>
          <p:cNvPr id="15" name="Shape 12"/>
          <p:cNvSpPr/>
          <p:nvPr/>
        </p:nvSpPr>
        <p:spPr>
          <a:xfrm>
            <a:off x="6255766" y="6727698"/>
            <a:ext cx="7621905" cy="0"/>
          </a:xfrm>
          <a:prstGeom prst="line">
            <a:avLst/>
          </a:prstGeom>
          <a:noFill/>
          <a:ln w="12700">
            <a:solidFill>
              <a:srgbClr val="000000"/>
            </a:solidFill>
            <a:prstDash val="solid"/>
            <a:headEnd type="none"/>
            <a:tailEnd type="none"/>
          </a:ln>
        </p:spPr>
      </p:sp>
      <p:sp>
        <p:nvSpPr>
          <p:cNvPr id="16" name="Text 13"/>
          <p:cNvSpPr/>
          <p:nvPr/>
        </p:nvSpPr>
        <p:spPr>
          <a:xfrm>
            <a:off x="6387084" y="4836160"/>
            <a:ext cx="4301490" cy="633349"/>
          </a:xfrm>
          <a:prstGeom prst="rect">
            <a:avLst/>
          </a:prstGeom>
          <a:noFill/>
          <a:ln/>
        </p:spPr>
        <p:txBody>
          <a:bodyPr wrap="square" lIns="0" tIns="0" rIns="0" bIns="0" rtlCol="0" anchor="b"/>
          <a:lstStyle/>
          <a:p>
            <a:pPr algn="l">
              <a:lnSpc>
                <a:spcPct val="120000"/>
              </a:lnSpc>
            </a:pPr>
            <a:r>
              <a:rPr lang="en-US" sz="2400" dirty="0">
                <a:solidFill>
                  <a:srgbClr val="000000"/>
                </a:solidFill>
                <a:latin typeface="Arial" pitchFamily="34" charset="0"/>
                <a:ea typeface="Arial" pitchFamily="34" charset="-122"/>
                <a:cs typeface="Arial" pitchFamily="34" charset="-120"/>
              </a:rPr>
              <a:t>国内外研究现状</a:t>
            </a:r>
            <a:endParaRPr lang="en-US" sz="2400" dirty="0"/>
          </a:p>
        </p:txBody>
      </p:sp>
      <p:sp>
        <p:nvSpPr>
          <p:cNvPr id="17" name="Text 14"/>
          <p:cNvSpPr/>
          <p:nvPr/>
        </p:nvSpPr>
        <p:spPr>
          <a:xfrm>
            <a:off x="6398006" y="6157849"/>
            <a:ext cx="4301490" cy="633349"/>
          </a:xfrm>
          <a:prstGeom prst="rect">
            <a:avLst/>
          </a:prstGeom>
          <a:noFill/>
          <a:ln/>
        </p:spPr>
        <p:txBody>
          <a:bodyPr wrap="square" lIns="0" tIns="0" rIns="0" bIns="0" rtlCol="0" anchor="b"/>
          <a:lstStyle/>
          <a:p>
            <a:pPr algn="l">
              <a:lnSpc>
                <a:spcPct val="120000"/>
              </a:lnSpc>
            </a:pPr>
            <a:r>
              <a:rPr lang="en-US" sz="2400" dirty="0">
                <a:solidFill>
                  <a:srgbClr val="000000"/>
                </a:solidFill>
                <a:latin typeface="Arial" pitchFamily="34" charset="0"/>
                <a:ea typeface="Arial" pitchFamily="34" charset="-122"/>
                <a:cs typeface="Arial" pitchFamily="34" charset="-120"/>
              </a:rPr>
              <a:t>研究内容及预期目标</a:t>
            </a:r>
            <a:endParaRPr lang="en-US" sz="2400" dirty="0"/>
          </a:p>
        </p:txBody>
      </p:sp>
      <p:sp>
        <p:nvSpPr>
          <p:cNvPr id="18" name="Text 15"/>
          <p:cNvSpPr/>
          <p:nvPr/>
        </p:nvSpPr>
        <p:spPr>
          <a:xfrm>
            <a:off x="6398006" y="7354951"/>
            <a:ext cx="4301490" cy="633349"/>
          </a:xfrm>
          <a:prstGeom prst="rect">
            <a:avLst/>
          </a:prstGeom>
          <a:noFill/>
          <a:ln/>
        </p:spPr>
        <p:txBody>
          <a:bodyPr wrap="square" lIns="0" tIns="0" rIns="0" bIns="0" rtlCol="0" anchor="b"/>
          <a:lstStyle/>
          <a:p>
            <a:pPr algn="l">
              <a:lnSpc>
                <a:spcPct val="120000"/>
              </a:lnSpc>
            </a:pPr>
            <a:r>
              <a:rPr lang="en-US" sz="2400" dirty="0">
                <a:solidFill>
                  <a:srgbClr val="000000"/>
                </a:solidFill>
                <a:latin typeface="Arial" pitchFamily="34" charset="0"/>
                <a:ea typeface="Arial" pitchFamily="34" charset="-122"/>
                <a:cs typeface="Arial" pitchFamily="34" charset="-120"/>
              </a:rPr>
              <a:t>工作计划与进度安排</a:t>
            </a:r>
            <a:endParaRPr lang="en-US" sz="2400" dirty="0"/>
          </a:p>
        </p:txBody>
      </p:sp>
      <p:pic>
        <p:nvPicPr>
          <p:cNvPr id="19" name="Image 0" descr="https://kimi-img.moonshot.cn/pub/slides/okc/flfuysioo4gzm/mnt/agents/output/yuan_pptd/images/image_2.jpg">    </p:cNvPr>
          <p:cNvPicPr>
            <a:picLocks noChangeAspect="1"/>
          </p:cNvPicPr>
          <p:nvPr/>
        </p:nvPicPr>
        <p:blipFill>
          <a:blip r:embed="rId1"/>
          <a:srcRect l="5060" r="29000" t="0" b="0"/>
          <a:stretch/>
        </p:blipFill>
        <p:spPr>
          <a:xfrm>
            <a:off x="544449" y="140589"/>
            <a:ext cx="1273429" cy="745871"/>
          </a:xfrm>
          <a:prstGeom prst="rect">
            <a:avLst/>
          </a:prstGeom>
        </p:spPr>
      </p:pic>
    </p:spTree>
  </p:cSld>
  <p:clrMapOvr>
    <a:masterClrMapping/>
  </p:clrMapOvr>
  <p:transition>
    <p:fade/>
    <p:spd val="med"/>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168900" y="0"/>
            <a:ext cx="2654300" cy="965200"/>
          </a:xfrm>
          <a:prstGeom prst="rect">
            <a:avLst/>
          </a:prstGeom>
          <a:solidFill>
            <a:srgbClr val="F2F2F2"/>
          </a:solidFill>
          <a:ln/>
        </p:spPr>
      </p:sp>
      <p:sp>
        <p:nvSpPr>
          <p:cNvPr id="3" name="Shape 1"/>
          <p:cNvSpPr/>
          <p:nvPr/>
        </p:nvSpPr>
        <p:spPr>
          <a:xfrm>
            <a:off x="7810500" y="0"/>
            <a:ext cx="4152900" cy="965200"/>
          </a:xfrm>
          <a:prstGeom prst="rect">
            <a:avLst/>
          </a:prstGeom>
          <a:solidFill>
            <a:srgbClr val="F2F2F2"/>
          </a:solidFill>
          <a:ln/>
        </p:spPr>
      </p:sp>
      <p:sp>
        <p:nvSpPr>
          <p:cNvPr id="4" name="Shape 2"/>
          <p:cNvSpPr/>
          <p:nvPr/>
        </p:nvSpPr>
        <p:spPr>
          <a:xfrm>
            <a:off x="11976100" y="0"/>
            <a:ext cx="4279900" cy="965200"/>
          </a:xfrm>
          <a:prstGeom prst="rect">
            <a:avLst/>
          </a:prstGeom>
          <a:solidFill>
            <a:srgbClr val="F2F2F2"/>
          </a:solidFill>
          <a:ln/>
        </p:spPr>
      </p:sp>
      <p:sp>
        <p:nvSpPr>
          <p:cNvPr id="5" name="Shape 3"/>
          <p:cNvSpPr/>
          <p:nvPr/>
        </p:nvSpPr>
        <p:spPr>
          <a:xfrm>
            <a:off x="2222500" y="0"/>
            <a:ext cx="2895600" cy="965200"/>
          </a:xfrm>
          <a:prstGeom prst="rect">
            <a:avLst/>
          </a:prstGeom>
          <a:solidFill>
            <a:srgbClr val="04579A"/>
          </a:solidFill>
          <a:ln/>
        </p:spPr>
      </p:sp>
      <p:sp>
        <p:nvSpPr>
          <p:cNvPr id="6" name="Text 4"/>
          <p:cNvSpPr/>
          <p:nvPr/>
        </p:nvSpPr>
        <p:spPr>
          <a:xfrm>
            <a:off x="2286000" y="254000"/>
            <a:ext cx="2794000" cy="457200"/>
          </a:xfrm>
          <a:prstGeom prst="rect">
            <a:avLst/>
          </a:prstGeom>
          <a:noFill/>
          <a:ln/>
        </p:spPr>
        <p:txBody>
          <a:bodyPr wrap="none" lIns="0" tIns="0" rIns="0" bIns="0" rtlCol="0" anchor="ctr"/>
          <a:lstStyle/>
          <a:p>
            <a:pPr algn="ctr">
              <a:lnSpc>
                <a:spcPct val="120000"/>
              </a:lnSpc>
            </a:pPr>
            <a:r>
              <a:rPr lang="en-US" sz="2200" dirty="0">
                <a:solidFill>
                  <a:srgbClr val="FFFFFF"/>
                </a:solidFill>
                <a:latin typeface="Arial" pitchFamily="34" charset="0"/>
                <a:ea typeface="Arial" pitchFamily="34" charset="-122"/>
                <a:cs typeface="Arial" pitchFamily="34" charset="-120"/>
              </a:rPr>
              <a:t>选题背景及意义</a:t>
            </a:r>
            <a:endParaRPr lang="en-US" sz="2200" dirty="0"/>
          </a:p>
        </p:txBody>
      </p:sp>
      <p:sp>
        <p:nvSpPr>
          <p:cNvPr id="7" name="Text 5"/>
          <p:cNvSpPr/>
          <p:nvPr/>
        </p:nvSpPr>
        <p:spPr>
          <a:xfrm>
            <a:off x="5168900" y="254000"/>
            <a:ext cx="2590800" cy="457200"/>
          </a:xfrm>
          <a:prstGeom prst="rect">
            <a:avLst/>
          </a:prstGeom>
          <a:noFill/>
          <a:ln/>
        </p:spPr>
        <p:txBody>
          <a:bodyPr wrap="none" lIns="0" tIns="0" rIns="0" bIns="0" rtlCol="0" anchor="ctr"/>
          <a:lstStyle/>
          <a:p>
            <a:pPr algn="ctr">
              <a:lnSpc>
                <a:spcPct val="120000"/>
              </a:lnSpc>
            </a:pPr>
            <a:r>
              <a:rPr lang="en-US" sz="2200" dirty="0">
                <a:solidFill>
                  <a:srgbClr val="333333"/>
                </a:solidFill>
                <a:latin typeface="Arial" pitchFamily="34" charset="0"/>
                <a:ea typeface="Arial" pitchFamily="34" charset="-122"/>
                <a:cs typeface="Arial" pitchFamily="34" charset="-120"/>
              </a:rPr>
              <a:t>国内外研究现状</a:t>
            </a:r>
            <a:endParaRPr lang="en-US" sz="2200" dirty="0"/>
          </a:p>
        </p:txBody>
      </p:sp>
      <p:sp>
        <p:nvSpPr>
          <p:cNvPr id="8" name="Text 6"/>
          <p:cNvSpPr/>
          <p:nvPr/>
        </p:nvSpPr>
        <p:spPr>
          <a:xfrm>
            <a:off x="7810500" y="254000"/>
            <a:ext cx="4114800" cy="457200"/>
          </a:xfrm>
          <a:prstGeom prst="rect">
            <a:avLst/>
          </a:prstGeom>
          <a:noFill/>
          <a:ln/>
        </p:spPr>
        <p:txBody>
          <a:bodyPr wrap="none" lIns="0" tIns="0" rIns="0" bIns="0" rtlCol="0" anchor="ctr"/>
          <a:lstStyle/>
          <a:p>
            <a:pPr algn="ctr">
              <a:lnSpc>
                <a:spcPct val="120000"/>
              </a:lnSpc>
            </a:pPr>
            <a:r>
              <a:rPr lang="en-US" sz="2200" dirty="0">
                <a:solidFill>
                  <a:srgbClr val="333333"/>
                </a:solidFill>
                <a:latin typeface="Arial" pitchFamily="34" charset="0"/>
                <a:ea typeface="Arial" pitchFamily="34" charset="-122"/>
                <a:cs typeface="Arial" pitchFamily="34" charset="-120"/>
              </a:rPr>
              <a:t>主要研究内容及预期目标</a:t>
            </a:r>
            <a:endParaRPr lang="en-US" sz="2200" dirty="0"/>
          </a:p>
        </p:txBody>
      </p:sp>
      <p:sp>
        <p:nvSpPr>
          <p:cNvPr id="9" name="Text 7"/>
          <p:cNvSpPr/>
          <p:nvPr/>
        </p:nvSpPr>
        <p:spPr>
          <a:xfrm>
            <a:off x="11976100" y="254000"/>
            <a:ext cx="4279900" cy="457200"/>
          </a:xfrm>
          <a:prstGeom prst="rect">
            <a:avLst/>
          </a:prstGeom>
          <a:noFill/>
          <a:ln/>
        </p:spPr>
        <p:txBody>
          <a:bodyPr wrap="none" lIns="0" tIns="0" rIns="0" bIns="0" rtlCol="0" anchor="ctr"/>
          <a:lstStyle/>
          <a:p>
            <a:pPr algn="ctr">
              <a:lnSpc>
                <a:spcPct val="120000"/>
              </a:lnSpc>
            </a:pPr>
            <a:r>
              <a:rPr lang="en-US" sz="2200" dirty="0">
                <a:solidFill>
                  <a:srgbClr val="333333"/>
                </a:solidFill>
                <a:latin typeface="Arial" pitchFamily="34" charset="0"/>
                <a:ea typeface="Arial" pitchFamily="34" charset="-122"/>
                <a:cs typeface="Arial" pitchFamily="34" charset="-120"/>
              </a:rPr>
              <a:t>工作计划与进度安排</a:t>
            </a:r>
            <a:endParaRPr lang="en-US" sz="2200" dirty="0"/>
          </a:p>
        </p:txBody>
      </p:sp>
      <p:sp>
        <p:nvSpPr>
          <p:cNvPr id="10" name="Shape 8"/>
          <p:cNvSpPr/>
          <p:nvPr/>
        </p:nvSpPr>
        <p:spPr>
          <a:xfrm rot="10800000">
            <a:off x="3492500" y="965200"/>
            <a:ext cx="393700" cy="304800"/>
          </a:xfrm>
          <a:prstGeom prst="triangle">
            <a:avLst>
              <a:gd name="adj" fmla="val 50000"/>
            </a:avLst>
          </a:prstGeom>
          <a:solidFill>
            <a:srgbClr val="04579A"/>
          </a:solidFill>
          <a:ln/>
        </p:spPr>
      </p:sp>
      <p:pic>
        <p:nvPicPr>
          <p:cNvPr id="11" name="Image 0" descr="https://kimi-img.moonshot.cn/pub/slides/okc/flfuysioo4gzm/mnt/agents/output/yuan_pptd/images/image_2.jpg">    </p:cNvPr>
          <p:cNvPicPr>
            <a:picLocks noChangeAspect="1"/>
          </p:cNvPicPr>
          <p:nvPr/>
        </p:nvPicPr>
        <p:blipFill>
          <a:blip r:embed="rId1"/>
          <a:srcRect l="5060" r="29000" t="0" b="0"/>
          <a:stretch/>
        </p:blipFill>
        <p:spPr>
          <a:xfrm>
            <a:off x="546100" y="139700"/>
            <a:ext cx="1270000" cy="749300"/>
          </a:xfrm>
          <a:prstGeom prst="rect">
            <a:avLst/>
          </a:prstGeom>
        </p:spPr>
      </p:pic>
      <p:sp>
        <p:nvSpPr>
          <p:cNvPr id="12" name="Text 9"/>
          <p:cNvSpPr/>
          <p:nvPr/>
        </p:nvSpPr>
        <p:spPr>
          <a:xfrm>
            <a:off x="762000" y="1460500"/>
            <a:ext cx="7620000" cy="571500"/>
          </a:xfrm>
          <a:prstGeom prst="rect">
            <a:avLst/>
          </a:prstGeom>
          <a:noFill/>
          <a:ln/>
        </p:spPr>
        <p:txBody>
          <a:bodyPr wrap="none" lIns="0" tIns="0" rIns="0" bIns="0" rtlCol="0" anchor="ctr"/>
          <a:lstStyle/>
          <a:p>
            <a:pPr algn="l">
              <a:lnSpc>
                <a:spcPct val="120000"/>
              </a:lnSpc>
            </a:pPr>
            <a:r>
              <a:rPr lang="en-US" sz="3000" b="1" dirty="0">
                <a:solidFill>
                  <a:srgbClr val="005C8F"/>
                </a:solidFill>
                <a:latin typeface="Arial" pitchFamily="34" charset="0"/>
                <a:ea typeface="Arial" pitchFamily="34" charset="-122"/>
                <a:cs typeface="Arial" pitchFamily="34" charset="-120"/>
              </a:rPr>
              <a:t>智能体的发展与应用</a:t>
            </a:r>
            <a:endParaRPr lang="en-US" sz="3000" dirty="0"/>
          </a:p>
        </p:txBody>
      </p:sp>
      <p:sp>
        <p:nvSpPr>
          <p:cNvPr id="13" name="Text 10"/>
          <p:cNvSpPr/>
          <p:nvPr/>
        </p:nvSpPr>
        <p:spPr>
          <a:xfrm>
            <a:off x="762000" y="2159000"/>
            <a:ext cx="3810000" cy="355600"/>
          </a:xfrm>
          <a:prstGeom prst="rect">
            <a:avLst/>
          </a:prstGeom>
          <a:noFill/>
          <a:ln/>
        </p:spPr>
        <p:txBody>
          <a:bodyPr wrap="none" lIns="0" tIns="0" rIns="0" bIns="0" rtlCol="0" anchor="ctr"/>
          <a:lstStyle/>
          <a:p>
            <a:pPr algn="l">
              <a:lnSpc>
                <a:spcPct val="120000"/>
              </a:lnSpc>
            </a:pPr>
            <a:r>
              <a:rPr lang="en-US" sz="1700" b="1" dirty="0">
                <a:solidFill>
                  <a:srgbClr val="0077BB"/>
                </a:solidFill>
                <a:latin typeface="Arial" pitchFamily="34" charset="0"/>
                <a:ea typeface="Arial" pitchFamily="34" charset="-122"/>
                <a:cs typeface="Arial" pitchFamily="34" charset="-120"/>
              </a:rPr>
              <a:t>智能体定义</a:t>
            </a:r>
            <a:endParaRPr lang="en-US" sz="1700" dirty="0"/>
          </a:p>
        </p:txBody>
      </p:sp>
      <p:sp>
        <p:nvSpPr>
          <p:cNvPr id="14" name="Text 11"/>
          <p:cNvSpPr/>
          <p:nvPr/>
        </p:nvSpPr>
        <p:spPr>
          <a:xfrm>
            <a:off x="762000" y="2565400"/>
            <a:ext cx="7112000" cy="1270000"/>
          </a:xfrm>
          <a:prstGeom prst="rect">
            <a:avLst/>
          </a:prstGeom>
          <a:noFill/>
          <a:ln/>
        </p:spPr>
        <p:txBody>
          <a:bodyPr wrap="square" lIns="0" tIns="0" rIns="0" bIns="0" rtlCol="0" anchor="t"/>
          <a:lstStyle/>
          <a:p>
            <a:pPr algn="l">
              <a:lnSpc>
                <a:spcPct val="160000"/>
              </a:lnSpc>
            </a:pPr>
            <a:r>
              <a:rPr lang="en-US" sz="1700" dirty="0">
                <a:solidFill>
                  <a:srgbClr val="333333"/>
                </a:solidFill>
                <a:latin typeface="Arial" pitchFamily="34" charset="0"/>
                <a:ea typeface="Arial" pitchFamily="34" charset="-122"/>
                <a:cs typeface="Arial" pitchFamily="34" charset="-120"/>
              </a:rPr>
              <a:t>AI 智能体（AI Agent）是能够</a:t>
            </a:r>
            <a:pPr algn="l">
              <a:lnSpc>
                <a:spcPct val="160000"/>
              </a:lnSpc>
            </a:pPr>
            <a:r>
              <a:rPr lang="en-US" sz="1700" b="1" dirty="0">
                <a:solidFill>
                  <a:srgbClr val="333333"/>
                </a:solidFill>
                <a:latin typeface="Arial" pitchFamily="34" charset="0"/>
                <a:ea typeface="Arial" pitchFamily="34" charset="-122"/>
                <a:cs typeface="Arial" pitchFamily="34" charset="-120"/>
              </a:rPr>
              <a:t>感知环境、自主决策并执行动作</a:t>
            </a:r>
            <a:pPr algn="l">
              <a:lnSpc>
                <a:spcPct val="160000"/>
              </a:lnSpc>
            </a:pPr>
            <a:r>
              <a:rPr lang="en-US" sz="1700" dirty="0">
                <a:solidFill>
                  <a:srgbClr val="333333"/>
                </a:solidFill>
                <a:latin typeface="Arial" pitchFamily="34" charset="0"/>
                <a:ea typeface="Arial" pitchFamily="34" charset="-122"/>
                <a:cs typeface="Arial" pitchFamily="34" charset="-120"/>
              </a:rPr>
              <a:t>的智能化系统。以大模型为认知引擎，结合工具调用与多模态感知技术，正从概念验证走向规模化落地。</a:t>
            </a:r>
            <a:endParaRPr lang="en-US" sz="1700" dirty="0"/>
          </a:p>
        </p:txBody>
      </p:sp>
      <p:sp>
        <p:nvSpPr>
          <p:cNvPr id="15" name="Shape 12"/>
          <p:cNvSpPr/>
          <p:nvPr/>
        </p:nvSpPr>
        <p:spPr>
          <a:xfrm>
            <a:off x="762000" y="3937000"/>
            <a:ext cx="7112000" cy="12700"/>
          </a:xfrm>
          <a:prstGeom prst="rect">
            <a:avLst/>
          </a:prstGeom>
          <a:solidFill>
            <a:srgbClr val="E0E0E0"/>
          </a:solidFill>
          <a:ln/>
        </p:spPr>
      </p:sp>
      <p:sp>
        <p:nvSpPr>
          <p:cNvPr id="16" name="Text 13"/>
          <p:cNvSpPr/>
          <p:nvPr/>
        </p:nvSpPr>
        <p:spPr>
          <a:xfrm>
            <a:off x="762000" y="4038600"/>
            <a:ext cx="3810000" cy="355600"/>
          </a:xfrm>
          <a:prstGeom prst="rect">
            <a:avLst/>
          </a:prstGeom>
          <a:noFill/>
          <a:ln/>
        </p:spPr>
        <p:txBody>
          <a:bodyPr wrap="none" lIns="0" tIns="0" rIns="0" bIns="0" rtlCol="0" anchor="ctr"/>
          <a:lstStyle/>
          <a:p>
            <a:pPr algn="l">
              <a:lnSpc>
                <a:spcPct val="120000"/>
              </a:lnSpc>
            </a:pPr>
            <a:r>
              <a:rPr lang="en-US" sz="1700" b="1" dirty="0">
                <a:solidFill>
                  <a:srgbClr val="0077BB"/>
                </a:solidFill>
                <a:latin typeface="Arial" pitchFamily="34" charset="0"/>
                <a:ea typeface="Arial" pitchFamily="34" charset="-122"/>
                <a:cs typeface="Arial" pitchFamily="34" charset="-120"/>
              </a:rPr>
              <a:t>深度渗透领域</a:t>
            </a:r>
            <a:endParaRPr lang="en-US" sz="1700" dirty="0"/>
          </a:p>
        </p:txBody>
      </p:sp>
      <p:sp>
        <p:nvSpPr>
          <p:cNvPr id="17" name="Shape 14"/>
          <p:cNvSpPr/>
          <p:nvPr/>
        </p:nvSpPr>
        <p:spPr>
          <a:xfrm>
            <a:off x="762000" y="4445000"/>
            <a:ext cx="3429000" cy="1270000"/>
          </a:xfrm>
          <a:prstGeom prst="roundRect">
            <a:avLst>
              <a:gd name="adj" fmla="val 6000"/>
            </a:avLst>
          </a:prstGeom>
          <a:solidFill>
            <a:srgbClr val="E6F0F7"/>
          </a:solidFill>
          <a:ln/>
        </p:spPr>
      </p:sp>
      <p:sp>
        <p:nvSpPr>
          <p:cNvPr id="18" name="Shape 15"/>
          <p:cNvSpPr/>
          <p:nvPr/>
        </p:nvSpPr>
        <p:spPr>
          <a:xfrm>
            <a:off x="990600" y="4597400"/>
            <a:ext cx="355600" cy="355600"/>
          </a:xfrm>
          <a:custGeom>
            <a:avLst/>
            <a:gdLst/>
            <a:ahLst/>
            <a:cxnLst/>
            <a:rect l="l" t="t" r="r" b="b"/>
            <a:pathLst>
              <a:path w="355600" h="355600">
                <a:moveTo>
                  <a:pt x="222744" y="833"/>
                </a:moveTo>
                <a:cubicBezTo>
                  <a:pt x="212249" y="-2570"/>
                  <a:pt x="201321" y="4306"/>
                  <a:pt x="198296" y="16113"/>
                </a:cubicBezTo>
                <a:lnTo>
                  <a:pt x="119274" y="327263"/>
                </a:lnTo>
                <a:cubicBezTo>
                  <a:pt x="116249" y="339070"/>
                  <a:pt x="122361" y="351363"/>
                  <a:pt x="132856" y="354767"/>
                </a:cubicBezTo>
                <a:cubicBezTo>
                  <a:pt x="143351" y="358170"/>
                  <a:pt x="154279" y="351294"/>
                  <a:pt x="157304" y="339487"/>
                </a:cubicBezTo>
                <a:lnTo>
                  <a:pt x="236326" y="28337"/>
                </a:lnTo>
                <a:cubicBezTo>
                  <a:pt x="239351" y="16530"/>
                  <a:pt x="233239" y="4237"/>
                  <a:pt x="222744" y="833"/>
                </a:cubicBezTo>
                <a:close/>
                <a:moveTo>
                  <a:pt x="262625" y="95359"/>
                </a:moveTo>
                <a:cubicBezTo>
                  <a:pt x="254908" y="104041"/>
                  <a:pt x="254908" y="118140"/>
                  <a:pt x="262625" y="126821"/>
                </a:cubicBezTo>
                <a:lnTo>
                  <a:pt x="307940" y="177800"/>
                </a:lnTo>
                <a:lnTo>
                  <a:pt x="262625" y="228779"/>
                </a:lnTo>
                <a:cubicBezTo>
                  <a:pt x="254908" y="237460"/>
                  <a:pt x="254908" y="251559"/>
                  <a:pt x="262625" y="260241"/>
                </a:cubicBezTo>
                <a:cubicBezTo>
                  <a:pt x="270342" y="268922"/>
                  <a:pt x="282875" y="268922"/>
                  <a:pt x="290592" y="260241"/>
                </a:cubicBezTo>
                <a:lnTo>
                  <a:pt x="349859" y="193566"/>
                </a:lnTo>
                <a:cubicBezTo>
                  <a:pt x="357576" y="184884"/>
                  <a:pt x="357576" y="170785"/>
                  <a:pt x="349859" y="162104"/>
                </a:cubicBezTo>
                <a:lnTo>
                  <a:pt x="290592" y="95429"/>
                </a:lnTo>
                <a:cubicBezTo>
                  <a:pt x="282875" y="86747"/>
                  <a:pt x="270342" y="86747"/>
                  <a:pt x="262625" y="95429"/>
                </a:cubicBezTo>
                <a:close/>
                <a:moveTo>
                  <a:pt x="93036" y="95359"/>
                </a:moveTo>
                <a:cubicBezTo>
                  <a:pt x="85319" y="86678"/>
                  <a:pt x="72787" y="86678"/>
                  <a:pt x="65070" y="95359"/>
                </a:cubicBezTo>
                <a:lnTo>
                  <a:pt x="5803" y="162034"/>
                </a:lnTo>
                <a:cubicBezTo>
                  <a:pt x="-1914" y="170716"/>
                  <a:pt x="-1914" y="184815"/>
                  <a:pt x="5803" y="193496"/>
                </a:cubicBezTo>
                <a:lnTo>
                  <a:pt x="65070" y="260171"/>
                </a:lnTo>
                <a:cubicBezTo>
                  <a:pt x="72787" y="268853"/>
                  <a:pt x="85319" y="268853"/>
                  <a:pt x="93036" y="260171"/>
                </a:cubicBezTo>
                <a:cubicBezTo>
                  <a:pt x="100753" y="251490"/>
                  <a:pt x="100753" y="237391"/>
                  <a:pt x="93036" y="228709"/>
                </a:cubicBezTo>
                <a:lnTo>
                  <a:pt x="47722" y="177800"/>
                </a:lnTo>
                <a:lnTo>
                  <a:pt x="92975" y="126821"/>
                </a:lnTo>
                <a:cubicBezTo>
                  <a:pt x="100692" y="118140"/>
                  <a:pt x="100692" y="104041"/>
                  <a:pt x="92975" y="95359"/>
                </a:cubicBezTo>
                <a:close/>
              </a:path>
            </a:pathLst>
          </a:custGeom>
          <a:solidFill>
            <a:srgbClr val="005C8F"/>
          </a:solidFill>
          <a:ln/>
        </p:spPr>
      </p:sp>
      <p:sp>
        <p:nvSpPr>
          <p:cNvPr id="19" name="Text 16"/>
          <p:cNvSpPr/>
          <p:nvPr/>
        </p:nvSpPr>
        <p:spPr>
          <a:xfrm>
            <a:off x="1447800" y="4660900"/>
            <a:ext cx="2540000" cy="355600"/>
          </a:xfrm>
          <a:prstGeom prst="rect">
            <a:avLst/>
          </a:prstGeom>
          <a:noFill/>
          <a:ln/>
        </p:spPr>
        <p:txBody>
          <a:bodyPr wrap="none" lIns="0" tIns="0" rIns="0" bIns="0" rtlCol="0" anchor="ctr"/>
          <a:lstStyle/>
          <a:p>
            <a:pPr algn="l">
              <a:lnSpc>
                <a:spcPct val="120000"/>
              </a:lnSpc>
            </a:pPr>
            <a:r>
              <a:rPr lang="en-US" sz="1600" b="1" dirty="0">
                <a:solidFill>
                  <a:srgbClr val="005C8F"/>
                </a:solidFill>
                <a:latin typeface="Arial" pitchFamily="34" charset="0"/>
                <a:ea typeface="Arial" pitchFamily="34" charset="-122"/>
                <a:cs typeface="Arial" pitchFamily="34" charset="-120"/>
              </a:rPr>
              <a:t>编程开发</a:t>
            </a:r>
            <a:endParaRPr lang="en-US" sz="1600" dirty="0"/>
          </a:p>
        </p:txBody>
      </p:sp>
      <p:sp>
        <p:nvSpPr>
          <p:cNvPr id="20" name="Text 17"/>
          <p:cNvSpPr/>
          <p:nvPr/>
        </p:nvSpPr>
        <p:spPr>
          <a:xfrm>
            <a:off x="990600" y="5080000"/>
            <a:ext cx="2984500" cy="609600"/>
          </a:xfrm>
          <a:prstGeom prst="rect">
            <a:avLst/>
          </a:prstGeom>
          <a:noFill/>
          <a:ln/>
        </p:spPr>
        <p:txBody>
          <a:bodyPr wrap="square" lIns="0" tIns="0" rIns="0" bIns="0" rtlCol="0" anchor="t"/>
          <a:lstStyle/>
          <a:p>
            <a:pPr algn="l">
              <a:lnSpc>
                <a:spcPct val="150000"/>
              </a:lnSpc>
            </a:pPr>
            <a:r>
              <a:rPr lang="en-US" sz="1300" dirty="0">
                <a:solidFill>
                  <a:srgbClr val="333333"/>
                </a:solidFill>
                <a:latin typeface="Arial" pitchFamily="34" charset="0"/>
                <a:ea typeface="Arial" pitchFamily="34" charset="-122"/>
                <a:cs typeface="Arial" pitchFamily="34" charset="-120"/>
              </a:rPr>
              <a:t>Claude Code、GitHub Copilot 实现全链路自主编码</a:t>
            </a:r>
            <a:endParaRPr lang="en-US" sz="1300" dirty="0"/>
          </a:p>
        </p:txBody>
      </p:sp>
      <p:sp>
        <p:nvSpPr>
          <p:cNvPr id="21" name="Shape 18"/>
          <p:cNvSpPr/>
          <p:nvPr/>
        </p:nvSpPr>
        <p:spPr>
          <a:xfrm>
            <a:off x="4445000" y="4445000"/>
            <a:ext cx="3429000" cy="1270000"/>
          </a:xfrm>
          <a:prstGeom prst="roundRect">
            <a:avLst>
              <a:gd name="adj" fmla="val 6000"/>
            </a:avLst>
          </a:prstGeom>
          <a:solidFill>
            <a:srgbClr val="E6F0F7"/>
          </a:solidFill>
          <a:ln/>
        </p:spPr>
      </p:sp>
      <p:sp>
        <p:nvSpPr>
          <p:cNvPr id="22" name="Shape 19"/>
          <p:cNvSpPr/>
          <p:nvPr/>
        </p:nvSpPr>
        <p:spPr>
          <a:xfrm>
            <a:off x="4673600" y="4597400"/>
            <a:ext cx="355600" cy="355600"/>
          </a:xfrm>
          <a:custGeom>
            <a:avLst/>
            <a:gdLst/>
            <a:ahLst/>
            <a:cxnLst/>
            <a:rect l="l" t="t" r="r" b="b"/>
            <a:pathLst>
              <a:path w="355600" h="355600">
                <a:moveTo>
                  <a:pt x="59267" y="0"/>
                </a:moveTo>
                <a:cubicBezTo>
                  <a:pt x="26577" y="0"/>
                  <a:pt x="0" y="19933"/>
                  <a:pt x="0" y="44450"/>
                </a:cubicBezTo>
                <a:lnTo>
                  <a:pt x="0" y="311150"/>
                </a:lnTo>
                <a:cubicBezTo>
                  <a:pt x="0" y="335667"/>
                  <a:pt x="26577" y="355600"/>
                  <a:pt x="59267" y="355600"/>
                </a:cubicBezTo>
                <a:lnTo>
                  <a:pt x="296333" y="355600"/>
                </a:lnTo>
                <a:cubicBezTo>
                  <a:pt x="329023" y="355600"/>
                  <a:pt x="355600" y="335667"/>
                  <a:pt x="355600" y="311150"/>
                </a:cubicBezTo>
                <a:lnTo>
                  <a:pt x="355600" y="44450"/>
                </a:lnTo>
                <a:cubicBezTo>
                  <a:pt x="355600" y="19933"/>
                  <a:pt x="329023" y="0"/>
                  <a:pt x="296333" y="0"/>
                </a:cubicBezTo>
                <a:lnTo>
                  <a:pt x="59267" y="0"/>
                </a:lnTo>
                <a:close/>
                <a:moveTo>
                  <a:pt x="162983" y="244475"/>
                </a:moveTo>
                <a:lnTo>
                  <a:pt x="192617" y="244475"/>
                </a:lnTo>
                <a:cubicBezTo>
                  <a:pt x="209008" y="244475"/>
                  <a:pt x="222250" y="254407"/>
                  <a:pt x="222250" y="266700"/>
                </a:cubicBezTo>
                <a:lnTo>
                  <a:pt x="222250" y="322263"/>
                </a:lnTo>
                <a:lnTo>
                  <a:pt x="133350" y="322263"/>
                </a:lnTo>
                <a:lnTo>
                  <a:pt x="133350" y="266700"/>
                </a:lnTo>
                <a:cubicBezTo>
                  <a:pt x="133350" y="254407"/>
                  <a:pt x="146592" y="244475"/>
                  <a:pt x="162983" y="244475"/>
                </a:cubicBezTo>
                <a:close/>
                <a:moveTo>
                  <a:pt x="88900" y="77788"/>
                </a:moveTo>
                <a:cubicBezTo>
                  <a:pt x="88900" y="71676"/>
                  <a:pt x="95568" y="66675"/>
                  <a:pt x="103717" y="66675"/>
                </a:cubicBezTo>
                <a:lnTo>
                  <a:pt x="133350" y="66675"/>
                </a:lnTo>
                <a:cubicBezTo>
                  <a:pt x="141499" y="66675"/>
                  <a:pt x="148167" y="71676"/>
                  <a:pt x="148167" y="77788"/>
                </a:cubicBezTo>
                <a:lnTo>
                  <a:pt x="148167" y="100013"/>
                </a:lnTo>
                <a:cubicBezTo>
                  <a:pt x="148167" y="106124"/>
                  <a:pt x="141499" y="111125"/>
                  <a:pt x="133350" y="111125"/>
                </a:cubicBezTo>
                <a:lnTo>
                  <a:pt x="103717" y="111125"/>
                </a:lnTo>
                <a:cubicBezTo>
                  <a:pt x="95568" y="111125"/>
                  <a:pt x="88900" y="106124"/>
                  <a:pt x="88900" y="100013"/>
                </a:cubicBezTo>
                <a:lnTo>
                  <a:pt x="88900" y="77788"/>
                </a:lnTo>
                <a:close/>
                <a:moveTo>
                  <a:pt x="222250" y="66675"/>
                </a:moveTo>
                <a:lnTo>
                  <a:pt x="251883" y="66675"/>
                </a:lnTo>
                <a:cubicBezTo>
                  <a:pt x="260033" y="66675"/>
                  <a:pt x="266700" y="71676"/>
                  <a:pt x="266700" y="77788"/>
                </a:cubicBezTo>
                <a:lnTo>
                  <a:pt x="266700" y="100013"/>
                </a:lnTo>
                <a:cubicBezTo>
                  <a:pt x="266700" y="106124"/>
                  <a:pt x="260033" y="111125"/>
                  <a:pt x="251883" y="111125"/>
                </a:cubicBezTo>
                <a:lnTo>
                  <a:pt x="222250" y="111125"/>
                </a:lnTo>
                <a:cubicBezTo>
                  <a:pt x="214101" y="111125"/>
                  <a:pt x="207433" y="106124"/>
                  <a:pt x="207433" y="100013"/>
                </a:cubicBezTo>
                <a:lnTo>
                  <a:pt x="207433" y="77788"/>
                </a:lnTo>
                <a:cubicBezTo>
                  <a:pt x="207433" y="71676"/>
                  <a:pt x="214101" y="66675"/>
                  <a:pt x="222250" y="66675"/>
                </a:cubicBezTo>
                <a:close/>
                <a:moveTo>
                  <a:pt x="88900" y="166688"/>
                </a:moveTo>
                <a:cubicBezTo>
                  <a:pt x="88900" y="160576"/>
                  <a:pt x="95568" y="155575"/>
                  <a:pt x="103717" y="155575"/>
                </a:cubicBezTo>
                <a:lnTo>
                  <a:pt x="133350" y="155575"/>
                </a:lnTo>
                <a:cubicBezTo>
                  <a:pt x="141499" y="155575"/>
                  <a:pt x="148167" y="160576"/>
                  <a:pt x="148167" y="166688"/>
                </a:cubicBezTo>
                <a:lnTo>
                  <a:pt x="148167" y="188913"/>
                </a:lnTo>
                <a:cubicBezTo>
                  <a:pt x="148167" y="195024"/>
                  <a:pt x="141499" y="200025"/>
                  <a:pt x="133350" y="200025"/>
                </a:cubicBezTo>
                <a:lnTo>
                  <a:pt x="103717" y="200025"/>
                </a:lnTo>
                <a:cubicBezTo>
                  <a:pt x="95568" y="200025"/>
                  <a:pt x="88900" y="195024"/>
                  <a:pt x="88900" y="188913"/>
                </a:cubicBezTo>
                <a:lnTo>
                  <a:pt x="88900" y="166688"/>
                </a:lnTo>
                <a:close/>
                <a:moveTo>
                  <a:pt x="222250" y="155575"/>
                </a:moveTo>
                <a:lnTo>
                  <a:pt x="251883" y="155575"/>
                </a:lnTo>
                <a:cubicBezTo>
                  <a:pt x="260033" y="155575"/>
                  <a:pt x="266700" y="160576"/>
                  <a:pt x="266700" y="166688"/>
                </a:cubicBezTo>
                <a:lnTo>
                  <a:pt x="266700" y="188913"/>
                </a:lnTo>
                <a:cubicBezTo>
                  <a:pt x="266700" y="195024"/>
                  <a:pt x="260033" y="200025"/>
                  <a:pt x="251883" y="200025"/>
                </a:cubicBezTo>
                <a:lnTo>
                  <a:pt x="222250" y="200025"/>
                </a:lnTo>
                <a:cubicBezTo>
                  <a:pt x="214101" y="200025"/>
                  <a:pt x="207433" y="195024"/>
                  <a:pt x="207433" y="188913"/>
                </a:cubicBezTo>
                <a:lnTo>
                  <a:pt x="207433" y="166688"/>
                </a:lnTo>
                <a:cubicBezTo>
                  <a:pt x="207433" y="160576"/>
                  <a:pt x="214101" y="155575"/>
                  <a:pt x="222250" y="155575"/>
                </a:cubicBezTo>
                <a:close/>
              </a:path>
            </a:pathLst>
          </a:custGeom>
          <a:solidFill>
            <a:srgbClr val="005C8F"/>
          </a:solidFill>
          <a:ln/>
        </p:spPr>
      </p:sp>
      <p:sp>
        <p:nvSpPr>
          <p:cNvPr id="23" name="Text 20"/>
          <p:cNvSpPr/>
          <p:nvPr/>
        </p:nvSpPr>
        <p:spPr>
          <a:xfrm>
            <a:off x="5130800" y="4660900"/>
            <a:ext cx="2540000" cy="355600"/>
          </a:xfrm>
          <a:prstGeom prst="rect">
            <a:avLst/>
          </a:prstGeom>
          <a:noFill/>
          <a:ln/>
        </p:spPr>
        <p:txBody>
          <a:bodyPr wrap="none" lIns="0" tIns="0" rIns="0" bIns="0" rtlCol="0" anchor="ctr"/>
          <a:lstStyle/>
          <a:p>
            <a:pPr algn="l">
              <a:lnSpc>
                <a:spcPct val="120000"/>
              </a:lnSpc>
            </a:pPr>
            <a:r>
              <a:rPr lang="en-US" sz="1600" b="1" dirty="0">
                <a:solidFill>
                  <a:srgbClr val="005C8F"/>
                </a:solidFill>
                <a:latin typeface="Arial" pitchFamily="34" charset="0"/>
                <a:ea typeface="Arial" pitchFamily="34" charset="-122"/>
                <a:cs typeface="Arial" pitchFamily="34" charset="-120"/>
              </a:rPr>
              <a:t>企业办公</a:t>
            </a:r>
            <a:endParaRPr lang="en-US" sz="1600" dirty="0"/>
          </a:p>
        </p:txBody>
      </p:sp>
      <p:sp>
        <p:nvSpPr>
          <p:cNvPr id="24" name="Text 21"/>
          <p:cNvSpPr/>
          <p:nvPr/>
        </p:nvSpPr>
        <p:spPr>
          <a:xfrm>
            <a:off x="4673600" y="5080000"/>
            <a:ext cx="2984500" cy="609600"/>
          </a:xfrm>
          <a:prstGeom prst="rect">
            <a:avLst/>
          </a:prstGeom>
          <a:noFill/>
          <a:ln/>
        </p:spPr>
        <p:txBody>
          <a:bodyPr wrap="square" lIns="0" tIns="0" rIns="0" bIns="0" rtlCol="0" anchor="t"/>
          <a:lstStyle/>
          <a:p>
            <a:pPr algn="l">
              <a:lnSpc>
                <a:spcPct val="150000"/>
              </a:lnSpc>
            </a:pPr>
            <a:r>
              <a:rPr lang="en-US" sz="1300" dirty="0">
                <a:solidFill>
                  <a:srgbClr val="333333"/>
                </a:solidFill>
                <a:latin typeface="Arial" pitchFamily="34" charset="0"/>
                <a:ea typeface="Arial" pitchFamily="34" charset="-122"/>
                <a:cs typeface="Arial" pitchFamily="34" charset="-120"/>
              </a:rPr>
              <a:t>Moveworks 等企业级 Agent 自动化 IT/HR 服务</a:t>
            </a:r>
            <a:endParaRPr lang="en-US" sz="1300" dirty="0"/>
          </a:p>
        </p:txBody>
      </p:sp>
      <p:sp>
        <p:nvSpPr>
          <p:cNvPr id="25" name="Shape 22"/>
          <p:cNvSpPr/>
          <p:nvPr/>
        </p:nvSpPr>
        <p:spPr>
          <a:xfrm>
            <a:off x="762000" y="5905500"/>
            <a:ext cx="3429000" cy="1270000"/>
          </a:xfrm>
          <a:prstGeom prst="roundRect">
            <a:avLst>
              <a:gd name="adj" fmla="val 6000"/>
            </a:avLst>
          </a:prstGeom>
          <a:solidFill>
            <a:srgbClr val="E6F0F7"/>
          </a:solidFill>
          <a:ln/>
        </p:spPr>
      </p:sp>
      <p:sp>
        <p:nvSpPr>
          <p:cNvPr id="26" name="Shape 23"/>
          <p:cNvSpPr/>
          <p:nvPr/>
        </p:nvSpPr>
        <p:spPr>
          <a:xfrm>
            <a:off x="990600" y="6057900"/>
            <a:ext cx="355600" cy="355600"/>
          </a:xfrm>
          <a:custGeom>
            <a:avLst/>
            <a:gdLst/>
            <a:ahLst/>
            <a:cxnLst/>
            <a:rect l="l" t="t" r="r" b="b"/>
            <a:pathLst>
              <a:path w="355600" h="355600">
                <a:moveTo>
                  <a:pt x="177800" y="44450"/>
                </a:moveTo>
                <a:cubicBezTo>
                  <a:pt x="115094" y="44450"/>
                  <a:pt x="62944" y="84247"/>
                  <a:pt x="52626" y="136614"/>
                </a:cubicBezTo>
                <a:cubicBezTo>
                  <a:pt x="60008" y="134531"/>
                  <a:pt x="67945" y="133350"/>
                  <a:pt x="76200" y="133350"/>
                </a:cubicBezTo>
                <a:lnTo>
                  <a:pt x="88900" y="133350"/>
                </a:lnTo>
                <a:cubicBezTo>
                  <a:pt x="109934" y="133350"/>
                  <a:pt x="127000" y="148282"/>
                  <a:pt x="127000" y="166688"/>
                </a:cubicBezTo>
                <a:lnTo>
                  <a:pt x="127000" y="233363"/>
                </a:lnTo>
                <a:cubicBezTo>
                  <a:pt x="127000" y="251768"/>
                  <a:pt x="109934" y="266700"/>
                  <a:pt x="88900" y="266700"/>
                </a:cubicBezTo>
                <a:lnTo>
                  <a:pt x="76200" y="266700"/>
                </a:lnTo>
                <a:cubicBezTo>
                  <a:pt x="34131" y="266700"/>
                  <a:pt x="0" y="236835"/>
                  <a:pt x="0" y="200025"/>
                </a:cubicBezTo>
                <a:lnTo>
                  <a:pt x="0" y="155575"/>
                </a:lnTo>
                <a:cubicBezTo>
                  <a:pt x="0" y="69661"/>
                  <a:pt x="79613" y="0"/>
                  <a:pt x="177800" y="0"/>
                </a:cubicBezTo>
                <a:cubicBezTo>
                  <a:pt x="275987" y="0"/>
                  <a:pt x="355600" y="69661"/>
                  <a:pt x="355600" y="155575"/>
                </a:cubicBezTo>
                <a:lnTo>
                  <a:pt x="355600" y="272326"/>
                </a:lnTo>
                <a:cubicBezTo>
                  <a:pt x="355600" y="318373"/>
                  <a:pt x="312896" y="355669"/>
                  <a:pt x="260271" y="355669"/>
                </a:cubicBezTo>
                <a:lnTo>
                  <a:pt x="190500" y="355600"/>
                </a:lnTo>
                <a:lnTo>
                  <a:pt x="165100" y="355600"/>
                </a:lnTo>
                <a:cubicBezTo>
                  <a:pt x="144066" y="355600"/>
                  <a:pt x="127000" y="340668"/>
                  <a:pt x="127000" y="322263"/>
                </a:cubicBezTo>
                <a:cubicBezTo>
                  <a:pt x="127000" y="303857"/>
                  <a:pt x="144066" y="288925"/>
                  <a:pt x="165100" y="288925"/>
                </a:cubicBezTo>
                <a:lnTo>
                  <a:pt x="190500" y="288925"/>
                </a:lnTo>
                <a:cubicBezTo>
                  <a:pt x="211534" y="288925"/>
                  <a:pt x="228600" y="303857"/>
                  <a:pt x="228600" y="322263"/>
                </a:cubicBezTo>
                <a:lnTo>
                  <a:pt x="228600" y="322263"/>
                </a:lnTo>
                <a:lnTo>
                  <a:pt x="260350" y="322263"/>
                </a:lnTo>
                <a:cubicBezTo>
                  <a:pt x="291941" y="322263"/>
                  <a:pt x="317500" y="299899"/>
                  <a:pt x="317500" y="272256"/>
                </a:cubicBezTo>
                <a:lnTo>
                  <a:pt x="317500" y="257741"/>
                </a:lnTo>
                <a:cubicBezTo>
                  <a:pt x="306308" y="263436"/>
                  <a:pt x="293291" y="266631"/>
                  <a:pt x="279400" y="266631"/>
                </a:cubicBezTo>
                <a:lnTo>
                  <a:pt x="266700" y="266631"/>
                </a:lnTo>
                <a:cubicBezTo>
                  <a:pt x="245666" y="266631"/>
                  <a:pt x="228600" y="251698"/>
                  <a:pt x="228600" y="233293"/>
                </a:cubicBezTo>
                <a:lnTo>
                  <a:pt x="228600" y="166618"/>
                </a:lnTo>
                <a:cubicBezTo>
                  <a:pt x="228600" y="148213"/>
                  <a:pt x="245666" y="133281"/>
                  <a:pt x="266700" y="133281"/>
                </a:cubicBezTo>
                <a:lnTo>
                  <a:pt x="279400" y="133281"/>
                </a:lnTo>
                <a:cubicBezTo>
                  <a:pt x="287655" y="133281"/>
                  <a:pt x="295513" y="134392"/>
                  <a:pt x="302974" y="136545"/>
                </a:cubicBezTo>
                <a:cubicBezTo>
                  <a:pt x="292656" y="84247"/>
                  <a:pt x="240586" y="44381"/>
                  <a:pt x="177800" y="44381"/>
                </a:cubicBezTo>
                <a:close/>
              </a:path>
            </a:pathLst>
          </a:custGeom>
          <a:solidFill>
            <a:srgbClr val="005C8F"/>
          </a:solidFill>
          <a:ln/>
        </p:spPr>
      </p:sp>
      <p:sp>
        <p:nvSpPr>
          <p:cNvPr id="27" name="Text 24"/>
          <p:cNvSpPr/>
          <p:nvPr/>
        </p:nvSpPr>
        <p:spPr>
          <a:xfrm>
            <a:off x="1447800" y="6057900"/>
            <a:ext cx="2540000" cy="355600"/>
          </a:xfrm>
          <a:prstGeom prst="rect">
            <a:avLst/>
          </a:prstGeom>
          <a:noFill/>
          <a:ln/>
        </p:spPr>
        <p:txBody>
          <a:bodyPr wrap="none" lIns="0" tIns="0" rIns="0" bIns="0" rtlCol="0" anchor="ctr"/>
          <a:lstStyle/>
          <a:p>
            <a:pPr algn="l">
              <a:lnSpc>
                <a:spcPct val="120000"/>
              </a:lnSpc>
            </a:pPr>
            <a:r>
              <a:rPr lang="en-US" sz="1600" b="1" dirty="0">
                <a:solidFill>
                  <a:srgbClr val="005C8F"/>
                </a:solidFill>
                <a:latin typeface="Arial" pitchFamily="34" charset="0"/>
                <a:ea typeface="Arial" pitchFamily="34" charset="-122"/>
                <a:cs typeface="Arial" pitchFamily="34" charset="-120"/>
              </a:rPr>
              <a:t>客户服务</a:t>
            </a:r>
            <a:endParaRPr lang="en-US" sz="1600" dirty="0"/>
          </a:p>
        </p:txBody>
      </p:sp>
      <p:sp>
        <p:nvSpPr>
          <p:cNvPr id="28" name="Text 25"/>
          <p:cNvSpPr/>
          <p:nvPr/>
        </p:nvSpPr>
        <p:spPr>
          <a:xfrm>
            <a:off x="990600" y="6477000"/>
            <a:ext cx="2984500" cy="609600"/>
          </a:xfrm>
          <a:prstGeom prst="rect">
            <a:avLst/>
          </a:prstGeom>
          <a:noFill/>
          <a:ln/>
        </p:spPr>
        <p:txBody>
          <a:bodyPr wrap="square" lIns="0" tIns="0" rIns="0" bIns="0" rtlCol="0" anchor="t"/>
          <a:lstStyle/>
          <a:p>
            <a:pPr algn="l">
              <a:lnSpc>
                <a:spcPct val="150000"/>
              </a:lnSpc>
            </a:pPr>
            <a:r>
              <a:rPr lang="en-US" sz="1300" dirty="0">
                <a:solidFill>
                  <a:srgbClr val="333333"/>
                </a:solidFill>
                <a:latin typeface="Arial" pitchFamily="34" charset="0"/>
                <a:ea typeface="Arial" pitchFamily="34" charset="-122"/>
                <a:cs typeface="Arial" pitchFamily="34" charset="-120"/>
              </a:rPr>
              <a:t>Salesforce Agentforce CRM 内自主数字员工</a:t>
            </a:r>
            <a:endParaRPr lang="en-US" sz="1300" dirty="0"/>
          </a:p>
        </p:txBody>
      </p:sp>
      <p:sp>
        <p:nvSpPr>
          <p:cNvPr id="29" name="Shape 26"/>
          <p:cNvSpPr/>
          <p:nvPr/>
        </p:nvSpPr>
        <p:spPr>
          <a:xfrm>
            <a:off x="4445000" y="5905500"/>
            <a:ext cx="3429000" cy="1270000"/>
          </a:xfrm>
          <a:prstGeom prst="roundRect">
            <a:avLst>
              <a:gd name="adj" fmla="val 6000"/>
            </a:avLst>
          </a:prstGeom>
          <a:solidFill>
            <a:srgbClr val="E6F0F7"/>
          </a:solidFill>
          <a:ln/>
        </p:spPr>
      </p:sp>
      <p:sp>
        <p:nvSpPr>
          <p:cNvPr id="30" name="Shape 27"/>
          <p:cNvSpPr/>
          <p:nvPr/>
        </p:nvSpPr>
        <p:spPr>
          <a:xfrm>
            <a:off x="4673600" y="6057900"/>
            <a:ext cx="355600" cy="355600"/>
          </a:xfrm>
          <a:custGeom>
            <a:avLst/>
            <a:gdLst/>
            <a:ahLst/>
            <a:cxnLst/>
            <a:rect l="l" t="t" r="r" b="b"/>
            <a:pathLst>
              <a:path w="355600" h="355600">
                <a:moveTo>
                  <a:pt x="44450" y="44450"/>
                </a:moveTo>
                <a:cubicBezTo>
                  <a:pt x="44450" y="32157"/>
                  <a:pt x="34518" y="22225"/>
                  <a:pt x="22225" y="22225"/>
                </a:cubicBezTo>
                <a:cubicBezTo>
                  <a:pt x="9932" y="22225"/>
                  <a:pt x="0" y="32157"/>
                  <a:pt x="0" y="44450"/>
                </a:cubicBezTo>
                <a:lnTo>
                  <a:pt x="0" y="277813"/>
                </a:lnTo>
                <a:cubicBezTo>
                  <a:pt x="0" y="308511"/>
                  <a:pt x="24864" y="333375"/>
                  <a:pt x="55563" y="333375"/>
                </a:cubicBezTo>
                <a:lnTo>
                  <a:pt x="333375" y="333375"/>
                </a:lnTo>
                <a:cubicBezTo>
                  <a:pt x="345668" y="333375"/>
                  <a:pt x="355600" y="323443"/>
                  <a:pt x="355600" y="311150"/>
                </a:cubicBezTo>
                <a:cubicBezTo>
                  <a:pt x="355600" y="298857"/>
                  <a:pt x="345668" y="288925"/>
                  <a:pt x="333375" y="288925"/>
                </a:cubicBezTo>
                <a:lnTo>
                  <a:pt x="55563" y="288925"/>
                </a:lnTo>
                <a:cubicBezTo>
                  <a:pt x="49451" y="288925"/>
                  <a:pt x="44450" y="283924"/>
                  <a:pt x="44450" y="277813"/>
                </a:cubicBezTo>
                <a:lnTo>
                  <a:pt x="44450" y="44450"/>
                </a:lnTo>
                <a:close/>
                <a:moveTo>
                  <a:pt x="326846" y="104596"/>
                </a:moveTo>
                <a:cubicBezTo>
                  <a:pt x="335528" y="95915"/>
                  <a:pt x="335528" y="81816"/>
                  <a:pt x="326846" y="73134"/>
                </a:cubicBezTo>
                <a:cubicBezTo>
                  <a:pt x="318165" y="64453"/>
                  <a:pt x="304066" y="64453"/>
                  <a:pt x="295384" y="73134"/>
                </a:cubicBezTo>
                <a:lnTo>
                  <a:pt x="222250" y="146338"/>
                </a:lnTo>
                <a:lnTo>
                  <a:pt x="182384" y="106541"/>
                </a:lnTo>
                <a:cubicBezTo>
                  <a:pt x="173702" y="97859"/>
                  <a:pt x="159603" y="97859"/>
                  <a:pt x="150922" y="106541"/>
                </a:cubicBezTo>
                <a:lnTo>
                  <a:pt x="84247" y="173216"/>
                </a:lnTo>
                <a:cubicBezTo>
                  <a:pt x="75565" y="181898"/>
                  <a:pt x="75565" y="195997"/>
                  <a:pt x="84247" y="204678"/>
                </a:cubicBezTo>
                <a:cubicBezTo>
                  <a:pt x="92928" y="213360"/>
                  <a:pt x="107027" y="213360"/>
                  <a:pt x="115709" y="204678"/>
                </a:cubicBezTo>
                <a:lnTo>
                  <a:pt x="166688" y="153700"/>
                </a:lnTo>
                <a:lnTo>
                  <a:pt x="206554" y="193566"/>
                </a:lnTo>
                <a:cubicBezTo>
                  <a:pt x="215235" y="202248"/>
                  <a:pt x="229334" y="202248"/>
                  <a:pt x="238016" y="193566"/>
                </a:cubicBezTo>
                <a:lnTo>
                  <a:pt x="326916" y="104666"/>
                </a:lnTo>
                <a:close/>
              </a:path>
            </a:pathLst>
          </a:custGeom>
          <a:solidFill>
            <a:srgbClr val="005C8F"/>
          </a:solidFill>
          <a:ln/>
        </p:spPr>
      </p:sp>
      <p:sp>
        <p:nvSpPr>
          <p:cNvPr id="31" name="Text 28"/>
          <p:cNvSpPr/>
          <p:nvPr/>
        </p:nvSpPr>
        <p:spPr>
          <a:xfrm>
            <a:off x="5130800" y="6057900"/>
            <a:ext cx="2540000" cy="355600"/>
          </a:xfrm>
          <a:prstGeom prst="rect">
            <a:avLst/>
          </a:prstGeom>
          <a:noFill/>
          <a:ln/>
        </p:spPr>
        <p:txBody>
          <a:bodyPr wrap="none" lIns="0" tIns="0" rIns="0" bIns="0" rtlCol="0" anchor="ctr"/>
          <a:lstStyle/>
          <a:p>
            <a:pPr algn="l">
              <a:lnSpc>
                <a:spcPct val="120000"/>
              </a:lnSpc>
            </a:pPr>
            <a:r>
              <a:rPr lang="en-US" sz="1600" b="1" dirty="0">
                <a:solidFill>
                  <a:srgbClr val="005C8F"/>
                </a:solidFill>
                <a:latin typeface="Arial" pitchFamily="34" charset="0"/>
                <a:ea typeface="Arial" pitchFamily="34" charset="-122"/>
                <a:cs typeface="Arial" pitchFamily="34" charset="-120"/>
              </a:rPr>
              <a:t>商业决策</a:t>
            </a:r>
            <a:endParaRPr lang="en-US" sz="1600" dirty="0"/>
          </a:p>
        </p:txBody>
      </p:sp>
      <p:sp>
        <p:nvSpPr>
          <p:cNvPr id="32" name="Text 29"/>
          <p:cNvSpPr/>
          <p:nvPr/>
        </p:nvSpPr>
        <p:spPr>
          <a:xfrm>
            <a:off x="4673600" y="6477000"/>
            <a:ext cx="2984500" cy="609600"/>
          </a:xfrm>
          <a:prstGeom prst="rect">
            <a:avLst/>
          </a:prstGeom>
          <a:noFill/>
          <a:ln/>
        </p:spPr>
        <p:txBody>
          <a:bodyPr wrap="square" lIns="0" tIns="0" rIns="0" bIns="0" rtlCol="0" anchor="t"/>
          <a:lstStyle/>
          <a:p>
            <a:pPr algn="l">
              <a:lnSpc>
                <a:spcPct val="150000"/>
              </a:lnSpc>
            </a:pPr>
            <a:r>
              <a:rPr lang="en-US" sz="1300" dirty="0">
                <a:solidFill>
                  <a:srgbClr val="333333"/>
                </a:solidFill>
                <a:latin typeface="Arial" pitchFamily="34" charset="0"/>
                <a:ea typeface="Arial" pitchFamily="34" charset="-122"/>
                <a:cs typeface="Arial" pitchFamily="34" charset="-120"/>
              </a:rPr>
              <a:t>明略 DeepMiner 可信商业决策智能体</a:t>
            </a:r>
            <a:endParaRPr lang="en-US" sz="1300" dirty="0"/>
          </a:p>
        </p:txBody>
      </p:sp>
      <p:sp>
        <p:nvSpPr>
          <p:cNvPr id="33" name="Shape 30"/>
          <p:cNvSpPr/>
          <p:nvPr/>
        </p:nvSpPr>
        <p:spPr>
          <a:xfrm>
            <a:off x="762000" y="7302500"/>
            <a:ext cx="7112000" cy="863600"/>
          </a:xfrm>
          <a:prstGeom prst="roundRect">
            <a:avLst>
              <a:gd name="adj" fmla="val 5000"/>
            </a:avLst>
          </a:prstGeom>
          <a:solidFill>
            <a:srgbClr val="005C8F"/>
          </a:solidFill>
          <a:ln/>
        </p:spPr>
      </p:sp>
      <p:sp>
        <p:nvSpPr>
          <p:cNvPr id="34" name="Text 31"/>
          <p:cNvSpPr/>
          <p:nvPr/>
        </p:nvSpPr>
        <p:spPr>
          <a:xfrm>
            <a:off x="990600" y="7404100"/>
            <a:ext cx="6654800" cy="660400"/>
          </a:xfrm>
          <a:prstGeom prst="rect">
            <a:avLst/>
          </a:prstGeom>
          <a:noFill/>
          <a:ln/>
        </p:spPr>
        <p:txBody>
          <a:bodyPr wrap="square" lIns="0" tIns="0" rIns="0" bIns="0" rtlCol="0" anchor="ctr"/>
          <a:lstStyle/>
          <a:p>
            <a:pPr algn="l">
              <a:lnSpc>
                <a:spcPct val="150000"/>
              </a:lnSpc>
            </a:pPr>
            <a:r>
              <a:rPr lang="en-US" sz="1400" b="1" dirty="0">
                <a:solidFill>
                  <a:srgbClr val="FFFFFF"/>
                </a:solidFill>
                <a:latin typeface="Arial" pitchFamily="34" charset="0"/>
                <a:ea typeface="Arial" pitchFamily="34" charset="-122"/>
                <a:cs typeface="Arial" pitchFamily="34" charset="-120"/>
              </a:rPr>
              <a:t>演进趋势：</a:t>
            </a:r>
            <a:pPr algn="l">
              <a:lnSpc>
                <a:spcPct val="150000"/>
              </a:lnSpc>
            </a:pPr>
            <a:r>
              <a:rPr lang="en-US" sz="1400" dirty="0">
                <a:solidFill>
                  <a:srgbClr val="FFFFFF"/>
                </a:solidFill>
                <a:latin typeface="Arial" pitchFamily="34" charset="0"/>
                <a:ea typeface="Arial" pitchFamily="34" charset="-122"/>
                <a:cs typeface="Arial" pitchFamily="34" charset="-120"/>
              </a:rPr>
              <a:t>从单一任务执行向跨系统、多步骤的复杂业务流程自动化演进</a:t>
            </a:r>
            <a:endParaRPr lang="en-US" sz="1400" dirty="0"/>
          </a:p>
        </p:txBody>
      </p:sp>
      <p:sp>
        <p:nvSpPr>
          <p:cNvPr id="35" name="Text 32"/>
          <p:cNvSpPr/>
          <p:nvPr/>
        </p:nvSpPr>
        <p:spPr>
          <a:xfrm>
            <a:off x="8382000" y="2159000"/>
            <a:ext cx="3810000" cy="355600"/>
          </a:xfrm>
          <a:prstGeom prst="rect">
            <a:avLst/>
          </a:prstGeom>
          <a:noFill/>
          <a:ln/>
        </p:spPr>
        <p:txBody>
          <a:bodyPr wrap="none" lIns="0" tIns="0" rIns="0" bIns="0" rtlCol="0" anchor="ctr"/>
          <a:lstStyle/>
          <a:p>
            <a:pPr algn="l">
              <a:lnSpc>
                <a:spcPct val="120000"/>
              </a:lnSpc>
            </a:pPr>
            <a:r>
              <a:rPr lang="en-US" sz="1700" b="1" dirty="0">
                <a:solidFill>
                  <a:srgbClr val="0077BB"/>
                </a:solidFill>
                <a:latin typeface="Arial" pitchFamily="34" charset="0"/>
                <a:ea typeface="Arial" pitchFamily="34" charset="-122"/>
                <a:cs typeface="Arial" pitchFamily="34" charset="-120"/>
              </a:rPr>
              <a:t>代表性产品</a:t>
            </a:r>
            <a:endParaRPr lang="en-US" sz="1700" dirty="0"/>
          </a:p>
        </p:txBody>
      </p:sp>
      <p:sp>
        <p:nvSpPr>
          <p:cNvPr id="36" name="Shape 33"/>
          <p:cNvSpPr/>
          <p:nvPr/>
        </p:nvSpPr>
        <p:spPr>
          <a:xfrm>
            <a:off x="8382000" y="2603500"/>
            <a:ext cx="7366000" cy="5778500"/>
          </a:xfrm>
          <a:prstGeom prst="roundRect">
            <a:avLst>
              <a:gd name="adj" fmla="val 4000"/>
            </a:avLst>
          </a:prstGeom>
          <a:solidFill>
            <a:srgbClr val="F8F9FA"/>
          </a:solidFill>
          <a:ln/>
        </p:spPr>
      </p:sp>
      <p:pic>
        <p:nvPicPr>
          <p:cNvPr id="37" name="Image 1" descr="https://kimi-img.moonshot.cn/pub/slides/okc/flfuysioo4gzm/mnt/agents/output/yuan_pptd/images/image_5.png">    </p:cNvPr>
          <p:cNvPicPr>
            <a:picLocks noChangeAspect="1"/>
          </p:cNvPicPr>
          <p:nvPr/>
        </p:nvPicPr>
        <p:blipFill>
          <a:blip r:embed="rId2"/>
          <a:srcRect l="0" r="0" t="0" b="0"/>
          <a:stretch/>
        </p:blipFill>
        <p:spPr>
          <a:xfrm>
            <a:off x="8890000" y="2921000"/>
            <a:ext cx="1524000" cy="1524000"/>
          </a:xfrm>
          <a:prstGeom prst="rect">
            <a:avLst/>
          </a:prstGeom>
        </p:spPr>
      </p:pic>
      <p:sp>
        <p:nvSpPr>
          <p:cNvPr id="38" name="Text 34"/>
          <p:cNvSpPr/>
          <p:nvPr/>
        </p:nvSpPr>
        <p:spPr>
          <a:xfrm>
            <a:off x="8763000" y="4508500"/>
            <a:ext cx="1778000" cy="304800"/>
          </a:xfrm>
          <a:prstGeom prst="rect">
            <a:avLst/>
          </a:prstGeom>
          <a:noFill/>
          <a:ln/>
        </p:spPr>
        <p:txBody>
          <a:bodyPr wrap="none" lIns="0" tIns="0" rIns="0" bIns="0" rtlCol="0" anchor="ctr"/>
          <a:lstStyle/>
          <a:p>
            <a:pPr algn="ctr">
              <a:lnSpc>
                <a:spcPct val="120000"/>
              </a:lnSpc>
            </a:pPr>
            <a:r>
              <a:rPr lang="en-US" sz="1400" b="1" dirty="0">
                <a:solidFill>
                  <a:srgbClr val="333333"/>
                </a:solidFill>
                <a:latin typeface="Arial" pitchFamily="34" charset="0"/>
                <a:ea typeface="Arial" pitchFamily="34" charset="-122"/>
                <a:cs typeface="Arial" pitchFamily="34" charset="-120"/>
              </a:rPr>
              <a:t>Claude Code</a:t>
            </a:r>
            <a:endParaRPr lang="en-US" sz="1400" dirty="0"/>
          </a:p>
        </p:txBody>
      </p:sp>
      <p:pic>
        <p:nvPicPr>
          <p:cNvPr id="39" name="Image 2" descr="https://kimi-img.moonshot.cn/pub/slides/okc/flfuysioo4gzm/mnt/agents/output/yuan_pptd/images/image_4.jpg">    </p:cNvPr>
          <p:cNvPicPr>
            <a:picLocks noChangeAspect="1"/>
          </p:cNvPicPr>
          <p:nvPr/>
        </p:nvPicPr>
        <p:blipFill>
          <a:blip r:embed="rId3"/>
          <a:srcRect l="0" r="0" t="0" b="0"/>
          <a:stretch/>
        </p:blipFill>
        <p:spPr>
          <a:xfrm>
            <a:off x="11303000" y="2921000"/>
            <a:ext cx="1524000" cy="1524000"/>
          </a:xfrm>
          <a:prstGeom prst="rect">
            <a:avLst/>
          </a:prstGeom>
        </p:spPr>
      </p:pic>
      <p:sp>
        <p:nvSpPr>
          <p:cNvPr id="40" name="Text 35"/>
          <p:cNvSpPr/>
          <p:nvPr/>
        </p:nvSpPr>
        <p:spPr>
          <a:xfrm>
            <a:off x="11176000" y="4508500"/>
            <a:ext cx="1778000" cy="304800"/>
          </a:xfrm>
          <a:prstGeom prst="rect">
            <a:avLst/>
          </a:prstGeom>
          <a:noFill/>
          <a:ln/>
        </p:spPr>
        <p:txBody>
          <a:bodyPr wrap="none" lIns="0" tIns="0" rIns="0" bIns="0" rtlCol="0" anchor="ctr"/>
          <a:lstStyle/>
          <a:p>
            <a:pPr algn="ctr">
              <a:lnSpc>
                <a:spcPct val="120000"/>
              </a:lnSpc>
            </a:pPr>
            <a:r>
              <a:rPr lang="en-US" sz="1400" b="1" dirty="0">
                <a:solidFill>
                  <a:srgbClr val="333333"/>
                </a:solidFill>
                <a:latin typeface="Arial" pitchFamily="34" charset="0"/>
                <a:ea typeface="Arial" pitchFamily="34" charset="-122"/>
                <a:cs typeface="Arial" pitchFamily="34" charset="-120"/>
              </a:rPr>
              <a:t>Moveworks</a:t>
            </a:r>
            <a:endParaRPr lang="en-US" sz="1400" dirty="0"/>
          </a:p>
        </p:txBody>
      </p:sp>
      <p:pic>
        <p:nvPicPr>
          <p:cNvPr id="41" name="Image 3" descr="https://kimi-img.moonshot.cn/pub/slides/okc/flfuysioo4gzm/mnt/agents/output/yuan_pptd/images/image_6.png">    </p:cNvPr>
          <p:cNvPicPr>
            <a:picLocks noChangeAspect="1"/>
          </p:cNvPicPr>
          <p:nvPr/>
        </p:nvPicPr>
        <p:blipFill>
          <a:blip r:embed="rId4"/>
          <a:srcRect l="0" r="0" t="0" b="0"/>
          <a:stretch/>
        </p:blipFill>
        <p:spPr>
          <a:xfrm>
            <a:off x="13716000" y="2921000"/>
            <a:ext cx="1524000" cy="1524000"/>
          </a:xfrm>
          <a:prstGeom prst="rect">
            <a:avLst/>
          </a:prstGeom>
        </p:spPr>
      </p:pic>
      <p:sp>
        <p:nvSpPr>
          <p:cNvPr id="42" name="Text 36"/>
          <p:cNvSpPr/>
          <p:nvPr/>
        </p:nvSpPr>
        <p:spPr>
          <a:xfrm>
            <a:off x="13525500" y="4508500"/>
            <a:ext cx="1905000" cy="304800"/>
          </a:xfrm>
          <a:prstGeom prst="rect">
            <a:avLst/>
          </a:prstGeom>
          <a:noFill/>
          <a:ln/>
        </p:spPr>
        <p:txBody>
          <a:bodyPr wrap="none" lIns="0" tIns="0" rIns="0" bIns="0" rtlCol="0" anchor="ctr"/>
          <a:lstStyle/>
          <a:p>
            <a:pPr algn="ctr">
              <a:lnSpc>
                <a:spcPct val="120000"/>
              </a:lnSpc>
            </a:pPr>
            <a:r>
              <a:rPr lang="en-US" sz="1400" b="1" dirty="0">
                <a:solidFill>
                  <a:srgbClr val="333333"/>
                </a:solidFill>
                <a:latin typeface="Arial" pitchFamily="34" charset="0"/>
                <a:ea typeface="Arial" pitchFamily="34" charset="-122"/>
                <a:cs typeface="Arial" pitchFamily="34" charset="-120"/>
              </a:rPr>
              <a:t>Salesforce</a:t>
            </a:r>
            <a:endParaRPr lang="en-US" sz="1400" dirty="0"/>
          </a:p>
        </p:txBody>
      </p:sp>
      <p:pic>
        <p:nvPicPr>
          <p:cNvPr id="43" name="Image 4" descr="https://kimi-img.moonshot.cn/pub/slides/okc/flfuysioo4gzm/mnt/agents/output/yuan_pptd/images/image_7.png">    </p:cNvPr>
          <p:cNvPicPr>
            <a:picLocks noChangeAspect="1"/>
          </p:cNvPicPr>
          <p:nvPr/>
        </p:nvPicPr>
        <p:blipFill>
          <a:blip r:embed="rId5"/>
          <a:srcRect l="0" r="0" t="0" b="0"/>
          <a:stretch/>
        </p:blipFill>
        <p:spPr>
          <a:xfrm>
            <a:off x="11303000" y="5334000"/>
            <a:ext cx="1524000" cy="1524000"/>
          </a:xfrm>
          <a:prstGeom prst="rect">
            <a:avLst/>
          </a:prstGeom>
        </p:spPr>
      </p:pic>
      <p:sp>
        <p:nvSpPr>
          <p:cNvPr id="44" name="Text 37"/>
          <p:cNvSpPr/>
          <p:nvPr/>
        </p:nvSpPr>
        <p:spPr>
          <a:xfrm>
            <a:off x="11176000" y="6921500"/>
            <a:ext cx="1778000" cy="304800"/>
          </a:xfrm>
          <a:prstGeom prst="rect">
            <a:avLst/>
          </a:prstGeom>
          <a:noFill/>
          <a:ln/>
        </p:spPr>
        <p:txBody>
          <a:bodyPr wrap="none" lIns="0" tIns="0" rIns="0" bIns="0" rtlCol="0" anchor="ctr"/>
          <a:lstStyle/>
          <a:p>
            <a:pPr algn="ctr">
              <a:lnSpc>
                <a:spcPct val="120000"/>
              </a:lnSpc>
            </a:pPr>
            <a:r>
              <a:rPr lang="en-US" sz="1400" b="1" dirty="0">
                <a:solidFill>
                  <a:srgbClr val="333333"/>
                </a:solidFill>
                <a:latin typeface="Arial" pitchFamily="34" charset="0"/>
                <a:ea typeface="Arial" pitchFamily="34" charset="-122"/>
                <a:cs typeface="Arial" pitchFamily="34" charset="-120"/>
              </a:rPr>
              <a:t>DeepMiner</a:t>
            </a:r>
            <a:endParaRPr lang="en-US" sz="1400" dirty="0"/>
          </a:p>
        </p:txBody>
      </p:sp>
      <p:sp>
        <p:nvSpPr>
          <p:cNvPr id="45" name="Text 38"/>
          <p:cNvSpPr/>
          <p:nvPr/>
        </p:nvSpPr>
        <p:spPr>
          <a:xfrm>
            <a:off x="15240000" y="8636000"/>
            <a:ext cx="635000" cy="381000"/>
          </a:xfrm>
          <a:prstGeom prst="rect">
            <a:avLst/>
          </a:prstGeom>
          <a:noFill/>
          <a:ln/>
        </p:spPr>
        <p:txBody>
          <a:bodyPr wrap="none" lIns="0" tIns="0" rIns="0" bIns="0" rtlCol="0" anchor="ctr"/>
          <a:lstStyle/>
          <a:p>
            <a:pPr algn="r">
              <a:lnSpc>
                <a:spcPct val="120000"/>
              </a:lnSpc>
            </a:pPr>
            <a:r>
              <a:rPr lang="en-US" sz="1800" dirty="0">
                <a:solidFill>
                  <a:srgbClr val="666666"/>
                </a:solidFill>
                <a:latin typeface="Arial" pitchFamily="34" charset="0"/>
                <a:ea typeface="Arial" pitchFamily="34" charset="-122"/>
                <a:cs typeface="Arial" pitchFamily="34" charset="-120"/>
              </a:rPr>
              <a:t>3</a:t>
            </a:r>
            <a:endParaRPr lang="en-US" sz="1800" dirty="0"/>
          </a:p>
        </p:txBody>
      </p:sp>
    </p:spTree>
  </p:cSld>
  <p:clrMapOvr>
    <a:masterClrMapping/>
  </p:clrMapOvr>
  <p:transition>
    <p:fade/>
    <p:spd val="med"/>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168900" y="0"/>
            <a:ext cx="2590800" cy="965200"/>
          </a:xfrm>
          <a:prstGeom prst="rect">
            <a:avLst/>
          </a:prstGeom>
          <a:solidFill>
            <a:srgbClr val="F2F2F2"/>
          </a:solidFill>
          <a:ln/>
        </p:spPr>
      </p:sp>
      <p:sp>
        <p:nvSpPr>
          <p:cNvPr id="3" name="Shape 1"/>
          <p:cNvSpPr/>
          <p:nvPr/>
        </p:nvSpPr>
        <p:spPr>
          <a:xfrm>
            <a:off x="7810500" y="0"/>
            <a:ext cx="4152900" cy="965200"/>
          </a:xfrm>
          <a:prstGeom prst="rect">
            <a:avLst/>
          </a:prstGeom>
          <a:solidFill>
            <a:srgbClr val="F2F2F2"/>
          </a:solidFill>
          <a:ln/>
        </p:spPr>
      </p:sp>
      <p:sp>
        <p:nvSpPr>
          <p:cNvPr id="4" name="Shape 2"/>
          <p:cNvSpPr/>
          <p:nvPr/>
        </p:nvSpPr>
        <p:spPr>
          <a:xfrm>
            <a:off x="11976100" y="0"/>
            <a:ext cx="4279900" cy="965200"/>
          </a:xfrm>
          <a:prstGeom prst="rect">
            <a:avLst/>
          </a:prstGeom>
          <a:solidFill>
            <a:srgbClr val="F2F2F2"/>
          </a:solidFill>
          <a:ln/>
        </p:spPr>
      </p:sp>
      <p:sp>
        <p:nvSpPr>
          <p:cNvPr id="5" name="Shape 3"/>
          <p:cNvSpPr/>
          <p:nvPr/>
        </p:nvSpPr>
        <p:spPr>
          <a:xfrm>
            <a:off x="2222500" y="0"/>
            <a:ext cx="2895600" cy="965200"/>
          </a:xfrm>
          <a:prstGeom prst="rect">
            <a:avLst/>
          </a:prstGeom>
          <a:solidFill>
            <a:srgbClr val="04579A"/>
          </a:solidFill>
          <a:ln/>
        </p:spPr>
      </p:sp>
      <p:sp>
        <p:nvSpPr>
          <p:cNvPr id="6" name="Text 4"/>
          <p:cNvSpPr/>
          <p:nvPr/>
        </p:nvSpPr>
        <p:spPr>
          <a:xfrm>
            <a:off x="2286000" y="254000"/>
            <a:ext cx="2794000" cy="457200"/>
          </a:xfrm>
          <a:prstGeom prst="rect">
            <a:avLst/>
          </a:prstGeom>
          <a:noFill/>
          <a:ln/>
        </p:spPr>
        <p:txBody>
          <a:bodyPr wrap="none" lIns="0" tIns="0" rIns="0" bIns="0" rtlCol="0" anchor="ctr"/>
          <a:lstStyle/>
          <a:p>
            <a:pPr algn="ctr">
              <a:lnSpc>
                <a:spcPct val="120000"/>
              </a:lnSpc>
            </a:pPr>
            <a:r>
              <a:rPr lang="en-US" sz="2000" dirty="0">
                <a:solidFill>
                  <a:srgbClr val="FFFFFF"/>
                </a:solidFill>
                <a:latin typeface="Arial" pitchFamily="34" charset="0"/>
                <a:ea typeface="Arial" pitchFamily="34" charset="-122"/>
                <a:cs typeface="Arial" pitchFamily="34" charset="-120"/>
              </a:rPr>
              <a:t>选题背景及意义</a:t>
            </a:r>
            <a:endParaRPr lang="en-US" sz="2000" dirty="0"/>
          </a:p>
        </p:txBody>
      </p:sp>
      <p:sp>
        <p:nvSpPr>
          <p:cNvPr id="7" name="Text 5"/>
          <p:cNvSpPr/>
          <p:nvPr/>
        </p:nvSpPr>
        <p:spPr>
          <a:xfrm>
            <a:off x="5168900" y="254000"/>
            <a:ext cx="2590800" cy="4572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国内外研究现状</a:t>
            </a:r>
            <a:endParaRPr lang="en-US" sz="2000" dirty="0"/>
          </a:p>
        </p:txBody>
      </p:sp>
      <p:sp>
        <p:nvSpPr>
          <p:cNvPr id="8" name="Text 6"/>
          <p:cNvSpPr/>
          <p:nvPr/>
        </p:nvSpPr>
        <p:spPr>
          <a:xfrm>
            <a:off x="7810500" y="254000"/>
            <a:ext cx="4114800" cy="4572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主要研究内容及预期目标</a:t>
            </a:r>
            <a:endParaRPr lang="en-US" sz="2000" dirty="0"/>
          </a:p>
        </p:txBody>
      </p:sp>
      <p:sp>
        <p:nvSpPr>
          <p:cNvPr id="9" name="Text 7"/>
          <p:cNvSpPr/>
          <p:nvPr/>
        </p:nvSpPr>
        <p:spPr>
          <a:xfrm>
            <a:off x="11976100" y="254000"/>
            <a:ext cx="4279900" cy="4572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工作计划与进度安排</a:t>
            </a:r>
            <a:endParaRPr lang="en-US" sz="2000" dirty="0"/>
          </a:p>
        </p:txBody>
      </p:sp>
      <p:sp>
        <p:nvSpPr>
          <p:cNvPr id="10" name="Shape 8"/>
          <p:cNvSpPr/>
          <p:nvPr/>
        </p:nvSpPr>
        <p:spPr>
          <a:xfrm rot="10800000">
            <a:off x="3492500" y="965200"/>
            <a:ext cx="393700" cy="304800"/>
          </a:xfrm>
          <a:prstGeom prst="triangle">
            <a:avLst>
              <a:gd name="adj" fmla="val 50000"/>
            </a:avLst>
          </a:prstGeom>
          <a:solidFill>
            <a:srgbClr val="04579A"/>
          </a:solidFill>
          <a:ln/>
        </p:spPr>
      </p:sp>
      <p:pic>
        <p:nvPicPr>
          <p:cNvPr id="11" name="Image 0" descr="https://kimi-img.moonshot.cn/pub/slides/okc/flfuysioo4gzm/mnt/agents/output/yuan_pptd/images/image_2.jpg">    </p:cNvPr>
          <p:cNvPicPr>
            <a:picLocks noChangeAspect="1"/>
          </p:cNvPicPr>
          <p:nvPr/>
        </p:nvPicPr>
        <p:blipFill>
          <a:blip r:embed="rId1"/>
          <a:srcRect l="5060" r="29000" t="0" b="0"/>
          <a:stretch/>
        </p:blipFill>
        <p:spPr>
          <a:xfrm>
            <a:off x="546100" y="139700"/>
            <a:ext cx="1270000" cy="749300"/>
          </a:xfrm>
          <a:prstGeom prst="rect">
            <a:avLst/>
          </a:prstGeom>
        </p:spPr>
      </p:pic>
      <p:sp>
        <p:nvSpPr>
          <p:cNvPr id="12" name="Text 9"/>
          <p:cNvSpPr/>
          <p:nvPr/>
        </p:nvSpPr>
        <p:spPr>
          <a:xfrm>
            <a:off x="762000" y="1460500"/>
            <a:ext cx="7620000" cy="571500"/>
          </a:xfrm>
          <a:prstGeom prst="rect">
            <a:avLst/>
          </a:prstGeom>
          <a:noFill/>
          <a:ln/>
        </p:spPr>
        <p:txBody>
          <a:bodyPr wrap="none" lIns="0" tIns="0" rIns="0" bIns="0" rtlCol="0" anchor="ctr"/>
          <a:lstStyle/>
          <a:p>
            <a:pPr algn="l">
              <a:lnSpc>
                <a:spcPct val="120000"/>
              </a:lnSpc>
            </a:pPr>
            <a:r>
              <a:rPr lang="en-US" sz="3000" b="1" dirty="0">
                <a:solidFill>
                  <a:srgbClr val="005C8F"/>
                </a:solidFill>
                <a:latin typeface="Arial" pitchFamily="34" charset="0"/>
                <a:ea typeface="Arial" pitchFamily="34" charset="-122"/>
                <a:cs typeface="Arial" pitchFamily="34" charset="-120"/>
              </a:rPr>
              <a:t>智能体安全现状</a:t>
            </a:r>
            <a:endParaRPr lang="en-US" sz="3000" dirty="0"/>
          </a:p>
        </p:txBody>
      </p:sp>
      <p:sp>
        <p:nvSpPr>
          <p:cNvPr id="13" name="Shape 10"/>
          <p:cNvSpPr/>
          <p:nvPr/>
        </p:nvSpPr>
        <p:spPr>
          <a:xfrm>
            <a:off x="762000" y="2222500"/>
            <a:ext cx="7112000" cy="1651000"/>
          </a:xfrm>
          <a:prstGeom prst="roundRect">
            <a:avLst>
              <a:gd name="adj" fmla="val 6000"/>
            </a:avLst>
          </a:prstGeom>
          <a:solidFill>
            <a:srgbClr val="E6F0F7"/>
          </a:solidFill>
          <a:ln/>
        </p:spPr>
      </p:sp>
      <p:sp>
        <p:nvSpPr>
          <p:cNvPr id="14" name="Text 11"/>
          <p:cNvSpPr/>
          <p:nvPr/>
        </p:nvSpPr>
        <p:spPr>
          <a:xfrm>
            <a:off x="1016000" y="2349500"/>
            <a:ext cx="6604000" cy="1397000"/>
          </a:xfrm>
          <a:prstGeom prst="rect">
            <a:avLst/>
          </a:prstGeom>
          <a:noFill/>
          <a:ln/>
        </p:spPr>
        <p:txBody>
          <a:bodyPr wrap="square" lIns="0" tIns="0" rIns="0" bIns="0" rtlCol="0" anchor="t"/>
          <a:lstStyle/>
          <a:p>
            <a:pPr algn="l">
              <a:lnSpc>
                <a:spcPct val="170000"/>
              </a:lnSpc>
            </a:pPr>
            <a:r>
              <a:rPr lang="en-US" sz="1600" dirty="0">
                <a:solidFill>
                  <a:srgbClr val="333333"/>
                </a:solidFill>
                <a:latin typeface="Arial" pitchFamily="34" charset="0"/>
                <a:ea typeface="Arial" pitchFamily="34" charset="-122"/>
                <a:cs typeface="Arial" pitchFamily="34" charset="-120"/>
              </a:rPr>
              <a:t>ASE 2025 一项工作收集了 </a:t>
            </a:r>
            <a:pPr algn="l">
              <a:lnSpc>
                <a:spcPct val="170000"/>
              </a:lnSpc>
            </a:pPr>
            <a:r>
              <a:rPr lang="en-US" sz="1600" b="1" dirty="0">
                <a:solidFill>
                  <a:srgbClr val="005C8F"/>
                </a:solidFill>
                <a:latin typeface="Arial" pitchFamily="34" charset="0"/>
                <a:ea typeface="Arial" pitchFamily="34" charset="-122"/>
                <a:cs typeface="Arial" pitchFamily="34" charset="-120"/>
              </a:rPr>
              <a:t>50</a:t>
            </a:r>
            <a:pPr algn="l">
              <a:lnSpc>
                <a:spcPct val="170000"/>
              </a:lnSpc>
            </a:pPr>
            <a:r>
              <a:rPr lang="en-US" sz="1600" dirty="0">
                <a:solidFill>
                  <a:srgbClr val="333333"/>
                </a:solidFill>
                <a:latin typeface="Arial" pitchFamily="34" charset="0"/>
                <a:ea typeface="Arial" pitchFamily="34" charset="-122"/>
                <a:cs typeface="Arial" pitchFamily="34" charset="-120"/>
              </a:rPr>
              <a:t> 个热门开源 Agent 应用中的 </a:t>
            </a:r>
            <a:pPr algn="l">
              <a:lnSpc>
                <a:spcPct val="170000"/>
              </a:lnSpc>
            </a:pPr>
            <a:r>
              <a:rPr lang="en-US" sz="1600" b="1" dirty="0">
                <a:solidFill>
                  <a:srgbClr val="005C8F"/>
                </a:solidFill>
                <a:latin typeface="Arial" pitchFamily="34" charset="0"/>
                <a:ea typeface="Arial" pitchFamily="34" charset="-122"/>
                <a:cs typeface="Arial" pitchFamily="34" charset="-120"/>
              </a:rPr>
              <a:t>221</a:t>
            </a:r>
            <a:pPr algn="l">
              <a:lnSpc>
                <a:spcPct val="170000"/>
              </a:lnSpc>
            </a:pPr>
            <a:r>
              <a:rPr lang="en-US" sz="1600" dirty="0">
                <a:solidFill>
                  <a:srgbClr val="333333"/>
                </a:solidFill>
                <a:latin typeface="Arial" pitchFamily="34" charset="0"/>
                <a:ea typeface="Arial" pitchFamily="34" charset="-122"/>
                <a:cs typeface="Arial" pitchFamily="34" charset="-120"/>
              </a:rPr>
              <a:t> 个真实漏洞：</a:t>
            </a:r>
            <a:endParaRPr lang="en-US" sz="1600" dirty="0"/>
          </a:p>
          <a:p>
            <a:pPr algn="l">
              <a:lnSpc>
                <a:spcPct val="170000"/>
              </a:lnSpc>
            </a:pPr>
            <a:r>
              <a:rPr lang="en-US" sz="1600" dirty="0">
                <a:solidFill>
                  <a:srgbClr val="333333"/>
                </a:solidFill>
                <a:latin typeface="Arial" pitchFamily="34" charset="0"/>
                <a:ea typeface="Arial" pitchFamily="34" charset="-122"/>
                <a:cs typeface="Arial" pitchFamily="34" charset="-120"/>
              </a:rPr>
              <a:t>• 平均 CVSS </a:t>
            </a:r>
            <a:pPr algn="l">
              <a:lnSpc>
                <a:spcPct val="170000"/>
              </a:lnSpc>
            </a:pPr>
            <a:r>
              <a:rPr lang="en-US" sz="1600" b="1" dirty="0">
                <a:solidFill>
                  <a:srgbClr val="EC5F74"/>
                </a:solidFill>
                <a:latin typeface="Arial" pitchFamily="34" charset="0"/>
                <a:ea typeface="Arial" pitchFamily="34" charset="-122"/>
                <a:cs typeface="Arial" pitchFamily="34" charset="-120"/>
              </a:rPr>
              <a:t>7.89</a:t>
            </a:r>
            <a:pPr algn="l">
              <a:lnSpc>
                <a:spcPct val="170000"/>
              </a:lnSpc>
            </a:pPr>
            <a:r>
              <a:rPr lang="en-US" sz="1600" dirty="0">
                <a:solidFill>
                  <a:srgbClr val="333333"/>
                </a:solidFill>
                <a:latin typeface="Arial" pitchFamily="34" charset="0"/>
                <a:ea typeface="Arial" pitchFamily="34" charset="-122"/>
                <a:cs typeface="Arial" pitchFamily="34" charset="-120"/>
              </a:rPr>
              <a:t>　• </a:t>
            </a:r>
            <a:pPr algn="l">
              <a:lnSpc>
                <a:spcPct val="170000"/>
              </a:lnSpc>
            </a:pPr>
            <a:r>
              <a:rPr lang="en-US" sz="1600" b="1" dirty="0">
                <a:solidFill>
                  <a:srgbClr val="EC5F74"/>
                </a:solidFill>
                <a:latin typeface="Arial" pitchFamily="34" charset="0"/>
                <a:ea typeface="Arial" pitchFamily="34" charset="-122"/>
                <a:cs typeface="Arial" pitchFamily="34" charset="-120"/>
              </a:rPr>
              <a:t>74.1%</a:t>
            </a:r>
            <a:pPr algn="l">
              <a:lnSpc>
                <a:spcPct val="170000"/>
              </a:lnSpc>
            </a:pPr>
            <a:r>
              <a:rPr lang="en-US" sz="1600" dirty="0">
                <a:solidFill>
                  <a:srgbClr val="333333"/>
                </a:solidFill>
                <a:latin typeface="Arial" pitchFamily="34" charset="0"/>
                <a:ea typeface="Arial" pitchFamily="34" charset="-122"/>
                <a:cs typeface="Arial" pitchFamily="34" charset="-120"/>
              </a:rPr>
              <a:t> 属于 HIGH/CRITICAL 级别</a:t>
            </a:r>
            <a:endParaRPr lang="en-US" sz="1600" dirty="0"/>
          </a:p>
        </p:txBody>
      </p:sp>
      <p:sp>
        <p:nvSpPr>
          <p:cNvPr id="15" name="Text 12"/>
          <p:cNvSpPr/>
          <p:nvPr/>
        </p:nvSpPr>
        <p:spPr>
          <a:xfrm>
            <a:off x="762000" y="4038600"/>
            <a:ext cx="3810000" cy="355600"/>
          </a:xfrm>
          <a:prstGeom prst="rect">
            <a:avLst/>
          </a:prstGeom>
          <a:noFill/>
          <a:ln/>
        </p:spPr>
        <p:txBody>
          <a:bodyPr wrap="none" lIns="0" tIns="0" rIns="0" bIns="0" rtlCol="0" anchor="ctr"/>
          <a:lstStyle/>
          <a:p>
            <a:pPr algn="l">
              <a:lnSpc>
                <a:spcPct val="120000"/>
              </a:lnSpc>
            </a:pPr>
            <a:r>
              <a:rPr lang="en-US" sz="1700" b="1" dirty="0">
                <a:solidFill>
                  <a:srgbClr val="0077BB"/>
                </a:solidFill>
                <a:latin typeface="Arial" pitchFamily="34" charset="0"/>
                <a:ea typeface="Arial" pitchFamily="34" charset="-122"/>
                <a:cs typeface="Arial" pitchFamily="34" charset="-120"/>
              </a:rPr>
              <a:t>授权相关 CVE 案例</a:t>
            </a:r>
            <a:endParaRPr lang="en-US" sz="17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762000" y="4508500"/>
          <a:ext cx="7112000" cy="3810000"/>
        </p:xfrm>
        <a:graphic>
          <a:graphicData uri="http://schemas.openxmlformats.org/drawingml/2006/table">
            <a:tbl>
              <a:tblPr/>
              <a:tblGrid>
                <a:gridCol w="3200400"/>
                <a:gridCol w="3911600"/>
              </a:tblGrid>
              <a:tr h="476250">
                <a:tc>
                  <a:txBody>
                    <a:bodyPr/>
                    <a:lstStyle/>
                    <a:p>
                      <a:pPr algn="ctr"/>
                      <a:r>
                        <a:rPr lang="en-US" sz="1400" b="1" dirty="0">
                          <a:solidFill>
                            <a:srgbClr val="FFFFFF"/>
                          </a:solidFill>
                          <a:latin typeface="Arial" pitchFamily="34" charset="0"/>
                          <a:ea typeface="Arial" pitchFamily="34" charset="-122"/>
                          <a:cs typeface="Arial" pitchFamily="34" charset="-120"/>
                        </a:rPr>
                        <a:t>CVE 编号</a:t>
                      </a:r>
                      <a:endParaRPr lang="en-US" sz="1400" dirty="0">
                        <a:latin typeface="Arial" charset="0"/>
                        <a:ea typeface="Arial" charset="0"/>
                        <a:cs typeface="Arial" charset="0"/>
                      </a:endParaRPr>
                    </a:p>
                  </a:txBody>
                  <a:tcPr marL="54864" marR="54864"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005C8F"/>
                    </a:solidFill>
                  </a:tcPr>
                </a:tc>
                <a:tc>
                  <a:txBody>
                    <a:bodyPr/>
                    <a:lstStyle/>
                    <a:p>
                      <a:pPr algn="ctr"/>
                      <a:r>
                        <a:rPr lang="en-US" sz="1400" b="1" dirty="0">
                          <a:solidFill>
                            <a:srgbClr val="FFFFFF"/>
                          </a:solidFill>
                          <a:latin typeface="Arial" pitchFamily="34" charset="0"/>
                          <a:ea typeface="Arial" pitchFamily="34" charset="-122"/>
                          <a:cs typeface="Arial" pitchFamily="34" charset="-120"/>
                        </a:rPr>
                        <a:t>问题类型</a:t>
                      </a:r>
                      <a:endParaRPr lang="en-US" sz="1400" dirty="0">
                        <a:latin typeface="Arial" charset="0"/>
                        <a:ea typeface="Arial" charset="0"/>
                        <a:cs typeface="Arial" charset="0"/>
                      </a:endParaRPr>
                    </a:p>
                  </a:txBody>
                  <a:tcPr marL="54864" marR="54864"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005C8F"/>
                    </a:solidFill>
                  </a:tcPr>
                </a:tc>
              </a:tr>
              <a:tr h="476250">
                <a:tc>
                  <a:txBody>
                    <a:bodyPr/>
                    <a:lstStyle/>
                    <a:p>
                      <a:pPr algn="ctr"/>
                      <a:r>
                        <a:rPr lang="en-US" sz="1400" dirty="0">
                          <a:solidFill>
                            <a:srgbClr val="333333"/>
                          </a:solidFill>
                          <a:latin typeface="Arial" pitchFamily="34" charset="0"/>
                          <a:ea typeface="Arial" pitchFamily="34" charset="-122"/>
                          <a:cs typeface="Arial" pitchFamily="34" charset="-120"/>
                        </a:rPr>
                        <a:t>CVE-2025-68145</a:t>
                      </a:r>
                      <a:endParaRPr lang="en-US" sz="1400" dirty="0">
                        <a:latin typeface="Arial" charset="0"/>
                        <a:ea typeface="Arial" charset="0"/>
                        <a:cs typeface="Arial" charset="0"/>
                      </a:endParaRPr>
                    </a:p>
                  </a:txBody>
                  <a:tcPr marL="54864" marR="54864"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algn="ctr"/>
                      <a:r>
                        <a:rPr lang="en-US" sz="1400" dirty="0">
                          <a:solidFill>
                            <a:srgbClr val="EC5F74"/>
                          </a:solidFill>
                          <a:latin typeface="Arial" pitchFamily="34" charset="0"/>
                          <a:ea typeface="Arial" pitchFamily="34" charset="-122"/>
                          <a:cs typeface="Arial" pitchFamily="34" charset="-120"/>
                        </a:rPr>
                        <a:t>授权边界绕过</a:t>
                      </a:r>
                      <a:endParaRPr lang="en-US" sz="1400" dirty="0">
                        <a:latin typeface="Arial" charset="0"/>
                        <a:ea typeface="Arial" charset="0"/>
                        <a:cs typeface="Arial" charset="0"/>
                      </a:endParaRPr>
                    </a:p>
                  </a:txBody>
                  <a:tcPr marL="54864" marR="54864"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476250">
                <a:tc>
                  <a:txBody>
                    <a:bodyPr/>
                    <a:lstStyle/>
                    <a:p>
                      <a:pPr algn="ctr"/>
                      <a:r>
                        <a:rPr lang="en-US" sz="1400" dirty="0">
                          <a:solidFill>
                            <a:srgbClr val="333333"/>
                          </a:solidFill>
                          <a:latin typeface="Arial" pitchFamily="34" charset="0"/>
                          <a:ea typeface="Arial" pitchFamily="34" charset="-122"/>
                          <a:cs typeface="Arial" pitchFamily="34" charset="-120"/>
                        </a:rPr>
                        <a:t>CVE-2026-30624</a:t>
                      </a:r>
                      <a:endParaRPr lang="en-US" sz="1400" dirty="0">
                        <a:latin typeface="Arial" charset="0"/>
                        <a:ea typeface="Arial" charset="0"/>
                        <a:cs typeface="Arial" charset="0"/>
                      </a:endParaRPr>
                    </a:p>
                  </a:txBody>
                  <a:tcPr marL="54864" marR="54864"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0F5FA"/>
                    </a:solidFill>
                  </a:tcPr>
                </a:tc>
                <a:tc>
                  <a:txBody>
                    <a:bodyPr/>
                    <a:lstStyle/>
                    <a:p>
                      <a:pPr algn="ctr"/>
                      <a:r>
                        <a:rPr lang="en-US" sz="1400" dirty="0">
                          <a:solidFill>
                            <a:srgbClr val="EC5F74"/>
                          </a:solidFill>
                          <a:latin typeface="Arial" pitchFamily="34" charset="0"/>
                          <a:ea typeface="Arial" pitchFamily="34" charset="-122"/>
                          <a:cs typeface="Arial" pitchFamily="34" charset="-120"/>
                        </a:rPr>
                        <a:t>授权缺失</a:t>
                      </a:r>
                      <a:endParaRPr lang="en-US" sz="1400" dirty="0">
                        <a:latin typeface="Arial" charset="0"/>
                        <a:ea typeface="Arial" charset="0"/>
                        <a:cs typeface="Arial" charset="0"/>
                      </a:endParaRPr>
                    </a:p>
                  </a:txBody>
                  <a:tcPr marL="54864" marR="54864"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0F5FA"/>
                    </a:solidFill>
                  </a:tcPr>
                </a:tc>
              </a:tr>
              <a:tr h="476250">
                <a:tc>
                  <a:txBody>
                    <a:bodyPr/>
                    <a:lstStyle/>
                    <a:p>
                      <a:pPr algn="ctr"/>
                      <a:r>
                        <a:rPr lang="en-US" sz="1400" dirty="0">
                          <a:solidFill>
                            <a:srgbClr val="333333"/>
                          </a:solidFill>
                          <a:latin typeface="Arial" pitchFamily="34" charset="0"/>
                          <a:ea typeface="Arial" pitchFamily="34" charset="-122"/>
                          <a:cs typeface="Arial" pitchFamily="34" charset="-120"/>
                        </a:rPr>
                        <a:t>CVE-2026-35568</a:t>
                      </a:r>
                      <a:endParaRPr lang="en-US" sz="1400" dirty="0">
                        <a:latin typeface="Arial" charset="0"/>
                        <a:ea typeface="Arial" charset="0"/>
                        <a:cs typeface="Arial" charset="0"/>
                      </a:endParaRPr>
                    </a:p>
                  </a:txBody>
                  <a:tcPr marL="54864" marR="54864"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algn="ctr"/>
                      <a:r>
                        <a:rPr lang="en-US" sz="1400" dirty="0">
                          <a:solidFill>
                            <a:srgbClr val="EC5F74"/>
                          </a:solidFill>
                          <a:latin typeface="Arial" pitchFamily="34" charset="0"/>
                          <a:ea typeface="Arial" pitchFamily="34" charset="-122"/>
                          <a:cs typeface="Arial" pitchFamily="34" charset="-120"/>
                        </a:rPr>
                        <a:t>访问控制缺失</a:t>
                      </a:r>
                      <a:endParaRPr lang="en-US" sz="1400" dirty="0">
                        <a:latin typeface="Arial" charset="0"/>
                        <a:ea typeface="Arial" charset="0"/>
                        <a:cs typeface="Arial" charset="0"/>
                      </a:endParaRPr>
                    </a:p>
                  </a:txBody>
                  <a:tcPr marL="54864" marR="54864"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476250">
                <a:tc>
                  <a:txBody>
                    <a:bodyPr/>
                    <a:lstStyle/>
                    <a:p>
                      <a:pPr algn="ctr"/>
                      <a:r>
                        <a:rPr lang="en-US" sz="1400" dirty="0">
                          <a:solidFill>
                            <a:srgbClr val="333333"/>
                          </a:solidFill>
                          <a:latin typeface="Arial" pitchFamily="34" charset="0"/>
                          <a:ea typeface="Arial" pitchFamily="34" charset="-122"/>
                          <a:cs typeface="Arial" pitchFamily="34" charset="-120"/>
                        </a:rPr>
                        <a:t>CVE-2025-61260</a:t>
                      </a:r>
                      <a:endParaRPr lang="en-US" sz="1400" dirty="0">
                        <a:latin typeface="Arial" charset="0"/>
                        <a:ea typeface="Arial" charset="0"/>
                        <a:cs typeface="Arial" charset="0"/>
                      </a:endParaRPr>
                    </a:p>
                  </a:txBody>
                  <a:tcPr marL="54864" marR="54864"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0F5FA"/>
                    </a:solidFill>
                  </a:tcPr>
                </a:tc>
                <a:tc>
                  <a:txBody>
                    <a:bodyPr/>
                    <a:lstStyle/>
                    <a:p>
                      <a:pPr algn="ctr"/>
                      <a:r>
                        <a:rPr lang="en-US" sz="1400" dirty="0">
                          <a:solidFill>
                            <a:srgbClr val="EC5F74"/>
                          </a:solidFill>
                          <a:latin typeface="Arial" pitchFamily="34" charset="0"/>
                          <a:ea typeface="Arial" pitchFamily="34" charset="-122"/>
                          <a:cs typeface="Arial" pitchFamily="34" charset="-120"/>
                        </a:rPr>
                        <a:t>过度授权/信任传递</a:t>
                      </a:r>
                      <a:endParaRPr lang="en-US" sz="1400" dirty="0">
                        <a:latin typeface="Arial" charset="0"/>
                        <a:ea typeface="Arial" charset="0"/>
                        <a:cs typeface="Arial" charset="0"/>
                      </a:endParaRPr>
                    </a:p>
                  </a:txBody>
                  <a:tcPr marL="54864" marR="54864"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0F5FA"/>
                    </a:solidFill>
                  </a:tcPr>
                </a:tc>
              </a:tr>
              <a:tr h="476250">
                <a:tc>
                  <a:txBody>
                    <a:bodyPr/>
                    <a:lstStyle/>
                    <a:p>
                      <a:pPr algn="ctr"/>
                      <a:r>
                        <a:rPr lang="en-US" sz="1400" dirty="0">
                          <a:solidFill>
                            <a:srgbClr val="333333"/>
                          </a:solidFill>
                          <a:latin typeface="Arial" pitchFamily="34" charset="0"/>
                          <a:ea typeface="Arial" pitchFamily="34" charset="-122"/>
                          <a:cs typeface="Arial" pitchFamily="34" charset="-120"/>
                        </a:rPr>
                        <a:t>CVE-2026-33068</a:t>
                      </a:r>
                      <a:endParaRPr lang="en-US" sz="1400" dirty="0">
                        <a:latin typeface="Arial" charset="0"/>
                        <a:ea typeface="Arial" charset="0"/>
                        <a:cs typeface="Arial" charset="0"/>
                      </a:endParaRPr>
                    </a:p>
                  </a:txBody>
                  <a:tcPr marL="54864" marR="54864"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algn="ctr"/>
                      <a:r>
                        <a:rPr lang="en-US" sz="1400" dirty="0">
                          <a:solidFill>
                            <a:srgbClr val="EC5F74"/>
                          </a:solidFill>
                          <a:latin typeface="Arial" pitchFamily="34" charset="0"/>
                          <a:ea typeface="Arial" pitchFamily="34" charset="-122"/>
                          <a:cs typeface="Arial" pitchFamily="34" charset="-120"/>
                        </a:rPr>
                        <a:t>未授权操作执行</a:t>
                      </a:r>
                      <a:endParaRPr lang="en-US" sz="1400" dirty="0">
                        <a:latin typeface="Arial" charset="0"/>
                        <a:ea typeface="Arial" charset="0"/>
                        <a:cs typeface="Arial" charset="0"/>
                      </a:endParaRPr>
                    </a:p>
                  </a:txBody>
                  <a:tcPr marL="54864" marR="54864"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476250">
                <a:tc>
                  <a:txBody>
                    <a:bodyPr/>
                    <a:lstStyle/>
                    <a:p>
                      <a:pPr algn="ctr"/>
                      <a:r>
                        <a:rPr lang="en-US" sz="1400" dirty="0">
                          <a:solidFill>
                            <a:srgbClr val="333333"/>
                          </a:solidFill>
                          <a:latin typeface="Arial" pitchFamily="34" charset="0"/>
                          <a:ea typeface="Arial" pitchFamily="34" charset="-122"/>
                          <a:cs typeface="Arial" pitchFamily="34" charset="-120"/>
                        </a:rPr>
                        <a:t>CVE-2025-54136</a:t>
                      </a:r>
                      <a:endParaRPr lang="en-US" sz="1400" dirty="0">
                        <a:latin typeface="Arial" charset="0"/>
                        <a:ea typeface="Arial" charset="0"/>
                        <a:cs typeface="Arial" charset="0"/>
                      </a:endParaRPr>
                    </a:p>
                  </a:txBody>
                  <a:tcPr marL="54864" marR="54864"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0F5FA"/>
                    </a:solidFill>
                  </a:tcPr>
                </a:tc>
                <a:tc>
                  <a:txBody>
                    <a:bodyPr/>
                    <a:lstStyle/>
                    <a:p>
                      <a:pPr algn="ctr"/>
                      <a:r>
                        <a:rPr lang="en-US" sz="1400" dirty="0">
                          <a:solidFill>
                            <a:srgbClr val="EC5F74"/>
                          </a:solidFill>
                          <a:latin typeface="Arial" pitchFamily="34" charset="0"/>
                          <a:ea typeface="Arial" pitchFamily="34" charset="-122"/>
                          <a:cs typeface="Arial" pitchFamily="34" charset="-120"/>
                        </a:rPr>
                        <a:t>授权重确认缺失</a:t>
                      </a:r>
                      <a:endParaRPr lang="en-US" sz="1400" dirty="0">
                        <a:latin typeface="Arial" charset="0"/>
                        <a:ea typeface="Arial" charset="0"/>
                        <a:cs typeface="Arial" charset="0"/>
                      </a:endParaRPr>
                    </a:p>
                  </a:txBody>
                  <a:tcPr marL="54864" marR="54864"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0F5FA"/>
                    </a:solidFill>
                  </a:tcPr>
                </a:tc>
              </a:tr>
            </a:tbl>
          </a:graphicData>
        </a:graphic>
      </p:graphicFrame>
      <p:sp>
        <p:nvSpPr>
          <p:cNvPr id="17" name="Shape 13"/>
          <p:cNvSpPr/>
          <p:nvPr/>
        </p:nvSpPr>
        <p:spPr>
          <a:xfrm>
            <a:off x="8382000" y="2222500"/>
            <a:ext cx="7366000" cy="1651000"/>
          </a:xfrm>
          <a:prstGeom prst="roundRect">
            <a:avLst>
              <a:gd name="adj" fmla="val 5000"/>
            </a:avLst>
          </a:prstGeom>
          <a:solidFill>
            <a:srgbClr val="FFF3E0"/>
          </a:solidFill>
          <a:ln/>
        </p:spPr>
      </p:sp>
      <p:sp>
        <p:nvSpPr>
          <p:cNvPr id="18" name="Shape 14"/>
          <p:cNvSpPr/>
          <p:nvPr/>
        </p:nvSpPr>
        <p:spPr>
          <a:xfrm>
            <a:off x="8636000" y="2603500"/>
            <a:ext cx="508000" cy="508000"/>
          </a:xfrm>
          <a:custGeom>
            <a:avLst/>
            <a:gdLst/>
            <a:ahLst/>
            <a:cxnLst/>
            <a:rect l="l" t="t" r="r" b="b"/>
            <a:pathLst>
              <a:path w="508000" h="508000">
                <a:moveTo>
                  <a:pt x="254000" y="0"/>
                </a:moveTo>
                <a:cubicBezTo>
                  <a:pt x="268585" y="0"/>
                  <a:pt x="281980" y="8037"/>
                  <a:pt x="288925" y="20836"/>
                </a:cubicBezTo>
                <a:lnTo>
                  <a:pt x="503238" y="417711"/>
                </a:lnTo>
                <a:cubicBezTo>
                  <a:pt x="509885" y="430014"/>
                  <a:pt x="509588" y="444897"/>
                  <a:pt x="502444" y="456902"/>
                </a:cubicBezTo>
                <a:cubicBezTo>
                  <a:pt x="495300" y="468908"/>
                  <a:pt x="482302" y="476250"/>
                  <a:pt x="468313" y="476250"/>
                </a:cubicBezTo>
                <a:lnTo>
                  <a:pt x="39688" y="476250"/>
                </a:lnTo>
                <a:cubicBezTo>
                  <a:pt x="25698" y="476250"/>
                  <a:pt x="12799" y="468908"/>
                  <a:pt x="5556" y="456902"/>
                </a:cubicBezTo>
                <a:cubicBezTo>
                  <a:pt x="-1687" y="444897"/>
                  <a:pt x="-1885" y="430014"/>
                  <a:pt x="4763" y="417711"/>
                </a:cubicBezTo>
                <a:lnTo>
                  <a:pt x="219075" y="20836"/>
                </a:lnTo>
                <a:cubicBezTo>
                  <a:pt x="226020" y="8037"/>
                  <a:pt x="239415" y="0"/>
                  <a:pt x="254000" y="0"/>
                </a:cubicBezTo>
                <a:close/>
                <a:moveTo>
                  <a:pt x="254000" y="166688"/>
                </a:moveTo>
                <a:cubicBezTo>
                  <a:pt x="240804" y="166688"/>
                  <a:pt x="230188" y="177304"/>
                  <a:pt x="230188" y="190500"/>
                </a:cubicBezTo>
                <a:lnTo>
                  <a:pt x="230188" y="301625"/>
                </a:lnTo>
                <a:cubicBezTo>
                  <a:pt x="230188" y="314821"/>
                  <a:pt x="240804" y="325438"/>
                  <a:pt x="254000" y="325438"/>
                </a:cubicBezTo>
                <a:cubicBezTo>
                  <a:pt x="267196" y="325438"/>
                  <a:pt x="277813" y="314821"/>
                  <a:pt x="277813" y="301625"/>
                </a:cubicBezTo>
                <a:lnTo>
                  <a:pt x="277813" y="190500"/>
                </a:lnTo>
                <a:cubicBezTo>
                  <a:pt x="277813" y="177304"/>
                  <a:pt x="267196" y="166688"/>
                  <a:pt x="254000" y="166688"/>
                </a:cubicBezTo>
                <a:close/>
                <a:moveTo>
                  <a:pt x="280491" y="381000"/>
                </a:moveTo>
                <a:cubicBezTo>
                  <a:pt x="281094" y="371167"/>
                  <a:pt x="276190" y="361811"/>
                  <a:pt x="267761" y="356712"/>
                </a:cubicBezTo>
                <a:cubicBezTo>
                  <a:pt x="259331" y="351613"/>
                  <a:pt x="248768" y="351613"/>
                  <a:pt x="240339" y="356712"/>
                </a:cubicBezTo>
                <a:cubicBezTo>
                  <a:pt x="231909" y="361811"/>
                  <a:pt x="227005" y="371167"/>
                  <a:pt x="227608" y="381000"/>
                </a:cubicBezTo>
                <a:cubicBezTo>
                  <a:pt x="227005" y="390833"/>
                  <a:pt x="231909" y="400189"/>
                  <a:pt x="240339" y="405288"/>
                </a:cubicBezTo>
                <a:cubicBezTo>
                  <a:pt x="248768" y="410387"/>
                  <a:pt x="259331" y="410387"/>
                  <a:pt x="267761" y="405288"/>
                </a:cubicBezTo>
                <a:cubicBezTo>
                  <a:pt x="276190" y="400189"/>
                  <a:pt x="281094" y="390833"/>
                  <a:pt x="280491" y="381000"/>
                </a:cubicBezTo>
                <a:close/>
              </a:path>
            </a:pathLst>
          </a:custGeom>
          <a:solidFill>
            <a:srgbClr val="FF9800"/>
          </a:solidFill>
          <a:ln/>
        </p:spPr>
      </p:sp>
      <p:sp>
        <p:nvSpPr>
          <p:cNvPr id="19" name="Text 15"/>
          <p:cNvSpPr/>
          <p:nvPr/>
        </p:nvSpPr>
        <p:spPr>
          <a:xfrm>
            <a:off x="9271000" y="2476500"/>
            <a:ext cx="6223000" cy="1143000"/>
          </a:xfrm>
          <a:prstGeom prst="rect">
            <a:avLst/>
          </a:prstGeom>
          <a:noFill/>
          <a:ln/>
        </p:spPr>
        <p:txBody>
          <a:bodyPr wrap="square" lIns="0" tIns="0" rIns="0" bIns="0" rtlCol="0" anchor="ctr"/>
          <a:lstStyle/>
          <a:p>
            <a:pPr algn="l">
              <a:lnSpc>
                <a:spcPct val="160000"/>
              </a:lnSpc>
            </a:pPr>
            <a:r>
              <a:rPr lang="en-US" sz="1800" b="1" dirty="0">
                <a:solidFill>
                  <a:srgbClr val="333333"/>
                </a:solidFill>
                <a:latin typeface="Arial" pitchFamily="34" charset="0"/>
                <a:ea typeface="Arial" pitchFamily="34" charset="-122"/>
                <a:cs typeface="Arial" pitchFamily="34" charset="-120"/>
              </a:rPr>
              <a:t>核心发现：</a:t>
            </a:r>
            <a:pPr algn="l">
              <a:lnSpc>
                <a:spcPct val="160000"/>
              </a:lnSpc>
            </a:pPr>
            <a:r>
              <a:rPr lang="en-US" sz="1800" dirty="0">
                <a:solidFill>
                  <a:srgbClr val="333333"/>
                </a:solidFill>
                <a:latin typeface="Arial" pitchFamily="34" charset="0"/>
                <a:ea typeface="Arial" pitchFamily="34" charset="-122"/>
                <a:cs typeface="Arial" pitchFamily="34" charset="-120"/>
              </a:rPr>
              <a:t>Agent 应用漏洞普遍</a:t>
            </a:r>
            <a:pPr algn="l">
              <a:lnSpc>
                <a:spcPct val="160000"/>
              </a:lnSpc>
            </a:pPr>
            <a:r>
              <a:rPr lang="en-US" sz="1800" b="1" dirty="0">
                <a:solidFill>
                  <a:srgbClr val="333333"/>
                </a:solidFill>
                <a:latin typeface="Arial" pitchFamily="34" charset="0"/>
                <a:ea typeface="Arial" pitchFamily="34" charset="-122"/>
                <a:cs typeface="Arial" pitchFamily="34" charset="-120"/>
              </a:rPr>
              <a:t>高危</a:t>
            </a:r>
            <a:pPr algn="l">
              <a:lnSpc>
                <a:spcPct val="160000"/>
              </a:lnSpc>
            </a:pPr>
            <a:r>
              <a:rPr lang="en-US" sz="1800" dirty="0">
                <a:solidFill>
                  <a:srgbClr val="333333"/>
                </a:solidFill>
                <a:latin typeface="Arial" pitchFamily="34" charset="0"/>
                <a:ea typeface="Arial" pitchFamily="34" charset="-122"/>
                <a:cs typeface="Arial" pitchFamily="34" charset="-120"/>
              </a:rPr>
              <a:t>，授权相关安全问题占比突出，现有授权机制难以应对</a:t>
            </a:r>
            <a:endParaRPr lang="en-US" sz="1800" dirty="0"/>
          </a:p>
        </p:txBody>
      </p:sp>
      <p:sp>
        <p:nvSpPr>
          <p:cNvPr id="20" name="Text 16"/>
          <p:cNvSpPr/>
          <p:nvPr/>
        </p:nvSpPr>
        <p:spPr>
          <a:xfrm>
            <a:off x="8382000" y="4038600"/>
            <a:ext cx="3810000" cy="355600"/>
          </a:xfrm>
          <a:prstGeom prst="rect">
            <a:avLst/>
          </a:prstGeom>
          <a:noFill/>
          <a:ln/>
        </p:spPr>
        <p:txBody>
          <a:bodyPr wrap="none" lIns="0" tIns="0" rIns="0" bIns="0" rtlCol="0" anchor="ctr"/>
          <a:lstStyle/>
          <a:p>
            <a:pPr algn="l">
              <a:lnSpc>
                <a:spcPct val="120000"/>
              </a:lnSpc>
            </a:pPr>
            <a:r>
              <a:rPr lang="en-US" sz="1700" b="1" dirty="0">
                <a:solidFill>
                  <a:srgbClr val="0077BB"/>
                </a:solidFill>
                <a:latin typeface="Arial" pitchFamily="34" charset="0"/>
                <a:ea typeface="Arial" pitchFamily="34" charset="-122"/>
                <a:cs typeface="Arial" pitchFamily="34" charset="-120"/>
              </a:rPr>
              <a:t>漏洞严重程度分布</a:t>
            </a:r>
            <a:endParaRPr lang="en-US" sz="1700" dirty="0"/>
          </a:p>
        </p:txBody>
      </p:sp>
      <p:graphicFrame>
        <p:nvGraphicFramePr>
          <p:cNvPr id="21" name="Chart 0" descr=""/>
          <p:cNvGraphicFramePr/>
          <p:nvPr/>
        </p:nvGraphicFramePr>
        <p:xfrm>
          <a:off x="8382000" y="4508500"/>
          <a:ext cx="7366000" cy="3810000"/>
        </p:xfrm>
        <a:graphic xmlns:a="http://schemas.openxmlformats.org/drawingml/2006/main">
          <a:graphicData uri="http://schemas.openxmlformats.org/drawingml/2006/chart">
            <c:chart xmlns:c="http://schemas.openxmlformats.org/drawingml/2006/chart" r:id="rId2"/>
          </a:graphicData>
        </a:graphic>
      </p:graphicFrame>
      <p:sp>
        <p:nvSpPr>
          <p:cNvPr id="22" name="Text 17"/>
          <p:cNvSpPr/>
          <p:nvPr/>
        </p:nvSpPr>
        <p:spPr>
          <a:xfrm>
            <a:off x="15240000" y="8636000"/>
            <a:ext cx="635000" cy="381000"/>
          </a:xfrm>
          <a:prstGeom prst="rect">
            <a:avLst/>
          </a:prstGeom>
          <a:noFill/>
          <a:ln/>
        </p:spPr>
        <p:txBody>
          <a:bodyPr wrap="none" lIns="0" tIns="0" rIns="0" bIns="0" rtlCol="0" anchor="ctr"/>
          <a:lstStyle/>
          <a:p>
            <a:pPr algn="r">
              <a:lnSpc>
                <a:spcPct val="120000"/>
              </a:lnSpc>
            </a:pPr>
            <a:r>
              <a:rPr lang="en-US" sz="1800" dirty="0">
                <a:solidFill>
                  <a:srgbClr val="666666"/>
                </a:solidFill>
                <a:latin typeface="Arial" pitchFamily="34" charset="0"/>
                <a:ea typeface="Arial" pitchFamily="34" charset="-122"/>
                <a:cs typeface="Arial" pitchFamily="34" charset="-120"/>
              </a:rPr>
              <a:t>4</a:t>
            </a:r>
            <a:endParaRPr lang="en-US" sz="1800" dirty="0"/>
          </a:p>
        </p:txBody>
      </p:sp>
    </p:spTree>
  </p:cSld>
  <p:clrMapOvr>
    <a:masterClrMapping/>
  </p:clrMapOvr>
  <p:transition>
    <p:fade/>
    <p:spd val="med"/>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168900" y="0"/>
            <a:ext cx="2590800" cy="965200"/>
          </a:xfrm>
          <a:prstGeom prst="rect">
            <a:avLst/>
          </a:prstGeom>
          <a:solidFill>
            <a:srgbClr val="F2F2F2"/>
          </a:solidFill>
          <a:ln/>
        </p:spPr>
      </p:sp>
      <p:sp>
        <p:nvSpPr>
          <p:cNvPr id="3" name="Shape 1"/>
          <p:cNvSpPr/>
          <p:nvPr/>
        </p:nvSpPr>
        <p:spPr>
          <a:xfrm>
            <a:off x="7810500" y="0"/>
            <a:ext cx="4152900" cy="965200"/>
          </a:xfrm>
          <a:prstGeom prst="rect">
            <a:avLst/>
          </a:prstGeom>
          <a:solidFill>
            <a:srgbClr val="F2F2F2"/>
          </a:solidFill>
          <a:ln/>
        </p:spPr>
      </p:sp>
      <p:sp>
        <p:nvSpPr>
          <p:cNvPr id="4" name="Shape 2"/>
          <p:cNvSpPr/>
          <p:nvPr/>
        </p:nvSpPr>
        <p:spPr>
          <a:xfrm>
            <a:off x="11976100" y="0"/>
            <a:ext cx="4279900" cy="965200"/>
          </a:xfrm>
          <a:prstGeom prst="rect">
            <a:avLst/>
          </a:prstGeom>
          <a:solidFill>
            <a:srgbClr val="F2F2F2"/>
          </a:solidFill>
          <a:ln/>
        </p:spPr>
      </p:sp>
      <p:sp>
        <p:nvSpPr>
          <p:cNvPr id="5" name="Shape 3"/>
          <p:cNvSpPr/>
          <p:nvPr/>
        </p:nvSpPr>
        <p:spPr>
          <a:xfrm>
            <a:off x="2222500" y="0"/>
            <a:ext cx="2895600" cy="965200"/>
          </a:xfrm>
          <a:prstGeom prst="rect">
            <a:avLst/>
          </a:prstGeom>
          <a:solidFill>
            <a:srgbClr val="04579A"/>
          </a:solidFill>
          <a:ln/>
        </p:spPr>
      </p:sp>
      <p:sp>
        <p:nvSpPr>
          <p:cNvPr id="6" name="Text 4"/>
          <p:cNvSpPr/>
          <p:nvPr/>
        </p:nvSpPr>
        <p:spPr>
          <a:xfrm>
            <a:off x="2286000" y="254000"/>
            <a:ext cx="2794000" cy="457200"/>
          </a:xfrm>
          <a:prstGeom prst="rect">
            <a:avLst/>
          </a:prstGeom>
          <a:noFill/>
          <a:ln/>
        </p:spPr>
        <p:txBody>
          <a:bodyPr wrap="none" lIns="0" tIns="0" rIns="0" bIns="0" rtlCol="0" anchor="ctr"/>
          <a:lstStyle/>
          <a:p>
            <a:pPr algn="ctr">
              <a:lnSpc>
                <a:spcPct val="120000"/>
              </a:lnSpc>
            </a:pPr>
            <a:r>
              <a:rPr lang="en-US" sz="2000" dirty="0">
                <a:solidFill>
                  <a:srgbClr val="FFFFFF"/>
                </a:solidFill>
                <a:latin typeface="Arial" pitchFamily="34" charset="0"/>
                <a:ea typeface="Arial" pitchFamily="34" charset="-122"/>
                <a:cs typeface="Arial" pitchFamily="34" charset="-120"/>
              </a:rPr>
              <a:t>选题背景及意义</a:t>
            </a:r>
            <a:endParaRPr lang="en-US" sz="2000" dirty="0"/>
          </a:p>
        </p:txBody>
      </p:sp>
      <p:sp>
        <p:nvSpPr>
          <p:cNvPr id="7" name="Text 5"/>
          <p:cNvSpPr/>
          <p:nvPr/>
        </p:nvSpPr>
        <p:spPr>
          <a:xfrm>
            <a:off x="5168900" y="254000"/>
            <a:ext cx="2590800" cy="4572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国内外研究现状</a:t>
            </a:r>
            <a:endParaRPr lang="en-US" sz="2000" dirty="0"/>
          </a:p>
        </p:txBody>
      </p:sp>
      <p:sp>
        <p:nvSpPr>
          <p:cNvPr id="8" name="Text 6"/>
          <p:cNvSpPr/>
          <p:nvPr/>
        </p:nvSpPr>
        <p:spPr>
          <a:xfrm>
            <a:off x="7810500" y="254000"/>
            <a:ext cx="4114800" cy="4572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主要研究内容及预期目标</a:t>
            </a:r>
            <a:endParaRPr lang="en-US" sz="2000" dirty="0"/>
          </a:p>
        </p:txBody>
      </p:sp>
      <p:sp>
        <p:nvSpPr>
          <p:cNvPr id="9" name="Text 7"/>
          <p:cNvSpPr/>
          <p:nvPr/>
        </p:nvSpPr>
        <p:spPr>
          <a:xfrm>
            <a:off x="11976100" y="254000"/>
            <a:ext cx="4279900" cy="4572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工作计划与进度安排</a:t>
            </a:r>
            <a:endParaRPr lang="en-US" sz="2000" dirty="0"/>
          </a:p>
        </p:txBody>
      </p:sp>
      <p:sp>
        <p:nvSpPr>
          <p:cNvPr id="10" name="Shape 8"/>
          <p:cNvSpPr/>
          <p:nvPr/>
        </p:nvSpPr>
        <p:spPr>
          <a:xfrm rot="10800000">
            <a:off x="3492500" y="965200"/>
            <a:ext cx="393700" cy="304800"/>
          </a:xfrm>
          <a:prstGeom prst="triangle">
            <a:avLst>
              <a:gd name="adj" fmla="val 50000"/>
            </a:avLst>
          </a:prstGeom>
          <a:solidFill>
            <a:srgbClr val="04579A"/>
          </a:solidFill>
          <a:ln/>
        </p:spPr>
      </p:sp>
      <p:pic>
        <p:nvPicPr>
          <p:cNvPr id="11" name="Image 0" descr="https://kimi-img.moonshot.cn/pub/slides/okc/flfuysioo4gzm/mnt/agents/output/yuan_pptd/images/image_2.jpg">    </p:cNvPr>
          <p:cNvPicPr>
            <a:picLocks noChangeAspect="1"/>
          </p:cNvPicPr>
          <p:nvPr/>
        </p:nvPicPr>
        <p:blipFill>
          <a:blip r:embed="rId1"/>
          <a:srcRect l="5060" r="29000" t="0" b="0"/>
          <a:stretch/>
        </p:blipFill>
        <p:spPr>
          <a:xfrm>
            <a:off x="546100" y="139700"/>
            <a:ext cx="1270000" cy="749300"/>
          </a:xfrm>
          <a:prstGeom prst="rect">
            <a:avLst/>
          </a:prstGeom>
        </p:spPr>
      </p:pic>
      <p:sp>
        <p:nvSpPr>
          <p:cNvPr id="12" name="Text 9"/>
          <p:cNvSpPr/>
          <p:nvPr/>
        </p:nvSpPr>
        <p:spPr>
          <a:xfrm>
            <a:off x="762000" y="1460500"/>
            <a:ext cx="8890000" cy="571500"/>
          </a:xfrm>
          <a:prstGeom prst="rect">
            <a:avLst/>
          </a:prstGeom>
          <a:noFill/>
          <a:ln/>
        </p:spPr>
        <p:txBody>
          <a:bodyPr wrap="none" lIns="0" tIns="0" rIns="0" bIns="0" rtlCol="0" anchor="ctr"/>
          <a:lstStyle/>
          <a:p>
            <a:pPr algn="l">
              <a:lnSpc>
                <a:spcPct val="120000"/>
              </a:lnSpc>
            </a:pPr>
            <a:r>
              <a:rPr lang="en-US" sz="3000" b="1" dirty="0">
                <a:solidFill>
                  <a:srgbClr val="005C8F"/>
                </a:solidFill>
                <a:latin typeface="Arial" pitchFamily="34" charset="0"/>
                <a:ea typeface="Arial" pitchFamily="34" charset="-122"/>
                <a:cs typeface="Arial" pitchFamily="34" charset="-120"/>
              </a:rPr>
              <a:t>当前智能体授权方式</a:t>
            </a:r>
            <a:endParaRPr lang="en-US" sz="3000" dirty="0"/>
          </a:p>
        </p:txBody>
      </p:sp>
      <p:sp>
        <p:nvSpPr>
          <p:cNvPr id="13" name="Text 10"/>
          <p:cNvSpPr/>
          <p:nvPr/>
        </p:nvSpPr>
        <p:spPr>
          <a:xfrm>
            <a:off x="762000" y="2222500"/>
            <a:ext cx="6858000" cy="889000"/>
          </a:xfrm>
          <a:prstGeom prst="rect">
            <a:avLst/>
          </a:prstGeom>
          <a:noFill/>
          <a:ln/>
        </p:spPr>
        <p:txBody>
          <a:bodyPr wrap="square" lIns="0" tIns="0" rIns="0" bIns="0" rtlCol="0" anchor="t"/>
          <a:lstStyle/>
          <a:p>
            <a:pPr algn="l">
              <a:lnSpc>
                <a:spcPct val="160000"/>
              </a:lnSpc>
            </a:pPr>
            <a:r>
              <a:rPr lang="en-US" sz="1800" dirty="0">
                <a:solidFill>
                  <a:srgbClr val="333333"/>
                </a:solidFill>
                <a:latin typeface="Arial" pitchFamily="34" charset="0"/>
                <a:ea typeface="Arial" pitchFamily="34" charset="-122"/>
                <a:cs typeface="Arial" pitchFamily="34" charset="-120"/>
              </a:rPr>
              <a:t>目前智能体访问外部资源或服务时，普遍采用以下两种方式：</a:t>
            </a:r>
            <a:endParaRPr lang="en-US" sz="1800" dirty="0"/>
          </a:p>
        </p:txBody>
      </p:sp>
      <p:sp>
        <p:nvSpPr>
          <p:cNvPr id="14" name="Shape 11"/>
          <p:cNvSpPr/>
          <p:nvPr/>
        </p:nvSpPr>
        <p:spPr>
          <a:xfrm>
            <a:off x="762000" y="3276600"/>
            <a:ext cx="6858000" cy="1651000"/>
          </a:xfrm>
          <a:prstGeom prst="roundRect">
            <a:avLst>
              <a:gd name="adj" fmla="val 6000"/>
            </a:avLst>
          </a:prstGeom>
          <a:solidFill>
            <a:srgbClr val="E6F0F7"/>
          </a:solidFill>
          <a:ln/>
        </p:spPr>
      </p:sp>
      <p:sp>
        <p:nvSpPr>
          <p:cNvPr id="15" name="Shape 12"/>
          <p:cNvSpPr/>
          <p:nvPr/>
        </p:nvSpPr>
        <p:spPr>
          <a:xfrm>
            <a:off x="1016000" y="3492500"/>
            <a:ext cx="457200" cy="457200"/>
          </a:xfrm>
          <a:custGeom>
            <a:avLst/>
            <a:gdLst/>
            <a:ahLst/>
            <a:cxnLst/>
            <a:rect l="l" t="t" r="r" b="b"/>
            <a:pathLst>
              <a:path w="457200" h="457200">
                <a:moveTo>
                  <a:pt x="300038" y="314325"/>
                </a:moveTo>
                <a:cubicBezTo>
                  <a:pt x="386834" y="314325"/>
                  <a:pt x="457200" y="243959"/>
                  <a:pt x="457200" y="157163"/>
                </a:cubicBezTo>
                <a:cubicBezTo>
                  <a:pt x="457200" y="70366"/>
                  <a:pt x="386834" y="0"/>
                  <a:pt x="300038" y="0"/>
                </a:cubicBezTo>
                <a:cubicBezTo>
                  <a:pt x="213241" y="0"/>
                  <a:pt x="142875" y="70366"/>
                  <a:pt x="142875" y="157163"/>
                </a:cubicBezTo>
                <a:cubicBezTo>
                  <a:pt x="142875" y="173861"/>
                  <a:pt x="145465" y="190024"/>
                  <a:pt x="150287" y="205115"/>
                </a:cubicBezTo>
                <a:lnTo>
                  <a:pt x="6251" y="349151"/>
                </a:lnTo>
                <a:cubicBezTo>
                  <a:pt x="2232" y="353169"/>
                  <a:pt x="0" y="358616"/>
                  <a:pt x="0" y="364331"/>
                </a:cubicBezTo>
                <a:lnTo>
                  <a:pt x="0" y="435769"/>
                </a:lnTo>
                <a:cubicBezTo>
                  <a:pt x="0" y="447645"/>
                  <a:pt x="9555" y="457200"/>
                  <a:pt x="21431" y="457200"/>
                </a:cubicBezTo>
                <a:lnTo>
                  <a:pt x="92869" y="457200"/>
                </a:lnTo>
                <a:cubicBezTo>
                  <a:pt x="104745" y="457200"/>
                  <a:pt x="114300" y="447645"/>
                  <a:pt x="114300" y="435769"/>
                </a:cubicBezTo>
                <a:lnTo>
                  <a:pt x="114300" y="400050"/>
                </a:lnTo>
                <a:lnTo>
                  <a:pt x="150019" y="400050"/>
                </a:lnTo>
                <a:cubicBezTo>
                  <a:pt x="161895" y="400050"/>
                  <a:pt x="171450" y="390495"/>
                  <a:pt x="171450" y="378619"/>
                </a:cubicBezTo>
                <a:lnTo>
                  <a:pt x="171450" y="342900"/>
                </a:lnTo>
                <a:lnTo>
                  <a:pt x="207169" y="342900"/>
                </a:lnTo>
                <a:cubicBezTo>
                  <a:pt x="212884" y="342900"/>
                  <a:pt x="218331" y="340668"/>
                  <a:pt x="222349" y="336649"/>
                </a:cubicBezTo>
                <a:lnTo>
                  <a:pt x="252085" y="306913"/>
                </a:lnTo>
                <a:cubicBezTo>
                  <a:pt x="267176" y="311735"/>
                  <a:pt x="283339" y="314325"/>
                  <a:pt x="300038" y="314325"/>
                </a:cubicBezTo>
                <a:close/>
                <a:moveTo>
                  <a:pt x="335756" y="85725"/>
                </a:moveTo>
                <a:cubicBezTo>
                  <a:pt x="355470" y="85725"/>
                  <a:pt x="371475" y="101730"/>
                  <a:pt x="371475" y="121444"/>
                </a:cubicBezTo>
                <a:cubicBezTo>
                  <a:pt x="371475" y="141157"/>
                  <a:pt x="355470" y="157163"/>
                  <a:pt x="335756" y="157163"/>
                </a:cubicBezTo>
                <a:cubicBezTo>
                  <a:pt x="316043" y="157163"/>
                  <a:pt x="300038" y="141157"/>
                  <a:pt x="300038" y="121444"/>
                </a:cubicBezTo>
                <a:cubicBezTo>
                  <a:pt x="300038" y="101730"/>
                  <a:pt x="316043" y="85725"/>
                  <a:pt x="335756" y="85725"/>
                </a:cubicBezTo>
                <a:close/>
              </a:path>
            </a:pathLst>
          </a:custGeom>
          <a:solidFill>
            <a:srgbClr val="005C8F"/>
          </a:solidFill>
          <a:ln/>
        </p:spPr>
      </p:sp>
      <p:sp>
        <p:nvSpPr>
          <p:cNvPr id="16" name="Text 13"/>
          <p:cNvSpPr/>
          <p:nvPr/>
        </p:nvSpPr>
        <p:spPr>
          <a:xfrm>
            <a:off x="1651000" y="3492500"/>
            <a:ext cx="3810000" cy="457200"/>
          </a:xfrm>
          <a:prstGeom prst="rect">
            <a:avLst/>
          </a:prstGeom>
          <a:noFill/>
          <a:ln/>
        </p:spPr>
        <p:txBody>
          <a:bodyPr wrap="none" lIns="0" tIns="0" rIns="0" bIns="0" rtlCol="0" anchor="ctr"/>
          <a:lstStyle/>
          <a:p>
            <a:pPr algn="l">
              <a:lnSpc>
                <a:spcPct val="120000"/>
              </a:lnSpc>
            </a:pPr>
            <a:r>
              <a:rPr lang="en-US" sz="2200" b="1" dirty="0">
                <a:solidFill>
                  <a:srgbClr val="005C8F"/>
                </a:solidFill>
                <a:latin typeface="Arial" pitchFamily="34" charset="0"/>
                <a:ea typeface="Arial" pitchFamily="34" charset="-122"/>
                <a:cs typeface="Arial" pitchFamily="34" charset="-120"/>
              </a:rPr>
              <a:t>API Key 模式</a:t>
            </a:r>
            <a:endParaRPr lang="en-US" sz="2200" dirty="0"/>
          </a:p>
        </p:txBody>
      </p:sp>
      <p:sp>
        <p:nvSpPr>
          <p:cNvPr id="17" name="Text 14"/>
          <p:cNvSpPr/>
          <p:nvPr/>
        </p:nvSpPr>
        <p:spPr>
          <a:xfrm>
            <a:off x="1016000" y="4064000"/>
            <a:ext cx="6350000" cy="762000"/>
          </a:xfrm>
          <a:prstGeom prst="rect">
            <a:avLst/>
          </a:prstGeom>
          <a:noFill/>
          <a:ln/>
        </p:spPr>
        <p:txBody>
          <a:bodyPr wrap="square" lIns="0" tIns="0" rIns="0" bIns="0" rtlCol="0" anchor="t"/>
          <a:lstStyle/>
          <a:p>
            <a:pPr algn="l">
              <a:lnSpc>
                <a:spcPct val="150000"/>
              </a:lnSpc>
            </a:pPr>
            <a:r>
              <a:rPr lang="en-US" sz="1400" dirty="0">
                <a:solidFill>
                  <a:srgbClr val="333333"/>
                </a:solidFill>
                <a:latin typeface="Arial" pitchFamily="34" charset="0"/>
                <a:ea typeface="Arial" pitchFamily="34" charset="-122"/>
                <a:cs typeface="Arial" pitchFamily="34" charset="-120"/>
              </a:rPr>
              <a:t>简单的静态密钥模式，缺乏精细化权限控制。密钥一旦泄露，攻击者可获得全部API访问权限，安全风险极高。</a:t>
            </a:r>
            <a:endParaRPr lang="en-US" sz="1400" dirty="0"/>
          </a:p>
        </p:txBody>
      </p:sp>
      <p:sp>
        <p:nvSpPr>
          <p:cNvPr id="18" name="Shape 15"/>
          <p:cNvSpPr/>
          <p:nvPr/>
        </p:nvSpPr>
        <p:spPr>
          <a:xfrm>
            <a:off x="762000" y="5143500"/>
            <a:ext cx="6858000" cy="1651000"/>
          </a:xfrm>
          <a:prstGeom prst="roundRect">
            <a:avLst>
              <a:gd name="adj" fmla="val 6000"/>
            </a:avLst>
          </a:prstGeom>
          <a:solidFill>
            <a:srgbClr val="E6F0F7"/>
          </a:solidFill>
          <a:ln/>
        </p:spPr>
      </p:sp>
      <p:sp>
        <p:nvSpPr>
          <p:cNvPr id="19" name="Shape 16"/>
          <p:cNvSpPr/>
          <p:nvPr/>
        </p:nvSpPr>
        <p:spPr>
          <a:xfrm>
            <a:off x="1016000" y="5359400"/>
            <a:ext cx="457200" cy="457200"/>
          </a:xfrm>
          <a:custGeom>
            <a:avLst/>
            <a:gdLst/>
            <a:ahLst/>
            <a:cxnLst/>
            <a:rect l="l" t="t" r="r" b="b"/>
            <a:pathLst>
              <a:path w="457200" h="457200">
                <a:moveTo>
                  <a:pt x="152400" y="85725"/>
                </a:moveTo>
                <a:lnTo>
                  <a:pt x="152400" y="142875"/>
                </a:lnTo>
                <a:lnTo>
                  <a:pt x="304800" y="142875"/>
                </a:lnTo>
                <a:lnTo>
                  <a:pt x="304800" y="85725"/>
                </a:lnTo>
                <a:cubicBezTo>
                  <a:pt x="304800" y="54203"/>
                  <a:pt x="270629" y="28575"/>
                  <a:pt x="228600" y="28575"/>
                </a:cubicBezTo>
                <a:cubicBezTo>
                  <a:pt x="186571" y="28575"/>
                  <a:pt x="152400" y="54203"/>
                  <a:pt x="152400" y="85725"/>
                </a:cubicBezTo>
                <a:close/>
                <a:moveTo>
                  <a:pt x="76200" y="142875"/>
                </a:moveTo>
                <a:lnTo>
                  <a:pt x="76200" y="85725"/>
                </a:lnTo>
                <a:cubicBezTo>
                  <a:pt x="76200" y="22592"/>
                  <a:pt x="144423" y="-28575"/>
                  <a:pt x="228600" y="-28575"/>
                </a:cubicBezTo>
                <a:cubicBezTo>
                  <a:pt x="312777" y="-28575"/>
                  <a:pt x="381000" y="22592"/>
                  <a:pt x="381000" y="85725"/>
                </a:cubicBezTo>
                <a:lnTo>
                  <a:pt x="381000" y="142875"/>
                </a:lnTo>
                <a:cubicBezTo>
                  <a:pt x="423029" y="142875"/>
                  <a:pt x="457200" y="168503"/>
                  <a:pt x="457200" y="200025"/>
                </a:cubicBezTo>
                <a:lnTo>
                  <a:pt x="457200" y="400050"/>
                </a:lnTo>
                <a:cubicBezTo>
                  <a:pt x="457200" y="431572"/>
                  <a:pt x="423029" y="457200"/>
                  <a:pt x="381000" y="457200"/>
                </a:cubicBezTo>
                <a:lnTo>
                  <a:pt x="76200" y="457200"/>
                </a:lnTo>
                <a:cubicBezTo>
                  <a:pt x="34171" y="457200"/>
                  <a:pt x="0" y="431572"/>
                  <a:pt x="0" y="400050"/>
                </a:cubicBezTo>
                <a:lnTo>
                  <a:pt x="0" y="200025"/>
                </a:lnTo>
                <a:cubicBezTo>
                  <a:pt x="0" y="168503"/>
                  <a:pt x="34171" y="142875"/>
                  <a:pt x="76200" y="142875"/>
                </a:cubicBezTo>
                <a:close/>
              </a:path>
            </a:pathLst>
          </a:custGeom>
          <a:solidFill>
            <a:srgbClr val="005C8F"/>
          </a:solidFill>
          <a:ln/>
        </p:spPr>
      </p:sp>
      <p:sp>
        <p:nvSpPr>
          <p:cNvPr id="20" name="Text 17"/>
          <p:cNvSpPr/>
          <p:nvPr/>
        </p:nvSpPr>
        <p:spPr>
          <a:xfrm>
            <a:off x="1651000" y="5359400"/>
            <a:ext cx="3810000" cy="457200"/>
          </a:xfrm>
          <a:prstGeom prst="rect">
            <a:avLst/>
          </a:prstGeom>
          <a:noFill/>
          <a:ln/>
        </p:spPr>
        <p:txBody>
          <a:bodyPr wrap="none" lIns="0" tIns="0" rIns="0" bIns="0" rtlCol="0" anchor="ctr"/>
          <a:lstStyle/>
          <a:p>
            <a:pPr algn="l">
              <a:lnSpc>
                <a:spcPct val="120000"/>
              </a:lnSpc>
            </a:pPr>
            <a:r>
              <a:rPr lang="en-US" sz="2200" b="1" dirty="0">
                <a:solidFill>
                  <a:srgbClr val="005C8F"/>
                </a:solidFill>
                <a:latin typeface="Arial" pitchFamily="34" charset="0"/>
                <a:ea typeface="Arial" pitchFamily="34" charset="-122"/>
                <a:cs typeface="Arial" pitchFamily="34" charset="-120"/>
              </a:rPr>
              <a:t>传统 OAuth</a:t>
            </a:r>
            <a:endParaRPr lang="en-US" sz="2200" dirty="0"/>
          </a:p>
        </p:txBody>
      </p:sp>
      <p:sp>
        <p:nvSpPr>
          <p:cNvPr id="21" name="Text 18"/>
          <p:cNvSpPr/>
          <p:nvPr/>
        </p:nvSpPr>
        <p:spPr>
          <a:xfrm>
            <a:off x="1016000" y="5930900"/>
            <a:ext cx="6350000" cy="762000"/>
          </a:xfrm>
          <a:prstGeom prst="rect">
            <a:avLst/>
          </a:prstGeom>
          <a:noFill/>
          <a:ln/>
        </p:spPr>
        <p:txBody>
          <a:bodyPr wrap="square" lIns="0" tIns="0" rIns="0" bIns="0" rtlCol="0" anchor="t"/>
          <a:lstStyle/>
          <a:p>
            <a:pPr algn="l">
              <a:lnSpc>
                <a:spcPct val="150000"/>
              </a:lnSpc>
            </a:pPr>
            <a:r>
              <a:rPr lang="en-US" sz="1400" dirty="0">
                <a:solidFill>
                  <a:srgbClr val="333333"/>
                </a:solidFill>
                <a:latin typeface="Arial" pitchFamily="34" charset="0"/>
                <a:ea typeface="Arial" pitchFamily="34" charset="-122"/>
                <a:cs typeface="Arial" pitchFamily="34" charset="-120"/>
              </a:rPr>
              <a:t>基于用户同意的第三方授权框架，采用粗粒度的 Scope 机制。权限签发时固定，无法适应智能体动态权限需求。</a:t>
            </a:r>
            <a:endParaRPr lang="en-US" sz="1400" dirty="0"/>
          </a:p>
        </p:txBody>
      </p:sp>
      <p:sp>
        <p:nvSpPr>
          <p:cNvPr id="22" name="Shape 19"/>
          <p:cNvSpPr/>
          <p:nvPr/>
        </p:nvSpPr>
        <p:spPr>
          <a:xfrm>
            <a:off x="762000" y="7086600"/>
            <a:ext cx="6858000" cy="1079500"/>
          </a:xfrm>
          <a:prstGeom prst="roundRect">
            <a:avLst>
              <a:gd name="adj" fmla="val 5000"/>
            </a:avLst>
          </a:prstGeom>
          <a:solidFill>
            <a:srgbClr val="005C8F"/>
          </a:solidFill>
          <a:ln/>
        </p:spPr>
      </p:sp>
      <p:sp>
        <p:nvSpPr>
          <p:cNvPr id="23" name="Text 20"/>
          <p:cNvSpPr/>
          <p:nvPr/>
        </p:nvSpPr>
        <p:spPr>
          <a:xfrm>
            <a:off x="990600" y="7175500"/>
            <a:ext cx="6426200" cy="889000"/>
          </a:xfrm>
          <a:prstGeom prst="rect">
            <a:avLst/>
          </a:prstGeom>
          <a:noFill/>
          <a:ln/>
        </p:spPr>
        <p:txBody>
          <a:bodyPr wrap="square" lIns="0" tIns="0" rIns="0" bIns="0" rtlCol="0" anchor="ctr"/>
          <a:lstStyle/>
          <a:p>
            <a:pPr algn="l">
              <a:lnSpc>
                <a:spcPct val="160000"/>
              </a:lnSpc>
            </a:pPr>
            <a:r>
              <a:rPr lang="en-US" sz="1500" b="1" dirty="0">
                <a:solidFill>
                  <a:srgbClr val="FFFFFF"/>
                </a:solidFill>
                <a:latin typeface="Arial" pitchFamily="34" charset="0"/>
                <a:ea typeface="Arial" pitchFamily="34" charset="-122"/>
                <a:cs typeface="Arial" pitchFamily="34" charset="-120"/>
              </a:rPr>
              <a:t>核心矛盾：</a:t>
            </a:r>
            <a:pPr algn="l">
              <a:lnSpc>
                <a:spcPct val="160000"/>
              </a:lnSpc>
            </a:pPr>
            <a:r>
              <a:rPr lang="en-US" sz="1500" dirty="0">
                <a:solidFill>
                  <a:srgbClr val="FFFFFF"/>
                </a:solidFill>
                <a:latin typeface="Arial" pitchFamily="34" charset="0"/>
                <a:ea typeface="Arial" pitchFamily="34" charset="-122"/>
                <a:cs typeface="Arial" pitchFamily="34" charset="-120"/>
              </a:rPr>
              <a:t>两种模式均基于"人类用户 - 静态权限"假设设计，无法适配智能体作为自主行动主体的动态授权需求</a:t>
            </a:r>
            <a:endParaRPr lang="en-US" sz="1500" dirty="0"/>
          </a:p>
        </p:txBody>
      </p:sp>
      <p:sp>
        <p:nvSpPr>
          <p:cNvPr id="24" name="Text 21"/>
          <p:cNvSpPr/>
          <p:nvPr/>
        </p:nvSpPr>
        <p:spPr>
          <a:xfrm>
            <a:off x="8382000" y="2222500"/>
            <a:ext cx="3810000" cy="355600"/>
          </a:xfrm>
          <a:prstGeom prst="rect">
            <a:avLst/>
          </a:prstGeom>
          <a:noFill/>
          <a:ln/>
        </p:spPr>
        <p:txBody>
          <a:bodyPr wrap="none" lIns="0" tIns="0" rIns="0" bIns="0" rtlCol="0" anchor="ctr"/>
          <a:lstStyle/>
          <a:p>
            <a:pPr algn="l">
              <a:lnSpc>
                <a:spcPct val="120000"/>
              </a:lnSpc>
            </a:pPr>
            <a:r>
              <a:rPr lang="en-US" sz="1700" b="1" dirty="0">
                <a:solidFill>
                  <a:srgbClr val="0077BB"/>
                </a:solidFill>
                <a:latin typeface="Arial" pitchFamily="34" charset="0"/>
                <a:ea typeface="Arial" pitchFamily="34" charset="-122"/>
                <a:cs typeface="Arial" pitchFamily="34" charset="-120"/>
              </a:rPr>
              <a:t>传统 OAuth 授权流程</a:t>
            </a:r>
            <a:endParaRPr lang="en-US" sz="1700" dirty="0"/>
          </a:p>
        </p:txBody>
      </p:sp>
      <p:pic>
        <p:nvPicPr>
          <p:cNvPr id="25" name="Image 1" descr="https://kimi-img.moonshot.cn/pub/slides/okc/flfuysioo4gzm/mnt/agents/output/yuan_pptd/images/image_8.png">    </p:cNvPr>
          <p:cNvPicPr>
            <a:picLocks noChangeAspect="1"/>
          </p:cNvPicPr>
          <p:nvPr/>
        </p:nvPicPr>
        <p:blipFill>
          <a:blip r:embed="rId2"/>
          <a:srcRect l="0" r="0" t="0" b="0"/>
          <a:stretch/>
        </p:blipFill>
        <p:spPr>
          <a:xfrm>
            <a:off x="8382000" y="2730500"/>
            <a:ext cx="7366000" cy="5461000"/>
          </a:xfrm>
          <a:prstGeom prst="rect">
            <a:avLst/>
          </a:prstGeom>
        </p:spPr>
      </p:pic>
      <p:sp>
        <p:nvSpPr>
          <p:cNvPr id="26" name="Text 22"/>
          <p:cNvSpPr/>
          <p:nvPr/>
        </p:nvSpPr>
        <p:spPr>
          <a:xfrm>
            <a:off x="15240000" y="8636000"/>
            <a:ext cx="635000" cy="381000"/>
          </a:xfrm>
          <a:prstGeom prst="rect">
            <a:avLst/>
          </a:prstGeom>
          <a:noFill/>
          <a:ln/>
        </p:spPr>
        <p:txBody>
          <a:bodyPr wrap="none" lIns="0" tIns="0" rIns="0" bIns="0" rtlCol="0" anchor="ctr"/>
          <a:lstStyle/>
          <a:p>
            <a:pPr algn="r">
              <a:lnSpc>
                <a:spcPct val="120000"/>
              </a:lnSpc>
            </a:pPr>
            <a:r>
              <a:rPr lang="en-US" sz="1800" dirty="0">
                <a:solidFill>
                  <a:srgbClr val="666666"/>
                </a:solidFill>
                <a:latin typeface="Arial" pitchFamily="34" charset="0"/>
                <a:ea typeface="Arial" pitchFamily="34" charset="-122"/>
                <a:cs typeface="Arial" pitchFamily="34" charset="-120"/>
              </a:rPr>
              <a:t>5</a:t>
            </a:r>
            <a:endParaRPr lang="en-US" sz="1800" dirty="0"/>
          </a:p>
        </p:txBody>
      </p:sp>
    </p:spTree>
  </p:cSld>
  <p:clrMapOvr>
    <a:masterClrMapping/>
  </p:clrMapOvr>
  <p:transition>
    <p:fade/>
    <p:spd val="med"/>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168900" y="0"/>
            <a:ext cx="2590800" cy="965200"/>
          </a:xfrm>
          <a:prstGeom prst="rect">
            <a:avLst/>
          </a:prstGeom>
          <a:solidFill>
            <a:srgbClr val="F2F2F2"/>
          </a:solidFill>
          <a:ln/>
        </p:spPr>
      </p:sp>
      <p:sp>
        <p:nvSpPr>
          <p:cNvPr id="3" name="Shape 1"/>
          <p:cNvSpPr/>
          <p:nvPr/>
        </p:nvSpPr>
        <p:spPr>
          <a:xfrm>
            <a:off x="7810500" y="0"/>
            <a:ext cx="4152900" cy="965200"/>
          </a:xfrm>
          <a:prstGeom prst="rect">
            <a:avLst/>
          </a:prstGeom>
          <a:solidFill>
            <a:srgbClr val="F2F2F2"/>
          </a:solidFill>
          <a:ln/>
        </p:spPr>
      </p:sp>
      <p:sp>
        <p:nvSpPr>
          <p:cNvPr id="4" name="Shape 2"/>
          <p:cNvSpPr/>
          <p:nvPr/>
        </p:nvSpPr>
        <p:spPr>
          <a:xfrm>
            <a:off x="11976100" y="0"/>
            <a:ext cx="4279900" cy="965200"/>
          </a:xfrm>
          <a:prstGeom prst="rect">
            <a:avLst/>
          </a:prstGeom>
          <a:solidFill>
            <a:srgbClr val="F2F2F2"/>
          </a:solidFill>
          <a:ln/>
        </p:spPr>
      </p:sp>
      <p:sp>
        <p:nvSpPr>
          <p:cNvPr id="5" name="Shape 3"/>
          <p:cNvSpPr/>
          <p:nvPr/>
        </p:nvSpPr>
        <p:spPr>
          <a:xfrm>
            <a:off x="2222500" y="0"/>
            <a:ext cx="2895600" cy="965200"/>
          </a:xfrm>
          <a:prstGeom prst="rect">
            <a:avLst/>
          </a:prstGeom>
          <a:solidFill>
            <a:srgbClr val="04579A"/>
          </a:solidFill>
          <a:ln/>
        </p:spPr>
      </p:sp>
      <p:sp>
        <p:nvSpPr>
          <p:cNvPr id="6" name="Text 4"/>
          <p:cNvSpPr/>
          <p:nvPr/>
        </p:nvSpPr>
        <p:spPr>
          <a:xfrm>
            <a:off x="2286000" y="254000"/>
            <a:ext cx="2794000" cy="457200"/>
          </a:xfrm>
          <a:prstGeom prst="rect">
            <a:avLst/>
          </a:prstGeom>
          <a:noFill/>
          <a:ln/>
        </p:spPr>
        <p:txBody>
          <a:bodyPr wrap="none" lIns="0" tIns="0" rIns="0" bIns="0" rtlCol="0" anchor="ctr"/>
          <a:lstStyle/>
          <a:p>
            <a:pPr algn="ctr">
              <a:lnSpc>
                <a:spcPct val="120000"/>
              </a:lnSpc>
            </a:pPr>
            <a:r>
              <a:rPr lang="en-US" sz="2000" dirty="0">
                <a:solidFill>
                  <a:srgbClr val="FFFFFF"/>
                </a:solidFill>
                <a:latin typeface="Arial" pitchFamily="34" charset="0"/>
                <a:ea typeface="Arial" pitchFamily="34" charset="-122"/>
                <a:cs typeface="Arial" pitchFamily="34" charset="-120"/>
              </a:rPr>
              <a:t>选题背景及意义</a:t>
            </a:r>
            <a:endParaRPr lang="en-US" sz="2000" dirty="0"/>
          </a:p>
        </p:txBody>
      </p:sp>
      <p:sp>
        <p:nvSpPr>
          <p:cNvPr id="7" name="Text 5"/>
          <p:cNvSpPr/>
          <p:nvPr/>
        </p:nvSpPr>
        <p:spPr>
          <a:xfrm>
            <a:off x="5168900" y="254000"/>
            <a:ext cx="2590800" cy="4572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国内外研究现状</a:t>
            </a:r>
            <a:endParaRPr lang="en-US" sz="2000" dirty="0"/>
          </a:p>
        </p:txBody>
      </p:sp>
      <p:sp>
        <p:nvSpPr>
          <p:cNvPr id="8" name="Text 6"/>
          <p:cNvSpPr/>
          <p:nvPr/>
        </p:nvSpPr>
        <p:spPr>
          <a:xfrm>
            <a:off x="7810500" y="254000"/>
            <a:ext cx="4114800" cy="4572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主要研究内容及预期目标</a:t>
            </a:r>
            <a:endParaRPr lang="en-US" sz="2000" dirty="0"/>
          </a:p>
        </p:txBody>
      </p:sp>
      <p:sp>
        <p:nvSpPr>
          <p:cNvPr id="9" name="Text 7"/>
          <p:cNvSpPr/>
          <p:nvPr/>
        </p:nvSpPr>
        <p:spPr>
          <a:xfrm>
            <a:off x="11976100" y="254000"/>
            <a:ext cx="4279900" cy="4572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工作计划与进度安排</a:t>
            </a:r>
            <a:endParaRPr lang="en-US" sz="2000" dirty="0"/>
          </a:p>
        </p:txBody>
      </p:sp>
      <p:sp>
        <p:nvSpPr>
          <p:cNvPr id="10" name="Shape 8"/>
          <p:cNvSpPr/>
          <p:nvPr/>
        </p:nvSpPr>
        <p:spPr>
          <a:xfrm rot="10800000">
            <a:off x="3492500" y="965200"/>
            <a:ext cx="393700" cy="304800"/>
          </a:xfrm>
          <a:prstGeom prst="triangle">
            <a:avLst>
              <a:gd name="adj" fmla="val 50000"/>
            </a:avLst>
          </a:prstGeom>
          <a:solidFill>
            <a:srgbClr val="04579A"/>
          </a:solidFill>
          <a:ln/>
        </p:spPr>
      </p:sp>
      <p:pic>
        <p:nvPicPr>
          <p:cNvPr id="11" name="Image 0" descr="https://kimi-img.moonshot.cn/pub/slides/okc/flfuysioo4gzm/mnt/agents/output/yuan_pptd/images/image_2.jpg">    </p:cNvPr>
          <p:cNvPicPr>
            <a:picLocks noChangeAspect="1"/>
          </p:cNvPicPr>
          <p:nvPr/>
        </p:nvPicPr>
        <p:blipFill>
          <a:blip r:embed="rId1"/>
          <a:srcRect l="5060" r="29000" t="0" b="0"/>
          <a:stretch/>
        </p:blipFill>
        <p:spPr>
          <a:xfrm>
            <a:off x="546100" y="139700"/>
            <a:ext cx="1270000" cy="749300"/>
          </a:xfrm>
          <a:prstGeom prst="rect">
            <a:avLst/>
          </a:prstGeom>
        </p:spPr>
      </p:pic>
      <p:sp>
        <p:nvSpPr>
          <p:cNvPr id="12" name="Text 9"/>
          <p:cNvSpPr/>
          <p:nvPr/>
        </p:nvSpPr>
        <p:spPr>
          <a:xfrm>
            <a:off x="762000" y="1460500"/>
            <a:ext cx="8890000" cy="571500"/>
          </a:xfrm>
          <a:prstGeom prst="rect">
            <a:avLst/>
          </a:prstGeom>
          <a:noFill/>
          <a:ln/>
        </p:spPr>
        <p:txBody>
          <a:bodyPr wrap="none" lIns="0" tIns="0" rIns="0" bIns="0" rtlCol="0" anchor="ctr"/>
          <a:lstStyle/>
          <a:p>
            <a:pPr algn="l">
              <a:lnSpc>
                <a:spcPct val="120000"/>
              </a:lnSpc>
            </a:pPr>
            <a:r>
              <a:rPr lang="en-US" sz="3000" b="1" dirty="0">
                <a:solidFill>
                  <a:srgbClr val="005C8F"/>
                </a:solidFill>
                <a:latin typeface="Arial" pitchFamily="34" charset="0"/>
                <a:ea typeface="Arial" pitchFamily="34" charset="-122"/>
                <a:cs typeface="Arial" pitchFamily="34" charset="-120"/>
              </a:rPr>
              <a:t>OAuth 局限性（一）</a:t>
            </a:r>
            <a:endParaRPr lang="en-US" sz="3000" dirty="0"/>
          </a:p>
        </p:txBody>
      </p:sp>
      <p:sp>
        <p:nvSpPr>
          <p:cNvPr id="13" name="Text 10"/>
          <p:cNvSpPr/>
          <p:nvPr/>
        </p:nvSpPr>
        <p:spPr>
          <a:xfrm>
            <a:off x="762000" y="2095500"/>
            <a:ext cx="14732000" cy="355600"/>
          </a:xfrm>
          <a:prstGeom prst="rect">
            <a:avLst/>
          </a:prstGeom>
          <a:noFill/>
          <a:ln/>
        </p:spPr>
        <p:txBody>
          <a:bodyPr wrap="none" lIns="0" tIns="0" rIns="0" bIns="0" rtlCol="0" anchor="ctr"/>
          <a:lstStyle/>
          <a:p>
            <a:pPr algn="r">
              <a:lnSpc>
                <a:spcPct val="120000"/>
              </a:lnSpc>
            </a:pPr>
            <a:r>
              <a:rPr lang="en-US" sz="1400" i="1" dirty="0">
                <a:solidFill>
                  <a:srgbClr val="666666"/>
                </a:solidFill>
                <a:latin typeface="Arial" pitchFamily="34" charset="0"/>
                <a:ea typeface="Arial" pitchFamily="34" charset="-122"/>
                <a:cs typeface="Arial" pitchFamily="34" charset="-120"/>
              </a:rPr>
              <a:t>OAuth Is Not Enough: Authorization Challenges for Autonomous AI Agents</a:t>
            </a:r>
            <a:endParaRPr lang="en-US" sz="1400" dirty="0"/>
          </a:p>
        </p:txBody>
      </p:sp>
      <p:sp>
        <p:nvSpPr>
          <p:cNvPr id="14" name="Shape 11"/>
          <p:cNvSpPr/>
          <p:nvPr/>
        </p:nvSpPr>
        <p:spPr>
          <a:xfrm>
            <a:off x="762000" y="2667000"/>
            <a:ext cx="4699000" cy="3048000"/>
          </a:xfrm>
          <a:prstGeom prst="roundRect">
            <a:avLst>
              <a:gd name="adj" fmla="val 6000"/>
            </a:avLst>
          </a:prstGeom>
          <a:solidFill>
            <a:srgbClr val="E6F0F7"/>
          </a:solidFill>
          <a:ln/>
        </p:spPr>
      </p:sp>
      <p:sp>
        <p:nvSpPr>
          <p:cNvPr id="15" name="Text 12"/>
          <p:cNvSpPr/>
          <p:nvPr/>
        </p:nvSpPr>
        <p:spPr>
          <a:xfrm>
            <a:off x="952500" y="2768600"/>
            <a:ext cx="698500" cy="508000"/>
          </a:xfrm>
          <a:prstGeom prst="rect">
            <a:avLst/>
          </a:prstGeom>
          <a:noFill/>
          <a:ln/>
        </p:spPr>
        <p:txBody>
          <a:bodyPr wrap="none" lIns="0" tIns="0" rIns="0" bIns="0" rtlCol="0" anchor="ctr"/>
          <a:lstStyle/>
          <a:p>
            <a:pPr algn="ctr">
              <a:lnSpc>
                <a:spcPct val="120000"/>
              </a:lnSpc>
            </a:pPr>
            <a:r>
              <a:rPr lang="en-US" sz="3200" b="1" dirty="0">
                <a:solidFill>
                  <a:srgbClr val="005C8F"/>
                </a:solidFill>
                <a:latin typeface="Arial" pitchFamily="34" charset="0"/>
                <a:ea typeface="Arial" pitchFamily="34" charset="-122"/>
                <a:cs typeface="Arial" pitchFamily="34" charset="-120"/>
              </a:rPr>
              <a:t>01</a:t>
            </a:r>
            <a:endParaRPr lang="en-US" sz="3200" dirty="0"/>
          </a:p>
        </p:txBody>
      </p:sp>
      <p:sp>
        <p:nvSpPr>
          <p:cNvPr id="16" name="Text 13"/>
          <p:cNvSpPr/>
          <p:nvPr/>
        </p:nvSpPr>
        <p:spPr>
          <a:xfrm>
            <a:off x="1714500" y="2819400"/>
            <a:ext cx="3492500" cy="406400"/>
          </a:xfrm>
          <a:prstGeom prst="rect">
            <a:avLst/>
          </a:prstGeom>
          <a:noFill/>
          <a:ln/>
        </p:spPr>
        <p:txBody>
          <a:bodyPr wrap="none" lIns="0" tIns="0" rIns="0" bIns="0" rtlCol="0" anchor="ctr"/>
          <a:lstStyle/>
          <a:p>
            <a:pPr algn="l">
              <a:lnSpc>
                <a:spcPct val="120000"/>
              </a:lnSpc>
            </a:pPr>
            <a:r>
              <a:rPr lang="en-US" sz="2000" b="1" dirty="0">
                <a:solidFill>
                  <a:srgbClr val="005C8F"/>
                </a:solidFill>
                <a:latin typeface="Arial" pitchFamily="34" charset="0"/>
                <a:ea typeface="Arial" pitchFamily="34" charset="-122"/>
                <a:cs typeface="Arial" pitchFamily="34" charset="-120"/>
              </a:rPr>
              <a:t>权限粒度过大</a:t>
            </a:r>
            <a:endParaRPr lang="en-US" sz="2000" dirty="0"/>
          </a:p>
        </p:txBody>
      </p:sp>
      <p:sp>
        <p:nvSpPr>
          <p:cNvPr id="17" name="Text 14"/>
          <p:cNvSpPr/>
          <p:nvPr/>
        </p:nvSpPr>
        <p:spPr>
          <a:xfrm>
            <a:off x="952500" y="3403600"/>
            <a:ext cx="4318000" cy="2133600"/>
          </a:xfrm>
          <a:prstGeom prst="rect">
            <a:avLst/>
          </a:prstGeom>
          <a:noFill/>
          <a:ln/>
        </p:spPr>
        <p:txBody>
          <a:bodyPr wrap="square" lIns="0" tIns="0" rIns="0" bIns="0" rtlCol="0" anchor="t"/>
          <a:lstStyle/>
          <a:p>
            <a:pPr algn="l">
              <a:lnSpc>
                <a:spcPct val="170000"/>
              </a:lnSpc>
            </a:pPr>
            <a:r>
              <a:rPr lang="en-US" sz="1500" dirty="0">
                <a:solidFill>
                  <a:srgbClr val="333333"/>
                </a:solidFill>
                <a:latin typeface="Arial" pitchFamily="34" charset="0"/>
                <a:ea typeface="Arial" pitchFamily="34" charset="-122"/>
                <a:cs typeface="Arial" pitchFamily="34" charset="-120"/>
              </a:rPr>
              <a:t>• OAuth Scope 为</a:t>
            </a:r>
            <a:pPr algn="l">
              <a:lnSpc>
                <a:spcPct val="170000"/>
              </a:lnSpc>
            </a:pPr>
            <a:r>
              <a:rPr lang="en-US" sz="1500" b="1" dirty="0">
                <a:solidFill>
                  <a:srgbClr val="333333"/>
                </a:solidFill>
                <a:latin typeface="Arial" pitchFamily="34" charset="0"/>
                <a:ea typeface="Arial" pitchFamily="34" charset="-122"/>
                <a:cs typeface="Arial" pitchFamily="34" charset="-120"/>
              </a:rPr>
              <a:t>粗粒度</a:t>
            </a:r>
            <a:pPr algn="l">
              <a:lnSpc>
                <a:spcPct val="170000"/>
              </a:lnSpc>
            </a:pPr>
            <a:r>
              <a:rPr lang="en-US" sz="1500" dirty="0">
                <a:solidFill>
                  <a:srgbClr val="333333"/>
                </a:solidFill>
                <a:latin typeface="Arial" pitchFamily="34" charset="0"/>
                <a:ea typeface="Arial" pitchFamily="34" charset="-122"/>
                <a:cs typeface="Arial" pitchFamily="34" charset="-120"/>
              </a:rPr>
              <a:t>操作类型权限</a:t>
            </a:r>
            <a:endParaRPr lang="en-US" sz="1500" dirty="0"/>
          </a:p>
          <a:p>
            <a:pPr algn="l">
              <a:lnSpc>
                <a:spcPct val="170000"/>
              </a:lnSpc>
            </a:pPr>
            <a:r>
              <a:rPr lang="en-US" sz="1500" dirty="0">
                <a:solidFill>
                  <a:srgbClr val="333333"/>
                </a:solidFill>
                <a:latin typeface="Arial" pitchFamily="34" charset="0"/>
                <a:ea typeface="Arial" pitchFamily="34" charset="-122"/>
                <a:cs typeface="Arial" pitchFamily="34" charset="-120"/>
              </a:rPr>
              <a:t>• 无法精确到操作参数（如收件人地址）</a:t>
            </a:r>
            <a:endParaRPr lang="en-US" sz="1500" dirty="0"/>
          </a:p>
          <a:p>
            <a:pPr algn="l">
              <a:lnSpc>
                <a:spcPct val="170000"/>
              </a:lnSpc>
            </a:pPr>
            <a:r>
              <a:rPr lang="en-US" sz="1500" dirty="0">
                <a:solidFill>
                  <a:srgbClr val="333333"/>
                </a:solidFill>
                <a:latin typeface="Arial" pitchFamily="34" charset="0"/>
                <a:ea typeface="Arial" pitchFamily="34" charset="-122"/>
                <a:cs typeface="Arial" pitchFamily="34" charset="-120"/>
              </a:rPr>
              <a:t>• 智能体获得宽泛权限后可任意构造参数</a:t>
            </a:r>
            <a:endParaRPr lang="en-US" sz="1500" dirty="0"/>
          </a:p>
          <a:p>
            <a:pPr algn="l">
              <a:lnSpc>
                <a:spcPct val="170000"/>
              </a:lnSpc>
            </a:pPr>
            <a:r>
              <a:rPr lang="en-US" sz="1500" dirty="0">
                <a:solidFill>
                  <a:srgbClr val="333333"/>
                </a:solidFill>
                <a:latin typeface="Arial" pitchFamily="34" charset="0"/>
                <a:ea typeface="Arial" pitchFamily="34" charset="-122"/>
                <a:cs typeface="Arial" pitchFamily="34" charset="-120"/>
              </a:rPr>
              <a:t>• </a:t>
            </a:r>
            <a:pPr algn="l">
              <a:lnSpc>
                <a:spcPct val="170000"/>
              </a:lnSpc>
            </a:pPr>
            <a:r>
              <a:rPr lang="en-US" sz="1500" b="1" dirty="0">
                <a:solidFill>
                  <a:srgbClr val="333333"/>
                </a:solidFill>
                <a:latin typeface="Arial" pitchFamily="34" charset="0"/>
                <a:ea typeface="Arial" pitchFamily="34" charset="-122"/>
                <a:cs typeface="Arial" pitchFamily="34" charset="-120"/>
              </a:rPr>
              <a:t>违背最小权限原则</a:t>
            </a:r>
            <a:pPr algn="l">
              <a:lnSpc>
                <a:spcPct val="170000"/>
              </a:lnSpc>
            </a:pPr>
            <a:r>
              <a:rPr lang="en-US" sz="1500" dirty="0">
                <a:solidFill>
                  <a:srgbClr val="333333"/>
                </a:solidFill>
                <a:latin typeface="Arial" pitchFamily="34" charset="0"/>
                <a:ea typeface="Arial" pitchFamily="34" charset="-122"/>
                <a:cs typeface="Arial" pitchFamily="34" charset="-120"/>
              </a:rPr>
              <a:t>，形成永久暴露面</a:t>
            </a:r>
            <a:endParaRPr lang="en-US" sz="1500" dirty="0"/>
          </a:p>
        </p:txBody>
      </p:sp>
      <p:sp>
        <p:nvSpPr>
          <p:cNvPr id="18" name="Shape 15"/>
          <p:cNvSpPr/>
          <p:nvPr/>
        </p:nvSpPr>
        <p:spPr>
          <a:xfrm>
            <a:off x="5715000" y="2667000"/>
            <a:ext cx="4699000" cy="3048000"/>
          </a:xfrm>
          <a:prstGeom prst="roundRect">
            <a:avLst>
              <a:gd name="adj" fmla="val 6000"/>
            </a:avLst>
          </a:prstGeom>
          <a:solidFill>
            <a:srgbClr val="E6F0F7"/>
          </a:solidFill>
          <a:ln/>
        </p:spPr>
      </p:sp>
      <p:sp>
        <p:nvSpPr>
          <p:cNvPr id="19" name="Text 16"/>
          <p:cNvSpPr/>
          <p:nvPr/>
        </p:nvSpPr>
        <p:spPr>
          <a:xfrm>
            <a:off x="5905500" y="2768600"/>
            <a:ext cx="762000" cy="508000"/>
          </a:xfrm>
          <a:prstGeom prst="rect">
            <a:avLst/>
          </a:prstGeom>
          <a:noFill/>
          <a:ln/>
        </p:spPr>
        <p:txBody>
          <a:bodyPr wrap="none" lIns="0" tIns="0" rIns="0" bIns="0" rtlCol="0" anchor="ctr"/>
          <a:lstStyle/>
          <a:p>
            <a:pPr algn="ctr">
              <a:lnSpc>
                <a:spcPct val="120000"/>
              </a:lnSpc>
            </a:pPr>
            <a:r>
              <a:rPr lang="en-US" sz="3200" b="1" dirty="0">
                <a:solidFill>
                  <a:srgbClr val="005C8F"/>
                </a:solidFill>
                <a:latin typeface="Arial" pitchFamily="34" charset="0"/>
                <a:ea typeface="Arial" pitchFamily="34" charset="-122"/>
                <a:cs typeface="Arial" pitchFamily="34" charset="-120"/>
              </a:rPr>
              <a:t>02</a:t>
            </a:r>
            <a:endParaRPr lang="en-US" sz="3200" dirty="0"/>
          </a:p>
        </p:txBody>
      </p:sp>
      <p:sp>
        <p:nvSpPr>
          <p:cNvPr id="20" name="Text 17"/>
          <p:cNvSpPr/>
          <p:nvPr/>
        </p:nvSpPr>
        <p:spPr>
          <a:xfrm>
            <a:off x="6667500" y="2819400"/>
            <a:ext cx="3492500" cy="406400"/>
          </a:xfrm>
          <a:prstGeom prst="rect">
            <a:avLst/>
          </a:prstGeom>
          <a:noFill/>
          <a:ln/>
        </p:spPr>
        <p:txBody>
          <a:bodyPr wrap="none" lIns="0" tIns="0" rIns="0" bIns="0" rtlCol="0" anchor="ctr"/>
          <a:lstStyle/>
          <a:p>
            <a:pPr algn="l">
              <a:lnSpc>
                <a:spcPct val="120000"/>
              </a:lnSpc>
            </a:pPr>
            <a:r>
              <a:rPr lang="en-US" sz="2000" b="1" dirty="0">
                <a:solidFill>
                  <a:srgbClr val="005C8F"/>
                </a:solidFill>
                <a:latin typeface="Arial" pitchFamily="34" charset="0"/>
                <a:ea typeface="Arial" pitchFamily="34" charset="-122"/>
                <a:cs typeface="Arial" pitchFamily="34" charset="-120"/>
              </a:rPr>
              <a:t>权限不可动态变化</a:t>
            </a:r>
            <a:endParaRPr lang="en-US" sz="2000" dirty="0"/>
          </a:p>
        </p:txBody>
      </p:sp>
      <p:sp>
        <p:nvSpPr>
          <p:cNvPr id="21" name="Text 18"/>
          <p:cNvSpPr/>
          <p:nvPr/>
        </p:nvSpPr>
        <p:spPr>
          <a:xfrm>
            <a:off x="5905500" y="3403600"/>
            <a:ext cx="4318000" cy="2133600"/>
          </a:xfrm>
          <a:prstGeom prst="rect">
            <a:avLst/>
          </a:prstGeom>
          <a:noFill/>
          <a:ln/>
        </p:spPr>
        <p:txBody>
          <a:bodyPr wrap="square" lIns="0" tIns="0" rIns="0" bIns="0" rtlCol="0" anchor="t"/>
          <a:lstStyle/>
          <a:p>
            <a:pPr algn="l">
              <a:lnSpc>
                <a:spcPct val="170000"/>
              </a:lnSpc>
            </a:pPr>
            <a:r>
              <a:rPr lang="en-US" sz="1500" dirty="0">
                <a:solidFill>
                  <a:srgbClr val="333333"/>
                </a:solidFill>
                <a:latin typeface="Arial" pitchFamily="34" charset="0"/>
                <a:ea typeface="Arial" pitchFamily="34" charset="-122"/>
                <a:cs typeface="Arial" pitchFamily="34" charset="-120"/>
              </a:rPr>
              <a:t>• 权限签发时固定，</a:t>
            </a:r>
            <a:pPr algn="l">
              <a:lnSpc>
                <a:spcPct val="170000"/>
              </a:lnSpc>
            </a:pPr>
            <a:r>
              <a:rPr lang="en-US" sz="1500" b="1" dirty="0">
                <a:solidFill>
                  <a:srgbClr val="333333"/>
                </a:solidFill>
                <a:latin typeface="Arial" pitchFamily="34" charset="0"/>
                <a:ea typeface="Arial" pitchFamily="34" charset="-122"/>
                <a:cs typeface="Arial" pitchFamily="34" charset="-120"/>
              </a:rPr>
              <a:t>无法动态调整</a:t>
            </a:r>
            <a:endParaRPr lang="en-US" sz="1500" dirty="0"/>
          </a:p>
          <a:p>
            <a:pPr algn="l">
              <a:lnSpc>
                <a:spcPct val="170000"/>
              </a:lnSpc>
            </a:pPr>
            <a:r>
              <a:rPr lang="en-US" sz="1500" dirty="0">
                <a:solidFill>
                  <a:srgbClr val="333333"/>
                </a:solidFill>
                <a:latin typeface="Arial" pitchFamily="34" charset="0"/>
                <a:ea typeface="Arial" pitchFamily="34" charset="-122"/>
                <a:cs typeface="Arial" pitchFamily="34" charset="-120"/>
              </a:rPr>
              <a:t>• 智能体权限需求随任务上下文变化</a:t>
            </a:r>
            <a:endParaRPr lang="en-US" sz="1500" dirty="0"/>
          </a:p>
          <a:p>
            <a:pPr algn="l">
              <a:lnSpc>
                <a:spcPct val="170000"/>
              </a:lnSpc>
            </a:pPr>
            <a:r>
              <a:rPr lang="en-US" sz="1500" dirty="0">
                <a:solidFill>
                  <a:srgbClr val="333333"/>
                </a:solidFill>
                <a:latin typeface="Arial" pitchFamily="34" charset="0"/>
                <a:ea typeface="Arial" pitchFamily="34" charset="-122"/>
                <a:cs typeface="Arial" pitchFamily="34" charset="-120"/>
              </a:rPr>
              <a:t>• 缺乏任务完成后的自动权限回收</a:t>
            </a:r>
            <a:endParaRPr lang="en-US" sz="1500" dirty="0"/>
          </a:p>
          <a:p>
            <a:pPr algn="l">
              <a:lnSpc>
                <a:spcPct val="170000"/>
              </a:lnSpc>
            </a:pPr>
            <a:r>
              <a:rPr lang="en-US" sz="1500" dirty="0">
                <a:solidFill>
                  <a:srgbClr val="333333"/>
                </a:solidFill>
                <a:latin typeface="Arial" pitchFamily="34" charset="0"/>
                <a:ea typeface="Arial" pitchFamily="34" charset="-122"/>
                <a:cs typeface="Arial" pitchFamily="34" charset="-120"/>
              </a:rPr>
              <a:t>• 导致</a:t>
            </a:r>
            <a:pPr algn="l">
              <a:lnSpc>
                <a:spcPct val="170000"/>
              </a:lnSpc>
            </a:pPr>
            <a:r>
              <a:rPr lang="en-US" sz="1500" b="1" dirty="0">
                <a:solidFill>
                  <a:srgbClr val="333333"/>
                </a:solidFill>
                <a:latin typeface="Arial" pitchFamily="34" charset="0"/>
                <a:ea typeface="Arial" pitchFamily="34" charset="-122"/>
                <a:cs typeface="Arial" pitchFamily="34" charset="-120"/>
              </a:rPr>
              <a:t>权限漂移与累积</a:t>
            </a:r>
            <a:endParaRPr lang="en-US" sz="1500" dirty="0"/>
          </a:p>
        </p:txBody>
      </p:sp>
      <p:sp>
        <p:nvSpPr>
          <p:cNvPr id="22" name="Shape 19"/>
          <p:cNvSpPr/>
          <p:nvPr/>
        </p:nvSpPr>
        <p:spPr>
          <a:xfrm>
            <a:off x="10668000" y="2667000"/>
            <a:ext cx="4826000" cy="3048000"/>
          </a:xfrm>
          <a:prstGeom prst="roundRect">
            <a:avLst>
              <a:gd name="adj" fmla="val 6000"/>
            </a:avLst>
          </a:prstGeom>
          <a:solidFill>
            <a:srgbClr val="E6F0F7"/>
          </a:solidFill>
          <a:ln/>
        </p:spPr>
      </p:sp>
      <p:sp>
        <p:nvSpPr>
          <p:cNvPr id="23" name="Text 20"/>
          <p:cNvSpPr/>
          <p:nvPr/>
        </p:nvSpPr>
        <p:spPr>
          <a:xfrm>
            <a:off x="10858500" y="2768600"/>
            <a:ext cx="762000" cy="508000"/>
          </a:xfrm>
          <a:prstGeom prst="rect">
            <a:avLst/>
          </a:prstGeom>
          <a:noFill/>
          <a:ln/>
        </p:spPr>
        <p:txBody>
          <a:bodyPr wrap="none" lIns="0" tIns="0" rIns="0" bIns="0" rtlCol="0" anchor="ctr"/>
          <a:lstStyle/>
          <a:p>
            <a:pPr algn="ctr">
              <a:lnSpc>
                <a:spcPct val="120000"/>
              </a:lnSpc>
            </a:pPr>
            <a:r>
              <a:rPr lang="en-US" sz="3200" b="1" dirty="0">
                <a:solidFill>
                  <a:srgbClr val="005C8F"/>
                </a:solidFill>
                <a:latin typeface="Arial" pitchFamily="34" charset="0"/>
                <a:ea typeface="Arial" pitchFamily="34" charset="-122"/>
                <a:cs typeface="Arial" pitchFamily="34" charset="-120"/>
              </a:rPr>
              <a:t>03</a:t>
            </a:r>
            <a:endParaRPr lang="en-US" sz="3200" dirty="0"/>
          </a:p>
        </p:txBody>
      </p:sp>
      <p:sp>
        <p:nvSpPr>
          <p:cNvPr id="24" name="Text 21"/>
          <p:cNvSpPr/>
          <p:nvPr/>
        </p:nvSpPr>
        <p:spPr>
          <a:xfrm>
            <a:off x="11620500" y="2819400"/>
            <a:ext cx="3619500" cy="406400"/>
          </a:xfrm>
          <a:prstGeom prst="rect">
            <a:avLst/>
          </a:prstGeom>
          <a:noFill/>
          <a:ln/>
        </p:spPr>
        <p:txBody>
          <a:bodyPr wrap="none" lIns="0" tIns="0" rIns="0" bIns="0" rtlCol="0" anchor="ctr"/>
          <a:lstStyle/>
          <a:p>
            <a:pPr algn="l">
              <a:lnSpc>
                <a:spcPct val="120000"/>
              </a:lnSpc>
            </a:pPr>
            <a:r>
              <a:rPr lang="en-US" sz="2000" b="1" dirty="0">
                <a:solidFill>
                  <a:srgbClr val="005C8F"/>
                </a:solidFill>
                <a:latin typeface="Arial" pitchFamily="34" charset="0"/>
                <a:ea typeface="Arial" pitchFamily="34" charset="-122"/>
                <a:cs typeface="Arial" pitchFamily="34" charset="-120"/>
              </a:rPr>
              <a:t>需人类实时参与</a:t>
            </a:r>
            <a:endParaRPr lang="en-US" sz="2000" dirty="0"/>
          </a:p>
        </p:txBody>
      </p:sp>
      <p:sp>
        <p:nvSpPr>
          <p:cNvPr id="25" name="Text 22"/>
          <p:cNvSpPr/>
          <p:nvPr/>
        </p:nvSpPr>
        <p:spPr>
          <a:xfrm>
            <a:off x="10858500" y="3403600"/>
            <a:ext cx="4445000" cy="2133600"/>
          </a:xfrm>
          <a:prstGeom prst="rect">
            <a:avLst/>
          </a:prstGeom>
          <a:noFill/>
          <a:ln/>
        </p:spPr>
        <p:txBody>
          <a:bodyPr wrap="square" lIns="0" tIns="0" rIns="0" bIns="0" rtlCol="0" anchor="t"/>
          <a:lstStyle/>
          <a:p>
            <a:pPr algn="l">
              <a:lnSpc>
                <a:spcPct val="170000"/>
              </a:lnSpc>
            </a:pPr>
            <a:r>
              <a:rPr lang="en-US" sz="1500" dirty="0">
                <a:solidFill>
                  <a:srgbClr val="333333"/>
                </a:solidFill>
                <a:latin typeface="Arial" pitchFamily="34" charset="0"/>
                <a:ea typeface="Arial" pitchFamily="34" charset="-122"/>
                <a:cs typeface="Arial" pitchFamily="34" charset="-120"/>
              </a:rPr>
              <a:t>• 授权决策依赖</a:t>
            </a:r>
            <a:pPr algn="l">
              <a:lnSpc>
                <a:spcPct val="170000"/>
              </a:lnSpc>
            </a:pPr>
            <a:r>
              <a:rPr lang="en-US" sz="1500" b="1" dirty="0">
                <a:solidFill>
                  <a:srgbClr val="333333"/>
                </a:solidFill>
                <a:latin typeface="Arial" pitchFamily="34" charset="0"/>
                <a:ea typeface="Arial" pitchFamily="34" charset="-122"/>
                <a:cs typeface="Arial" pitchFamily="34" charset="-120"/>
              </a:rPr>
              <a:t>人类用户实时同意</a:t>
            </a:r>
            <a:endParaRPr lang="en-US" sz="1500" dirty="0"/>
          </a:p>
          <a:p>
            <a:pPr algn="l">
              <a:lnSpc>
                <a:spcPct val="170000"/>
              </a:lnSpc>
            </a:pPr>
            <a:r>
              <a:rPr lang="en-US" sz="1500" dirty="0">
                <a:solidFill>
                  <a:srgbClr val="333333"/>
                </a:solidFill>
                <a:latin typeface="Arial" pitchFamily="34" charset="0"/>
                <a:ea typeface="Arial" pitchFamily="34" charset="-122"/>
                <a:cs typeface="Arial" pitchFamily="34" charset="-120"/>
              </a:rPr>
              <a:t>• 智能体以机器速度自主运行</a:t>
            </a:r>
            <a:endParaRPr lang="en-US" sz="1500" dirty="0"/>
          </a:p>
          <a:p>
            <a:pPr algn="l">
              <a:lnSpc>
                <a:spcPct val="170000"/>
              </a:lnSpc>
            </a:pPr>
            <a:r>
              <a:rPr lang="en-US" sz="1500" dirty="0">
                <a:solidFill>
                  <a:srgbClr val="333333"/>
                </a:solidFill>
                <a:latin typeface="Arial" pitchFamily="34" charset="0"/>
                <a:ea typeface="Arial" pitchFamily="34" charset="-122"/>
                <a:cs typeface="Arial" pitchFamily="34" charset="-120"/>
              </a:rPr>
              <a:t>• 人机节奏不匹配导致效率瓶颈</a:t>
            </a:r>
            <a:endParaRPr lang="en-US" sz="1500" dirty="0"/>
          </a:p>
          <a:p>
            <a:pPr algn="l">
              <a:lnSpc>
                <a:spcPct val="170000"/>
              </a:lnSpc>
            </a:pPr>
            <a:r>
              <a:rPr lang="en-US" sz="1500" dirty="0">
                <a:solidFill>
                  <a:srgbClr val="333333"/>
                </a:solidFill>
                <a:latin typeface="Arial" pitchFamily="34" charset="0"/>
                <a:ea typeface="Arial" pitchFamily="34" charset="-122"/>
                <a:cs typeface="Arial" pitchFamily="34" charset="-120"/>
              </a:rPr>
              <a:t>• </a:t>
            </a:r>
            <a:pPr algn="l">
              <a:lnSpc>
                <a:spcPct val="170000"/>
              </a:lnSpc>
            </a:pPr>
            <a:r>
              <a:rPr lang="en-US" sz="1500" b="1" dirty="0">
                <a:solidFill>
                  <a:srgbClr val="333333"/>
                </a:solidFill>
                <a:latin typeface="Arial" pitchFamily="34" charset="0"/>
                <a:ea typeface="Arial" pitchFamily="34" charset="-122"/>
                <a:cs typeface="Arial" pitchFamily="34" charset="-120"/>
              </a:rPr>
              <a:t>无法支持自主化场景</a:t>
            </a:r>
            <a:endParaRPr lang="en-US" sz="1500" dirty="0"/>
          </a:p>
        </p:txBody>
      </p:sp>
      <p:sp>
        <p:nvSpPr>
          <p:cNvPr id="26" name="Shape 23"/>
          <p:cNvSpPr/>
          <p:nvPr/>
        </p:nvSpPr>
        <p:spPr>
          <a:xfrm>
            <a:off x="762000" y="6032500"/>
            <a:ext cx="14732000" cy="952500"/>
          </a:xfrm>
          <a:prstGeom prst="roundRect">
            <a:avLst>
              <a:gd name="adj" fmla="val 5000"/>
            </a:avLst>
          </a:prstGeom>
          <a:solidFill>
            <a:srgbClr val="005C8F"/>
          </a:solidFill>
          <a:ln/>
        </p:spPr>
      </p:sp>
      <p:sp>
        <p:nvSpPr>
          <p:cNvPr id="27" name="Text 24"/>
          <p:cNvSpPr/>
          <p:nvPr/>
        </p:nvSpPr>
        <p:spPr>
          <a:xfrm>
            <a:off x="1016000" y="6121400"/>
            <a:ext cx="14224000" cy="762000"/>
          </a:xfrm>
          <a:prstGeom prst="rect">
            <a:avLst/>
          </a:prstGeom>
          <a:noFill/>
          <a:ln/>
        </p:spPr>
        <p:txBody>
          <a:bodyPr wrap="square" lIns="0" tIns="0" rIns="0" bIns="0" rtlCol="0" anchor="ctr"/>
          <a:lstStyle/>
          <a:p>
            <a:pPr algn="l">
              <a:lnSpc>
                <a:spcPct val="160000"/>
              </a:lnSpc>
            </a:pPr>
            <a:r>
              <a:rPr lang="en-US" sz="1600" b="1" dirty="0">
                <a:solidFill>
                  <a:srgbClr val="FFFFFF"/>
                </a:solidFill>
                <a:latin typeface="Arial" pitchFamily="34" charset="0"/>
                <a:ea typeface="Arial" pitchFamily="34" charset="-122"/>
                <a:cs typeface="Arial" pitchFamily="34" charset="-120"/>
              </a:rPr>
              <a:t>根本原因：</a:t>
            </a:r>
            <a:pPr algn="l">
              <a:lnSpc>
                <a:spcPct val="160000"/>
              </a:lnSpc>
            </a:pPr>
            <a:r>
              <a:rPr lang="en-US" sz="1600" dirty="0">
                <a:solidFill>
                  <a:srgbClr val="FFFFFF"/>
                </a:solidFill>
                <a:latin typeface="Arial" pitchFamily="34" charset="0"/>
                <a:ea typeface="Arial" pitchFamily="34" charset="-122"/>
                <a:cs typeface="Arial" pitchFamily="34" charset="-120"/>
              </a:rPr>
              <a:t>OAuth 基于"人类用户 - 静态权限 - 实时同意"假设设计，而智能体是"自主行动主体 - 动态权限 - 机器速度运行"，两者存在</a:t>
            </a:r>
            <a:pPr algn="l">
              <a:lnSpc>
                <a:spcPct val="160000"/>
              </a:lnSpc>
            </a:pPr>
            <a:r>
              <a:rPr lang="en-US" sz="1600" b="1" dirty="0">
                <a:solidFill>
                  <a:srgbClr val="FFFFFF"/>
                </a:solidFill>
                <a:latin typeface="Arial" pitchFamily="34" charset="0"/>
                <a:ea typeface="Arial" pitchFamily="34" charset="-122"/>
                <a:cs typeface="Arial" pitchFamily="34" charset="-120"/>
              </a:rPr>
              <a:t>结构性错配</a:t>
            </a:r>
            <a:endParaRPr lang="en-US" sz="1600" dirty="0"/>
          </a:p>
        </p:txBody>
      </p:sp>
      <p:sp>
        <p:nvSpPr>
          <p:cNvPr id="28" name="Text 25"/>
          <p:cNvSpPr/>
          <p:nvPr/>
        </p:nvSpPr>
        <p:spPr>
          <a:xfrm>
            <a:off x="15240000" y="8636000"/>
            <a:ext cx="635000" cy="381000"/>
          </a:xfrm>
          <a:prstGeom prst="rect">
            <a:avLst/>
          </a:prstGeom>
          <a:noFill/>
          <a:ln/>
        </p:spPr>
        <p:txBody>
          <a:bodyPr wrap="none" lIns="0" tIns="0" rIns="0" bIns="0" rtlCol="0" anchor="ctr"/>
          <a:lstStyle/>
          <a:p>
            <a:pPr algn="r">
              <a:lnSpc>
                <a:spcPct val="120000"/>
              </a:lnSpc>
            </a:pPr>
            <a:r>
              <a:rPr lang="en-US" sz="1800" dirty="0">
                <a:solidFill>
                  <a:srgbClr val="666666"/>
                </a:solidFill>
                <a:latin typeface="Arial" pitchFamily="34" charset="0"/>
                <a:ea typeface="Arial" pitchFamily="34" charset="-122"/>
                <a:cs typeface="Arial" pitchFamily="34" charset="-120"/>
              </a:rPr>
              <a:t>6</a:t>
            </a:r>
            <a:endParaRPr lang="en-US" sz="1800" dirty="0"/>
          </a:p>
        </p:txBody>
      </p:sp>
    </p:spTree>
  </p:cSld>
  <p:clrMapOvr>
    <a:masterClrMapping/>
  </p:clrMapOvr>
  <p:transition>
    <p:fade/>
    <p:spd val="med"/>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168900" y="0"/>
            <a:ext cx="2590800" cy="965200"/>
          </a:xfrm>
          <a:prstGeom prst="rect">
            <a:avLst/>
          </a:prstGeom>
          <a:solidFill>
            <a:srgbClr val="F2F2F2"/>
          </a:solidFill>
          <a:ln/>
        </p:spPr>
      </p:sp>
      <p:sp>
        <p:nvSpPr>
          <p:cNvPr id="3" name="Shape 1"/>
          <p:cNvSpPr/>
          <p:nvPr/>
        </p:nvSpPr>
        <p:spPr>
          <a:xfrm>
            <a:off x="7810500" y="0"/>
            <a:ext cx="4152900" cy="965200"/>
          </a:xfrm>
          <a:prstGeom prst="rect">
            <a:avLst/>
          </a:prstGeom>
          <a:solidFill>
            <a:srgbClr val="F2F2F2"/>
          </a:solidFill>
          <a:ln/>
        </p:spPr>
      </p:sp>
      <p:sp>
        <p:nvSpPr>
          <p:cNvPr id="4" name="Shape 2"/>
          <p:cNvSpPr/>
          <p:nvPr/>
        </p:nvSpPr>
        <p:spPr>
          <a:xfrm>
            <a:off x="11976100" y="0"/>
            <a:ext cx="4279900" cy="965200"/>
          </a:xfrm>
          <a:prstGeom prst="rect">
            <a:avLst/>
          </a:prstGeom>
          <a:solidFill>
            <a:srgbClr val="F2F2F2"/>
          </a:solidFill>
          <a:ln/>
        </p:spPr>
      </p:sp>
      <p:sp>
        <p:nvSpPr>
          <p:cNvPr id="5" name="Shape 3"/>
          <p:cNvSpPr/>
          <p:nvPr/>
        </p:nvSpPr>
        <p:spPr>
          <a:xfrm>
            <a:off x="2222500" y="0"/>
            <a:ext cx="2895600" cy="965200"/>
          </a:xfrm>
          <a:prstGeom prst="rect">
            <a:avLst/>
          </a:prstGeom>
          <a:solidFill>
            <a:srgbClr val="04579A"/>
          </a:solidFill>
          <a:ln/>
        </p:spPr>
      </p:sp>
      <p:sp>
        <p:nvSpPr>
          <p:cNvPr id="6" name="Text 4"/>
          <p:cNvSpPr/>
          <p:nvPr/>
        </p:nvSpPr>
        <p:spPr>
          <a:xfrm>
            <a:off x="2286000" y="254000"/>
            <a:ext cx="2794000" cy="457200"/>
          </a:xfrm>
          <a:prstGeom prst="rect">
            <a:avLst/>
          </a:prstGeom>
          <a:noFill/>
          <a:ln/>
        </p:spPr>
        <p:txBody>
          <a:bodyPr wrap="none" lIns="0" tIns="0" rIns="0" bIns="0" rtlCol="0" anchor="ctr"/>
          <a:lstStyle/>
          <a:p>
            <a:pPr algn="ctr">
              <a:lnSpc>
                <a:spcPct val="120000"/>
              </a:lnSpc>
            </a:pPr>
            <a:r>
              <a:rPr lang="en-US" sz="2000" dirty="0">
                <a:solidFill>
                  <a:srgbClr val="FFFFFF"/>
                </a:solidFill>
                <a:latin typeface="Arial" pitchFamily="34" charset="0"/>
                <a:ea typeface="Arial" pitchFamily="34" charset="-122"/>
                <a:cs typeface="Arial" pitchFamily="34" charset="-120"/>
              </a:rPr>
              <a:t>选题背景及意义</a:t>
            </a:r>
            <a:endParaRPr lang="en-US" sz="2000" dirty="0"/>
          </a:p>
        </p:txBody>
      </p:sp>
      <p:sp>
        <p:nvSpPr>
          <p:cNvPr id="7" name="Text 5"/>
          <p:cNvSpPr/>
          <p:nvPr/>
        </p:nvSpPr>
        <p:spPr>
          <a:xfrm>
            <a:off x="5168900" y="254000"/>
            <a:ext cx="2590800" cy="4572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国内外研究现状</a:t>
            </a:r>
            <a:endParaRPr lang="en-US" sz="2000" dirty="0"/>
          </a:p>
        </p:txBody>
      </p:sp>
      <p:sp>
        <p:nvSpPr>
          <p:cNvPr id="8" name="Text 6"/>
          <p:cNvSpPr/>
          <p:nvPr/>
        </p:nvSpPr>
        <p:spPr>
          <a:xfrm>
            <a:off x="7810500" y="254000"/>
            <a:ext cx="4114800" cy="4572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主要研究内容及预期目标</a:t>
            </a:r>
            <a:endParaRPr lang="en-US" sz="2000" dirty="0"/>
          </a:p>
        </p:txBody>
      </p:sp>
      <p:sp>
        <p:nvSpPr>
          <p:cNvPr id="9" name="Text 7"/>
          <p:cNvSpPr/>
          <p:nvPr/>
        </p:nvSpPr>
        <p:spPr>
          <a:xfrm>
            <a:off x="11976100" y="254000"/>
            <a:ext cx="4279900" cy="4572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工作计划与进度安排</a:t>
            </a:r>
            <a:endParaRPr lang="en-US" sz="2000" dirty="0"/>
          </a:p>
        </p:txBody>
      </p:sp>
      <p:sp>
        <p:nvSpPr>
          <p:cNvPr id="10" name="Shape 8"/>
          <p:cNvSpPr/>
          <p:nvPr/>
        </p:nvSpPr>
        <p:spPr>
          <a:xfrm rot="10800000">
            <a:off x="3492500" y="965200"/>
            <a:ext cx="393700" cy="304800"/>
          </a:xfrm>
          <a:prstGeom prst="triangle">
            <a:avLst>
              <a:gd name="adj" fmla="val 50000"/>
            </a:avLst>
          </a:prstGeom>
          <a:solidFill>
            <a:srgbClr val="04579A"/>
          </a:solidFill>
          <a:ln/>
        </p:spPr>
      </p:sp>
      <p:pic>
        <p:nvPicPr>
          <p:cNvPr id="11" name="Image 0" descr="https://kimi-img.moonshot.cn/pub/slides/okc/flfuysioo4gzm/mnt/agents/output/yuan_pptd/images/image_2.jpg">    </p:cNvPr>
          <p:cNvPicPr>
            <a:picLocks noChangeAspect="1"/>
          </p:cNvPicPr>
          <p:nvPr/>
        </p:nvPicPr>
        <p:blipFill>
          <a:blip r:embed="rId1"/>
          <a:srcRect l="5060" r="29000" t="0" b="0"/>
          <a:stretch/>
        </p:blipFill>
        <p:spPr>
          <a:xfrm>
            <a:off x="546100" y="139700"/>
            <a:ext cx="1270000" cy="749300"/>
          </a:xfrm>
          <a:prstGeom prst="rect">
            <a:avLst/>
          </a:prstGeom>
        </p:spPr>
      </p:pic>
      <p:sp>
        <p:nvSpPr>
          <p:cNvPr id="12" name="Text 9"/>
          <p:cNvSpPr/>
          <p:nvPr/>
        </p:nvSpPr>
        <p:spPr>
          <a:xfrm>
            <a:off x="762000" y="1460500"/>
            <a:ext cx="8890000" cy="571500"/>
          </a:xfrm>
          <a:prstGeom prst="rect">
            <a:avLst/>
          </a:prstGeom>
          <a:noFill/>
          <a:ln/>
        </p:spPr>
        <p:txBody>
          <a:bodyPr wrap="none" lIns="0" tIns="0" rIns="0" bIns="0" rtlCol="0" anchor="ctr"/>
          <a:lstStyle/>
          <a:p>
            <a:pPr algn="l">
              <a:lnSpc>
                <a:spcPct val="120000"/>
              </a:lnSpc>
            </a:pPr>
            <a:r>
              <a:rPr lang="en-US" sz="3000" b="1" dirty="0">
                <a:solidFill>
                  <a:srgbClr val="005C8F"/>
                </a:solidFill>
                <a:latin typeface="Arial" pitchFamily="34" charset="0"/>
                <a:ea typeface="Arial" pitchFamily="34" charset="-122"/>
                <a:cs typeface="Arial" pitchFamily="34" charset="-120"/>
              </a:rPr>
              <a:t>OAuth 局限性（二）</a:t>
            </a:r>
            <a:endParaRPr lang="en-US" sz="3000" dirty="0"/>
          </a:p>
        </p:txBody>
      </p:sp>
      <p:sp>
        <p:nvSpPr>
          <p:cNvPr id="13" name="Text 10"/>
          <p:cNvSpPr/>
          <p:nvPr/>
        </p:nvSpPr>
        <p:spPr>
          <a:xfrm>
            <a:off x="762000" y="2095500"/>
            <a:ext cx="14732000" cy="355600"/>
          </a:xfrm>
          <a:prstGeom prst="rect">
            <a:avLst/>
          </a:prstGeom>
          <a:noFill/>
          <a:ln/>
        </p:spPr>
        <p:txBody>
          <a:bodyPr wrap="none" lIns="0" tIns="0" rIns="0" bIns="0" rtlCol="0" anchor="ctr"/>
          <a:lstStyle/>
          <a:p>
            <a:pPr algn="r">
              <a:lnSpc>
                <a:spcPct val="120000"/>
              </a:lnSpc>
            </a:pPr>
            <a:r>
              <a:rPr lang="en-US" sz="1400" i="1" dirty="0">
                <a:solidFill>
                  <a:srgbClr val="666666"/>
                </a:solidFill>
                <a:latin typeface="Arial" pitchFamily="34" charset="0"/>
                <a:ea typeface="Arial" pitchFamily="34" charset="-122"/>
                <a:cs typeface="Arial" pitchFamily="34" charset="-120"/>
              </a:rPr>
              <a:t>AI Agents Need Authenticated Delegation</a:t>
            </a:r>
            <a:endParaRPr lang="en-US" sz="1400" dirty="0"/>
          </a:p>
        </p:txBody>
      </p:sp>
      <p:sp>
        <p:nvSpPr>
          <p:cNvPr id="14" name="Shape 11"/>
          <p:cNvSpPr/>
          <p:nvPr/>
        </p:nvSpPr>
        <p:spPr>
          <a:xfrm>
            <a:off x="762000" y="2667000"/>
            <a:ext cx="7239000" cy="2921000"/>
          </a:xfrm>
          <a:prstGeom prst="roundRect">
            <a:avLst>
              <a:gd name="adj" fmla="val 6000"/>
            </a:avLst>
          </a:prstGeom>
          <a:solidFill>
            <a:srgbClr val="E6F0F7"/>
          </a:solidFill>
          <a:ln/>
        </p:spPr>
      </p:sp>
      <p:sp>
        <p:nvSpPr>
          <p:cNvPr id="15" name="Text 12"/>
          <p:cNvSpPr/>
          <p:nvPr/>
        </p:nvSpPr>
        <p:spPr>
          <a:xfrm>
            <a:off x="952500" y="2768600"/>
            <a:ext cx="762000" cy="508000"/>
          </a:xfrm>
          <a:prstGeom prst="rect">
            <a:avLst/>
          </a:prstGeom>
          <a:noFill/>
          <a:ln/>
        </p:spPr>
        <p:txBody>
          <a:bodyPr wrap="none" lIns="0" tIns="0" rIns="0" bIns="0" rtlCol="0" anchor="ctr"/>
          <a:lstStyle/>
          <a:p>
            <a:pPr algn="ctr">
              <a:lnSpc>
                <a:spcPct val="120000"/>
              </a:lnSpc>
            </a:pPr>
            <a:r>
              <a:rPr lang="en-US" sz="3200" b="1" dirty="0">
                <a:solidFill>
                  <a:srgbClr val="005C8F"/>
                </a:solidFill>
                <a:latin typeface="Arial" pitchFamily="34" charset="0"/>
                <a:ea typeface="Arial" pitchFamily="34" charset="-122"/>
                <a:cs typeface="Arial" pitchFamily="34" charset="-120"/>
              </a:rPr>
              <a:t>04</a:t>
            </a:r>
            <a:endParaRPr lang="en-US" sz="3200" dirty="0"/>
          </a:p>
        </p:txBody>
      </p:sp>
      <p:sp>
        <p:nvSpPr>
          <p:cNvPr id="16" name="Text 13"/>
          <p:cNvSpPr/>
          <p:nvPr/>
        </p:nvSpPr>
        <p:spPr>
          <a:xfrm>
            <a:off x="1714500" y="2819400"/>
            <a:ext cx="6032500" cy="406400"/>
          </a:xfrm>
          <a:prstGeom prst="rect">
            <a:avLst/>
          </a:prstGeom>
          <a:noFill/>
          <a:ln/>
        </p:spPr>
        <p:txBody>
          <a:bodyPr wrap="none" lIns="0" tIns="0" rIns="0" bIns="0" rtlCol="0" anchor="ctr"/>
          <a:lstStyle/>
          <a:p>
            <a:pPr algn="l">
              <a:lnSpc>
                <a:spcPct val="120000"/>
              </a:lnSpc>
            </a:pPr>
            <a:r>
              <a:rPr lang="en-US" sz="2000" b="1" dirty="0">
                <a:solidFill>
                  <a:srgbClr val="005C8F"/>
                </a:solidFill>
                <a:latin typeface="Arial" pitchFamily="34" charset="0"/>
                <a:ea typeface="Arial" pitchFamily="34" charset="-122"/>
                <a:cs typeface="Arial" pitchFamily="34" charset="-120"/>
              </a:rPr>
              <a:t>缺乏单独的智能体身份</a:t>
            </a:r>
            <a:endParaRPr lang="en-US" sz="2000" dirty="0"/>
          </a:p>
        </p:txBody>
      </p:sp>
      <p:sp>
        <p:nvSpPr>
          <p:cNvPr id="17" name="Text 14"/>
          <p:cNvSpPr/>
          <p:nvPr/>
        </p:nvSpPr>
        <p:spPr>
          <a:xfrm>
            <a:off x="952500" y="3403600"/>
            <a:ext cx="6858000" cy="2159000"/>
          </a:xfrm>
          <a:prstGeom prst="rect">
            <a:avLst/>
          </a:prstGeom>
          <a:noFill/>
          <a:ln/>
        </p:spPr>
        <p:txBody>
          <a:bodyPr wrap="square" lIns="0" tIns="0" rIns="0" bIns="0" rtlCol="0" anchor="t"/>
          <a:lstStyle/>
          <a:p>
            <a:pPr algn="l">
              <a:lnSpc>
                <a:spcPct val="170000"/>
              </a:lnSpc>
            </a:pPr>
            <a:r>
              <a:rPr lang="en-US" sz="1600" dirty="0">
                <a:solidFill>
                  <a:srgbClr val="333333"/>
                </a:solidFill>
                <a:latin typeface="Arial" pitchFamily="34" charset="0"/>
                <a:ea typeface="Arial" pitchFamily="34" charset="-122"/>
                <a:cs typeface="Arial" pitchFamily="34" charset="-120"/>
              </a:rPr>
              <a:t>• OAuth 以</a:t>
            </a:r>
            <a:pPr algn="l">
              <a:lnSpc>
                <a:spcPct val="170000"/>
              </a:lnSpc>
            </a:pPr>
            <a:r>
              <a:rPr lang="en-US" sz="1600" b="1" dirty="0">
                <a:solidFill>
                  <a:srgbClr val="333333"/>
                </a:solidFill>
                <a:latin typeface="Arial" pitchFamily="34" charset="0"/>
                <a:ea typeface="Arial" pitchFamily="34" charset="-122"/>
                <a:cs typeface="Arial" pitchFamily="34" charset="-120"/>
              </a:rPr>
              <a:t>人类用户</a:t>
            </a:r>
            <a:pPr algn="l">
              <a:lnSpc>
                <a:spcPct val="170000"/>
              </a:lnSpc>
            </a:pPr>
            <a:r>
              <a:rPr lang="en-US" sz="1600" dirty="0">
                <a:solidFill>
                  <a:srgbClr val="333333"/>
                </a:solidFill>
                <a:latin typeface="Arial" pitchFamily="34" charset="0"/>
                <a:ea typeface="Arial" pitchFamily="34" charset="-122"/>
                <a:cs typeface="Arial" pitchFamily="34" charset="-120"/>
              </a:rPr>
              <a:t>为授权主体</a:t>
            </a:r>
            <a:endParaRPr lang="en-US" sz="1600" dirty="0"/>
          </a:p>
          <a:p>
            <a:pPr algn="l">
              <a:lnSpc>
                <a:spcPct val="170000"/>
              </a:lnSpc>
            </a:pPr>
            <a:r>
              <a:rPr lang="en-US" sz="1600" dirty="0">
                <a:solidFill>
                  <a:srgbClr val="333333"/>
                </a:solidFill>
                <a:latin typeface="Arial" pitchFamily="34" charset="0"/>
                <a:ea typeface="Arial" pitchFamily="34" charset="-122"/>
                <a:cs typeface="Arial" pitchFamily="34" charset="-120"/>
              </a:rPr>
              <a:t>• 智能体借用用户身份访问资源，无独立标识</a:t>
            </a:r>
            <a:endParaRPr lang="en-US" sz="1600" dirty="0"/>
          </a:p>
          <a:p>
            <a:pPr algn="l">
              <a:lnSpc>
                <a:spcPct val="170000"/>
              </a:lnSpc>
            </a:pPr>
            <a:r>
              <a:rPr lang="en-US" sz="1600" dirty="0">
                <a:solidFill>
                  <a:srgbClr val="333333"/>
                </a:solidFill>
                <a:latin typeface="Arial" pitchFamily="34" charset="0"/>
                <a:ea typeface="Arial" pitchFamily="34" charset="-122"/>
                <a:cs typeface="Arial" pitchFamily="34" charset="-120"/>
              </a:rPr>
              <a:t>• 无法区分是哪个智能体发起了请求</a:t>
            </a:r>
            <a:endParaRPr lang="en-US" sz="1600" dirty="0"/>
          </a:p>
          <a:p>
            <a:pPr algn="l">
              <a:lnSpc>
                <a:spcPct val="170000"/>
              </a:lnSpc>
            </a:pPr>
            <a:r>
              <a:rPr lang="en-US" sz="1600" dirty="0">
                <a:solidFill>
                  <a:srgbClr val="333333"/>
                </a:solidFill>
                <a:latin typeface="Arial" pitchFamily="34" charset="0"/>
                <a:ea typeface="Arial" pitchFamily="34" charset="-122"/>
                <a:cs typeface="Arial" pitchFamily="34" charset="-120"/>
              </a:rPr>
              <a:t>• 导致</a:t>
            </a:r>
            <a:pPr algn="l">
              <a:lnSpc>
                <a:spcPct val="170000"/>
              </a:lnSpc>
            </a:pPr>
            <a:r>
              <a:rPr lang="en-US" sz="1600" b="1" dirty="0">
                <a:solidFill>
                  <a:srgbClr val="333333"/>
                </a:solidFill>
                <a:latin typeface="Arial" pitchFamily="34" charset="0"/>
                <a:ea typeface="Arial" pitchFamily="34" charset="-122"/>
                <a:cs typeface="Arial" pitchFamily="34" charset="-120"/>
              </a:rPr>
              <a:t>审计追踪困难</a:t>
            </a:r>
            <a:pPr algn="l">
              <a:lnSpc>
                <a:spcPct val="170000"/>
              </a:lnSpc>
            </a:pPr>
            <a:r>
              <a:rPr lang="en-US" sz="1600" dirty="0">
                <a:solidFill>
                  <a:srgbClr val="333333"/>
                </a:solidFill>
                <a:latin typeface="Arial" pitchFamily="34" charset="0"/>
                <a:ea typeface="Arial" pitchFamily="34" charset="-122"/>
                <a:cs typeface="Arial" pitchFamily="34" charset="-120"/>
              </a:rPr>
              <a:t>，责任归属模糊</a:t>
            </a:r>
            <a:endParaRPr lang="en-US" sz="1600" dirty="0"/>
          </a:p>
          <a:p>
            <a:pPr algn="l">
              <a:lnSpc>
                <a:spcPct val="170000"/>
              </a:lnSpc>
            </a:pPr>
            <a:r>
              <a:rPr lang="en-US" sz="1600" dirty="0">
                <a:solidFill>
                  <a:srgbClr val="333333"/>
                </a:solidFill>
                <a:latin typeface="Arial" pitchFamily="34" charset="0"/>
                <a:ea typeface="Arial" pitchFamily="34" charset="-122"/>
                <a:cs typeface="Arial" pitchFamily="34" charset="-120"/>
              </a:rPr>
              <a:t>• 多智能体场景下身份混淆风险加剧</a:t>
            </a:r>
            <a:endParaRPr lang="en-US" sz="1600" dirty="0"/>
          </a:p>
        </p:txBody>
      </p:sp>
      <p:sp>
        <p:nvSpPr>
          <p:cNvPr id="18" name="Shape 15"/>
          <p:cNvSpPr/>
          <p:nvPr/>
        </p:nvSpPr>
        <p:spPr>
          <a:xfrm>
            <a:off x="8255000" y="2667000"/>
            <a:ext cx="7239000" cy="2921000"/>
          </a:xfrm>
          <a:prstGeom prst="roundRect">
            <a:avLst>
              <a:gd name="adj" fmla="val 6000"/>
            </a:avLst>
          </a:prstGeom>
          <a:solidFill>
            <a:srgbClr val="E6F0F7"/>
          </a:solidFill>
          <a:ln/>
        </p:spPr>
      </p:sp>
      <p:sp>
        <p:nvSpPr>
          <p:cNvPr id="19" name="Text 16"/>
          <p:cNvSpPr/>
          <p:nvPr/>
        </p:nvSpPr>
        <p:spPr>
          <a:xfrm>
            <a:off x="8445500" y="2768600"/>
            <a:ext cx="762000" cy="508000"/>
          </a:xfrm>
          <a:prstGeom prst="rect">
            <a:avLst/>
          </a:prstGeom>
          <a:noFill/>
          <a:ln/>
        </p:spPr>
        <p:txBody>
          <a:bodyPr wrap="none" lIns="0" tIns="0" rIns="0" bIns="0" rtlCol="0" anchor="ctr"/>
          <a:lstStyle/>
          <a:p>
            <a:pPr algn="ctr">
              <a:lnSpc>
                <a:spcPct val="120000"/>
              </a:lnSpc>
            </a:pPr>
            <a:r>
              <a:rPr lang="en-US" sz="3200" b="1" dirty="0">
                <a:solidFill>
                  <a:srgbClr val="005C8F"/>
                </a:solidFill>
                <a:latin typeface="Arial" pitchFamily="34" charset="0"/>
                <a:ea typeface="Arial" pitchFamily="34" charset="-122"/>
                <a:cs typeface="Arial" pitchFamily="34" charset="-120"/>
              </a:rPr>
              <a:t>05</a:t>
            </a:r>
            <a:endParaRPr lang="en-US" sz="3200" dirty="0"/>
          </a:p>
        </p:txBody>
      </p:sp>
      <p:sp>
        <p:nvSpPr>
          <p:cNvPr id="20" name="Text 17"/>
          <p:cNvSpPr/>
          <p:nvPr/>
        </p:nvSpPr>
        <p:spPr>
          <a:xfrm>
            <a:off x="9207500" y="2819400"/>
            <a:ext cx="6032500" cy="406400"/>
          </a:xfrm>
          <a:prstGeom prst="rect">
            <a:avLst/>
          </a:prstGeom>
          <a:noFill/>
          <a:ln/>
        </p:spPr>
        <p:txBody>
          <a:bodyPr wrap="none" lIns="0" tIns="0" rIns="0" bIns="0" rtlCol="0" anchor="ctr"/>
          <a:lstStyle/>
          <a:p>
            <a:pPr algn="l">
              <a:lnSpc>
                <a:spcPct val="120000"/>
              </a:lnSpc>
            </a:pPr>
            <a:r>
              <a:rPr lang="en-US" sz="2000" b="1" dirty="0">
                <a:solidFill>
                  <a:srgbClr val="005C8F"/>
                </a:solidFill>
                <a:latin typeface="Arial" pitchFamily="34" charset="0"/>
                <a:ea typeface="Arial" pitchFamily="34" charset="-122"/>
                <a:cs typeface="Arial" pitchFamily="34" charset="-120"/>
              </a:rPr>
              <a:t>缺乏权限委托与多Agent权限衰减</a:t>
            </a:r>
            <a:endParaRPr lang="en-US" sz="2000" dirty="0"/>
          </a:p>
        </p:txBody>
      </p:sp>
      <p:sp>
        <p:nvSpPr>
          <p:cNvPr id="21" name="Text 18"/>
          <p:cNvSpPr/>
          <p:nvPr/>
        </p:nvSpPr>
        <p:spPr>
          <a:xfrm>
            <a:off x="8445500" y="3403600"/>
            <a:ext cx="6858000" cy="2159000"/>
          </a:xfrm>
          <a:prstGeom prst="rect">
            <a:avLst/>
          </a:prstGeom>
          <a:noFill/>
          <a:ln/>
        </p:spPr>
        <p:txBody>
          <a:bodyPr wrap="square" lIns="0" tIns="0" rIns="0" bIns="0" rtlCol="0" anchor="t"/>
          <a:lstStyle/>
          <a:p>
            <a:pPr algn="l">
              <a:lnSpc>
                <a:spcPct val="170000"/>
              </a:lnSpc>
            </a:pPr>
            <a:r>
              <a:rPr lang="en-US" sz="1600" dirty="0">
                <a:solidFill>
                  <a:srgbClr val="333333"/>
                </a:solidFill>
                <a:latin typeface="Arial" pitchFamily="34" charset="0"/>
                <a:ea typeface="Arial" pitchFamily="34" charset="-122"/>
                <a:cs typeface="Arial" pitchFamily="34" charset="-120"/>
              </a:rPr>
              <a:t>• 不支持智能体间</a:t>
            </a:r>
            <a:pPr algn="l">
              <a:lnSpc>
                <a:spcPct val="170000"/>
              </a:lnSpc>
            </a:pPr>
            <a:r>
              <a:rPr lang="en-US" sz="1600" b="1" dirty="0">
                <a:solidFill>
                  <a:srgbClr val="333333"/>
                </a:solidFill>
                <a:latin typeface="Arial" pitchFamily="34" charset="0"/>
                <a:ea typeface="Arial" pitchFamily="34" charset="-122"/>
                <a:cs typeface="Arial" pitchFamily="34" charset="-120"/>
              </a:rPr>
              <a:t>权限委托</a:t>
            </a:r>
            <a:pPr algn="l">
              <a:lnSpc>
                <a:spcPct val="170000"/>
              </a:lnSpc>
            </a:pPr>
            <a:r>
              <a:rPr lang="en-US" sz="1600" dirty="0">
                <a:solidFill>
                  <a:srgbClr val="333333"/>
                </a:solidFill>
                <a:latin typeface="Arial" pitchFamily="34" charset="0"/>
                <a:ea typeface="Arial" pitchFamily="34" charset="-122"/>
                <a:cs typeface="Arial" pitchFamily="34" charset="-120"/>
              </a:rPr>
              <a:t>机制</a:t>
            </a:r>
            <a:endParaRPr lang="en-US" sz="1600" dirty="0"/>
          </a:p>
          <a:p>
            <a:pPr algn="l">
              <a:lnSpc>
                <a:spcPct val="170000"/>
              </a:lnSpc>
            </a:pPr>
            <a:r>
              <a:rPr lang="en-US" sz="1600" dirty="0">
                <a:solidFill>
                  <a:srgbClr val="333333"/>
                </a:solidFill>
                <a:latin typeface="Arial" pitchFamily="34" charset="0"/>
                <a:ea typeface="Arial" pitchFamily="34" charset="-122"/>
                <a:cs typeface="Arial" pitchFamily="34" charset="-120"/>
              </a:rPr>
              <a:t>• 多智能体协作时权限无法传递</a:t>
            </a:r>
            <a:endParaRPr lang="en-US" sz="1600" dirty="0"/>
          </a:p>
          <a:p>
            <a:pPr algn="l">
              <a:lnSpc>
                <a:spcPct val="170000"/>
              </a:lnSpc>
            </a:pPr>
            <a:r>
              <a:rPr lang="en-US" sz="1600" dirty="0">
                <a:solidFill>
                  <a:srgbClr val="333333"/>
                </a:solidFill>
                <a:latin typeface="Arial" pitchFamily="34" charset="0"/>
                <a:ea typeface="Arial" pitchFamily="34" charset="-122"/>
                <a:cs typeface="Arial" pitchFamily="34" charset="-120"/>
              </a:rPr>
              <a:t>• 缺乏委托链上的</a:t>
            </a:r>
            <a:pPr algn="l">
              <a:lnSpc>
                <a:spcPct val="170000"/>
              </a:lnSpc>
            </a:pPr>
            <a:r>
              <a:rPr lang="en-US" sz="1600" b="1" dirty="0">
                <a:solidFill>
                  <a:srgbClr val="333333"/>
                </a:solidFill>
                <a:latin typeface="Arial" pitchFamily="34" charset="0"/>
                <a:ea typeface="Arial" pitchFamily="34" charset="-122"/>
                <a:cs typeface="Arial" pitchFamily="34" charset="-120"/>
              </a:rPr>
              <a:t>权限单调衰减</a:t>
            </a:r>
            <a:endParaRPr lang="en-US" sz="1600" dirty="0"/>
          </a:p>
          <a:p>
            <a:pPr algn="l">
              <a:lnSpc>
                <a:spcPct val="170000"/>
              </a:lnSpc>
            </a:pPr>
            <a:r>
              <a:rPr lang="en-US" sz="1600" dirty="0">
                <a:solidFill>
                  <a:srgbClr val="333333"/>
                </a:solidFill>
                <a:latin typeface="Arial" pitchFamily="34" charset="0"/>
                <a:ea typeface="Arial" pitchFamily="34" charset="-122"/>
                <a:cs typeface="Arial" pitchFamily="34" charset="-120"/>
              </a:rPr>
              <a:t>• 子智能体可能获得与父智能体同等权限</a:t>
            </a:r>
            <a:endParaRPr lang="en-US" sz="1600" dirty="0"/>
          </a:p>
          <a:p>
            <a:pPr algn="l">
              <a:lnSpc>
                <a:spcPct val="170000"/>
              </a:lnSpc>
            </a:pPr>
            <a:r>
              <a:rPr lang="en-US" sz="1600" dirty="0">
                <a:solidFill>
                  <a:srgbClr val="333333"/>
                </a:solidFill>
                <a:latin typeface="Arial" pitchFamily="34" charset="0"/>
                <a:ea typeface="Arial" pitchFamily="34" charset="-122"/>
                <a:cs typeface="Arial" pitchFamily="34" charset="-120"/>
              </a:rPr>
              <a:t>• 委托关系</a:t>
            </a:r>
            <a:pPr algn="l">
              <a:lnSpc>
                <a:spcPct val="170000"/>
              </a:lnSpc>
            </a:pPr>
            <a:r>
              <a:rPr lang="en-US" sz="1600" b="1" dirty="0">
                <a:solidFill>
                  <a:srgbClr val="333333"/>
                </a:solidFill>
                <a:latin typeface="Arial" pitchFamily="34" charset="0"/>
                <a:ea typeface="Arial" pitchFamily="34" charset="-122"/>
                <a:cs typeface="Arial" pitchFamily="34" charset="-120"/>
              </a:rPr>
              <a:t>不可追溯、不可撤销</a:t>
            </a:r>
            <a:endParaRPr lang="en-US" sz="1600" dirty="0"/>
          </a:p>
        </p:txBody>
      </p:sp>
      <p:sp>
        <p:nvSpPr>
          <p:cNvPr id="22" name="Shape 19"/>
          <p:cNvSpPr/>
          <p:nvPr/>
        </p:nvSpPr>
        <p:spPr>
          <a:xfrm>
            <a:off x="762000" y="5905500"/>
            <a:ext cx="14732000" cy="1079500"/>
          </a:xfrm>
          <a:prstGeom prst="roundRect">
            <a:avLst>
              <a:gd name="adj" fmla="val 5000"/>
            </a:avLst>
          </a:prstGeom>
          <a:solidFill>
            <a:srgbClr val="005C8F"/>
          </a:solidFill>
          <a:ln/>
        </p:spPr>
      </p:sp>
      <p:sp>
        <p:nvSpPr>
          <p:cNvPr id="23" name="Text 20"/>
          <p:cNvSpPr/>
          <p:nvPr/>
        </p:nvSpPr>
        <p:spPr>
          <a:xfrm>
            <a:off x="1016000" y="6007100"/>
            <a:ext cx="14224000" cy="863600"/>
          </a:xfrm>
          <a:prstGeom prst="rect">
            <a:avLst/>
          </a:prstGeom>
          <a:noFill/>
          <a:ln/>
        </p:spPr>
        <p:txBody>
          <a:bodyPr wrap="square" lIns="0" tIns="0" rIns="0" bIns="0" rtlCol="0" anchor="ctr"/>
          <a:lstStyle/>
          <a:p>
            <a:pPr algn="l">
              <a:lnSpc>
                <a:spcPct val="160000"/>
              </a:lnSpc>
            </a:pPr>
            <a:r>
              <a:rPr lang="en-US" sz="1600" b="1" dirty="0">
                <a:solidFill>
                  <a:srgbClr val="FFFFFF"/>
                </a:solidFill>
                <a:latin typeface="Arial" pitchFamily="34" charset="0"/>
                <a:ea typeface="Arial" pitchFamily="34" charset="-122"/>
                <a:cs typeface="Arial" pitchFamily="34" charset="-120"/>
              </a:rPr>
              <a:t>总结：</a:t>
            </a:r>
            <a:pPr algn="l">
              <a:lnSpc>
                <a:spcPct val="160000"/>
              </a:lnSpc>
            </a:pPr>
            <a:r>
              <a:rPr lang="en-US" sz="1600" dirty="0">
                <a:solidFill>
                  <a:srgbClr val="FFFFFF"/>
                </a:solidFill>
                <a:latin typeface="Arial" pitchFamily="34" charset="0"/>
                <a:ea typeface="Arial" pitchFamily="34" charset="-122"/>
                <a:cs typeface="Arial" pitchFamily="34" charset="-120"/>
              </a:rPr>
              <a:t>OAuth 设计之初面向"人类用户委托第三方应用访问资源"的场景，而智能体场景需要"</a:t>
            </a:r>
            <a:pPr algn="l">
              <a:lnSpc>
                <a:spcPct val="160000"/>
              </a:lnSpc>
            </a:pPr>
            <a:r>
              <a:rPr lang="en-US" sz="1600" b="1" dirty="0">
                <a:solidFill>
                  <a:srgbClr val="FFFFFF"/>
                </a:solidFill>
                <a:latin typeface="Arial" pitchFamily="34" charset="0"/>
                <a:ea typeface="Arial" pitchFamily="34" charset="-122"/>
                <a:cs typeface="Arial" pitchFamily="34" charset="-120"/>
              </a:rPr>
              <a:t>用户→智能体→子智能体→工具</a:t>
            </a:r>
            <a:pPr algn="l">
              <a:lnSpc>
                <a:spcPct val="160000"/>
              </a:lnSpc>
            </a:pPr>
            <a:r>
              <a:rPr lang="en-US" sz="1600" dirty="0">
                <a:solidFill>
                  <a:srgbClr val="FFFFFF"/>
                </a:solidFill>
                <a:latin typeface="Arial" pitchFamily="34" charset="0"/>
                <a:ea typeface="Arial" pitchFamily="34" charset="-122"/>
                <a:cs typeface="Arial" pitchFamily="34" charset="-120"/>
              </a:rPr>
              <a:t>"的多级委托链，且每个环节都需要独立的身份标识与权限衰减控制。现有机制无法满足这些需求。</a:t>
            </a:r>
            <a:endParaRPr lang="en-US" sz="1600" dirty="0"/>
          </a:p>
        </p:txBody>
      </p:sp>
      <p:sp>
        <p:nvSpPr>
          <p:cNvPr id="24" name="Text 21"/>
          <p:cNvSpPr/>
          <p:nvPr/>
        </p:nvSpPr>
        <p:spPr>
          <a:xfrm>
            <a:off x="15240000" y="8636000"/>
            <a:ext cx="635000" cy="381000"/>
          </a:xfrm>
          <a:prstGeom prst="rect">
            <a:avLst/>
          </a:prstGeom>
          <a:noFill/>
          <a:ln/>
        </p:spPr>
        <p:txBody>
          <a:bodyPr wrap="none" lIns="0" tIns="0" rIns="0" bIns="0" rtlCol="0" anchor="ctr"/>
          <a:lstStyle/>
          <a:p>
            <a:pPr algn="r">
              <a:lnSpc>
                <a:spcPct val="120000"/>
              </a:lnSpc>
            </a:pPr>
            <a:r>
              <a:rPr lang="en-US" sz="1800" dirty="0">
                <a:solidFill>
                  <a:srgbClr val="666666"/>
                </a:solidFill>
                <a:latin typeface="Arial" pitchFamily="34" charset="0"/>
                <a:ea typeface="Arial" pitchFamily="34" charset="-122"/>
                <a:cs typeface="Arial" pitchFamily="34" charset="-120"/>
              </a:rPr>
              <a:t>7</a:t>
            </a:r>
            <a:endParaRPr lang="en-US" sz="1800" dirty="0"/>
          </a:p>
        </p:txBody>
      </p:sp>
    </p:spTree>
  </p:cSld>
  <p:clrMapOvr>
    <a:masterClrMapping/>
  </p:clrMapOvr>
  <p:transition>
    <p:fade/>
    <p:spd val="med"/>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654431" y="3809111"/>
            <a:ext cx="14037691" cy="762889"/>
          </a:xfrm>
          <a:prstGeom prst="rect">
            <a:avLst/>
          </a:prstGeom>
          <a:solidFill>
            <a:srgbClr val="F2F2F2"/>
          </a:solidFill>
          <a:ln/>
        </p:spPr>
      </p:sp>
      <p:sp>
        <p:nvSpPr>
          <p:cNvPr id="4" name="Text 1"/>
          <p:cNvSpPr/>
          <p:nvPr/>
        </p:nvSpPr>
        <p:spPr>
          <a:xfrm>
            <a:off x="643509" y="1196340"/>
            <a:ext cx="14772640" cy="531749"/>
          </a:xfrm>
          <a:prstGeom prst="rect">
            <a:avLst/>
          </a:prstGeom>
          <a:noFill/>
          <a:ln/>
        </p:spPr>
        <p:txBody>
          <a:bodyPr wrap="square" lIns="0" tIns="0" rIns="0" bIns="0" rtlCol="0" anchor="t"/>
          <a:lstStyle/>
          <a:p>
            <a:pPr algn="l">
              <a:lnSpc>
                <a:spcPct val="120000"/>
              </a:lnSpc>
            </a:pPr>
            <a:r>
              <a:rPr lang="en-US" sz="2670" dirty="0">
                <a:solidFill>
                  <a:srgbClr val="000000"/>
                </a:solidFill>
                <a:latin typeface="Arial" pitchFamily="34" charset="0"/>
                <a:ea typeface="Arial" pitchFamily="34" charset="-122"/>
                <a:cs typeface="Arial" pitchFamily="34" charset="-120"/>
              </a:rPr>
              <a:t>数字资产市场为区块链提供了新的</a:t>
            </a:r>
            <a:pPr algn="l">
              <a:lnSpc>
                <a:spcPct val="120000"/>
              </a:lnSpc>
            </a:pPr>
            <a:r>
              <a:rPr lang="en-US" sz="2670" b="1" dirty="0">
                <a:solidFill>
                  <a:srgbClr val="04579A"/>
                </a:solidFill>
                <a:latin typeface="Arial" pitchFamily="34" charset="0"/>
                <a:ea typeface="Arial" pitchFamily="34" charset="-122"/>
                <a:cs typeface="Arial" pitchFamily="34" charset="-120"/>
              </a:rPr>
              <a:t>应用方向</a:t>
            </a:r>
            <a:pPr algn="l">
              <a:lnSpc>
                <a:spcPct val="120000"/>
              </a:lnSpc>
            </a:pPr>
            <a:r>
              <a:rPr lang="en-US" sz="2670" dirty="0">
                <a:solidFill>
                  <a:srgbClr val="000000"/>
                </a:solidFill>
                <a:latin typeface="Arial" pitchFamily="34" charset="0"/>
                <a:ea typeface="Arial" pitchFamily="34" charset="-122"/>
                <a:cs typeface="Arial" pitchFamily="34" charset="-120"/>
              </a:rPr>
              <a:t>，但同时也带来了新的</a:t>
            </a:r>
            <a:pPr algn="l">
              <a:lnSpc>
                <a:spcPct val="120000"/>
              </a:lnSpc>
            </a:pPr>
            <a:r>
              <a:rPr lang="en-US" sz="2670" b="1" dirty="0">
                <a:solidFill>
                  <a:srgbClr val="04579A"/>
                </a:solidFill>
                <a:latin typeface="Arial" pitchFamily="34" charset="0"/>
                <a:ea typeface="Arial" pitchFamily="34" charset="-122"/>
                <a:cs typeface="Arial" pitchFamily="34" charset="-120"/>
              </a:rPr>
              <a:t>技术需求</a:t>
            </a:r>
            <a:pPr algn="l">
              <a:lnSpc>
                <a:spcPct val="120000"/>
              </a:lnSpc>
            </a:pPr>
            <a:r>
              <a:rPr lang="en-US" sz="2670" dirty="0">
                <a:solidFill>
                  <a:srgbClr val="000000"/>
                </a:solidFill>
                <a:latin typeface="Arial" pitchFamily="34" charset="0"/>
                <a:ea typeface="Arial" pitchFamily="34" charset="-122"/>
                <a:cs typeface="Arial" pitchFamily="34" charset="-120"/>
              </a:rPr>
              <a:t>：</a:t>
            </a:r>
            <a:endParaRPr lang="en-US" sz="2670" dirty="0"/>
          </a:p>
        </p:txBody>
      </p:sp>
      <p:sp>
        <p:nvSpPr>
          <p:cNvPr id="5" name="Shape 2"/>
          <p:cNvSpPr/>
          <p:nvPr/>
        </p:nvSpPr>
        <p:spPr>
          <a:xfrm>
            <a:off x="2219960" y="0"/>
            <a:ext cx="2895600" cy="962660"/>
          </a:xfrm>
          <a:prstGeom prst="rect">
            <a:avLst/>
          </a:prstGeom>
          <a:solidFill>
            <a:srgbClr val="F2F2F2"/>
          </a:solidFill>
          <a:ln w="12700">
            <a:solidFill>
              <a:srgbClr val="F2F2F2"/>
            </a:solidFill>
            <a:prstDash val="solid"/>
          </a:ln>
        </p:spPr>
      </p:sp>
      <p:sp>
        <p:nvSpPr>
          <p:cNvPr id="6" name="Shape 3"/>
          <p:cNvSpPr/>
          <p:nvPr/>
        </p:nvSpPr>
        <p:spPr>
          <a:xfrm>
            <a:off x="5162169" y="-889"/>
            <a:ext cx="2590800" cy="962660"/>
          </a:xfrm>
          <a:prstGeom prst="rect">
            <a:avLst/>
          </a:prstGeom>
          <a:solidFill>
            <a:srgbClr val="F2F2F2"/>
          </a:solidFill>
          <a:ln/>
        </p:spPr>
      </p:sp>
      <p:sp>
        <p:nvSpPr>
          <p:cNvPr id="7" name="Shape 4"/>
          <p:cNvSpPr/>
          <p:nvPr/>
        </p:nvSpPr>
        <p:spPr>
          <a:xfrm>
            <a:off x="7816469" y="-889"/>
            <a:ext cx="4114800" cy="962660"/>
          </a:xfrm>
          <a:prstGeom prst="rect">
            <a:avLst/>
          </a:prstGeom>
          <a:solidFill>
            <a:srgbClr val="F2F2F2"/>
          </a:solidFill>
          <a:ln/>
        </p:spPr>
      </p:sp>
      <p:sp>
        <p:nvSpPr>
          <p:cNvPr id="8" name="Shape 5"/>
          <p:cNvSpPr/>
          <p:nvPr/>
        </p:nvSpPr>
        <p:spPr>
          <a:xfrm>
            <a:off x="11971020" y="0"/>
            <a:ext cx="4284980" cy="961771"/>
          </a:xfrm>
          <a:prstGeom prst="rect">
            <a:avLst/>
          </a:prstGeom>
          <a:solidFill>
            <a:srgbClr val="F2F2F2"/>
          </a:solidFill>
          <a:ln/>
        </p:spPr>
      </p:sp>
      <p:sp>
        <p:nvSpPr>
          <p:cNvPr id="9" name="Shape 6"/>
          <p:cNvSpPr/>
          <p:nvPr/>
        </p:nvSpPr>
        <p:spPr>
          <a:xfrm>
            <a:off x="2219960" y="-889"/>
            <a:ext cx="2895600" cy="962660"/>
          </a:xfrm>
          <a:prstGeom prst="rect">
            <a:avLst/>
          </a:prstGeom>
          <a:solidFill>
            <a:srgbClr val="04579A"/>
          </a:solidFill>
          <a:ln w="12700">
            <a:solidFill>
              <a:srgbClr val="04579A"/>
            </a:solidFill>
            <a:prstDash val="solid"/>
          </a:ln>
        </p:spPr>
      </p:sp>
      <p:sp>
        <p:nvSpPr>
          <p:cNvPr id="10" name="Text 7"/>
          <p:cNvSpPr/>
          <p:nvPr/>
        </p:nvSpPr>
        <p:spPr>
          <a:xfrm>
            <a:off x="2283460" y="203200"/>
            <a:ext cx="2768600" cy="508000"/>
          </a:xfrm>
          <a:prstGeom prst="rect">
            <a:avLst/>
          </a:prstGeom>
          <a:noFill/>
          <a:ln/>
        </p:spPr>
        <p:txBody>
          <a:bodyPr wrap="none" lIns="0" tIns="0" rIns="0" bIns="0" rtlCol="0" anchor="ctr"/>
          <a:lstStyle/>
          <a:p>
            <a:pPr algn="ctr">
              <a:lnSpc>
                <a:spcPct val="120000"/>
              </a:lnSpc>
            </a:pPr>
            <a:r>
              <a:rPr lang="en-US" sz="2000" dirty="0">
                <a:solidFill>
                  <a:srgbClr val="FFFFFF"/>
                </a:solidFill>
                <a:latin typeface="Arial" pitchFamily="34" charset="0"/>
                <a:ea typeface="Arial" pitchFamily="34" charset="-122"/>
                <a:cs typeface="Arial" pitchFamily="34" charset="-120"/>
              </a:rPr>
              <a:t>选题背景及意义</a:t>
            </a:r>
            <a:endParaRPr lang="en-US" sz="2000" dirty="0"/>
          </a:p>
        </p:txBody>
      </p:sp>
      <p:sp>
        <p:nvSpPr>
          <p:cNvPr id="11" name="Text 8"/>
          <p:cNvSpPr/>
          <p:nvPr/>
        </p:nvSpPr>
        <p:spPr>
          <a:xfrm>
            <a:off x="5225669" y="203200"/>
            <a:ext cx="24638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国内外研究现状</a:t>
            </a:r>
            <a:endParaRPr lang="en-US" sz="2000" dirty="0"/>
          </a:p>
        </p:txBody>
      </p:sp>
      <p:sp>
        <p:nvSpPr>
          <p:cNvPr id="12" name="Text 9"/>
          <p:cNvSpPr/>
          <p:nvPr/>
        </p:nvSpPr>
        <p:spPr>
          <a:xfrm>
            <a:off x="7879969" y="203200"/>
            <a:ext cx="39878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主要研究内容及预期目标</a:t>
            </a:r>
            <a:endParaRPr lang="en-US" sz="2000" dirty="0"/>
          </a:p>
        </p:txBody>
      </p:sp>
      <p:sp>
        <p:nvSpPr>
          <p:cNvPr id="13" name="Text 10"/>
          <p:cNvSpPr/>
          <p:nvPr/>
        </p:nvSpPr>
        <p:spPr>
          <a:xfrm>
            <a:off x="12034520" y="203200"/>
            <a:ext cx="415798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工作计划与进度安排</a:t>
            </a:r>
            <a:endParaRPr lang="en-US" sz="2000" dirty="0"/>
          </a:p>
        </p:txBody>
      </p:sp>
      <p:pic>
        <p:nvPicPr>
          <p:cNvPr id="14" name="Image 0" descr="https://kimi-img.moonshot.cn/pub/slides/okc/flfuysioo4gzm/mnt/agents/output/yuan_pptd/images/image_2.jpg">    </p:cNvPr>
          <p:cNvPicPr>
            <a:picLocks noChangeAspect="1"/>
          </p:cNvPicPr>
          <p:nvPr/>
        </p:nvPicPr>
        <p:blipFill>
          <a:blip r:embed="rId1"/>
          <a:srcRect l="5060" r="29000" t="0" b="0"/>
          <a:stretch/>
        </p:blipFill>
        <p:spPr>
          <a:xfrm>
            <a:off x="544449" y="140589"/>
            <a:ext cx="1273429" cy="745871"/>
          </a:xfrm>
          <a:prstGeom prst="rect">
            <a:avLst/>
          </a:prstGeom>
        </p:spPr>
      </p:pic>
      <p:sp>
        <p:nvSpPr>
          <p:cNvPr id="15" name="Shape 11"/>
          <p:cNvSpPr/>
          <p:nvPr/>
        </p:nvSpPr>
        <p:spPr>
          <a:xfrm rot="10800000">
            <a:off x="3496691" y="961771"/>
            <a:ext cx="389509" cy="304800"/>
          </a:xfrm>
          <a:prstGeom prst="triangle">
            <a:avLst>
              <a:gd name="adj" fmla="val 50000"/>
            </a:avLst>
          </a:prstGeom>
          <a:solidFill>
            <a:srgbClr val="04579A"/>
          </a:solidFill>
          <a:ln/>
        </p:spPr>
      </p:sp>
      <p:sp>
        <p:nvSpPr>
          <p:cNvPr id="16" name="Shape 12"/>
          <p:cNvSpPr/>
          <p:nvPr/>
        </p:nvSpPr>
        <p:spPr>
          <a:xfrm>
            <a:off x="643509" y="2236089"/>
            <a:ext cx="14037691" cy="762889"/>
          </a:xfrm>
          <a:prstGeom prst="rect">
            <a:avLst/>
          </a:prstGeom>
          <a:solidFill>
            <a:srgbClr val="F2F2F2"/>
          </a:solidFill>
          <a:ln/>
        </p:spPr>
      </p:sp>
      <p:sp>
        <p:nvSpPr>
          <p:cNvPr id="17" name="Shape 13"/>
          <p:cNvSpPr/>
          <p:nvPr/>
        </p:nvSpPr>
        <p:spPr>
          <a:xfrm>
            <a:off x="1358900" y="3120009"/>
            <a:ext cx="486029" cy="343789"/>
          </a:xfrm>
          <a:prstGeom prst="chevron">
            <a:avLst>
              <a:gd name="adj" fmla="val 50000"/>
            </a:avLst>
          </a:prstGeom>
          <a:solidFill>
            <a:srgbClr val="04579A"/>
          </a:solidFill>
          <a:ln w="12700">
            <a:solidFill>
              <a:srgbClr val="304B73"/>
            </a:solidFill>
            <a:prstDash val="solid"/>
          </a:ln>
        </p:spPr>
      </p:sp>
      <p:sp>
        <p:nvSpPr>
          <p:cNvPr id="18" name="Text 14"/>
          <p:cNvSpPr/>
          <p:nvPr/>
        </p:nvSpPr>
        <p:spPr>
          <a:xfrm>
            <a:off x="742569" y="2218309"/>
            <a:ext cx="14771751" cy="4594860"/>
          </a:xfrm>
          <a:prstGeom prst="rect">
            <a:avLst/>
          </a:prstGeom>
          <a:noFill/>
          <a:ln/>
        </p:spPr>
        <p:txBody>
          <a:bodyPr wrap="square" lIns="0" tIns="0" rIns="0" bIns="0" rtlCol="0" anchor="t"/>
          <a:lstStyle/>
          <a:p>
            <a:pPr algn="l" marL="423863" indent="-423863">
              <a:lnSpc>
                <a:spcPct val="150000"/>
              </a:lnSpc>
              <a:spcBef>
                <a:spcPts val="10"/>
              </a:spcBef>
              <a:buSzPct val="100000"/>
              <a:buFont typeface="+mj-lt"/>
              <a:buAutoNum type="arabicPeriod" startAt="1"/>
            </a:pPr>
            <a:r>
              <a:rPr lang="en-US" sz="2670" dirty="0">
                <a:solidFill>
                  <a:srgbClr val="262626"/>
                </a:solidFill>
                <a:latin typeface="Arial" pitchFamily="34" charset="0"/>
                <a:ea typeface="Arial" pitchFamily="34" charset="-122"/>
                <a:cs typeface="Arial" pitchFamily="34" charset="-120"/>
              </a:rPr>
              <a:t>智能体执行任务的自主性对智能体的授权粒度提出了更高的要求</a:t>
            </a:r>
            <a:endParaRPr lang="en-US" sz="2670" dirty="0"/>
          </a:p>
          <a:p>
            <a:pPr algn="l">
              <a:lnSpc>
                <a:spcPct val="150000"/>
              </a:lnSpc>
            </a:pPr>
            <a:r>
              <a:rPr lang="en-US" sz="3200" b="1" dirty="0">
                <a:solidFill>
                  <a:srgbClr val="04579A"/>
                </a:solidFill>
                <a:latin typeface="Arial" pitchFamily="34" charset="0"/>
                <a:ea typeface="Arial" pitchFamily="34" charset="-122"/>
                <a:cs typeface="Arial" pitchFamily="34" charset="-120"/>
              </a:rPr>
              <a:t>智能体授权协议的授权粒度需要匹配具体任务</a:t>
            </a:r>
            <a:pPr algn="l">
              <a:lnSpc>
                <a:spcPct val="150000"/>
              </a:lnSpc>
            </a:pPr>
            <a:r>
              <a:rPr lang="en-US" sz="3200" b="1" dirty="0">
                <a:solidFill>
                  <a:srgbClr val="04579A"/>
                </a:solidFill>
                <a:latin typeface="Arial" pitchFamily="34" charset="0"/>
                <a:ea typeface="Arial" pitchFamily="34" charset="-122"/>
                <a:cs typeface="Arial" pitchFamily="34" charset="-120"/>
              </a:rPr>
              <a:t>级语义</a:t>
            </a:r>
            <a:endParaRPr lang="en-US" sz="2670" dirty="0"/>
          </a:p>
          <a:p>
            <a:pPr algn="l" marL="423863" indent="-423863">
              <a:lnSpc>
                <a:spcPct val="150000"/>
              </a:lnSpc>
              <a:spcBef>
                <a:spcPts val="10"/>
              </a:spcBef>
              <a:buSzPct val="100000"/>
              <a:buFont typeface="+mj-lt"/>
              <a:buAutoNum type="arabicPeriod" startAt="1"/>
            </a:pPr>
            <a:r>
              <a:rPr lang="en-US" sz="2670" dirty="0">
                <a:solidFill>
                  <a:srgbClr val="F2F2F2"/>
                </a:solidFill>
                <a:latin typeface="Arial" pitchFamily="34" charset="0"/>
                <a:ea typeface="Arial" pitchFamily="34" charset="-122"/>
                <a:cs typeface="Arial" pitchFamily="34" charset="-120"/>
              </a:rPr>
              <a:t>区块链具有长期部署的需要</a:t>
            </a:r>
            <a:endParaRPr lang="en-US" sz="2670" dirty="0"/>
          </a:p>
          <a:p>
            <a:pPr algn="l">
              <a:lnSpc>
                <a:spcPct val="150000"/>
              </a:lnSpc>
            </a:pPr>
            <a:r>
              <a:rPr lang="en-US" sz="3200" b="1" dirty="0">
                <a:solidFill>
                  <a:srgbClr val="F2F2F2"/>
                </a:solidFill>
                <a:latin typeface="Arial" pitchFamily="34" charset="0"/>
                <a:ea typeface="Arial" pitchFamily="34" charset="-122"/>
                <a:cs typeface="Arial" pitchFamily="34" charset="-120"/>
              </a:rPr>
              <a:t>分布式数字资产交易协议需要高性能的链下方案构造</a:t>
            </a:r>
            <a:endParaRPr lang="en-US" sz="2670" dirty="0"/>
          </a:p>
          <a:p>
            <a:pPr algn="l" marL="423863" indent="-423863">
              <a:lnSpc>
                <a:spcPct val="150000"/>
              </a:lnSpc>
              <a:spcBef>
                <a:spcPts val="10"/>
              </a:spcBef>
              <a:buSzPct val="100000"/>
              <a:buFont typeface="+mj-lt"/>
              <a:buAutoNum type="arabicPeriod" startAt="1"/>
            </a:pPr>
            <a:r>
              <a:rPr lang="en-US" sz="2670" dirty="0">
                <a:solidFill>
                  <a:srgbClr val="F2F2F2"/>
                </a:solidFill>
                <a:latin typeface="Arial" pitchFamily="34" charset="0"/>
                <a:ea typeface="Arial" pitchFamily="34" charset="-122"/>
                <a:cs typeface="Arial" pitchFamily="34" charset="-120"/>
              </a:rPr>
              <a:t>异构区块链系统间的互联互通要求分布式数字资产交易协议具有互操作性</a:t>
            </a:r>
            <a:endParaRPr lang="en-US" sz="2670" dirty="0"/>
          </a:p>
          <a:p>
            <a:pPr algn="l">
              <a:lnSpc>
                <a:spcPct val="150000"/>
              </a:lnSpc>
            </a:pPr>
            <a:r>
              <a:rPr lang="en-US" sz="3200" b="1" dirty="0">
                <a:solidFill>
                  <a:srgbClr val="F2F2F2"/>
                </a:solidFill>
                <a:latin typeface="Arial" pitchFamily="34" charset="0"/>
                <a:ea typeface="Arial" pitchFamily="34" charset="-122"/>
                <a:cs typeface="Arial" pitchFamily="34" charset="-120"/>
              </a:rPr>
              <a:t>分布式数字资产交易协议需要高效的跨链证明协议</a:t>
            </a:r>
            <a:endParaRPr lang="en-US" sz="2670" dirty="0"/>
          </a:p>
        </p:txBody>
      </p:sp>
      <p:sp>
        <p:nvSpPr>
          <p:cNvPr id="19" name="Text 15"/>
          <p:cNvSpPr/>
          <p:nvPr/>
        </p:nvSpPr>
        <p:spPr>
          <a:xfrm>
            <a:off x="15649067" y="8666353"/>
            <a:ext cx="606933" cy="492506"/>
          </a:xfrm>
          <a:prstGeom prst="rect">
            <a:avLst/>
          </a:prstGeom>
          <a:noFill/>
          <a:ln/>
        </p:spPr>
        <p:txBody>
          <a:bodyPr wrap="square" lIns="0" tIns="0" rIns="0" bIns="0" rtlCol="0" anchor="t"/>
          <a:lstStyle/>
          <a:p>
            <a:pPr algn="ctr">
              <a:lnSpc>
                <a:spcPct val="120000"/>
              </a:lnSpc>
            </a:pPr>
            <a:r>
              <a:rPr lang="en-US" sz="2400" dirty="0">
                <a:solidFill>
                  <a:srgbClr val="000000"/>
                </a:solidFill>
                <a:latin typeface="Arial" pitchFamily="34" charset="0"/>
                <a:ea typeface="Arial" pitchFamily="34" charset="-122"/>
                <a:cs typeface="Arial" pitchFamily="34" charset="-120"/>
              </a:rPr>
              <a:t>4</a:t>
            </a:r>
            <a:endParaRPr lang="en-US" sz="2400" dirty="0"/>
          </a:p>
        </p:txBody>
      </p:sp>
      <p:sp>
        <p:nvSpPr>
          <p:cNvPr id="20" name="Shape 16"/>
          <p:cNvSpPr/>
          <p:nvPr/>
        </p:nvSpPr>
        <p:spPr>
          <a:xfrm>
            <a:off x="654431" y="5267833"/>
            <a:ext cx="14037691" cy="762889"/>
          </a:xfrm>
          <a:prstGeom prst="rect">
            <a:avLst/>
          </a:prstGeom>
          <a:solidFill>
            <a:srgbClr val="F2F2F2"/>
          </a:solidFill>
          <a:ln/>
        </p:spPr>
      </p:sp>
    </p:spTree>
  </p:cSld>
  <p:clrMapOvr>
    <a:masterClrMapping/>
  </p:clrMapOvr>
  <p:transition>
    <p:fade/>
    <p:spd val="med"/>
  </p:transition>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Tree>
  </p:cSld>
  <p:clrMapOvr>
    <a:masterClrMapping/>
  </p:clrMapOvr>
  <p:transition>
    <p:fade/>
    <p:spd val="med"/>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4449" y="1266571"/>
            <a:ext cx="14303629" cy="737489"/>
          </a:xfrm>
          <a:prstGeom prst="rect">
            <a:avLst/>
          </a:prstGeom>
          <a:noFill/>
          <a:ln/>
        </p:spPr>
        <p:txBody>
          <a:bodyPr wrap="square" lIns="0" tIns="0" rIns="0" bIns="0" rtlCol="0" anchor="t"/>
          <a:lstStyle/>
          <a:p>
            <a:pPr algn="l" marL="423863" indent="-423863">
              <a:lnSpc>
                <a:spcPct val="150000"/>
              </a:lnSpc>
              <a:spcBef>
                <a:spcPts val="10"/>
              </a:spcBef>
              <a:buSzPct val="100000"/>
              <a:buFont typeface="+mj-lt"/>
              <a:buAutoNum type="arabicPeriod" startAt="1"/>
            </a:pPr>
            <a:r>
              <a:rPr lang="en-US" sz="2670" dirty="0">
                <a:solidFill>
                  <a:srgbClr val="262626"/>
                </a:solidFill>
                <a:latin typeface="Arial" pitchFamily="34" charset="0"/>
                <a:ea typeface="Arial" pitchFamily="34" charset="-122"/>
                <a:cs typeface="Arial" pitchFamily="34" charset="-120"/>
              </a:rPr>
              <a:t>智能体执行任务的自主性对智能体授权协议的授权粒度提出了更高的要求</a:t>
            </a:r>
            <a:endParaRPr lang="en-US" sz="2670" dirty="0"/>
          </a:p>
        </p:txBody>
      </p:sp>
      <p:sp>
        <p:nvSpPr>
          <p:cNvPr id="4" name="Shape 1"/>
          <p:cNvSpPr/>
          <p:nvPr/>
        </p:nvSpPr>
        <p:spPr>
          <a:xfrm>
            <a:off x="2219960" y="0"/>
            <a:ext cx="2895600" cy="962660"/>
          </a:xfrm>
          <a:prstGeom prst="rect">
            <a:avLst/>
          </a:prstGeom>
          <a:solidFill>
            <a:srgbClr val="F2F2F2"/>
          </a:solidFill>
          <a:ln w="12700">
            <a:solidFill>
              <a:srgbClr val="F2F2F2"/>
            </a:solidFill>
            <a:prstDash val="solid"/>
          </a:ln>
        </p:spPr>
      </p:sp>
      <p:sp>
        <p:nvSpPr>
          <p:cNvPr id="5" name="Shape 2"/>
          <p:cNvSpPr/>
          <p:nvPr/>
        </p:nvSpPr>
        <p:spPr>
          <a:xfrm>
            <a:off x="5162169" y="-889"/>
            <a:ext cx="2590800" cy="962660"/>
          </a:xfrm>
          <a:prstGeom prst="rect">
            <a:avLst/>
          </a:prstGeom>
          <a:solidFill>
            <a:srgbClr val="F2F2F2"/>
          </a:solidFill>
          <a:ln/>
        </p:spPr>
      </p:sp>
      <p:sp>
        <p:nvSpPr>
          <p:cNvPr id="6" name="Shape 3"/>
          <p:cNvSpPr/>
          <p:nvPr/>
        </p:nvSpPr>
        <p:spPr>
          <a:xfrm>
            <a:off x="7816469" y="-889"/>
            <a:ext cx="4114800" cy="962660"/>
          </a:xfrm>
          <a:prstGeom prst="rect">
            <a:avLst/>
          </a:prstGeom>
          <a:solidFill>
            <a:srgbClr val="F2F2F2"/>
          </a:solidFill>
          <a:ln/>
        </p:spPr>
      </p:sp>
      <p:sp>
        <p:nvSpPr>
          <p:cNvPr id="7" name="Shape 4"/>
          <p:cNvSpPr/>
          <p:nvPr/>
        </p:nvSpPr>
        <p:spPr>
          <a:xfrm>
            <a:off x="11971020" y="0"/>
            <a:ext cx="4284980" cy="961771"/>
          </a:xfrm>
          <a:prstGeom prst="rect">
            <a:avLst/>
          </a:prstGeom>
          <a:solidFill>
            <a:srgbClr val="F2F2F2"/>
          </a:solidFill>
          <a:ln/>
        </p:spPr>
      </p:sp>
      <p:sp>
        <p:nvSpPr>
          <p:cNvPr id="8" name="Shape 5"/>
          <p:cNvSpPr/>
          <p:nvPr/>
        </p:nvSpPr>
        <p:spPr>
          <a:xfrm>
            <a:off x="2219960" y="-889"/>
            <a:ext cx="2895600" cy="962660"/>
          </a:xfrm>
          <a:prstGeom prst="rect">
            <a:avLst/>
          </a:prstGeom>
          <a:solidFill>
            <a:srgbClr val="04579A"/>
          </a:solidFill>
          <a:ln w="12700">
            <a:solidFill>
              <a:srgbClr val="04579A"/>
            </a:solidFill>
            <a:prstDash val="solid"/>
          </a:ln>
        </p:spPr>
      </p:sp>
      <p:sp>
        <p:nvSpPr>
          <p:cNvPr id="9" name="Text 6"/>
          <p:cNvSpPr/>
          <p:nvPr/>
        </p:nvSpPr>
        <p:spPr>
          <a:xfrm>
            <a:off x="2283460" y="203200"/>
            <a:ext cx="2768600" cy="508000"/>
          </a:xfrm>
          <a:prstGeom prst="rect">
            <a:avLst/>
          </a:prstGeom>
          <a:noFill/>
          <a:ln/>
        </p:spPr>
        <p:txBody>
          <a:bodyPr wrap="none" lIns="0" tIns="0" rIns="0" bIns="0" rtlCol="0" anchor="ctr"/>
          <a:lstStyle/>
          <a:p>
            <a:pPr algn="ctr">
              <a:lnSpc>
                <a:spcPct val="120000"/>
              </a:lnSpc>
            </a:pPr>
            <a:r>
              <a:rPr lang="en-US" sz="2000" dirty="0">
                <a:solidFill>
                  <a:srgbClr val="FFFFFF"/>
                </a:solidFill>
                <a:latin typeface="Arial" pitchFamily="34" charset="0"/>
                <a:ea typeface="Arial" pitchFamily="34" charset="-122"/>
                <a:cs typeface="Arial" pitchFamily="34" charset="-120"/>
              </a:rPr>
              <a:t>选题背景及意义</a:t>
            </a:r>
            <a:endParaRPr lang="en-US" sz="2000" dirty="0"/>
          </a:p>
        </p:txBody>
      </p:sp>
      <p:sp>
        <p:nvSpPr>
          <p:cNvPr id="10" name="Text 7"/>
          <p:cNvSpPr/>
          <p:nvPr/>
        </p:nvSpPr>
        <p:spPr>
          <a:xfrm>
            <a:off x="5225669" y="203200"/>
            <a:ext cx="24638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国内外研究现状</a:t>
            </a:r>
            <a:endParaRPr lang="en-US" sz="2000" dirty="0"/>
          </a:p>
        </p:txBody>
      </p:sp>
      <p:sp>
        <p:nvSpPr>
          <p:cNvPr id="11" name="Text 8"/>
          <p:cNvSpPr/>
          <p:nvPr/>
        </p:nvSpPr>
        <p:spPr>
          <a:xfrm>
            <a:off x="7879969" y="203200"/>
            <a:ext cx="39878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主要研究内容及预期目标</a:t>
            </a:r>
            <a:endParaRPr lang="en-US" sz="2000" dirty="0"/>
          </a:p>
        </p:txBody>
      </p:sp>
      <p:sp>
        <p:nvSpPr>
          <p:cNvPr id="12" name="Text 9"/>
          <p:cNvSpPr/>
          <p:nvPr/>
        </p:nvSpPr>
        <p:spPr>
          <a:xfrm>
            <a:off x="12034520" y="203200"/>
            <a:ext cx="415798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工作计划与进度安排</a:t>
            </a:r>
            <a:endParaRPr lang="en-US" sz="2000" dirty="0"/>
          </a:p>
        </p:txBody>
      </p:sp>
      <p:pic>
        <p:nvPicPr>
          <p:cNvPr id="13" name="Image 0" descr="https://kimi-img.moonshot.cn/pub/slides/okc/flfuysioo4gzm/mnt/agents/output/yuan_pptd/images/image_2.jpg">    </p:cNvPr>
          <p:cNvPicPr>
            <a:picLocks noChangeAspect="1"/>
          </p:cNvPicPr>
          <p:nvPr/>
        </p:nvPicPr>
        <p:blipFill>
          <a:blip r:embed="rId1"/>
          <a:srcRect l="5060" r="29000" t="0" b="0"/>
          <a:stretch/>
        </p:blipFill>
        <p:spPr>
          <a:xfrm>
            <a:off x="544449" y="140589"/>
            <a:ext cx="1273429" cy="745871"/>
          </a:xfrm>
          <a:prstGeom prst="rect">
            <a:avLst/>
          </a:prstGeom>
        </p:spPr>
      </p:pic>
      <p:sp>
        <p:nvSpPr>
          <p:cNvPr id="14" name="Shape 10"/>
          <p:cNvSpPr/>
          <p:nvPr/>
        </p:nvSpPr>
        <p:spPr>
          <a:xfrm rot="10800000">
            <a:off x="3496691" y="961771"/>
            <a:ext cx="389509" cy="304800"/>
          </a:xfrm>
          <a:prstGeom prst="triangle">
            <a:avLst>
              <a:gd name="adj" fmla="val 50000"/>
            </a:avLst>
          </a:prstGeom>
          <a:solidFill>
            <a:srgbClr val="04579A"/>
          </a:solidFill>
          <a:ln/>
        </p:spPr>
      </p:sp>
      <p:sp>
        <p:nvSpPr>
          <p:cNvPr id="15" name="Text 11"/>
          <p:cNvSpPr/>
          <p:nvPr/>
        </p:nvSpPr>
        <p:spPr>
          <a:xfrm>
            <a:off x="15649067" y="8666353"/>
            <a:ext cx="606933" cy="492506"/>
          </a:xfrm>
          <a:prstGeom prst="rect">
            <a:avLst/>
          </a:prstGeom>
          <a:noFill/>
          <a:ln/>
        </p:spPr>
        <p:txBody>
          <a:bodyPr wrap="square" lIns="0" tIns="0" rIns="0" bIns="0" rtlCol="0" anchor="t"/>
          <a:lstStyle/>
          <a:p>
            <a:pPr algn="ctr">
              <a:lnSpc>
                <a:spcPct val="120000"/>
              </a:lnSpc>
            </a:pPr>
            <a:r>
              <a:rPr lang="en-US" sz="2400" dirty="0">
                <a:solidFill>
                  <a:srgbClr val="000000"/>
                </a:solidFill>
                <a:latin typeface="Arial" pitchFamily="34" charset="0"/>
                <a:ea typeface="Arial" pitchFamily="34" charset="-122"/>
                <a:cs typeface="Arial" pitchFamily="34" charset="-120"/>
              </a:rPr>
              <a:t>5</a:t>
            </a:r>
            <a:endParaRPr lang="en-US" sz="2400" dirty="0"/>
          </a:p>
        </p:txBody>
      </p:sp>
    </p:spTree>
  </p:cSld>
  <p:clrMapOvr>
    <a:masterClrMapping/>
  </p:clrMapOvr>
  <p:transition>
    <p:fade/>
    <p:spd val="med"/>
  </p:transition>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Tree>
  </p:cSld>
  <p:clrMapOvr>
    <a:masterClrMapping/>
  </p:clrMapOvr>
  <p:transition>
    <p:fade/>
    <p:spd val="med"/>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654431" y="5296281"/>
            <a:ext cx="14037691" cy="762889"/>
          </a:xfrm>
          <a:prstGeom prst="rect">
            <a:avLst/>
          </a:prstGeom>
          <a:solidFill>
            <a:srgbClr val="F2F2F2"/>
          </a:solidFill>
          <a:ln/>
        </p:spPr>
      </p:sp>
      <p:sp>
        <p:nvSpPr>
          <p:cNvPr id="4" name="Shape 1"/>
          <p:cNvSpPr/>
          <p:nvPr/>
        </p:nvSpPr>
        <p:spPr>
          <a:xfrm>
            <a:off x="654431" y="3809111"/>
            <a:ext cx="14037691" cy="762889"/>
          </a:xfrm>
          <a:prstGeom prst="rect">
            <a:avLst/>
          </a:prstGeom>
          <a:solidFill>
            <a:srgbClr val="F2F2F2"/>
          </a:solidFill>
          <a:ln/>
        </p:spPr>
      </p:sp>
      <p:sp>
        <p:nvSpPr>
          <p:cNvPr id="5" name="Shape 2"/>
          <p:cNvSpPr/>
          <p:nvPr/>
        </p:nvSpPr>
        <p:spPr>
          <a:xfrm>
            <a:off x="1358900" y="4713351"/>
            <a:ext cx="486029" cy="343789"/>
          </a:xfrm>
          <a:prstGeom prst="chevron">
            <a:avLst>
              <a:gd name="adj" fmla="val 50000"/>
            </a:avLst>
          </a:prstGeom>
          <a:solidFill>
            <a:srgbClr val="04579A"/>
          </a:solidFill>
          <a:ln w="12700">
            <a:solidFill>
              <a:srgbClr val="304B73"/>
            </a:solidFill>
            <a:prstDash val="solid"/>
          </a:ln>
        </p:spPr>
      </p:sp>
      <p:sp>
        <p:nvSpPr>
          <p:cNvPr id="6" name="Text 3"/>
          <p:cNvSpPr/>
          <p:nvPr/>
        </p:nvSpPr>
        <p:spPr>
          <a:xfrm>
            <a:off x="643509" y="1196340"/>
            <a:ext cx="14772640" cy="531749"/>
          </a:xfrm>
          <a:prstGeom prst="rect">
            <a:avLst/>
          </a:prstGeom>
          <a:noFill/>
          <a:ln/>
        </p:spPr>
        <p:txBody>
          <a:bodyPr wrap="square" lIns="0" tIns="0" rIns="0" bIns="0" rtlCol="0" anchor="t"/>
          <a:lstStyle/>
          <a:p>
            <a:pPr algn="l">
              <a:lnSpc>
                <a:spcPct val="120000"/>
              </a:lnSpc>
            </a:pPr>
            <a:r>
              <a:rPr lang="en-US" sz="2670" dirty="0">
                <a:solidFill>
                  <a:srgbClr val="000000"/>
                </a:solidFill>
                <a:latin typeface="Arial" pitchFamily="34" charset="0"/>
                <a:ea typeface="Arial" pitchFamily="34" charset="-122"/>
                <a:cs typeface="Arial" pitchFamily="34" charset="-120"/>
              </a:rPr>
              <a:t>数字资产市场为区块链提供了新的</a:t>
            </a:r>
            <a:pPr algn="l">
              <a:lnSpc>
                <a:spcPct val="120000"/>
              </a:lnSpc>
            </a:pPr>
            <a:r>
              <a:rPr lang="en-US" sz="2670" b="1" dirty="0">
                <a:solidFill>
                  <a:srgbClr val="04579A"/>
                </a:solidFill>
                <a:latin typeface="Arial" pitchFamily="34" charset="0"/>
                <a:ea typeface="Arial" pitchFamily="34" charset="-122"/>
                <a:cs typeface="Arial" pitchFamily="34" charset="-120"/>
              </a:rPr>
              <a:t>应用方向</a:t>
            </a:r>
            <a:pPr algn="l">
              <a:lnSpc>
                <a:spcPct val="120000"/>
              </a:lnSpc>
            </a:pPr>
            <a:r>
              <a:rPr lang="en-US" sz="2670" dirty="0">
                <a:solidFill>
                  <a:srgbClr val="000000"/>
                </a:solidFill>
                <a:latin typeface="Arial" pitchFamily="34" charset="0"/>
                <a:ea typeface="Arial" pitchFamily="34" charset="-122"/>
                <a:cs typeface="Arial" pitchFamily="34" charset="-120"/>
              </a:rPr>
              <a:t>，但同时也带来了新的</a:t>
            </a:r>
            <a:pPr algn="l">
              <a:lnSpc>
                <a:spcPct val="120000"/>
              </a:lnSpc>
            </a:pPr>
            <a:r>
              <a:rPr lang="en-US" sz="2670" b="1" dirty="0">
                <a:solidFill>
                  <a:srgbClr val="04579A"/>
                </a:solidFill>
                <a:latin typeface="Arial" pitchFamily="34" charset="0"/>
                <a:ea typeface="Arial" pitchFamily="34" charset="-122"/>
                <a:cs typeface="Arial" pitchFamily="34" charset="-120"/>
              </a:rPr>
              <a:t>技术需求</a:t>
            </a:r>
            <a:pPr algn="l">
              <a:lnSpc>
                <a:spcPct val="120000"/>
              </a:lnSpc>
            </a:pPr>
            <a:r>
              <a:rPr lang="en-US" sz="2670" dirty="0">
                <a:solidFill>
                  <a:srgbClr val="000000"/>
                </a:solidFill>
                <a:latin typeface="Arial" pitchFamily="34" charset="0"/>
                <a:ea typeface="Arial" pitchFamily="34" charset="-122"/>
                <a:cs typeface="Arial" pitchFamily="34" charset="-120"/>
              </a:rPr>
              <a:t>：</a:t>
            </a:r>
            <a:endParaRPr lang="en-US" sz="2670" dirty="0"/>
          </a:p>
        </p:txBody>
      </p:sp>
      <p:sp>
        <p:nvSpPr>
          <p:cNvPr id="7" name="Shape 4"/>
          <p:cNvSpPr/>
          <p:nvPr/>
        </p:nvSpPr>
        <p:spPr>
          <a:xfrm>
            <a:off x="2219960" y="0"/>
            <a:ext cx="2895600" cy="962660"/>
          </a:xfrm>
          <a:prstGeom prst="rect">
            <a:avLst/>
          </a:prstGeom>
          <a:solidFill>
            <a:srgbClr val="F2F2F2"/>
          </a:solidFill>
          <a:ln w="12700">
            <a:solidFill>
              <a:srgbClr val="F2F2F2"/>
            </a:solidFill>
            <a:prstDash val="solid"/>
          </a:ln>
        </p:spPr>
      </p:sp>
      <p:sp>
        <p:nvSpPr>
          <p:cNvPr id="8" name="Shape 5"/>
          <p:cNvSpPr/>
          <p:nvPr/>
        </p:nvSpPr>
        <p:spPr>
          <a:xfrm>
            <a:off x="5162169" y="-889"/>
            <a:ext cx="2590800" cy="962660"/>
          </a:xfrm>
          <a:prstGeom prst="rect">
            <a:avLst/>
          </a:prstGeom>
          <a:solidFill>
            <a:srgbClr val="F2F2F2"/>
          </a:solidFill>
          <a:ln/>
        </p:spPr>
      </p:sp>
      <p:sp>
        <p:nvSpPr>
          <p:cNvPr id="9" name="Shape 6"/>
          <p:cNvSpPr/>
          <p:nvPr/>
        </p:nvSpPr>
        <p:spPr>
          <a:xfrm>
            <a:off x="7816469" y="-889"/>
            <a:ext cx="4114800" cy="962660"/>
          </a:xfrm>
          <a:prstGeom prst="rect">
            <a:avLst/>
          </a:prstGeom>
          <a:solidFill>
            <a:srgbClr val="F2F2F2"/>
          </a:solidFill>
          <a:ln/>
        </p:spPr>
      </p:sp>
      <p:sp>
        <p:nvSpPr>
          <p:cNvPr id="10" name="Shape 7"/>
          <p:cNvSpPr/>
          <p:nvPr/>
        </p:nvSpPr>
        <p:spPr>
          <a:xfrm>
            <a:off x="11971020" y="0"/>
            <a:ext cx="4284980" cy="961771"/>
          </a:xfrm>
          <a:prstGeom prst="rect">
            <a:avLst/>
          </a:prstGeom>
          <a:solidFill>
            <a:srgbClr val="F2F2F2"/>
          </a:solidFill>
          <a:ln/>
        </p:spPr>
      </p:sp>
      <p:sp>
        <p:nvSpPr>
          <p:cNvPr id="11" name="Shape 8"/>
          <p:cNvSpPr/>
          <p:nvPr/>
        </p:nvSpPr>
        <p:spPr>
          <a:xfrm>
            <a:off x="2219960" y="-889"/>
            <a:ext cx="2895600" cy="962660"/>
          </a:xfrm>
          <a:prstGeom prst="rect">
            <a:avLst/>
          </a:prstGeom>
          <a:solidFill>
            <a:srgbClr val="04579A"/>
          </a:solidFill>
          <a:ln w="12700">
            <a:solidFill>
              <a:srgbClr val="04579A"/>
            </a:solidFill>
            <a:prstDash val="solid"/>
          </a:ln>
        </p:spPr>
      </p:sp>
      <p:sp>
        <p:nvSpPr>
          <p:cNvPr id="12" name="Text 9"/>
          <p:cNvSpPr/>
          <p:nvPr/>
        </p:nvSpPr>
        <p:spPr>
          <a:xfrm>
            <a:off x="2283460" y="203200"/>
            <a:ext cx="2768600" cy="508000"/>
          </a:xfrm>
          <a:prstGeom prst="rect">
            <a:avLst/>
          </a:prstGeom>
          <a:noFill/>
          <a:ln/>
        </p:spPr>
        <p:txBody>
          <a:bodyPr wrap="none" lIns="0" tIns="0" rIns="0" bIns="0" rtlCol="0" anchor="ctr"/>
          <a:lstStyle/>
          <a:p>
            <a:pPr algn="ctr">
              <a:lnSpc>
                <a:spcPct val="120000"/>
              </a:lnSpc>
            </a:pPr>
            <a:r>
              <a:rPr lang="en-US" sz="2000" dirty="0">
                <a:solidFill>
                  <a:srgbClr val="FFFFFF"/>
                </a:solidFill>
                <a:latin typeface="Arial" pitchFamily="34" charset="0"/>
                <a:ea typeface="Arial" pitchFamily="34" charset="-122"/>
                <a:cs typeface="Arial" pitchFamily="34" charset="-120"/>
              </a:rPr>
              <a:t>选题背景及意义</a:t>
            </a:r>
            <a:endParaRPr lang="en-US" sz="2000" dirty="0"/>
          </a:p>
        </p:txBody>
      </p:sp>
      <p:sp>
        <p:nvSpPr>
          <p:cNvPr id="13" name="Text 10"/>
          <p:cNvSpPr/>
          <p:nvPr/>
        </p:nvSpPr>
        <p:spPr>
          <a:xfrm>
            <a:off x="5225669" y="203200"/>
            <a:ext cx="24638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国内外研究现状</a:t>
            </a:r>
            <a:endParaRPr lang="en-US" sz="2000" dirty="0"/>
          </a:p>
        </p:txBody>
      </p:sp>
      <p:sp>
        <p:nvSpPr>
          <p:cNvPr id="14" name="Text 11"/>
          <p:cNvSpPr/>
          <p:nvPr/>
        </p:nvSpPr>
        <p:spPr>
          <a:xfrm>
            <a:off x="7879969" y="203200"/>
            <a:ext cx="39878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主要研究内容及预期目标</a:t>
            </a:r>
            <a:endParaRPr lang="en-US" sz="2000" dirty="0"/>
          </a:p>
        </p:txBody>
      </p:sp>
      <p:sp>
        <p:nvSpPr>
          <p:cNvPr id="15" name="Text 12"/>
          <p:cNvSpPr/>
          <p:nvPr/>
        </p:nvSpPr>
        <p:spPr>
          <a:xfrm>
            <a:off x="12034520" y="203200"/>
            <a:ext cx="415798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工作计划与进度安排</a:t>
            </a:r>
            <a:endParaRPr lang="en-US" sz="2000" dirty="0"/>
          </a:p>
        </p:txBody>
      </p:sp>
      <p:pic>
        <p:nvPicPr>
          <p:cNvPr id="16" name="Image 0" descr="https://kimi-img.moonshot.cn/pub/slides/okc/flfuysioo4gzm/mnt/agents/output/yuan_pptd/images/image_2.jpg">    </p:cNvPr>
          <p:cNvPicPr>
            <a:picLocks noChangeAspect="1"/>
          </p:cNvPicPr>
          <p:nvPr/>
        </p:nvPicPr>
        <p:blipFill>
          <a:blip r:embed="rId1"/>
          <a:srcRect l="5060" r="29000" t="0" b="0"/>
          <a:stretch/>
        </p:blipFill>
        <p:spPr>
          <a:xfrm>
            <a:off x="544449" y="140589"/>
            <a:ext cx="1273429" cy="745871"/>
          </a:xfrm>
          <a:prstGeom prst="rect">
            <a:avLst/>
          </a:prstGeom>
        </p:spPr>
      </p:pic>
      <p:sp>
        <p:nvSpPr>
          <p:cNvPr id="17" name="Shape 13"/>
          <p:cNvSpPr/>
          <p:nvPr/>
        </p:nvSpPr>
        <p:spPr>
          <a:xfrm rot="10800000">
            <a:off x="3496691" y="961771"/>
            <a:ext cx="389509" cy="304800"/>
          </a:xfrm>
          <a:prstGeom prst="triangle">
            <a:avLst>
              <a:gd name="adj" fmla="val 50000"/>
            </a:avLst>
          </a:prstGeom>
          <a:solidFill>
            <a:srgbClr val="04579A"/>
          </a:solidFill>
          <a:ln/>
        </p:spPr>
      </p:sp>
      <p:sp>
        <p:nvSpPr>
          <p:cNvPr id="18" name="Shape 14"/>
          <p:cNvSpPr/>
          <p:nvPr/>
        </p:nvSpPr>
        <p:spPr>
          <a:xfrm>
            <a:off x="643509" y="2236089"/>
            <a:ext cx="14037691" cy="762889"/>
          </a:xfrm>
          <a:prstGeom prst="rect">
            <a:avLst/>
          </a:prstGeom>
          <a:solidFill>
            <a:srgbClr val="F2F2F2"/>
          </a:solidFill>
          <a:ln/>
        </p:spPr>
      </p:sp>
      <p:sp>
        <p:nvSpPr>
          <p:cNvPr id="19" name="Text 15"/>
          <p:cNvSpPr/>
          <p:nvPr/>
        </p:nvSpPr>
        <p:spPr>
          <a:xfrm>
            <a:off x="742569" y="2218309"/>
            <a:ext cx="14771751" cy="5333111"/>
          </a:xfrm>
          <a:prstGeom prst="rect">
            <a:avLst/>
          </a:prstGeom>
          <a:noFill/>
          <a:ln/>
        </p:spPr>
        <p:txBody>
          <a:bodyPr wrap="square" lIns="0" tIns="0" rIns="0" bIns="0" rtlCol="0" anchor="t"/>
          <a:lstStyle/>
          <a:p>
            <a:pPr algn="l" marL="423863" indent="-423863">
              <a:lnSpc>
                <a:spcPct val="150000"/>
              </a:lnSpc>
              <a:spcBef>
                <a:spcPts val="10"/>
              </a:spcBef>
              <a:buSzPct val="100000"/>
              <a:buFont typeface="+mj-lt"/>
              <a:buAutoNum type="arabicPeriod" startAt="1"/>
            </a:pPr>
            <a:r>
              <a:rPr lang="en-US" sz="2670" dirty="0">
                <a:solidFill>
                  <a:srgbClr val="262626"/>
                </a:solidFill>
                <a:latin typeface="Arial" pitchFamily="34" charset="0"/>
                <a:ea typeface="Arial" pitchFamily="34" charset="-122"/>
                <a:cs typeface="Arial" pitchFamily="34" charset="-120"/>
              </a:rPr>
              <a:t>智能体执行任务的自主性对智能体授权协议的授权粒度提出了更高的要求</a:t>
            </a:r>
            <a:endParaRPr lang="en-US" sz="2670" dirty="0"/>
          </a:p>
          <a:p>
            <a:pPr algn="l">
              <a:lnSpc>
                <a:spcPct val="150000"/>
              </a:lnSpc>
            </a:pPr>
            <a:r>
              <a:rPr lang="en-US" sz="3200" b="1" dirty="0">
                <a:solidFill>
                  <a:srgbClr val="04579A"/>
                </a:solidFill>
                <a:latin typeface="Arial" pitchFamily="34" charset="0"/>
                <a:ea typeface="Arial" pitchFamily="34" charset="-122"/>
                <a:cs typeface="Arial" pitchFamily="34" charset="-120"/>
              </a:rPr>
              <a:t>智能体授权协议的授权粒度需要匹配具体任务级语义</a:t>
            </a:r>
            <a:endParaRPr lang="en-US" sz="2670" dirty="0"/>
          </a:p>
          <a:p>
            <a:pPr algn="l" marL="423863" indent="-423863">
              <a:lnSpc>
                <a:spcPct val="150000"/>
              </a:lnSpc>
              <a:spcBef>
                <a:spcPts val="10"/>
              </a:spcBef>
              <a:buSzPct val="100000"/>
              <a:buFont typeface="+mj-lt"/>
              <a:buAutoNum type="arabicPeriod" startAt="1"/>
            </a:pPr>
            <a:r>
              <a:rPr lang="en-US" sz="2670" dirty="0">
                <a:solidFill>
                  <a:srgbClr val="262626"/>
                </a:solidFill>
                <a:latin typeface="Arial" pitchFamily="34" charset="0"/>
                <a:ea typeface="Arial" pitchFamily="34" charset="-122"/>
                <a:cs typeface="Arial" pitchFamily="34" charset="-120"/>
              </a:rPr>
              <a:t>智能体执行任务的自主性要求更灵活的智能体授权</a:t>
            </a:r>
            <a:endParaRPr lang="en-US" sz="2670" dirty="0"/>
          </a:p>
          <a:p>
            <a:pPr algn="l">
              <a:lnSpc>
                <a:spcPct val="150000"/>
              </a:lnSpc>
            </a:pPr>
            <a:r>
              <a:rPr lang="en-US" sz="3200" b="1" dirty="0">
                <a:solidFill>
                  <a:srgbClr val="04579A"/>
                </a:solidFill>
                <a:latin typeface="Arial" pitchFamily="34" charset="0"/>
                <a:ea typeface="Arial" pitchFamily="34" charset="-122"/>
                <a:cs typeface="Arial" pitchFamily="34" charset="-120"/>
              </a:rPr>
              <a:t>对智能体的授权需要以</a:t>
            </a:r>
            <a:pPr algn="l">
              <a:lnSpc>
                <a:spcPct val="150000"/>
              </a:lnSpc>
            </a:pPr>
            <a:r>
              <a:rPr lang="en-US" sz="3200" b="1" dirty="0">
                <a:solidFill>
                  <a:srgbClr val="04579A"/>
                </a:solidFill>
                <a:latin typeface="Arial" pitchFamily="34" charset="0"/>
                <a:ea typeface="Arial" pitchFamily="34" charset="-122"/>
                <a:cs typeface="Arial" pitchFamily="34" charset="-120"/>
              </a:rPr>
              <a:t>任务上下文为条件</a:t>
            </a:r>
            <a:endParaRPr lang="en-US" sz="2670" dirty="0"/>
          </a:p>
          <a:p>
            <a:pPr algn="l" marL="423863" indent="-423863">
              <a:lnSpc>
                <a:spcPct val="150000"/>
              </a:lnSpc>
              <a:spcBef>
                <a:spcPts val="10"/>
              </a:spcBef>
              <a:buSzPct val="100000"/>
              <a:buFont typeface="+mj-lt"/>
              <a:buAutoNum type="arabicPeriod" startAt="1"/>
            </a:pPr>
            <a:r>
              <a:rPr lang="en-US" sz="2670" dirty="0">
                <a:solidFill>
                  <a:srgbClr val="F2F2F2"/>
                </a:solidFill>
                <a:latin typeface="Arial" pitchFamily="34" charset="0"/>
                <a:ea typeface="Arial" pitchFamily="34" charset="-122"/>
                <a:cs typeface="Arial" pitchFamily="34" charset="-120"/>
              </a:rPr>
              <a:t>异构区块链系统间的互联互通要求分布式数字资产交易协议具有互操作性</a:t>
            </a:r>
            <a:endParaRPr lang="en-US" sz="2670" dirty="0"/>
          </a:p>
          <a:p>
            <a:pPr algn="l">
              <a:lnSpc>
                <a:spcPct val="150000"/>
              </a:lnSpc>
            </a:pPr>
            <a:r>
              <a:rPr lang="en-US" sz="3200" b="1" dirty="0">
                <a:solidFill>
                  <a:srgbClr val="F2F2F2"/>
                </a:solidFill>
                <a:latin typeface="Arial" pitchFamily="34" charset="0"/>
                <a:ea typeface="Arial" pitchFamily="34" charset="-122"/>
                <a:cs typeface="Arial" pitchFamily="34" charset="-120"/>
              </a:rPr>
              <a:t>分布式数字资产交易协议需要高效的跨链证明协议</a:t>
            </a:r>
            <a:endParaRPr lang="en-US" sz="2670" dirty="0"/>
          </a:p>
          <a:p>
            <a:pPr algn="l">
              <a:lnSpc>
                <a:spcPct val="150000"/>
              </a:lnSpc>
            </a:pPr>
            <a:r>
              <a:rPr lang="en-US" sz="2670" dirty="0">
                <a:solidFill>
                  <a:srgbClr val="262626"/>
                </a:solidFill>
                <a:latin typeface="Arial" pitchFamily="34" charset="0"/>
                <a:ea typeface="Arial" pitchFamily="34" charset="-122"/>
                <a:cs typeface="Arial" pitchFamily="34" charset="-120"/>
              </a:rPr>
              <a:t> </a:t>
            </a:r>
            <a:endParaRPr lang="en-US" sz="2670" dirty="0"/>
          </a:p>
        </p:txBody>
      </p:sp>
      <p:sp>
        <p:nvSpPr>
          <p:cNvPr id="20" name="Shape 16"/>
          <p:cNvSpPr/>
          <p:nvPr/>
        </p:nvSpPr>
        <p:spPr>
          <a:xfrm>
            <a:off x="1358900" y="3120009"/>
            <a:ext cx="486029" cy="343789"/>
          </a:xfrm>
          <a:prstGeom prst="chevron">
            <a:avLst>
              <a:gd name="adj" fmla="val 50000"/>
            </a:avLst>
          </a:prstGeom>
          <a:solidFill>
            <a:srgbClr val="04579A"/>
          </a:solidFill>
          <a:ln w="12700">
            <a:solidFill>
              <a:srgbClr val="304B73"/>
            </a:solidFill>
            <a:prstDash val="solid"/>
          </a:ln>
        </p:spPr>
      </p:sp>
      <p:sp>
        <p:nvSpPr>
          <p:cNvPr id="21" name="Text 17"/>
          <p:cNvSpPr/>
          <p:nvPr/>
        </p:nvSpPr>
        <p:spPr>
          <a:xfrm>
            <a:off x="15649067" y="8666353"/>
            <a:ext cx="606933" cy="492506"/>
          </a:xfrm>
          <a:prstGeom prst="rect">
            <a:avLst/>
          </a:prstGeom>
          <a:noFill/>
          <a:ln/>
        </p:spPr>
        <p:txBody>
          <a:bodyPr wrap="square" lIns="0" tIns="0" rIns="0" bIns="0" rtlCol="0" anchor="t"/>
          <a:lstStyle/>
          <a:p>
            <a:pPr algn="ctr">
              <a:lnSpc>
                <a:spcPct val="120000"/>
              </a:lnSpc>
            </a:pPr>
            <a:r>
              <a:rPr lang="en-US" sz="2400" dirty="0">
                <a:solidFill>
                  <a:srgbClr val="000000"/>
                </a:solidFill>
                <a:latin typeface="Arial" pitchFamily="34" charset="0"/>
                <a:ea typeface="Arial" pitchFamily="34" charset="-122"/>
                <a:cs typeface="Arial" pitchFamily="34" charset="-120"/>
              </a:rPr>
              <a:t>7</a:t>
            </a:r>
            <a:endParaRPr lang="en-US" sz="2400" dirty="0"/>
          </a:p>
        </p:txBody>
      </p:sp>
    </p:spTree>
  </p:cSld>
  <p:clrMapOvr>
    <a:masterClrMapping/>
  </p:clrMapOvr>
  <p:transition>
    <p:fade/>
    <p:spd val="med"/>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219960" y="0"/>
            <a:ext cx="2895600" cy="962660"/>
          </a:xfrm>
          <a:prstGeom prst="rect">
            <a:avLst/>
          </a:prstGeom>
          <a:solidFill>
            <a:srgbClr val="F2F2F2"/>
          </a:solidFill>
          <a:ln w="12700">
            <a:solidFill>
              <a:srgbClr val="F2F2F2"/>
            </a:solidFill>
            <a:prstDash val="solid"/>
          </a:ln>
        </p:spPr>
      </p:sp>
      <p:sp>
        <p:nvSpPr>
          <p:cNvPr id="3" name="Shape 1"/>
          <p:cNvSpPr/>
          <p:nvPr/>
        </p:nvSpPr>
        <p:spPr>
          <a:xfrm>
            <a:off x="5162169" y="-889"/>
            <a:ext cx="2590800" cy="962660"/>
          </a:xfrm>
          <a:prstGeom prst="rect">
            <a:avLst/>
          </a:prstGeom>
          <a:solidFill>
            <a:srgbClr val="04579A"/>
          </a:solidFill>
          <a:ln w="12700">
            <a:solidFill>
              <a:srgbClr val="04579A"/>
            </a:solidFill>
            <a:prstDash val="solid"/>
          </a:ln>
        </p:spPr>
      </p:sp>
      <p:sp>
        <p:nvSpPr>
          <p:cNvPr id="4" name="Shape 2"/>
          <p:cNvSpPr/>
          <p:nvPr/>
        </p:nvSpPr>
        <p:spPr>
          <a:xfrm>
            <a:off x="7816469" y="-889"/>
            <a:ext cx="4114800" cy="962660"/>
          </a:xfrm>
          <a:prstGeom prst="rect">
            <a:avLst/>
          </a:prstGeom>
          <a:solidFill>
            <a:srgbClr val="F2F2F2"/>
          </a:solidFill>
          <a:ln/>
        </p:spPr>
      </p:sp>
      <p:sp>
        <p:nvSpPr>
          <p:cNvPr id="5" name="Shape 3"/>
          <p:cNvSpPr/>
          <p:nvPr/>
        </p:nvSpPr>
        <p:spPr>
          <a:xfrm>
            <a:off x="11971020" y="0"/>
            <a:ext cx="4284980" cy="961771"/>
          </a:xfrm>
          <a:prstGeom prst="rect">
            <a:avLst/>
          </a:prstGeom>
          <a:solidFill>
            <a:srgbClr val="F2F2F2"/>
          </a:solidFill>
          <a:ln/>
        </p:spPr>
      </p:sp>
      <p:sp>
        <p:nvSpPr>
          <p:cNvPr id="6" name="Text 4"/>
          <p:cNvSpPr/>
          <p:nvPr/>
        </p:nvSpPr>
        <p:spPr>
          <a:xfrm>
            <a:off x="2283460" y="203200"/>
            <a:ext cx="27686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选题背景及意义</a:t>
            </a:r>
            <a:endParaRPr lang="en-US" sz="2000" dirty="0"/>
          </a:p>
        </p:txBody>
      </p:sp>
      <p:sp>
        <p:nvSpPr>
          <p:cNvPr id="7" name="Text 5"/>
          <p:cNvSpPr/>
          <p:nvPr/>
        </p:nvSpPr>
        <p:spPr>
          <a:xfrm>
            <a:off x="5225669" y="203200"/>
            <a:ext cx="2463800" cy="508000"/>
          </a:xfrm>
          <a:prstGeom prst="rect">
            <a:avLst/>
          </a:prstGeom>
          <a:noFill/>
          <a:ln/>
        </p:spPr>
        <p:txBody>
          <a:bodyPr wrap="none" lIns="0" tIns="0" rIns="0" bIns="0" rtlCol="0" anchor="ctr"/>
          <a:lstStyle/>
          <a:p>
            <a:pPr algn="ctr">
              <a:lnSpc>
                <a:spcPct val="120000"/>
              </a:lnSpc>
            </a:pPr>
            <a:r>
              <a:rPr lang="en-US" sz="2000" dirty="0">
                <a:solidFill>
                  <a:srgbClr val="FFFFFF"/>
                </a:solidFill>
                <a:latin typeface="Arial" pitchFamily="34" charset="0"/>
                <a:ea typeface="Arial" pitchFamily="34" charset="-122"/>
                <a:cs typeface="Arial" pitchFamily="34" charset="-120"/>
              </a:rPr>
              <a:t>国内外研究现状</a:t>
            </a:r>
            <a:endParaRPr lang="en-US" sz="2000" dirty="0"/>
          </a:p>
        </p:txBody>
      </p:sp>
      <p:sp>
        <p:nvSpPr>
          <p:cNvPr id="8" name="Text 6"/>
          <p:cNvSpPr/>
          <p:nvPr/>
        </p:nvSpPr>
        <p:spPr>
          <a:xfrm>
            <a:off x="7879969" y="203200"/>
            <a:ext cx="39878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主要研究内容及预期目标</a:t>
            </a:r>
            <a:endParaRPr lang="en-US" sz="2000" dirty="0"/>
          </a:p>
        </p:txBody>
      </p:sp>
      <p:sp>
        <p:nvSpPr>
          <p:cNvPr id="9" name="Text 7"/>
          <p:cNvSpPr/>
          <p:nvPr/>
        </p:nvSpPr>
        <p:spPr>
          <a:xfrm>
            <a:off x="12034520" y="203200"/>
            <a:ext cx="415798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工作计划与进度安排</a:t>
            </a:r>
            <a:endParaRPr lang="en-US" sz="2000" dirty="0"/>
          </a:p>
        </p:txBody>
      </p:sp>
      <p:pic>
        <p:nvPicPr>
          <p:cNvPr id="10" name="Image 0" descr="https://kimi-img.moonshot.cn/pub/slides/okc/flfuysioo4gzm/mnt/agents/output/yuan_pptd/images/image_2.jpg">    </p:cNvPr>
          <p:cNvPicPr>
            <a:picLocks noChangeAspect="1"/>
          </p:cNvPicPr>
          <p:nvPr/>
        </p:nvPicPr>
        <p:blipFill>
          <a:blip r:embed="rId1"/>
          <a:srcRect l="5060" r="29000" t="0" b="0"/>
          <a:stretch/>
        </p:blipFill>
        <p:spPr>
          <a:xfrm>
            <a:off x="544449" y="140589"/>
            <a:ext cx="1273429" cy="745871"/>
          </a:xfrm>
          <a:prstGeom prst="rect">
            <a:avLst/>
          </a:prstGeom>
        </p:spPr>
      </p:pic>
      <p:sp>
        <p:nvSpPr>
          <p:cNvPr id="11" name="Shape 8"/>
          <p:cNvSpPr/>
          <p:nvPr/>
        </p:nvSpPr>
        <p:spPr>
          <a:xfrm rot="10800000">
            <a:off x="6379591" y="961771"/>
            <a:ext cx="389509" cy="304800"/>
          </a:xfrm>
          <a:prstGeom prst="triangle">
            <a:avLst>
              <a:gd name="adj" fmla="val 50000"/>
            </a:avLst>
          </a:prstGeom>
          <a:solidFill>
            <a:srgbClr val="04579A"/>
          </a:solidFill>
          <a:ln/>
        </p:spPr>
      </p:sp>
      <p:sp>
        <p:nvSpPr>
          <p:cNvPr id="12" name="Text 9"/>
          <p:cNvSpPr/>
          <p:nvPr/>
        </p:nvSpPr>
        <p:spPr>
          <a:xfrm>
            <a:off x="762000" y="1333500"/>
            <a:ext cx="11430000" cy="533400"/>
          </a:xfrm>
          <a:prstGeom prst="rect">
            <a:avLst/>
          </a:prstGeom>
          <a:noFill/>
          <a:ln/>
        </p:spPr>
        <p:txBody>
          <a:bodyPr wrap="none" lIns="0" tIns="0" rIns="0" bIns="0" rtlCol="0" anchor="ctr"/>
          <a:lstStyle/>
          <a:p>
            <a:pPr algn="l">
              <a:lnSpc>
                <a:spcPct val="120000"/>
              </a:lnSpc>
            </a:pPr>
            <a:r>
              <a:rPr lang="en-US" sz="2800" b="1" dirty="0">
                <a:solidFill>
                  <a:srgbClr val="04579A"/>
                </a:solidFill>
                <a:latin typeface="Arial" pitchFamily="34" charset="0"/>
                <a:ea typeface="Arial" pitchFamily="34" charset="-122"/>
                <a:cs typeface="Arial" pitchFamily="34" charset="-120"/>
              </a:rPr>
              <a:t>传统授权协议研究现状</a:t>
            </a:r>
            <a:endParaRPr lang="en-US" sz="2800" dirty="0"/>
          </a:p>
        </p:txBody>
      </p:sp>
      <p:sp>
        <p:nvSpPr>
          <p:cNvPr id="13" name="Shape 10"/>
          <p:cNvSpPr/>
          <p:nvPr/>
        </p:nvSpPr>
        <p:spPr>
          <a:xfrm>
            <a:off x="1397000" y="2032000"/>
            <a:ext cx="38100" cy="6413500"/>
          </a:xfrm>
          <a:prstGeom prst="rect">
            <a:avLst/>
          </a:prstGeom>
          <a:solidFill>
            <a:srgbClr val="04579A"/>
          </a:solidFill>
          <a:ln/>
        </p:spPr>
      </p:sp>
      <p:sp>
        <p:nvSpPr>
          <p:cNvPr id="14" name="Shape 11"/>
          <p:cNvSpPr/>
          <p:nvPr/>
        </p:nvSpPr>
        <p:spPr>
          <a:xfrm>
            <a:off x="1282700" y="2095500"/>
            <a:ext cx="266700" cy="266700"/>
          </a:xfrm>
          <a:prstGeom prst="ellipse">
            <a:avLst/>
          </a:prstGeom>
          <a:solidFill>
            <a:srgbClr val="04579A"/>
          </a:solidFill>
          <a:ln/>
        </p:spPr>
      </p:sp>
      <p:sp>
        <p:nvSpPr>
          <p:cNvPr id="15" name="Text 12"/>
          <p:cNvSpPr/>
          <p:nvPr/>
        </p:nvSpPr>
        <p:spPr>
          <a:xfrm>
            <a:off x="508000" y="2070100"/>
            <a:ext cx="736600" cy="304800"/>
          </a:xfrm>
          <a:prstGeom prst="rect">
            <a:avLst/>
          </a:prstGeom>
          <a:noFill/>
          <a:ln/>
        </p:spPr>
        <p:txBody>
          <a:bodyPr wrap="none" lIns="0" tIns="0" rIns="0" bIns="0" rtlCol="0" anchor="ctr"/>
          <a:lstStyle/>
          <a:p>
            <a:pPr algn="r">
              <a:lnSpc>
                <a:spcPct val="120000"/>
              </a:lnSpc>
            </a:pPr>
            <a:r>
              <a:rPr lang="en-US" sz="1200" b="1" dirty="0">
                <a:solidFill>
                  <a:srgbClr val="04579A"/>
                </a:solidFill>
                <a:latin typeface="Arial" pitchFamily="34" charset="0"/>
                <a:ea typeface="Arial" pitchFamily="34" charset="-122"/>
                <a:cs typeface="Arial" pitchFamily="34" charset="-120"/>
              </a:rPr>
              <a:t>1970s</a:t>
            </a:r>
            <a:endParaRPr lang="en-US" sz="1200" dirty="0"/>
          </a:p>
        </p:txBody>
      </p:sp>
      <p:sp>
        <p:nvSpPr>
          <p:cNvPr id="16" name="Text 13"/>
          <p:cNvSpPr/>
          <p:nvPr/>
        </p:nvSpPr>
        <p:spPr>
          <a:xfrm>
            <a:off x="1714500" y="2032000"/>
            <a:ext cx="6858000" cy="787400"/>
          </a:xfrm>
          <a:prstGeom prst="rect">
            <a:avLst/>
          </a:prstGeom>
          <a:noFill/>
          <a:ln/>
        </p:spPr>
        <p:txBody>
          <a:bodyPr wrap="square" lIns="0" tIns="0" rIns="0" bIns="0" rtlCol="0" anchor="t"/>
          <a:lstStyle/>
          <a:p>
            <a:pPr algn="l">
              <a:lnSpc>
                <a:spcPct val="150000"/>
              </a:lnSpc>
            </a:pPr>
            <a:r>
              <a:rPr lang="en-US" sz="1300" b="1" dirty="0">
                <a:solidFill>
                  <a:srgbClr val="333333"/>
                </a:solidFill>
                <a:latin typeface="Arial" pitchFamily="34" charset="0"/>
                <a:ea typeface="Arial" pitchFamily="34" charset="-122"/>
                <a:cs typeface="Arial" pitchFamily="34" charset="-120"/>
              </a:rPr>
              <a:t>BLP [4] / Biba [5]</a:t>
            </a:r>
            <a:pPr algn="l">
              <a:lnSpc>
                <a:spcPct val="150000"/>
              </a:lnSpc>
            </a:pPr>
            <a:r>
              <a:rPr lang="en-US" sz="1300" dirty="0">
                <a:solidFill>
                  <a:srgbClr val="333333"/>
                </a:solidFill>
                <a:latin typeface="Arial" pitchFamily="34" charset="0"/>
                <a:ea typeface="Arial" pitchFamily="34" charset="-122"/>
                <a:cs typeface="Arial" pitchFamily="34" charset="-120"/>
              </a:rPr>
              <a:t> — Bell-LaPadula机密性模型与Biba完整性模型</a:t>
            </a:r>
            <a:endParaRPr lang="en-US" sz="1300" dirty="0"/>
          </a:p>
          <a:p>
            <a:pPr algn="l">
              <a:lnSpc>
                <a:spcPct val="150000"/>
              </a:lnSpc>
            </a:pPr>
            <a:r>
              <a:rPr lang="en-US" sz="1300" dirty="0">
                <a:solidFill>
                  <a:srgbClr val="666666"/>
                </a:solidFill>
                <a:latin typeface="Arial" pitchFamily="34" charset="0"/>
                <a:ea typeface="Arial" pitchFamily="34" charset="-122"/>
                <a:cs typeface="Arial" pitchFamily="34" charset="-120"/>
              </a:rPr>
              <a:t>MAC强制访问控制双支柱，但静态策略无法适应动态环境</a:t>
            </a:r>
            <a:endParaRPr lang="en-US" sz="1300" dirty="0"/>
          </a:p>
        </p:txBody>
      </p:sp>
      <p:sp>
        <p:nvSpPr>
          <p:cNvPr id="17" name="Shape 14"/>
          <p:cNvSpPr/>
          <p:nvPr/>
        </p:nvSpPr>
        <p:spPr>
          <a:xfrm>
            <a:off x="1282700" y="2946400"/>
            <a:ext cx="266700" cy="266700"/>
          </a:xfrm>
          <a:prstGeom prst="ellipse">
            <a:avLst/>
          </a:prstGeom>
          <a:solidFill>
            <a:srgbClr val="04579A"/>
          </a:solidFill>
          <a:ln/>
        </p:spPr>
      </p:sp>
      <p:sp>
        <p:nvSpPr>
          <p:cNvPr id="18" name="Text 15"/>
          <p:cNvSpPr/>
          <p:nvPr/>
        </p:nvSpPr>
        <p:spPr>
          <a:xfrm>
            <a:off x="609600" y="2921000"/>
            <a:ext cx="635000" cy="304800"/>
          </a:xfrm>
          <a:prstGeom prst="rect">
            <a:avLst/>
          </a:prstGeom>
          <a:noFill/>
          <a:ln/>
        </p:spPr>
        <p:txBody>
          <a:bodyPr wrap="none" lIns="0" tIns="0" rIns="0" bIns="0" rtlCol="0" anchor="ctr"/>
          <a:lstStyle/>
          <a:p>
            <a:pPr algn="r">
              <a:lnSpc>
                <a:spcPct val="120000"/>
              </a:lnSpc>
            </a:pPr>
            <a:r>
              <a:rPr lang="en-US" sz="1300" b="1" dirty="0">
                <a:solidFill>
                  <a:srgbClr val="04579A"/>
                </a:solidFill>
                <a:latin typeface="Arial" pitchFamily="34" charset="0"/>
                <a:ea typeface="Arial" pitchFamily="34" charset="-122"/>
                <a:cs typeface="Arial" pitchFamily="34" charset="-120"/>
              </a:rPr>
              <a:t>1996</a:t>
            </a:r>
            <a:endParaRPr lang="en-US" sz="1300" dirty="0"/>
          </a:p>
        </p:txBody>
      </p:sp>
      <p:sp>
        <p:nvSpPr>
          <p:cNvPr id="19" name="Text 16"/>
          <p:cNvSpPr/>
          <p:nvPr/>
        </p:nvSpPr>
        <p:spPr>
          <a:xfrm>
            <a:off x="1714500" y="2882900"/>
            <a:ext cx="6858000" cy="787400"/>
          </a:xfrm>
          <a:prstGeom prst="rect">
            <a:avLst/>
          </a:prstGeom>
          <a:noFill/>
          <a:ln/>
        </p:spPr>
        <p:txBody>
          <a:bodyPr wrap="square" lIns="0" tIns="0" rIns="0" bIns="0" rtlCol="0" anchor="t"/>
          <a:lstStyle/>
          <a:p>
            <a:pPr algn="l">
              <a:lnSpc>
                <a:spcPct val="150000"/>
              </a:lnSpc>
            </a:pPr>
            <a:r>
              <a:rPr lang="en-US" sz="1300" b="1" dirty="0">
                <a:solidFill>
                  <a:srgbClr val="333333"/>
                </a:solidFill>
                <a:latin typeface="Arial" pitchFamily="34" charset="0"/>
                <a:ea typeface="Arial" pitchFamily="34" charset="-122"/>
                <a:cs typeface="Arial" pitchFamily="34" charset="-120"/>
              </a:rPr>
              <a:t>RBAC [9] / NIST RBAC [10]</a:t>
            </a:r>
            <a:pPr algn="l">
              <a:lnSpc>
                <a:spcPct val="150000"/>
              </a:lnSpc>
            </a:pPr>
            <a:r>
              <a:rPr lang="en-US" sz="1300" dirty="0">
                <a:solidFill>
                  <a:srgbClr val="333333"/>
                </a:solidFill>
                <a:latin typeface="Arial" pitchFamily="34" charset="0"/>
                <a:ea typeface="Arial" pitchFamily="34" charset="-122"/>
                <a:cs typeface="Arial" pitchFamily="34" charset="-120"/>
              </a:rPr>
              <a:t> — Sandhu角色访问控制模型</a:t>
            </a:r>
            <a:endParaRPr lang="en-US" sz="1300" dirty="0"/>
          </a:p>
          <a:p>
            <a:pPr algn="l">
              <a:lnSpc>
                <a:spcPct val="150000"/>
              </a:lnSpc>
            </a:pPr>
            <a:r>
              <a:rPr lang="en-US" sz="1300" dirty="0">
                <a:solidFill>
                  <a:srgbClr val="666666"/>
                </a:solidFill>
                <a:latin typeface="Arial" pitchFamily="34" charset="0"/>
                <a:ea typeface="Arial" pitchFamily="34" charset="-122"/>
                <a:cs typeface="Arial" pitchFamily="34" charset="-120"/>
              </a:rPr>
              <a:t>角色抽象简化权限管理，但角色边界固定，难以适应智能体动态性</a:t>
            </a:r>
            <a:endParaRPr lang="en-US" sz="1300" dirty="0"/>
          </a:p>
        </p:txBody>
      </p:sp>
      <p:sp>
        <p:nvSpPr>
          <p:cNvPr id="20" name="Shape 17"/>
          <p:cNvSpPr/>
          <p:nvPr/>
        </p:nvSpPr>
        <p:spPr>
          <a:xfrm>
            <a:off x="1282700" y="3797300"/>
            <a:ext cx="266700" cy="266700"/>
          </a:xfrm>
          <a:prstGeom prst="ellipse">
            <a:avLst/>
          </a:prstGeom>
          <a:solidFill>
            <a:srgbClr val="04579A"/>
          </a:solidFill>
          <a:ln/>
        </p:spPr>
      </p:sp>
      <p:sp>
        <p:nvSpPr>
          <p:cNvPr id="21" name="Text 18"/>
          <p:cNvSpPr/>
          <p:nvPr/>
        </p:nvSpPr>
        <p:spPr>
          <a:xfrm>
            <a:off x="609600" y="3771900"/>
            <a:ext cx="635000" cy="304800"/>
          </a:xfrm>
          <a:prstGeom prst="rect">
            <a:avLst/>
          </a:prstGeom>
          <a:noFill/>
          <a:ln/>
        </p:spPr>
        <p:txBody>
          <a:bodyPr wrap="none" lIns="0" tIns="0" rIns="0" bIns="0" rtlCol="0" anchor="ctr"/>
          <a:lstStyle/>
          <a:p>
            <a:pPr algn="r">
              <a:lnSpc>
                <a:spcPct val="120000"/>
              </a:lnSpc>
            </a:pPr>
            <a:r>
              <a:rPr lang="en-US" sz="1300" b="1" dirty="0">
                <a:solidFill>
                  <a:srgbClr val="04579A"/>
                </a:solidFill>
                <a:latin typeface="Arial" pitchFamily="34" charset="0"/>
                <a:ea typeface="Arial" pitchFamily="34" charset="-122"/>
                <a:cs typeface="Arial" pitchFamily="34" charset="-120"/>
              </a:rPr>
              <a:t>2012</a:t>
            </a:r>
            <a:endParaRPr lang="en-US" sz="1300" dirty="0"/>
          </a:p>
        </p:txBody>
      </p:sp>
      <p:sp>
        <p:nvSpPr>
          <p:cNvPr id="22" name="Text 19"/>
          <p:cNvSpPr/>
          <p:nvPr/>
        </p:nvSpPr>
        <p:spPr>
          <a:xfrm>
            <a:off x="1714500" y="3733800"/>
            <a:ext cx="6858000" cy="787400"/>
          </a:xfrm>
          <a:prstGeom prst="rect">
            <a:avLst/>
          </a:prstGeom>
          <a:noFill/>
          <a:ln/>
        </p:spPr>
        <p:txBody>
          <a:bodyPr wrap="square" lIns="0" tIns="0" rIns="0" bIns="0" rtlCol="0" anchor="t"/>
          <a:lstStyle/>
          <a:p>
            <a:pPr algn="l">
              <a:lnSpc>
                <a:spcPct val="150000"/>
              </a:lnSpc>
            </a:pPr>
            <a:r>
              <a:rPr lang="en-US" sz="1300" b="1" dirty="0">
                <a:solidFill>
                  <a:srgbClr val="333333"/>
                </a:solidFill>
                <a:latin typeface="Arial" pitchFamily="34" charset="0"/>
                <a:ea typeface="Arial" pitchFamily="34" charset="-122"/>
                <a:cs typeface="Arial" pitchFamily="34" charset="-120"/>
              </a:rPr>
              <a:t>OAuth 2.0 [16]</a:t>
            </a:r>
            <a:pPr algn="l">
              <a:lnSpc>
                <a:spcPct val="150000"/>
              </a:lnSpc>
            </a:pPr>
            <a:r>
              <a:rPr lang="en-US" sz="1300" dirty="0">
                <a:solidFill>
                  <a:srgbClr val="333333"/>
                </a:solidFill>
                <a:latin typeface="Arial" pitchFamily="34" charset="0"/>
                <a:ea typeface="Arial" pitchFamily="34" charset="-122"/>
                <a:cs typeface="Arial" pitchFamily="34" charset="-120"/>
              </a:rPr>
              <a:t> — Hardt, RFC 6749 委托授权框架</a:t>
            </a:r>
            <a:endParaRPr lang="en-US" sz="1300" dirty="0"/>
          </a:p>
          <a:p>
            <a:pPr algn="l">
              <a:lnSpc>
                <a:spcPct val="150000"/>
              </a:lnSpc>
            </a:pPr>
            <a:r>
              <a:rPr lang="en-US" sz="1300" dirty="0">
                <a:solidFill>
                  <a:srgbClr val="666666"/>
                </a:solidFill>
                <a:latin typeface="Arial" pitchFamily="34" charset="0"/>
                <a:ea typeface="Arial" pitchFamily="34" charset="-122"/>
                <a:cs typeface="Arial" pitchFamily="34" charset="-120"/>
              </a:rPr>
              <a:t>Bearer Token粗粒度静态权限，泄露后全权限滥用，违背最小权限原则</a:t>
            </a:r>
            <a:endParaRPr lang="en-US" sz="1300" dirty="0"/>
          </a:p>
        </p:txBody>
      </p:sp>
      <p:sp>
        <p:nvSpPr>
          <p:cNvPr id="23" name="Shape 20"/>
          <p:cNvSpPr/>
          <p:nvPr/>
        </p:nvSpPr>
        <p:spPr>
          <a:xfrm>
            <a:off x="1282700" y="4648200"/>
            <a:ext cx="266700" cy="266700"/>
          </a:xfrm>
          <a:prstGeom prst="ellipse">
            <a:avLst/>
          </a:prstGeom>
          <a:solidFill>
            <a:srgbClr val="04579A"/>
          </a:solidFill>
          <a:ln/>
        </p:spPr>
      </p:sp>
      <p:sp>
        <p:nvSpPr>
          <p:cNvPr id="24" name="Text 21"/>
          <p:cNvSpPr/>
          <p:nvPr/>
        </p:nvSpPr>
        <p:spPr>
          <a:xfrm>
            <a:off x="546100" y="4622800"/>
            <a:ext cx="698500" cy="304800"/>
          </a:xfrm>
          <a:prstGeom prst="rect">
            <a:avLst/>
          </a:prstGeom>
          <a:noFill/>
          <a:ln/>
        </p:spPr>
        <p:txBody>
          <a:bodyPr wrap="none" lIns="0" tIns="0" rIns="0" bIns="0" rtlCol="0" anchor="ctr"/>
          <a:lstStyle/>
          <a:p>
            <a:pPr algn="r">
              <a:lnSpc>
                <a:spcPct val="120000"/>
              </a:lnSpc>
            </a:pPr>
            <a:r>
              <a:rPr lang="en-US" sz="1300" b="1" dirty="0">
                <a:solidFill>
                  <a:srgbClr val="04579A"/>
                </a:solidFill>
                <a:latin typeface="Arial" pitchFamily="34" charset="0"/>
                <a:ea typeface="Arial" pitchFamily="34" charset="-122"/>
                <a:cs typeface="Arial" pitchFamily="34" charset="-120"/>
              </a:rPr>
              <a:t>2014</a:t>
            </a:r>
            <a:endParaRPr lang="en-US" sz="1300" dirty="0"/>
          </a:p>
        </p:txBody>
      </p:sp>
      <p:sp>
        <p:nvSpPr>
          <p:cNvPr id="25" name="Text 22"/>
          <p:cNvSpPr/>
          <p:nvPr/>
        </p:nvSpPr>
        <p:spPr>
          <a:xfrm>
            <a:off x="1714500" y="4584700"/>
            <a:ext cx="6858000" cy="787400"/>
          </a:xfrm>
          <a:prstGeom prst="rect">
            <a:avLst/>
          </a:prstGeom>
          <a:noFill/>
          <a:ln/>
        </p:spPr>
        <p:txBody>
          <a:bodyPr wrap="square" lIns="0" tIns="0" rIns="0" bIns="0" rtlCol="0" anchor="t"/>
          <a:lstStyle/>
          <a:p>
            <a:pPr algn="l">
              <a:lnSpc>
                <a:spcPct val="150000"/>
              </a:lnSpc>
            </a:pPr>
            <a:r>
              <a:rPr lang="en-US" sz="1300" b="1" dirty="0">
                <a:solidFill>
                  <a:srgbClr val="333333"/>
                </a:solidFill>
                <a:latin typeface="Arial" pitchFamily="34" charset="0"/>
                <a:ea typeface="Arial" pitchFamily="34" charset="-122"/>
                <a:cs typeface="Arial" pitchFamily="34" charset="-120"/>
              </a:rPr>
              <a:t>Macaroons [31]</a:t>
            </a:r>
            <a:pPr algn="l">
              <a:lnSpc>
                <a:spcPct val="150000"/>
              </a:lnSpc>
            </a:pPr>
            <a:r>
              <a:rPr lang="en-US" sz="1300" dirty="0">
                <a:solidFill>
                  <a:srgbClr val="333333"/>
                </a:solidFill>
                <a:latin typeface="Arial" pitchFamily="34" charset="0"/>
                <a:ea typeface="Arial" pitchFamily="34" charset="-122"/>
                <a:cs typeface="Arial" pitchFamily="34" charset="-120"/>
              </a:rPr>
              <a:t> — Birgisson等, NDSS</a:t>
            </a:r>
            <a:endParaRPr lang="en-US" sz="1300" dirty="0"/>
          </a:p>
          <a:p>
            <a:pPr algn="l">
              <a:lnSpc>
                <a:spcPct val="150000"/>
              </a:lnSpc>
            </a:pPr>
            <a:r>
              <a:rPr lang="en-US" sz="1300" dirty="0">
                <a:solidFill>
                  <a:srgbClr val="666666"/>
                </a:solidFill>
                <a:latin typeface="Arial" pitchFamily="34" charset="0"/>
                <a:ea typeface="Arial" pitchFamily="34" charset="-122"/>
                <a:cs typeface="Arial" pitchFamily="34" charset="-120"/>
              </a:rPr>
              <a:t>嵌套HMAC链实现权限单调衰减与第三方约束，但未解决跨域互操作</a:t>
            </a:r>
            <a:endParaRPr lang="en-US" sz="1300" dirty="0"/>
          </a:p>
        </p:txBody>
      </p:sp>
      <p:sp>
        <p:nvSpPr>
          <p:cNvPr id="26" name="Shape 23"/>
          <p:cNvSpPr/>
          <p:nvPr/>
        </p:nvSpPr>
        <p:spPr>
          <a:xfrm>
            <a:off x="1282700" y="5499100"/>
            <a:ext cx="266700" cy="266700"/>
          </a:xfrm>
          <a:prstGeom prst="ellipse">
            <a:avLst/>
          </a:prstGeom>
          <a:solidFill>
            <a:srgbClr val="04579A"/>
          </a:solidFill>
          <a:ln/>
        </p:spPr>
      </p:sp>
      <p:sp>
        <p:nvSpPr>
          <p:cNvPr id="27" name="Text 24"/>
          <p:cNvSpPr/>
          <p:nvPr/>
        </p:nvSpPr>
        <p:spPr>
          <a:xfrm>
            <a:off x="609600" y="5473700"/>
            <a:ext cx="635000" cy="304800"/>
          </a:xfrm>
          <a:prstGeom prst="rect">
            <a:avLst/>
          </a:prstGeom>
          <a:noFill/>
          <a:ln/>
        </p:spPr>
        <p:txBody>
          <a:bodyPr wrap="none" lIns="0" tIns="0" rIns="0" bIns="0" rtlCol="0" anchor="ctr"/>
          <a:lstStyle/>
          <a:p>
            <a:pPr algn="r">
              <a:lnSpc>
                <a:spcPct val="120000"/>
              </a:lnSpc>
            </a:pPr>
            <a:r>
              <a:rPr lang="en-US" sz="1300" b="1" dirty="0">
                <a:solidFill>
                  <a:srgbClr val="04579A"/>
                </a:solidFill>
                <a:latin typeface="Arial" pitchFamily="34" charset="0"/>
                <a:ea typeface="Arial" pitchFamily="34" charset="-122"/>
                <a:cs typeface="Arial" pitchFamily="34" charset="-120"/>
              </a:rPr>
              <a:t>2019</a:t>
            </a:r>
            <a:endParaRPr lang="en-US" sz="1300" dirty="0"/>
          </a:p>
        </p:txBody>
      </p:sp>
      <p:sp>
        <p:nvSpPr>
          <p:cNvPr id="28" name="Text 25"/>
          <p:cNvSpPr/>
          <p:nvPr/>
        </p:nvSpPr>
        <p:spPr>
          <a:xfrm>
            <a:off x="1714500" y="5435600"/>
            <a:ext cx="6858000" cy="787400"/>
          </a:xfrm>
          <a:prstGeom prst="rect">
            <a:avLst/>
          </a:prstGeom>
          <a:noFill/>
          <a:ln/>
        </p:spPr>
        <p:txBody>
          <a:bodyPr wrap="square" lIns="0" tIns="0" rIns="0" bIns="0" rtlCol="0" anchor="t"/>
          <a:lstStyle/>
          <a:p>
            <a:pPr algn="l">
              <a:lnSpc>
                <a:spcPct val="150000"/>
              </a:lnSpc>
            </a:pPr>
            <a:r>
              <a:rPr lang="en-US" sz="1300" b="1" dirty="0">
                <a:solidFill>
                  <a:srgbClr val="333333"/>
                </a:solidFill>
                <a:latin typeface="Arial" pitchFamily="34" charset="0"/>
                <a:ea typeface="Arial" pitchFamily="34" charset="-122"/>
                <a:cs typeface="Arial" pitchFamily="34" charset="-120"/>
              </a:rPr>
              <a:t>WAVE [32]</a:t>
            </a:r>
            <a:pPr algn="l">
              <a:lnSpc>
                <a:spcPct val="150000"/>
              </a:lnSpc>
            </a:pPr>
            <a:r>
              <a:rPr lang="en-US" sz="1300" dirty="0">
                <a:solidFill>
                  <a:srgbClr val="333333"/>
                </a:solidFill>
                <a:latin typeface="Arial" pitchFamily="34" charset="0"/>
                <a:ea typeface="Arial" pitchFamily="34" charset="-122"/>
                <a:cs typeface="Arial" pitchFamily="34" charset="-120"/>
              </a:rPr>
              <a:t> — Andersen等, 去中心化授权框架</a:t>
            </a:r>
            <a:endParaRPr lang="en-US" sz="1300" dirty="0"/>
          </a:p>
          <a:p>
            <a:pPr algn="l">
              <a:lnSpc>
                <a:spcPct val="150000"/>
              </a:lnSpc>
            </a:pPr>
            <a:r>
              <a:rPr lang="en-US" sz="1300" dirty="0">
                <a:solidFill>
                  <a:srgbClr val="666666"/>
                </a:solidFill>
                <a:latin typeface="Arial" pitchFamily="34" charset="0"/>
                <a:ea typeface="Arial" pitchFamily="34" charset="-122"/>
                <a:cs typeface="Arial" pitchFamily="34" charset="-120"/>
              </a:rPr>
              <a:t>传递性委托+Attestation链，但缺乏历史状态与动态上下文表达</a:t>
            </a:r>
            <a:endParaRPr lang="en-US" sz="1300" dirty="0"/>
          </a:p>
        </p:txBody>
      </p:sp>
      <p:sp>
        <p:nvSpPr>
          <p:cNvPr id="29" name="Shape 26"/>
          <p:cNvSpPr/>
          <p:nvPr/>
        </p:nvSpPr>
        <p:spPr>
          <a:xfrm>
            <a:off x="1282700" y="6350000"/>
            <a:ext cx="266700" cy="266700"/>
          </a:xfrm>
          <a:prstGeom prst="ellipse">
            <a:avLst/>
          </a:prstGeom>
          <a:solidFill>
            <a:srgbClr val="04579A"/>
          </a:solidFill>
          <a:ln/>
        </p:spPr>
      </p:sp>
      <p:sp>
        <p:nvSpPr>
          <p:cNvPr id="30" name="Text 27"/>
          <p:cNvSpPr/>
          <p:nvPr/>
        </p:nvSpPr>
        <p:spPr>
          <a:xfrm>
            <a:off x="546100" y="6324600"/>
            <a:ext cx="698500" cy="304800"/>
          </a:xfrm>
          <a:prstGeom prst="rect">
            <a:avLst/>
          </a:prstGeom>
          <a:noFill/>
          <a:ln/>
        </p:spPr>
        <p:txBody>
          <a:bodyPr wrap="none" lIns="0" tIns="0" rIns="0" bIns="0" rtlCol="0" anchor="ctr"/>
          <a:lstStyle/>
          <a:p>
            <a:pPr algn="r">
              <a:lnSpc>
                <a:spcPct val="120000"/>
              </a:lnSpc>
            </a:pPr>
            <a:r>
              <a:rPr lang="en-US" sz="1300" b="1" dirty="0">
                <a:solidFill>
                  <a:srgbClr val="04579A"/>
                </a:solidFill>
                <a:latin typeface="Arial" pitchFamily="34" charset="0"/>
                <a:ea typeface="Arial" pitchFamily="34" charset="-122"/>
                <a:cs typeface="Arial" pitchFamily="34" charset="-120"/>
              </a:rPr>
              <a:t>2024</a:t>
            </a:r>
            <a:endParaRPr lang="en-US" sz="1300" dirty="0"/>
          </a:p>
        </p:txBody>
      </p:sp>
      <p:sp>
        <p:nvSpPr>
          <p:cNvPr id="31" name="Text 28"/>
          <p:cNvSpPr/>
          <p:nvPr/>
        </p:nvSpPr>
        <p:spPr>
          <a:xfrm>
            <a:off x="1714500" y="6286500"/>
            <a:ext cx="6858000" cy="787400"/>
          </a:xfrm>
          <a:prstGeom prst="rect">
            <a:avLst/>
          </a:prstGeom>
          <a:noFill/>
          <a:ln/>
        </p:spPr>
        <p:txBody>
          <a:bodyPr wrap="square" lIns="0" tIns="0" rIns="0" bIns="0" rtlCol="0" anchor="t"/>
          <a:lstStyle/>
          <a:p>
            <a:pPr algn="l">
              <a:lnSpc>
                <a:spcPct val="150000"/>
              </a:lnSpc>
            </a:pPr>
            <a:r>
              <a:rPr lang="en-US" sz="1300" b="1" dirty="0">
                <a:solidFill>
                  <a:srgbClr val="333333"/>
                </a:solidFill>
                <a:latin typeface="Arial" pitchFamily="34" charset="0"/>
                <a:ea typeface="Arial" pitchFamily="34" charset="-122"/>
                <a:cs typeface="Arial" pitchFamily="34" charset="-120"/>
              </a:rPr>
              <a:t>StatefulAuth [33]</a:t>
            </a:r>
            <a:pPr algn="l">
              <a:lnSpc>
                <a:spcPct val="150000"/>
              </a:lnSpc>
            </a:pPr>
            <a:r>
              <a:rPr lang="en-US" sz="1300" dirty="0">
                <a:solidFill>
                  <a:srgbClr val="333333"/>
                </a:solidFill>
                <a:latin typeface="Arial" pitchFamily="34" charset="0"/>
                <a:ea typeface="Arial" pitchFamily="34" charset="-122"/>
                <a:cs typeface="Arial" pitchFamily="34" charset="-120"/>
              </a:rPr>
              <a:t> — Cao等, USENIX Security</a:t>
            </a:r>
            <a:endParaRPr lang="en-US" sz="1300" dirty="0"/>
          </a:p>
          <a:p>
            <a:pPr algn="l">
              <a:lnSpc>
                <a:spcPct val="150000"/>
              </a:lnSpc>
            </a:pPr>
            <a:r>
              <a:rPr lang="en-US" sz="1300" dirty="0">
                <a:solidFill>
                  <a:srgbClr val="666666"/>
                </a:solidFill>
                <a:latin typeface="Arial" pitchFamily="34" charset="0"/>
                <a:ea typeface="Arial" pitchFamily="34" charset="-122"/>
                <a:cs typeface="Arial" pitchFamily="34" charset="-120"/>
              </a:rPr>
              <a:t>WebAssembly策略+操作日志动态评估，但权限粒度仍停留在资源/操作类型层面</a:t>
            </a:r>
            <a:endParaRPr lang="en-US" sz="1300" dirty="0"/>
          </a:p>
        </p:txBody>
      </p:sp>
      <p:sp>
        <p:nvSpPr>
          <p:cNvPr id="32" name="Shape 29"/>
          <p:cNvSpPr/>
          <p:nvPr/>
        </p:nvSpPr>
        <p:spPr>
          <a:xfrm>
            <a:off x="8890000" y="2032000"/>
            <a:ext cx="6604000" cy="6413500"/>
          </a:xfrm>
          <a:prstGeom prst="roundRect">
            <a:avLst>
              <a:gd name="adj" fmla="val 3000"/>
            </a:avLst>
          </a:prstGeom>
          <a:solidFill>
            <a:srgbClr val="E8F4FD"/>
          </a:solidFill>
          <a:ln/>
        </p:spPr>
      </p:sp>
      <p:sp>
        <p:nvSpPr>
          <p:cNvPr id="33" name="Text 30"/>
          <p:cNvSpPr/>
          <p:nvPr/>
        </p:nvSpPr>
        <p:spPr>
          <a:xfrm>
            <a:off x="9144000" y="2184400"/>
            <a:ext cx="6096000" cy="381000"/>
          </a:xfrm>
          <a:prstGeom prst="rect">
            <a:avLst/>
          </a:prstGeom>
          <a:noFill/>
          <a:ln/>
        </p:spPr>
        <p:txBody>
          <a:bodyPr wrap="none" lIns="0" tIns="0" rIns="0" bIns="0" rtlCol="0" anchor="ctr"/>
          <a:lstStyle/>
          <a:p>
            <a:pPr algn="l">
              <a:lnSpc>
                <a:spcPct val="120000"/>
              </a:lnSpc>
            </a:pPr>
            <a:r>
              <a:rPr lang="en-US" sz="1800" b="1" dirty="0">
                <a:solidFill>
                  <a:srgbClr val="04579A"/>
                </a:solidFill>
                <a:latin typeface="Arial" pitchFamily="34" charset="0"/>
                <a:ea typeface="Arial" pitchFamily="34" charset="-122"/>
                <a:cs typeface="Arial" pitchFamily="34" charset="-120"/>
              </a:rPr>
              <a:t>发展趋势总结</a:t>
            </a:r>
            <a:endParaRPr lang="en-US" sz="1800" dirty="0"/>
          </a:p>
        </p:txBody>
      </p:sp>
      <p:sp>
        <p:nvSpPr>
          <p:cNvPr id="34" name="Text 31"/>
          <p:cNvSpPr/>
          <p:nvPr/>
        </p:nvSpPr>
        <p:spPr>
          <a:xfrm>
            <a:off x="9144000" y="2667000"/>
            <a:ext cx="6096000" cy="5588000"/>
          </a:xfrm>
          <a:prstGeom prst="rect">
            <a:avLst/>
          </a:prstGeom>
          <a:noFill/>
          <a:ln/>
        </p:spPr>
        <p:txBody>
          <a:bodyPr wrap="square" lIns="0" tIns="0" rIns="0" bIns="0" rtlCol="0" anchor="t"/>
          <a:lstStyle/>
          <a:p>
            <a:pPr algn="l">
              <a:lnSpc>
                <a:spcPct val="170000"/>
              </a:lnSpc>
            </a:pPr>
            <a:r>
              <a:rPr lang="en-US" sz="1400" b="1" dirty="0">
                <a:solidFill>
                  <a:srgbClr val="333333"/>
                </a:solidFill>
                <a:latin typeface="Arial" pitchFamily="34" charset="0"/>
                <a:ea typeface="Arial" pitchFamily="34" charset="-122"/>
                <a:cs typeface="Arial" pitchFamily="34" charset="-120"/>
              </a:rPr>
              <a:t>1. 策略表达标准化</a:t>
            </a:r>
            <a:endParaRPr lang="en-US" sz="1400" dirty="0"/>
          </a:p>
          <a:p>
            <a:pPr algn="l">
              <a:lnSpc>
                <a:spcPct val="170000"/>
              </a:lnSpc>
            </a:pPr>
            <a:r>
              <a:rPr lang="en-US" sz="1400" dirty="0">
                <a:solidFill>
                  <a:srgbClr val="666666"/>
                </a:solidFill>
                <a:latin typeface="Arial" pitchFamily="34" charset="0"/>
                <a:ea typeface="Arial" pitchFamily="34" charset="-122"/>
                <a:cs typeface="Arial" pitchFamily="34" charset="-120"/>
              </a:rPr>
              <a:t>Biscuit等将Datalog声明式策略嵌入令牌，解决跨服务策略互操作</a:t>
            </a:r>
            <a:endParaRPr lang="en-US" sz="1400" dirty="0"/>
          </a:p>
          <a:p>
            <a:pPr algn="l">
              <a:lnSpc>
                <a:spcPct val="170000"/>
              </a:lnSpc>
              <a:spcBef>
                <a:spcPts val="1000"/>
              </a:spcBef>
            </a:pPr>
            <a:r>
              <a:rPr lang="en-US" sz="1400" b="1" dirty="0">
                <a:solidFill>
                  <a:srgbClr val="333333"/>
                </a:solidFill>
                <a:latin typeface="Arial" pitchFamily="34" charset="0"/>
                <a:ea typeface="Arial" pitchFamily="34" charset="-122"/>
                <a:cs typeface="Arial" pitchFamily="34" charset="-120"/>
              </a:rPr>
              <a:t>2. 零信任深度融合</a:t>
            </a:r>
            <a:endParaRPr lang="en-US" sz="1400" dirty="0"/>
          </a:p>
          <a:p>
            <a:pPr algn="l">
              <a:lnSpc>
                <a:spcPct val="170000"/>
              </a:lnSpc>
            </a:pPr>
            <a:r>
              <a:rPr lang="en-US" sz="1400" dirty="0">
                <a:solidFill>
                  <a:srgbClr val="666666"/>
                </a:solidFill>
                <a:latin typeface="Arial" pitchFamily="34" charset="0"/>
                <a:ea typeface="Arial" pitchFamily="34" charset="-122"/>
                <a:cs typeface="Arial" pitchFamily="34" charset="-120"/>
              </a:rPr>
              <a:t>永不信任、持续验证，基于实时上下文与历史行为动态授权 [22]</a:t>
            </a:r>
            <a:endParaRPr lang="en-US" sz="1400" dirty="0"/>
          </a:p>
          <a:p>
            <a:pPr algn="l">
              <a:lnSpc>
                <a:spcPct val="170000"/>
              </a:lnSpc>
              <a:spcBef>
                <a:spcPts val="1000"/>
              </a:spcBef>
            </a:pPr>
            <a:r>
              <a:rPr lang="en-US" sz="1400" b="1" dirty="0">
                <a:solidFill>
                  <a:srgbClr val="333333"/>
                </a:solidFill>
                <a:latin typeface="Arial" pitchFamily="34" charset="0"/>
                <a:ea typeface="Arial" pitchFamily="34" charset="-122"/>
                <a:cs typeface="Arial" pitchFamily="34" charset="-120"/>
              </a:rPr>
              <a:t>3. 共性局限</a:t>
            </a:r>
            <a:endParaRPr lang="en-US" sz="1400" dirty="0"/>
          </a:p>
          <a:p>
            <a:pPr algn="l">
              <a:lnSpc>
                <a:spcPct val="170000"/>
              </a:lnSpc>
            </a:pPr>
            <a:r>
              <a:rPr lang="en-US" sz="1400" dirty="0">
                <a:solidFill>
                  <a:srgbClr val="EC5F74"/>
                </a:solidFill>
                <a:latin typeface="Arial" pitchFamily="34" charset="0"/>
                <a:ea typeface="Arial" pitchFamily="34" charset="-122"/>
                <a:cs typeface="Arial" pitchFamily="34" charset="-120"/>
              </a:rPr>
              <a:t>权限粒度停留在资源/操作类型层面，未精确到操作参数级</a:t>
            </a:r>
            <a:endParaRPr lang="en-US" sz="1400" dirty="0"/>
          </a:p>
          <a:p>
            <a:pPr algn="l">
              <a:lnSpc>
                <a:spcPct val="170000"/>
              </a:lnSpc>
              <a:spcBef>
                <a:spcPts val="1000"/>
              </a:spcBef>
            </a:pPr>
            <a:r>
              <a:rPr lang="en-US" sz="1400" b="1" dirty="0">
                <a:solidFill>
                  <a:srgbClr val="333333"/>
                </a:solidFill>
                <a:latin typeface="Arial" pitchFamily="34" charset="0"/>
                <a:ea typeface="Arial" pitchFamily="34" charset="-122"/>
                <a:cs typeface="Arial" pitchFamily="34" charset="-120"/>
              </a:rPr>
              <a:t>4. 前沿方向</a:t>
            </a:r>
            <a:endParaRPr lang="en-US" sz="1400" dirty="0"/>
          </a:p>
          <a:p>
            <a:pPr algn="l">
              <a:lnSpc>
                <a:spcPct val="170000"/>
              </a:lnSpc>
            </a:pPr>
            <a:r>
              <a:rPr lang="en-US" sz="1400" dirty="0">
                <a:solidFill>
                  <a:srgbClr val="666666"/>
                </a:solidFill>
                <a:latin typeface="Arial" pitchFamily="34" charset="0"/>
                <a:ea typeface="Arial" pitchFamily="34" charset="-122"/>
                <a:cs typeface="Arial" pitchFamily="34" charset="-120"/>
              </a:rPr>
              <a:t>面向AI Agent支持自主代理身份治理、任务级权限委托与细粒度访问控制</a:t>
            </a:r>
            <a:endParaRPr lang="en-US" sz="1400" dirty="0"/>
          </a:p>
        </p:txBody>
      </p:sp>
      <p:sp>
        <p:nvSpPr>
          <p:cNvPr id="35" name="Text 32"/>
          <p:cNvSpPr/>
          <p:nvPr/>
        </p:nvSpPr>
        <p:spPr>
          <a:xfrm>
            <a:off x="15240000" y="8636000"/>
            <a:ext cx="635000" cy="381000"/>
          </a:xfrm>
          <a:prstGeom prst="rect">
            <a:avLst/>
          </a:prstGeom>
          <a:noFill/>
          <a:ln/>
        </p:spPr>
        <p:txBody>
          <a:bodyPr wrap="none" lIns="0" tIns="0" rIns="0" bIns="0" rtlCol="0" anchor="ctr"/>
          <a:lstStyle/>
          <a:p>
            <a:pPr algn="r">
              <a:lnSpc>
                <a:spcPct val="120000"/>
              </a:lnSpc>
            </a:pPr>
            <a:r>
              <a:rPr lang="en-US" sz="1800" dirty="0">
                <a:solidFill>
                  <a:srgbClr val="666666"/>
                </a:solidFill>
                <a:latin typeface="Arial" pitchFamily="34" charset="0"/>
                <a:ea typeface="Arial" pitchFamily="34" charset="-122"/>
                <a:cs typeface="Arial" pitchFamily="34" charset="-120"/>
              </a:rPr>
              <a:t>11</a:t>
            </a:r>
            <a:endParaRPr lang="en-US" sz="1800" dirty="0"/>
          </a:p>
        </p:txBody>
      </p:sp>
    </p:spTree>
  </p:cSld>
  <p:clrMapOvr>
    <a:masterClrMapping/>
  </p:clrMapOvr>
  <p:transition>
    <p:fade/>
    <p:spd val="med"/>
  </p:transition>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219960" y="0"/>
            <a:ext cx="2895600" cy="962660"/>
          </a:xfrm>
          <a:prstGeom prst="rect">
            <a:avLst/>
          </a:prstGeom>
          <a:solidFill>
            <a:srgbClr val="F2F2F2"/>
          </a:solidFill>
          <a:ln w="12700">
            <a:solidFill>
              <a:srgbClr val="F2F2F2"/>
            </a:solidFill>
            <a:prstDash val="solid"/>
          </a:ln>
        </p:spPr>
      </p:sp>
      <p:sp>
        <p:nvSpPr>
          <p:cNvPr id="3" name="Shape 1"/>
          <p:cNvSpPr/>
          <p:nvPr/>
        </p:nvSpPr>
        <p:spPr>
          <a:xfrm>
            <a:off x="5162169" y="-889"/>
            <a:ext cx="2590800" cy="962660"/>
          </a:xfrm>
          <a:prstGeom prst="rect">
            <a:avLst/>
          </a:prstGeom>
          <a:solidFill>
            <a:srgbClr val="04579A"/>
          </a:solidFill>
          <a:ln w="12700">
            <a:solidFill>
              <a:srgbClr val="04579A"/>
            </a:solidFill>
            <a:prstDash val="solid"/>
          </a:ln>
        </p:spPr>
      </p:sp>
      <p:sp>
        <p:nvSpPr>
          <p:cNvPr id="4" name="Shape 2"/>
          <p:cNvSpPr/>
          <p:nvPr/>
        </p:nvSpPr>
        <p:spPr>
          <a:xfrm>
            <a:off x="7816469" y="-889"/>
            <a:ext cx="4114800" cy="962660"/>
          </a:xfrm>
          <a:prstGeom prst="rect">
            <a:avLst/>
          </a:prstGeom>
          <a:solidFill>
            <a:srgbClr val="F2F2F2"/>
          </a:solidFill>
          <a:ln/>
        </p:spPr>
      </p:sp>
      <p:sp>
        <p:nvSpPr>
          <p:cNvPr id="5" name="Shape 3"/>
          <p:cNvSpPr/>
          <p:nvPr/>
        </p:nvSpPr>
        <p:spPr>
          <a:xfrm>
            <a:off x="11971020" y="0"/>
            <a:ext cx="4284980" cy="961771"/>
          </a:xfrm>
          <a:prstGeom prst="rect">
            <a:avLst/>
          </a:prstGeom>
          <a:solidFill>
            <a:srgbClr val="F2F2F2"/>
          </a:solidFill>
          <a:ln/>
        </p:spPr>
      </p:sp>
      <p:sp>
        <p:nvSpPr>
          <p:cNvPr id="6" name="Text 4"/>
          <p:cNvSpPr/>
          <p:nvPr/>
        </p:nvSpPr>
        <p:spPr>
          <a:xfrm>
            <a:off x="2283460" y="203200"/>
            <a:ext cx="27686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选题背景及意义</a:t>
            </a:r>
            <a:endParaRPr lang="en-US" sz="2000" dirty="0"/>
          </a:p>
        </p:txBody>
      </p:sp>
      <p:sp>
        <p:nvSpPr>
          <p:cNvPr id="7" name="Text 5"/>
          <p:cNvSpPr/>
          <p:nvPr/>
        </p:nvSpPr>
        <p:spPr>
          <a:xfrm>
            <a:off x="5225669" y="203200"/>
            <a:ext cx="2463800" cy="508000"/>
          </a:xfrm>
          <a:prstGeom prst="rect">
            <a:avLst/>
          </a:prstGeom>
          <a:noFill/>
          <a:ln/>
        </p:spPr>
        <p:txBody>
          <a:bodyPr wrap="none" lIns="0" tIns="0" rIns="0" bIns="0" rtlCol="0" anchor="ctr"/>
          <a:lstStyle/>
          <a:p>
            <a:pPr algn="ctr">
              <a:lnSpc>
                <a:spcPct val="120000"/>
              </a:lnSpc>
            </a:pPr>
            <a:r>
              <a:rPr lang="en-US" sz="2000" dirty="0">
                <a:solidFill>
                  <a:srgbClr val="FFFFFF"/>
                </a:solidFill>
                <a:latin typeface="Arial" pitchFamily="34" charset="0"/>
                <a:ea typeface="Arial" pitchFamily="34" charset="-122"/>
                <a:cs typeface="Arial" pitchFamily="34" charset="-120"/>
              </a:rPr>
              <a:t>国内外研究现状</a:t>
            </a:r>
            <a:endParaRPr lang="en-US" sz="2000" dirty="0"/>
          </a:p>
        </p:txBody>
      </p:sp>
      <p:sp>
        <p:nvSpPr>
          <p:cNvPr id="8" name="Text 6"/>
          <p:cNvSpPr/>
          <p:nvPr/>
        </p:nvSpPr>
        <p:spPr>
          <a:xfrm>
            <a:off x="7879969" y="203200"/>
            <a:ext cx="39878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主要研究内容及预期目标</a:t>
            </a:r>
            <a:endParaRPr lang="en-US" sz="2000" dirty="0"/>
          </a:p>
        </p:txBody>
      </p:sp>
      <p:sp>
        <p:nvSpPr>
          <p:cNvPr id="9" name="Text 7"/>
          <p:cNvSpPr/>
          <p:nvPr/>
        </p:nvSpPr>
        <p:spPr>
          <a:xfrm>
            <a:off x="12034520" y="203200"/>
            <a:ext cx="415798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工作计划与进度安排</a:t>
            </a:r>
            <a:endParaRPr lang="en-US" sz="2000" dirty="0"/>
          </a:p>
        </p:txBody>
      </p:sp>
      <p:pic>
        <p:nvPicPr>
          <p:cNvPr id="10" name="Image 0" descr="https://kimi-img.moonshot.cn/pub/slides/okc/flfuysioo4gzm/mnt/agents/output/yuan_pptd/images/image_2.jpg">    </p:cNvPr>
          <p:cNvPicPr>
            <a:picLocks noChangeAspect="1"/>
          </p:cNvPicPr>
          <p:nvPr/>
        </p:nvPicPr>
        <p:blipFill>
          <a:blip r:embed="rId1"/>
          <a:srcRect l="5060" r="29000" t="0" b="0"/>
          <a:stretch/>
        </p:blipFill>
        <p:spPr>
          <a:xfrm>
            <a:off x="544449" y="140589"/>
            <a:ext cx="1273429" cy="745871"/>
          </a:xfrm>
          <a:prstGeom prst="rect">
            <a:avLst/>
          </a:prstGeom>
        </p:spPr>
      </p:pic>
      <p:sp>
        <p:nvSpPr>
          <p:cNvPr id="11" name="Shape 8"/>
          <p:cNvSpPr/>
          <p:nvPr/>
        </p:nvSpPr>
        <p:spPr>
          <a:xfrm rot="10800000">
            <a:off x="6379591" y="961771"/>
            <a:ext cx="389509" cy="304800"/>
          </a:xfrm>
          <a:prstGeom prst="triangle">
            <a:avLst>
              <a:gd name="adj" fmla="val 50000"/>
            </a:avLst>
          </a:prstGeom>
          <a:solidFill>
            <a:srgbClr val="04579A"/>
          </a:solidFill>
          <a:ln/>
        </p:spPr>
      </p:sp>
      <p:sp>
        <p:nvSpPr>
          <p:cNvPr id="12" name="Text 9"/>
          <p:cNvSpPr/>
          <p:nvPr/>
        </p:nvSpPr>
        <p:spPr>
          <a:xfrm>
            <a:off x="762000" y="1333500"/>
            <a:ext cx="11430000" cy="533400"/>
          </a:xfrm>
          <a:prstGeom prst="rect">
            <a:avLst/>
          </a:prstGeom>
          <a:noFill/>
          <a:ln/>
        </p:spPr>
        <p:txBody>
          <a:bodyPr wrap="none" lIns="0" tIns="0" rIns="0" bIns="0" rtlCol="0" anchor="ctr"/>
          <a:lstStyle/>
          <a:p>
            <a:pPr algn="l">
              <a:lnSpc>
                <a:spcPct val="120000"/>
              </a:lnSpc>
            </a:pPr>
            <a:r>
              <a:rPr lang="en-US" sz="2800" b="1" dirty="0">
                <a:solidFill>
                  <a:srgbClr val="04579A"/>
                </a:solidFill>
                <a:latin typeface="Arial" pitchFamily="34" charset="0"/>
                <a:ea typeface="Arial" pitchFamily="34" charset="-122"/>
                <a:cs typeface="Arial" pitchFamily="34" charset="-120"/>
              </a:rPr>
              <a:t>智能体授权协议研究现状</a:t>
            </a:r>
            <a:endParaRPr lang="en-US" sz="2800" dirty="0"/>
          </a:p>
        </p:txBody>
      </p:sp>
      <p:sp>
        <p:nvSpPr>
          <p:cNvPr id="13" name="Shape 10"/>
          <p:cNvSpPr/>
          <p:nvPr/>
        </p:nvSpPr>
        <p:spPr>
          <a:xfrm>
            <a:off x="762000" y="2006600"/>
            <a:ext cx="7175500" cy="2032000"/>
          </a:xfrm>
          <a:prstGeom prst="roundRect">
            <a:avLst>
              <a:gd name="adj" fmla="val 5000"/>
            </a:avLst>
          </a:prstGeom>
          <a:solidFill>
            <a:srgbClr val="E8F4FD"/>
          </a:solidFill>
          <a:ln/>
        </p:spPr>
      </p:sp>
      <p:sp>
        <p:nvSpPr>
          <p:cNvPr id="14" name="Text 11"/>
          <p:cNvSpPr/>
          <p:nvPr/>
        </p:nvSpPr>
        <p:spPr>
          <a:xfrm>
            <a:off x="952500" y="2108200"/>
            <a:ext cx="406400" cy="330200"/>
          </a:xfrm>
          <a:prstGeom prst="rect">
            <a:avLst/>
          </a:prstGeom>
          <a:noFill/>
          <a:ln/>
        </p:spPr>
        <p:txBody>
          <a:bodyPr wrap="none" lIns="0" tIns="0" rIns="0" bIns="0" rtlCol="0" anchor="ctr"/>
          <a:lstStyle/>
          <a:p>
            <a:pPr algn="ctr">
              <a:lnSpc>
                <a:spcPct val="120000"/>
              </a:lnSpc>
            </a:pPr>
            <a:r>
              <a:rPr lang="en-US" sz="2000" b="1" dirty="0">
                <a:solidFill>
                  <a:srgbClr val="04579A"/>
                </a:solidFill>
                <a:latin typeface="Arial" pitchFamily="34" charset="0"/>
                <a:ea typeface="Arial" pitchFamily="34" charset="-122"/>
                <a:cs typeface="Arial" pitchFamily="34" charset="-120"/>
              </a:rPr>
              <a:t>1</a:t>
            </a:r>
            <a:endParaRPr lang="en-US" sz="2000" dirty="0"/>
          </a:p>
        </p:txBody>
      </p:sp>
      <p:sp>
        <p:nvSpPr>
          <p:cNvPr id="15" name="Text 12"/>
          <p:cNvSpPr/>
          <p:nvPr/>
        </p:nvSpPr>
        <p:spPr>
          <a:xfrm>
            <a:off x="1371600" y="2108200"/>
            <a:ext cx="6350000" cy="330200"/>
          </a:xfrm>
          <a:prstGeom prst="rect">
            <a:avLst/>
          </a:prstGeom>
          <a:noFill/>
          <a:ln/>
        </p:spPr>
        <p:txBody>
          <a:bodyPr wrap="none" lIns="0" tIns="0" rIns="0" bIns="0" rtlCol="0" anchor="ctr"/>
          <a:lstStyle/>
          <a:p>
            <a:pPr algn="l">
              <a:lnSpc>
                <a:spcPct val="120000"/>
              </a:lnSpc>
            </a:pPr>
            <a:r>
              <a:rPr lang="en-US" sz="1600" b="1" dirty="0">
                <a:solidFill>
                  <a:srgbClr val="04579A"/>
                </a:solidFill>
                <a:latin typeface="Arial" pitchFamily="34" charset="0"/>
                <a:ea typeface="Arial" pitchFamily="34" charset="-122"/>
                <a:cs typeface="Arial" pitchFamily="34" charset="-120"/>
              </a:rPr>
              <a:t>Chopra等 — 传统授权与智能体的结构性不匹配 [34]</a:t>
            </a:r>
            <a:endParaRPr lang="en-US" sz="1600" dirty="0"/>
          </a:p>
        </p:txBody>
      </p:sp>
      <p:sp>
        <p:nvSpPr>
          <p:cNvPr id="16" name="Text 13"/>
          <p:cNvSpPr/>
          <p:nvPr/>
        </p:nvSpPr>
        <p:spPr>
          <a:xfrm>
            <a:off x="952500" y="2489200"/>
            <a:ext cx="6794500" cy="1397000"/>
          </a:xfrm>
          <a:prstGeom prst="rect">
            <a:avLst/>
          </a:prstGeom>
          <a:noFill/>
          <a:ln/>
        </p:spPr>
        <p:txBody>
          <a:bodyPr wrap="square" lIns="0" tIns="0" rIns="0" bIns="0" rtlCol="0" anchor="t"/>
          <a:lstStyle/>
          <a:p>
            <a:pPr algn="l">
              <a:lnSpc>
                <a:spcPct val="160000"/>
              </a:lnSpc>
            </a:pPr>
            <a:r>
              <a:rPr lang="en-US" sz="1300" b="1" dirty="0">
                <a:solidFill>
                  <a:srgbClr val="444444"/>
                </a:solidFill>
                <a:latin typeface="Arial" pitchFamily="34" charset="0"/>
                <a:ea typeface="Arial" pitchFamily="34" charset="-122"/>
                <a:cs typeface="Arial" pitchFamily="34" charset="-120"/>
              </a:rPr>
              <a:t>不足：</a:t>
            </a:r>
            <a:pPr algn="l">
              <a:lnSpc>
                <a:spcPct val="160000"/>
              </a:lnSpc>
            </a:pPr>
            <a:r>
              <a:rPr lang="en-US" sz="1300" dirty="0">
                <a:solidFill>
                  <a:srgbClr val="444444"/>
                </a:solidFill>
                <a:latin typeface="Arial" pitchFamily="34" charset="0"/>
                <a:ea typeface="Arial" pitchFamily="34" charset="-122"/>
                <a:cs typeface="Arial" pitchFamily="34" charset="-120"/>
              </a:rPr>
              <a:t>权限粒度过大、无动态策略执行、缺乏自主系统控制</a:t>
            </a:r>
            <a:endParaRPr lang="en-US" sz="1300" dirty="0"/>
          </a:p>
          <a:p>
            <a:pPr algn="l">
              <a:lnSpc>
                <a:spcPct val="160000"/>
              </a:lnSpc>
            </a:pPr>
            <a:r>
              <a:rPr lang="en-US" sz="1300" b="1" dirty="0">
                <a:solidFill>
                  <a:srgbClr val="444444"/>
                </a:solidFill>
                <a:latin typeface="Arial" pitchFamily="34" charset="0"/>
                <a:ea typeface="Arial" pitchFamily="34" charset="-122"/>
                <a:cs typeface="Arial" pitchFamily="34" charset="-120"/>
              </a:rPr>
              <a:t>方向：</a:t>
            </a:r>
            <a:pPr algn="l">
              <a:lnSpc>
                <a:spcPct val="160000"/>
              </a:lnSpc>
            </a:pPr>
            <a:r>
              <a:rPr lang="en-US" sz="1300" dirty="0">
                <a:solidFill>
                  <a:srgbClr val="444444"/>
                </a:solidFill>
                <a:latin typeface="Arial" pitchFamily="34" charset="0"/>
                <a:ea typeface="Arial" pitchFamily="34" charset="-122"/>
                <a:cs typeface="Arial" pitchFamily="34" charset="-120"/>
              </a:rPr>
              <a:t>基于能力的模型 + 实时策略引擎 + 跨服务标准化 + 边缘验证</a:t>
            </a:r>
            <a:endParaRPr lang="en-US" sz="1300" dirty="0"/>
          </a:p>
          <a:p>
            <a:pPr algn="l">
              <a:lnSpc>
                <a:spcPct val="160000"/>
              </a:lnSpc>
            </a:pPr>
            <a:r>
              <a:rPr lang="en-US" sz="1300" b="1" dirty="0">
                <a:solidFill>
                  <a:srgbClr val="444444"/>
                </a:solidFill>
                <a:latin typeface="Arial" pitchFamily="34" charset="0"/>
                <a:ea typeface="Arial" pitchFamily="34" charset="-122"/>
                <a:cs typeface="Arial" pitchFamily="34" charset="-120"/>
              </a:rPr>
              <a:t>意义：</a:t>
            </a:r>
            <a:pPr algn="l">
              <a:lnSpc>
                <a:spcPct val="160000"/>
              </a:lnSpc>
            </a:pPr>
            <a:r>
              <a:rPr lang="en-US" sz="1300" dirty="0">
                <a:solidFill>
                  <a:srgbClr val="444444"/>
                </a:solidFill>
                <a:latin typeface="Arial" pitchFamily="34" charset="0"/>
                <a:ea typeface="Arial" pitchFamily="34" charset="-122"/>
                <a:cs typeface="Arial" pitchFamily="34" charset="-120"/>
              </a:rPr>
              <a:t>首次从系统架构层面揭示传统授权与自主智能体的根本性矛盾</a:t>
            </a:r>
            <a:endParaRPr lang="en-US" sz="1300" dirty="0"/>
          </a:p>
        </p:txBody>
      </p:sp>
      <p:sp>
        <p:nvSpPr>
          <p:cNvPr id="17" name="Shape 14"/>
          <p:cNvSpPr/>
          <p:nvPr/>
        </p:nvSpPr>
        <p:spPr>
          <a:xfrm>
            <a:off x="8318500" y="2006600"/>
            <a:ext cx="7175500" cy="2032000"/>
          </a:xfrm>
          <a:prstGeom prst="roundRect">
            <a:avLst>
              <a:gd name="adj" fmla="val 5000"/>
            </a:avLst>
          </a:prstGeom>
          <a:solidFill>
            <a:srgbClr val="E8F4FD"/>
          </a:solidFill>
          <a:ln/>
        </p:spPr>
      </p:sp>
      <p:sp>
        <p:nvSpPr>
          <p:cNvPr id="18" name="Text 15"/>
          <p:cNvSpPr/>
          <p:nvPr/>
        </p:nvSpPr>
        <p:spPr>
          <a:xfrm>
            <a:off x="8509000" y="2108200"/>
            <a:ext cx="406400" cy="330200"/>
          </a:xfrm>
          <a:prstGeom prst="rect">
            <a:avLst/>
          </a:prstGeom>
          <a:noFill/>
          <a:ln/>
        </p:spPr>
        <p:txBody>
          <a:bodyPr wrap="none" lIns="0" tIns="0" rIns="0" bIns="0" rtlCol="0" anchor="ctr"/>
          <a:lstStyle/>
          <a:p>
            <a:pPr algn="ctr">
              <a:lnSpc>
                <a:spcPct val="120000"/>
              </a:lnSpc>
            </a:pPr>
            <a:r>
              <a:rPr lang="en-US" sz="2000" b="1" dirty="0">
                <a:solidFill>
                  <a:srgbClr val="04579A"/>
                </a:solidFill>
                <a:latin typeface="Arial" pitchFamily="34" charset="0"/>
                <a:ea typeface="Arial" pitchFamily="34" charset="-122"/>
                <a:cs typeface="Arial" pitchFamily="34" charset="-120"/>
              </a:rPr>
              <a:t>2</a:t>
            </a:r>
            <a:endParaRPr lang="en-US" sz="2000" dirty="0"/>
          </a:p>
        </p:txBody>
      </p:sp>
      <p:sp>
        <p:nvSpPr>
          <p:cNvPr id="19" name="Text 16"/>
          <p:cNvSpPr/>
          <p:nvPr/>
        </p:nvSpPr>
        <p:spPr>
          <a:xfrm>
            <a:off x="8928100" y="2108200"/>
            <a:ext cx="6350000" cy="330200"/>
          </a:xfrm>
          <a:prstGeom prst="rect">
            <a:avLst/>
          </a:prstGeom>
          <a:noFill/>
          <a:ln/>
        </p:spPr>
        <p:txBody>
          <a:bodyPr wrap="none" lIns="0" tIns="0" rIns="0" bIns="0" rtlCol="0" anchor="ctr"/>
          <a:lstStyle/>
          <a:p>
            <a:pPr algn="l">
              <a:lnSpc>
                <a:spcPct val="120000"/>
              </a:lnSpc>
            </a:pPr>
            <a:r>
              <a:rPr lang="en-US" sz="1600" b="1" dirty="0">
                <a:solidFill>
                  <a:srgbClr val="04579A"/>
                </a:solidFill>
                <a:latin typeface="Arial" pitchFamily="34" charset="0"/>
                <a:ea typeface="Arial" pitchFamily="34" charset="-122"/>
                <a:cs typeface="Arial" pitchFamily="34" charset="-120"/>
              </a:rPr>
              <a:t>South等 — 可认证可审计委托授权框架 [35]</a:t>
            </a:r>
            <a:endParaRPr lang="en-US" sz="1600" dirty="0"/>
          </a:p>
        </p:txBody>
      </p:sp>
      <p:sp>
        <p:nvSpPr>
          <p:cNvPr id="20" name="Text 17"/>
          <p:cNvSpPr/>
          <p:nvPr/>
        </p:nvSpPr>
        <p:spPr>
          <a:xfrm>
            <a:off x="8509000" y="2489200"/>
            <a:ext cx="6794500" cy="1397000"/>
          </a:xfrm>
          <a:prstGeom prst="rect">
            <a:avLst/>
          </a:prstGeom>
          <a:noFill/>
          <a:ln/>
        </p:spPr>
        <p:txBody>
          <a:bodyPr wrap="square" lIns="0" tIns="0" rIns="0" bIns="0" rtlCol="0" anchor="t"/>
          <a:lstStyle/>
          <a:p>
            <a:pPr algn="l">
              <a:lnSpc>
                <a:spcPct val="160000"/>
              </a:lnSpc>
            </a:pPr>
            <a:r>
              <a:rPr lang="en-US" sz="1300" b="1" dirty="0">
                <a:solidFill>
                  <a:srgbClr val="444444"/>
                </a:solidFill>
                <a:latin typeface="Arial" pitchFamily="34" charset="0"/>
                <a:ea typeface="Arial" pitchFamily="34" charset="-122"/>
                <a:cs typeface="Arial" pitchFamily="34" charset="-120"/>
              </a:rPr>
              <a:t>机制：</a:t>
            </a:r>
            <a:pPr algn="l">
              <a:lnSpc>
                <a:spcPct val="160000"/>
              </a:lnSpc>
            </a:pPr>
            <a:r>
              <a:rPr lang="en-US" sz="1300" dirty="0">
                <a:solidFill>
                  <a:srgbClr val="444444"/>
                </a:solidFill>
                <a:latin typeface="Arial" pitchFamily="34" charset="0"/>
                <a:ea typeface="Arial" pitchFamily="34" charset="-122"/>
                <a:cs typeface="Arial" pitchFamily="34" charset="-120"/>
              </a:rPr>
              <a:t>Agent-ID Token + Delegation Token + W3C VC</a:t>
            </a:r>
            <a:endParaRPr lang="en-US" sz="1300" dirty="0"/>
          </a:p>
          <a:p>
            <a:pPr algn="l">
              <a:lnSpc>
                <a:spcPct val="160000"/>
              </a:lnSpc>
            </a:pPr>
            <a:r>
              <a:rPr lang="en-US" sz="1300" b="1" dirty="0">
                <a:solidFill>
                  <a:srgbClr val="444444"/>
                </a:solidFill>
                <a:latin typeface="Arial" pitchFamily="34" charset="0"/>
                <a:ea typeface="Arial" pitchFamily="34" charset="-122"/>
                <a:cs typeface="Arial" pitchFamily="34" charset="-120"/>
              </a:rPr>
              <a:t>创新：</a:t>
            </a:r>
            <a:pPr algn="l">
              <a:lnSpc>
                <a:spcPct val="160000"/>
              </a:lnSpc>
            </a:pPr>
            <a:r>
              <a:rPr lang="en-US" sz="1300" dirty="0">
                <a:solidFill>
                  <a:srgbClr val="444444"/>
                </a:solidFill>
                <a:latin typeface="Arial" pitchFamily="34" charset="0"/>
                <a:ea typeface="Arial" pitchFamily="34" charset="-122"/>
                <a:cs typeface="Arial" pitchFamily="34" charset="-120"/>
              </a:rPr>
              <a:t>自然语言权限翻译 + 跨域多智能体相互认证</a:t>
            </a:r>
            <a:endParaRPr lang="en-US" sz="1300" dirty="0"/>
          </a:p>
          <a:p>
            <a:pPr algn="l">
              <a:lnSpc>
                <a:spcPct val="160000"/>
              </a:lnSpc>
            </a:pPr>
            <a:r>
              <a:rPr lang="en-US" sz="1300" b="1" dirty="0">
                <a:solidFill>
                  <a:srgbClr val="444444"/>
                </a:solidFill>
                <a:latin typeface="Arial" pitchFamily="34" charset="0"/>
                <a:ea typeface="Arial" pitchFamily="34" charset="-122"/>
                <a:cs typeface="Arial" pitchFamily="34" charset="-120"/>
              </a:rPr>
              <a:t>意义：</a:t>
            </a:r>
            <a:pPr algn="l">
              <a:lnSpc>
                <a:spcPct val="160000"/>
              </a:lnSpc>
            </a:pPr>
            <a:r>
              <a:rPr lang="en-US" sz="1300" dirty="0">
                <a:solidFill>
                  <a:srgbClr val="444444"/>
                </a:solidFill>
                <a:latin typeface="Arial" pitchFamily="34" charset="0"/>
                <a:ea typeface="Arial" pitchFamily="34" charset="-122"/>
                <a:cs typeface="Arial" pitchFamily="34" charset="-120"/>
              </a:rPr>
              <a:t>首次将Web身份基础设施与智能体委托需求系统性融合</a:t>
            </a:r>
            <a:endParaRPr lang="en-US" sz="1300" dirty="0"/>
          </a:p>
        </p:txBody>
      </p:sp>
      <p:sp>
        <p:nvSpPr>
          <p:cNvPr id="21" name="Shape 18"/>
          <p:cNvSpPr/>
          <p:nvPr/>
        </p:nvSpPr>
        <p:spPr>
          <a:xfrm>
            <a:off x="762000" y="4254500"/>
            <a:ext cx="7175500" cy="2032000"/>
          </a:xfrm>
          <a:prstGeom prst="roundRect">
            <a:avLst>
              <a:gd name="adj" fmla="val 5000"/>
            </a:avLst>
          </a:prstGeom>
          <a:solidFill>
            <a:srgbClr val="FFF3E0"/>
          </a:solidFill>
          <a:ln/>
        </p:spPr>
      </p:sp>
      <p:sp>
        <p:nvSpPr>
          <p:cNvPr id="22" name="Text 19"/>
          <p:cNvSpPr/>
          <p:nvPr/>
        </p:nvSpPr>
        <p:spPr>
          <a:xfrm>
            <a:off x="952500" y="4356100"/>
            <a:ext cx="406400" cy="330200"/>
          </a:xfrm>
          <a:prstGeom prst="rect">
            <a:avLst/>
          </a:prstGeom>
          <a:noFill/>
          <a:ln/>
        </p:spPr>
        <p:txBody>
          <a:bodyPr wrap="none" lIns="0" tIns="0" rIns="0" bIns="0" rtlCol="0" anchor="ctr"/>
          <a:lstStyle/>
          <a:p>
            <a:pPr algn="ctr">
              <a:lnSpc>
                <a:spcPct val="120000"/>
              </a:lnSpc>
            </a:pPr>
            <a:r>
              <a:rPr lang="en-US" sz="2000" b="1" dirty="0">
                <a:solidFill>
                  <a:srgbClr val="E65100"/>
                </a:solidFill>
                <a:latin typeface="Arial" pitchFamily="34" charset="0"/>
                <a:ea typeface="Arial" pitchFamily="34" charset="-122"/>
                <a:cs typeface="Arial" pitchFamily="34" charset="-120"/>
              </a:rPr>
              <a:t>3</a:t>
            </a:r>
            <a:endParaRPr lang="en-US" sz="2000" dirty="0"/>
          </a:p>
        </p:txBody>
      </p:sp>
      <p:sp>
        <p:nvSpPr>
          <p:cNvPr id="23" name="Text 20"/>
          <p:cNvSpPr/>
          <p:nvPr/>
        </p:nvSpPr>
        <p:spPr>
          <a:xfrm>
            <a:off x="1371600" y="4356100"/>
            <a:ext cx="6350000" cy="330200"/>
          </a:xfrm>
          <a:prstGeom prst="rect">
            <a:avLst/>
          </a:prstGeom>
          <a:noFill/>
          <a:ln/>
        </p:spPr>
        <p:txBody>
          <a:bodyPr wrap="none" lIns="0" tIns="0" rIns="0" bIns="0" rtlCol="0" anchor="ctr"/>
          <a:lstStyle/>
          <a:p>
            <a:pPr algn="l">
              <a:lnSpc>
                <a:spcPct val="120000"/>
              </a:lnSpc>
            </a:pPr>
            <a:r>
              <a:rPr lang="en-US" sz="1600" b="1" dirty="0">
                <a:solidFill>
                  <a:srgbClr val="E65100"/>
                </a:solidFill>
                <a:latin typeface="Arial" pitchFamily="34" charset="0"/>
                <a:ea typeface="Arial" pitchFamily="34" charset="-122"/>
                <a:cs typeface="Arial" pitchFamily="34" charset="-120"/>
              </a:rPr>
              <a:t>Fleming等 — 任务级动态授权框架 [36]</a:t>
            </a:r>
            <a:endParaRPr lang="en-US" sz="1600" dirty="0"/>
          </a:p>
        </p:txBody>
      </p:sp>
      <p:sp>
        <p:nvSpPr>
          <p:cNvPr id="24" name="Text 21"/>
          <p:cNvSpPr/>
          <p:nvPr/>
        </p:nvSpPr>
        <p:spPr>
          <a:xfrm>
            <a:off x="952500" y="4737100"/>
            <a:ext cx="6794500" cy="1397000"/>
          </a:xfrm>
          <a:prstGeom prst="rect">
            <a:avLst/>
          </a:prstGeom>
          <a:noFill/>
          <a:ln/>
        </p:spPr>
        <p:txBody>
          <a:bodyPr wrap="square" lIns="0" tIns="0" rIns="0" bIns="0" rtlCol="0" anchor="t"/>
          <a:lstStyle/>
          <a:p>
            <a:pPr algn="l">
              <a:lnSpc>
                <a:spcPct val="160000"/>
              </a:lnSpc>
            </a:pPr>
            <a:r>
              <a:rPr lang="en-US" sz="1300" b="1" dirty="0">
                <a:solidFill>
                  <a:srgbClr val="444444"/>
                </a:solidFill>
                <a:latin typeface="Arial" pitchFamily="34" charset="0"/>
                <a:ea typeface="Arial" pitchFamily="34" charset="-122"/>
                <a:cs typeface="Arial" pitchFamily="34" charset="-120"/>
              </a:rPr>
              <a:t>方法：</a:t>
            </a:r>
            <a:pPr algn="l">
              <a:lnSpc>
                <a:spcPct val="160000"/>
              </a:lnSpc>
            </a:pPr>
            <a:r>
              <a:rPr lang="en-US" sz="1300" dirty="0">
                <a:solidFill>
                  <a:srgbClr val="444444"/>
                </a:solidFill>
                <a:latin typeface="Arial" pitchFamily="34" charset="0"/>
                <a:ea typeface="Arial" pitchFamily="34" charset="-122"/>
                <a:cs typeface="Arial" pitchFamily="34" charset="-120"/>
              </a:rPr>
              <a:t>资源风险评分 + 模型不确定性估计 + LLM策略合成</a:t>
            </a:r>
            <a:endParaRPr lang="en-US" sz="1300" dirty="0"/>
          </a:p>
          <a:p>
            <a:pPr algn="l">
              <a:lnSpc>
                <a:spcPct val="160000"/>
              </a:lnSpc>
            </a:pPr>
            <a:r>
              <a:rPr lang="en-US" sz="1300" b="1" dirty="0">
                <a:solidFill>
                  <a:srgbClr val="444444"/>
                </a:solidFill>
                <a:latin typeface="Arial" pitchFamily="34" charset="0"/>
                <a:ea typeface="Arial" pitchFamily="34" charset="-122"/>
                <a:cs typeface="Arial" pitchFamily="34" charset="-120"/>
              </a:rPr>
              <a:t>特点：</a:t>
            </a:r>
            <a:pPr algn="l">
              <a:lnSpc>
                <a:spcPct val="160000"/>
              </a:lnSpc>
            </a:pPr>
            <a:r>
              <a:rPr lang="en-US" sz="1300" dirty="0">
                <a:solidFill>
                  <a:srgbClr val="444444"/>
                </a:solidFill>
                <a:latin typeface="Arial" pitchFamily="34" charset="0"/>
                <a:ea typeface="Arial" pitchFamily="34" charset="-122"/>
                <a:cs typeface="Arial" pitchFamily="34" charset="-120"/>
              </a:rPr>
              <a:t>基于任务语义自动合成最小权限策略，实时适应任务演化</a:t>
            </a:r>
            <a:endParaRPr lang="en-US" sz="1300" dirty="0"/>
          </a:p>
          <a:p>
            <a:pPr algn="l">
              <a:lnSpc>
                <a:spcPct val="160000"/>
              </a:lnSpc>
            </a:pPr>
            <a:r>
              <a:rPr lang="en-US" sz="1300" b="1" dirty="0">
                <a:solidFill>
                  <a:srgbClr val="444444"/>
                </a:solidFill>
                <a:latin typeface="Arial" pitchFamily="34" charset="0"/>
                <a:ea typeface="Arial" pitchFamily="34" charset="-122"/>
                <a:cs typeface="Arial" pitchFamily="34" charset="-120"/>
              </a:rPr>
              <a:t>局限：</a:t>
            </a:r>
            <a:pPr algn="l">
              <a:lnSpc>
                <a:spcPct val="160000"/>
              </a:lnSpc>
            </a:pPr>
            <a:r>
              <a:rPr lang="en-US" sz="1300" dirty="0">
                <a:solidFill>
                  <a:srgbClr val="444444"/>
                </a:solidFill>
                <a:latin typeface="Arial" pitchFamily="34" charset="0"/>
                <a:ea typeface="Arial" pitchFamily="34" charset="-122"/>
                <a:cs typeface="Arial" pitchFamily="34" charset="-120"/>
              </a:rPr>
              <a:t>LLM可能幻觉策略，静态风险评分不够灵活</a:t>
            </a:r>
            <a:endParaRPr lang="en-US" sz="1300" dirty="0"/>
          </a:p>
        </p:txBody>
      </p:sp>
      <p:sp>
        <p:nvSpPr>
          <p:cNvPr id="25" name="Shape 22"/>
          <p:cNvSpPr/>
          <p:nvPr/>
        </p:nvSpPr>
        <p:spPr>
          <a:xfrm>
            <a:off x="8318500" y="4254500"/>
            <a:ext cx="7175500" cy="2032000"/>
          </a:xfrm>
          <a:prstGeom prst="roundRect">
            <a:avLst>
              <a:gd name="adj" fmla="val 5000"/>
            </a:avLst>
          </a:prstGeom>
          <a:solidFill>
            <a:srgbClr val="E8F4FD"/>
          </a:solidFill>
          <a:ln/>
        </p:spPr>
      </p:sp>
      <p:sp>
        <p:nvSpPr>
          <p:cNvPr id="26" name="Text 23"/>
          <p:cNvSpPr/>
          <p:nvPr/>
        </p:nvSpPr>
        <p:spPr>
          <a:xfrm>
            <a:off x="8509000" y="4356100"/>
            <a:ext cx="406400" cy="330200"/>
          </a:xfrm>
          <a:prstGeom prst="rect">
            <a:avLst/>
          </a:prstGeom>
          <a:noFill/>
          <a:ln/>
        </p:spPr>
        <p:txBody>
          <a:bodyPr wrap="none" lIns="0" tIns="0" rIns="0" bIns="0" rtlCol="0" anchor="ctr"/>
          <a:lstStyle/>
          <a:p>
            <a:pPr algn="ctr">
              <a:lnSpc>
                <a:spcPct val="120000"/>
              </a:lnSpc>
            </a:pPr>
            <a:r>
              <a:rPr lang="en-US" sz="2000" b="1" dirty="0">
                <a:solidFill>
                  <a:srgbClr val="04579A"/>
                </a:solidFill>
                <a:latin typeface="Arial" pitchFamily="34" charset="0"/>
                <a:ea typeface="Arial" pitchFamily="34" charset="-122"/>
                <a:cs typeface="Arial" pitchFamily="34" charset="-120"/>
              </a:rPr>
              <a:t>4</a:t>
            </a:r>
            <a:endParaRPr lang="en-US" sz="2000" dirty="0"/>
          </a:p>
        </p:txBody>
      </p:sp>
      <p:sp>
        <p:nvSpPr>
          <p:cNvPr id="27" name="Text 24"/>
          <p:cNvSpPr/>
          <p:nvPr/>
        </p:nvSpPr>
        <p:spPr>
          <a:xfrm>
            <a:off x="8928100" y="4356100"/>
            <a:ext cx="6350000" cy="330200"/>
          </a:xfrm>
          <a:prstGeom prst="rect">
            <a:avLst/>
          </a:prstGeom>
          <a:noFill/>
          <a:ln/>
        </p:spPr>
        <p:txBody>
          <a:bodyPr wrap="none" lIns="0" tIns="0" rIns="0" bIns="0" rtlCol="0" anchor="ctr"/>
          <a:lstStyle/>
          <a:p>
            <a:pPr algn="l">
              <a:lnSpc>
                <a:spcPct val="120000"/>
              </a:lnSpc>
            </a:pPr>
            <a:r>
              <a:rPr lang="en-US" sz="1600" b="1" dirty="0">
                <a:solidFill>
                  <a:srgbClr val="04579A"/>
                </a:solidFill>
                <a:latin typeface="Arial" pitchFamily="34" charset="0"/>
                <a:ea typeface="Arial" pitchFamily="34" charset="-122"/>
                <a:cs typeface="Arial" pitchFamily="34" charset="-120"/>
              </a:rPr>
              <a:t>Tallam — 授权传播问题 [30]</a:t>
            </a:r>
            <a:endParaRPr lang="en-US" sz="1600" dirty="0"/>
          </a:p>
        </p:txBody>
      </p:sp>
      <p:sp>
        <p:nvSpPr>
          <p:cNvPr id="28" name="Text 25"/>
          <p:cNvSpPr/>
          <p:nvPr/>
        </p:nvSpPr>
        <p:spPr>
          <a:xfrm>
            <a:off x="8509000" y="4737100"/>
            <a:ext cx="6794500" cy="1397000"/>
          </a:xfrm>
          <a:prstGeom prst="rect">
            <a:avLst/>
          </a:prstGeom>
          <a:noFill/>
          <a:ln/>
        </p:spPr>
        <p:txBody>
          <a:bodyPr wrap="square" lIns="0" tIns="0" rIns="0" bIns="0" rtlCol="0" anchor="t"/>
          <a:lstStyle/>
          <a:p>
            <a:pPr algn="l">
              <a:lnSpc>
                <a:spcPct val="160000"/>
              </a:lnSpc>
            </a:pPr>
            <a:r>
              <a:rPr lang="en-US" sz="1300" b="1" dirty="0">
                <a:solidFill>
                  <a:srgbClr val="444444"/>
                </a:solidFill>
                <a:latin typeface="Arial" pitchFamily="34" charset="0"/>
                <a:ea typeface="Arial" pitchFamily="34" charset="-122"/>
                <a:cs typeface="Arial" pitchFamily="34" charset="-120"/>
              </a:rPr>
              <a:t>问题：</a:t>
            </a:r>
            <a:pPr algn="l">
              <a:lnSpc>
                <a:spcPct val="160000"/>
              </a:lnSpc>
            </a:pPr>
            <a:r>
              <a:rPr lang="en-US" sz="1300" dirty="0">
                <a:solidFill>
                  <a:srgbClr val="444444"/>
                </a:solidFill>
                <a:latin typeface="Arial" pitchFamily="34" charset="0"/>
                <a:ea typeface="Arial" pitchFamily="34" charset="-122"/>
                <a:cs typeface="Arial" pitchFamily="34" charset="-120"/>
              </a:rPr>
              <a:t>委托链中权限放大、混淆副手攻击、审计不可追溯</a:t>
            </a:r>
            <a:endParaRPr lang="en-US" sz="1300" dirty="0"/>
          </a:p>
          <a:p>
            <a:pPr algn="l">
              <a:lnSpc>
                <a:spcPct val="160000"/>
              </a:lnSpc>
            </a:pPr>
            <a:r>
              <a:rPr lang="en-US" sz="1300" b="1" dirty="0">
                <a:solidFill>
                  <a:srgbClr val="444444"/>
                </a:solidFill>
                <a:latin typeface="Arial" pitchFamily="34" charset="0"/>
                <a:ea typeface="Arial" pitchFamily="34" charset="-122"/>
                <a:cs typeface="Arial" pitchFamily="34" charset="-120"/>
              </a:rPr>
              <a:t>发现：</a:t>
            </a:r>
            <a:pPr algn="l">
              <a:lnSpc>
                <a:spcPct val="160000"/>
              </a:lnSpc>
            </a:pPr>
            <a:r>
              <a:rPr lang="en-US" sz="1300" dirty="0">
                <a:solidFill>
                  <a:srgbClr val="444444"/>
                </a:solidFill>
                <a:latin typeface="Arial" pitchFamily="34" charset="0"/>
                <a:ea typeface="Arial" pitchFamily="34" charset="-122"/>
                <a:cs typeface="Arial" pitchFamily="34" charset="-120"/>
              </a:rPr>
              <a:t>即使完美防御提示注入，仍存在结构性授权传播风险</a:t>
            </a:r>
            <a:endParaRPr lang="en-US" sz="1300" dirty="0"/>
          </a:p>
          <a:p>
            <a:pPr algn="l">
              <a:lnSpc>
                <a:spcPct val="160000"/>
              </a:lnSpc>
            </a:pPr>
            <a:r>
              <a:rPr lang="en-US" sz="1300" b="1" dirty="0">
                <a:solidFill>
                  <a:srgbClr val="444444"/>
                </a:solidFill>
                <a:latin typeface="Arial" pitchFamily="34" charset="0"/>
                <a:ea typeface="Arial" pitchFamily="34" charset="-122"/>
                <a:cs typeface="Arial" pitchFamily="34" charset="-120"/>
              </a:rPr>
              <a:t>核心：</a:t>
            </a:r>
            <a:pPr algn="l">
              <a:lnSpc>
                <a:spcPct val="160000"/>
              </a:lnSpc>
            </a:pPr>
            <a:r>
              <a:rPr lang="en-US" sz="1300" dirty="0">
                <a:solidFill>
                  <a:srgbClr val="444444"/>
                </a:solidFill>
                <a:latin typeface="Arial" pitchFamily="34" charset="0"/>
                <a:ea typeface="Arial" pitchFamily="34" charset="-122"/>
                <a:cs typeface="Arial" pitchFamily="34" charset="-120"/>
              </a:rPr>
              <a:t>权限单调衰减、身份可验证追溯、委托可撤销三大不变量</a:t>
            </a:r>
            <a:endParaRPr lang="en-US" sz="1300" dirty="0"/>
          </a:p>
        </p:txBody>
      </p:sp>
      <p:sp>
        <p:nvSpPr>
          <p:cNvPr id="29" name="Shape 26"/>
          <p:cNvSpPr/>
          <p:nvPr/>
        </p:nvSpPr>
        <p:spPr>
          <a:xfrm>
            <a:off x="762000" y="6540500"/>
            <a:ext cx="14732000" cy="1879600"/>
          </a:xfrm>
          <a:prstGeom prst="roundRect">
            <a:avLst>
              <a:gd name="adj" fmla="val 3000"/>
            </a:avLst>
          </a:prstGeom>
          <a:solidFill>
            <a:srgbClr val="005C8F"/>
          </a:solidFill>
          <a:ln/>
        </p:spPr>
      </p:sp>
      <p:sp>
        <p:nvSpPr>
          <p:cNvPr id="30" name="Text 27"/>
          <p:cNvSpPr/>
          <p:nvPr/>
        </p:nvSpPr>
        <p:spPr>
          <a:xfrm>
            <a:off x="1016000" y="6667500"/>
            <a:ext cx="14224000" cy="1651000"/>
          </a:xfrm>
          <a:prstGeom prst="rect">
            <a:avLst/>
          </a:prstGeom>
          <a:noFill/>
          <a:ln/>
        </p:spPr>
        <p:txBody>
          <a:bodyPr wrap="square" lIns="0" tIns="0" rIns="0" bIns="0" rtlCol="0" anchor="t"/>
          <a:lstStyle/>
          <a:p>
            <a:pPr algn="l">
              <a:lnSpc>
                <a:spcPct val="170000"/>
              </a:lnSpc>
            </a:pPr>
            <a:r>
              <a:rPr lang="en-US" sz="1400" b="1" dirty="0">
                <a:solidFill>
                  <a:srgbClr val="FFFFFF"/>
                </a:solidFill>
                <a:latin typeface="Arial" pitchFamily="34" charset="0"/>
                <a:ea typeface="Arial" pitchFamily="34" charset="-122"/>
                <a:cs typeface="Arial" pitchFamily="34" charset="-120"/>
              </a:rPr>
              <a:t>现有研究不足总结：</a:t>
            </a:r>
            <a:endParaRPr lang="en-US" sz="1400" dirty="0"/>
          </a:p>
          <a:p>
            <a:pPr algn="l">
              <a:lnSpc>
                <a:spcPct val="170000"/>
              </a:lnSpc>
            </a:pPr>
            <a:r>
              <a:rPr lang="en-US" sz="1400" dirty="0">
                <a:solidFill>
                  <a:srgbClr val="FFFFFF"/>
                </a:solidFill>
                <a:latin typeface="Arial" pitchFamily="34" charset="0"/>
                <a:ea typeface="Arial" pitchFamily="34" charset="-122"/>
                <a:cs typeface="Arial" pitchFamily="34" charset="-120"/>
              </a:rPr>
              <a:t>1. 权限粒度仍停留在资源/操作类型层面，未精确到操作参数级（如限定邮件收件人地址、API参数范围）</a:t>
            </a:r>
            <a:endParaRPr lang="en-US" sz="1400" dirty="0"/>
          </a:p>
          <a:p>
            <a:pPr algn="l">
              <a:lnSpc>
                <a:spcPct val="170000"/>
              </a:lnSpc>
            </a:pPr>
            <a:r>
              <a:rPr lang="en-US" sz="1400" dirty="0">
                <a:solidFill>
                  <a:srgbClr val="FFFFFF"/>
                </a:solidFill>
                <a:latin typeface="Arial" pitchFamily="34" charset="0"/>
                <a:ea typeface="Arial" pitchFamily="34" charset="-122"/>
                <a:cs typeface="Arial" pitchFamily="34" charset="-120"/>
              </a:rPr>
              <a:t>2. 缺乏对智能体当前任务、环境上下文的实时感知能力，无法支持上下文条件触发授权</a:t>
            </a:r>
            <a:endParaRPr lang="en-US" sz="1400" dirty="0"/>
          </a:p>
          <a:p>
            <a:pPr algn="l">
              <a:lnSpc>
                <a:spcPct val="170000"/>
              </a:lnSpc>
            </a:pPr>
            <a:r>
              <a:rPr lang="en-US" sz="1400" dirty="0">
                <a:solidFill>
                  <a:srgbClr val="FFFFFF"/>
                </a:solidFill>
                <a:latin typeface="Arial" pitchFamily="34" charset="0"/>
                <a:ea typeface="Arial" pitchFamily="34" charset="-122"/>
                <a:cs typeface="Arial" pitchFamily="34" charset="-120"/>
              </a:rPr>
              <a:t>3. 多智能体协作场景下的权限委托链管理缺乏形式化约束与标准化协议支持</a:t>
            </a:r>
            <a:endParaRPr lang="en-US" sz="1400" dirty="0"/>
          </a:p>
        </p:txBody>
      </p:sp>
      <p:sp>
        <p:nvSpPr>
          <p:cNvPr id="31" name="Text 28"/>
          <p:cNvSpPr/>
          <p:nvPr/>
        </p:nvSpPr>
        <p:spPr>
          <a:xfrm>
            <a:off x="15240000" y="8636000"/>
            <a:ext cx="635000" cy="381000"/>
          </a:xfrm>
          <a:prstGeom prst="rect">
            <a:avLst/>
          </a:prstGeom>
          <a:noFill/>
          <a:ln/>
        </p:spPr>
        <p:txBody>
          <a:bodyPr wrap="none" lIns="0" tIns="0" rIns="0" bIns="0" rtlCol="0" anchor="ctr"/>
          <a:lstStyle/>
          <a:p>
            <a:pPr algn="r">
              <a:lnSpc>
                <a:spcPct val="120000"/>
              </a:lnSpc>
            </a:pPr>
            <a:r>
              <a:rPr lang="en-US" sz="1800" dirty="0">
                <a:solidFill>
                  <a:srgbClr val="666666"/>
                </a:solidFill>
                <a:latin typeface="Arial" pitchFamily="34" charset="0"/>
                <a:ea typeface="Arial" pitchFamily="34" charset="-122"/>
                <a:cs typeface="Arial" pitchFamily="34" charset="-120"/>
              </a:rPr>
              <a:t>12</a:t>
            </a:r>
            <a:endParaRPr lang="en-US" sz="1800" dirty="0"/>
          </a:p>
        </p:txBody>
      </p:sp>
    </p:spTree>
  </p:cSld>
  <p:clrMapOvr>
    <a:masterClrMapping/>
  </p:clrMapOvr>
  <p:transition>
    <p:fade/>
    <p:spd val="med"/>
  </p:transition>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643509" y="5298821"/>
            <a:ext cx="14037691" cy="762889"/>
          </a:xfrm>
          <a:prstGeom prst="rect">
            <a:avLst/>
          </a:prstGeom>
          <a:solidFill>
            <a:srgbClr val="F2F2F2"/>
          </a:solidFill>
          <a:ln/>
        </p:spPr>
      </p:sp>
      <p:sp>
        <p:nvSpPr>
          <p:cNvPr id="4" name="Text 1"/>
          <p:cNvSpPr/>
          <p:nvPr/>
        </p:nvSpPr>
        <p:spPr>
          <a:xfrm>
            <a:off x="643509" y="1196340"/>
            <a:ext cx="14772640" cy="531749"/>
          </a:xfrm>
          <a:prstGeom prst="rect">
            <a:avLst/>
          </a:prstGeom>
          <a:noFill/>
          <a:ln/>
        </p:spPr>
        <p:txBody>
          <a:bodyPr wrap="square" lIns="0" tIns="0" rIns="0" bIns="0" rtlCol="0" anchor="t"/>
          <a:lstStyle/>
          <a:p>
            <a:pPr algn="l">
              <a:lnSpc>
                <a:spcPct val="120000"/>
              </a:lnSpc>
            </a:pPr>
            <a:r>
              <a:rPr lang="en-US" sz="2670" dirty="0">
                <a:solidFill>
                  <a:srgbClr val="000000"/>
                </a:solidFill>
                <a:latin typeface="Arial" pitchFamily="34" charset="0"/>
                <a:ea typeface="Arial" pitchFamily="34" charset="-122"/>
                <a:cs typeface="Arial" pitchFamily="34" charset="-120"/>
              </a:rPr>
              <a:t>数字资产市场为区块链提供了新的</a:t>
            </a:r>
            <a:pPr algn="l">
              <a:lnSpc>
                <a:spcPct val="120000"/>
              </a:lnSpc>
            </a:pPr>
            <a:r>
              <a:rPr lang="en-US" sz="2670" b="1" dirty="0">
                <a:solidFill>
                  <a:srgbClr val="04579A"/>
                </a:solidFill>
                <a:latin typeface="Arial" pitchFamily="34" charset="0"/>
                <a:ea typeface="Arial" pitchFamily="34" charset="-122"/>
                <a:cs typeface="Arial" pitchFamily="34" charset="-120"/>
              </a:rPr>
              <a:t>应用方向</a:t>
            </a:r>
            <a:pPr algn="l">
              <a:lnSpc>
                <a:spcPct val="120000"/>
              </a:lnSpc>
            </a:pPr>
            <a:r>
              <a:rPr lang="en-US" sz="2670" dirty="0">
                <a:solidFill>
                  <a:srgbClr val="000000"/>
                </a:solidFill>
                <a:latin typeface="Arial" pitchFamily="34" charset="0"/>
                <a:ea typeface="Arial" pitchFamily="34" charset="-122"/>
                <a:cs typeface="Arial" pitchFamily="34" charset="-120"/>
              </a:rPr>
              <a:t>，但同时也带来了新的</a:t>
            </a:r>
            <a:pPr algn="l">
              <a:lnSpc>
                <a:spcPct val="120000"/>
              </a:lnSpc>
            </a:pPr>
            <a:r>
              <a:rPr lang="en-US" sz="2670" b="1" dirty="0">
                <a:solidFill>
                  <a:srgbClr val="04579A"/>
                </a:solidFill>
                <a:latin typeface="Arial" pitchFamily="34" charset="0"/>
                <a:ea typeface="Arial" pitchFamily="34" charset="-122"/>
                <a:cs typeface="Arial" pitchFamily="34" charset="-120"/>
              </a:rPr>
              <a:t>技术需求</a:t>
            </a:r>
            <a:pPr algn="l">
              <a:lnSpc>
                <a:spcPct val="120000"/>
              </a:lnSpc>
            </a:pPr>
            <a:r>
              <a:rPr lang="en-US" sz="2670" dirty="0">
                <a:solidFill>
                  <a:srgbClr val="000000"/>
                </a:solidFill>
                <a:latin typeface="Arial" pitchFamily="34" charset="0"/>
                <a:ea typeface="Arial" pitchFamily="34" charset="-122"/>
                <a:cs typeface="Arial" pitchFamily="34" charset="-120"/>
              </a:rPr>
              <a:t>：</a:t>
            </a:r>
            <a:endParaRPr lang="en-US" sz="2670" dirty="0"/>
          </a:p>
        </p:txBody>
      </p:sp>
      <p:sp>
        <p:nvSpPr>
          <p:cNvPr id="5" name="Shape 2"/>
          <p:cNvSpPr/>
          <p:nvPr/>
        </p:nvSpPr>
        <p:spPr>
          <a:xfrm>
            <a:off x="2219960" y="0"/>
            <a:ext cx="2895600" cy="962660"/>
          </a:xfrm>
          <a:prstGeom prst="rect">
            <a:avLst/>
          </a:prstGeom>
          <a:solidFill>
            <a:srgbClr val="F2F2F2"/>
          </a:solidFill>
          <a:ln w="12700">
            <a:solidFill>
              <a:srgbClr val="F2F2F2"/>
            </a:solidFill>
            <a:prstDash val="solid"/>
          </a:ln>
        </p:spPr>
      </p:sp>
      <p:sp>
        <p:nvSpPr>
          <p:cNvPr id="6" name="Shape 3"/>
          <p:cNvSpPr/>
          <p:nvPr/>
        </p:nvSpPr>
        <p:spPr>
          <a:xfrm>
            <a:off x="5162169" y="-889"/>
            <a:ext cx="2590800" cy="962660"/>
          </a:xfrm>
          <a:prstGeom prst="rect">
            <a:avLst/>
          </a:prstGeom>
          <a:solidFill>
            <a:srgbClr val="F2F2F2"/>
          </a:solidFill>
          <a:ln/>
        </p:spPr>
      </p:sp>
      <p:sp>
        <p:nvSpPr>
          <p:cNvPr id="7" name="Shape 4"/>
          <p:cNvSpPr/>
          <p:nvPr/>
        </p:nvSpPr>
        <p:spPr>
          <a:xfrm>
            <a:off x="7816469" y="-889"/>
            <a:ext cx="4114800" cy="962660"/>
          </a:xfrm>
          <a:prstGeom prst="rect">
            <a:avLst/>
          </a:prstGeom>
          <a:solidFill>
            <a:srgbClr val="F2F2F2"/>
          </a:solidFill>
          <a:ln/>
        </p:spPr>
      </p:sp>
      <p:sp>
        <p:nvSpPr>
          <p:cNvPr id="8" name="Shape 5"/>
          <p:cNvSpPr/>
          <p:nvPr/>
        </p:nvSpPr>
        <p:spPr>
          <a:xfrm>
            <a:off x="11971020" y="0"/>
            <a:ext cx="4284980" cy="961771"/>
          </a:xfrm>
          <a:prstGeom prst="rect">
            <a:avLst/>
          </a:prstGeom>
          <a:solidFill>
            <a:srgbClr val="F2F2F2"/>
          </a:solidFill>
          <a:ln/>
        </p:spPr>
      </p:sp>
      <p:sp>
        <p:nvSpPr>
          <p:cNvPr id="9" name="Shape 6"/>
          <p:cNvSpPr/>
          <p:nvPr/>
        </p:nvSpPr>
        <p:spPr>
          <a:xfrm>
            <a:off x="2219960" y="-889"/>
            <a:ext cx="2895600" cy="962660"/>
          </a:xfrm>
          <a:prstGeom prst="rect">
            <a:avLst/>
          </a:prstGeom>
          <a:solidFill>
            <a:srgbClr val="04579A"/>
          </a:solidFill>
          <a:ln w="12700">
            <a:solidFill>
              <a:srgbClr val="04579A"/>
            </a:solidFill>
            <a:prstDash val="solid"/>
          </a:ln>
        </p:spPr>
      </p:sp>
      <p:sp>
        <p:nvSpPr>
          <p:cNvPr id="10" name="Text 7"/>
          <p:cNvSpPr/>
          <p:nvPr/>
        </p:nvSpPr>
        <p:spPr>
          <a:xfrm>
            <a:off x="2283460" y="203200"/>
            <a:ext cx="2768600" cy="508000"/>
          </a:xfrm>
          <a:prstGeom prst="rect">
            <a:avLst/>
          </a:prstGeom>
          <a:noFill/>
          <a:ln/>
        </p:spPr>
        <p:txBody>
          <a:bodyPr wrap="none" lIns="0" tIns="0" rIns="0" bIns="0" rtlCol="0" anchor="ctr"/>
          <a:lstStyle/>
          <a:p>
            <a:pPr algn="ctr">
              <a:lnSpc>
                <a:spcPct val="120000"/>
              </a:lnSpc>
            </a:pPr>
            <a:r>
              <a:rPr lang="en-US" sz="2000" dirty="0">
                <a:solidFill>
                  <a:srgbClr val="FFFFFF"/>
                </a:solidFill>
                <a:latin typeface="Arial" pitchFamily="34" charset="0"/>
                <a:ea typeface="Arial" pitchFamily="34" charset="-122"/>
                <a:cs typeface="Arial" pitchFamily="34" charset="-120"/>
              </a:rPr>
              <a:t>选题背景及意义</a:t>
            </a:r>
            <a:endParaRPr lang="en-US" sz="2000" dirty="0"/>
          </a:p>
        </p:txBody>
      </p:sp>
      <p:sp>
        <p:nvSpPr>
          <p:cNvPr id="11" name="Text 8"/>
          <p:cNvSpPr/>
          <p:nvPr/>
        </p:nvSpPr>
        <p:spPr>
          <a:xfrm>
            <a:off x="5225669" y="203200"/>
            <a:ext cx="24638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国内外研究现状</a:t>
            </a:r>
            <a:endParaRPr lang="en-US" sz="2000" dirty="0"/>
          </a:p>
        </p:txBody>
      </p:sp>
      <p:sp>
        <p:nvSpPr>
          <p:cNvPr id="12" name="Text 9"/>
          <p:cNvSpPr/>
          <p:nvPr/>
        </p:nvSpPr>
        <p:spPr>
          <a:xfrm>
            <a:off x="7879969" y="203200"/>
            <a:ext cx="39878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主要研究内容及预期目标</a:t>
            </a:r>
            <a:endParaRPr lang="en-US" sz="2000" dirty="0"/>
          </a:p>
        </p:txBody>
      </p:sp>
      <p:sp>
        <p:nvSpPr>
          <p:cNvPr id="13" name="Text 10"/>
          <p:cNvSpPr/>
          <p:nvPr/>
        </p:nvSpPr>
        <p:spPr>
          <a:xfrm>
            <a:off x="12034520" y="203200"/>
            <a:ext cx="415798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工作计划与进度安排</a:t>
            </a:r>
            <a:endParaRPr lang="en-US" sz="2000" dirty="0"/>
          </a:p>
        </p:txBody>
      </p:sp>
      <p:pic>
        <p:nvPicPr>
          <p:cNvPr id="14" name="Image 0" descr="https://kimi-img.moonshot.cn/pub/slides/okc/flfuysioo4gzm/mnt/agents/output/yuan_pptd/images/image_2.jpg">    </p:cNvPr>
          <p:cNvPicPr>
            <a:picLocks noChangeAspect="1"/>
          </p:cNvPicPr>
          <p:nvPr/>
        </p:nvPicPr>
        <p:blipFill>
          <a:blip r:embed="rId1"/>
          <a:srcRect l="5060" r="29000" t="0" b="0"/>
          <a:stretch/>
        </p:blipFill>
        <p:spPr>
          <a:xfrm>
            <a:off x="544449" y="140589"/>
            <a:ext cx="1273429" cy="745871"/>
          </a:xfrm>
          <a:prstGeom prst="rect">
            <a:avLst/>
          </a:prstGeom>
        </p:spPr>
      </p:pic>
      <p:sp>
        <p:nvSpPr>
          <p:cNvPr id="15" name="Shape 11"/>
          <p:cNvSpPr/>
          <p:nvPr/>
        </p:nvSpPr>
        <p:spPr>
          <a:xfrm rot="10800000">
            <a:off x="3496691" y="961771"/>
            <a:ext cx="389509" cy="304800"/>
          </a:xfrm>
          <a:prstGeom prst="triangle">
            <a:avLst>
              <a:gd name="adj" fmla="val 50000"/>
            </a:avLst>
          </a:prstGeom>
          <a:solidFill>
            <a:srgbClr val="04579A"/>
          </a:solidFill>
          <a:ln/>
        </p:spPr>
      </p:sp>
      <p:sp>
        <p:nvSpPr>
          <p:cNvPr id="16" name="Shape 12"/>
          <p:cNvSpPr/>
          <p:nvPr/>
        </p:nvSpPr>
        <p:spPr>
          <a:xfrm>
            <a:off x="654431" y="3809111"/>
            <a:ext cx="14037691" cy="762889"/>
          </a:xfrm>
          <a:prstGeom prst="rect">
            <a:avLst/>
          </a:prstGeom>
          <a:solidFill>
            <a:srgbClr val="F2F2F2"/>
          </a:solidFill>
          <a:ln/>
        </p:spPr>
      </p:sp>
      <p:sp>
        <p:nvSpPr>
          <p:cNvPr id="17" name="Shape 13"/>
          <p:cNvSpPr/>
          <p:nvPr/>
        </p:nvSpPr>
        <p:spPr>
          <a:xfrm>
            <a:off x="1358900" y="4713351"/>
            <a:ext cx="486029" cy="343789"/>
          </a:xfrm>
          <a:prstGeom prst="chevron">
            <a:avLst>
              <a:gd name="adj" fmla="val 50000"/>
            </a:avLst>
          </a:prstGeom>
          <a:solidFill>
            <a:srgbClr val="04579A"/>
          </a:solidFill>
          <a:ln w="12700">
            <a:solidFill>
              <a:srgbClr val="304B73"/>
            </a:solidFill>
            <a:prstDash val="solid"/>
          </a:ln>
        </p:spPr>
      </p:sp>
      <p:sp>
        <p:nvSpPr>
          <p:cNvPr id="18" name="Shape 14"/>
          <p:cNvSpPr/>
          <p:nvPr/>
        </p:nvSpPr>
        <p:spPr>
          <a:xfrm>
            <a:off x="643509" y="2236089"/>
            <a:ext cx="14037691" cy="762889"/>
          </a:xfrm>
          <a:prstGeom prst="rect">
            <a:avLst/>
          </a:prstGeom>
          <a:solidFill>
            <a:srgbClr val="F2F2F2"/>
          </a:solidFill>
          <a:ln/>
        </p:spPr>
      </p:sp>
      <p:sp>
        <p:nvSpPr>
          <p:cNvPr id="19" name="Text 15"/>
          <p:cNvSpPr/>
          <p:nvPr/>
        </p:nvSpPr>
        <p:spPr>
          <a:xfrm>
            <a:off x="742569" y="2218309"/>
            <a:ext cx="14771751" cy="5333111"/>
          </a:xfrm>
          <a:prstGeom prst="rect">
            <a:avLst/>
          </a:prstGeom>
          <a:noFill/>
          <a:ln/>
        </p:spPr>
        <p:txBody>
          <a:bodyPr wrap="square" lIns="0" tIns="0" rIns="0" bIns="0" rtlCol="0" anchor="t"/>
          <a:lstStyle/>
          <a:p>
            <a:pPr algn="l" marL="423863" indent="-423863">
              <a:lnSpc>
                <a:spcPct val="150000"/>
              </a:lnSpc>
              <a:spcBef>
                <a:spcPts val="10"/>
              </a:spcBef>
              <a:buSzPct val="100000"/>
              <a:buFont typeface="+mj-lt"/>
              <a:buAutoNum type="arabicPeriod" startAt="1"/>
            </a:pPr>
            <a:r>
              <a:rPr lang="en-US" sz="2670" dirty="0">
                <a:solidFill>
                  <a:srgbClr val="262626"/>
                </a:solidFill>
                <a:latin typeface="Arial" pitchFamily="34" charset="0"/>
                <a:ea typeface="Arial" pitchFamily="34" charset="-122"/>
                <a:cs typeface="Arial" pitchFamily="34" charset="-120"/>
              </a:rPr>
              <a:t>智能体执行任务的自主性对智能体授权协议的授权粒度提出了更高的要求</a:t>
            </a:r>
            <a:endParaRPr lang="en-US" sz="2670" dirty="0"/>
          </a:p>
          <a:p>
            <a:pPr algn="l">
              <a:lnSpc>
                <a:spcPct val="150000"/>
              </a:lnSpc>
            </a:pPr>
            <a:r>
              <a:rPr lang="en-US" sz="3200" b="1" dirty="0">
                <a:solidFill>
                  <a:srgbClr val="04579A"/>
                </a:solidFill>
                <a:latin typeface="Arial" pitchFamily="34" charset="0"/>
                <a:ea typeface="Arial" pitchFamily="34" charset="-122"/>
                <a:cs typeface="Arial" pitchFamily="34" charset="-120"/>
              </a:rPr>
              <a:t>智能体授权协议的授权粒度需要匹配具体任务级语义</a:t>
            </a:r>
            <a:endParaRPr lang="en-US" sz="2670" dirty="0"/>
          </a:p>
          <a:p>
            <a:pPr algn="l" marL="423863" indent="-423863">
              <a:lnSpc>
                <a:spcPct val="150000"/>
              </a:lnSpc>
              <a:spcBef>
                <a:spcPts val="10"/>
              </a:spcBef>
              <a:buSzPct val="100000"/>
              <a:buFont typeface="+mj-lt"/>
              <a:buAutoNum type="arabicPeriod" startAt="1"/>
            </a:pPr>
            <a:r>
              <a:rPr lang="en-US" sz="2670" dirty="0">
                <a:solidFill>
                  <a:srgbClr val="262626"/>
                </a:solidFill>
                <a:latin typeface="Arial" pitchFamily="34" charset="0"/>
                <a:ea typeface="Arial" pitchFamily="34" charset="-122"/>
                <a:cs typeface="Arial" pitchFamily="34" charset="-120"/>
              </a:rPr>
              <a:t>智能体执行任务的自主性要求更灵活的智能体授权</a:t>
            </a:r>
            <a:endParaRPr lang="en-US" sz="2670" dirty="0"/>
          </a:p>
          <a:p>
            <a:pPr algn="l">
              <a:lnSpc>
                <a:spcPct val="150000"/>
              </a:lnSpc>
            </a:pPr>
            <a:r>
              <a:rPr lang="en-US" sz="3200" b="1" dirty="0">
                <a:solidFill>
                  <a:srgbClr val="04579A"/>
                </a:solidFill>
                <a:latin typeface="Arial" pitchFamily="34" charset="0"/>
                <a:ea typeface="Arial" pitchFamily="34" charset="-122"/>
                <a:cs typeface="Arial" pitchFamily="34" charset="-120"/>
              </a:rPr>
              <a:t>对智能体的授权需要以任务上下文为条件</a:t>
            </a:r>
            <a:endParaRPr lang="en-US" sz="2670" dirty="0"/>
          </a:p>
          <a:p>
            <a:pPr algn="l" marL="423863" indent="-423863">
              <a:lnSpc>
                <a:spcPct val="150000"/>
              </a:lnSpc>
              <a:spcBef>
                <a:spcPts val="10"/>
              </a:spcBef>
              <a:buSzPct val="100000"/>
              <a:buFont typeface="+mj-lt"/>
              <a:buAutoNum type="arabicPeriod" startAt="1"/>
            </a:pPr>
            <a:r>
              <a:rPr lang="en-US" sz="2670" dirty="0">
                <a:solidFill>
                  <a:srgbClr val="262626"/>
                </a:solidFill>
                <a:latin typeface="Arial" pitchFamily="34" charset="0"/>
                <a:ea typeface="Arial" pitchFamily="34" charset="-122"/>
                <a:cs typeface="Arial" pitchFamily="34" charset="-120"/>
              </a:rPr>
              <a:t>异</a:t>
            </a:r>
            <a:endParaRPr lang="en-US" sz="2670" dirty="0"/>
          </a:p>
          <a:p>
            <a:pPr algn="l">
              <a:lnSpc>
                <a:spcPct val="150000"/>
              </a:lnSpc>
            </a:pPr>
            <a:r>
              <a:rPr lang="en-US" sz="3200" b="1" dirty="0">
                <a:solidFill>
                  <a:srgbClr val="04579A"/>
                </a:solidFill>
                <a:latin typeface="Arial" pitchFamily="34" charset="0"/>
                <a:ea typeface="Arial" pitchFamily="34" charset="-122"/>
                <a:cs typeface="Arial" pitchFamily="34" charset="-120"/>
              </a:rPr>
              <a:t>分</a:t>
            </a:r>
            <a:endParaRPr lang="en-US" sz="2670" dirty="0"/>
          </a:p>
          <a:p>
            <a:pPr algn="l">
              <a:lnSpc>
                <a:spcPct val="150000"/>
              </a:lnSpc>
            </a:pPr>
            <a:r>
              <a:rPr lang="en-US" sz="2670" dirty="0">
                <a:solidFill>
                  <a:srgbClr val="262626"/>
                </a:solidFill>
                <a:latin typeface="Arial" pitchFamily="34" charset="0"/>
                <a:ea typeface="Arial" pitchFamily="34" charset="-122"/>
                <a:cs typeface="Arial" pitchFamily="34" charset="-120"/>
              </a:rPr>
              <a:t> </a:t>
            </a:r>
            <a:endParaRPr lang="en-US" sz="2670" dirty="0"/>
          </a:p>
        </p:txBody>
      </p:sp>
      <p:sp>
        <p:nvSpPr>
          <p:cNvPr id="20" name="Shape 16"/>
          <p:cNvSpPr/>
          <p:nvPr/>
        </p:nvSpPr>
        <p:spPr>
          <a:xfrm>
            <a:off x="1358900" y="3120009"/>
            <a:ext cx="486029" cy="343789"/>
          </a:xfrm>
          <a:prstGeom prst="chevron">
            <a:avLst>
              <a:gd name="adj" fmla="val 50000"/>
            </a:avLst>
          </a:prstGeom>
          <a:solidFill>
            <a:srgbClr val="04579A"/>
          </a:solidFill>
          <a:ln w="12700">
            <a:solidFill>
              <a:srgbClr val="304B73"/>
            </a:solidFill>
            <a:prstDash val="solid"/>
          </a:ln>
        </p:spPr>
      </p:sp>
      <p:sp>
        <p:nvSpPr>
          <p:cNvPr id="21" name="Text 17"/>
          <p:cNvSpPr/>
          <p:nvPr/>
        </p:nvSpPr>
        <p:spPr>
          <a:xfrm>
            <a:off x="15649067" y="8666353"/>
            <a:ext cx="606933" cy="492506"/>
          </a:xfrm>
          <a:prstGeom prst="rect">
            <a:avLst/>
          </a:prstGeom>
          <a:noFill/>
          <a:ln/>
        </p:spPr>
        <p:txBody>
          <a:bodyPr wrap="square" lIns="0" tIns="0" rIns="0" bIns="0" rtlCol="0" anchor="t"/>
          <a:lstStyle/>
          <a:p>
            <a:pPr algn="ctr">
              <a:lnSpc>
                <a:spcPct val="120000"/>
              </a:lnSpc>
            </a:pPr>
            <a:r>
              <a:rPr lang="en-US" sz="2400" dirty="0">
                <a:solidFill>
                  <a:srgbClr val="000000"/>
                </a:solidFill>
                <a:latin typeface="Arial" pitchFamily="34" charset="0"/>
                <a:ea typeface="Arial" pitchFamily="34" charset="-122"/>
                <a:cs typeface="Arial" pitchFamily="34" charset="-120"/>
              </a:rPr>
              <a:t>11</a:t>
            </a:r>
            <a:endParaRPr lang="en-US" sz="2400" dirty="0"/>
          </a:p>
        </p:txBody>
      </p:sp>
      <p:sp>
        <p:nvSpPr>
          <p:cNvPr id="22" name="Shape 18"/>
          <p:cNvSpPr/>
          <p:nvPr/>
        </p:nvSpPr>
        <p:spPr>
          <a:xfrm>
            <a:off x="1358900" y="6208141"/>
            <a:ext cx="486029" cy="343789"/>
          </a:xfrm>
          <a:prstGeom prst="chevron">
            <a:avLst>
              <a:gd name="adj" fmla="val 50000"/>
            </a:avLst>
          </a:prstGeom>
          <a:solidFill>
            <a:srgbClr val="04579A"/>
          </a:solidFill>
          <a:ln w="12700">
            <a:solidFill>
              <a:srgbClr val="304B73"/>
            </a:solidFill>
            <a:prstDash val="solid"/>
          </a:ln>
        </p:spPr>
      </p:sp>
    </p:spTree>
  </p:cSld>
  <p:clrMapOvr>
    <a:masterClrMapping/>
  </p:clrMapOvr>
  <p:transition>
    <p:fade/>
    <p:spd val="med"/>
  </p:transition>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275971" y="2037969"/>
            <a:ext cx="14771751" cy="3753231"/>
          </a:xfrm>
          <a:prstGeom prst="rect">
            <a:avLst/>
          </a:prstGeom>
          <a:noFill/>
          <a:ln/>
        </p:spPr>
        <p:txBody>
          <a:bodyPr wrap="square" lIns="0" tIns="0" rIns="0" bIns="0" rtlCol="0" anchor="t"/>
          <a:lstStyle/>
          <a:p>
            <a:pPr algn="l" marL="338138" indent="-338138">
              <a:lnSpc>
                <a:spcPct val="150000"/>
              </a:lnSpc>
              <a:spcBef>
                <a:spcPts val="10"/>
              </a:spcBef>
              <a:buSzPct val="100000"/>
              <a:buFont typeface="+mj-lt"/>
              <a:buAutoNum type="arabicPeriod" startAt="1"/>
            </a:pPr>
            <a:r>
              <a:rPr lang="en-US" sz="2130" dirty="0">
                <a:solidFill>
                  <a:srgbClr val="FFFFFF"/>
                </a:solidFill>
                <a:latin typeface="Arial" pitchFamily="34" charset="0"/>
                <a:ea typeface="Arial" pitchFamily="34" charset="-122"/>
                <a:cs typeface="Arial" pitchFamily="34" charset="-120"/>
              </a:rPr>
              <a:t>广域网环境中延迟、丢包以及窃听等攻击对共识协议的健壮性提出了更高的要求</a:t>
            </a:r>
            <a:endParaRPr lang="en-US" sz="2130" dirty="0"/>
          </a:p>
          <a:p>
            <a:pPr algn="l">
              <a:lnSpc>
                <a:spcPct val="150000"/>
              </a:lnSpc>
            </a:pPr>
            <a:r>
              <a:rPr lang="en-US" sz="2130" b="1" dirty="0">
                <a:solidFill>
                  <a:srgbClr val="04579A"/>
                </a:solidFill>
                <a:latin typeface="Arial" pitchFamily="34" charset="0"/>
                <a:ea typeface="Arial" pitchFamily="34" charset="-122"/>
                <a:cs typeface="Arial" pitchFamily="34" charset="-120"/>
              </a:rPr>
              <a:t>智能体授权协议的授权粒度需要匹配</a:t>
            </a:r>
            <a:endParaRPr lang="en-US" sz="2130" dirty="0"/>
          </a:p>
          <a:p>
            <a:pPr algn="l">
              <a:lnSpc>
                <a:spcPct val="150000"/>
              </a:lnSpc>
              <a:spcBef>
                <a:spcPts val="1600"/>
              </a:spcBef>
            </a:pPr>
            <a:r>
              <a:rPr lang="en-US" sz="2130" b="1" dirty="0">
                <a:solidFill>
                  <a:srgbClr val="04579A"/>
                </a:solidFill>
                <a:latin typeface="Arial" pitchFamily="34" charset="0"/>
                <a:ea typeface="Arial" pitchFamily="34" charset="-122"/>
                <a:cs typeface="Arial" pitchFamily="34" charset="-120"/>
              </a:rPr>
              <a:t>具体任务级语义</a:t>
            </a:r>
            <a:pPr algn="l">
              <a:lnSpc>
                <a:spcPct val="150000"/>
              </a:lnSpc>
              <a:spcBef>
                <a:spcPts val="1600"/>
              </a:spcBef>
            </a:pPr>
            <a:r>
              <a:rPr lang="en-US" sz="2130" dirty="0">
                <a:solidFill>
                  <a:srgbClr val="FFFFFF"/>
                </a:solidFill>
                <a:latin typeface="Arial" pitchFamily="34" charset="0"/>
                <a:ea typeface="Arial" pitchFamily="34" charset="-122"/>
                <a:cs typeface="Arial" pitchFamily="34" charset="-120"/>
              </a:rPr>
              <a:t>有</a:t>
            </a:r>
            <a:endParaRPr lang="en-US" sz="2130" dirty="0"/>
          </a:p>
          <a:p>
            <a:pPr algn="l">
              <a:lnSpc>
                <a:spcPct val="150000"/>
              </a:lnSpc>
              <a:spcBef>
                <a:spcPts val="1600"/>
              </a:spcBef>
            </a:pPr>
            <a:r>
              <a:rPr lang="en-US" sz="2130" dirty="0">
                <a:solidFill>
                  <a:srgbClr val="FFFFFF"/>
                </a:solidFill>
                <a:latin typeface="Arial" pitchFamily="34" charset="0"/>
                <a:ea typeface="Arial" pitchFamily="34" charset="-122"/>
                <a:cs typeface="Arial" pitchFamily="34" charset="-120"/>
              </a:rPr>
              <a:t>长期部署的需要</a:t>
            </a:r>
            <a:endParaRPr lang="en-US" sz="2130" dirty="0"/>
          </a:p>
          <a:p>
            <a:pPr algn="l">
              <a:lnSpc>
                <a:spcPct val="150000"/>
              </a:lnSpc>
              <a:spcBef>
                <a:spcPts val="1600"/>
              </a:spcBef>
            </a:pPr>
            <a:r>
              <a:rPr lang="en-US" sz="2130" b="1" dirty="0">
                <a:solidFill>
                  <a:srgbClr val="04579A"/>
                </a:solidFill>
                <a:latin typeface="Arial" pitchFamily="34" charset="0"/>
                <a:ea typeface="Arial" pitchFamily="34" charset="-122"/>
                <a:cs typeface="Arial" pitchFamily="34" charset="-120"/>
              </a:rPr>
              <a:t>对智能体的授权需要以任务上下文为条件</a:t>
            </a:r>
            <a:endParaRPr lang="en-US" sz="2130" dirty="0"/>
          </a:p>
          <a:p>
            <a:pPr algn="l">
              <a:lnSpc>
                <a:spcPct val="150000"/>
              </a:lnSpc>
              <a:spcBef>
                <a:spcPts val="1600"/>
              </a:spcBef>
            </a:pPr>
            <a:r>
              <a:rPr lang="en-US" sz="130" dirty="0">
                <a:solidFill>
                  <a:srgbClr val="FFFFFF"/>
                </a:solidFill>
                <a:latin typeface="Arial" pitchFamily="34" charset="0"/>
                <a:ea typeface="Arial" pitchFamily="34" charset="-122"/>
                <a:cs typeface="Arial" pitchFamily="34" charset="-120"/>
              </a:rPr>
              <a:t>三方设置的门限密码系统减弱了区块链</a:t>
            </a:r>
            <a:pPr algn="l">
              <a:lnSpc>
                <a:spcPct val="150000"/>
              </a:lnSpc>
              <a:spcBef>
                <a:spcPts val="1600"/>
              </a:spcBef>
            </a:pPr>
            <a:r>
              <a:rPr lang="en-US" sz="800" dirty="0">
                <a:solidFill>
                  <a:srgbClr val="FFFFFF"/>
                </a:solidFill>
                <a:latin typeface="Arial" pitchFamily="34" charset="0"/>
                <a:ea typeface="Arial" pitchFamily="34" charset="-122"/>
                <a:cs typeface="Arial" pitchFamily="34" charset="-120"/>
              </a:rPr>
              <a:t>系统去中心化的特性</a:t>
            </a:r>
            <a:endParaRPr lang="en-US" sz="2130" dirty="0"/>
          </a:p>
          <a:p>
            <a:pPr algn="l">
              <a:lnSpc>
                <a:spcPct val="150000"/>
              </a:lnSpc>
              <a:spcBef>
                <a:spcPts val="1600"/>
              </a:spcBef>
            </a:pPr>
            <a:r>
              <a:rPr lang="en-US" sz="2130" b="1" dirty="0">
                <a:solidFill>
                  <a:srgbClr val="04579A"/>
                </a:solidFill>
                <a:latin typeface="Arial" pitchFamily="34" charset="0"/>
                <a:ea typeface="Arial" pitchFamily="34" charset="-122"/>
                <a:cs typeface="Arial" pitchFamily="34" charset="-120"/>
              </a:rPr>
              <a:t>分</a:t>
            </a:r>
            <a:endParaRPr lang="en-US" sz="2130" dirty="0"/>
          </a:p>
        </p:txBody>
      </p:sp>
      <p:sp>
        <p:nvSpPr>
          <p:cNvPr id="4" name="Shape 1"/>
          <p:cNvSpPr/>
          <p:nvPr/>
        </p:nvSpPr>
        <p:spPr>
          <a:xfrm>
            <a:off x="5162169" y="-889"/>
            <a:ext cx="2590800" cy="962660"/>
          </a:xfrm>
          <a:prstGeom prst="rect">
            <a:avLst/>
          </a:prstGeom>
          <a:solidFill>
            <a:srgbClr val="F2F2F2"/>
          </a:solidFill>
          <a:ln w="12700">
            <a:solidFill>
              <a:srgbClr val="F2F2F2"/>
            </a:solidFill>
            <a:prstDash val="solid"/>
          </a:ln>
        </p:spPr>
      </p:sp>
      <p:sp>
        <p:nvSpPr>
          <p:cNvPr id="5" name="Shape 2"/>
          <p:cNvSpPr/>
          <p:nvPr/>
        </p:nvSpPr>
        <p:spPr>
          <a:xfrm>
            <a:off x="5162169" y="-889"/>
            <a:ext cx="2590800" cy="962660"/>
          </a:xfrm>
          <a:prstGeom prst="rect">
            <a:avLst/>
          </a:prstGeom>
          <a:solidFill>
            <a:srgbClr val="04579A"/>
          </a:solidFill>
          <a:ln w="12700">
            <a:solidFill>
              <a:srgbClr val="04579A"/>
            </a:solidFill>
            <a:prstDash val="solid"/>
          </a:ln>
        </p:spPr>
      </p:sp>
      <p:sp>
        <p:nvSpPr>
          <p:cNvPr id="6" name="Shape 3"/>
          <p:cNvSpPr/>
          <p:nvPr/>
        </p:nvSpPr>
        <p:spPr>
          <a:xfrm>
            <a:off x="7816469" y="-889"/>
            <a:ext cx="4114800" cy="962660"/>
          </a:xfrm>
          <a:prstGeom prst="rect">
            <a:avLst/>
          </a:prstGeom>
          <a:solidFill>
            <a:srgbClr val="F2F2F2"/>
          </a:solidFill>
          <a:ln/>
        </p:spPr>
      </p:sp>
      <p:sp>
        <p:nvSpPr>
          <p:cNvPr id="7" name="Shape 4"/>
          <p:cNvSpPr/>
          <p:nvPr/>
        </p:nvSpPr>
        <p:spPr>
          <a:xfrm>
            <a:off x="11971020" y="0"/>
            <a:ext cx="4284980" cy="961771"/>
          </a:xfrm>
          <a:prstGeom prst="rect">
            <a:avLst/>
          </a:prstGeom>
          <a:solidFill>
            <a:srgbClr val="F2F2F2"/>
          </a:solidFill>
          <a:ln/>
        </p:spPr>
      </p:sp>
      <p:sp>
        <p:nvSpPr>
          <p:cNvPr id="8" name="Shape 5"/>
          <p:cNvSpPr/>
          <p:nvPr/>
        </p:nvSpPr>
        <p:spPr>
          <a:xfrm>
            <a:off x="2219960" y="-889"/>
            <a:ext cx="2895600" cy="962660"/>
          </a:xfrm>
          <a:prstGeom prst="rect">
            <a:avLst/>
          </a:prstGeom>
          <a:solidFill>
            <a:srgbClr val="F2F2F2"/>
          </a:solidFill>
          <a:ln w="12700">
            <a:solidFill>
              <a:srgbClr val="F2F2F2"/>
            </a:solidFill>
            <a:prstDash val="solid"/>
          </a:ln>
        </p:spPr>
      </p:sp>
      <p:sp>
        <p:nvSpPr>
          <p:cNvPr id="9" name="Text 6"/>
          <p:cNvSpPr/>
          <p:nvPr/>
        </p:nvSpPr>
        <p:spPr>
          <a:xfrm>
            <a:off x="2283460" y="203200"/>
            <a:ext cx="27686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选题背景及意义</a:t>
            </a:r>
            <a:endParaRPr lang="en-US" sz="2000" dirty="0"/>
          </a:p>
        </p:txBody>
      </p:sp>
      <p:sp>
        <p:nvSpPr>
          <p:cNvPr id="10" name="Text 7"/>
          <p:cNvSpPr/>
          <p:nvPr/>
        </p:nvSpPr>
        <p:spPr>
          <a:xfrm>
            <a:off x="5225669" y="203200"/>
            <a:ext cx="2463800" cy="508000"/>
          </a:xfrm>
          <a:prstGeom prst="rect">
            <a:avLst/>
          </a:prstGeom>
          <a:noFill/>
          <a:ln/>
        </p:spPr>
        <p:txBody>
          <a:bodyPr wrap="none" lIns="0" tIns="0" rIns="0" bIns="0" rtlCol="0" anchor="ctr"/>
          <a:lstStyle/>
          <a:p>
            <a:pPr algn="ctr">
              <a:lnSpc>
                <a:spcPct val="120000"/>
              </a:lnSpc>
            </a:pPr>
            <a:r>
              <a:rPr lang="en-US" sz="2000" dirty="0">
                <a:solidFill>
                  <a:srgbClr val="FFFFFF"/>
                </a:solidFill>
                <a:latin typeface="Arial" pitchFamily="34" charset="0"/>
                <a:ea typeface="Arial" pitchFamily="34" charset="-122"/>
                <a:cs typeface="Arial" pitchFamily="34" charset="-120"/>
              </a:rPr>
              <a:t>国内外研究现状</a:t>
            </a:r>
            <a:endParaRPr lang="en-US" sz="2000" dirty="0"/>
          </a:p>
        </p:txBody>
      </p:sp>
      <p:sp>
        <p:nvSpPr>
          <p:cNvPr id="11" name="Text 8"/>
          <p:cNvSpPr/>
          <p:nvPr/>
        </p:nvSpPr>
        <p:spPr>
          <a:xfrm>
            <a:off x="7879969" y="203200"/>
            <a:ext cx="39878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主要研究内容及预期目标</a:t>
            </a:r>
            <a:endParaRPr lang="en-US" sz="2000" dirty="0"/>
          </a:p>
        </p:txBody>
      </p:sp>
      <p:sp>
        <p:nvSpPr>
          <p:cNvPr id="12" name="Text 9"/>
          <p:cNvSpPr/>
          <p:nvPr/>
        </p:nvSpPr>
        <p:spPr>
          <a:xfrm>
            <a:off x="12034520" y="203200"/>
            <a:ext cx="415798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工作计划与进度安排</a:t>
            </a:r>
            <a:endParaRPr lang="en-US" sz="2000" dirty="0"/>
          </a:p>
        </p:txBody>
      </p:sp>
      <p:pic>
        <p:nvPicPr>
          <p:cNvPr id="13" name="Image 0" descr="https://kimi-img.moonshot.cn/pub/slides/okc/flfuysioo4gzm/mnt/agents/output/yuan_pptd/images/image_2.jpg">    </p:cNvPr>
          <p:cNvPicPr>
            <a:picLocks noChangeAspect="1"/>
          </p:cNvPicPr>
          <p:nvPr/>
        </p:nvPicPr>
        <p:blipFill>
          <a:blip r:embed="rId1"/>
          <a:srcRect l="5060" r="29000" t="0" b="0"/>
          <a:stretch/>
        </p:blipFill>
        <p:spPr>
          <a:xfrm>
            <a:off x="544449" y="140589"/>
            <a:ext cx="1273429" cy="745871"/>
          </a:xfrm>
          <a:prstGeom prst="rect">
            <a:avLst/>
          </a:prstGeom>
        </p:spPr>
      </p:pic>
      <p:sp>
        <p:nvSpPr>
          <p:cNvPr id="14" name="Shape 10"/>
          <p:cNvSpPr/>
          <p:nvPr/>
        </p:nvSpPr>
        <p:spPr>
          <a:xfrm rot="10800000">
            <a:off x="6121400" y="961771"/>
            <a:ext cx="389509" cy="304800"/>
          </a:xfrm>
          <a:prstGeom prst="triangle">
            <a:avLst>
              <a:gd name="adj" fmla="val 50000"/>
            </a:avLst>
          </a:prstGeom>
          <a:solidFill>
            <a:srgbClr val="04579A"/>
          </a:solidFill>
          <a:ln/>
        </p:spPr>
      </p:sp>
      <p:sp>
        <p:nvSpPr>
          <p:cNvPr id="15" name="Shape 11"/>
          <p:cNvSpPr/>
          <p:nvPr/>
        </p:nvSpPr>
        <p:spPr>
          <a:xfrm>
            <a:off x="988949" y="2846451"/>
            <a:ext cx="385191" cy="272669"/>
          </a:xfrm>
          <a:prstGeom prst="chevron">
            <a:avLst>
              <a:gd name="adj" fmla="val 50000"/>
            </a:avLst>
          </a:prstGeom>
          <a:solidFill>
            <a:srgbClr val="04579A"/>
          </a:solidFill>
          <a:ln w="12700">
            <a:solidFill>
              <a:srgbClr val="304B73"/>
            </a:solidFill>
            <a:prstDash val="solid"/>
          </a:ln>
        </p:spPr>
      </p:sp>
      <p:sp>
        <p:nvSpPr>
          <p:cNvPr id="16" name="Shape 12"/>
          <p:cNvSpPr/>
          <p:nvPr/>
        </p:nvSpPr>
        <p:spPr>
          <a:xfrm>
            <a:off x="988441" y="4487037"/>
            <a:ext cx="385191" cy="272669"/>
          </a:xfrm>
          <a:prstGeom prst="chevron">
            <a:avLst>
              <a:gd name="adj" fmla="val 50000"/>
            </a:avLst>
          </a:prstGeom>
          <a:solidFill>
            <a:srgbClr val="04579A"/>
          </a:solidFill>
          <a:ln w="12700">
            <a:solidFill>
              <a:srgbClr val="304B73"/>
            </a:solidFill>
            <a:prstDash val="solid"/>
          </a:ln>
        </p:spPr>
      </p:sp>
      <p:sp>
        <p:nvSpPr>
          <p:cNvPr id="17" name="Shape 13"/>
          <p:cNvSpPr/>
          <p:nvPr/>
        </p:nvSpPr>
        <p:spPr>
          <a:xfrm>
            <a:off x="988441" y="6038723"/>
            <a:ext cx="385191" cy="272669"/>
          </a:xfrm>
          <a:prstGeom prst="chevron">
            <a:avLst>
              <a:gd name="adj" fmla="val 50000"/>
            </a:avLst>
          </a:prstGeom>
          <a:solidFill>
            <a:srgbClr val="04579A"/>
          </a:solidFill>
          <a:ln w="12700">
            <a:solidFill>
              <a:srgbClr val="304B73"/>
            </a:solidFill>
            <a:prstDash val="solid"/>
          </a:ln>
        </p:spPr>
      </p:sp>
      <p:sp>
        <p:nvSpPr>
          <p:cNvPr id="18" name="Text 14"/>
          <p:cNvSpPr/>
          <p:nvPr/>
        </p:nvSpPr>
        <p:spPr>
          <a:xfrm>
            <a:off x="9259189" y="2427732"/>
            <a:ext cx="5571871" cy="695960"/>
          </a:xfrm>
          <a:prstGeom prst="rect">
            <a:avLst/>
          </a:prstGeom>
          <a:noFill/>
          <a:ln/>
        </p:spPr>
        <p:txBody>
          <a:bodyPr wrap="square" lIns="0" tIns="0" rIns="0" bIns="0" rtlCol="0" anchor="t"/>
          <a:lstStyle/>
          <a:p>
            <a:pPr algn="l">
              <a:lnSpc>
                <a:spcPct val="120000"/>
              </a:lnSpc>
            </a:pPr>
            <a:r>
              <a:rPr lang="en-US" sz="3730" b="1" dirty="0">
                <a:solidFill>
                  <a:srgbClr val="262626"/>
                </a:solidFill>
                <a:latin typeface="Arial" pitchFamily="34" charset="0"/>
                <a:ea typeface="Arial" pitchFamily="34" charset="-122"/>
                <a:cs typeface="Arial" pitchFamily="34" charset="-120"/>
              </a:rPr>
              <a:t>1. </a:t>
            </a:r>
            <a:pPr algn="l">
              <a:lnSpc>
                <a:spcPct val="120000"/>
              </a:lnSpc>
            </a:pPr>
            <a:r>
              <a:rPr lang="en-US" sz="2670" b="1" dirty="0">
                <a:solidFill>
                  <a:srgbClr val="262626"/>
                </a:solidFill>
                <a:latin typeface="MiSans" pitchFamily="34" charset="0"/>
                <a:ea typeface="MiSans" pitchFamily="34" charset="-122"/>
                <a:cs typeface="MiSans" pitchFamily="34" charset="-120"/>
              </a:rPr>
              <a:t>智能体过度</a:t>
            </a:r>
            <a:pPr algn="l">
              <a:lnSpc>
                <a:spcPct val="120000"/>
              </a:lnSpc>
            </a:pPr>
            <a:r>
              <a:rPr lang="en-US" sz="2670" b="1" dirty="0">
                <a:solidFill>
                  <a:srgbClr val="262626"/>
                </a:solidFill>
                <a:latin typeface="MiSans" pitchFamily="34" charset="0"/>
                <a:ea typeface="MiSans" pitchFamily="34" charset="-122"/>
                <a:cs typeface="MiSans" pitchFamily="34" charset="-120"/>
              </a:rPr>
              <a:t>授权</a:t>
            </a:r>
            <a:endParaRPr lang="en-US" sz="3730" dirty="0"/>
          </a:p>
        </p:txBody>
      </p:sp>
      <p:sp>
        <p:nvSpPr>
          <p:cNvPr id="19" name="Text 15"/>
          <p:cNvSpPr/>
          <p:nvPr/>
        </p:nvSpPr>
        <p:spPr>
          <a:xfrm>
            <a:off x="9325991" y="4187698"/>
            <a:ext cx="5571871" cy="695960"/>
          </a:xfrm>
          <a:prstGeom prst="rect">
            <a:avLst/>
          </a:prstGeom>
          <a:noFill/>
          <a:ln/>
        </p:spPr>
        <p:txBody>
          <a:bodyPr wrap="square" lIns="0" tIns="0" rIns="0" bIns="0" rtlCol="0" anchor="t"/>
          <a:lstStyle/>
          <a:p>
            <a:pPr algn="l">
              <a:lnSpc>
                <a:spcPct val="120000"/>
              </a:lnSpc>
            </a:pPr>
            <a:r>
              <a:rPr lang="en-US" sz="3730" b="1" dirty="0">
                <a:solidFill>
                  <a:srgbClr val="262626"/>
                </a:solidFill>
                <a:latin typeface="Arial" pitchFamily="34" charset="0"/>
                <a:ea typeface="Arial" pitchFamily="34" charset="-122"/>
                <a:cs typeface="Arial" pitchFamily="34" charset="-120"/>
              </a:rPr>
              <a:t>2. </a:t>
            </a:r>
            <a:pPr algn="l">
              <a:lnSpc>
                <a:spcPct val="120000"/>
              </a:lnSpc>
            </a:pPr>
            <a:r>
              <a:rPr lang="en-US" sz="2670" b="1" dirty="0">
                <a:solidFill>
                  <a:srgbClr val="262626"/>
                </a:solidFill>
                <a:latin typeface="MiSans" pitchFamily="34" charset="0"/>
                <a:ea typeface="MiSans" pitchFamily="34" charset="-122"/>
                <a:cs typeface="MiSans" pitchFamily="34" charset="-120"/>
              </a:rPr>
              <a:t>链</a:t>
            </a:r>
            <a:endParaRPr lang="en-US" sz="3730" dirty="0"/>
          </a:p>
        </p:txBody>
      </p:sp>
      <p:sp>
        <p:nvSpPr>
          <p:cNvPr id="20" name="Text 16"/>
          <p:cNvSpPr/>
          <p:nvPr/>
        </p:nvSpPr>
        <p:spPr>
          <a:xfrm>
            <a:off x="9325991" y="5769737"/>
            <a:ext cx="5941441" cy="695960"/>
          </a:xfrm>
          <a:prstGeom prst="rect">
            <a:avLst/>
          </a:prstGeom>
          <a:noFill/>
          <a:ln/>
        </p:spPr>
        <p:txBody>
          <a:bodyPr wrap="square" lIns="0" tIns="0" rIns="0" bIns="0" rtlCol="0" anchor="t"/>
          <a:lstStyle/>
          <a:p>
            <a:pPr algn="l">
              <a:lnSpc>
                <a:spcPct val="120000"/>
              </a:lnSpc>
            </a:pPr>
            <a:r>
              <a:rPr lang="en-US" sz="3730" b="1" dirty="0">
                <a:solidFill>
                  <a:srgbClr val="262626"/>
                </a:solidFill>
                <a:latin typeface="Arial" pitchFamily="34" charset="0"/>
                <a:ea typeface="Arial" pitchFamily="34" charset="-122"/>
                <a:cs typeface="Arial" pitchFamily="34" charset="-120"/>
              </a:rPr>
              <a:t>3. </a:t>
            </a:r>
            <a:pPr algn="l">
              <a:lnSpc>
                <a:spcPct val="120000"/>
              </a:lnSpc>
            </a:pPr>
            <a:r>
              <a:rPr lang="en-US" sz="2670" b="1" dirty="0">
                <a:solidFill>
                  <a:srgbClr val="262626"/>
                </a:solidFill>
                <a:latin typeface="Arial" pitchFamily="34" charset="0"/>
                <a:ea typeface="Arial" pitchFamily="34" charset="-122"/>
                <a:cs typeface="Arial" pitchFamily="34" charset="-120"/>
              </a:rPr>
              <a:t>跨</a:t>
            </a:r>
            <a:endParaRPr lang="en-US" sz="3730" dirty="0"/>
          </a:p>
        </p:txBody>
      </p:sp>
      <p:sp>
        <p:nvSpPr>
          <p:cNvPr id="21" name="Shape 17"/>
          <p:cNvSpPr/>
          <p:nvPr/>
        </p:nvSpPr>
        <p:spPr>
          <a:xfrm>
            <a:off x="8332089" y="2675001"/>
            <a:ext cx="412369" cy="615569"/>
          </a:xfrm>
          <a:prstGeom prst="stripedRightArrow">
            <a:avLst>
              <a:gd name="adj1" fmla="val 50000"/>
              <a:gd name="adj2" fmla="val 50000"/>
            </a:avLst>
          </a:prstGeom>
          <a:solidFill>
            <a:srgbClr val="7F7F7F"/>
          </a:solidFill>
          <a:ln/>
        </p:spPr>
      </p:sp>
      <p:sp>
        <p:nvSpPr>
          <p:cNvPr id="22" name="Shape 18"/>
          <p:cNvSpPr/>
          <p:nvPr/>
        </p:nvSpPr>
        <p:spPr>
          <a:xfrm>
            <a:off x="8332089" y="4270629"/>
            <a:ext cx="412369" cy="615569"/>
          </a:xfrm>
          <a:prstGeom prst="stripedRightArrow">
            <a:avLst>
              <a:gd name="adj1" fmla="val 50000"/>
              <a:gd name="adj2" fmla="val 50000"/>
            </a:avLst>
          </a:prstGeom>
          <a:solidFill>
            <a:srgbClr val="7F7F7F"/>
          </a:solidFill>
          <a:ln/>
        </p:spPr>
      </p:sp>
      <p:sp>
        <p:nvSpPr>
          <p:cNvPr id="23" name="Shape 19"/>
          <p:cNvSpPr/>
          <p:nvPr/>
        </p:nvSpPr>
        <p:spPr>
          <a:xfrm>
            <a:off x="8367522" y="5867273"/>
            <a:ext cx="412369" cy="615569"/>
          </a:xfrm>
          <a:prstGeom prst="stripedRightArrow">
            <a:avLst>
              <a:gd name="adj1" fmla="val 50000"/>
              <a:gd name="adj2" fmla="val 50000"/>
            </a:avLst>
          </a:prstGeom>
          <a:solidFill>
            <a:srgbClr val="7F7F7F"/>
          </a:solidFill>
          <a:ln/>
        </p:spPr>
      </p:sp>
      <p:sp>
        <p:nvSpPr>
          <p:cNvPr id="24" name="Text 20"/>
          <p:cNvSpPr/>
          <p:nvPr/>
        </p:nvSpPr>
        <p:spPr>
          <a:xfrm>
            <a:off x="1010920" y="7786751"/>
            <a:ext cx="14037691" cy="531749"/>
          </a:xfrm>
          <a:prstGeom prst="rect">
            <a:avLst/>
          </a:prstGeom>
          <a:noFill/>
          <a:ln/>
        </p:spPr>
        <p:txBody>
          <a:bodyPr wrap="square" lIns="0" tIns="0" rIns="0" bIns="0" rtlCol="0" anchor="t"/>
          <a:lstStyle/>
          <a:p>
            <a:pPr algn="ctr">
              <a:lnSpc>
                <a:spcPct val="120000"/>
              </a:lnSpc>
            </a:pPr>
            <a:r>
              <a:rPr lang="en-US" sz="2670" b="1" dirty="0">
                <a:solidFill>
                  <a:srgbClr val="000000"/>
                </a:solidFill>
                <a:latin typeface="Arial" pitchFamily="34" charset="0"/>
                <a:ea typeface="Arial" pitchFamily="34" charset="-122"/>
                <a:cs typeface="Arial" pitchFamily="34" charset="-120"/>
              </a:rPr>
              <a:t>要应对新场景下特有的技术挑战，构建双重约束的智能体授权</a:t>
            </a:r>
            <a:pPr algn="ctr">
              <a:lnSpc>
                <a:spcPct val="120000"/>
              </a:lnSpc>
            </a:pPr>
            <a:r>
              <a:rPr lang="en-US" sz="2670" b="1" dirty="0">
                <a:solidFill>
                  <a:srgbClr val="000000"/>
                </a:solidFill>
                <a:latin typeface="Arial" pitchFamily="34" charset="0"/>
                <a:ea typeface="Arial" pitchFamily="34" charset="-122"/>
                <a:cs typeface="Arial" pitchFamily="34" charset="-120"/>
              </a:rPr>
              <a:t>协议</a:t>
            </a:r>
            <a:endParaRPr lang="en-US" sz="2670" dirty="0"/>
          </a:p>
        </p:txBody>
      </p:sp>
      <p:sp>
        <p:nvSpPr>
          <p:cNvPr id="25" name="Text 21"/>
          <p:cNvSpPr/>
          <p:nvPr/>
        </p:nvSpPr>
        <p:spPr>
          <a:xfrm>
            <a:off x="15649067" y="8666353"/>
            <a:ext cx="606933" cy="492506"/>
          </a:xfrm>
          <a:prstGeom prst="rect">
            <a:avLst/>
          </a:prstGeom>
          <a:noFill/>
          <a:ln/>
        </p:spPr>
        <p:txBody>
          <a:bodyPr wrap="square" lIns="0" tIns="0" rIns="0" bIns="0" rtlCol="0" anchor="t"/>
          <a:lstStyle/>
          <a:p>
            <a:pPr algn="ctr">
              <a:lnSpc>
                <a:spcPct val="120000"/>
              </a:lnSpc>
            </a:pPr>
            <a:r>
              <a:rPr lang="en-US" sz="2400" dirty="0">
                <a:solidFill>
                  <a:srgbClr val="000000"/>
                </a:solidFill>
                <a:latin typeface="Arial" pitchFamily="34" charset="0"/>
                <a:ea typeface="Arial" pitchFamily="34" charset="-122"/>
                <a:cs typeface="Arial" pitchFamily="34" charset="-120"/>
              </a:rPr>
              <a:t>14</a:t>
            </a:r>
            <a:endParaRPr lang="en-US" sz="2400" dirty="0"/>
          </a:p>
        </p:txBody>
      </p:sp>
    </p:spTree>
  </p:cSld>
  <p:clrMapOvr>
    <a:masterClrMapping/>
  </p:clrMapOvr>
  <p:transition>
    <p:fade/>
    <p:spd val="med"/>
  </p:transition>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3" name="Shape 0"/>
          <p:cNvSpPr/>
          <p:nvPr/>
        </p:nvSpPr>
        <p:spPr>
          <a:xfrm rot="16200000">
            <a:off x="7468489" y="-29591"/>
            <a:ext cx="3791331" cy="13785469"/>
          </a:xfrm>
          <a:prstGeom prst="trapezoid">
            <a:avLst>
              <a:gd name="adj" fmla="val 25000"/>
            </a:avLst>
          </a:prstGeom>
          <a:gradFill rotWithShape="1" flip="none">
            <a:gsLst>
              <a:gs pos="0">
                <a:srgbClr val="F2F2F2"/>
              </a:gs>
              <a:gs pos="100000">
                <a:srgbClr val="FFFFFF">
                  <a:alpha val="48000"/>
                </a:srgbClr>
              </a:gs>
            </a:gsLst>
            <a:lin ang="16200000" scaled="1"/>
          </a:gradFill>
          <a:ln/>
        </p:spPr>
      </p:sp>
      <p:sp>
        <p:nvSpPr>
          <p:cNvPr id="4" name="Shape 1"/>
          <p:cNvSpPr/>
          <p:nvPr/>
        </p:nvSpPr>
        <p:spPr>
          <a:xfrm rot="16200000">
            <a:off x="7163689" y="-4174871"/>
            <a:ext cx="2694940" cy="15588869"/>
          </a:xfrm>
          <a:prstGeom prst="trapezoid">
            <a:avLst>
              <a:gd name="adj" fmla="val 25000"/>
            </a:avLst>
          </a:prstGeom>
          <a:gradFill rotWithShape="1" flip="none">
            <a:gsLst>
              <a:gs pos="0">
                <a:srgbClr val="F2F2F2"/>
              </a:gs>
              <a:gs pos="100000">
                <a:srgbClr val="FFFFFF">
                  <a:alpha val="48000"/>
                </a:srgbClr>
              </a:gs>
            </a:gsLst>
            <a:lin ang="16200000" scaled="1"/>
          </a:gradFill>
          <a:ln/>
        </p:spPr>
      </p:sp>
      <p:sp>
        <p:nvSpPr>
          <p:cNvPr id="5" name="Shape 2"/>
          <p:cNvSpPr/>
          <p:nvPr/>
        </p:nvSpPr>
        <p:spPr>
          <a:xfrm flipV="1">
            <a:off x="11171809" y="4941570"/>
            <a:ext cx="2752471" cy="25781"/>
          </a:xfrm>
          <a:prstGeom prst="line">
            <a:avLst/>
          </a:prstGeom>
          <a:noFill/>
          <a:ln w="12700">
            <a:solidFill>
              <a:srgbClr val="7F7F7F"/>
            </a:solidFill>
            <a:prstDash val="dash"/>
            <a:headEnd type="none"/>
            <a:tailEnd type="none"/>
          </a:ln>
        </p:spPr>
      </p:sp>
      <p:sp>
        <p:nvSpPr>
          <p:cNvPr id="6" name="Shape 3"/>
          <p:cNvSpPr/>
          <p:nvPr/>
        </p:nvSpPr>
        <p:spPr>
          <a:xfrm flipV="1">
            <a:off x="14037691" y="4936109"/>
            <a:ext cx="0" cy="2599309"/>
          </a:xfrm>
          <a:prstGeom prst="line">
            <a:avLst/>
          </a:prstGeom>
          <a:noFill/>
          <a:ln w="12700">
            <a:solidFill>
              <a:srgbClr val="7F7F7F"/>
            </a:solidFill>
            <a:prstDash val="solid"/>
            <a:headEnd type="none"/>
            <a:tailEnd type="none"/>
          </a:ln>
        </p:spPr>
      </p:sp>
      <p:sp>
        <p:nvSpPr>
          <p:cNvPr id="7" name="Shape 4"/>
          <p:cNvSpPr/>
          <p:nvPr/>
        </p:nvSpPr>
        <p:spPr>
          <a:xfrm flipV="1">
            <a:off x="11058271" y="2780919"/>
            <a:ext cx="0" cy="2186940"/>
          </a:xfrm>
          <a:prstGeom prst="line">
            <a:avLst/>
          </a:prstGeom>
          <a:noFill/>
          <a:ln w="12700">
            <a:solidFill>
              <a:srgbClr val="7F7F7F"/>
            </a:solidFill>
            <a:prstDash val="solid"/>
            <a:headEnd type="none"/>
            <a:tailEnd type="none"/>
          </a:ln>
        </p:spPr>
      </p:sp>
      <p:sp>
        <p:nvSpPr>
          <p:cNvPr id="8" name="Shape 5"/>
          <p:cNvSpPr/>
          <p:nvPr/>
        </p:nvSpPr>
        <p:spPr>
          <a:xfrm flipH="1">
            <a:off x="9294241" y="5111369"/>
            <a:ext cx="0" cy="2079625"/>
          </a:xfrm>
          <a:prstGeom prst="bentConnector3">
            <a:avLst/>
          </a:prstGeom>
          <a:noFill/>
          <a:ln w="12700">
            <a:solidFill>
              <a:srgbClr val="7F7F7F"/>
            </a:solidFill>
            <a:prstDash val="solid"/>
            <a:headEnd type="none"/>
            <a:tailEnd type="none"/>
          </a:ln>
        </p:spPr>
      </p:sp>
      <p:sp>
        <p:nvSpPr>
          <p:cNvPr id="9" name="Shape 6"/>
          <p:cNvSpPr/>
          <p:nvPr/>
        </p:nvSpPr>
        <p:spPr>
          <a:xfrm>
            <a:off x="0" y="4888611"/>
            <a:ext cx="126111" cy="126111"/>
          </a:xfrm>
          <a:prstGeom prst="ellipse">
            <a:avLst/>
          </a:prstGeom>
          <a:solidFill>
            <a:srgbClr val="A5A5A5"/>
          </a:solidFill>
          <a:ln/>
        </p:spPr>
      </p:sp>
      <p:sp>
        <p:nvSpPr>
          <p:cNvPr id="10" name="Shape 7"/>
          <p:cNvSpPr/>
          <p:nvPr/>
        </p:nvSpPr>
        <p:spPr>
          <a:xfrm>
            <a:off x="295529" y="4888611"/>
            <a:ext cx="126111" cy="126111"/>
          </a:xfrm>
          <a:prstGeom prst="ellipse">
            <a:avLst/>
          </a:prstGeom>
          <a:solidFill>
            <a:srgbClr val="A5A5A5"/>
          </a:solidFill>
          <a:ln/>
        </p:spPr>
      </p:sp>
      <p:sp>
        <p:nvSpPr>
          <p:cNvPr id="11" name="Shape 8"/>
          <p:cNvSpPr/>
          <p:nvPr/>
        </p:nvSpPr>
        <p:spPr>
          <a:xfrm>
            <a:off x="886460" y="4888611"/>
            <a:ext cx="126111" cy="126111"/>
          </a:xfrm>
          <a:prstGeom prst="ellipse">
            <a:avLst/>
          </a:prstGeom>
          <a:solidFill>
            <a:srgbClr val="BFBFBF"/>
          </a:solidFill>
          <a:ln/>
        </p:spPr>
      </p:sp>
      <p:sp>
        <p:nvSpPr>
          <p:cNvPr id="12" name="Shape 9"/>
          <p:cNvSpPr/>
          <p:nvPr/>
        </p:nvSpPr>
        <p:spPr>
          <a:xfrm>
            <a:off x="1253109" y="4888611"/>
            <a:ext cx="126111" cy="126111"/>
          </a:xfrm>
          <a:prstGeom prst="ellipse">
            <a:avLst/>
          </a:prstGeom>
          <a:solidFill>
            <a:srgbClr val="BFBFBF"/>
          </a:solidFill>
          <a:ln/>
        </p:spPr>
      </p:sp>
      <p:sp>
        <p:nvSpPr>
          <p:cNvPr id="13" name="Shape 10"/>
          <p:cNvSpPr/>
          <p:nvPr/>
        </p:nvSpPr>
        <p:spPr>
          <a:xfrm>
            <a:off x="1548511" y="4889500"/>
            <a:ext cx="126111" cy="126111"/>
          </a:xfrm>
          <a:prstGeom prst="ellipse">
            <a:avLst/>
          </a:prstGeom>
          <a:solidFill>
            <a:srgbClr val="BFBFBF"/>
          </a:solidFill>
          <a:ln/>
        </p:spPr>
      </p:sp>
      <p:sp>
        <p:nvSpPr>
          <p:cNvPr id="14" name="Shape 11"/>
          <p:cNvSpPr/>
          <p:nvPr/>
        </p:nvSpPr>
        <p:spPr>
          <a:xfrm>
            <a:off x="1844040" y="4890389"/>
            <a:ext cx="126111" cy="126111"/>
          </a:xfrm>
          <a:prstGeom prst="ellipse">
            <a:avLst/>
          </a:prstGeom>
          <a:solidFill>
            <a:srgbClr val="BFBFBF"/>
          </a:solidFill>
          <a:ln/>
        </p:spPr>
      </p:sp>
      <p:sp>
        <p:nvSpPr>
          <p:cNvPr id="15" name="Shape 12"/>
          <p:cNvSpPr/>
          <p:nvPr/>
        </p:nvSpPr>
        <p:spPr>
          <a:xfrm>
            <a:off x="2139569" y="4891151"/>
            <a:ext cx="126111" cy="126111"/>
          </a:xfrm>
          <a:prstGeom prst="ellipse">
            <a:avLst/>
          </a:prstGeom>
          <a:solidFill>
            <a:srgbClr val="BFBFBF"/>
          </a:solidFill>
          <a:ln/>
        </p:spPr>
      </p:sp>
      <p:sp>
        <p:nvSpPr>
          <p:cNvPr id="16" name="Shape 13"/>
          <p:cNvSpPr/>
          <p:nvPr/>
        </p:nvSpPr>
        <p:spPr>
          <a:xfrm>
            <a:off x="2434971" y="4892040"/>
            <a:ext cx="126111" cy="126111"/>
          </a:xfrm>
          <a:prstGeom prst="ellipse">
            <a:avLst/>
          </a:prstGeom>
          <a:solidFill>
            <a:srgbClr val="BFBFBF"/>
          </a:solidFill>
          <a:ln/>
        </p:spPr>
      </p:sp>
      <p:sp>
        <p:nvSpPr>
          <p:cNvPr id="17" name="Shape 14"/>
          <p:cNvSpPr/>
          <p:nvPr/>
        </p:nvSpPr>
        <p:spPr>
          <a:xfrm>
            <a:off x="2730500" y="4892040"/>
            <a:ext cx="126111" cy="126111"/>
          </a:xfrm>
          <a:prstGeom prst="ellipse">
            <a:avLst/>
          </a:prstGeom>
          <a:solidFill>
            <a:srgbClr val="BFBFBF"/>
          </a:solidFill>
          <a:ln/>
        </p:spPr>
      </p:sp>
      <p:sp>
        <p:nvSpPr>
          <p:cNvPr id="18" name="Shape 15"/>
          <p:cNvSpPr/>
          <p:nvPr/>
        </p:nvSpPr>
        <p:spPr>
          <a:xfrm>
            <a:off x="3026029" y="4892040"/>
            <a:ext cx="126111" cy="126111"/>
          </a:xfrm>
          <a:prstGeom prst="ellipse">
            <a:avLst/>
          </a:prstGeom>
          <a:solidFill>
            <a:srgbClr val="BFBFBF"/>
          </a:solidFill>
          <a:ln/>
        </p:spPr>
      </p:sp>
      <p:sp>
        <p:nvSpPr>
          <p:cNvPr id="19" name="Shape 16"/>
          <p:cNvSpPr/>
          <p:nvPr/>
        </p:nvSpPr>
        <p:spPr>
          <a:xfrm>
            <a:off x="3321431" y="4892040"/>
            <a:ext cx="126111" cy="126111"/>
          </a:xfrm>
          <a:prstGeom prst="ellipse">
            <a:avLst/>
          </a:prstGeom>
          <a:solidFill>
            <a:srgbClr val="BFBFBF"/>
          </a:solidFill>
          <a:ln/>
        </p:spPr>
      </p:sp>
      <p:sp>
        <p:nvSpPr>
          <p:cNvPr id="20" name="Shape 17"/>
          <p:cNvSpPr/>
          <p:nvPr/>
        </p:nvSpPr>
        <p:spPr>
          <a:xfrm>
            <a:off x="3616960" y="4892040"/>
            <a:ext cx="126111" cy="126111"/>
          </a:xfrm>
          <a:prstGeom prst="ellipse">
            <a:avLst/>
          </a:prstGeom>
          <a:solidFill>
            <a:srgbClr val="BFBFBF"/>
          </a:solidFill>
          <a:ln/>
        </p:spPr>
      </p:sp>
      <p:sp>
        <p:nvSpPr>
          <p:cNvPr id="21" name="Shape 18"/>
          <p:cNvSpPr/>
          <p:nvPr/>
        </p:nvSpPr>
        <p:spPr>
          <a:xfrm>
            <a:off x="3912489" y="4892040"/>
            <a:ext cx="126111" cy="126111"/>
          </a:xfrm>
          <a:prstGeom prst="ellipse">
            <a:avLst/>
          </a:prstGeom>
          <a:solidFill>
            <a:srgbClr val="BFBFBF"/>
          </a:solidFill>
          <a:ln/>
        </p:spPr>
      </p:sp>
      <p:sp>
        <p:nvSpPr>
          <p:cNvPr id="22" name="Shape 19"/>
          <p:cNvSpPr/>
          <p:nvPr/>
        </p:nvSpPr>
        <p:spPr>
          <a:xfrm>
            <a:off x="4207891" y="4892040"/>
            <a:ext cx="126111" cy="126111"/>
          </a:xfrm>
          <a:prstGeom prst="ellipse">
            <a:avLst/>
          </a:prstGeom>
          <a:solidFill>
            <a:srgbClr val="BFBFBF"/>
          </a:solidFill>
          <a:ln/>
        </p:spPr>
      </p:sp>
      <p:sp>
        <p:nvSpPr>
          <p:cNvPr id="23" name="Shape 20"/>
          <p:cNvSpPr/>
          <p:nvPr/>
        </p:nvSpPr>
        <p:spPr>
          <a:xfrm>
            <a:off x="5389880" y="4892040"/>
            <a:ext cx="126111" cy="126111"/>
          </a:xfrm>
          <a:prstGeom prst="ellipse">
            <a:avLst/>
          </a:prstGeom>
          <a:solidFill>
            <a:srgbClr val="BFBFBF"/>
          </a:solidFill>
          <a:ln/>
        </p:spPr>
      </p:sp>
      <p:sp>
        <p:nvSpPr>
          <p:cNvPr id="24" name="Shape 21"/>
          <p:cNvSpPr/>
          <p:nvPr/>
        </p:nvSpPr>
        <p:spPr>
          <a:xfrm>
            <a:off x="5685409" y="4892040"/>
            <a:ext cx="126111" cy="126111"/>
          </a:xfrm>
          <a:prstGeom prst="ellipse">
            <a:avLst/>
          </a:prstGeom>
          <a:solidFill>
            <a:srgbClr val="BFBFBF"/>
          </a:solidFill>
          <a:ln/>
        </p:spPr>
      </p:sp>
      <p:sp>
        <p:nvSpPr>
          <p:cNvPr id="25" name="Shape 22"/>
          <p:cNvSpPr/>
          <p:nvPr/>
        </p:nvSpPr>
        <p:spPr>
          <a:xfrm>
            <a:off x="5980811" y="4892040"/>
            <a:ext cx="126111" cy="126111"/>
          </a:xfrm>
          <a:prstGeom prst="ellipse">
            <a:avLst/>
          </a:prstGeom>
          <a:solidFill>
            <a:srgbClr val="BFBFBF"/>
          </a:solidFill>
          <a:ln/>
        </p:spPr>
      </p:sp>
      <p:sp>
        <p:nvSpPr>
          <p:cNvPr id="26" name="Shape 23"/>
          <p:cNvSpPr/>
          <p:nvPr/>
        </p:nvSpPr>
        <p:spPr>
          <a:xfrm>
            <a:off x="6276340" y="4892040"/>
            <a:ext cx="126111" cy="126111"/>
          </a:xfrm>
          <a:prstGeom prst="ellipse">
            <a:avLst/>
          </a:prstGeom>
          <a:solidFill>
            <a:srgbClr val="BFBFBF"/>
          </a:solidFill>
          <a:ln/>
        </p:spPr>
      </p:sp>
      <p:sp>
        <p:nvSpPr>
          <p:cNvPr id="27" name="Shape 24"/>
          <p:cNvSpPr/>
          <p:nvPr/>
        </p:nvSpPr>
        <p:spPr>
          <a:xfrm>
            <a:off x="6571869" y="4892040"/>
            <a:ext cx="126111" cy="126111"/>
          </a:xfrm>
          <a:prstGeom prst="ellipse">
            <a:avLst/>
          </a:prstGeom>
          <a:solidFill>
            <a:srgbClr val="BFBFBF"/>
          </a:solidFill>
          <a:ln/>
        </p:spPr>
      </p:sp>
      <p:sp>
        <p:nvSpPr>
          <p:cNvPr id="28" name="Shape 25"/>
          <p:cNvSpPr/>
          <p:nvPr/>
        </p:nvSpPr>
        <p:spPr>
          <a:xfrm>
            <a:off x="7162800" y="4892040"/>
            <a:ext cx="126111" cy="126111"/>
          </a:xfrm>
          <a:prstGeom prst="ellipse">
            <a:avLst/>
          </a:prstGeom>
          <a:solidFill>
            <a:srgbClr val="BFBFBF"/>
          </a:solidFill>
          <a:ln/>
        </p:spPr>
      </p:sp>
      <p:sp>
        <p:nvSpPr>
          <p:cNvPr id="29" name="Shape 26"/>
          <p:cNvSpPr/>
          <p:nvPr/>
        </p:nvSpPr>
        <p:spPr>
          <a:xfrm>
            <a:off x="7458329" y="4892040"/>
            <a:ext cx="126111" cy="126111"/>
          </a:xfrm>
          <a:prstGeom prst="ellipse">
            <a:avLst/>
          </a:prstGeom>
          <a:solidFill>
            <a:srgbClr val="BFBFBF"/>
          </a:solidFill>
          <a:ln/>
        </p:spPr>
      </p:sp>
      <p:sp>
        <p:nvSpPr>
          <p:cNvPr id="30" name="Shape 27"/>
          <p:cNvSpPr/>
          <p:nvPr/>
        </p:nvSpPr>
        <p:spPr>
          <a:xfrm>
            <a:off x="7753731" y="4892040"/>
            <a:ext cx="126111" cy="126111"/>
          </a:xfrm>
          <a:prstGeom prst="ellipse">
            <a:avLst/>
          </a:prstGeom>
          <a:solidFill>
            <a:srgbClr val="BFBFBF"/>
          </a:solidFill>
          <a:ln/>
        </p:spPr>
      </p:sp>
      <p:sp>
        <p:nvSpPr>
          <p:cNvPr id="31" name="Shape 28"/>
          <p:cNvSpPr/>
          <p:nvPr/>
        </p:nvSpPr>
        <p:spPr>
          <a:xfrm>
            <a:off x="8344789" y="4892040"/>
            <a:ext cx="126111" cy="126111"/>
          </a:xfrm>
          <a:prstGeom prst="ellipse">
            <a:avLst/>
          </a:prstGeom>
          <a:solidFill>
            <a:srgbClr val="BFBFBF"/>
          </a:solidFill>
          <a:ln/>
        </p:spPr>
      </p:sp>
      <p:sp>
        <p:nvSpPr>
          <p:cNvPr id="32" name="Shape 29"/>
          <p:cNvSpPr/>
          <p:nvPr/>
        </p:nvSpPr>
        <p:spPr>
          <a:xfrm>
            <a:off x="8640191" y="4892040"/>
            <a:ext cx="126111" cy="126111"/>
          </a:xfrm>
          <a:prstGeom prst="ellipse">
            <a:avLst/>
          </a:prstGeom>
          <a:solidFill>
            <a:srgbClr val="BFBFBF"/>
          </a:solidFill>
          <a:ln/>
        </p:spPr>
      </p:sp>
      <p:sp>
        <p:nvSpPr>
          <p:cNvPr id="33" name="Shape 30"/>
          <p:cNvSpPr/>
          <p:nvPr/>
        </p:nvSpPr>
        <p:spPr>
          <a:xfrm>
            <a:off x="8935720" y="4892040"/>
            <a:ext cx="126111" cy="126111"/>
          </a:xfrm>
          <a:prstGeom prst="ellipse">
            <a:avLst/>
          </a:prstGeom>
          <a:solidFill>
            <a:srgbClr val="BFBFBF"/>
          </a:solidFill>
          <a:ln/>
        </p:spPr>
      </p:sp>
      <p:sp>
        <p:nvSpPr>
          <p:cNvPr id="34" name="Shape 31"/>
          <p:cNvSpPr/>
          <p:nvPr/>
        </p:nvSpPr>
        <p:spPr>
          <a:xfrm>
            <a:off x="9526651" y="4892040"/>
            <a:ext cx="126111" cy="126111"/>
          </a:xfrm>
          <a:prstGeom prst="ellipse">
            <a:avLst/>
          </a:prstGeom>
          <a:solidFill>
            <a:srgbClr val="BFBFBF"/>
          </a:solidFill>
          <a:ln/>
        </p:spPr>
      </p:sp>
      <p:sp>
        <p:nvSpPr>
          <p:cNvPr id="35" name="Shape 32"/>
          <p:cNvSpPr/>
          <p:nvPr/>
        </p:nvSpPr>
        <p:spPr>
          <a:xfrm>
            <a:off x="9822180" y="4892040"/>
            <a:ext cx="126111" cy="126111"/>
          </a:xfrm>
          <a:prstGeom prst="ellipse">
            <a:avLst/>
          </a:prstGeom>
          <a:solidFill>
            <a:srgbClr val="BFBFBF"/>
          </a:solidFill>
          <a:ln/>
        </p:spPr>
      </p:sp>
      <p:sp>
        <p:nvSpPr>
          <p:cNvPr id="36" name="Shape 33"/>
          <p:cNvSpPr/>
          <p:nvPr/>
        </p:nvSpPr>
        <p:spPr>
          <a:xfrm>
            <a:off x="10117709" y="4892040"/>
            <a:ext cx="126111" cy="126111"/>
          </a:xfrm>
          <a:prstGeom prst="ellipse">
            <a:avLst/>
          </a:prstGeom>
          <a:solidFill>
            <a:srgbClr val="BFBFBF"/>
          </a:solidFill>
          <a:ln/>
        </p:spPr>
      </p:sp>
      <p:sp>
        <p:nvSpPr>
          <p:cNvPr id="37" name="Shape 34"/>
          <p:cNvSpPr/>
          <p:nvPr/>
        </p:nvSpPr>
        <p:spPr>
          <a:xfrm>
            <a:off x="10413111" y="4892040"/>
            <a:ext cx="126111" cy="126111"/>
          </a:xfrm>
          <a:prstGeom prst="ellipse">
            <a:avLst/>
          </a:prstGeom>
          <a:solidFill>
            <a:srgbClr val="BFBFBF"/>
          </a:solidFill>
          <a:ln/>
        </p:spPr>
      </p:sp>
      <p:sp>
        <p:nvSpPr>
          <p:cNvPr id="38" name="Shape 35"/>
          <p:cNvSpPr/>
          <p:nvPr/>
        </p:nvSpPr>
        <p:spPr>
          <a:xfrm>
            <a:off x="10708640" y="4892040"/>
            <a:ext cx="126111" cy="126111"/>
          </a:xfrm>
          <a:prstGeom prst="ellipse">
            <a:avLst/>
          </a:prstGeom>
          <a:solidFill>
            <a:srgbClr val="BFBFBF"/>
          </a:solidFill>
          <a:ln/>
        </p:spPr>
      </p:sp>
      <p:sp>
        <p:nvSpPr>
          <p:cNvPr id="39" name="Shape 36"/>
          <p:cNvSpPr/>
          <p:nvPr/>
        </p:nvSpPr>
        <p:spPr>
          <a:xfrm>
            <a:off x="11299571" y="4892040"/>
            <a:ext cx="126111" cy="126111"/>
          </a:xfrm>
          <a:prstGeom prst="ellipse">
            <a:avLst/>
          </a:prstGeom>
          <a:solidFill>
            <a:srgbClr val="BFBFBF"/>
          </a:solidFill>
          <a:ln/>
        </p:spPr>
      </p:sp>
      <p:sp>
        <p:nvSpPr>
          <p:cNvPr id="40" name="Shape 37"/>
          <p:cNvSpPr/>
          <p:nvPr/>
        </p:nvSpPr>
        <p:spPr>
          <a:xfrm>
            <a:off x="11595100" y="4892040"/>
            <a:ext cx="126111" cy="126111"/>
          </a:xfrm>
          <a:prstGeom prst="ellipse">
            <a:avLst/>
          </a:prstGeom>
          <a:solidFill>
            <a:srgbClr val="BFBFBF"/>
          </a:solidFill>
          <a:ln/>
        </p:spPr>
      </p:sp>
      <p:sp>
        <p:nvSpPr>
          <p:cNvPr id="41" name="Shape 38"/>
          <p:cNvSpPr/>
          <p:nvPr/>
        </p:nvSpPr>
        <p:spPr>
          <a:xfrm>
            <a:off x="11890629" y="4892040"/>
            <a:ext cx="126111" cy="126111"/>
          </a:xfrm>
          <a:prstGeom prst="ellipse">
            <a:avLst/>
          </a:prstGeom>
          <a:solidFill>
            <a:srgbClr val="BFBFBF"/>
          </a:solidFill>
          <a:ln/>
        </p:spPr>
      </p:sp>
      <p:sp>
        <p:nvSpPr>
          <p:cNvPr id="42" name="Shape 39"/>
          <p:cNvSpPr/>
          <p:nvPr/>
        </p:nvSpPr>
        <p:spPr>
          <a:xfrm>
            <a:off x="12186031" y="4892040"/>
            <a:ext cx="126111" cy="126111"/>
          </a:xfrm>
          <a:prstGeom prst="ellipse">
            <a:avLst/>
          </a:prstGeom>
          <a:solidFill>
            <a:srgbClr val="BFBFBF"/>
          </a:solidFill>
          <a:ln/>
        </p:spPr>
      </p:sp>
      <p:sp>
        <p:nvSpPr>
          <p:cNvPr id="43" name="Shape 40"/>
          <p:cNvSpPr/>
          <p:nvPr/>
        </p:nvSpPr>
        <p:spPr>
          <a:xfrm>
            <a:off x="12481560" y="4892040"/>
            <a:ext cx="126111" cy="126111"/>
          </a:xfrm>
          <a:prstGeom prst="ellipse">
            <a:avLst/>
          </a:prstGeom>
          <a:solidFill>
            <a:srgbClr val="BFBFBF"/>
          </a:solidFill>
          <a:ln/>
        </p:spPr>
      </p:sp>
      <p:sp>
        <p:nvSpPr>
          <p:cNvPr id="44" name="Shape 41"/>
          <p:cNvSpPr/>
          <p:nvPr/>
        </p:nvSpPr>
        <p:spPr>
          <a:xfrm>
            <a:off x="12777089" y="4892040"/>
            <a:ext cx="126111" cy="126111"/>
          </a:xfrm>
          <a:prstGeom prst="ellipse">
            <a:avLst/>
          </a:prstGeom>
          <a:solidFill>
            <a:srgbClr val="BFBFBF"/>
          </a:solidFill>
          <a:ln/>
        </p:spPr>
      </p:sp>
      <p:sp>
        <p:nvSpPr>
          <p:cNvPr id="45" name="Shape 42"/>
          <p:cNvSpPr/>
          <p:nvPr/>
        </p:nvSpPr>
        <p:spPr>
          <a:xfrm>
            <a:off x="11045571" y="4917821"/>
            <a:ext cx="126111" cy="126111"/>
          </a:xfrm>
          <a:prstGeom prst="ellipse">
            <a:avLst/>
          </a:prstGeom>
          <a:solidFill>
            <a:srgbClr val="BFBFBF"/>
          </a:solidFill>
          <a:ln/>
        </p:spPr>
      </p:sp>
      <p:sp>
        <p:nvSpPr>
          <p:cNvPr id="46" name="Shape 43"/>
          <p:cNvSpPr/>
          <p:nvPr/>
        </p:nvSpPr>
        <p:spPr>
          <a:xfrm>
            <a:off x="13368020" y="4892040"/>
            <a:ext cx="126111" cy="126111"/>
          </a:xfrm>
          <a:prstGeom prst="ellipse">
            <a:avLst/>
          </a:prstGeom>
          <a:solidFill>
            <a:srgbClr val="BFBFBF"/>
          </a:solidFill>
          <a:ln/>
        </p:spPr>
      </p:sp>
      <p:sp>
        <p:nvSpPr>
          <p:cNvPr id="47" name="Shape 44"/>
          <p:cNvSpPr/>
          <p:nvPr/>
        </p:nvSpPr>
        <p:spPr>
          <a:xfrm>
            <a:off x="13663549" y="4892040"/>
            <a:ext cx="126111" cy="126111"/>
          </a:xfrm>
          <a:prstGeom prst="ellipse">
            <a:avLst/>
          </a:prstGeom>
          <a:solidFill>
            <a:srgbClr val="BFBFBF"/>
          </a:solidFill>
          <a:ln/>
        </p:spPr>
      </p:sp>
      <p:sp>
        <p:nvSpPr>
          <p:cNvPr id="48" name="Shape 45"/>
          <p:cNvSpPr/>
          <p:nvPr/>
        </p:nvSpPr>
        <p:spPr>
          <a:xfrm>
            <a:off x="13958951" y="4892040"/>
            <a:ext cx="126111" cy="126111"/>
          </a:xfrm>
          <a:prstGeom prst="ellipse">
            <a:avLst/>
          </a:prstGeom>
          <a:solidFill>
            <a:srgbClr val="BFBFBF"/>
          </a:solidFill>
          <a:ln/>
        </p:spPr>
      </p:sp>
      <p:sp>
        <p:nvSpPr>
          <p:cNvPr id="49" name="Shape 46"/>
          <p:cNvSpPr/>
          <p:nvPr/>
        </p:nvSpPr>
        <p:spPr>
          <a:xfrm>
            <a:off x="14254480" y="4892040"/>
            <a:ext cx="126111" cy="126111"/>
          </a:xfrm>
          <a:prstGeom prst="ellipse">
            <a:avLst/>
          </a:prstGeom>
          <a:solidFill>
            <a:srgbClr val="BFBFBF"/>
          </a:solidFill>
          <a:ln/>
        </p:spPr>
      </p:sp>
      <p:sp>
        <p:nvSpPr>
          <p:cNvPr id="50" name="Shape 47"/>
          <p:cNvSpPr/>
          <p:nvPr/>
        </p:nvSpPr>
        <p:spPr>
          <a:xfrm>
            <a:off x="14550009" y="4892040"/>
            <a:ext cx="126111" cy="126111"/>
          </a:xfrm>
          <a:prstGeom prst="ellipse">
            <a:avLst/>
          </a:prstGeom>
          <a:solidFill>
            <a:srgbClr val="BFBFBF"/>
          </a:solidFill>
          <a:ln/>
        </p:spPr>
      </p:sp>
      <p:sp>
        <p:nvSpPr>
          <p:cNvPr id="51" name="Shape 48"/>
          <p:cNvSpPr/>
          <p:nvPr/>
        </p:nvSpPr>
        <p:spPr>
          <a:xfrm>
            <a:off x="14845411" y="4892040"/>
            <a:ext cx="126111" cy="126111"/>
          </a:xfrm>
          <a:prstGeom prst="ellipse">
            <a:avLst/>
          </a:prstGeom>
          <a:solidFill>
            <a:srgbClr val="BFBFBF"/>
          </a:solidFill>
          <a:ln/>
        </p:spPr>
      </p:sp>
      <p:sp>
        <p:nvSpPr>
          <p:cNvPr id="52" name="Shape 49"/>
          <p:cNvSpPr/>
          <p:nvPr/>
        </p:nvSpPr>
        <p:spPr>
          <a:xfrm>
            <a:off x="15140940" y="4892040"/>
            <a:ext cx="126111" cy="126111"/>
          </a:xfrm>
          <a:prstGeom prst="ellipse">
            <a:avLst/>
          </a:prstGeom>
          <a:solidFill>
            <a:srgbClr val="BFBFBF"/>
          </a:solidFill>
          <a:ln/>
        </p:spPr>
      </p:sp>
      <p:sp>
        <p:nvSpPr>
          <p:cNvPr id="53" name="Shape 50"/>
          <p:cNvSpPr/>
          <p:nvPr/>
        </p:nvSpPr>
        <p:spPr>
          <a:xfrm>
            <a:off x="15436469" y="4892040"/>
            <a:ext cx="126111" cy="126111"/>
          </a:xfrm>
          <a:prstGeom prst="ellipse">
            <a:avLst/>
          </a:prstGeom>
          <a:solidFill>
            <a:srgbClr val="BFBFBF"/>
          </a:solidFill>
          <a:ln/>
        </p:spPr>
      </p:sp>
      <p:sp>
        <p:nvSpPr>
          <p:cNvPr id="54" name="Shape 51"/>
          <p:cNvSpPr/>
          <p:nvPr/>
        </p:nvSpPr>
        <p:spPr>
          <a:xfrm>
            <a:off x="15731871" y="4892040"/>
            <a:ext cx="126111" cy="126111"/>
          </a:xfrm>
          <a:prstGeom prst="ellipse">
            <a:avLst/>
          </a:prstGeom>
          <a:solidFill>
            <a:srgbClr val="BFBFBF"/>
          </a:solidFill>
          <a:ln/>
        </p:spPr>
      </p:sp>
      <p:sp>
        <p:nvSpPr>
          <p:cNvPr id="55" name="Shape 52"/>
          <p:cNvSpPr/>
          <p:nvPr/>
        </p:nvSpPr>
        <p:spPr>
          <a:xfrm>
            <a:off x="16027400" y="4892040"/>
            <a:ext cx="126111" cy="126111"/>
          </a:xfrm>
          <a:prstGeom prst="ellipse">
            <a:avLst/>
          </a:prstGeom>
          <a:solidFill>
            <a:srgbClr val="BFBFBF"/>
          </a:solidFill>
          <a:ln/>
        </p:spPr>
      </p:sp>
      <p:sp>
        <p:nvSpPr>
          <p:cNvPr id="56" name="Shape 53"/>
          <p:cNvSpPr/>
          <p:nvPr/>
        </p:nvSpPr>
        <p:spPr>
          <a:xfrm flipV="1">
            <a:off x="674751" y="2460371"/>
            <a:ext cx="0" cy="2374011"/>
          </a:xfrm>
          <a:prstGeom prst="line">
            <a:avLst/>
          </a:prstGeom>
          <a:noFill/>
          <a:ln w="12700">
            <a:solidFill>
              <a:srgbClr val="7F7F7F"/>
            </a:solidFill>
            <a:prstDash val="solid"/>
            <a:headEnd type="none"/>
            <a:tailEnd type="none"/>
          </a:ln>
        </p:spPr>
      </p:sp>
      <p:sp>
        <p:nvSpPr>
          <p:cNvPr id="57" name="Shape 54"/>
          <p:cNvSpPr/>
          <p:nvPr/>
        </p:nvSpPr>
        <p:spPr>
          <a:xfrm>
            <a:off x="608711" y="3876929"/>
            <a:ext cx="126111" cy="126111"/>
          </a:xfrm>
          <a:prstGeom prst="ellipse">
            <a:avLst/>
          </a:prstGeom>
          <a:solidFill>
            <a:srgbClr val="A5A5A5"/>
          </a:solidFill>
          <a:ln/>
        </p:spPr>
      </p:sp>
      <p:sp>
        <p:nvSpPr>
          <p:cNvPr id="58" name="Text 55"/>
          <p:cNvSpPr/>
          <p:nvPr/>
        </p:nvSpPr>
        <p:spPr>
          <a:xfrm>
            <a:off x="665480" y="2632075"/>
            <a:ext cx="2483231" cy="1701800"/>
          </a:xfrm>
          <a:prstGeom prst="rect">
            <a:avLst/>
          </a:prstGeom>
          <a:noFill/>
          <a:ln/>
        </p:spPr>
        <p:txBody>
          <a:bodyPr wrap="square" lIns="0" tIns="0" rIns="0" bIns="0" rtlCol="0" anchor="t"/>
          <a:lstStyle/>
          <a:p>
            <a:pPr algn="l" marL="254000" indent="-254000">
              <a:lnSpc>
                <a:spcPct val="120000"/>
              </a:lnSpc>
              <a:spcBef>
                <a:spcPts val="10"/>
              </a:spcBef>
              <a:buSzPct val="100000"/>
              <a:buChar char="•"/>
            </a:pPr>
            <a:r>
              <a:rPr lang="en-US" sz="1600" dirty="0">
                <a:solidFill>
                  <a:srgbClr val="595959"/>
                </a:solidFill>
                <a:latin typeface="Arial" pitchFamily="34" charset="0"/>
                <a:ea typeface="Arial" pitchFamily="34" charset="-122"/>
                <a:cs typeface="Arial" pitchFamily="34" charset="-120"/>
              </a:rPr>
              <a:t>揭露OAuth在智能体授权场景不足以完全表达授权需要</a:t>
            </a:r>
            <a:endParaRPr lang="en-US" sz="1600" dirty="0"/>
          </a:p>
          <a:p>
            <a:pPr algn="l">
              <a:lnSpc>
                <a:spcPct val="120000"/>
              </a:lnSpc>
              <a:spcBef>
                <a:spcPts val="800"/>
              </a:spcBef>
            </a:pPr>
            <a:r>
              <a:rPr lang="en-US" sz="1600" b="1" dirty="0">
                <a:solidFill>
                  <a:srgbClr val="595959"/>
                </a:solidFill>
                <a:latin typeface="Arial" pitchFamily="34" charset="0"/>
                <a:ea typeface="Arial" pitchFamily="34" charset="-122"/>
                <a:cs typeface="Arial" pitchFamily="34" charset="-120"/>
              </a:rPr>
              <a:t>  </a:t>
            </a:r>
            <a:pPr algn="l">
              <a:lnSpc>
                <a:spcPct val="120000"/>
              </a:lnSpc>
              <a:spcBef>
                <a:spcPts val="800"/>
              </a:spcBef>
            </a:pPr>
            <a:r>
              <a:rPr lang="en-US" sz="1600" b="1" dirty="0">
                <a:solidFill>
                  <a:srgbClr val="595959"/>
                </a:solidFill>
                <a:latin typeface="Arial" pitchFamily="34" charset="0"/>
                <a:ea typeface="Arial" pitchFamily="34" charset="-122"/>
                <a:cs typeface="Arial" pitchFamily="34" charset="-120"/>
              </a:rPr>
              <a:t>OAuth is not        enough</a:t>
            </a:r>
            <a:endParaRPr lang="en-US" sz="1600" dirty="0"/>
          </a:p>
        </p:txBody>
      </p:sp>
      <p:sp>
        <p:nvSpPr>
          <p:cNvPr id="59" name="Shape 56"/>
          <p:cNvSpPr/>
          <p:nvPr/>
        </p:nvSpPr>
        <p:spPr>
          <a:xfrm flipH="1" flipV="1">
            <a:off x="2472309" y="5048631"/>
            <a:ext cx="25781" cy="2739009"/>
          </a:xfrm>
          <a:prstGeom prst="line">
            <a:avLst/>
          </a:prstGeom>
          <a:noFill/>
          <a:ln w="12700">
            <a:solidFill>
              <a:srgbClr val="7F7F7F"/>
            </a:solidFill>
            <a:prstDash val="solid"/>
            <a:headEnd type="none"/>
            <a:tailEnd type="none"/>
          </a:ln>
        </p:spPr>
      </p:sp>
      <p:sp>
        <p:nvSpPr>
          <p:cNvPr id="60" name="Shape 57"/>
          <p:cNvSpPr/>
          <p:nvPr/>
        </p:nvSpPr>
        <p:spPr>
          <a:xfrm>
            <a:off x="2370709" y="4846320"/>
            <a:ext cx="214249" cy="214249"/>
          </a:xfrm>
          <a:prstGeom prst="ellipse">
            <a:avLst/>
          </a:prstGeom>
          <a:solidFill>
            <a:srgbClr val="00B0F0"/>
          </a:solidFill>
          <a:ln/>
        </p:spPr>
      </p:sp>
      <p:sp>
        <p:nvSpPr>
          <p:cNvPr id="61" name="Text 58"/>
          <p:cNvSpPr/>
          <p:nvPr/>
        </p:nvSpPr>
        <p:spPr>
          <a:xfrm>
            <a:off x="2471420" y="5163820"/>
            <a:ext cx="4226560" cy="942340"/>
          </a:xfrm>
          <a:prstGeom prst="rect">
            <a:avLst/>
          </a:prstGeom>
          <a:noFill/>
          <a:ln/>
        </p:spPr>
        <p:txBody>
          <a:bodyPr wrap="square" lIns="0" tIns="0" rIns="0" bIns="0" rtlCol="0" anchor="t"/>
          <a:lstStyle/>
          <a:p>
            <a:pPr algn="l">
              <a:lnSpc>
                <a:spcPct val="120000"/>
              </a:lnSpc>
            </a:pPr>
            <a:r>
              <a:rPr lang="en-US" sz="2670" b="1" dirty="0">
                <a:solidFill>
                  <a:srgbClr val="595959"/>
                </a:solidFill>
                <a:latin typeface="MiSans" pitchFamily="34" charset="0"/>
                <a:ea typeface="MiSans" pitchFamily="34" charset="-122"/>
                <a:cs typeface="MiSans" pitchFamily="34" charset="-120"/>
              </a:rPr>
              <a:t>Security and Privacy of LLM-Based Agents</a:t>
            </a:r>
            <a:endParaRPr lang="en-US" sz="2670" dirty="0"/>
          </a:p>
        </p:txBody>
      </p:sp>
      <p:sp>
        <p:nvSpPr>
          <p:cNvPr id="62" name="Text 59"/>
          <p:cNvSpPr/>
          <p:nvPr/>
        </p:nvSpPr>
        <p:spPr>
          <a:xfrm>
            <a:off x="2538349" y="6261989"/>
            <a:ext cx="3804031" cy="1106551"/>
          </a:xfrm>
          <a:prstGeom prst="rect">
            <a:avLst/>
          </a:prstGeom>
          <a:noFill/>
          <a:ln/>
        </p:spPr>
        <p:txBody>
          <a:bodyPr wrap="square" lIns="0" tIns="0" rIns="0" bIns="0" rtlCol="0" anchor="t"/>
          <a:lstStyle/>
          <a:p>
            <a:pPr algn="l" marL="254000" indent="-254000">
              <a:lnSpc>
                <a:spcPct val="120000"/>
              </a:lnSpc>
              <a:spcBef>
                <a:spcPts val="10"/>
              </a:spcBef>
              <a:buSzPct val="100000"/>
              <a:buChar char="•"/>
            </a:pPr>
            <a:r>
              <a:rPr lang="en-US" sz="1600" dirty="0">
                <a:solidFill>
                  <a:srgbClr val="595959"/>
                </a:solidFill>
                <a:latin typeface="MiSans" pitchFamily="34" charset="0"/>
                <a:ea typeface="MiSans" pitchFamily="34" charset="-122"/>
                <a:cs typeface="MiSans" pitchFamily="34" charset="-120"/>
              </a:rPr>
              <a:t>将过度授权列Agent核心安全风险之一，指出当前Agent框架普遍将工具API密钥以宽泛权限配置给Agent，形成永久暴露面</a:t>
            </a:r>
            <a:endParaRPr lang="en-US" sz="1600" dirty="0"/>
          </a:p>
        </p:txBody>
      </p:sp>
      <p:sp>
        <p:nvSpPr>
          <p:cNvPr id="63" name="Shape 60"/>
          <p:cNvSpPr/>
          <p:nvPr/>
        </p:nvSpPr>
        <p:spPr>
          <a:xfrm>
            <a:off x="2412111" y="5785231"/>
            <a:ext cx="126111" cy="126111"/>
          </a:xfrm>
          <a:prstGeom prst="ellipse">
            <a:avLst/>
          </a:prstGeom>
          <a:solidFill>
            <a:srgbClr val="A5A5A5"/>
          </a:solidFill>
          <a:ln/>
        </p:spPr>
      </p:sp>
      <p:sp>
        <p:nvSpPr>
          <p:cNvPr id="64" name="Text 61"/>
          <p:cNvSpPr/>
          <p:nvPr/>
        </p:nvSpPr>
        <p:spPr>
          <a:xfrm>
            <a:off x="6941820" y="3462655"/>
            <a:ext cx="3302000" cy="491109"/>
          </a:xfrm>
          <a:prstGeom prst="rect">
            <a:avLst/>
          </a:prstGeom>
          <a:noFill/>
          <a:ln/>
        </p:spPr>
        <p:txBody>
          <a:bodyPr wrap="square" lIns="0" tIns="0" rIns="0" bIns="0" rtlCol="0" anchor="t"/>
          <a:lstStyle/>
          <a:p>
            <a:pPr algn="l">
              <a:lnSpc>
                <a:spcPct val="120000"/>
              </a:lnSpc>
            </a:pPr>
            <a:r>
              <a:rPr lang="en-US" sz="2400" b="1" dirty="0">
                <a:solidFill>
                  <a:srgbClr val="595959"/>
                </a:solidFill>
                <a:latin typeface="MiSans" pitchFamily="34" charset="0"/>
                <a:ea typeface="MiSans" pitchFamily="34" charset="-122"/>
                <a:cs typeface="MiSans" pitchFamily="34" charset="-120"/>
              </a:rPr>
              <a:t>H</a:t>
            </a:r>
            <a:endParaRPr lang="en-US" sz="2400" dirty="0"/>
          </a:p>
        </p:txBody>
      </p:sp>
      <p:sp>
        <p:nvSpPr>
          <p:cNvPr id="65" name="Text 62"/>
          <p:cNvSpPr/>
          <p:nvPr/>
        </p:nvSpPr>
        <p:spPr>
          <a:xfrm>
            <a:off x="6885559" y="2573528"/>
            <a:ext cx="2918460" cy="416560"/>
          </a:xfrm>
          <a:prstGeom prst="rect">
            <a:avLst/>
          </a:prstGeom>
          <a:noFill/>
          <a:ln/>
        </p:spPr>
        <p:txBody>
          <a:bodyPr wrap="square" lIns="0" tIns="0" rIns="0" bIns="0" rtlCol="0" anchor="t"/>
          <a:lstStyle/>
          <a:p>
            <a:pPr algn="l" marL="254000" indent="-254000">
              <a:lnSpc>
                <a:spcPct val="120000"/>
              </a:lnSpc>
              <a:spcBef>
                <a:spcPts val="10"/>
              </a:spcBef>
              <a:buSzPct val="100000"/>
              <a:buChar char="•"/>
            </a:pPr>
            <a:r>
              <a:rPr lang="en-US" sz="1600" dirty="0">
                <a:solidFill>
                  <a:srgbClr val="595959"/>
                </a:solidFill>
                <a:latin typeface="Arial" pitchFamily="34" charset="0"/>
                <a:ea typeface="Arial" pitchFamily="34" charset="-122"/>
                <a:cs typeface="Arial" pitchFamily="34" charset="-120"/>
              </a:rPr>
              <a:t>抗</a:t>
            </a:r>
            <a:endParaRPr lang="en-US" sz="1600" dirty="0"/>
          </a:p>
        </p:txBody>
      </p:sp>
      <p:sp>
        <p:nvSpPr>
          <p:cNvPr id="66" name="Text 63"/>
          <p:cNvSpPr/>
          <p:nvPr/>
        </p:nvSpPr>
        <p:spPr>
          <a:xfrm>
            <a:off x="14069314" y="5205476"/>
            <a:ext cx="1612011" cy="491109"/>
          </a:xfrm>
          <a:prstGeom prst="rect">
            <a:avLst/>
          </a:prstGeom>
          <a:noFill/>
          <a:ln/>
        </p:spPr>
        <p:txBody>
          <a:bodyPr wrap="square" lIns="0" tIns="0" rIns="0" bIns="0" rtlCol="0" anchor="t"/>
          <a:lstStyle/>
          <a:p>
            <a:pPr algn="l">
              <a:lnSpc>
                <a:spcPct val="120000"/>
              </a:lnSpc>
            </a:pPr>
            <a:r>
              <a:rPr lang="en-US" sz="2400" b="1" dirty="0">
                <a:solidFill>
                  <a:srgbClr val="595959"/>
                </a:solidFill>
                <a:latin typeface="MiSans" pitchFamily="34" charset="0"/>
                <a:ea typeface="MiSans" pitchFamily="34" charset="-122"/>
                <a:cs typeface="MiSans" pitchFamily="34" charset="-120"/>
              </a:rPr>
              <a:t>C</a:t>
            </a:r>
            <a:endParaRPr lang="en-US" sz="2400" dirty="0"/>
          </a:p>
        </p:txBody>
      </p:sp>
      <p:sp>
        <p:nvSpPr>
          <p:cNvPr id="67" name="Text 64"/>
          <p:cNvSpPr/>
          <p:nvPr/>
        </p:nvSpPr>
        <p:spPr>
          <a:xfrm>
            <a:off x="14042009" y="6037707"/>
            <a:ext cx="2213991" cy="416560"/>
          </a:xfrm>
          <a:prstGeom prst="rect">
            <a:avLst/>
          </a:prstGeom>
          <a:noFill/>
          <a:ln/>
        </p:spPr>
        <p:txBody>
          <a:bodyPr wrap="square" lIns="0" tIns="0" rIns="0" bIns="0" rtlCol="0" anchor="t"/>
          <a:lstStyle/>
          <a:p>
            <a:pPr algn="l" marL="254000" indent="-254000">
              <a:lnSpc>
                <a:spcPct val="120000"/>
              </a:lnSpc>
              <a:spcBef>
                <a:spcPts val="10"/>
              </a:spcBef>
              <a:buSzPct val="100000"/>
              <a:buChar char="•"/>
            </a:pPr>
            <a:r>
              <a:rPr lang="en-US" sz="1600" dirty="0">
                <a:solidFill>
                  <a:srgbClr val="595959"/>
                </a:solidFill>
                <a:latin typeface="Arial" pitchFamily="34" charset="0"/>
                <a:ea typeface="Arial" pitchFamily="34" charset="-122"/>
                <a:cs typeface="Arial" pitchFamily="34" charset="-120"/>
              </a:rPr>
              <a:t>抗</a:t>
            </a:r>
            <a:endParaRPr lang="en-US" sz="1600" dirty="0"/>
          </a:p>
        </p:txBody>
      </p:sp>
      <p:sp>
        <p:nvSpPr>
          <p:cNvPr id="68" name="Shape 65"/>
          <p:cNvSpPr/>
          <p:nvPr/>
        </p:nvSpPr>
        <p:spPr>
          <a:xfrm>
            <a:off x="10957560" y="4860290"/>
            <a:ext cx="214249" cy="214249"/>
          </a:xfrm>
          <a:prstGeom prst="ellipse">
            <a:avLst/>
          </a:prstGeom>
          <a:solidFill>
            <a:srgbClr val="00B0F0"/>
          </a:solidFill>
          <a:ln/>
        </p:spPr>
      </p:sp>
      <p:sp>
        <p:nvSpPr>
          <p:cNvPr id="69" name="Text 66"/>
          <p:cNvSpPr/>
          <p:nvPr/>
        </p:nvSpPr>
        <p:spPr>
          <a:xfrm>
            <a:off x="11193018" y="3210941"/>
            <a:ext cx="2774442" cy="491109"/>
          </a:xfrm>
          <a:prstGeom prst="rect">
            <a:avLst/>
          </a:prstGeom>
          <a:noFill/>
          <a:ln/>
        </p:spPr>
        <p:txBody>
          <a:bodyPr wrap="square" lIns="0" tIns="0" rIns="0" bIns="0" rtlCol="0" anchor="t"/>
          <a:lstStyle/>
          <a:p>
            <a:pPr algn="l">
              <a:lnSpc>
                <a:spcPct val="120000"/>
              </a:lnSpc>
            </a:pPr>
            <a:r>
              <a:rPr lang="en-US" sz="2400" b="1" dirty="0">
                <a:solidFill>
                  <a:srgbClr val="595959"/>
                </a:solidFill>
                <a:latin typeface="MiSans" pitchFamily="34" charset="0"/>
                <a:ea typeface="MiSans" pitchFamily="34" charset="-122"/>
                <a:cs typeface="MiSans" pitchFamily="34" charset="-120"/>
              </a:rPr>
              <a:t>B</a:t>
            </a:r>
            <a:endParaRPr lang="en-US" sz="2400" dirty="0"/>
          </a:p>
        </p:txBody>
      </p:sp>
      <p:sp>
        <p:nvSpPr>
          <p:cNvPr id="70" name="Text 67"/>
          <p:cNvSpPr/>
          <p:nvPr/>
        </p:nvSpPr>
        <p:spPr>
          <a:xfrm>
            <a:off x="11045571" y="2632710"/>
            <a:ext cx="2476500" cy="416560"/>
          </a:xfrm>
          <a:prstGeom prst="rect">
            <a:avLst/>
          </a:prstGeom>
          <a:noFill/>
          <a:ln/>
        </p:spPr>
        <p:txBody>
          <a:bodyPr wrap="square" lIns="0" tIns="0" rIns="0" bIns="0" rtlCol="0" anchor="t"/>
          <a:lstStyle/>
          <a:p>
            <a:pPr algn="l" marL="254000" indent="-254000">
              <a:lnSpc>
                <a:spcPct val="120000"/>
              </a:lnSpc>
              <a:spcBef>
                <a:spcPts val="10"/>
              </a:spcBef>
              <a:buSzPct val="100000"/>
              <a:buChar char="•"/>
            </a:pPr>
            <a:r>
              <a:rPr lang="en-US" sz="1600" dirty="0">
                <a:solidFill>
                  <a:srgbClr val="595959"/>
                </a:solidFill>
                <a:latin typeface="Arial" pitchFamily="34" charset="0"/>
                <a:ea typeface="Arial" pitchFamily="34" charset="-122"/>
                <a:cs typeface="Arial" pitchFamily="34" charset="-120"/>
              </a:rPr>
              <a:t>P</a:t>
            </a:r>
            <a:endParaRPr lang="en-US" sz="1600" dirty="0"/>
          </a:p>
        </p:txBody>
      </p:sp>
      <p:sp>
        <p:nvSpPr>
          <p:cNvPr id="71" name="Shape 68"/>
          <p:cNvSpPr/>
          <p:nvPr/>
        </p:nvSpPr>
        <p:spPr>
          <a:xfrm>
            <a:off x="10994771" y="3700399"/>
            <a:ext cx="126111" cy="126111"/>
          </a:xfrm>
          <a:prstGeom prst="ellipse">
            <a:avLst/>
          </a:prstGeom>
          <a:solidFill>
            <a:srgbClr val="A5A5A5"/>
          </a:solidFill>
          <a:ln/>
        </p:spPr>
      </p:sp>
      <p:sp>
        <p:nvSpPr>
          <p:cNvPr id="72" name="Shape 69"/>
          <p:cNvSpPr/>
          <p:nvPr/>
        </p:nvSpPr>
        <p:spPr>
          <a:xfrm>
            <a:off x="13924280" y="4834509"/>
            <a:ext cx="214249" cy="214249"/>
          </a:xfrm>
          <a:prstGeom prst="ellipse">
            <a:avLst/>
          </a:prstGeom>
          <a:solidFill>
            <a:srgbClr val="00B0F0"/>
          </a:solidFill>
          <a:ln/>
        </p:spPr>
      </p:sp>
      <p:sp>
        <p:nvSpPr>
          <p:cNvPr id="73" name="Shape 70"/>
          <p:cNvSpPr/>
          <p:nvPr/>
        </p:nvSpPr>
        <p:spPr>
          <a:xfrm>
            <a:off x="13986891" y="5785231"/>
            <a:ext cx="126111" cy="126111"/>
          </a:xfrm>
          <a:prstGeom prst="ellipse">
            <a:avLst/>
          </a:prstGeom>
          <a:solidFill>
            <a:srgbClr val="A5A5A5"/>
          </a:solidFill>
          <a:ln/>
        </p:spPr>
      </p:sp>
      <p:sp>
        <p:nvSpPr>
          <p:cNvPr id="74" name="Shape 71"/>
          <p:cNvSpPr/>
          <p:nvPr/>
        </p:nvSpPr>
        <p:spPr>
          <a:xfrm>
            <a:off x="590931" y="4892040"/>
            <a:ext cx="126111" cy="126111"/>
          </a:xfrm>
          <a:prstGeom prst="ellipse">
            <a:avLst/>
          </a:prstGeom>
          <a:solidFill>
            <a:srgbClr val="BFBFBF"/>
          </a:solidFill>
          <a:ln/>
        </p:spPr>
      </p:sp>
      <p:sp>
        <p:nvSpPr>
          <p:cNvPr id="75" name="Shape 72"/>
          <p:cNvSpPr/>
          <p:nvPr/>
        </p:nvSpPr>
        <p:spPr>
          <a:xfrm>
            <a:off x="567309" y="4834509"/>
            <a:ext cx="214249" cy="214249"/>
          </a:xfrm>
          <a:prstGeom prst="ellipse">
            <a:avLst/>
          </a:prstGeom>
          <a:solidFill>
            <a:srgbClr val="00B0F0"/>
          </a:solidFill>
          <a:ln/>
        </p:spPr>
      </p:sp>
      <p:sp>
        <p:nvSpPr>
          <p:cNvPr id="76" name="Shape 73"/>
          <p:cNvSpPr/>
          <p:nvPr/>
        </p:nvSpPr>
        <p:spPr>
          <a:xfrm>
            <a:off x="4511040" y="4955540"/>
            <a:ext cx="651891" cy="0"/>
          </a:xfrm>
          <a:prstGeom prst="line">
            <a:avLst/>
          </a:prstGeom>
          <a:noFill/>
          <a:ln w="41275">
            <a:solidFill>
              <a:srgbClr val="A5A5A5"/>
            </a:solidFill>
            <a:prstDash val="sysDot"/>
            <a:headEnd type="none"/>
            <a:tailEnd type="none"/>
          </a:ln>
        </p:spPr>
      </p:sp>
      <p:sp>
        <p:nvSpPr>
          <p:cNvPr id="77" name="Text 74"/>
          <p:cNvSpPr/>
          <p:nvPr/>
        </p:nvSpPr>
        <p:spPr>
          <a:xfrm>
            <a:off x="544449" y="1266571"/>
            <a:ext cx="10164191" cy="613791"/>
          </a:xfrm>
          <a:prstGeom prst="rect">
            <a:avLst/>
          </a:prstGeom>
          <a:noFill/>
          <a:ln/>
        </p:spPr>
        <p:txBody>
          <a:bodyPr wrap="square" lIns="0" tIns="0" rIns="0" bIns="0" rtlCol="0" anchor="t"/>
          <a:lstStyle/>
          <a:p>
            <a:pPr algn="l" marL="508000" indent="-508000">
              <a:lnSpc>
                <a:spcPct val="120000"/>
              </a:lnSpc>
              <a:spcBef>
                <a:spcPts val="10"/>
              </a:spcBef>
              <a:buSzPct val="100000"/>
              <a:buFont typeface="+mj-lt"/>
              <a:buAutoNum type="arabicPeriod" startAt="1"/>
            </a:pPr>
            <a:r>
              <a:rPr lang="en-US" sz="3200" b="1" dirty="0">
                <a:solidFill>
                  <a:srgbClr val="262626"/>
                </a:solidFill>
                <a:latin typeface="MiSans" pitchFamily="34" charset="0"/>
                <a:ea typeface="MiSans" pitchFamily="34" charset="-122"/>
                <a:cs typeface="MiSans" pitchFamily="34" charset="-120"/>
              </a:rPr>
              <a:t>智能体过度授权</a:t>
            </a:r>
            <a:endParaRPr lang="en-US" sz="3200" dirty="0"/>
          </a:p>
        </p:txBody>
      </p:sp>
      <p:sp>
        <p:nvSpPr>
          <p:cNvPr id="78" name="Shape 75"/>
          <p:cNvSpPr/>
          <p:nvPr/>
        </p:nvSpPr>
        <p:spPr>
          <a:xfrm>
            <a:off x="5162169" y="-889"/>
            <a:ext cx="2590800" cy="962660"/>
          </a:xfrm>
          <a:prstGeom prst="rect">
            <a:avLst/>
          </a:prstGeom>
          <a:solidFill>
            <a:srgbClr val="F2F2F2"/>
          </a:solidFill>
          <a:ln w="12700">
            <a:solidFill>
              <a:srgbClr val="F2F2F2"/>
            </a:solidFill>
            <a:prstDash val="solid"/>
          </a:ln>
        </p:spPr>
      </p:sp>
      <p:sp>
        <p:nvSpPr>
          <p:cNvPr id="79" name="Shape 76"/>
          <p:cNvSpPr/>
          <p:nvPr/>
        </p:nvSpPr>
        <p:spPr>
          <a:xfrm>
            <a:off x="5162169" y="-889"/>
            <a:ext cx="2590800" cy="962660"/>
          </a:xfrm>
          <a:prstGeom prst="rect">
            <a:avLst/>
          </a:prstGeom>
          <a:solidFill>
            <a:srgbClr val="04579A"/>
          </a:solidFill>
          <a:ln w="12700">
            <a:solidFill>
              <a:srgbClr val="04579A"/>
            </a:solidFill>
            <a:prstDash val="solid"/>
          </a:ln>
        </p:spPr>
      </p:sp>
      <p:sp>
        <p:nvSpPr>
          <p:cNvPr id="80" name="Shape 77"/>
          <p:cNvSpPr/>
          <p:nvPr/>
        </p:nvSpPr>
        <p:spPr>
          <a:xfrm>
            <a:off x="7816469" y="-889"/>
            <a:ext cx="4114800" cy="962660"/>
          </a:xfrm>
          <a:prstGeom prst="rect">
            <a:avLst/>
          </a:prstGeom>
          <a:solidFill>
            <a:srgbClr val="F2F2F2"/>
          </a:solidFill>
          <a:ln/>
        </p:spPr>
      </p:sp>
      <p:sp>
        <p:nvSpPr>
          <p:cNvPr id="81" name="Shape 78"/>
          <p:cNvSpPr/>
          <p:nvPr/>
        </p:nvSpPr>
        <p:spPr>
          <a:xfrm>
            <a:off x="11971020" y="0"/>
            <a:ext cx="4284980" cy="961771"/>
          </a:xfrm>
          <a:prstGeom prst="rect">
            <a:avLst/>
          </a:prstGeom>
          <a:solidFill>
            <a:srgbClr val="F2F2F2"/>
          </a:solidFill>
          <a:ln/>
        </p:spPr>
      </p:sp>
      <p:sp>
        <p:nvSpPr>
          <p:cNvPr id="82" name="Shape 79"/>
          <p:cNvSpPr/>
          <p:nvPr/>
        </p:nvSpPr>
        <p:spPr>
          <a:xfrm>
            <a:off x="2219960" y="-889"/>
            <a:ext cx="2895600" cy="962660"/>
          </a:xfrm>
          <a:prstGeom prst="rect">
            <a:avLst/>
          </a:prstGeom>
          <a:solidFill>
            <a:srgbClr val="F2F2F2"/>
          </a:solidFill>
          <a:ln w="12700">
            <a:solidFill>
              <a:srgbClr val="F2F2F2"/>
            </a:solidFill>
            <a:prstDash val="solid"/>
          </a:ln>
        </p:spPr>
      </p:sp>
      <p:sp>
        <p:nvSpPr>
          <p:cNvPr id="83" name="Text 80"/>
          <p:cNvSpPr/>
          <p:nvPr/>
        </p:nvSpPr>
        <p:spPr>
          <a:xfrm>
            <a:off x="2283460" y="203200"/>
            <a:ext cx="27686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选题背景及意义</a:t>
            </a:r>
            <a:endParaRPr lang="en-US" sz="2000" dirty="0"/>
          </a:p>
        </p:txBody>
      </p:sp>
      <p:sp>
        <p:nvSpPr>
          <p:cNvPr id="84" name="Text 81"/>
          <p:cNvSpPr/>
          <p:nvPr/>
        </p:nvSpPr>
        <p:spPr>
          <a:xfrm>
            <a:off x="5225669" y="203200"/>
            <a:ext cx="2463800" cy="508000"/>
          </a:xfrm>
          <a:prstGeom prst="rect">
            <a:avLst/>
          </a:prstGeom>
          <a:noFill/>
          <a:ln/>
        </p:spPr>
        <p:txBody>
          <a:bodyPr wrap="none" lIns="0" tIns="0" rIns="0" bIns="0" rtlCol="0" anchor="ctr"/>
          <a:lstStyle/>
          <a:p>
            <a:pPr algn="ctr">
              <a:lnSpc>
                <a:spcPct val="120000"/>
              </a:lnSpc>
            </a:pPr>
            <a:r>
              <a:rPr lang="en-US" sz="2000" dirty="0">
                <a:solidFill>
                  <a:srgbClr val="FFFFFF"/>
                </a:solidFill>
                <a:latin typeface="Arial" pitchFamily="34" charset="0"/>
                <a:ea typeface="Arial" pitchFamily="34" charset="-122"/>
                <a:cs typeface="Arial" pitchFamily="34" charset="-120"/>
              </a:rPr>
              <a:t>国内外研究现状</a:t>
            </a:r>
            <a:endParaRPr lang="en-US" sz="2000" dirty="0"/>
          </a:p>
        </p:txBody>
      </p:sp>
      <p:sp>
        <p:nvSpPr>
          <p:cNvPr id="85" name="Text 82"/>
          <p:cNvSpPr/>
          <p:nvPr/>
        </p:nvSpPr>
        <p:spPr>
          <a:xfrm>
            <a:off x="7879969" y="203200"/>
            <a:ext cx="39878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主要研究内容及预期目标</a:t>
            </a:r>
            <a:endParaRPr lang="en-US" sz="2000" dirty="0"/>
          </a:p>
        </p:txBody>
      </p:sp>
      <p:sp>
        <p:nvSpPr>
          <p:cNvPr id="86" name="Text 83"/>
          <p:cNvSpPr/>
          <p:nvPr/>
        </p:nvSpPr>
        <p:spPr>
          <a:xfrm>
            <a:off x="12034520" y="203200"/>
            <a:ext cx="415798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工作计划与进度安排</a:t>
            </a:r>
            <a:endParaRPr lang="en-US" sz="2000" dirty="0"/>
          </a:p>
        </p:txBody>
      </p:sp>
      <p:pic>
        <p:nvPicPr>
          <p:cNvPr id="87" name="Image 0" descr="https://kimi-img.moonshot.cn/pub/slides/okc/flfuysioo4gzm/mnt/agents/output/yuan_pptd/images/image_2.jpg">    </p:cNvPr>
          <p:cNvPicPr>
            <a:picLocks noChangeAspect="1"/>
          </p:cNvPicPr>
          <p:nvPr/>
        </p:nvPicPr>
        <p:blipFill>
          <a:blip r:embed="rId1"/>
          <a:srcRect l="5060" r="29000" t="0" b="0"/>
          <a:stretch/>
        </p:blipFill>
        <p:spPr>
          <a:xfrm>
            <a:off x="544449" y="140589"/>
            <a:ext cx="1273429" cy="745871"/>
          </a:xfrm>
          <a:prstGeom prst="rect">
            <a:avLst/>
          </a:prstGeom>
        </p:spPr>
      </p:pic>
      <p:sp>
        <p:nvSpPr>
          <p:cNvPr id="88" name="Shape 84"/>
          <p:cNvSpPr/>
          <p:nvPr/>
        </p:nvSpPr>
        <p:spPr>
          <a:xfrm rot="10800000">
            <a:off x="6121400" y="961771"/>
            <a:ext cx="389509" cy="304800"/>
          </a:xfrm>
          <a:prstGeom prst="triangle">
            <a:avLst>
              <a:gd name="adj" fmla="val 50000"/>
            </a:avLst>
          </a:prstGeom>
          <a:solidFill>
            <a:srgbClr val="04579A"/>
          </a:solidFill>
          <a:ln/>
        </p:spPr>
      </p:sp>
      <p:sp>
        <p:nvSpPr>
          <p:cNvPr id="89" name="Shape 85"/>
          <p:cNvSpPr/>
          <p:nvPr/>
        </p:nvSpPr>
        <p:spPr>
          <a:xfrm>
            <a:off x="6835140" y="4895469"/>
            <a:ext cx="126111" cy="126111"/>
          </a:xfrm>
          <a:prstGeom prst="ellipse">
            <a:avLst/>
          </a:prstGeom>
          <a:solidFill>
            <a:srgbClr val="BFBFBF"/>
          </a:solidFill>
          <a:ln/>
        </p:spPr>
      </p:sp>
      <p:sp>
        <p:nvSpPr>
          <p:cNvPr id="90" name="Shape 86"/>
          <p:cNvSpPr/>
          <p:nvPr/>
        </p:nvSpPr>
        <p:spPr>
          <a:xfrm flipV="1">
            <a:off x="6910451" y="2669540"/>
            <a:ext cx="0" cy="2168271"/>
          </a:xfrm>
          <a:prstGeom prst="line">
            <a:avLst/>
          </a:prstGeom>
          <a:noFill/>
          <a:ln w="12700">
            <a:solidFill>
              <a:srgbClr val="7F7F7F"/>
            </a:solidFill>
            <a:prstDash val="solid"/>
            <a:headEnd type="none"/>
            <a:tailEnd type="none"/>
          </a:ln>
        </p:spPr>
      </p:sp>
      <p:sp>
        <p:nvSpPr>
          <p:cNvPr id="91" name="Shape 87"/>
          <p:cNvSpPr/>
          <p:nvPr/>
        </p:nvSpPr>
        <p:spPr>
          <a:xfrm>
            <a:off x="6850380" y="3674491"/>
            <a:ext cx="126111" cy="126111"/>
          </a:xfrm>
          <a:prstGeom prst="ellipse">
            <a:avLst/>
          </a:prstGeom>
          <a:solidFill>
            <a:srgbClr val="A5A5A5"/>
          </a:solidFill>
          <a:ln/>
        </p:spPr>
      </p:sp>
      <p:sp>
        <p:nvSpPr>
          <p:cNvPr id="92" name="Shape 88"/>
          <p:cNvSpPr/>
          <p:nvPr/>
        </p:nvSpPr>
        <p:spPr>
          <a:xfrm>
            <a:off x="6803009" y="4837811"/>
            <a:ext cx="214249" cy="214249"/>
          </a:xfrm>
          <a:prstGeom prst="ellipse">
            <a:avLst/>
          </a:prstGeom>
          <a:solidFill>
            <a:srgbClr val="00B0F0"/>
          </a:solidFill>
          <a:ln/>
        </p:spPr>
      </p:sp>
      <p:sp>
        <p:nvSpPr>
          <p:cNvPr id="93" name="Shape 89"/>
          <p:cNvSpPr/>
          <p:nvPr/>
        </p:nvSpPr>
        <p:spPr>
          <a:xfrm>
            <a:off x="8051038" y="4892802"/>
            <a:ext cx="126111" cy="126111"/>
          </a:xfrm>
          <a:prstGeom prst="ellipse">
            <a:avLst/>
          </a:prstGeom>
          <a:solidFill>
            <a:srgbClr val="BFBFBF"/>
          </a:solidFill>
          <a:ln/>
        </p:spPr>
      </p:sp>
      <p:sp>
        <p:nvSpPr>
          <p:cNvPr id="94" name="Shape 90"/>
          <p:cNvSpPr/>
          <p:nvPr/>
        </p:nvSpPr>
        <p:spPr>
          <a:xfrm>
            <a:off x="9202801" y="4903851"/>
            <a:ext cx="126111" cy="126111"/>
          </a:xfrm>
          <a:prstGeom prst="ellipse">
            <a:avLst/>
          </a:prstGeom>
          <a:solidFill>
            <a:srgbClr val="BFBFBF"/>
          </a:solidFill>
          <a:ln/>
        </p:spPr>
      </p:sp>
      <p:sp>
        <p:nvSpPr>
          <p:cNvPr id="95" name="Shape 91"/>
          <p:cNvSpPr/>
          <p:nvPr/>
        </p:nvSpPr>
        <p:spPr>
          <a:xfrm>
            <a:off x="9179179" y="4846320"/>
            <a:ext cx="214249" cy="214249"/>
          </a:xfrm>
          <a:prstGeom prst="ellipse">
            <a:avLst/>
          </a:prstGeom>
          <a:solidFill>
            <a:srgbClr val="00B0F0"/>
          </a:solidFill>
          <a:ln/>
        </p:spPr>
      </p:sp>
      <p:sp>
        <p:nvSpPr>
          <p:cNvPr id="96" name="Shape 92"/>
          <p:cNvSpPr/>
          <p:nvPr/>
        </p:nvSpPr>
        <p:spPr>
          <a:xfrm>
            <a:off x="9224391" y="5696839"/>
            <a:ext cx="126111" cy="126111"/>
          </a:xfrm>
          <a:prstGeom prst="ellipse">
            <a:avLst/>
          </a:prstGeom>
          <a:solidFill>
            <a:srgbClr val="A5A5A5"/>
          </a:solidFill>
          <a:ln/>
        </p:spPr>
      </p:sp>
      <p:sp>
        <p:nvSpPr>
          <p:cNvPr id="97" name="Shape 93"/>
          <p:cNvSpPr/>
          <p:nvPr/>
        </p:nvSpPr>
        <p:spPr>
          <a:xfrm>
            <a:off x="13067411" y="4897501"/>
            <a:ext cx="126111" cy="126111"/>
          </a:xfrm>
          <a:prstGeom prst="ellipse">
            <a:avLst/>
          </a:prstGeom>
          <a:solidFill>
            <a:srgbClr val="BFBFBF"/>
          </a:solidFill>
          <a:ln/>
        </p:spPr>
      </p:sp>
      <p:sp>
        <p:nvSpPr>
          <p:cNvPr id="98" name="Text 94"/>
          <p:cNvSpPr/>
          <p:nvPr/>
        </p:nvSpPr>
        <p:spPr>
          <a:xfrm>
            <a:off x="9327769" y="5399786"/>
            <a:ext cx="1780921" cy="491109"/>
          </a:xfrm>
          <a:prstGeom prst="rect">
            <a:avLst/>
          </a:prstGeom>
          <a:noFill/>
          <a:ln/>
        </p:spPr>
        <p:txBody>
          <a:bodyPr wrap="square" lIns="0" tIns="0" rIns="0" bIns="0" rtlCol="0" anchor="t"/>
          <a:lstStyle/>
          <a:p>
            <a:pPr algn="l">
              <a:lnSpc>
                <a:spcPct val="120000"/>
              </a:lnSpc>
            </a:pPr>
            <a:r>
              <a:rPr lang="en-US" sz="2400" b="1" dirty="0">
                <a:solidFill>
                  <a:srgbClr val="595959"/>
                </a:solidFill>
                <a:latin typeface="MiSans" pitchFamily="34" charset="0"/>
                <a:ea typeface="MiSans" pitchFamily="34" charset="-122"/>
                <a:cs typeface="MiSans" pitchFamily="34" charset="-120"/>
              </a:rPr>
              <a:t>U</a:t>
            </a:r>
            <a:endParaRPr lang="en-US" sz="2400" dirty="0"/>
          </a:p>
        </p:txBody>
      </p:sp>
      <p:sp>
        <p:nvSpPr>
          <p:cNvPr id="99" name="Text 95"/>
          <p:cNvSpPr/>
          <p:nvPr/>
        </p:nvSpPr>
        <p:spPr>
          <a:xfrm>
            <a:off x="9276461" y="6201283"/>
            <a:ext cx="1934591" cy="367411"/>
          </a:xfrm>
          <a:prstGeom prst="rect">
            <a:avLst/>
          </a:prstGeom>
          <a:noFill/>
          <a:ln/>
        </p:spPr>
        <p:txBody>
          <a:bodyPr wrap="square" lIns="0" tIns="0" rIns="0" bIns="0" rtlCol="0" anchor="t"/>
          <a:lstStyle/>
          <a:p>
            <a:pPr algn="l" marL="254000" indent="-254000">
              <a:lnSpc>
                <a:spcPct val="120000"/>
              </a:lnSpc>
              <a:spcBef>
                <a:spcPts val="10"/>
              </a:spcBef>
              <a:buSzPct val="100000"/>
              <a:buChar char="•"/>
            </a:pPr>
            <a:r>
              <a:rPr lang="en-US" sz="1600" dirty="0">
                <a:solidFill>
                  <a:srgbClr val="595959"/>
                </a:solidFill>
                <a:latin typeface="Arial" pitchFamily="34" charset="0"/>
                <a:ea typeface="Arial" pitchFamily="34" charset="-122"/>
                <a:cs typeface="Arial" pitchFamily="34" charset="-120"/>
              </a:rPr>
              <a:t>以</a:t>
            </a:r>
            <a:endParaRPr lang="en-US" sz="1600" dirty="0"/>
          </a:p>
        </p:txBody>
      </p:sp>
      <p:sp>
        <p:nvSpPr>
          <p:cNvPr id="100" name="Text 96"/>
          <p:cNvSpPr/>
          <p:nvPr/>
        </p:nvSpPr>
        <p:spPr>
          <a:xfrm>
            <a:off x="15649067" y="8666353"/>
            <a:ext cx="606933" cy="492506"/>
          </a:xfrm>
          <a:prstGeom prst="rect">
            <a:avLst/>
          </a:prstGeom>
          <a:noFill/>
          <a:ln/>
        </p:spPr>
        <p:txBody>
          <a:bodyPr wrap="square" lIns="0" tIns="0" rIns="0" bIns="0" rtlCol="0" anchor="t"/>
          <a:lstStyle/>
          <a:p>
            <a:pPr algn="ctr">
              <a:lnSpc>
                <a:spcPct val="120000"/>
              </a:lnSpc>
            </a:pPr>
            <a:r>
              <a:rPr lang="en-US" sz="2400" dirty="0">
                <a:solidFill>
                  <a:srgbClr val="000000"/>
                </a:solidFill>
                <a:latin typeface="Arial" pitchFamily="34" charset="0"/>
                <a:ea typeface="Arial" pitchFamily="34" charset="-122"/>
                <a:cs typeface="Arial" pitchFamily="34" charset="-120"/>
              </a:rPr>
              <a:t>16</a:t>
            </a:r>
            <a:endParaRPr lang="en-US" sz="2400" dirty="0"/>
          </a:p>
        </p:txBody>
      </p:sp>
    </p:spTree>
  </p:cSld>
  <p:clrMapOvr>
    <a:masterClrMapping/>
  </p:clrMapOvr>
  <p:transition>
    <p:fade/>
    <p:spd val="med"/>
  </p:transition>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7816469" y="-889"/>
            <a:ext cx="4114800" cy="962660"/>
          </a:xfrm>
          <a:prstGeom prst="rect">
            <a:avLst/>
          </a:prstGeom>
          <a:solidFill>
            <a:srgbClr val="F2F2F2"/>
          </a:solidFill>
          <a:ln w="12700">
            <a:solidFill>
              <a:srgbClr val="F2F2F2"/>
            </a:solidFill>
            <a:prstDash val="solid"/>
          </a:ln>
        </p:spPr>
      </p:sp>
      <p:sp>
        <p:nvSpPr>
          <p:cNvPr id="4" name="Shape 1"/>
          <p:cNvSpPr/>
          <p:nvPr/>
        </p:nvSpPr>
        <p:spPr>
          <a:xfrm>
            <a:off x="7816469" y="4191"/>
            <a:ext cx="4114800" cy="962660"/>
          </a:xfrm>
          <a:prstGeom prst="rect">
            <a:avLst/>
          </a:prstGeom>
          <a:solidFill>
            <a:srgbClr val="04579A"/>
          </a:solidFill>
          <a:ln w="12700">
            <a:solidFill>
              <a:srgbClr val="04579A"/>
            </a:solidFill>
            <a:prstDash val="solid"/>
          </a:ln>
        </p:spPr>
      </p:sp>
      <p:sp>
        <p:nvSpPr>
          <p:cNvPr id="5" name="Shape 2"/>
          <p:cNvSpPr/>
          <p:nvPr/>
        </p:nvSpPr>
        <p:spPr>
          <a:xfrm>
            <a:off x="5162169" y="-889"/>
            <a:ext cx="2590800" cy="962660"/>
          </a:xfrm>
          <a:prstGeom prst="rect">
            <a:avLst/>
          </a:prstGeom>
          <a:solidFill>
            <a:srgbClr val="F2F2F2"/>
          </a:solidFill>
          <a:ln w="12700">
            <a:solidFill>
              <a:srgbClr val="F2F2F2"/>
            </a:solidFill>
            <a:prstDash val="solid"/>
          </a:ln>
        </p:spPr>
      </p:sp>
      <p:sp>
        <p:nvSpPr>
          <p:cNvPr id="6" name="Shape 3"/>
          <p:cNvSpPr/>
          <p:nvPr/>
        </p:nvSpPr>
        <p:spPr>
          <a:xfrm>
            <a:off x="11971020" y="0"/>
            <a:ext cx="4284980" cy="961771"/>
          </a:xfrm>
          <a:prstGeom prst="rect">
            <a:avLst/>
          </a:prstGeom>
          <a:solidFill>
            <a:srgbClr val="F2F2F2"/>
          </a:solidFill>
          <a:ln/>
        </p:spPr>
      </p:sp>
      <p:sp>
        <p:nvSpPr>
          <p:cNvPr id="7" name="Shape 4"/>
          <p:cNvSpPr/>
          <p:nvPr/>
        </p:nvSpPr>
        <p:spPr>
          <a:xfrm>
            <a:off x="2219960" y="-889"/>
            <a:ext cx="2895600" cy="962660"/>
          </a:xfrm>
          <a:prstGeom prst="rect">
            <a:avLst/>
          </a:prstGeom>
          <a:solidFill>
            <a:srgbClr val="F2F2F2"/>
          </a:solidFill>
          <a:ln w="12700">
            <a:solidFill>
              <a:srgbClr val="F2F2F2"/>
            </a:solidFill>
            <a:prstDash val="solid"/>
          </a:ln>
        </p:spPr>
      </p:sp>
      <p:sp>
        <p:nvSpPr>
          <p:cNvPr id="8" name="Text 5"/>
          <p:cNvSpPr/>
          <p:nvPr/>
        </p:nvSpPr>
        <p:spPr>
          <a:xfrm>
            <a:off x="2283460" y="203200"/>
            <a:ext cx="27686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选题背景及意义</a:t>
            </a:r>
            <a:endParaRPr lang="en-US" sz="2000" dirty="0"/>
          </a:p>
        </p:txBody>
      </p:sp>
      <p:sp>
        <p:nvSpPr>
          <p:cNvPr id="9" name="Text 6"/>
          <p:cNvSpPr/>
          <p:nvPr/>
        </p:nvSpPr>
        <p:spPr>
          <a:xfrm>
            <a:off x="5225669" y="203200"/>
            <a:ext cx="24638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国内外研究现状</a:t>
            </a:r>
            <a:endParaRPr lang="en-US" sz="2000" dirty="0"/>
          </a:p>
        </p:txBody>
      </p:sp>
      <p:sp>
        <p:nvSpPr>
          <p:cNvPr id="10" name="Text 7"/>
          <p:cNvSpPr/>
          <p:nvPr/>
        </p:nvSpPr>
        <p:spPr>
          <a:xfrm>
            <a:off x="7879969" y="203200"/>
            <a:ext cx="3987800" cy="508000"/>
          </a:xfrm>
          <a:prstGeom prst="rect">
            <a:avLst/>
          </a:prstGeom>
          <a:noFill/>
          <a:ln/>
        </p:spPr>
        <p:txBody>
          <a:bodyPr wrap="none" lIns="0" tIns="0" rIns="0" bIns="0" rtlCol="0" anchor="ctr"/>
          <a:lstStyle/>
          <a:p>
            <a:pPr algn="ctr">
              <a:lnSpc>
                <a:spcPct val="120000"/>
              </a:lnSpc>
            </a:pPr>
            <a:r>
              <a:rPr lang="en-US" sz="2000" dirty="0">
                <a:solidFill>
                  <a:srgbClr val="FFFFFF"/>
                </a:solidFill>
                <a:latin typeface="Arial" pitchFamily="34" charset="0"/>
                <a:ea typeface="Arial" pitchFamily="34" charset="-122"/>
                <a:cs typeface="Arial" pitchFamily="34" charset="-120"/>
              </a:rPr>
              <a:t>主要研究内容及预期目标</a:t>
            </a:r>
            <a:endParaRPr lang="en-US" sz="2000" dirty="0"/>
          </a:p>
        </p:txBody>
      </p:sp>
      <p:sp>
        <p:nvSpPr>
          <p:cNvPr id="11" name="Text 8"/>
          <p:cNvSpPr/>
          <p:nvPr/>
        </p:nvSpPr>
        <p:spPr>
          <a:xfrm>
            <a:off x="12034520" y="203200"/>
            <a:ext cx="415798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工作计划与进度安排</a:t>
            </a:r>
            <a:endParaRPr lang="en-US" sz="2000" dirty="0"/>
          </a:p>
        </p:txBody>
      </p:sp>
      <p:pic>
        <p:nvPicPr>
          <p:cNvPr id="12" name="Image 0" descr="https://kimi-img.moonshot.cn/pub/slides/okc/flfuysioo4gzm/mnt/agents/output/yuan_pptd/images/image_2.jpg">    </p:cNvPr>
          <p:cNvPicPr>
            <a:picLocks noChangeAspect="1"/>
          </p:cNvPicPr>
          <p:nvPr/>
        </p:nvPicPr>
        <p:blipFill>
          <a:blip r:embed="rId1"/>
          <a:srcRect l="5060" r="29000" t="0" b="0"/>
          <a:stretch/>
        </p:blipFill>
        <p:spPr>
          <a:xfrm>
            <a:off x="544449" y="140589"/>
            <a:ext cx="1273429" cy="745871"/>
          </a:xfrm>
          <a:prstGeom prst="rect">
            <a:avLst/>
          </a:prstGeom>
        </p:spPr>
      </p:pic>
      <p:sp>
        <p:nvSpPr>
          <p:cNvPr id="13" name="Shape 9"/>
          <p:cNvSpPr/>
          <p:nvPr/>
        </p:nvSpPr>
        <p:spPr>
          <a:xfrm rot="10800000">
            <a:off x="9699371" y="961009"/>
            <a:ext cx="389509" cy="304800"/>
          </a:xfrm>
          <a:prstGeom prst="triangle">
            <a:avLst>
              <a:gd name="adj" fmla="val 50000"/>
            </a:avLst>
          </a:prstGeom>
          <a:solidFill>
            <a:srgbClr val="04579A"/>
          </a:solidFill>
          <a:ln/>
        </p:spPr>
      </p:sp>
      <p:sp>
        <p:nvSpPr>
          <p:cNvPr id="14" name="Shape 10"/>
          <p:cNvSpPr/>
          <p:nvPr/>
        </p:nvSpPr>
        <p:spPr>
          <a:xfrm>
            <a:off x="5586730" y="2680970"/>
            <a:ext cx="474091" cy="694309"/>
          </a:xfrm>
          <a:prstGeom prst="rightArrow">
            <a:avLst>
              <a:gd name="adj1" fmla="val 50000"/>
              <a:gd name="adj2" fmla="val 50000"/>
            </a:avLst>
          </a:prstGeom>
          <a:solidFill>
            <a:srgbClr val="FFFFFF"/>
          </a:solidFill>
          <a:ln w="12700">
            <a:solidFill>
              <a:srgbClr val="04579A"/>
            </a:solidFill>
            <a:prstDash val="solid"/>
          </a:ln>
        </p:spPr>
      </p:sp>
      <p:sp>
        <p:nvSpPr>
          <p:cNvPr id="15" name="Shape 11"/>
          <p:cNvSpPr/>
          <p:nvPr/>
        </p:nvSpPr>
        <p:spPr>
          <a:xfrm>
            <a:off x="5586730" y="4102481"/>
            <a:ext cx="474091" cy="694309"/>
          </a:xfrm>
          <a:prstGeom prst="rightArrow">
            <a:avLst>
              <a:gd name="adj1" fmla="val 50000"/>
              <a:gd name="adj2" fmla="val 50000"/>
            </a:avLst>
          </a:prstGeom>
          <a:solidFill>
            <a:srgbClr val="FFFFFF"/>
          </a:solidFill>
          <a:ln w="12700">
            <a:solidFill>
              <a:srgbClr val="04579A"/>
            </a:solidFill>
            <a:prstDash val="solid"/>
          </a:ln>
        </p:spPr>
      </p:sp>
      <p:sp>
        <p:nvSpPr>
          <p:cNvPr id="16" name="Shape 12"/>
          <p:cNvSpPr/>
          <p:nvPr/>
        </p:nvSpPr>
        <p:spPr>
          <a:xfrm>
            <a:off x="5586730" y="5412359"/>
            <a:ext cx="474091" cy="694309"/>
          </a:xfrm>
          <a:prstGeom prst="rightArrow">
            <a:avLst>
              <a:gd name="adj1" fmla="val 50000"/>
              <a:gd name="adj2" fmla="val 50000"/>
            </a:avLst>
          </a:prstGeom>
          <a:solidFill>
            <a:srgbClr val="FFFFFF"/>
          </a:solidFill>
          <a:ln w="12700">
            <a:solidFill>
              <a:srgbClr val="04579A"/>
            </a:solidFill>
            <a:prstDash val="solid"/>
          </a:ln>
        </p:spPr>
      </p:sp>
      <p:sp>
        <p:nvSpPr>
          <p:cNvPr id="17" name="Text 13"/>
          <p:cNvSpPr/>
          <p:nvPr/>
        </p:nvSpPr>
        <p:spPr>
          <a:xfrm>
            <a:off x="6592570" y="2761361"/>
            <a:ext cx="8409559" cy="531749"/>
          </a:xfrm>
          <a:prstGeom prst="rect">
            <a:avLst/>
          </a:prstGeom>
          <a:noFill/>
          <a:ln/>
        </p:spPr>
        <p:txBody>
          <a:bodyPr wrap="square" lIns="0" tIns="0" rIns="0" bIns="0" rtlCol="0" anchor="t"/>
          <a:lstStyle/>
          <a:p>
            <a:pPr algn="l">
              <a:lnSpc>
                <a:spcPct val="120000"/>
              </a:lnSpc>
            </a:pPr>
            <a:r>
              <a:rPr lang="en-US" sz="2670" b="1" dirty="0">
                <a:solidFill>
                  <a:srgbClr val="04579A"/>
                </a:solidFill>
                <a:latin typeface="Arial" pitchFamily="34" charset="0"/>
                <a:ea typeface="Arial" pitchFamily="34" charset="-122"/>
                <a:cs typeface="Arial" pitchFamily="34" charset="-120"/>
              </a:rPr>
              <a:t>基于操作参数约束需求的智能体授权协议设计</a:t>
            </a:r>
            <a:pPr algn="l">
              <a:lnSpc>
                <a:spcPct val="120000"/>
              </a:lnSpc>
            </a:pPr>
            <a:r>
              <a:rPr lang="en-US" sz="2670" b="1" dirty="0">
                <a:solidFill>
                  <a:srgbClr val="04579A"/>
                </a:solidFill>
                <a:latin typeface="MiSans" pitchFamily="34" charset="0"/>
                <a:ea typeface="MiSans" pitchFamily="34" charset="-122"/>
                <a:cs typeface="MiSans" pitchFamily="34" charset="-120"/>
              </a:rPr>
              <a:t>	</a:t>
            </a:r>
            <a:endParaRPr lang="en-US" sz="2670" dirty="0"/>
          </a:p>
        </p:txBody>
      </p:sp>
      <p:sp>
        <p:nvSpPr>
          <p:cNvPr id="18" name="Text 14"/>
          <p:cNvSpPr/>
          <p:nvPr/>
        </p:nvSpPr>
        <p:spPr>
          <a:xfrm>
            <a:off x="6592570" y="4217670"/>
            <a:ext cx="8741791" cy="531749"/>
          </a:xfrm>
          <a:prstGeom prst="rect">
            <a:avLst/>
          </a:prstGeom>
          <a:noFill/>
          <a:ln/>
        </p:spPr>
        <p:txBody>
          <a:bodyPr wrap="square" lIns="0" tIns="0" rIns="0" bIns="0" rtlCol="0" anchor="t"/>
          <a:lstStyle/>
          <a:p>
            <a:pPr algn="l">
              <a:lnSpc>
                <a:spcPct val="120000"/>
              </a:lnSpc>
            </a:pPr>
            <a:r>
              <a:rPr lang="en-US" sz="2670" b="1" dirty="0">
                <a:solidFill>
                  <a:srgbClr val="04579A"/>
                </a:solidFill>
                <a:latin typeface="Arial" pitchFamily="34" charset="0"/>
                <a:ea typeface="Arial" pitchFamily="34" charset="-122"/>
                <a:cs typeface="Arial" pitchFamily="34" charset="-120"/>
              </a:rPr>
              <a:t>基于顺序执行约束需求的智能体授权协议设计</a:t>
            </a:r>
            <a:pPr algn="l">
              <a:lnSpc>
                <a:spcPct val="120000"/>
              </a:lnSpc>
            </a:pPr>
            <a:r>
              <a:rPr lang="en-US" sz="2670" b="1" dirty="0">
                <a:solidFill>
                  <a:srgbClr val="04579A"/>
                </a:solidFill>
                <a:latin typeface="MiSans" pitchFamily="34" charset="0"/>
                <a:ea typeface="MiSans" pitchFamily="34" charset="-122"/>
                <a:cs typeface="MiSans" pitchFamily="34" charset="-120"/>
              </a:rPr>
              <a:t>	</a:t>
            </a:r>
            <a:endParaRPr lang="en-US" sz="2670" dirty="0"/>
          </a:p>
        </p:txBody>
      </p:sp>
      <p:sp>
        <p:nvSpPr>
          <p:cNvPr id="19" name="Text 15"/>
          <p:cNvSpPr/>
          <p:nvPr/>
        </p:nvSpPr>
        <p:spPr>
          <a:xfrm>
            <a:off x="6592570" y="5513832"/>
            <a:ext cx="8921369" cy="531749"/>
          </a:xfrm>
          <a:prstGeom prst="rect">
            <a:avLst/>
          </a:prstGeom>
          <a:noFill/>
          <a:ln/>
        </p:spPr>
        <p:txBody>
          <a:bodyPr wrap="square" lIns="0" tIns="0" rIns="0" bIns="0" rtlCol="0" anchor="t"/>
          <a:lstStyle/>
          <a:p>
            <a:pPr algn="l">
              <a:lnSpc>
                <a:spcPct val="120000"/>
              </a:lnSpc>
            </a:pPr>
            <a:r>
              <a:rPr lang="en-US" sz="2670" b="1" dirty="0">
                <a:solidFill>
                  <a:srgbClr val="04579A"/>
                </a:solidFill>
                <a:latin typeface="Arial" pitchFamily="34" charset="0"/>
                <a:ea typeface="Arial" pitchFamily="34" charset="-122"/>
                <a:cs typeface="Arial" pitchFamily="34" charset="-120"/>
              </a:rPr>
              <a:t>基于复杂任务授权需求的智能体授权协议应用实现</a:t>
            </a:r>
            <a:endParaRPr lang="en-US" sz="2670" dirty="0"/>
          </a:p>
        </p:txBody>
      </p:sp>
      <p:sp>
        <p:nvSpPr>
          <p:cNvPr id="20" name="Text 16"/>
          <p:cNvSpPr/>
          <p:nvPr/>
        </p:nvSpPr>
        <p:spPr>
          <a:xfrm>
            <a:off x="743839" y="2556129"/>
            <a:ext cx="4312920" cy="942340"/>
          </a:xfrm>
          <a:prstGeom prst="rect">
            <a:avLst/>
          </a:prstGeom>
          <a:noFill/>
          <a:ln/>
        </p:spPr>
        <p:txBody>
          <a:bodyPr wrap="square" lIns="0" tIns="0" rIns="0" bIns="0" rtlCol="0" anchor="t"/>
          <a:lstStyle/>
          <a:p>
            <a:pPr algn="ctr" marL="423863" indent="-423863">
              <a:lnSpc>
                <a:spcPct val="120000"/>
              </a:lnSpc>
              <a:spcBef>
                <a:spcPts val="10"/>
              </a:spcBef>
              <a:buSzPct val="100000"/>
              <a:buFont typeface="+mj-lt"/>
              <a:buAutoNum type="arabicPeriod" startAt="1"/>
            </a:pPr>
            <a:r>
              <a:rPr lang="en-US" sz="2670" b="1" dirty="0">
                <a:solidFill>
                  <a:srgbClr val="262626"/>
                </a:solidFill>
                <a:latin typeface="MiSans" pitchFamily="34" charset="0"/>
                <a:ea typeface="MiSans" pitchFamily="34" charset="-122"/>
                <a:cs typeface="MiSans" pitchFamily="34" charset="-120"/>
              </a:rPr>
              <a:t>复杂任务场景下的智能体授权</a:t>
            </a:r>
            <a:pPr algn="ctr">
              <a:lnSpc>
                <a:spcPct val="120000"/>
              </a:lnSpc>
              <a:spcBef>
                <a:spcPts val="10"/>
              </a:spcBef>
            </a:pPr>
            <a:r>
              <a:rPr lang="en-US" sz="2670" b="1" dirty="0">
                <a:solidFill>
                  <a:srgbClr val="262626"/>
                </a:solidFill>
                <a:latin typeface="MiSans" pitchFamily="34" charset="0"/>
                <a:ea typeface="MiSans" pitchFamily="34" charset="-122"/>
                <a:cs typeface="MiSans" pitchFamily="34" charset="-120"/>
              </a:rPr>
              <a:t>粒度</a:t>
            </a:r>
            <a:endParaRPr lang="en-US" sz="2670" dirty="0"/>
          </a:p>
        </p:txBody>
      </p:sp>
      <p:sp>
        <p:nvSpPr>
          <p:cNvPr id="21" name="Text 17"/>
          <p:cNvSpPr/>
          <p:nvPr/>
        </p:nvSpPr>
        <p:spPr>
          <a:xfrm>
            <a:off x="742061" y="3940937"/>
            <a:ext cx="4314571" cy="942340"/>
          </a:xfrm>
          <a:prstGeom prst="rect">
            <a:avLst/>
          </a:prstGeom>
          <a:noFill/>
          <a:ln/>
        </p:spPr>
        <p:txBody>
          <a:bodyPr wrap="square" lIns="0" tIns="0" rIns="0" bIns="0" rtlCol="0" anchor="t"/>
          <a:lstStyle/>
          <a:p>
            <a:pPr algn="ctr">
              <a:lnSpc>
                <a:spcPct val="120000"/>
              </a:lnSpc>
            </a:pPr>
            <a:r>
              <a:rPr lang="en-US" sz="2670" b="1" dirty="0">
                <a:solidFill>
                  <a:srgbClr val="262626"/>
                </a:solidFill>
                <a:latin typeface="MiSans" pitchFamily="34" charset="0"/>
                <a:ea typeface="MiSans" pitchFamily="34" charset="-122"/>
                <a:cs typeface="MiSans" pitchFamily="34" charset="-120"/>
              </a:rPr>
              <a:t>2.   </a:t>
            </a:r>
            <a:pPr algn="ctr">
              <a:lnSpc>
                <a:spcPct val="120000"/>
              </a:lnSpc>
            </a:pPr>
            <a:r>
              <a:rPr lang="en-US" sz="2670" b="1" dirty="0">
                <a:solidFill>
                  <a:srgbClr val="262626"/>
                </a:solidFill>
                <a:latin typeface="MiSans" pitchFamily="34" charset="0"/>
                <a:ea typeface="MiSans" pitchFamily="34" charset="-122"/>
                <a:cs typeface="MiSans" pitchFamily="34" charset="-120"/>
              </a:rPr>
              <a:t>复杂任务场景下的智能体上下文感知</a:t>
            </a:r>
            <a:endParaRPr lang="en-US" sz="2670" dirty="0"/>
          </a:p>
        </p:txBody>
      </p:sp>
      <p:sp>
        <p:nvSpPr>
          <p:cNvPr id="22" name="Text 18"/>
          <p:cNvSpPr/>
          <p:nvPr/>
        </p:nvSpPr>
        <p:spPr>
          <a:xfrm>
            <a:off x="742061" y="5364861"/>
            <a:ext cx="4316349" cy="531749"/>
          </a:xfrm>
          <a:prstGeom prst="rect">
            <a:avLst/>
          </a:prstGeom>
          <a:noFill/>
          <a:ln/>
        </p:spPr>
        <p:txBody>
          <a:bodyPr wrap="square" lIns="0" tIns="0" rIns="0" bIns="0" rtlCol="0" anchor="t"/>
          <a:lstStyle/>
          <a:p>
            <a:pPr algn="l">
              <a:lnSpc>
                <a:spcPct val="120000"/>
              </a:lnSpc>
            </a:pPr>
            <a:r>
              <a:rPr lang="en-US" sz="2670" b="1" dirty="0">
                <a:solidFill>
                  <a:srgbClr val="262626"/>
                </a:solidFill>
                <a:latin typeface="Arial" pitchFamily="34" charset="0"/>
                <a:ea typeface="Arial" pitchFamily="34" charset="-122"/>
                <a:cs typeface="Arial" pitchFamily="34" charset="-120"/>
              </a:rPr>
              <a:t>3.    </a:t>
            </a:r>
            <a:pPr algn="l">
              <a:lnSpc>
                <a:spcPct val="120000"/>
              </a:lnSpc>
            </a:pPr>
            <a:r>
              <a:rPr lang="en-US" sz="2670" b="1" dirty="0">
                <a:solidFill>
                  <a:srgbClr val="262626"/>
                </a:solidFill>
                <a:latin typeface="Arial" pitchFamily="34" charset="0"/>
                <a:ea typeface="Arial" pitchFamily="34" charset="-122"/>
                <a:cs typeface="Arial" pitchFamily="34" charset="-120"/>
              </a:rPr>
              <a:t>跨</a:t>
            </a:r>
            <a:endParaRPr lang="en-US" sz="2670" dirty="0"/>
          </a:p>
        </p:txBody>
      </p:sp>
      <p:sp>
        <p:nvSpPr>
          <p:cNvPr id="23" name="Text 19"/>
          <p:cNvSpPr/>
          <p:nvPr/>
        </p:nvSpPr>
        <p:spPr>
          <a:xfrm>
            <a:off x="15649067" y="8666353"/>
            <a:ext cx="606933" cy="492506"/>
          </a:xfrm>
          <a:prstGeom prst="rect">
            <a:avLst/>
          </a:prstGeom>
          <a:noFill/>
          <a:ln/>
        </p:spPr>
        <p:txBody>
          <a:bodyPr wrap="square" lIns="0" tIns="0" rIns="0" bIns="0" rtlCol="0" anchor="t"/>
          <a:lstStyle/>
          <a:p>
            <a:pPr algn="ctr">
              <a:lnSpc>
                <a:spcPct val="120000"/>
              </a:lnSpc>
            </a:pPr>
            <a:r>
              <a:rPr lang="en-US" sz="2400" dirty="0">
                <a:solidFill>
                  <a:srgbClr val="000000"/>
                </a:solidFill>
                <a:latin typeface="Arial" pitchFamily="34" charset="0"/>
                <a:ea typeface="Arial" pitchFamily="34" charset="-122"/>
                <a:cs typeface="Arial" pitchFamily="34" charset="-120"/>
              </a:rPr>
              <a:t>22</a:t>
            </a:r>
            <a:endParaRPr lang="en-US" sz="2400" dirty="0"/>
          </a:p>
        </p:txBody>
      </p:sp>
    </p:spTree>
  </p:cSld>
  <p:clrMapOvr>
    <a:masterClrMapping/>
  </p:clrMapOvr>
  <p:transition>
    <p:fade/>
    <p:spd val="med"/>
  </p:transition>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7573772" y="3430651"/>
            <a:ext cx="3668141" cy="2586228"/>
          </a:xfrm>
          <a:prstGeom prst="roundRect">
            <a:avLst>
              <a:gd name="adj" fmla="val 16667"/>
            </a:avLst>
          </a:prstGeom>
          <a:noFill/>
          <a:ln w="12700">
            <a:solidFill>
              <a:srgbClr val="0070C0"/>
            </a:solidFill>
            <a:prstDash val="solid"/>
          </a:ln>
        </p:spPr>
      </p:sp>
      <p:sp>
        <p:nvSpPr>
          <p:cNvPr id="4" name="Shape 1"/>
          <p:cNvSpPr/>
          <p:nvPr/>
        </p:nvSpPr>
        <p:spPr>
          <a:xfrm>
            <a:off x="7816469" y="-889"/>
            <a:ext cx="4114800" cy="962660"/>
          </a:xfrm>
          <a:prstGeom prst="rect">
            <a:avLst/>
          </a:prstGeom>
          <a:solidFill>
            <a:srgbClr val="F2F2F2"/>
          </a:solidFill>
          <a:ln w="12700">
            <a:solidFill>
              <a:srgbClr val="F2F2F2"/>
            </a:solidFill>
            <a:prstDash val="solid"/>
          </a:ln>
        </p:spPr>
      </p:sp>
      <p:sp>
        <p:nvSpPr>
          <p:cNvPr id="5" name="Shape 2"/>
          <p:cNvSpPr/>
          <p:nvPr/>
        </p:nvSpPr>
        <p:spPr>
          <a:xfrm>
            <a:off x="7816469" y="4191"/>
            <a:ext cx="4114800" cy="962660"/>
          </a:xfrm>
          <a:prstGeom prst="rect">
            <a:avLst/>
          </a:prstGeom>
          <a:solidFill>
            <a:srgbClr val="04579A"/>
          </a:solidFill>
          <a:ln w="12700">
            <a:solidFill>
              <a:srgbClr val="04579A"/>
            </a:solidFill>
            <a:prstDash val="solid"/>
          </a:ln>
        </p:spPr>
      </p:sp>
      <p:sp>
        <p:nvSpPr>
          <p:cNvPr id="6" name="Shape 3"/>
          <p:cNvSpPr/>
          <p:nvPr/>
        </p:nvSpPr>
        <p:spPr>
          <a:xfrm>
            <a:off x="5162169" y="-889"/>
            <a:ext cx="2590800" cy="962660"/>
          </a:xfrm>
          <a:prstGeom prst="rect">
            <a:avLst/>
          </a:prstGeom>
          <a:solidFill>
            <a:srgbClr val="F2F2F2"/>
          </a:solidFill>
          <a:ln w="12700">
            <a:solidFill>
              <a:srgbClr val="F2F2F2"/>
            </a:solidFill>
            <a:prstDash val="solid"/>
          </a:ln>
        </p:spPr>
      </p:sp>
      <p:sp>
        <p:nvSpPr>
          <p:cNvPr id="7" name="Shape 4"/>
          <p:cNvSpPr/>
          <p:nvPr/>
        </p:nvSpPr>
        <p:spPr>
          <a:xfrm>
            <a:off x="11971020" y="0"/>
            <a:ext cx="4284980" cy="961771"/>
          </a:xfrm>
          <a:prstGeom prst="rect">
            <a:avLst/>
          </a:prstGeom>
          <a:solidFill>
            <a:srgbClr val="F2F2F2"/>
          </a:solidFill>
          <a:ln/>
        </p:spPr>
      </p:sp>
      <p:sp>
        <p:nvSpPr>
          <p:cNvPr id="8" name="Shape 5"/>
          <p:cNvSpPr/>
          <p:nvPr/>
        </p:nvSpPr>
        <p:spPr>
          <a:xfrm>
            <a:off x="2219960" y="-889"/>
            <a:ext cx="2895600" cy="962660"/>
          </a:xfrm>
          <a:prstGeom prst="rect">
            <a:avLst/>
          </a:prstGeom>
          <a:solidFill>
            <a:srgbClr val="F2F2F2"/>
          </a:solidFill>
          <a:ln w="12700">
            <a:solidFill>
              <a:srgbClr val="F2F2F2"/>
            </a:solidFill>
            <a:prstDash val="solid"/>
          </a:ln>
        </p:spPr>
      </p:sp>
      <p:sp>
        <p:nvSpPr>
          <p:cNvPr id="9" name="Text 6"/>
          <p:cNvSpPr/>
          <p:nvPr/>
        </p:nvSpPr>
        <p:spPr>
          <a:xfrm>
            <a:off x="2283460" y="203200"/>
            <a:ext cx="27686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选题背景及意义</a:t>
            </a:r>
            <a:endParaRPr lang="en-US" sz="2000" dirty="0"/>
          </a:p>
        </p:txBody>
      </p:sp>
      <p:sp>
        <p:nvSpPr>
          <p:cNvPr id="10" name="Text 7"/>
          <p:cNvSpPr/>
          <p:nvPr/>
        </p:nvSpPr>
        <p:spPr>
          <a:xfrm>
            <a:off x="5225669" y="203200"/>
            <a:ext cx="24638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国内外研究现状</a:t>
            </a:r>
            <a:endParaRPr lang="en-US" sz="2000" dirty="0"/>
          </a:p>
        </p:txBody>
      </p:sp>
      <p:sp>
        <p:nvSpPr>
          <p:cNvPr id="11" name="Text 8"/>
          <p:cNvSpPr/>
          <p:nvPr/>
        </p:nvSpPr>
        <p:spPr>
          <a:xfrm>
            <a:off x="7879969" y="203200"/>
            <a:ext cx="3987800" cy="508000"/>
          </a:xfrm>
          <a:prstGeom prst="rect">
            <a:avLst/>
          </a:prstGeom>
          <a:noFill/>
          <a:ln/>
        </p:spPr>
        <p:txBody>
          <a:bodyPr wrap="none" lIns="0" tIns="0" rIns="0" bIns="0" rtlCol="0" anchor="ctr"/>
          <a:lstStyle/>
          <a:p>
            <a:pPr algn="ctr">
              <a:lnSpc>
                <a:spcPct val="120000"/>
              </a:lnSpc>
            </a:pPr>
            <a:r>
              <a:rPr lang="en-US" sz="2000" dirty="0">
                <a:solidFill>
                  <a:srgbClr val="FFFFFF"/>
                </a:solidFill>
                <a:latin typeface="Arial" pitchFamily="34" charset="0"/>
                <a:ea typeface="Arial" pitchFamily="34" charset="-122"/>
                <a:cs typeface="Arial" pitchFamily="34" charset="-120"/>
              </a:rPr>
              <a:t>主要研究内容及预期目标</a:t>
            </a:r>
            <a:endParaRPr lang="en-US" sz="2000" dirty="0"/>
          </a:p>
        </p:txBody>
      </p:sp>
      <p:sp>
        <p:nvSpPr>
          <p:cNvPr id="12" name="Text 9"/>
          <p:cNvSpPr/>
          <p:nvPr/>
        </p:nvSpPr>
        <p:spPr>
          <a:xfrm>
            <a:off x="12034520" y="203200"/>
            <a:ext cx="415798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工作计划与进度安排</a:t>
            </a:r>
            <a:endParaRPr lang="en-US" sz="2000" dirty="0"/>
          </a:p>
        </p:txBody>
      </p:sp>
      <p:pic>
        <p:nvPicPr>
          <p:cNvPr id="13" name="Image 0" descr="https://kimi-img.moonshot.cn/pub/slides/okc/flfuysioo4gzm/mnt/agents/output/yuan_pptd/images/image_2.jpg">    </p:cNvPr>
          <p:cNvPicPr>
            <a:picLocks noChangeAspect="1"/>
          </p:cNvPicPr>
          <p:nvPr/>
        </p:nvPicPr>
        <p:blipFill>
          <a:blip r:embed="rId1"/>
          <a:srcRect l="5060" r="29000" t="0" b="0"/>
          <a:stretch/>
        </p:blipFill>
        <p:spPr>
          <a:xfrm>
            <a:off x="544449" y="140589"/>
            <a:ext cx="1273429" cy="745871"/>
          </a:xfrm>
          <a:prstGeom prst="rect">
            <a:avLst/>
          </a:prstGeom>
        </p:spPr>
      </p:pic>
      <p:sp>
        <p:nvSpPr>
          <p:cNvPr id="14" name="Shape 10"/>
          <p:cNvSpPr/>
          <p:nvPr/>
        </p:nvSpPr>
        <p:spPr>
          <a:xfrm rot="10800000">
            <a:off x="9699371" y="961009"/>
            <a:ext cx="389509" cy="304800"/>
          </a:xfrm>
          <a:prstGeom prst="triangle">
            <a:avLst>
              <a:gd name="adj" fmla="val 50000"/>
            </a:avLst>
          </a:prstGeom>
          <a:solidFill>
            <a:srgbClr val="04579A"/>
          </a:solidFill>
          <a:ln/>
        </p:spPr>
      </p:sp>
      <p:sp>
        <p:nvSpPr>
          <p:cNvPr id="15" name="Text 11"/>
          <p:cNvSpPr/>
          <p:nvPr/>
        </p:nvSpPr>
        <p:spPr>
          <a:xfrm>
            <a:off x="793369" y="1895729"/>
            <a:ext cx="14411960" cy="531749"/>
          </a:xfrm>
          <a:prstGeom prst="rect">
            <a:avLst/>
          </a:prstGeom>
          <a:noFill/>
          <a:ln/>
        </p:spPr>
        <p:txBody>
          <a:bodyPr wrap="square" lIns="0" tIns="0" rIns="0" bIns="0" rtlCol="0" anchor="t"/>
          <a:lstStyle/>
          <a:p>
            <a:pPr algn="l">
              <a:lnSpc>
                <a:spcPct val="120000"/>
              </a:lnSpc>
            </a:pPr>
            <a:r>
              <a:rPr lang="en-US" sz="2670" b="1" dirty="0">
                <a:solidFill>
                  <a:srgbClr val="04579A"/>
                </a:solidFill>
                <a:latin typeface="Arial" pitchFamily="34" charset="0"/>
                <a:ea typeface="Arial" pitchFamily="34" charset="-122"/>
                <a:cs typeface="Arial" pitchFamily="34" charset="-120"/>
              </a:rPr>
              <a:t>恶意环境下分布式数字资产交易协议设计与分析</a:t>
            </a:r>
            <a:pPr algn="l">
              <a:lnSpc>
                <a:spcPct val="120000"/>
              </a:lnSpc>
            </a:pPr>
            <a:r>
              <a:rPr lang="en-US" sz="2670" b="1" dirty="0">
                <a:solidFill>
                  <a:srgbClr val="04579A"/>
                </a:solidFill>
                <a:latin typeface="MiSans" pitchFamily="34" charset="0"/>
                <a:ea typeface="MiSans" pitchFamily="34" charset="-122"/>
                <a:cs typeface="MiSans" pitchFamily="34" charset="-120"/>
              </a:rPr>
              <a:t>	</a:t>
            </a:r>
            <a:endParaRPr lang="en-US" sz="2670" dirty="0"/>
          </a:p>
        </p:txBody>
      </p:sp>
      <p:sp>
        <p:nvSpPr>
          <p:cNvPr id="16" name="Shape 12"/>
          <p:cNvSpPr/>
          <p:nvPr/>
        </p:nvSpPr>
        <p:spPr>
          <a:xfrm>
            <a:off x="793369" y="2685669"/>
            <a:ext cx="2152269" cy="550291"/>
          </a:xfrm>
          <a:prstGeom prst="parallelogram">
            <a:avLst>
              <a:gd name="adj" fmla="val 25000"/>
            </a:avLst>
          </a:prstGeom>
          <a:solidFill>
            <a:srgbClr val="04579A"/>
          </a:solidFill>
          <a:ln w="12700">
            <a:solidFill>
              <a:srgbClr val="304B73"/>
            </a:solidFill>
            <a:prstDash val="solid"/>
          </a:ln>
        </p:spPr>
      </p:sp>
      <p:sp>
        <p:nvSpPr>
          <p:cNvPr id="17" name="Text 13"/>
          <p:cNvSpPr/>
          <p:nvPr/>
        </p:nvSpPr>
        <p:spPr>
          <a:xfrm>
            <a:off x="793369" y="2685669"/>
            <a:ext cx="2152269" cy="550291"/>
          </a:xfrm>
          <a:prstGeom prst="rect">
            <a:avLst/>
          </a:prstGeom>
          <a:noFill/>
          <a:ln/>
        </p:spPr>
        <p:txBody>
          <a:bodyPr wrap="square" lIns="0" tIns="0" rIns="0" bIns="0" rtlCol="0" anchor="ctr"/>
          <a:lstStyle/>
          <a:p>
            <a:pPr algn="ctr">
              <a:lnSpc>
                <a:spcPct val="120000"/>
              </a:lnSpc>
            </a:pPr>
            <a:r>
              <a:rPr lang="en-US" sz="2400" b="1" dirty="0">
                <a:solidFill>
                  <a:srgbClr val="FFFFFF"/>
                </a:solidFill>
                <a:latin typeface="Arial" pitchFamily="34" charset="0"/>
                <a:ea typeface="Arial" pitchFamily="34" charset="-122"/>
                <a:cs typeface="Arial" pitchFamily="34" charset="-120"/>
              </a:rPr>
              <a:t>研究内容</a:t>
            </a:r>
            <a:endParaRPr lang="en-US" sz="2400" dirty="0"/>
          </a:p>
        </p:txBody>
      </p:sp>
      <p:sp>
        <p:nvSpPr>
          <p:cNvPr id="18" name="Shape 14"/>
          <p:cNvSpPr/>
          <p:nvPr/>
        </p:nvSpPr>
        <p:spPr>
          <a:xfrm>
            <a:off x="793369" y="6864731"/>
            <a:ext cx="2152269" cy="550291"/>
          </a:xfrm>
          <a:prstGeom prst="parallelogram">
            <a:avLst>
              <a:gd name="adj" fmla="val 25000"/>
            </a:avLst>
          </a:prstGeom>
          <a:solidFill>
            <a:srgbClr val="04579A"/>
          </a:solidFill>
          <a:ln w="12700">
            <a:solidFill>
              <a:srgbClr val="304B73"/>
            </a:solidFill>
            <a:prstDash val="solid"/>
          </a:ln>
        </p:spPr>
      </p:sp>
      <p:sp>
        <p:nvSpPr>
          <p:cNvPr id="19" name="Text 15"/>
          <p:cNvSpPr/>
          <p:nvPr/>
        </p:nvSpPr>
        <p:spPr>
          <a:xfrm>
            <a:off x="793369" y="6864731"/>
            <a:ext cx="2152269" cy="550291"/>
          </a:xfrm>
          <a:prstGeom prst="rect">
            <a:avLst/>
          </a:prstGeom>
          <a:noFill/>
          <a:ln/>
        </p:spPr>
        <p:txBody>
          <a:bodyPr wrap="square" lIns="0" tIns="0" rIns="0" bIns="0" rtlCol="0" anchor="ctr"/>
          <a:lstStyle/>
          <a:p>
            <a:pPr algn="ctr">
              <a:lnSpc>
                <a:spcPct val="120000"/>
              </a:lnSpc>
            </a:pPr>
            <a:r>
              <a:rPr lang="en-US" sz="2400" b="1" dirty="0">
                <a:solidFill>
                  <a:srgbClr val="FFFFFF"/>
                </a:solidFill>
                <a:latin typeface="Arial" pitchFamily="34" charset="0"/>
                <a:ea typeface="Arial" pitchFamily="34" charset="-122"/>
                <a:cs typeface="Arial" pitchFamily="34" charset="-120"/>
              </a:rPr>
              <a:t>预期目标</a:t>
            </a:r>
            <a:endParaRPr lang="en-US" sz="2400" dirty="0"/>
          </a:p>
        </p:txBody>
      </p:sp>
      <p:sp>
        <p:nvSpPr>
          <p:cNvPr id="20" name="Text 16"/>
          <p:cNvSpPr/>
          <p:nvPr/>
        </p:nvSpPr>
        <p:spPr>
          <a:xfrm>
            <a:off x="1253871" y="7546340"/>
            <a:ext cx="13355320" cy="1440180"/>
          </a:xfrm>
          <a:prstGeom prst="rect">
            <a:avLst/>
          </a:prstGeom>
          <a:noFill/>
          <a:ln/>
        </p:spPr>
        <p:txBody>
          <a:bodyPr wrap="square" lIns="0" tIns="0" rIns="0" bIns="0" rtlCol="0" anchor="t"/>
          <a:lstStyle/>
          <a:p>
            <a:pPr algn="l">
              <a:lnSpc>
                <a:spcPct val="120000"/>
              </a:lnSpc>
              <a:spcBef>
                <a:spcPts val="800"/>
              </a:spcBef>
            </a:pPr>
            <a:r>
              <a:rPr lang="en-US" sz="2400" dirty="0">
                <a:solidFill>
                  <a:srgbClr val="000000"/>
                </a:solidFill>
                <a:latin typeface="MiSans" pitchFamily="34" charset="0"/>
                <a:ea typeface="MiSans" pitchFamily="34" charset="-122"/>
                <a:cs typeface="MiSans" pitchFamily="34" charset="-120"/>
              </a:rPr>
              <a:t>提出可证明安全的分布式数字资产交易协议</a:t>
            </a:r>
            <a:endParaRPr lang="en-US" sz="2400" dirty="0"/>
          </a:p>
        </p:txBody>
      </p:sp>
      <p:sp>
        <p:nvSpPr>
          <p:cNvPr id="21" name="Text 17"/>
          <p:cNvSpPr/>
          <p:nvPr/>
        </p:nvSpPr>
        <p:spPr>
          <a:xfrm>
            <a:off x="793369" y="3657600"/>
            <a:ext cx="6217920" cy="2744724"/>
          </a:xfrm>
          <a:prstGeom prst="rect">
            <a:avLst/>
          </a:prstGeom>
          <a:noFill/>
          <a:ln/>
        </p:spPr>
        <p:txBody>
          <a:bodyPr wrap="square" lIns="0" tIns="0" rIns="0" bIns="0" rtlCol="0" anchor="t"/>
          <a:lstStyle/>
          <a:p>
            <a:pPr algn="l" marL="381000" indent="-381000">
              <a:lnSpc>
                <a:spcPct val="120000"/>
              </a:lnSpc>
              <a:spcBef>
                <a:spcPts val="10"/>
              </a:spcBef>
              <a:buSzPct val="100000"/>
              <a:buChar char="•"/>
            </a:pPr>
            <a:r>
              <a:rPr lang="en-US" sz="2400" dirty="0">
                <a:solidFill>
                  <a:srgbClr val="000000"/>
                </a:solidFill>
                <a:latin typeface="MiSans" pitchFamily="34" charset="0"/>
                <a:ea typeface="MiSans" pitchFamily="34" charset="-122"/>
                <a:cs typeface="MiSans" pitchFamily="34" charset="-120"/>
              </a:rPr>
              <a:t>现有的分布式资产交易协议资产兑换机制依赖于诚实矿工假设，难以应对现实中恶意攻击</a:t>
            </a:r>
            <a:endParaRPr lang="en-US" sz="2400" dirty="0"/>
          </a:p>
          <a:p>
            <a:pPr algn="l" marL="381000" indent="-381000">
              <a:lnSpc>
                <a:spcPct val="120000"/>
              </a:lnSpc>
              <a:spcBef>
                <a:spcPts val="10"/>
              </a:spcBef>
              <a:buSzPct val="100000"/>
              <a:buChar char="•"/>
            </a:pPr>
            <a:r>
              <a:rPr lang="en-US" sz="2400" dirty="0">
                <a:solidFill>
                  <a:srgbClr val="000000"/>
                </a:solidFill>
                <a:latin typeface="MiSans" pitchFamily="34" charset="0"/>
                <a:ea typeface="MiSans" pitchFamily="34" charset="-122"/>
                <a:cs typeface="MiSans" pitchFamily="34" charset="-120"/>
              </a:rPr>
              <a:t>分析现有协议的安全漏洞及潜在攻击，重构现有资产兑换范式</a:t>
            </a:r>
            <a:endParaRPr lang="en-US" sz="2400" dirty="0"/>
          </a:p>
          <a:p>
            <a:pPr algn="l" marL="381000" indent="-381000">
              <a:lnSpc>
                <a:spcPct val="120000"/>
              </a:lnSpc>
              <a:spcBef>
                <a:spcPts val="10"/>
              </a:spcBef>
              <a:buSzPct val="100000"/>
              <a:buChar char="•"/>
            </a:pPr>
            <a:r>
              <a:rPr lang="en-US" sz="2400" dirty="0">
                <a:solidFill>
                  <a:srgbClr val="000000"/>
                </a:solidFill>
                <a:latin typeface="MiSans" pitchFamily="34" charset="0"/>
                <a:ea typeface="MiSans" pitchFamily="34" charset="-122"/>
                <a:cs typeface="MiSans" pitchFamily="34" charset="-120"/>
              </a:rPr>
              <a:t>完成安全性分析与证明</a:t>
            </a:r>
            <a:endParaRPr lang="en-US" sz="2400" dirty="0"/>
          </a:p>
        </p:txBody>
      </p:sp>
      <p:sp>
        <p:nvSpPr>
          <p:cNvPr id="22" name="Text 18"/>
          <p:cNvSpPr/>
          <p:nvPr/>
        </p:nvSpPr>
        <p:spPr>
          <a:xfrm>
            <a:off x="7471791" y="6328029"/>
            <a:ext cx="7641463" cy="997712"/>
          </a:xfrm>
          <a:prstGeom prst="rect">
            <a:avLst/>
          </a:prstGeom>
          <a:noFill/>
          <a:ln/>
        </p:spPr>
        <p:txBody>
          <a:bodyPr wrap="square" lIns="0" tIns="0" rIns="0" bIns="0" rtlCol="0" anchor="t"/>
          <a:lstStyle/>
          <a:p>
            <a:pPr algn="l">
              <a:lnSpc>
                <a:spcPct val="150000"/>
              </a:lnSpc>
            </a:pPr>
            <a:r>
              <a:rPr lang="en-US" sz="1870" dirty="0">
                <a:solidFill>
                  <a:srgbClr val="000000"/>
                </a:solidFill>
                <a:latin typeface="MiSans" pitchFamily="34" charset="0"/>
                <a:ea typeface="MiSans" pitchFamily="34" charset="-122"/>
                <a:cs typeface="MiSans" pitchFamily="34" charset="-120"/>
              </a:rPr>
              <a:t>分布式资产交易协议的基础构建范式HTLC范式通过时间锁定保证资产的合法兑换，但在贿赂矿工的前提下恶意用户抢先侵占诚实用户的资产</a:t>
            </a:r>
            <a:endParaRPr lang="en-US" sz="1870" dirty="0"/>
          </a:p>
        </p:txBody>
      </p:sp>
      <p:pic>
        <p:nvPicPr>
          <p:cNvPr id="23" name="Image 1" descr="https://kimi-img.moonshot.cn/pub/slides/okc/flfuysioo4gzm/mnt/agents/output/yuan_pptd/images/image_9.png">    </p:cNvPr>
          <p:cNvPicPr>
            <a:picLocks noChangeAspect="1"/>
          </p:cNvPicPr>
          <p:nvPr/>
        </p:nvPicPr>
        <p:blipFill>
          <a:blip r:embed="rId2"/>
          <a:stretch>
            <a:fillRect/>
          </a:stretch>
        </p:blipFill>
        <p:spPr>
          <a:xfrm>
            <a:off x="7653020" y="3523742"/>
            <a:ext cx="3645408" cy="2435479"/>
          </a:xfrm>
          <a:prstGeom prst="rect">
            <a:avLst/>
          </a:prstGeom>
        </p:spPr>
      </p:pic>
      <p:pic>
        <p:nvPicPr>
          <p:cNvPr id="24" name="Image 2" descr="https://kimi-img.moonshot.cn/pub/slides/okc/flfuysioo4gzm/mnt/agents/output/yuan_pptd/images/image_10.png">    </p:cNvPr>
          <p:cNvPicPr>
            <a:picLocks noChangeAspect="1"/>
          </p:cNvPicPr>
          <p:nvPr/>
        </p:nvPicPr>
        <p:blipFill>
          <a:blip r:embed="rId3"/>
          <a:stretch>
            <a:fillRect/>
          </a:stretch>
        </p:blipFill>
        <p:spPr>
          <a:xfrm>
            <a:off x="11605387" y="3542411"/>
            <a:ext cx="3455035" cy="2369185"/>
          </a:xfrm>
          <a:prstGeom prst="rect">
            <a:avLst/>
          </a:prstGeom>
        </p:spPr>
      </p:pic>
      <p:sp>
        <p:nvSpPr>
          <p:cNvPr id="25" name="Shape 19"/>
          <p:cNvSpPr/>
          <p:nvPr/>
        </p:nvSpPr>
        <p:spPr>
          <a:xfrm>
            <a:off x="11445113" y="3430651"/>
            <a:ext cx="3668141" cy="2586228"/>
          </a:xfrm>
          <a:prstGeom prst="roundRect">
            <a:avLst>
              <a:gd name="adj" fmla="val 16667"/>
            </a:avLst>
          </a:prstGeom>
          <a:noFill/>
          <a:ln w="12700">
            <a:solidFill>
              <a:srgbClr val="0070C0"/>
            </a:solidFill>
            <a:prstDash val="solid"/>
          </a:ln>
        </p:spPr>
      </p:sp>
      <p:sp>
        <p:nvSpPr>
          <p:cNvPr id="26" name="Text 20"/>
          <p:cNvSpPr/>
          <p:nvPr/>
        </p:nvSpPr>
        <p:spPr>
          <a:xfrm>
            <a:off x="15649067" y="8666353"/>
            <a:ext cx="606933" cy="492506"/>
          </a:xfrm>
          <a:prstGeom prst="rect">
            <a:avLst/>
          </a:prstGeom>
          <a:noFill/>
          <a:ln/>
        </p:spPr>
        <p:txBody>
          <a:bodyPr wrap="square" lIns="0" tIns="0" rIns="0" bIns="0" rtlCol="0" anchor="t"/>
          <a:lstStyle/>
          <a:p>
            <a:pPr algn="ctr">
              <a:lnSpc>
                <a:spcPct val="120000"/>
              </a:lnSpc>
            </a:pPr>
            <a:r>
              <a:rPr lang="en-US" sz="2400" dirty="0">
                <a:solidFill>
                  <a:srgbClr val="000000"/>
                </a:solidFill>
                <a:latin typeface="Arial" pitchFamily="34" charset="0"/>
                <a:ea typeface="Arial" pitchFamily="34" charset="-122"/>
                <a:cs typeface="Arial" pitchFamily="34" charset="-120"/>
              </a:rPr>
              <a:t>23</a:t>
            </a:r>
            <a:endParaRPr lang="en-US" sz="2400" dirty="0"/>
          </a:p>
        </p:txBody>
      </p:sp>
    </p:spTree>
  </p:cSld>
  <p:clrMapOvr>
    <a:masterClrMapping/>
  </p:clrMapOvr>
  <p:transition>
    <p:fade/>
    <p:spd val="med"/>
  </p:transition>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7816469" y="-889"/>
            <a:ext cx="4114800" cy="962660"/>
          </a:xfrm>
          <a:prstGeom prst="rect">
            <a:avLst/>
          </a:prstGeom>
          <a:solidFill>
            <a:srgbClr val="F2F2F2"/>
          </a:solidFill>
          <a:ln w="12700">
            <a:solidFill>
              <a:srgbClr val="F2F2F2"/>
            </a:solidFill>
            <a:prstDash val="solid"/>
          </a:ln>
        </p:spPr>
      </p:sp>
      <p:sp>
        <p:nvSpPr>
          <p:cNvPr id="4" name="Shape 1"/>
          <p:cNvSpPr/>
          <p:nvPr/>
        </p:nvSpPr>
        <p:spPr>
          <a:xfrm>
            <a:off x="7816469" y="4191"/>
            <a:ext cx="4114800" cy="962660"/>
          </a:xfrm>
          <a:prstGeom prst="rect">
            <a:avLst/>
          </a:prstGeom>
          <a:solidFill>
            <a:srgbClr val="04579A"/>
          </a:solidFill>
          <a:ln w="12700">
            <a:solidFill>
              <a:srgbClr val="04579A"/>
            </a:solidFill>
            <a:prstDash val="solid"/>
          </a:ln>
        </p:spPr>
      </p:sp>
      <p:sp>
        <p:nvSpPr>
          <p:cNvPr id="5" name="Shape 2"/>
          <p:cNvSpPr/>
          <p:nvPr/>
        </p:nvSpPr>
        <p:spPr>
          <a:xfrm>
            <a:off x="5162169" y="-889"/>
            <a:ext cx="2590800" cy="962660"/>
          </a:xfrm>
          <a:prstGeom prst="rect">
            <a:avLst/>
          </a:prstGeom>
          <a:solidFill>
            <a:srgbClr val="F2F2F2"/>
          </a:solidFill>
          <a:ln w="12700">
            <a:solidFill>
              <a:srgbClr val="F2F2F2"/>
            </a:solidFill>
            <a:prstDash val="solid"/>
          </a:ln>
        </p:spPr>
      </p:sp>
      <p:sp>
        <p:nvSpPr>
          <p:cNvPr id="6" name="Shape 3"/>
          <p:cNvSpPr/>
          <p:nvPr/>
        </p:nvSpPr>
        <p:spPr>
          <a:xfrm>
            <a:off x="11971020" y="0"/>
            <a:ext cx="4284980" cy="961771"/>
          </a:xfrm>
          <a:prstGeom prst="rect">
            <a:avLst/>
          </a:prstGeom>
          <a:solidFill>
            <a:srgbClr val="F2F2F2"/>
          </a:solidFill>
          <a:ln/>
        </p:spPr>
      </p:sp>
      <p:sp>
        <p:nvSpPr>
          <p:cNvPr id="7" name="Shape 4"/>
          <p:cNvSpPr/>
          <p:nvPr/>
        </p:nvSpPr>
        <p:spPr>
          <a:xfrm>
            <a:off x="2219960" y="-889"/>
            <a:ext cx="2895600" cy="962660"/>
          </a:xfrm>
          <a:prstGeom prst="rect">
            <a:avLst/>
          </a:prstGeom>
          <a:solidFill>
            <a:srgbClr val="F2F2F2"/>
          </a:solidFill>
          <a:ln w="12700">
            <a:solidFill>
              <a:srgbClr val="F2F2F2"/>
            </a:solidFill>
            <a:prstDash val="solid"/>
          </a:ln>
        </p:spPr>
      </p:sp>
      <p:sp>
        <p:nvSpPr>
          <p:cNvPr id="8" name="Text 5"/>
          <p:cNvSpPr/>
          <p:nvPr/>
        </p:nvSpPr>
        <p:spPr>
          <a:xfrm>
            <a:off x="2283460" y="203200"/>
            <a:ext cx="27686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选题背景及意义</a:t>
            </a:r>
            <a:endParaRPr lang="en-US" sz="2000" dirty="0"/>
          </a:p>
        </p:txBody>
      </p:sp>
      <p:sp>
        <p:nvSpPr>
          <p:cNvPr id="9" name="Text 6"/>
          <p:cNvSpPr/>
          <p:nvPr/>
        </p:nvSpPr>
        <p:spPr>
          <a:xfrm>
            <a:off x="5225669" y="203200"/>
            <a:ext cx="24638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国内外研究现状</a:t>
            </a:r>
            <a:endParaRPr lang="en-US" sz="2000" dirty="0"/>
          </a:p>
        </p:txBody>
      </p:sp>
      <p:sp>
        <p:nvSpPr>
          <p:cNvPr id="10" name="Text 7"/>
          <p:cNvSpPr/>
          <p:nvPr/>
        </p:nvSpPr>
        <p:spPr>
          <a:xfrm>
            <a:off x="7879969" y="203200"/>
            <a:ext cx="3987800" cy="508000"/>
          </a:xfrm>
          <a:prstGeom prst="rect">
            <a:avLst/>
          </a:prstGeom>
          <a:noFill/>
          <a:ln/>
        </p:spPr>
        <p:txBody>
          <a:bodyPr wrap="none" lIns="0" tIns="0" rIns="0" bIns="0" rtlCol="0" anchor="ctr"/>
          <a:lstStyle/>
          <a:p>
            <a:pPr algn="ctr">
              <a:lnSpc>
                <a:spcPct val="120000"/>
              </a:lnSpc>
            </a:pPr>
            <a:r>
              <a:rPr lang="en-US" sz="2000" dirty="0">
                <a:solidFill>
                  <a:srgbClr val="FFFFFF"/>
                </a:solidFill>
                <a:latin typeface="Arial" pitchFamily="34" charset="0"/>
                <a:ea typeface="Arial" pitchFamily="34" charset="-122"/>
                <a:cs typeface="Arial" pitchFamily="34" charset="-120"/>
              </a:rPr>
              <a:t>主要研究内容及预期目标</a:t>
            </a:r>
            <a:endParaRPr lang="en-US" sz="2000" dirty="0"/>
          </a:p>
        </p:txBody>
      </p:sp>
      <p:sp>
        <p:nvSpPr>
          <p:cNvPr id="11" name="Text 8"/>
          <p:cNvSpPr/>
          <p:nvPr/>
        </p:nvSpPr>
        <p:spPr>
          <a:xfrm>
            <a:off x="12034520" y="203200"/>
            <a:ext cx="415798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工作计划与进度安排</a:t>
            </a:r>
            <a:endParaRPr lang="en-US" sz="2000" dirty="0"/>
          </a:p>
        </p:txBody>
      </p:sp>
      <p:pic>
        <p:nvPicPr>
          <p:cNvPr id="12" name="Image 0" descr="https://kimi-img.moonshot.cn/pub/slides/okc/flfuysioo4gzm/mnt/agents/output/yuan_pptd/images/image_2.jpg">    </p:cNvPr>
          <p:cNvPicPr>
            <a:picLocks noChangeAspect="1"/>
          </p:cNvPicPr>
          <p:nvPr/>
        </p:nvPicPr>
        <p:blipFill>
          <a:blip r:embed="rId1"/>
          <a:srcRect l="5060" r="29000" t="0" b="0"/>
          <a:stretch/>
        </p:blipFill>
        <p:spPr>
          <a:xfrm>
            <a:off x="544449" y="140589"/>
            <a:ext cx="1273429" cy="745871"/>
          </a:xfrm>
          <a:prstGeom prst="rect">
            <a:avLst/>
          </a:prstGeom>
        </p:spPr>
      </p:pic>
      <p:sp>
        <p:nvSpPr>
          <p:cNvPr id="13" name="Shape 9"/>
          <p:cNvSpPr/>
          <p:nvPr/>
        </p:nvSpPr>
        <p:spPr>
          <a:xfrm rot="10800000">
            <a:off x="9699371" y="961009"/>
            <a:ext cx="389509" cy="304800"/>
          </a:xfrm>
          <a:prstGeom prst="triangle">
            <a:avLst>
              <a:gd name="adj" fmla="val 50000"/>
            </a:avLst>
          </a:prstGeom>
          <a:solidFill>
            <a:srgbClr val="04579A"/>
          </a:solidFill>
          <a:ln/>
        </p:spPr>
      </p:sp>
      <p:sp>
        <p:nvSpPr>
          <p:cNvPr id="14" name="Text 10"/>
          <p:cNvSpPr/>
          <p:nvPr/>
        </p:nvSpPr>
        <p:spPr>
          <a:xfrm>
            <a:off x="793369" y="1895729"/>
            <a:ext cx="14411960" cy="531749"/>
          </a:xfrm>
          <a:prstGeom prst="rect">
            <a:avLst/>
          </a:prstGeom>
          <a:noFill/>
          <a:ln/>
        </p:spPr>
        <p:txBody>
          <a:bodyPr wrap="square" lIns="0" tIns="0" rIns="0" bIns="0" rtlCol="0" anchor="t"/>
          <a:lstStyle/>
          <a:p>
            <a:pPr algn="l">
              <a:lnSpc>
                <a:spcPct val="120000"/>
              </a:lnSpc>
            </a:pPr>
            <a:r>
              <a:rPr lang="en-US" sz="2670" b="1" dirty="0">
                <a:solidFill>
                  <a:srgbClr val="04579A"/>
                </a:solidFill>
                <a:latin typeface="Arial" pitchFamily="34" charset="0"/>
                <a:ea typeface="Arial" pitchFamily="34" charset="-122"/>
                <a:cs typeface="Arial" pitchFamily="34" charset="-120"/>
              </a:rPr>
              <a:t>大规模环境下可扩展分布式数字资产交易协议设计与分析</a:t>
            </a:r>
            <a:endParaRPr lang="en-US" sz="2670" dirty="0"/>
          </a:p>
        </p:txBody>
      </p:sp>
      <p:sp>
        <p:nvSpPr>
          <p:cNvPr id="15" name="Text 11"/>
          <p:cNvSpPr/>
          <p:nvPr/>
        </p:nvSpPr>
        <p:spPr>
          <a:xfrm>
            <a:off x="1253871" y="7546340"/>
            <a:ext cx="13355320" cy="1440180"/>
          </a:xfrm>
          <a:prstGeom prst="rect">
            <a:avLst/>
          </a:prstGeom>
          <a:noFill/>
          <a:ln/>
        </p:spPr>
        <p:txBody>
          <a:bodyPr wrap="square" lIns="0" tIns="0" rIns="0" bIns="0" rtlCol="0" anchor="t"/>
          <a:lstStyle/>
          <a:p>
            <a:pPr algn="l" marL="381000" indent="-381000">
              <a:lnSpc>
                <a:spcPct val="120000"/>
              </a:lnSpc>
              <a:spcBef>
                <a:spcPts val="10"/>
              </a:spcBef>
              <a:buSzPct val="100000"/>
              <a:buChar char="•"/>
            </a:pPr>
            <a:r>
              <a:rPr lang="en-US" sz="2400" dirty="0">
                <a:solidFill>
                  <a:srgbClr val="000000"/>
                </a:solidFill>
                <a:latin typeface="Arial" pitchFamily="34" charset="0"/>
                <a:ea typeface="Arial" pitchFamily="34" charset="-122"/>
                <a:cs typeface="Arial" pitchFamily="34" charset="-120"/>
              </a:rPr>
              <a:t>提出强可靠的可扩展分布式数字资产交易协议</a:t>
            </a:r>
            <a:endParaRPr lang="en-US" sz="2400" dirty="0"/>
          </a:p>
        </p:txBody>
      </p:sp>
      <p:sp>
        <p:nvSpPr>
          <p:cNvPr id="16" name="Shape 12"/>
          <p:cNvSpPr/>
          <p:nvPr/>
        </p:nvSpPr>
        <p:spPr>
          <a:xfrm>
            <a:off x="793369" y="2685669"/>
            <a:ext cx="2152269" cy="550291"/>
          </a:xfrm>
          <a:prstGeom prst="parallelogram">
            <a:avLst>
              <a:gd name="adj" fmla="val 25000"/>
            </a:avLst>
          </a:prstGeom>
          <a:solidFill>
            <a:srgbClr val="04579A"/>
          </a:solidFill>
          <a:ln w="12700">
            <a:solidFill>
              <a:srgbClr val="304B73"/>
            </a:solidFill>
            <a:prstDash val="solid"/>
          </a:ln>
        </p:spPr>
      </p:sp>
      <p:sp>
        <p:nvSpPr>
          <p:cNvPr id="17" name="Text 13"/>
          <p:cNvSpPr/>
          <p:nvPr/>
        </p:nvSpPr>
        <p:spPr>
          <a:xfrm>
            <a:off x="793369" y="2685669"/>
            <a:ext cx="2152269" cy="550291"/>
          </a:xfrm>
          <a:prstGeom prst="rect">
            <a:avLst/>
          </a:prstGeom>
          <a:noFill/>
          <a:ln/>
        </p:spPr>
        <p:txBody>
          <a:bodyPr wrap="square" lIns="0" tIns="0" rIns="0" bIns="0" rtlCol="0" anchor="ctr"/>
          <a:lstStyle/>
          <a:p>
            <a:pPr algn="ctr">
              <a:lnSpc>
                <a:spcPct val="120000"/>
              </a:lnSpc>
            </a:pPr>
            <a:r>
              <a:rPr lang="en-US" sz="2400" b="1" dirty="0">
                <a:solidFill>
                  <a:srgbClr val="FFFFFF"/>
                </a:solidFill>
                <a:latin typeface="Arial" pitchFamily="34" charset="0"/>
                <a:ea typeface="Arial" pitchFamily="34" charset="-122"/>
                <a:cs typeface="Arial" pitchFamily="34" charset="-120"/>
              </a:rPr>
              <a:t>研究内容</a:t>
            </a:r>
            <a:endParaRPr lang="en-US" sz="2400" dirty="0"/>
          </a:p>
        </p:txBody>
      </p:sp>
      <p:sp>
        <p:nvSpPr>
          <p:cNvPr id="18" name="Shape 14"/>
          <p:cNvSpPr/>
          <p:nvPr/>
        </p:nvSpPr>
        <p:spPr>
          <a:xfrm>
            <a:off x="793369" y="6864731"/>
            <a:ext cx="2152269" cy="550291"/>
          </a:xfrm>
          <a:prstGeom prst="parallelogram">
            <a:avLst>
              <a:gd name="adj" fmla="val 25000"/>
            </a:avLst>
          </a:prstGeom>
          <a:solidFill>
            <a:srgbClr val="04579A"/>
          </a:solidFill>
          <a:ln w="12700">
            <a:solidFill>
              <a:srgbClr val="304B73"/>
            </a:solidFill>
            <a:prstDash val="solid"/>
          </a:ln>
        </p:spPr>
      </p:sp>
      <p:sp>
        <p:nvSpPr>
          <p:cNvPr id="19" name="Text 15"/>
          <p:cNvSpPr/>
          <p:nvPr/>
        </p:nvSpPr>
        <p:spPr>
          <a:xfrm>
            <a:off x="793369" y="6864731"/>
            <a:ext cx="2152269" cy="550291"/>
          </a:xfrm>
          <a:prstGeom prst="rect">
            <a:avLst/>
          </a:prstGeom>
          <a:noFill/>
          <a:ln/>
        </p:spPr>
        <p:txBody>
          <a:bodyPr wrap="square" lIns="0" tIns="0" rIns="0" bIns="0" rtlCol="0" anchor="ctr"/>
          <a:lstStyle/>
          <a:p>
            <a:pPr algn="ctr">
              <a:lnSpc>
                <a:spcPct val="120000"/>
              </a:lnSpc>
            </a:pPr>
            <a:r>
              <a:rPr lang="en-US" sz="2400" b="1" dirty="0">
                <a:solidFill>
                  <a:srgbClr val="FFFFFF"/>
                </a:solidFill>
                <a:latin typeface="Arial" pitchFamily="34" charset="0"/>
                <a:ea typeface="Arial" pitchFamily="34" charset="-122"/>
                <a:cs typeface="Arial" pitchFamily="34" charset="-120"/>
              </a:rPr>
              <a:t>预期目标</a:t>
            </a:r>
            <a:endParaRPr lang="en-US" sz="2400" dirty="0"/>
          </a:p>
        </p:txBody>
      </p:sp>
      <p:sp>
        <p:nvSpPr>
          <p:cNvPr id="20" name="Text 16"/>
          <p:cNvSpPr/>
          <p:nvPr/>
        </p:nvSpPr>
        <p:spPr>
          <a:xfrm>
            <a:off x="793369" y="3657600"/>
            <a:ext cx="5968111" cy="1858391"/>
          </a:xfrm>
          <a:prstGeom prst="rect">
            <a:avLst/>
          </a:prstGeom>
          <a:noFill/>
          <a:ln/>
        </p:spPr>
        <p:txBody>
          <a:bodyPr wrap="square" lIns="0" tIns="0" rIns="0" bIns="0" rtlCol="0" anchor="t"/>
          <a:lstStyle/>
          <a:p>
            <a:pPr algn="l" marL="381000" indent="-381000">
              <a:lnSpc>
                <a:spcPct val="120000"/>
              </a:lnSpc>
              <a:spcBef>
                <a:spcPts val="10"/>
              </a:spcBef>
              <a:buSzPct val="100000"/>
              <a:buChar char="•"/>
            </a:pPr>
            <a:r>
              <a:rPr lang="en-US" sz="2400" dirty="0">
                <a:solidFill>
                  <a:srgbClr val="000000"/>
                </a:solidFill>
                <a:latin typeface="MiSans" pitchFamily="34" charset="0"/>
                <a:ea typeface="MiSans" pitchFamily="34" charset="-122"/>
                <a:cs typeface="MiSans" pitchFamily="34" charset="-120"/>
              </a:rPr>
              <a:t>研究满足信道资产流动性的再平衡机制</a:t>
            </a:r>
            <a:endParaRPr lang="en-US" sz="2400" dirty="0"/>
          </a:p>
          <a:p>
            <a:pPr algn="l" marL="381000" indent="-381000">
              <a:lnSpc>
                <a:spcPct val="120000"/>
              </a:lnSpc>
              <a:spcBef>
                <a:spcPts val="10"/>
              </a:spcBef>
              <a:buSzPct val="100000"/>
              <a:buChar char="•"/>
            </a:pPr>
            <a:r>
              <a:rPr lang="en-US" sz="2400" dirty="0">
                <a:solidFill>
                  <a:srgbClr val="000000"/>
                </a:solidFill>
                <a:latin typeface="MiSans" pitchFamily="34" charset="0"/>
                <a:ea typeface="MiSans" pitchFamily="34" charset="-122"/>
                <a:cs typeface="MiSans" pitchFamily="34" charset="-120"/>
              </a:rPr>
              <a:t>设计高效虚拟信道协议</a:t>
            </a:r>
            <a:endParaRPr lang="en-US" sz="2400" dirty="0"/>
          </a:p>
          <a:p>
            <a:pPr algn="l" marL="381000" indent="-381000">
              <a:lnSpc>
                <a:spcPct val="120000"/>
              </a:lnSpc>
              <a:spcBef>
                <a:spcPts val="10"/>
              </a:spcBef>
              <a:buSzPct val="100000"/>
              <a:buChar char="•"/>
            </a:pPr>
            <a:r>
              <a:rPr lang="en-US" sz="2400" dirty="0">
                <a:solidFill>
                  <a:srgbClr val="000000"/>
                </a:solidFill>
                <a:latin typeface="MiSans" pitchFamily="34" charset="0"/>
                <a:ea typeface="MiSans" pitchFamily="34" charset="-122"/>
                <a:cs typeface="MiSans" pitchFamily="34" charset="-120"/>
              </a:rPr>
              <a:t>设计多方信道安全更新协议</a:t>
            </a:r>
            <a:endParaRPr lang="en-US" sz="2400" dirty="0"/>
          </a:p>
          <a:p>
            <a:pPr algn="l" marL="381000" indent="-381000">
              <a:lnSpc>
                <a:spcPct val="120000"/>
              </a:lnSpc>
              <a:spcBef>
                <a:spcPts val="10"/>
              </a:spcBef>
              <a:buSzPct val="100000"/>
              <a:buChar char="•"/>
            </a:pPr>
            <a:r>
              <a:rPr lang="en-US" sz="2400" dirty="0">
                <a:solidFill>
                  <a:srgbClr val="000000"/>
                </a:solidFill>
                <a:latin typeface="MiSans" pitchFamily="34" charset="0"/>
                <a:ea typeface="MiSans" pitchFamily="34" charset="-122"/>
                <a:cs typeface="MiSans" pitchFamily="34" charset="-120"/>
              </a:rPr>
              <a:t>完成实验并在真实网络中进行测试</a:t>
            </a:r>
            <a:endParaRPr lang="en-US" sz="2400" dirty="0"/>
          </a:p>
        </p:txBody>
      </p:sp>
      <p:pic>
        <p:nvPicPr>
          <p:cNvPr id="21" name="Image 1" descr="https://kimi-img.moonshot.cn/pub/slides/okc/flfuysioo4gzm/mnt/agents/output/yuan_pptd/images/image_11.png">    </p:cNvPr>
          <p:cNvPicPr>
            <a:picLocks noChangeAspect="1"/>
          </p:cNvPicPr>
          <p:nvPr/>
        </p:nvPicPr>
        <p:blipFill>
          <a:blip r:embed="rId2"/>
          <a:stretch>
            <a:fillRect/>
          </a:stretch>
        </p:blipFill>
        <p:spPr>
          <a:xfrm>
            <a:off x="8594217" y="3162554"/>
            <a:ext cx="5738876" cy="2918206"/>
          </a:xfrm>
          <a:prstGeom prst="rect">
            <a:avLst/>
          </a:prstGeom>
        </p:spPr>
      </p:pic>
      <p:sp>
        <p:nvSpPr>
          <p:cNvPr id="22" name="Text 17"/>
          <p:cNvSpPr/>
          <p:nvPr/>
        </p:nvSpPr>
        <p:spPr>
          <a:xfrm>
            <a:off x="8402701" y="6211951"/>
            <a:ext cx="6121908" cy="997712"/>
          </a:xfrm>
          <a:prstGeom prst="rect">
            <a:avLst/>
          </a:prstGeom>
          <a:noFill/>
          <a:ln/>
        </p:spPr>
        <p:txBody>
          <a:bodyPr wrap="square" lIns="0" tIns="0" rIns="0" bIns="0" rtlCol="0" anchor="t"/>
          <a:lstStyle/>
          <a:p>
            <a:pPr algn="l">
              <a:lnSpc>
                <a:spcPct val="150000"/>
              </a:lnSpc>
            </a:pPr>
            <a:r>
              <a:rPr lang="en-US" sz="1870" dirty="0">
                <a:solidFill>
                  <a:srgbClr val="000000"/>
                </a:solidFill>
                <a:latin typeface="MiSans" pitchFamily="34" charset="0"/>
                <a:ea typeface="MiSans" pitchFamily="34" charset="-122"/>
                <a:cs typeface="MiSans" pitchFamily="34" charset="-120"/>
              </a:rPr>
              <a:t>现有链下可扩展性方案对于多跳支付导致的方向性永久流量衰减只起到暂时的缓解作用，不能释放其理想性能</a:t>
            </a:r>
            <a:endParaRPr lang="en-US" sz="1870" dirty="0"/>
          </a:p>
        </p:txBody>
      </p:sp>
      <p:sp>
        <p:nvSpPr>
          <p:cNvPr id="23" name="Text 18"/>
          <p:cNvSpPr/>
          <p:nvPr/>
        </p:nvSpPr>
        <p:spPr>
          <a:xfrm>
            <a:off x="15649067" y="8666353"/>
            <a:ext cx="606933" cy="492506"/>
          </a:xfrm>
          <a:prstGeom prst="rect">
            <a:avLst/>
          </a:prstGeom>
          <a:noFill/>
          <a:ln/>
        </p:spPr>
        <p:txBody>
          <a:bodyPr wrap="square" lIns="0" tIns="0" rIns="0" bIns="0" rtlCol="0" anchor="t"/>
          <a:lstStyle/>
          <a:p>
            <a:pPr algn="ctr">
              <a:lnSpc>
                <a:spcPct val="120000"/>
              </a:lnSpc>
            </a:pPr>
            <a:r>
              <a:rPr lang="en-US" sz="2400" dirty="0">
                <a:solidFill>
                  <a:srgbClr val="000000"/>
                </a:solidFill>
                <a:latin typeface="Arial" pitchFamily="34" charset="0"/>
                <a:ea typeface="Arial" pitchFamily="34" charset="-122"/>
                <a:cs typeface="Arial" pitchFamily="34" charset="-120"/>
              </a:rPr>
              <a:t>24</a:t>
            </a:r>
            <a:endParaRPr lang="en-US" sz="2400" dirty="0"/>
          </a:p>
        </p:txBody>
      </p:sp>
    </p:spTree>
  </p:cSld>
  <p:clrMapOvr>
    <a:masterClrMapping/>
  </p:clrMapOvr>
  <p:transition>
    <p:fade/>
    <p:spd val="med"/>
  </p:transition>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7816469" y="-889"/>
            <a:ext cx="4114800" cy="962660"/>
          </a:xfrm>
          <a:prstGeom prst="rect">
            <a:avLst/>
          </a:prstGeom>
          <a:solidFill>
            <a:srgbClr val="F2F2F2"/>
          </a:solidFill>
          <a:ln w="12700">
            <a:solidFill>
              <a:srgbClr val="F2F2F2"/>
            </a:solidFill>
            <a:prstDash val="solid"/>
          </a:ln>
        </p:spPr>
      </p:sp>
      <p:sp>
        <p:nvSpPr>
          <p:cNvPr id="4" name="Shape 1"/>
          <p:cNvSpPr/>
          <p:nvPr/>
        </p:nvSpPr>
        <p:spPr>
          <a:xfrm>
            <a:off x="7816469" y="4191"/>
            <a:ext cx="4114800" cy="962660"/>
          </a:xfrm>
          <a:prstGeom prst="rect">
            <a:avLst/>
          </a:prstGeom>
          <a:solidFill>
            <a:srgbClr val="04579A"/>
          </a:solidFill>
          <a:ln w="12700">
            <a:solidFill>
              <a:srgbClr val="04579A"/>
            </a:solidFill>
            <a:prstDash val="solid"/>
          </a:ln>
        </p:spPr>
      </p:sp>
      <p:sp>
        <p:nvSpPr>
          <p:cNvPr id="5" name="Shape 2"/>
          <p:cNvSpPr/>
          <p:nvPr/>
        </p:nvSpPr>
        <p:spPr>
          <a:xfrm>
            <a:off x="5162169" y="-889"/>
            <a:ext cx="2590800" cy="962660"/>
          </a:xfrm>
          <a:prstGeom prst="rect">
            <a:avLst/>
          </a:prstGeom>
          <a:solidFill>
            <a:srgbClr val="F2F2F2"/>
          </a:solidFill>
          <a:ln w="12700">
            <a:solidFill>
              <a:srgbClr val="F2F2F2"/>
            </a:solidFill>
            <a:prstDash val="solid"/>
          </a:ln>
        </p:spPr>
      </p:sp>
      <p:sp>
        <p:nvSpPr>
          <p:cNvPr id="6" name="Shape 3"/>
          <p:cNvSpPr/>
          <p:nvPr/>
        </p:nvSpPr>
        <p:spPr>
          <a:xfrm>
            <a:off x="11971020" y="0"/>
            <a:ext cx="4284980" cy="961771"/>
          </a:xfrm>
          <a:prstGeom prst="rect">
            <a:avLst/>
          </a:prstGeom>
          <a:solidFill>
            <a:srgbClr val="F2F2F2"/>
          </a:solidFill>
          <a:ln/>
        </p:spPr>
      </p:sp>
      <p:sp>
        <p:nvSpPr>
          <p:cNvPr id="7" name="Shape 4"/>
          <p:cNvSpPr/>
          <p:nvPr/>
        </p:nvSpPr>
        <p:spPr>
          <a:xfrm>
            <a:off x="2219960" y="-889"/>
            <a:ext cx="2895600" cy="962660"/>
          </a:xfrm>
          <a:prstGeom prst="rect">
            <a:avLst/>
          </a:prstGeom>
          <a:solidFill>
            <a:srgbClr val="F2F2F2"/>
          </a:solidFill>
          <a:ln w="12700">
            <a:solidFill>
              <a:srgbClr val="F2F2F2"/>
            </a:solidFill>
            <a:prstDash val="solid"/>
          </a:ln>
        </p:spPr>
      </p:sp>
      <p:sp>
        <p:nvSpPr>
          <p:cNvPr id="8" name="Text 5"/>
          <p:cNvSpPr/>
          <p:nvPr/>
        </p:nvSpPr>
        <p:spPr>
          <a:xfrm>
            <a:off x="2283460" y="203200"/>
            <a:ext cx="27686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选题背景及意义</a:t>
            </a:r>
            <a:endParaRPr lang="en-US" sz="2000" dirty="0"/>
          </a:p>
        </p:txBody>
      </p:sp>
      <p:sp>
        <p:nvSpPr>
          <p:cNvPr id="9" name="Text 6"/>
          <p:cNvSpPr/>
          <p:nvPr/>
        </p:nvSpPr>
        <p:spPr>
          <a:xfrm>
            <a:off x="5225669" y="203200"/>
            <a:ext cx="24638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国内外研究现状</a:t>
            </a:r>
            <a:endParaRPr lang="en-US" sz="2000" dirty="0"/>
          </a:p>
        </p:txBody>
      </p:sp>
      <p:sp>
        <p:nvSpPr>
          <p:cNvPr id="10" name="Text 7"/>
          <p:cNvSpPr/>
          <p:nvPr/>
        </p:nvSpPr>
        <p:spPr>
          <a:xfrm>
            <a:off x="7879969" y="203200"/>
            <a:ext cx="3987800" cy="508000"/>
          </a:xfrm>
          <a:prstGeom prst="rect">
            <a:avLst/>
          </a:prstGeom>
          <a:noFill/>
          <a:ln/>
        </p:spPr>
        <p:txBody>
          <a:bodyPr wrap="none" lIns="0" tIns="0" rIns="0" bIns="0" rtlCol="0" anchor="ctr"/>
          <a:lstStyle/>
          <a:p>
            <a:pPr algn="ctr">
              <a:lnSpc>
                <a:spcPct val="120000"/>
              </a:lnSpc>
            </a:pPr>
            <a:r>
              <a:rPr lang="en-US" sz="2000" dirty="0">
                <a:solidFill>
                  <a:srgbClr val="FFFFFF"/>
                </a:solidFill>
                <a:latin typeface="Arial" pitchFamily="34" charset="0"/>
                <a:ea typeface="Arial" pitchFamily="34" charset="-122"/>
                <a:cs typeface="Arial" pitchFamily="34" charset="-120"/>
              </a:rPr>
              <a:t>主要研究内容及预期目标</a:t>
            </a:r>
            <a:endParaRPr lang="en-US" sz="2000" dirty="0"/>
          </a:p>
        </p:txBody>
      </p:sp>
      <p:sp>
        <p:nvSpPr>
          <p:cNvPr id="11" name="Text 8"/>
          <p:cNvSpPr/>
          <p:nvPr/>
        </p:nvSpPr>
        <p:spPr>
          <a:xfrm>
            <a:off x="12034520" y="203200"/>
            <a:ext cx="415798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工作计划与进度安排</a:t>
            </a:r>
            <a:endParaRPr lang="en-US" sz="2000" dirty="0"/>
          </a:p>
        </p:txBody>
      </p:sp>
      <p:pic>
        <p:nvPicPr>
          <p:cNvPr id="12" name="Image 0" descr="https://kimi-img.moonshot.cn/pub/slides/okc/flfuysioo4gzm/mnt/agents/output/yuan_pptd/images/image_2.jpg">    </p:cNvPr>
          <p:cNvPicPr>
            <a:picLocks noChangeAspect="1"/>
          </p:cNvPicPr>
          <p:nvPr/>
        </p:nvPicPr>
        <p:blipFill>
          <a:blip r:embed="rId1"/>
          <a:srcRect l="5060" r="29000" t="0" b="0"/>
          <a:stretch/>
        </p:blipFill>
        <p:spPr>
          <a:xfrm>
            <a:off x="544449" y="140589"/>
            <a:ext cx="1273429" cy="745871"/>
          </a:xfrm>
          <a:prstGeom prst="rect">
            <a:avLst/>
          </a:prstGeom>
        </p:spPr>
      </p:pic>
      <p:sp>
        <p:nvSpPr>
          <p:cNvPr id="13" name="Shape 9"/>
          <p:cNvSpPr/>
          <p:nvPr/>
        </p:nvSpPr>
        <p:spPr>
          <a:xfrm rot="10800000">
            <a:off x="9699371" y="961009"/>
            <a:ext cx="389509" cy="304800"/>
          </a:xfrm>
          <a:prstGeom prst="triangle">
            <a:avLst>
              <a:gd name="adj" fmla="val 50000"/>
            </a:avLst>
          </a:prstGeom>
          <a:solidFill>
            <a:srgbClr val="04579A"/>
          </a:solidFill>
          <a:ln/>
        </p:spPr>
      </p:sp>
      <p:sp>
        <p:nvSpPr>
          <p:cNvPr id="14" name="Text 10"/>
          <p:cNvSpPr/>
          <p:nvPr/>
        </p:nvSpPr>
        <p:spPr>
          <a:xfrm>
            <a:off x="793369" y="1895729"/>
            <a:ext cx="14411960" cy="533527"/>
          </a:xfrm>
          <a:prstGeom prst="rect">
            <a:avLst/>
          </a:prstGeom>
          <a:noFill/>
          <a:ln/>
        </p:spPr>
        <p:txBody>
          <a:bodyPr wrap="square" lIns="0" tIns="0" rIns="0" bIns="0" rtlCol="0" anchor="t"/>
          <a:lstStyle/>
          <a:p>
            <a:pPr algn="l">
              <a:lnSpc>
                <a:spcPct val="120000"/>
              </a:lnSpc>
            </a:pPr>
            <a:r>
              <a:rPr lang="en-US" sz="2670" b="1" dirty="0">
                <a:solidFill>
                  <a:srgbClr val="04579A"/>
                </a:solidFill>
                <a:latin typeface="Arial" pitchFamily="34" charset="0"/>
                <a:ea typeface="Arial" pitchFamily="34" charset="-122"/>
                <a:cs typeface="Arial" pitchFamily="34" charset="-120"/>
              </a:rPr>
              <a:t>多源异构环境下分布式数字资产跨链验证协议设计与分析</a:t>
            </a:r>
            <a:pPr algn="l">
              <a:lnSpc>
                <a:spcPct val="120000"/>
              </a:lnSpc>
            </a:pPr>
            <a:r>
              <a:rPr lang="en-US" sz="2670" b="1" dirty="0">
                <a:solidFill>
                  <a:srgbClr val="04579A"/>
                </a:solidFill>
                <a:latin typeface="MiSans" pitchFamily="34" charset="0"/>
                <a:ea typeface="MiSans" pitchFamily="34" charset="-122"/>
                <a:cs typeface="MiSans" pitchFamily="34" charset="-120"/>
              </a:rPr>
              <a:t>	</a:t>
            </a:r>
            <a:endParaRPr lang="en-US" sz="2670" dirty="0"/>
          </a:p>
        </p:txBody>
      </p:sp>
      <p:sp>
        <p:nvSpPr>
          <p:cNvPr id="15" name="Shape 11"/>
          <p:cNvSpPr/>
          <p:nvPr/>
        </p:nvSpPr>
        <p:spPr>
          <a:xfrm>
            <a:off x="793369" y="6864731"/>
            <a:ext cx="2152269" cy="550291"/>
          </a:xfrm>
          <a:prstGeom prst="parallelogram">
            <a:avLst>
              <a:gd name="adj" fmla="val 25000"/>
            </a:avLst>
          </a:prstGeom>
          <a:solidFill>
            <a:srgbClr val="04579A"/>
          </a:solidFill>
          <a:ln w="12700">
            <a:solidFill>
              <a:srgbClr val="304B73"/>
            </a:solidFill>
            <a:prstDash val="solid"/>
          </a:ln>
        </p:spPr>
      </p:sp>
      <p:sp>
        <p:nvSpPr>
          <p:cNvPr id="16" name="Text 12"/>
          <p:cNvSpPr/>
          <p:nvPr/>
        </p:nvSpPr>
        <p:spPr>
          <a:xfrm>
            <a:off x="793369" y="6864731"/>
            <a:ext cx="2152269" cy="550291"/>
          </a:xfrm>
          <a:prstGeom prst="rect">
            <a:avLst/>
          </a:prstGeom>
          <a:noFill/>
          <a:ln/>
        </p:spPr>
        <p:txBody>
          <a:bodyPr wrap="square" lIns="0" tIns="0" rIns="0" bIns="0" rtlCol="0" anchor="ctr"/>
          <a:lstStyle/>
          <a:p>
            <a:pPr algn="ctr">
              <a:lnSpc>
                <a:spcPct val="120000"/>
              </a:lnSpc>
            </a:pPr>
            <a:r>
              <a:rPr lang="en-US" sz="2400" b="1" dirty="0">
                <a:solidFill>
                  <a:srgbClr val="FFFFFF"/>
                </a:solidFill>
                <a:latin typeface="Arial" pitchFamily="34" charset="0"/>
                <a:ea typeface="Arial" pitchFamily="34" charset="-122"/>
                <a:cs typeface="Arial" pitchFamily="34" charset="-120"/>
              </a:rPr>
              <a:t>预期目标</a:t>
            </a:r>
            <a:endParaRPr lang="en-US" sz="2400" dirty="0"/>
          </a:p>
        </p:txBody>
      </p:sp>
      <p:sp>
        <p:nvSpPr>
          <p:cNvPr id="17" name="Text 13"/>
          <p:cNvSpPr/>
          <p:nvPr/>
        </p:nvSpPr>
        <p:spPr>
          <a:xfrm>
            <a:off x="1253871" y="7546340"/>
            <a:ext cx="13355320" cy="1440180"/>
          </a:xfrm>
          <a:prstGeom prst="rect">
            <a:avLst/>
          </a:prstGeom>
          <a:noFill/>
          <a:ln/>
        </p:spPr>
        <p:txBody>
          <a:bodyPr wrap="square" lIns="0" tIns="0" rIns="0" bIns="0" rtlCol="0" anchor="t"/>
          <a:lstStyle/>
          <a:p>
            <a:pPr algn="l" marL="381000" indent="-381000">
              <a:lnSpc>
                <a:spcPct val="120000"/>
              </a:lnSpc>
              <a:spcBef>
                <a:spcPts val="10"/>
              </a:spcBef>
              <a:buSzPct val="100000"/>
              <a:buChar char="•"/>
            </a:pPr>
            <a:r>
              <a:rPr lang="en-US" sz="2400" dirty="0">
                <a:solidFill>
                  <a:srgbClr val="000000"/>
                </a:solidFill>
                <a:latin typeface="Arial" pitchFamily="34" charset="0"/>
                <a:ea typeface="Arial" pitchFamily="34" charset="-122"/>
                <a:cs typeface="Arial" pitchFamily="34" charset="-120"/>
              </a:rPr>
              <a:t>设计互操作性增强的高效分布式数字资产交易协议</a:t>
            </a:r>
            <a:endParaRPr lang="en-US" sz="2400" dirty="0"/>
          </a:p>
        </p:txBody>
      </p:sp>
      <p:sp>
        <p:nvSpPr>
          <p:cNvPr id="18" name="Shape 14"/>
          <p:cNvSpPr/>
          <p:nvPr/>
        </p:nvSpPr>
        <p:spPr>
          <a:xfrm>
            <a:off x="793369" y="2685669"/>
            <a:ext cx="2152269" cy="550291"/>
          </a:xfrm>
          <a:prstGeom prst="parallelogram">
            <a:avLst>
              <a:gd name="adj" fmla="val 25000"/>
            </a:avLst>
          </a:prstGeom>
          <a:solidFill>
            <a:srgbClr val="04579A"/>
          </a:solidFill>
          <a:ln w="12700">
            <a:solidFill>
              <a:srgbClr val="304B73"/>
            </a:solidFill>
            <a:prstDash val="solid"/>
          </a:ln>
        </p:spPr>
      </p:sp>
      <p:sp>
        <p:nvSpPr>
          <p:cNvPr id="19" name="Text 15"/>
          <p:cNvSpPr/>
          <p:nvPr/>
        </p:nvSpPr>
        <p:spPr>
          <a:xfrm>
            <a:off x="793369" y="2685669"/>
            <a:ext cx="2152269" cy="550291"/>
          </a:xfrm>
          <a:prstGeom prst="rect">
            <a:avLst/>
          </a:prstGeom>
          <a:noFill/>
          <a:ln/>
        </p:spPr>
        <p:txBody>
          <a:bodyPr wrap="square" lIns="0" tIns="0" rIns="0" bIns="0" rtlCol="0" anchor="ctr"/>
          <a:lstStyle/>
          <a:p>
            <a:pPr algn="ctr">
              <a:lnSpc>
                <a:spcPct val="120000"/>
              </a:lnSpc>
            </a:pPr>
            <a:r>
              <a:rPr lang="en-US" sz="2400" b="1" dirty="0">
                <a:solidFill>
                  <a:srgbClr val="FFFFFF"/>
                </a:solidFill>
                <a:latin typeface="Arial" pitchFamily="34" charset="0"/>
                <a:ea typeface="Arial" pitchFamily="34" charset="-122"/>
                <a:cs typeface="Arial" pitchFamily="34" charset="-120"/>
              </a:rPr>
              <a:t>研究内容</a:t>
            </a:r>
            <a:endParaRPr lang="en-US" sz="2400" dirty="0"/>
          </a:p>
        </p:txBody>
      </p:sp>
      <p:sp>
        <p:nvSpPr>
          <p:cNvPr id="20" name="Text 16"/>
          <p:cNvSpPr/>
          <p:nvPr/>
        </p:nvSpPr>
        <p:spPr>
          <a:xfrm>
            <a:off x="793369" y="3657600"/>
            <a:ext cx="6474333" cy="2301621"/>
          </a:xfrm>
          <a:prstGeom prst="rect">
            <a:avLst/>
          </a:prstGeom>
          <a:noFill/>
          <a:ln/>
        </p:spPr>
        <p:txBody>
          <a:bodyPr wrap="square" lIns="0" tIns="0" rIns="0" bIns="0" rtlCol="0" anchor="t"/>
          <a:lstStyle/>
          <a:p>
            <a:pPr algn="l" marL="381000" indent="-381000">
              <a:lnSpc>
                <a:spcPct val="120000"/>
              </a:lnSpc>
              <a:spcBef>
                <a:spcPts val="10"/>
              </a:spcBef>
              <a:buSzPct val="100000"/>
              <a:buChar char="•"/>
            </a:pPr>
            <a:r>
              <a:rPr lang="en-US" sz="2400" dirty="0">
                <a:solidFill>
                  <a:srgbClr val="000000"/>
                </a:solidFill>
                <a:latin typeface="MiSans" pitchFamily="34" charset="0"/>
                <a:ea typeface="MiSans" pitchFamily="34" charset="-122"/>
                <a:cs typeface="MiSans" pitchFamily="34" charset="-120"/>
              </a:rPr>
              <a:t>研究异构区块链之间通用跨链交易验证机制</a:t>
            </a:r>
            <a:endParaRPr lang="en-US" sz="2400" dirty="0"/>
          </a:p>
          <a:p>
            <a:pPr algn="l" marL="381000" indent="-381000">
              <a:lnSpc>
                <a:spcPct val="120000"/>
              </a:lnSpc>
              <a:spcBef>
                <a:spcPts val="10"/>
              </a:spcBef>
              <a:buSzPct val="100000"/>
              <a:buChar char="•"/>
            </a:pPr>
            <a:r>
              <a:rPr lang="en-US" sz="2400" dirty="0">
                <a:solidFill>
                  <a:srgbClr val="000000"/>
                </a:solidFill>
                <a:latin typeface="MiSans" pitchFamily="34" charset="0"/>
                <a:ea typeface="MiSans" pitchFamily="34" charset="-122"/>
                <a:cs typeface="MiSans" pitchFamily="34" charset="-120"/>
              </a:rPr>
              <a:t>使用基础数字签名技术结合随机化承诺方案弱化目标链上条件支付的脚本语言需求</a:t>
            </a:r>
            <a:endParaRPr lang="en-US" sz="2400" dirty="0"/>
          </a:p>
          <a:p>
            <a:pPr algn="l" marL="381000" indent="-381000">
              <a:lnSpc>
                <a:spcPct val="120000"/>
              </a:lnSpc>
              <a:spcBef>
                <a:spcPts val="10"/>
              </a:spcBef>
              <a:buSzPct val="100000"/>
              <a:buChar char="•"/>
            </a:pPr>
            <a:r>
              <a:rPr lang="en-US" sz="2400" dirty="0">
                <a:solidFill>
                  <a:srgbClr val="000000"/>
                </a:solidFill>
                <a:latin typeface="MiSans" pitchFamily="34" charset="0"/>
                <a:ea typeface="MiSans" pitchFamily="34" charset="-122"/>
                <a:cs typeface="MiSans" pitchFamily="34" charset="-120"/>
              </a:rPr>
              <a:t>实现链下状态更新和条件支付之间的双向绑定机制</a:t>
            </a:r>
            <a:endParaRPr lang="en-US" sz="2400" dirty="0"/>
          </a:p>
        </p:txBody>
      </p:sp>
      <p:pic>
        <p:nvPicPr>
          <p:cNvPr id="21" name="Image 1" descr="https://kimi-img.moonshot.cn/pub/slides/okc/flfuysioo4gzm/mnt/agents/output/yuan_pptd/images/image_12.png">    </p:cNvPr>
          <p:cNvPicPr>
            <a:picLocks noChangeAspect="1"/>
          </p:cNvPicPr>
          <p:nvPr/>
        </p:nvPicPr>
        <p:blipFill>
          <a:blip r:embed="rId2"/>
          <a:stretch>
            <a:fillRect/>
          </a:stretch>
        </p:blipFill>
        <p:spPr>
          <a:xfrm>
            <a:off x="7891018" y="2852928"/>
            <a:ext cx="7630414" cy="3911727"/>
          </a:xfrm>
          <a:prstGeom prst="rect">
            <a:avLst/>
          </a:prstGeom>
        </p:spPr>
      </p:pic>
      <p:sp>
        <p:nvSpPr>
          <p:cNvPr id="22" name="Text 17"/>
          <p:cNvSpPr/>
          <p:nvPr/>
        </p:nvSpPr>
        <p:spPr>
          <a:xfrm>
            <a:off x="15649067" y="8666353"/>
            <a:ext cx="606933" cy="492506"/>
          </a:xfrm>
          <a:prstGeom prst="rect">
            <a:avLst/>
          </a:prstGeom>
          <a:noFill/>
          <a:ln/>
        </p:spPr>
        <p:txBody>
          <a:bodyPr wrap="square" lIns="0" tIns="0" rIns="0" bIns="0" rtlCol="0" anchor="t"/>
          <a:lstStyle/>
          <a:p>
            <a:pPr algn="ctr">
              <a:lnSpc>
                <a:spcPct val="120000"/>
              </a:lnSpc>
            </a:pPr>
            <a:r>
              <a:rPr lang="en-US" sz="2400" dirty="0">
                <a:solidFill>
                  <a:srgbClr val="000000"/>
                </a:solidFill>
                <a:latin typeface="Arial" pitchFamily="34" charset="0"/>
                <a:ea typeface="Arial" pitchFamily="34" charset="-122"/>
                <a:cs typeface="Arial" pitchFamily="34" charset="-120"/>
              </a:rPr>
              <a:t>25</a:t>
            </a:r>
            <a:endParaRPr lang="en-US" sz="2400" dirty="0"/>
          </a:p>
        </p:txBody>
      </p:sp>
    </p:spTree>
  </p:cSld>
  <p:clrMapOvr>
    <a:masterClrMapping/>
  </p:clrMapOvr>
  <p:transition>
    <p:fade/>
    <p:spd val="med"/>
  </p:transition>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11971020" y="0"/>
            <a:ext cx="4284980" cy="961771"/>
          </a:xfrm>
          <a:prstGeom prst="rect">
            <a:avLst/>
          </a:prstGeom>
          <a:solidFill>
            <a:srgbClr val="F2F2F2"/>
          </a:solidFill>
          <a:ln/>
        </p:spPr>
      </p:sp>
      <p:sp>
        <p:nvSpPr>
          <p:cNvPr id="4" name="Shape 1"/>
          <p:cNvSpPr/>
          <p:nvPr/>
        </p:nvSpPr>
        <p:spPr>
          <a:xfrm>
            <a:off x="11970131" y="4191"/>
            <a:ext cx="4284980" cy="962660"/>
          </a:xfrm>
          <a:prstGeom prst="rect">
            <a:avLst/>
          </a:prstGeom>
          <a:solidFill>
            <a:srgbClr val="04579A"/>
          </a:solidFill>
          <a:ln w="12700">
            <a:solidFill>
              <a:srgbClr val="04579A"/>
            </a:solidFill>
            <a:prstDash val="solid"/>
          </a:ln>
        </p:spPr>
      </p:sp>
      <p:sp>
        <p:nvSpPr>
          <p:cNvPr id="5" name="Shape 2"/>
          <p:cNvSpPr/>
          <p:nvPr/>
        </p:nvSpPr>
        <p:spPr>
          <a:xfrm>
            <a:off x="7816469" y="-889"/>
            <a:ext cx="4114800" cy="962660"/>
          </a:xfrm>
          <a:prstGeom prst="rect">
            <a:avLst/>
          </a:prstGeom>
          <a:solidFill>
            <a:srgbClr val="F2F2F2"/>
          </a:solidFill>
          <a:ln w="12700">
            <a:solidFill>
              <a:srgbClr val="F2F2F2"/>
            </a:solidFill>
            <a:prstDash val="solid"/>
          </a:ln>
        </p:spPr>
      </p:sp>
      <p:sp>
        <p:nvSpPr>
          <p:cNvPr id="6" name="Shape 3"/>
          <p:cNvSpPr/>
          <p:nvPr/>
        </p:nvSpPr>
        <p:spPr>
          <a:xfrm>
            <a:off x="5162169" y="-889"/>
            <a:ext cx="2590800" cy="962660"/>
          </a:xfrm>
          <a:prstGeom prst="rect">
            <a:avLst/>
          </a:prstGeom>
          <a:solidFill>
            <a:srgbClr val="F2F2F2"/>
          </a:solidFill>
          <a:ln w="12700">
            <a:solidFill>
              <a:srgbClr val="F2F2F2"/>
            </a:solidFill>
            <a:prstDash val="solid"/>
          </a:ln>
        </p:spPr>
      </p:sp>
      <p:sp>
        <p:nvSpPr>
          <p:cNvPr id="7" name="Shape 4"/>
          <p:cNvSpPr/>
          <p:nvPr/>
        </p:nvSpPr>
        <p:spPr>
          <a:xfrm>
            <a:off x="2219960" y="-889"/>
            <a:ext cx="2895600" cy="962660"/>
          </a:xfrm>
          <a:prstGeom prst="rect">
            <a:avLst/>
          </a:prstGeom>
          <a:solidFill>
            <a:srgbClr val="F2F2F2"/>
          </a:solidFill>
          <a:ln w="12700">
            <a:solidFill>
              <a:srgbClr val="F2F2F2"/>
            </a:solidFill>
            <a:prstDash val="solid"/>
          </a:ln>
        </p:spPr>
      </p:sp>
      <p:sp>
        <p:nvSpPr>
          <p:cNvPr id="8" name="Text 5"/>
          <p:cNvSpPr/>
          <p:nvPr/>
        </p:nvSpPr>
        <p:spPr>
          <a:xfrm>
            <a:off x="2283460" y="203200"/>
            <a:ext cx="27686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选题背景及意义</a:t>
            </a:r>
            <a:endParaRPr lang="en-US" sz="2000" dirty="0"/>
          </a:p>
        </p:txBody>
      </p:sp>
      <p:sp>
        <p:nvSpPr>
          <p:cNvPr id="9" name="Text 6"/>
          <p:cNvSpPr/>
          <p:nvPr/>
        </p:nvSpPr>
        <p:spPr>
          <a:xfrm>
            <a:off x="5225669" y="203200"/>
            <a:ext cx="24638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国内外研究现状</a:t>
            </a:r>
            <a:endParaRPr lang="en-US" sz="2000" dirty="0"/>
          </a:p>
        </p:txBody>
      </p:sp>
      <p:sp>
        <p:nvSpPr>
          <p:cNvPr id="10" name="Text 7"/>
          <p:cNvSpPr/>
          <p:nvPr/>
        </p:nvSpPr>
        <p:spPr>
          <a:xfrm>
            <a:off x="7879969" y="203200"/>
            <a:ext cx="39878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主要研究内容及预期目标</a:t>
            </a:r>
            <a:endParaRPr lang="en-US" sz="2000" dirty="0"/>
          </a:p>
        </p:txBody>
      </p:sp>
      <p:sp>
        <p:nvSpPr>
          <p:cNvPr id="11" name="Text 8"/>
          <p:cNvSpPr/>
          <p:nvPr/>
        </p:nvSpPr>
        <p:spPr>
          <a:xfrm>
            <a:off x="12034520" y="203200"/>
            <a:ext cx="4157980" cy="508000"/>
          </a:xfrm>
          <a:prstGeom prst="rect">
            <a:avLst/>
          </a:prstGeom>
          <a:noFill/>
          <a:ln/>
        </p:spPr>
        <p:txBody>
          <a:bodyPr wrap="none" lIns="0" tIns="0" rIns="0" bIns="0" rtlCol="0" anchor="ctr"/>
          <a:lstStyle/>
          <a:p>
            <a:pPr algn="ctr">
              <a:lnSpc>
                <a:spcPct val="120000"/>
              </a:lnSpc>
            </a:pPr>
            <a:r>
              <a:rPr lang="en-US" sz="2000" dirty="0">
                <a:solidFill>
                  <a:srgbClr val="FFFFFF"/>
                </a:solidFill>
                <a:latin typeface="Arial" pitchFamily="34" charset="0"/>
                <a:ea typeface="Arial" pitchFamily="34" charset="-122"/>
                <a:cs typeface="Arial" pitchFamily="34" charset="-120"/>
              </a:rPr>
              <a:t>工作计划与进度安排</a:t>
            </a:r>
            <a:endParaRPr lang="en-US" sz="2000" dirty="0"/>
          </a:p>
        </p:txBody>
      </p:sp>
      <p:pic>
        <p:nvPicPr>
          <p:cNvPr id="12" name="Image 0" descr="https://kimi-img.moonshot.cn/pub/slides/okc/flfuysioo4gzm/mnt/agents/output/yuan_pptd/images/image_2.jpg">    </p:cNvPr>
          <p:cNvPicPr>
            <a:picLocks noChangeAspect="1"/>
          </p:cNvPicPr>
          <p:nvPr/>
        </p:nvPicPr>
        <p:blipFill>
          <a:blip r:embed="rId1"/>
          <a:srcRect l="5060" r="29000" t="0" b="0"/>
          <a:stretch/>
        </p:blipFill>
        <p:spPr>
          <a:xfrm>
            <a:off x="544449" y="140589"/>
            <a:ext cx="1273429" cy="745871"/>
          </a:xfrm>
          <a:prstGeom prst="rect">
            <a:avLst/>
          </a:prstGeom>
        </p:spPr>
      </p:pic>
      <p:sp>
        <p:nvSpPr>
          <p:cNvPr id="13" name="Shape 9"/>
          <p:cNvSpPr/>
          <p:nvPr/>
        </p:nvSpPr>
        <p:spPr>
          <a:xfrm rot="10800000">
            <a:off x="14222349" y="961009"/>
            <a:ext cx="389509" cy="304800"/>
          </a:xfrm>
          <a:prstGeom prst="triangle">
            <a:avLst>
              <a:gd name="adj" fmla="val 50000"/>
            </a:avLst>
          </a:prstGeom>
          <a:solidFill>
            <a:srgbClr val="04579A"/>
          </a:solidFill>
          <a:ln/>
        </p:spPr>
      </p:sp>
      <p:sp>
        <p:nvSpPr>
          <p:cNvPr id="14" name="Text 10"/>
          <p:cNvSpPr/>
          <p:nvPr/>
        </p:nvSpPr>
        <p:spPr>
          <a:xfrm>
            <a:off x="4593971" y="7057771"/>
            <a:ext cx="8128000" cy="564769"/>
          </a:xfrm>
          <a:prstGeom prst="rect">
            <a:avLst/>
          </a:prstGeom>
          <a:noFill/>
          <a:ln/>
        </p:spPr>
        <p:txBody>
          <a:bodyPr wrap="square" lIns="0" tIns="0" rIns="0" bIns="0" rtlCol="0" anchor="t"/>
          <a:lstStyle/>
          <a:p>
            <a:pPr algn="l">
              <a:lnSpc>
                <a:spcPct val="120000"/>
              </a:lnSpc>
            </a:pPr>
            <a:r>
              <a:rPr lang="en-US" sz="2400" dirty="0">
                <a:solidFill>
                  <a:srgbClr val="000000"/>
                </a:solidFill>
                <a:latin typeface="Arial" pitchFamily="34" charset="0"/>
                <a:ea typeface="Arial" pitchFamily="34" charset="-122"/>
                <a:cs typeface="Arial" pitchFamily="34" charset="-120"/>
              </a:rPr>
              <a:t>撰写硕士论文，准备毕业答辩</a:t>
            </a:r>
            <a:endParaRPr lang="en-US" sz="2400" dirty="0"/>
          </a:p>
        </p:txBody>
      </p:sp>
      <p:sp>
        <p:nvSpPr>
          <p:cNvPr id="15" name="Shape 11"/>
          <p:cNvSpPr/>
          <p:nvPr/>
        </p:nvSpPr>
        <p:spPr>
          <a:xfrm>
            <a:off x="3621151" y="2262251"/>
            <a:ext cx="0" cy="6096000"/>
          </a:xfrm>
          <a:prstGeom prst="line">
            <a:avLst/>
          </a:prstGeom>
          <a:noFill/>
          <a:ln w="12700">
            <a:solidFill>
              <a:srgbClr val="7F7F7F"/>
            </a:solidFill>
            <a:prstDash val="solid"/>
            <a:headEnd type="none"/>
            <a:tailEnd type="none"/>
          </a:ln>
        </p:spPr>
      </p:sp>
      <p:sp>
        <p:nvSpPr>
          <p:cNvPr id="16" name="Text 12"/>
          <p:cNvSpPr/>
          <p:nvPr/>
        </p:nvSpPr>
        <p:spPr>
          <a:xfrm>
            <a:off x="4555109" y="2727071"/>
            <a:ext cx="9686671" cy="564769"/>
          </a:xfrm>
          <a:prstGeom prst="rect">
            <a:avLst/>
          </a:prstGeom>
          <a:noFill/>
          <a:ln/>
        </p:spPr>
        <p:txBody>
          <a:bodyPr wrap="square" lIns="0" tIns="0" rIns="0" bIns="0" rtlCol="0" anchor="t"/>
          <a:lstStyle/>
          <a:p>
            <a:pPr algn="l">
              <a:lnSpc>
                <a:spcPct val="120000"/>
              </a:lnSpc>
            </a:pPr>
            <a:r>
              <a:rPr lang="en-US" sz="2400" dirty="0">
                <a:solidFill>
                  <a:srgbClr val="000000"/>
                </a:solidFill>
                <a:latin typeface="Arial" pitchFamily="34" charset="0"/>
                <a:ea typeface="Arial" pitchFamily="34" charset="-122"/>
                <a:cs typeface="Arial" pitchFamily="34" charset="-120"/>
              </a:rPr>
              <a:t>完成面向操作参数约束需求的智能体授权协议的设计</a:t>
            </a:r>
            <a:endParaRPr lang="en-US" sz="2400" dirty="0"/>
          </a:p>
        </p:txBody>
      </p:sp>
      <p:sp>
        <p:nvSpPr>
          <p:cNvPr id="17" name="Text 13"/>
          <p:cNvSpPr/>
          <p:nvPr/>
        </p:nvSpPr>
        <p:spPr>
          <a:xfrm>
            <a:off x="4555109" y="4170680"/>
            <a:ext cx="10530840" cy="564769"/>
          </a:xfrm>
          <a:prstGeom prst="rect">
            <a:avLst/>
          </a:prstGeom>
          <a:noFill/>
          <a:ln/>
        </p:spPr>
        <p:txBody>
          <a:bodyPr wrap="square" lIns="0" tIns="0" rIns="0" bIns="0" rtlCol="0" anchor="t"/>
          <a:lstStyle/>
          <a:p>
            <a:pPr algn="l">
              <a:lnSpc>
                <a:spcPct val="120000"/>
              </a:lnSpc>
            </a:pPr>
            <a:r>
              <a:rPr lang="en-US" sz="2400" dirty="0">
                <a:solidFill>
                  <a:srgbClr val="000000"/>
                </a:solidFill>
                <a:latin typeface="Arial" pitchFamily="34" charset="0"/>
                <a:ea typeface="Arial" pitchFamily="34" charset="-122"/>
                <a:cs typeface="Arial" pitchFamily="34" charset="-120"/>
              </a:rPr>
              <a:t>完成面向任务执行顺序约束需求的智能体授权协议协议设计。</a:t>
            </a:r>
            <a:endParaRPr lang="en-US" sz="2400" dirty="0"/>
          </a:p>
        </p:txBody>
      </p:sp>
      <p:sp>
        <p:nvSpPr>
          <p:cNvPr id="18" name="Text 14"/>
          <p:cNvSpPr/>
          <p:nvPr/>
        </p:nvSpPr>
        <p:spPr>
          <a:xfrm>
            <a:off x="4555109" y="5614289"/>
            <a:ext cx="10531729" cy="1007491"/>
          </a:xfrm>
          <a:prstGeom prst="rect">
            <a:avLst/>
          </a:prstGeom>
          <a:noFill/>
          <a:ln/>
        </p:spPr>
        <p:txBody>
          <a:bodyPr wrap="square" lIns="0" tIns="0" rIns="0" bIns="0" rtlCol="0" anchor="t"/>
          <a:lstStyle/>
          <a:p>
            <a:pPr algn="l">
              <a:lnSpc>
                <a:spcPct val="120000"/>
              </a:lnSpc>
            </a:pPr>
            <a:r>
              <a:rPr lang="en-US" sz="2400" dirty="0">
                <a:solidFill>
                  <a:srgbClr val="000000"/>
                </a:solidFill>
                <a:latin typeface="Arial" pitchFamily="34" charset="0"/>
                <a:ea typeface="Arial" pitchFamily="34" charset="-122"/>
                <a:cs typeface="Arial" pitchFamily="34" charset="-120"/>
              </a:rPr>
              <a:t>完成上述两项协议的代码实现并且集成到搭建的智能体中，进行安全测试，并测试开销。</a:t>
            </a:r>
            <a:endParaRPr lang="en-US" sz="2400" dirty="0"/>
          </a:p>
        </p:txBody>
      </p:sp>
      <p:sp>
        <p:nvSpPr>
          <p:cNvPr id="19" name="Shape 15"/>
          <p:cNvSpPr/>
          <p:nvPr/>
        </p:nvSpPr>
        <p:spPr>
          <a:xfrm>
            <a:off x="3527171" y="2881249"/>
            <a:ext cx="186309" cy="186309"/>
          </a:xfrm>
          <a:prstGeom prst="ellipse">
            <a:avLst/>
          </a:prstGeom>
          <a:solidFill>
            <a:srgbClr val="04579A"/>
          </a:solidFill>
          <a:ln/>
        </p:spPr>
      </p:sp>
      <p:sp>
        <p:nvSpPr>
          <p:cNvPr id="20" name="Shape 16"/>
          <p:cNvSpPr/>
          <p:nvPr/>
        </p:nvSpPr>
        <p:spPr>
          <a:xfrm>
            <a:off x="3527171" y="4337431"/>
            <a:ext cx="186309" cy="186309"/>
          </a:xfrm>
          <a:prstGeom prst="ellipse">
            <a:avLst/>
          </a:prstGeom>
          <a:solidFill>
            <a:srgbClr val="04579A"/>
          </a:solidFill>
          <a:ln/>
        </p:spPr>
      </p:sp>
      <p:sp>
        <p:nvSpPr>
          <p:cNvPr id="21" name="Shape 17"/>
          <p:cNvSpPr/>
          <p:nvPr/>
        </p:nvSpPr>
        <p:spPr>
          <a:xfrm>
            <a:off x="3527171" y="5793740"/>
            <a:ext cx="186309" cy="186309"/>
          </a:xfrm>
          <a:prstGeom prst="ellipse">
            <a:avLst/>
          </a:prstGeom>
          <a:solidFill>
            <a:srgbClr val="04579A"/>
          </a:solidFill>
          <a:ln/>
        </p:spPr>
      </p:sp>
      <p:sp>
        <p:nvSpPr>
          <p:cNvPr id="22" name="Shape 18"/>
          <p:cNvSpPr/>
          <p:nvPr/>
        </p:nvSpPr>
        <p:spPr>
          <a:xfrm>
            <a:off x="3527171" y="7250049"/>
            <a:ext cx="186309" cy="186309"/>
          </a:xfrm>
          <a:prstGeom prst="ellipse">
            <a:avLst/>
          </a:prstGeom>
          <a:solidFill>
            <a:srgbClr val="04579A"/>
          </a:solidFill>
          <a:ln/>
        </p:spPr>
      </p:sp>
      <p:sp>
        <p:nvSpPr>
          <p:cNvPr id="23" name="Shape 19"/>
          <p:cNvSpPr/>
          <p:nvPr/>
        </p:nvSpPr>
        <p:spPr>
          <a:xfrm>
            <a:off x="3713480" y="2974340"/>
            <a:ext cx="652780" cy="0"/>
          </a:xfrm>
          <a:prstGeom prst="line">
            <a:avLst/>
          </a:prstGeom>
          <a:noFill/>
          <a:ln w="12700">
            <a:solidFill>
              <a:srgbClr val="7F7F7F"/>
            </a:solidFill>
            <a:prstDash val="dash"/>
            <a:headEnd type="none"/>
            <a:tailEnd type="none"/>
          </a:ln>
        </p:spPr>
      </p:sp>
      <p:sp>
        <p:nvSpPr>
          <p:cNvPr id="24" name="Shape 20"/>
          <p:cNvSpPr/>
          <p:nvPr/>
        </p:nvSpPr>
        <p:spPr>
          <a:xfrm>
            <a:off x="3713480" y="4433189"/>
            <a:ext cx="737489" cy="0"/>
          </a:xfrm>
          <a:prstGeom prst="line">
            <a:avLst/>
          </a:prstGeom>
          <a:noFill/>
          <a:ln w="12700">
            <a:solidFill>
              <a:srgbClr val="7F7F7F"/>
            </a:solidFill>
            <a:prstDash val="dash"/>
            <a:headEnd type="none"/>
            <a:tailEnd type="none"/>
          </a:ln>
        </p:spPr>
      </p:sp>
      <p:sp>
        <p:nvSpPr>
          <p:cNvPr id="25" name="Shape 21"/>
          <p:cNvSpPr/>
          <p:nvPr/>
        </p:nvSpPr>
        <p:spPr>
          <a:xfrm>
            <a:off x="3713480" y="5891911"/>
            <a:ext cx="686689" cy="0"/>
          </a:xfrm>
          <a:prstGeom prst="line">
            <a:avLst/>
          </a:prstGeom>
          <a:noFill/>
          <a:ln w="12700">
            <a:solidFill>
              <a:srgbClr val="7F7F7F"/>
            </a:solidFill>
            <a:prstDash val="dash"/>
            <a:headEnd type="none"/>
            <a:tailEnd type="none"/>
          </a:ln>
        </p:spPr>
      </p:sp>
      <p:sp>
        <p:nvSpPr>
          <p:cNvPr id="26" name="Text 22"/>
          <p:cNvSpPr/>
          <p:nvPr/>
        </p:nvSpPr>
        <p:spPr>
          <a:xfrm>
            <a:off x="694309" y="2638171"/>
            <a:ext cx="2832100" cy="613791"/>
          </a:xfrm>
          <a:prstGeom prst="rect">
            <a:avLst/>
          </a:prstGeom>
          <a:noFill/>
          <a:ln/>
        </p:spPr>
        <p:txBody>
          <a:bodyPr wrap="square" lIns="0" tIns="0" rIns="0" bIns="0" rtlCol="0" anchor="t"/>
          <a:lstStyle/>
          <a:p>
            <a:pPr algn="l">
              <a:lnSpc>
                <a:spcPct val="120000"/>
              </a:lnSpc>
            </a:pPr>
            <a:r>
              <a:rPr lang="en-US" sz="2670" b="1" dirty="0">
                <a:solidFill>
                  <a:srgbClr val="04579A"/>
                </a:solidFill>
                <a:latin typeface="Arial" pitchFamily="34" charset="0"/>
                <a:ea typeface="Arial" pitchFamily="34" charset="-122"/>
                <a:cs typeface="Arial" pitchFamily="34" charset="-120"/>
              </a:rPr>
              <a:t>202</a:t>
            </a:r>
            <a:pPr algn="l">
              <a:lnSpc>
                <a:spcPct val="120000"/>
              </a:lnSpc>
            </a:pPr>
            <a:r>
              <a:rPr lang="en-US" sz="2670" b="1" dirty="0">
                <a:solidFill>
                  <a:srgbClr val="04579A"/>
                </a:solidFill>
                <a:latin typeface="Arial" pitchFamily="34" charset="0"/>
                <a:ea typeface="Arial" pitchFamily="34" charset="-122"/>
                <a:cs typeface="Arial" pitchFamily="34" charset="-120"/>
              </a:rPr>
              <a:t>6</a:t>
            </a:r>
            <a:pPr algn="l">
              <a:lnSpc>
                <a:spcPct val="120000"/>
              </a:lnSpc>
            </a:pPr>
            <a:r>
              <a:rPr lang="en-US" sz="2670" b="1" dirty="0">
                <a:solidFill>
                  <a:srgbClr val="04579A"/>
                </a:solidFill>
                <a:latin typeface="Arial" pitchFamily="34" charset="0"/>
                <a:ea typeface="Arial" pitchFamily="34" charset="-122"/>
                <a:cs typeface="Arial" pitchFamily="34" charset="-120"/>
              </a:rPr>
              <a:t>/</a:t>
            </a:r>
            <a:pPr algn="l">
              <a:lnSpc>
                <a:spcPct val="120000"/>
              </a:lnSpc>
            </a:pPr>
            <a:r>
              <a:rPr lang="en-US" sz="2670" b="1" dirty="0">
                <a:solidFill>
                  <a:srgbClr val="04579A"/>
                </a:solidFill>
                <a:latin typeface="Arial" pitchFamily="34" charset="0"/>
                <a:ea typeface="Arial" pitchFamily="34" charset="-122"/>
                <a:cs typeface="Arial" pitchFamily="34" charset="-120"/>
              </a:rPr>
              <a:t>0</a:t>
            </a:r>
            <a:pPr algn="l">
              <a:lnSpc>
                <a:spcPct val="120000"/>
              </a:lnSpc>
            </a:pPr>
            <a:r>
              <a:rPr lang="en-US" sz="2670" b="1" dirty="0">
                <a:solidFill>
                  <a:srgbClr val="04579A"/>
                </a:solidFill>
                <a:latin typeface="Arial" pitchFamily="34" charset="0"/>
                <a:ea typeface="Arial" pitchFamily="34" charset="-122"/>
                <a:cs typeface="Arial" pitchFamily="34" charset="-120"/>
              </a:rPr>
              <a:t>6-202</a:t>
            </a:r>
            <a:pPr algn="l">
              <a:lnSpc>
                <a:spcPct val="120000"/>
              </a:lnSpc>
            </a:pPr>
            <a:r>
              <a:rPr lang="en-US" sz="2670" b="1" dirty="0">
                <a:solidFill>
                  <a:srgbClr val="04579A"/>
                </a:solidFill>
                <a:latin typeface="Arial" pitchFamily="34" charset="0"/>
                <a:ea typeface="Arial" pitchFamily="34" charset="-122"/>
                <a:cs typeface="Arial" pitchFamily="34" charset="-120"/>
              </a:rPr>
              <a:t>6</a:t>
            </a:r>
            <a:pPr algn="l">
              <a:lnSpc>
                <a:spcPct val="120000"/>
              </a:lnSpc>
            </a:pPr>
            <a:r>
              <a:rPr lang="en-US" sz="2670" b="1" dirty="0">
                <a:solidFill>
                  <a:srgbClr val="04579A"/>
                </a:solidFill>
                <a:latin typeface="Arial" pitchFamily="34" charset="0"/>
                <a:ea typeface="Arial" pitchFamily="34" charset="-122"/>
                <a:cs typeface="Arial" pitchFamily="34" charset="-120"/>
              </a:rPr>
              <a:t>/</a:t>
            </a:r>
            <a:pPr algn="l">
              <a:lnSpc>
                <a:spcPct val="120000"/>
              </a:lnSpc>
            </a:pPr>
            <a:r>
              <a:rPr lang="en-US" sz="2670" b="1" dirty="0">
                <a:solidFill>
                  <a:srgbClr val="04579A"/>
                </a:solidFill>
                <a:latin typeface="Arial" pitchFamily="34" charset="0"/>
                <a:ea typeface="Arial" pitchFamily="34" charset="-122"/>
                <a:cs typeface="Arial" pitchFamily="34" charset="-120"/>
              </a:rPr>
              <a:t>08</a:t>
            </a:r>
            <a:endParaRPr lang="en-US" sz="2670" dirty="0"/>
          </a:p>
        </p:txBody>
      </p:sp>
      <p:sp>
        <p:nvSpPr>
          <p:cNvPr id="27" name="Text 23"/>
          <p:cNvSpPr/>
          <p:nvPr/>
        </p:nvSpPr>
        <p:spPr>
          <a:xfrm>
            <a:off x="694309" y="4076700"/>
            <a:ext cx="8128000" cy="613791"/>
          </a:xfrm>
          <a:prstGeom prst="rect">
            <a:avLst/>
          </a:prstGeom>
          <a:noFill/>
          <a:ln/>
        </p:spPr>
        <p:txBody>
          <a:bodyPr wrap="square" lIns="0" tIns="0" rIns="0" bIns="0" rtlCol="0" anchor="t"/>
          <a:lstStyle/>
          <a:p>
            <a:pPr algn="l">
              <a:lnSpc>
                <a:spcPct val="120000"/>
              </a:lnSpc>
            </a:pPr>
            <a:r>
              <a:rPr lang="en-US" sz="2670" b="1" dirty="0">
                <a:solidFill>
                  <a:srgbClr val="04579A"/>
                </a:solidFill>
                <a:latin typeface="Arial" pitchFamily="34" charset="0"/>
                <a:ea typeface="Arial" pitchFamily="34" charset="-122"/>
                <a:cs typeface="Arial" pitchFamily="34" charset="-120"/>
              </a:rPr>
              <a:t>202</a:t>
            </a:r>
            <a:pPr algn="l">
              <a:lnSpc>
                <a:spcPct val="120000"/>
              </a:lnSpc>
            </a:pPr>
            <a:r>
              <a:rPr lang="en-US" sz="2670" b="1" dirty="0">
                <a:solidFill>
                  <a:srgbClr val="04579A"/>
                </a:solidFill>
                <a:latin typeface="Arial" pitchFamily="34" charset="0"/>
                <a:ea typeface="Arial" pitchFamily="34" charset="-122"/>
                <a:cs typeface="Arial" pitchFamily="34" charset="-120"/>
              </a:rPr>
              <a:t>6</a:t>
            </a:r>
            <a:pPr algn="l">
              <a:lnSpc>
                <a:spcPct val="120000"/>
              </a:lnSpc>
            </a:pPr>
            <a:r>
              <a:rPr lang="en-US" sz="2670" b="1" dirty="0">
                <a:solidFill>
                  <a:srgbClr val="04579A"/>
                </a:solidFill>
                <a:latin typeface="Arial" pitchFamily="34" charset="0"/>
                <a:ea typeface="Arial" pitchFamily="34" charset="-122"/>
                <a:cs typeface="Arial" pitchFamily="34" charset="-120"/>
              </a:rPr>
              <a:t>/</a:t>
            </a:r>
            <a:pPr algn="l">
              <a:lnSpc>
                <a:spcPct val="120000"/>
              </a:lnSpc>
            </a:pPr>
            <a:r>
              <a:rPr lang="en-US" sz="2670" b="1" dirty="0">
                <a:solidFill>
                  <a:srgbClr val="04579A"/>
                </a:solidFill>
                <a:latin typeface="Arial" pitchFamily="34" charset="0"/>
                <a:ea typeface="Arial" pitchFamily="34" charset="-122"/>
                <a:cs typeface="Arial" pitchFamily="34" charset="-120"/>
              </a:rPr>
              <a:t>09</a:t>
            </a:r>
            <a:pPr algn="l">
              <a:lnSpc>
                <a:spcPct val="120000"/>
              </a:lnSpc>
            </a:pPr>
            <a:r>
              <a:rPr lang="en-US" sz="2670" b="1" dirty="0">
                <a:solidFill>
                  <a:srgbClr val="04579A"/>
                </a:solidFill>
                <a:latin typeface="Arial" pitchFamily="34" charset="0"/>
                <a:ea typeface="Arial" pitchFamily="34" charset="-122"/>
                <a:cs typeface="Arial" pitchFamily="34" charset="-120"/>
              </a:rPr>
              <a:t>-202</a:t>
            </a:r>
            <a:pPr algn="l">
              <a:lnSpc>
                <a:spcPct val="120000"/>
              </a:lnSpc>
            </a:pPr>
            <a:r>
              <a:rPr lang="en-US" sz="2670" b="1" dirty="0">
                <a:solidFill>
                  <a:srgbClr val="04579A"/>
                </a:solidFill>
                <a:latin typeface="Arial" pitchFamily="34" charset="0"/>
                <a:ea typeface="Arial" pitchFamily="34" charset="-122"/>
                <a:cs typeface="Arial" pitchFamily="34" charset="-120"/>
              </a:rPr>
              <a:t>6</a:t>
            </a:r>
            <a:pPr algn="l">
              <a:lnSpc>
                <a:spcPct val="120000"/>
              </a:lnSpc>
            </a:pPr>
            <a:r>
              <a:rPr lang="en-US" sz="2670" b="1" dirty="0">
                <a:solidFill>
                  <a:srgbClr val="04579A"/>
                </a:solidFill>
                <a:latin typeface="Arial" pitchFamily="34" charset="0"/>
                <a:ea typeface="Arial" pitchFamily="34" charset="-122"/>
                <a:cs typeface="Arial" pitchFamily="34" charset="-120"/>
              </a:rPr>
              <a:t>/</a:t>
            </a:r>
            <a:pPr algn="l">
              <a:lnSpc>
                <a:spcPct val="120000"/>
              </a:lnSpc>
            </a:pPr>
            <a:r>
              <a:rPr lang="en-US" sz="2670" b="1" dirty="0">
                <a:solidFill>
                  <a:srgbClr val="04579A"/>
                </a:solidFill>
                <a:latin typeface="Arial" pitchFamily="34" charset="0"/>
                <a:ea typeface="Arial" pitchFamily="34" charset="-122"/>
                <a:cs typeface="Arial" pitchFamily="34" charset="-120"/>
              </a:rPr>
              <a:t>10</a:t>
            </a:r>
            <a:endParaRPr lang="en-US" sz="2670" dirty="0"/>
          </a:p>
        </p:txBody>
      </p:sp>
      <p:sp>
        <p:nvSpPr>
          <p:cNvPr id="28" name="Text 24"/>
          <p:cNvSpPr/>
          <p:nvPr/>
        </p:nvSpPr>
        <p:spPr>
          <a:xfrm>
            <a:off x="694309" y="5534660"/>
            <a:ext cx="3020060" cy="613791"/>
          </a:xfrm>
          <a:prstGeom prst="rect">
            <a:avLst/>
          </a:prstGeom>
          <a:noFill/>
          <a:ln/>
        </p:spPr>
        <p:txBody>
          <a:bodyPr wrap="square" lIns="0" tIns="0" rIns="0" bIns="0" rtlCol="0" anchor="t"/>
          <a:lstStyle/>
          <a:p>
            <a:pPr algn="l">
              <a:lnSpc>
                <a:spcPct val="120000"/>
              </a:lnSpc>
            </a:pPr>
            <a:r>
              <a:rPr lang="en-US" sz="2670" b="1" dirty="0">
                <a:solidFill>
                  <a:srgbClr val="04579A"/>
                </a:solidFill>
                <a:latin typeface="Arial" pitchFamily="34" charset="0"/>
                <a:ea typeface="Arial" pitchFamily="34" charset="-122"/>
                <a:cs typeface="Arial" pitchFamily="34" charset="-120"/>
              </a:rPr>
              <a:t>202</a:t>
            </a:r>
            <a:pPr algn="l">
              <a:lnSpc>
                <a:spcPct val="120000"/>
              </a:lnSpc>
            </a:pPr>
            <a:r>
              <a:rPr lang="en-US" sz="2670" b="1" dirty="0">
                <a:solidFill>
                  <a:srgbClr val="04579A"/>
                </a:solidFill>
                <a:latin typeface="Arial" pitchFamily="34" charset="0"/>
                <a:ea typeface="Arial" pitchFamily="34" charset="-122"/>
                <a:cs typeface="Arial" pitchFamily="34" charset="-120"/>
              </a:rPr>
              <a:t>6</a:t>
            </a:r>
            <a:pPr algn="l">
              <a:lnSpc>
                <a:spcPct val="120000"/>
              </a:lnSpc>
            </a:pPr>
            <a:r>
              <a:rPr lang="en-US" sz="2670" b="1" dirty="0">
                <a:solidFill>
                  <a:srgbClr val="04579A"/>
                </a:solidFill>
                <a:latin typeface="Arial" pitchFamily="34" charset="0"/>
                <a:ea typeface="Arial" pitchFamily="34" charset="-122"/>
                <a:cs typeface="Arial" pitchFamily="34" charset="-120"/>
              </a:rPr>
              <a:t>/</a:t>
            </a:r>
            <a:pPr algn="l">
              <a:lnSpc>
                <a:spcPct val="120000"/>
              </a:lnSpc>
            </a:pPr>
            <a:r>
              <a:rPr lang="en-US" sz="2670" b="1" dirty="0">
                <a:solidFill>
                  <a:srgbClr val="04579A"/>
                </a:solidFill>
                <a:latin typeface="Arial" pitchFamily="34" charset="0"/>
                <a:ea typeface="Arial" pitchFamily="34" charset="-122"/>
                <a:cs typeface="Arial" pitchFamily="34" charset="-120"/>
              </a:rPr>
              <a:t>11</a:t>
            </a:r>
            <a:pPr algn="l">
              <a:lnSpc>
                <a:spcPct val="120000"/>
              </a:lnSpc>
            </a:pPr>
            <a:r>
              <a:rPr lang="en-US" sz="2670" b="1" dirty="0">
                <a:solidFill>
                  <a:srgbClr val="04579A"/>
                </a:solidFill>
                <a:latin typeface="Arial" pitchFamily="34" charset="0"/>
                <a:ea typeface="Arial" pitchFamily="34" charset="-122"/>
                <a:cs typeface="Arial" pitchFamily="34" charset="-120"/>
              </a:rPr>
              <a:t>-202</a:t>
            </a:r>
            <a:pPr algn="l">
              <a:lnSpc>
                <a:spcPct val="120000"/>
              </a:lnSpc>
            </a:pPr>
            <a:r>
              <a:rPr lang="en-US" sz="2670" b="1" dirty="0">
                <a:solidFill>
                  <a:srgbClr val="04579A"/>
                </a:solidFill>
                <a:latin typeface="Arial" pitchFamily="34" charset="0"/>
                <a:ea typeface="Arial" pitchFamily="34" charset="-122"/>
                <a:cs typeface="Arial" pitchFamily="34" charset="-120"/>
              </a:rPr>
              <a:t>6</a:t>
            </a:r>
            <a:pPr algn="l">
              <a:lnSpc>
                <a:spcPct val="120000"/>
              </a:lnSpc>
            </a:pPr>
            <a:r>
              <a:rPr lang="en-US" sz="2670" b="1" dirty="0">
                <a:solidFill>
                  <a:srgbClr val="04579A"/>
                </a:solidFill>
                <a:latin typeface="Arial" pitchFamily="34" charset="0"/>
                <a:ea typeface="Arial" pitchFamily="34" charset="-122"/>
                <a:cs typeface="Arial" pitchFamily="34" charset="-120"/>
              </a:rPr>
              <a:t>/1</a:t>
            </a:r>
            <a:pPr algn="l">
              <a:lnSpc>
                <a:spcPct val="120000"/>
              </a:lnSpc>
            </a:pPr>
            <a:r>
              <a:rPr lang="en-US" sz="2670" b="1" dirty="0">
                <a:solidFill>
                  <a:srgbClr val="04579A"/>
                </a:solidFill>
                <a:latin typeface="Arial" pitchFamily="34" charset="0"/>
                <a:ea typeface="Arial" pitchFamily="34" charset="-122"/>
                <a:cs typeface="Arial" pitchFamily="34" charset="-120"/>
              </a:rPr>
              <a:t>2</a:t>
            </a:r>
            <a:endParaRPr lang="en-US" sz="2670" dirty="0"/>
          </a:p>
        </p:txBody>
      </p:sp>
      <p:sp>
        <p:nvSpPr>
          <p:cNvPr id="29" name="Text 25"/>
          <p:cNvSpPr/>
          <p:nvPr/>
        </p:nvSpPr>
        <p:spPr>
          <a:xfrm>
            <a:off x="694309" y="6992620"/>
            <a:ext cx="2833751" cy="613791"/>
          </a:xfrm>
          <a:prstGeom prst="rect">
            <a:avLst/>
          </a:prstGeom>
          <a:noFill/>
          <a:ln/>
        </p:spPr>
        <p:txBody>
          <a:bodyPr wrap="square" lIns="0" tIns="0" rIns="0" bIns="0" rtlCol="0" anchor="t"/>
          <a:lstStyle/>
          <a:p>
            <a:pPr algn="l">
              <a:lnSpc>
                <a:spcPct val="120000"/>
              </a:lnSpc>
            </a:pPr>
            <a:r>
              <a:rPr lang="en-US" sz="2670" b="1" dirty="0">
                <a:solidFill>
                  <a:srgbClr val="04579A"/>
                </a:solidFill>
                <a:latin typeface="Arial" pitchFamily="34" charset="0"/>
                <a:ea typeface="Arial" pitchFamily="34" charset="-122"/>
                <a:cs typeface="Arial" pitchFamily="34" charset="-120"/>
              </a:rPr>
              <a:t>202</a:t>
            </a:r>
            <a:pPr algn="l">
              <a:lnSpc>
                <a:spcPct val="120000"/>
              </a:lnSpc>
            </a:pPr>
            <a:r>
              <a:rPr lang="en-US" sz="2670" b="1" dirty="0">
                <a:solidFill>
                  <a:srgbClr val="04579A"/>
                </a:solidFill>
                <a:latin typeface="Arial" pitchFamily="34" charset="0"/>
                <a:ea typeface="Arial" pitchFamily="34" charset="-122"/>
                <a:cs typeface="Arial" pitchFamily="34" charset="-120"/>
              </a:rPr>
              <a:t>7</a:t>
            </a:r>
            <a:pPr algn="l">
              <a:lnSpc>
                <a:spcPct val="120000"/>
              </a:lnSpc>
            </a:pPr>
            <a:r>
              <a:rPr lang="en-US" sz="2670" b="1" dirty="0">
                <a:solidFill>
                  <a:srgbClr val="04579A"/>
                </a:solidFill>
                <a:latin typeface="Arial" pitchFamily="34" charset="0"/>
                <a:ea typeface="Arial" pitchFamily="34" charset="-122"/>
                <a:cs typeface="Arial" pitchFamily="34" charset="-120"/>
              </a:rPr>
              <a:t>/</a:t>
            </a:r>
            <a:pPr algn="l">
              <a:lnSpc>
                <a:spcPct val="120000"/>
              </a:lnSpc>
            </a:pPr>
            <a:r>
              <a:rPr lang="en-US" sz="2670" b="1" dirty="0">
                <a:solidFill>
                  <a:srgbClr val="04579A"/>
                </a:solidFill>
                <a:latin typeface="Arial" pitchFamily="34" charset="0"/>
                <a:ea typeface="Arial" pitchFamily="34" charset="-122"/>
                <a:cs typeface="Arial" pitchFamily="34" charset="-120"/>
              </a:rPr>
              <a:t>0</a:t>
            </a:r>
            <a:pPr algn="l">
              <a:lnSpc>
                <a:spcPct val="120000"/>
              </a:lnSpc>
            </a:pPr>
            <a:r>
              <a:rPr lang="en-US" sz="2670" b="1" dirty="0">
                <a:solidFill>
                  <a:srgbClr val="04579A"/>
                </a:solidFill>
                <a:latin typeface="Arial" pitchFamily="34" charset="0"/>
                <a:ea typeface="Arial" pitchFamily="34" charset="-122"/>
                <a:cs typeface="Arial" pitchFamily="34" charset="-120"/>
              </a:rPr>
              <a:t>1-202</a:t>
            </a:r>
            <a:pPr algn="l">
              <a:lnSpc>
                <a:spcPct val="120000"/>
              </a:lnSpc>
            </a:pPr>
            <a:r>
              <a:rPr lang="en-US" sz="2670" b="1" dirty="0">
                <a:solidFill>
                  <a:srgbClr val="04579A"/>
                </a:solidFill>
                <a:latin typeface="Arial" pitchFamily="34" charset="0"/>
                <a:ea typeface="Arial" pitchFamily="34" charset="-122"/>
                <a:cs typeface="Arial" pitchFamily="34" charset="-120"/>
              </a:rPr>
              <a:t>7</a:t>
            </a:r>
            <a:pPr algn="l">
              <a:lnSpc>
                <a:spcPct val="120000"/>
              </a:lnSpc>
            </a:pPr>
            <a:r>
              <a:rPr lang="en-US" sz="2670" b="1" dirty="0">
                <a:solidFill>
                  <a:srgbClr val="04579A"/>
                </a:solidFill>
                <a:latin typeface="Arial" pitchFamily="34" charset="0"/>
                <a:ea typeface="Arial" pitchFamily="34" charset="-122"/>
                <a:cs typeface="Arial" pitchFamily="34" charset="-120"/>
              </a:rPr>
              <a:t>/0</a:t>
            </a:r>
            <a:pPr algn="l">
              <a:lnSpc>
                <a:spcPct val="120000"/>
              </a:lnSpc>
            </a:pPr>
            <a:r>
              <a:rPr lang="en-US" sz="2670" b="1" dirty="0">
                <a:solidFill>
                  <a:srgbClr val="04579A"/>
                </a:solidFill>
                <a:latin typeface="Arial" pitchFamily="34" charset="0"/>
                <a:ea typeface="Arial" pitchFamily="34" charset="-122"/>
                <a:cs typeface="Arial" pitchFamily="34" charset="-120"/>
              </a:rPr>
              <a:t>4</a:t>
            </a:r>
            <a:endParaRPr lang="en-US" sz="2670" dirty="0"/>
          </a:p>
        </p:txBody>
      </p:sp>
      <p:sp>
        <p:nvSpPr>
          <p:cNvPr id="30" name="Shape 26"/>
          <p:cNvSpPr/>
          <p:nvPr/>
        </p:nvSpPr>
        <p:spPr>
          <a:xfrm>
            <a:off x="3729609" y="7333869"/>
            <a:ext cx="686689" cy="0"/>
          </a:xfrm>
          <a:prstGeom prst="line">
            <a:avLst/>
          </a:prstGeom>
          <a:noFill/>
          <a:ln w="12700">
            <a:solidFill>
              <a:srgbClr val="7F7F7F"/>
            </a:solidFill>
            <a:prstDash val="dash"/>
            <a:headEnd type="none"/>
            <a:tailEnd type="none"/>
          </a:ln>
        </p:spPr>
      </p:sp>
      <p:sp>
        <p:nvSpPr>
          <p:cNvPr id="31" name="Text 27"/>
          <p:cNvSpPr/>
          <p:nvPr/>
        </p:nvSpPr>
        <p:spPr>
          <a:xfrm>
            <a:off x="694309" y="1486789"/>
            <a:ext cx="8128000" cy="613791"/>
          </a:xfrm>
          <a:prstGeom prst="rect">
            <a:avLst/>
          </a:prstGeom>
          <a:noFill/>
          <a:ln/>
        </p:spPr>
        <p:txBody>
          <a:bodyPr wrap="square" lIns="0" tIns="0" rIns="0" bIns="0" rtlCol="0" anchor="t"/>
          <a:lstStyle/>
          <a:p>
            <a:pPr algn="l">
              <a:lnSpc>
                <a:spcPct val="120000"/>
              </a:lnSpc>
            </a:pPr>
            <a:r>
              <a:rPr lang="en-US" sz="3200" b="1" dirty="0">
                <a:solidFill>
                  <a:srgbClr val="000000"/>
                </a:solidFill>
                <a:latin typeface="Arial" pitchFamily="34" charset="0"/>
                <a:ea typeface="Arial" pitchFamily="34" charset="-122"/>
                <a:cs typeface="Arial" pitchFamily="34" charset="-120"/>
              </a:rPr>
              <a:t>未来进度安排</a:t>
            </a:r>
            <a:endParaRPr lang="en-US" sz="3200" dirty="0"/>
          </a:p>
        </p:txBody>
      </p:sp>
      <p:sp>
        <p:nvSpPr>
          <p:cNvPr id="32" name="Text 28"/>
          <p:cNvSpPr/>
          <p:nvPr/>
        </p:nvSpPr>
        <p:spPr>
          <a:xfrm>
            <a:off x="15649067" y="8666353"/>
            <a:ext cx="606933" cy="492506"/>
          </a:xfrm>
          <a:prstGeom prst="rect">
            <a:avLst/>
          </a:prstGeom>
          <a:noFill/>
          <a:ln/>
        </p:spPr>
        <p:txBody>
          <a:bodyPr wrap="square" lIns="0" tIns="0" rIns="0" bIns="0" rtlCol="0" anchor="t"/>
          <a:lstStyle/>
          <a:p>
            <a:pPr algn="ctr">
              <a:lnSpc>
                <a:spcPct val="120000"/>
              </a:lnSpc>
            </a:pPr>
            <a:r>
              <a:rPr lang="en-US" sz="2400" dirty="0">
                <a:solidFill>
                  <a:srgbClr val="000000"/>
                </a:solidFill>
                <a:latin typeface="Arial" pitchFamily="34" charset="0"/>
                <a:ea typeface="Arial" pitchFamily="34" charset="-122"/>
                <a:cs typeface="Arial" pitchFamily="34" charset="-120"/>
              </a:rPr>
              <a:t>28</a:t>
            </a:r>
            <a:endParaRPr lang="en-US" sz="2400" dirty="0"/>
          </a:p>
        </p:txBody>
      </p:sp>
    </p:spTree>
  </p:cSld>
  <p:clrMapOvr>
    <a:masterClrMapping/>
  </p:clrMapOvr>
  <p:transition>
    <p:fade/>
    <p:spd val="med"/>
  </p:transition>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1149" y="811149"/>
            <a:ext cx="14625574" cy="940816"/>
          </a:xfrm>
          <a:prstGeom prst="rect">
            <a:avLst/>
          </a:prstGeom>
          <a:noFill/>
          <a:ln/>
        </p:spPr>
        <p:txBody>
          <a:bodyPr wrap="square" lIns="0" tIns="0" rIns="0" bIns="0" rtlCol="0" anchor="ctr"/>
          <a:lstStyle/>
          <a:p>
            <a:pPr algn="l">
              <a:lnSpc>
                <a:spcPct val="120000"/>
              </a:lnSpc>
            </a:pPr>
            <a:r>
              <a:rPr lang="en-US" sz="2400" dirty="0">
                <a:solidFill>
                  <a:srgbClr val="000000"/>
                </a:solidFill>
                <a:latin typeface="Arial" pitchFamily="34" charset="0"/>
                <a:ea typeface="Arial" pitchFamily="34" charset="-122"/>
                <a:cs typeface="Arial" pitchFamily="34" charset="-120"/>
              </a:rPr>
              <a:t>单击此处编辑母版标题样式</a:t>
            </a:r>
            <a:endParaRPr lang="en-US" sz="2400" dirty="0"/>
          </a:p>
        </p:txBody>
      </p:sp>
      <p:sp>
        <p:nvSpPr>
          <p:cNvPr id="3" name="Text 1"/>
          <p:cNvSpPr/>
          <p:nvPr/>
        </p:nvSpPr>
        <p:spPr>
          <a:xfrm>
            <a:off x="811149" y="1987169"/>
            <a:ext cx="14625574" cy="6345555"/>
          </a:xfrm>
          <a:prstGeom prst="rect">
            <a:avLst/>
          </a:prstGeom>
          <a:noFill/>
          <a:ln/>
        </p:spPr>
        <p:txBody>
          <a:bodyPr wrap="square" lIns="0" tIns="0" rIns="0" bIns="0" rtlCol="0" anchor="t"/>
          <a:lstStyle/>
          <a:p>
            <a:pPr algn="l">
              <a:lnSpc>
                <a:spcPct val="120000"/>
              </a:lnSpc>
            </a:pPr>
            <a:r>
              <a:rPr lang="en-US" sz="2400" dirty="0">
                <a:solidFill>
                  <a:srgbClr val="000000"/>
                </a:solidFill>
                <a:latin typeface="Arial" pitchFamily="34" charset="0"/>
                <a:ea typeface="Arial" pitchFamily="34" charset="-122"/>
                <a:cs typeface="Arial" pitchFamily="34" charset="-120"/>
              </a:rPr>
              <a:t>单击此处编辑母版文本样式</a:t>
            </a:r>
            <a:endParaRPr lang="en-US" sz="2400" dirty="0"/>
          </a:p>
          <a:p>
            <a:pPr algn="l">
              <a:lnSpc>
                <a:spcPct val="120000"/>
              </a:lnSpc>
            </a:pPr>
            <a:r>
              <a:rPr lang="en-US" sz="2400" dirty="0">
                <a:solidFill>
                  <a:srgbClr val="000000"/>
                </a:solidFill>
                <a:latin typeface="Arial" pitchFamily="34" charset="0"/>
                <a:ea typeface="Arial" pitchFamily="34" charset="-122"/>
                <a:cs typeface="Arial" pitchFamily="34" charset="-120"/>
              </a:rPr>
              <a:t>第二级</a:t>
            </a:r>
            <a:endParaRPr lang="en-US" sz="2400" dirty="0"/>
          </a:p>
          <a:p>
            <a:pPr algn="l">
              <a:lnSpc>
                <a:spcPct val="120000"/>
              </a:lnSpc>
            </a:pPr>
            <a:r>
              <a:rPr lang="en-US" sz="2400" dirty="0">
                <a:solidFill>
                  <a:srgbClr val="000000"/>
                </a:solidFill>
                <a:latin typeface="Arial" pitchFamily="34" charset="0"/>
                <a:ea typeface="Arial" pitchFamily="34" charset="-122"/>
                <a:cs typeface="Arial" pitchFamily="34" charset="-120"/>
              </a:rPr>
              <a:t>第三级</a:t>
            </a:r>
            <a:endParaRPr lang="en-US" sz="2400" dirty="0"/>
          </a:p>
          <a:p>
            <a:pPr algn="l">
              <a:lnSpc>
                <a:spcPct val="120000"/>
              </a:lnSpc>
            </a:pPr>
            <a:r>
              <a:rPr lang="en-US" sz="2400" dirty="0">
                <a:solidFill>
                  <a:srgbClr val="000000"/>
                </a:solidFill>
                <a:latin typeface="Arial" pitchFamily="34" charset="0"/>
                <a:ea typeface="Arial" pitchFamily="34" charset="-122"/>
                <a:cs typeface="Arial" pitchFamily="34" charset="-120"/>
              </a:rPr>
              <a:t>第四级</a:t>
            </a:r>
            <a:endParaRPr lang="en-US" sz="2400" dirty="0"/>
          </a:p>
          <a:p>
            <a:pPr algn="l">
              <a:lnSpc>
                <a:spcPct val="120000"/>
              </a:lnSpc>
            </a:pPr>
            <a:r>
              <a:rPr lang="en-US" sz="2400" dirty="0">
                <a:solidFill>
                  <a:srgbClr val="000000"/>
                </a:solidFill>
                <a:latin typeface="Arial" pitchFamily="34" charset="0"/>
                <a:ea typeface="Arial" pitchFamily="34" charset="-122"/>
                <a:cs typeface="Arial" pitchFamily="34" charset="-120"/>
              </a:rPr>
              <a:t>第五级</a:t>
            </a:r>
            <a:endParaRPr lang="en-US" sz="2400" dirty="0"/>
          </a:p>
        </p:txBody>
      </p:sp>
    </p:spTree>
  </p:cSld>
  <p:clrMapOvr>
    <a:masterClrMapping/>
  </p:clrMapOvr>
  <p:transition>
    <p:fade/>
    <p:spd val="med"/>
  </p:transition>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1149" y="811149"/>
            <a:ext cx="14625574" cy="940816"/>
          </a:xfrm>
          <a:prstGeom prst="rect">
            <a:avLst/>
          </a:prstGeom>
          <a:noFill/>
          <a:ln/>
        </p:spPr>
        <p:txBody>
          <a:bodyPr wrap="square" lIns="0" tIns="0" rIns="0" bIns="0" rtlCol="0" anchor="ctr"/>
          <a:lstStyle/>
          <a:p>
            <a:pPr algn="l">
              <a:lnSpc>
                <a:spcPct val="120000"/>
              </a:lnSpc>
            </a:pPr>
            <a:r>
              <a:rPr lang="en-US" sz="2400" dirty="0">
                <a:solidFill>
                  <a:srgbClr val="000000"/>
                </a:solidFill>
                <a:latin typeface="Arial" pitchFamily="34" charset="0"/>
                <a:ea typeface="Arial" pitchFamily="34" charset="-122"/>
                <a:cs typeface="Arial" pitchFamily="34" charset="-120"/>
              </a:rPr>
              <a:t>单击此处编辑母版标题样式</a:t>
            </a:r>
            <a:endParaRPr lang="en-US" sz="2400" dirty="0"/>
          </a:p>
        </p:txBody>
      </p:sp>
      <p:sp>
        <p:nvSpPr>
          <p:cNvPr id="3" name="Text 1"/>
          <p:cNvSpPr/>
          <p:nvPr/>
        </p:nvSpPr>
        <p:spPr>
          <a:xfrm>
            <a:off x="811149" y="1987169"/>
            <a:ext cx="14625574" cy="6345555"/>
          </a:xfrm>
          <a:prstGeom prst="rect">
            <a:avLst/>
          </a:prstGeom>
          <a:noFill/>
          <a:ln/>
        </p:spPr>
        <p:txBody>
          <a:bodyPr wrap="square" lIns="0" tIns="0" rIns="0" bIns="0" rtlCol="0" anchor="t"/>
          <a:lstStyle/>
          <a:p>
            <a:pPr algn="l">
              <a:lnSpc>
                <a:spcPct val="120000"/>
              </a:lnSpc>
            </a:pPr>
            <a:r>
              <a:rPr lang="en-US" sz="2400" dirty="0">
                <a:solidFill>
                  <a:srgbClr val="000000"/>
                </a:solidFill>
                <a:latin typeface="Arial" pitchFamily="34" charset="0"/>
                <a:ea typeface="Arial" pitchFamily="34" charset="-122"/>
                <a:cs typeface="Arial" pitchFamily="34" charset="-120"/>
              </a:rPr>
              <a:t>单击此处编辑母版文本样式</a:t>
            </a:r>
            <a:endParaRPr lang="en-US" sz="2400" dirty="0"/>
          </a:p>
          <a:p>
            <a:pPr algn="l">
              <a:lnSpc>
                <a:spcPct val="120000"/>
              </a:lnSpc>
            </a:pPr>
            <a:r>
              <a:rPr lang="en-US" sz="2400" dirty="0">
                <a:solidFill>
                  <a:srgbClr val="000000"/>
                </a:solidFill>
                <a:latin typeface="Arial" pitchFamily="34" charset="0"/>
                <a:ea typeface="Arial" pitchFamily="34" charset="-122"/>
                <a:cs typeface="Arial" pitchFamily="34" charset="-120"/>
              </a:rPr>
              <a:t>第二级</a:t>
            </a:r>
            <a:endParaRPr lang="en-US" sz="2400" dirty="0"/>
          </a:p>
          <a:p>
            <a:pPr algn="l">
              <a:lnSpc>
                <a:spcPct val="120000"/>
              </a:lnSpc>
            </a:pPr>
            <a:r>
              <a:rPr lang="en-US" sz="2400" dirty="0">
                <a:solidFill>
                  <a:srgbClr val="000000"/>
                </a:solidFill>
                <a:latin typeface="Arial" pitchFamily="34" charset="0"/>
                <a:ea typeface="Arial" pitchFamily="34" charset="-122"/>
                <a:cs typeface="Arial" pitchFamily="34" charset="-120"/>
              </a:rPr>
              <a:t>第三级</a:t>
            </a:r>
            <a:endParaRPr lang="en-US" sz="2400" dirty="0"/>
          </a:p>
          <a:p>
            <a:pPr algn="l">
              <a:lnSpc>
                <a:spcPct val="120000"/>
              </a:lnSpc>
            </a:pPr>
            <a:r>
              <a:rPr lang="en-US" sz="2400" dirty="0">
                <a:solidFill>
                  <a:srgbClr val="000000"/>
                </a:solidFill>
                <a:latin typeface="Arial" pitchFamily="34" charset="0"/>
                <a:ea typeface="Arial" pitchFamily="34" charset="-122"/>
                <a:cs typeface="Arial" pitchFamily="34" charset="-120"/>
              </a:rPr>
              <a:t>第四级</a:t>
            </a:r>
            <a:endParaRPr lang="en-US" sz="2400" dirty="0"/>
          </a:p>
          <a:p>
            <a:pPr algn="l">
              <a:lnSpc>
                <a:spcPct val="120000"/>
              </a:lnSpc>
            </a:pPr>
            <a:r>
              <a:rPr lang="en-US" sz="2400" dirty="0">
                <a:solidFill>
                  <a:srgbClr val="000000"/>
                </a:solidFill>
                <a:latin typeface="Arial" pitchFamily="34" charset="0"/>
                <a:ea typeface="Arial" pitchFamily="34" charset="-122"/>
                <a:cs typeface="Arial" pitchFamily="34" charset="-120"/>
              </a:rPr>
              <a:t>第五级</a:t>
            </a:r>
            <a:endParaRPr lang="en-US" sz="2400" dirty="0"/>
          </a:p>
        </p:txBody>
      </p:sp>
    </p:spTree>
  </p:cSld>
  <p:clrMapOvr>
    <a:masterClrMapping/>
  </p:clrMapOvr>
  <p:transition>
    <p:fade/>
    <p:spd val="med"/>
  </p:transition>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1149" y="811149"/>
            <a:ext cx="14625574" cy="940816"/>
          </a:xfrm>
          <a:prstGeom prst="rect">
            <a:avLst/>
          </a:prstGeom>
          <a:noFill/>
          <a:ln/>
        </p:spPr>
        <p:txBody>
          <a:bodyPr wrap="square" lIns="0" tIns="0" rIns="0" bIns="0" rtlCol="0" anchor="ctr"/>
          <a:lstStyle/>
          <a:p>
            <a:pPr algn="l">
              <a:lnSpc>
                <a:spcPct val="120000"/>
              </a:lnSpc>
            </a:pPr>
            <a:r>
              <a:rPr lang="en-US" sz="2400" dirty="0">
                <a:solidFill>
                  <a:srgbClr val="000000"/>
                </a:solidFill>
                <a:latin typeface="Arial" pitchFamily="34" charset="0"/>
                <a:ea typeface="Arial" pitchFamily="34" charset="-122"/>
                <a:cs typeface="Arial" pitchFamily="34" charset="-120"/>
              </a:rPr>
              <a:t>单击此处编辑母版标题样式</a:t>
            </a:r>
            <a:endParaRPr lang="en-US" sz="2400" dirty="0"/>
          </a:p>
        </p:txBody>
      </p:sp>
      <p:sp>
        <p:nvSpPr>
          <p:cNvPr id="3" name="Text 1"/>
          <p:cNvSpPr/>
          <p:nvPr/>
        </p:nvSpPr>
        <p:spPr>
          <a:xfrm>
            <a:off x="811149" y="1987169"/>
            <a:ext cx="14625574" cy="6345555"/>
          </a:xfrm>
          <a:prstGeom prst="rect">
            <a:avLst/>
          </a:prstGeom>
          <a:noFill/>
          <a:ln/>
        </p:spPr>
        <p:txBody>
          <a:bodyPr wrap="square" lIns="0" tIns="0" rIns="0" bIns="0" rtlCol="0" anchor="t"/>
          <a:lstStyle/>
          <a:p>
            <a:pPr algn="l">
              <a:lnSpc>
                <a:spcPct val="120000"/>
              </a:lnSpc>
            </a:pPr>
            <a:r>
              <a:rPr lang="en-US" sz="2400" dirty="0">
                <a:solidFill>
                  <a:srgbClr val="000000"/>
                </a:solidFill>
                <a:latin typeface="Arial" pitchFamily="34" charset="0"/>
                <a:ea typeface="Arial" pitchFamily="34" charset="-122"/>
                <a:cs typeface="Arial" pitchFamily="34" charset="-120"/>
              </a:rPr>
              <a:t>单击此处编辑母版文本样式</a:t>
            </a:r>
            <a:endParaRPr lang="en-US" sz="2400" dirty="0"/>
          </a:p>
          <a:p>
            <a:pPr algn="l">
              <a:lnSpc>
                <a:spcPct val="120000"/>
              </a:lnSpc>
            </a:pPr>
            <a:r>
              <a:rPr lang="en-US" sz="2400" dirty="0">
                <a:solidFill>
                  <a:srgbClr val="000000"/>
                </a:solidFill>
                <a:latin typeface="Arial" pitchFamily="34" charset="0"/>
                <a:ea typeface="Arial" pitchFamily="34" charset="-122"/>
                <a:cs typeface="Arial" pitchFamily="34" charset="-120"/>
              </a:rPr>
              <a:t>第二级</a:t>
            </a:r>
            <a:endParaRPr lang="en-US" sz="2400" dirty="0"/>
          </a:p>
          <a:p>
            <a:pPr algn="l">
              <a:lnSpc>
                <a:spcPct val="120000"/>
              </a:lnSpc>
            </a:pPr>
            <a:r>
              <a:rPr lang="en-US" sz="2400" dirty="0">
                <a:solidFill>
                  <a:srgbClr val="000000"/>
                </a:solidFill>
                <a:latin typeface="Arial" pitchFamily="34" charset="0"/>
                <a:ea typeface="Arial" pitchFamily="34" charset="-122"/>
                <a:cs typeface="Arial" pitchFamily="34" charset="-120"/>
              </a:rPr>
              <a:t>第三级</a:t>
            </a:r>
            <a:endParaRPr lang="en-US" sz="2400" dirty="0"/>
          </a:p>
          <a:p>
            <a:pPr algn="l">
              <a:lnSpc>
                <a:spcPct val="120000"/>
              </a:lnSpc>
            </a:pPr>
            <a:r>
              <a:rPr lang="en-US" sz="2400" dirty="0">
                <a:solidFill>
                  <a:srgbClr val="000000"/>
                </a:solidFill>
                <a:latin typeface="Arial" pitchFamily="34" charset="0"/>
                <a:ea typeface="Arial" pitchFamily="34" charset="-122"/>
                <a:cs typeface="Arial" pitchFamily="34" charset="-120"/>
              </a:rPr>
              <a:t>第四级</a:t>
            </a:r>
            <a:endParaRPr lang="en-US" sz="2400" dirty="0"/>
          </a:p>
          <a:p>
            <a:pPr algn="l">
              <a:lnSpc>
                <a:spcPct val="120000"/>
              </a:lnSpc>
            </a:pPr>
            <a:r>
              <a:rPr lang="en-US" sz="2400" dirty="0">
                <a:solidFill>
                  <a:srgbClr val="000000"/>
                </a:solidFill>
                <a:latin typeface="Arial" pitchFamily="34" charset="0"/>
                <a:ea typeface="Arial" pitchFamily="34" charset="-122"/>
                <a:cs typeface="Arial" pitchFamily="34" charset="-120"/>
              </a:rPr>
              <a:t>第五级</a:t>
            </a:r>
            <a:endParaRPr lang="en-US" sz="2400" dirty="0"/>
          </a:p>
        </p:txBody>
      </p:sp>
    </p:spTree>
  </p:cSld>
  <p:clrMapOvr>
    <a:masterClrMapping/>
  </p:clrMapOvr>
  <p:transition>
    <p:fade/>
    <p:spd val="med"/>
  </p:transition>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1149" y="811149"/>
            <a:ext cx="14625574" cy="940816"/>
          </a:xfrm>
          <a:prstGeom prst="rect">
            <a:avLst/>
          </a:prstGeom>
          <a:noFill/>
          <a:ln/>
        </p:spPr>
        <p:txBody>
          <a:bodyPr wrap="square" lIns="0" tIns="0" rIns="0" bIns="0" rtlCol="0" anchor="ctr"/>
          <a:lstStyle/>
          <a:p>
            <a:pPr algn="l">
              <a:lnSpc>
                <a:spcPct val="120000"/>
              </a:lnSpc>
            </a:pPr>
            <a:r>
              <a:rPr lang="en-US" sz="2400" dirty="0">
                <a:solidFill>
                  <a:srgbClr val="000000"/>
                </a:solidFill>
                <a:latin typeface="Arial" pitchFamily="34" charset="0"/>
                <a:ea typeface="Arial" pitchFamily="34" charset="-122"/>
                <a:cs typeface="Arial" pitchFamily="34" charset="-120"/>
              </a:rPr>
              <a:t>单击此处编辑母版标题样式</a:t>
            </a:r>
            <a:endParaRPr lang="en-US" sz="2400" dirty="0"/>
          </a:p>
        </p:txBody>
      </p:sp>
      <p:sp>
        <p:nvSpPr>
          <p:cNvPr id="3" name="Text 1"/>
          <p:cNvSpPr/>
          <p:nvPr/>
        </p:nvSpPr>
        <p:spPr>
          <a:xfrm>
            <a:off x="811149" y="1987169"/>
            <a:ext cx="14625574" cy="6345555"/>
          </a:xfrm>
          <a:prstGeom prst="rect">
            <a:avLst/>
          </a:prstGeom>
          <a:noFill/>
          <a:ln/>
        </p:spPr>
        <p:txBody>
          <a:bodyPr wrap="square" lIns="0" tIns="0" rIns="0" bIns="0" rtlCol="0" anchor="t"/>
          <a:lstStyle/>
          <a:p>
            <a:pPr algn="l">
              <a:lnSpc>
                <a:spcPct val="120000"/>
              </a:lnSpc>
            </a:pPr>
            <a:r>
              <a:rPr lang="en-US" sz="2400" dirty="0">
                <a:solidFill>
                  <a:srgbClr val="000000"/>
                </a:solidFill>
                <a:latin typeface="Arial" pitchFamily="34" charset="0"/>
                <a:ea typeface="Arial" pitchFamily="34" charset="-122"/>
                <a:cs typeface="Arial" pitchFamily="34" charset="-120"/>
              </a:rPr>
              <a:t>单击此处编辑母版文本样式</a:t>
            </a:r>
            <a:endParaRPr lang="en-US" sz="2400" dirty="0"/>
          </a:p>
          <a:p>
            <a:pPr algn="l">
              <a:lnSpc>
                <a:spcPct val="120000"/>
              </a:lnSpc>
            </a:pPr>
            <a:r>
              <a:rPr lang="en-US" sz="2400" dirty="0">
                <a:solidFill>
                  <a:srgbClr val="000000"/>
                </a:solidFill>
                <a:latin typeface="Arial" pitchFamily="34" charset="0"/>
                <a:ea typeface="Arial" pitchFamily="34" charset="-122"/>
                <a:cs typeface="Arial" pitchFamily="34" charset="-120"/>
              </a:rPr>
              <a:t>第二级</a:t>
            </a:r>
            <a:endParaRPr lang="en-US" sz="2400" dirty="0"/>
          </a:p>
          <a:p>
            <a:pPr algn="l">
              <a:lnSpc>
                <a:spcPct val="120000"/>
              </a:lnSpc>
            </a:pPr>
            <a:r>
              <a:rPr lang="en-US" sz="2400" dirty="0">
                <a:solidFill>
                  <a:srgbClr val="000000"/>
                </a:solidFill>
                <a:latin typeface="Arial" pitchFamily="34" charset="0"/>
                <a:ea typeface="Arial" pitchFamily="34" charset="-122"/>
                <a:cs typeface="Arial" pitchFamily="34" charset="-120"/>
              </a:rPr>
              <a:t>第三级</a:t>
            </a:r>
            <a:endParaRPr lang="en-US" sz="2400" dirty="0"/>
          </a:p>
          <a:p>
            <a:pPr algn="l">
              <a:lnSpc>
                <a:spcPct val="120000"/>
              </a:lnSpc>
            </a:pPr>
            <a:r>
              <a:rPr lang="en-US" sz="2400" dirty="0">
                <a:solidFill>
                  <a:srgbClr val="000000"/>
                </a:solidFill>
                <a:latin typeface="Arial" pitchFamily="34" charset="0"/>
                <a:ea typeface="Arial" pitchFamily="34" charset="-122"/>
                <a:cs typeface="Arial" pitchFamily="34" charset="-120"/>
              </a:rPr>
              <a:t>第四级</a:t>
            </a:r>
            <a:endParaRPr lang="en-US" sz="2400" dirty="0"/>
          </a:p>
          <a:p>
            <a:pPr algn="l">
              <a:lnSpc>
                <a:spcPct val="120000"/>
              </a:lnSpc>
            </a:pPr>
            <a:r>
              <a:rPr lang="en-US" sz="2400" dirty="0">
                <a:solidFill>
                  <a:srgbClr val="000000"/>
                </a:solidFill>
                <a:latin typeface="Arial" pitchFamily="34" charset="0"/>
                <a:ea typeface="Arial" pitchFamily="34" charset="-122"/>
                <a:cs typeface="Arial" pitchFamily="34" charset="-120"/>
              </a:rPr>
              <a:t>第五级</a:t>
            </a:r>
            <a:endParaRPr lang="en-US" sz="2400" dirty="0"/>
          </a:p>
        </p:txBody>
      </p:sp>
    </p:spTree>
  </p:cSld>
  <p:clrMapOvr>
    <a:masterClrMapping/>
  </p:clrMapOvr>
  <p:transition>
    <p:fade/>
    <p:spd val="med"/>
  </p:transition>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1149" y="811149"/>
            <a:ext cx="14625574" cy="940816"/>
          </a:xfrm>
          <a:prstGeom prst="rect">
            <a:avLst/>
          </a:prstGeom>
          <a:noFill/>
          <a:ln/>
        </p:spPr>
        <p:txBody>
          <a:bodyPr wrap="square" lIns="0" tIns="0" rIns="0" bIns="0" rtlCol="0" anchor="ctr"/>
          <a:lstStyle/>
          <a:p>
            <a:pPr algn="l">
              <a:lnSpc>
                <a:spcPct val="120000"/>
              </a:lnSpc>
            </a:pPr>
            <a:r>
              <a:rPr lang="en-US" sz="2400" dirty="0">
                <a:solidFill>
                  <a:srgbClr val="000000"/>
                </a:solidFill>
                <a:latin typeface="Arial" pitchFamily="34" charset="0"/>
                <a:ea typeface="Arial" pitchFamily="34" charset="-122"/>
                <a:cs typeface="Arial" pitchFamily="34" charset="-120"/>
              </a:rPr>
              <a:t>单击此处编辑母版标题样式</a:t>
            </a:r>
            <a:endParaRPr lang="en-US" sz="2400" dirty="0"/>
          </a:p>
        </p:txBody>
      </p:sp>
      <p:sp>
        <p:nvSpPr>
          <p:cNvPr id="3" name="Text 1"/>
          <p:cNvSpPr/>
          <p:nvPr/>
        </p:nvSpPr>
        <p:spPr>
          <a:xfrm>
            <a:off x="811149" y="1987169"/>
            <a:ext cx="14625574" cy="6345555"/>
          </a:xfrm>
          <a:prstGeom prst="rect">
            <a:avLst/>
          </a:prstGeom>
          <a:noFill/>
          <a:ln/>
        </p:spPr>
        <p:txBody>
          <a:bodyPr wrap="square" lIns="0" tIns="0" rIns="0" bIns="0" rtlCol="0" anchor="t"/>
          <a:lstStyle/>
          <a:p>
            <a:pPr algn="l">
              <a:lnSpc>
                <a:spcPct val="120000"/>
              </a:lnSpc>
            </a:pPr>
            <a:r>
              <a:rPr lang="en-US" sz="2400" dirty="0">
                <a:solidFill>
                  <a:srgbClr val="000000"/>
                </a:solidFill>
                <a:latin typeface="Arial" pitchFamily="34" charset="0"/>
                <a:ea typeface="Arial" pitchFamily="34" charset="-122"/>
                <a:cs typeface="Arial" pitchFamily="34" charset="-120"/>
              </a:rPr>
              <a:t>单击此处编辑母版文本样式</a:t>
            </a:r>
            <a:endParaRPr lang="en-US" sz="2400" dirty="0"/>
          </a:p>
          <a:p>
            <a:pPr algn="l">
              <a:lnSpc>
                <a:spcPct val="120000"/>
              </a:lnSpc>
            </a:pPr>
            <a:r>
              <a:rPr lang="en-US" sz="2400" dirty="0">
                <a:solidFill>
                  <a:srgbClr val="000000"/>
                </a:solidFill>
                <a:latin typeface="Arial" pitchFamily="34" charset="0"/>
                <a:ea typeface="Arial" pitchFamily="34" charset="-122"/>
                <a:cs typeface="Arial" pitchFamily="34" charset="-120"/>
              </a:rPr>
              <a:t>第二级</a:t>
            </a:r>
            <a:endParaRPr lang="en-US" sz="2400" dirty="0"/>
          </a:p>
          <a:p>
            <a:pPr algn="l">
              <a:lnSpc>
                <a:spcPct val="120000"/>
              </a:lnSpc>
            </a:pPr>
            <a:r>
              <a:rPr lang="en-US" sz="2400" dirty="0">
                <a:solidFill>
                  <a:srgbClr val="000000"/>
                </a:solidFill>
                <a:latin typeface="Arial" pitchFamily="34" charset="0"/>
                <a:ea typeface="Arial" pitchFamily="34" charset="-122"/>
                <a:cs typeface="Arial" pitchFamily="34" charset="-120"/>
              </a:rPr>
              <a:t>第三级</a:t>
            </a:r>
            <a:endParaRPr lang="en-US" sz="2400" dirty="0"/>
          </a:p>
          <a:p>
            <a:pPr algn="l">
              <a:lnSpc>
                <a:spcPct val="120000"/>
              </a:lnSpc>
            </a:pPr>
            <a:r>
              <a:rPr lang="en-US" sz="2400" dirty="0">
                <a:solidFill>
                  <a:srgbClr val="000000"/>
                </a:solidFill>
                <a:latin typeface="Arial" pitchFamily="34" charset="0"/>
                <a:ea typeface="Arial" pitchFamily="34" charset="-122"/>
                <a:cs typeface="Arial" pitchFamily="34" charset="-120"/>
              </a:rPr>
              <a:t>第四级</a:t>
            </a:r>
            <a:endParaRPr lang="en-US" sz="2400" dirty="0"/>
          </a:p>
          <a:p>
            <a:pPr algn="l">
              <a:lnSpc>
                <a:spcPct val="120000"/>
              </a:lnSpc>
            </a:pPr>
            <a:r>
              <a:rPr lang="en-US" sz="2400" dirty="0">
                <a:solidFill>
                  <a:srgbClr val="000000"/>
                </a:solidFill>
                <a:latin typeface="Arial" pitchFamily="34" charset="0"/>
                <a:ea typeface="Arial" pitchFamily="34" charset="-122"/>
                <a:cs typeface="Arial" pitchFamily="34" charset="-120"/>
              </a:rPr>
              <a:t>第五级</a:t>
            </a:r>
            <a:endParaRPr lang="en-US" sz="2400" dirty="0"/>
          </a:p>
        </p:txBody>
      </p:sp>
    </p:spTree>
  </p:cSld>
  <p:clrMapOvr>
    <a:masterClrMapping/>
  </p:clrMapOvr>
  <p:transition>
    <p:fade/>
    <p:spd val="med"/>
  </p:transition>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1149" y="811149"/>
            <a:ext cx="14625574" cy="940816"/>
          </a:xfrm>
          <a:prstGeom prst="rect">
            <a:avLst/>
          </a:prstGeom>
          <a:noFill/>
          <a:ln/>
        </p:spPr>
        <p:txBody>
          <a:bodyPr wrap="square" lIns="0" tIns="0" rIns="0" bIns="0" rtlCol="0" anchor="ctr"/>
          <a:lstStyle/>
          <a:p>
            <a:pPr algn="l">
              <a:lnSpc>
                <a:spcPct val="120000"/>
              </a:lnSpc>
            </a:pPr>
            <a:r>
              <a:rPr lang="en-US" sz="2400" dirty="0">
                <a:solidFill>
                  <a:srgbClr val="000000"/>
                </a:solidFill>
                <a:latin typeface="Arial" pitchFamily="34" charset="0"/>
                <a:ea typeface="Arial" pitchFamily="34" charset="-122"/>
                <a:cs typeface="Arial" pitchFamily="34" charset="-120"/>
              </a:rPr>
              <a:t>单击此处编辑母版标题样式</a:t>
            </a:r>
            <a:endParaRPr lang="en-US" sz="2400" dirty="0"/>
          </a:p>
        </p:txBody>
      </p:sp>
      <p:sp>
        <p:nvSpPr>
          <p:cNvPr id="3" name="Text 1"/>
          <p:cNvSpPr/>
          <p:nvPr/>
        </p:nvSpPr>
        <p:spPr>
          <a:xfrm>
            <a:off x="811149" y="1987169"/>
            <a:ext cx="14625574" cy="6345555"/>
          </a:xfrm>
          <a:prstGeom prst="rect">
            <a:avLst/>
          </a:prstGeom>
          <a:noFill/>
          <a:ln/>
        </p:spPr>
        <p:txBody>
          <a:bodyPr wrap="square" lIns="0" tIns="0" rIns="0" bIns="0" rtlCol="0" anchor="t"/>
          <a:lstStyle/>
          <a:p>
            <a:pPr algn="l">
              <a:lnSpc>
                <a:spcPct val="120000"/>
              </a:lnSpc>
            </a:pPr>
            <a:r>
              <a:rPr lang="en-US" sz="2400" dirty="0">
                <a:solidFill>
                  <a:srgbClr val="000000"/>
                </a:solidFill>
                <a:latin typeface="Arial" pitchFamily="34" charset="0"/>
                <a:ea typeface="Arial" pitchFamily="34" charset="-122"/>
                <a:cs typeface="Arial" pitchFamily="34" charset="-120"/>
              </a:rPr>
              <a:t>单击此处编辑母版文本样式</a:t>
            </a:r>
            <a:endParaRPr lang="en-US" sz="2400" dirty="0"/>
          </a:p>
          <a:p>
            <a:pPr algn="l">
              <a:lnSpc>
                <a:spcPct val="120000"/>
              </a:lnSpc>
            </a:pPr>
            <a:r>
              <a:rPr lang="en-US" sz="2400" dirty="0">
                <a:solidFill>
                  <a:srgbClr val="000000"/>
                </a:solidFill>
                <a:latin typeface="Arial" pitchFamily="34" charset="0"/>
                <a:ea typeface="Arial" pitchFamily="34" charset="-122"/>
                <a:cs typeface="Arial" pitchFamily="34" charset="-120"/>
              </a:rPr>
              <a:t>第二级</a:t>
            </a:r>
            <a:endParaRPr lang="en-US" sz="2400" dirty="0"/>
          </a:p>
          <a:p>
            <a:pPr algn="l">
              <a:lnSpc>
                <a:spcPct val="120000"/>
              </a:lnSpc>
            </a:pPr>
            <a:r>
              <a:rPr lang="en-US" sz="2400" dirty="0">
                <a:solidFill>
                  <a:srgbClr val="000000"/>
                </a:solidFill>
                <a:latin typeface="Arial" pitchFamily="34" charset="0"/>
                <a:ea typeface="Arial" pitchFamily="34" charset="-122"/>
                <a:cs typeface="Arial" pitchFamily="34" charset="-120"/>
              </a:rPr>
              <a:t>第三级</a:t>
            </a:r>
            <a:endParaRPr lang="en-US" sz="2400" dirty="0"/>
          </a:p>
          <a:p>
            <a:pPr algn="l">
              <a:lnSpc>
                <a:spcPct val="120000"/>
              </a:lnSpc>
            </a:pPr>
            <a:r>
              <a:rPr lang="en-US" sz="2400" dirty="0">
                <a:solidFill>
                  <a:srgbClr val="000000"/>
                </a:solidFill>
                <a:latin typeface="Arial" pitchFamily="34" charset="0"/>
                <a:ea typeface="Arial" pitchFamily="34" charset="-122"/>
                <a:cs typeface="Arial" pitchFamily="34" charset="-120"/>
              </a:rPr>
              <a:t>第四级</a:t>
            </a:r>
            <a:endParaRPr lang="en-US" sz="2400" dirty="0"/>
          </a:p>
          <a:p>
            <a:pPr algn="l">
              <a:lnSpc>
                <a:spcPct val="120000"/>
              </a:lnSpc>
            </a:pPr>
            <a:r>
              <a:rPr lang="en-US" sz="2400" dirty="0">
                <a:solidFill>
                  <a:srgbClr val="000000"/>
                </a:solidFill>
                <a:latin typeface="Arial" pitchFamily="34" charset="0"/>
                <a:ea typeface="Arial" pitchFamily="34" charset="-122"/>
                <a:cs typeface="Arial" pitchFamily="34" charset="-120"/>
              </a:rPr>
              <a:t>第五级</a:t>
            </a:r>
            <a:endParaRPr lang="en-US" sz="2400" dirty="0"/>
          </a:p>
        </p:txBody>
      </p:sp>
    </p:spTree>
  </p:cSld>
  <p:clrMapOvr>
    <a:masterClrMapping/>
  </p:clrMapOvr>
  <p:transition>
    <p:fade/>
    <p:spd val="med"/>
  </p:transition>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2219960" y="0"/>
            <a:ext cx="2895600" cy="962660"/>
          </a:xfrm>
          <a:prstGeom prst="rect">
            <a:avLst/>
          </a:prstGeom>
          <a:solidFill>
            <a:srgbClr val="F2F2F2"/>
          </a:solidFill>
          <a:ln w="12700">
            <a:solidFill>
              <a:srgbClr val="F2F2F2"/>
            </a:solidFill>
            <a:prstDash val="solid"/>
          </a:ln>
        </p:spPr>
      </p:sp>
      <p:sp>
        <p:nvSpPr>
          <p:cNvPr id="4" name="Shape 1"/>
          <p:cNvSpPr/>
          <p:nvPr/>
        </p:nvSpPr>
        <p:spPr>
          <a:xfrm>
            <a:off x="5162169" y="-889"/>
            <a:ext cx="2590800" cy="962660"/>
          </a:xfrm>
          <a:prstGeom prst="rect">
            <a:avLst/>
          </a:prstGeom>
          <a:solidFill>
            <a:srgbClr val="F2F2F2"/>
          </a:solidFill>
          <a:ln/>
        </p:spPr>
      </p:sp>
      <p:sp>
        <p:nvSpPr>
          <p:cNvPr id="5" name="Shape 2"/>
          <p:cNvSpPr/>
          <p:nvPr/>
        </p:nvSpPr>
        <p:spPr>
          <a:xfrm>
            <a:off x="7816469" y="-889"/>
            <a:ext cx="4114800" cy="962660"/>
          </a:xfrm>
          <a:prstGeom prst="rect">
            <a:avLst/>
          </a:prstGeom>
          <a:solidFill>
            <a:srgbClr val="F2F2F2"/>
          </a:solidFill>
          <a:ln/>
        </p:spPr>
      </p:sp>
      <p:sp>
        <p:nvSpPr>
          <p:cNvPr id="6" name="Shape 3"/>
          <p:cNvSpPr/>
          <p:nvPr/>
        </p:nvSpPr>
        <p:spPr>
          <a:xfrm>
            <a:off x="11971020" y="0"/>
            <a:ext cx="4284980" cy="961771"/>
          </a:xfrm>
          <a:prstGeom prst="rect">
            <a:avLst/>
          </a:prstGeom>
          <a:solidFill>
            <a:srgbClr val="F2F2F2"/>
          </a:solidFill>
          <a:ln/>
        </p:spPr>
      </p:sp>
      <p:sp>
        <p:nvSpPr>
          <p:cNvPr id="7" name="Shape 4"/>
          <p:cNvSpPr/>
          <p:nvPr/>
        </p:nvSpPr>
        <p:spPr>
          <a:xfrm>
            <a:off x="2219960" y="-889"/>
            <a:ext cx="2895600" cy="962660"/>
          </a:xfrm>
          <a:prstGeom prst="rect">
            <a:avLst/>
          </a:prstGeom>
          <a:solidFill>
            <a:srgbClr val="04579A"/>
          </a:solidFill>
          <a:ln w="12700">
            <a:solidFill>
              <a:srgbClr val="04579A"/>
            </a:solidFill>
            <a:prstDash val="solid"/>
          </a:ln>
        </p:spPr>
      </p:sp>
      <p:sp>
        <p:nvSpPr>
          <p:cNvPr id="8" name="Text 5"/>
          <p:cNvSpPr/>
          <p:nvPr/>
        </p:nvSpPr>
        <p:spPr>
          <a:xfrm>
            <a:off x="2283460" y="203200"/>
            <a:ext cx="2768600" cy="508000"/>
          </a:xfrm>
          <a:prstGeom prst="rect">
            <a:avLst/>
          </a:prstGeom>
          <a:noFill/>
          <a:ln/>
        </p:spPr>
        <p:txBody>
          <a:bodyPr wrap="none" lIns="0" tIns="0" rIns="0" bIns="0" rtlCol="0" anchor="ctr"/>
          <a:lstStyle/>
          <a:p>
            <a:pPr algn="ctr">
              <a:lnSpc>
                <a:spcPct val="120000"/>
              </a:lnSpc>
            </a:pPr>
            <a:r>
              <a:rPr lang="en-US" sz="2000" dirty="0">
                <a:solidFill>
                  <a:srgbClr val="FFFFFF"/>
                </a:solidFill>
                <a:latin typeface="Arial" pitchFamily="34" charset="0"/>
                <a:ea typeface="Arial" pitchFamily="34" charset="-122"/>
                <a:cs typeface="Arial" pitchFamily="34" charset="-120"/>
              </a:rPr>
              <a:t>选题背景及意义</a:t>
            </a:r>
            <a:endParaRPr lang="en-US" sz="2000" dirty="0"/>
          </a:p>
        </p:txBody>
      </p:sp>
      <p:sp>
        <p:nvSpPr>
          <p:cNvPr id="9" name="Text 6"/>
          <p:cNvSpPr/>
          <p:nvPr/>
        </p:nvSpPr>
        <p:spPr>
          <a:xfrm>
            <a:off x="5225669" y="203200"/>
            <a:ext cx="24638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国内外研究现状</a:t>
            </a:r>
            <a:endParaRPr lang="en-US" sz="2000" dirty="0"/>
          </a:p>
        </p:txBody>
      </p:sp>
      <p:sp>
        <p:nvSpPr>
          <p:cNvPr id="10" name="Text 7"/>
          <p:cNvSpPr/>
          <p:nvPr/>
        </p:nvSpPr>
        <p:spPr>
          <a:xfrm>
            <a:off x="7879969" y="203200"/>
            <a:ext cx="39878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主要研究内容及预期目标</a:t>
            </a:r>
            <a:endParaRPr lang="en-US" sz="2000" dirty="0"/>
          </a:p>
        </p:txBody>
      </p:sp>
      <p:sp>
        <p:nvSpPr>
          <p:cNvPr id="11" name="Text 8"/>
          <p:cNvSpPr/>
          <p:nvPr/>
        </p:nvSpPr>
        <p:spPr>
          <a:xfrm>
            <a:off x="12034520" y="203200"/>
            <a:ext cx="415798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工作计划与进度安排</a:t>
            </a:r>
            <a:endParaRPr lang="en-US" sz="2000" dirty="0"/>
          </a:p>
        </p:txBody>
      </p:sp>
      <p:pic>
        <p:nvPicPr>
          <p:cNvPr id="12" name="Image 0" descr="https://kimi-img.moonshot.cn/pub/slides/okc/flfuysioo4gzm/mnt/agents/output/yuan_pptd/images/image_2.jpg">    </p:cNvPr>
          <p:cNvPicPr>
            <a:picLocks noChangeAspect="1"/>
          </p:cNvPicPr>
          <p:nvPr/>
        </p:nvPicPr>
        <p:blipFill>
          <a:blip r:embed="rId1"/>
          <a:srcRect l="5060" r="29000" t="0" b="0"/>
          <a:stretch/>
        </p:blipFill>
        <p:spPr>
          <a:xfrm>
            <a:off x="544449" y="140589"/>
            <a:ext cx="1273429" cy="745871"/>
          </a:xfrm>
          <a:prstGeom prst="rect">
            <a:avLst/>
          </a:prstGeom>
        </p:spPr>
      </p:pic>
      <p:sp>
        <p:nvSpPr>
          <p:cNvPr id="13" name="Shape 9"/>
          <p:cNvSpPr/>
          <p:nvPr/>
        </p:nvSpPr>
        <p:spPr>
          <a:xfrm rot="10800000">
            <a:off x="3496691" y="961771"/>
            <a:ext cx="389509" cy="304800"/>
          </a:xfrm>
          <a:prstGeom prst="triangle">
            <a:avLst>
              <a:gd name="adj" fmla="val 50000"/>
            </a:avLst>
          </a:prstGeom>
          <a:solidFill>
            <a:srgbClr val="04579A"/>
          </a:solidFill>
          <a:ln/>
        </p:spPr>
      </p:sp>
      <p:sp>
        <p:nvSpPr>
          <p:cNvPr id="14" name="Text 10"/>
          <p:cNvSpPr/>
          <p:nvPr/>
        </p:nvSpPr>
        <p:spPr>
          <a:xfrm>
            <a:off x="15649067" y="8666353"/>
            <a:ext cx="606933" cy="492506"/>
          </a:xfrm>
          <a:prstGeom prst="rect">
            <a:avLst/>
          </a:prstGeom>
          <a:noFill/>
          <a:ln/>
        </p:spPr>
        <p:txBody>
          <a:bodyPr wrap="square" lIns="0" tIns="0" rIns="0" bIns="0" rtlCol="0" anchor="t"/>
          <a:lstStyle/>
          <a:p>
            <a:pPr algn="ctr">
              <a:lnSpc>
                <a:spcPct val="120000"/>
              </a:lnSpc>
            </a:pPr>
            <a:r>
              <a:rPr lang="en-US" sz="2400" dirty="0">
                <a:solidFill>
                  <a:srgbClr val="000000"/>
                </a:solidFill>
                <a:latin typeface="Arial" pitchFamily="34" charset="0"/>
                <a:ea typeface="Arial" pitchFamily="34" charset="-122"/>
                <a:cs typeface="Arial" pitchFamily="34" charset="-120"/>
              </a:rPr>
              <a:t>5</a:t>
            </a:r>
            <a:endParaRPr lang="en-US" sz="2400" dirty="0"/>
          </a:p>
        </p:txBody>
      </p:sp>
      <p:pic>
        <p:nvPicPr>
          <p:cNvPr id="15" name="Image 1" descr="https://kimi-img.moonshot.cn/pub/slides/okc/flfuysioo4gzm/mnt/agents/output/yuan_pptd/images/image_4.jpg">    </p:cNvPr>
          <p:cNvPicPr>
            <a:picLocks noChangeAspect="1"/>
          </p:cNvPicPr>
          <p:nvPr/>
        </p:nvPicPr>
        <p:blipFill>
          <a:blip r:embed="rId2"/>
          <a:stretch>
            <a:fillRect/>
          </a:stretch>
        </p:blipFill>
        <p:spPr>
          <a:xfrm>
            <a:off x="9075420" y="2420620"/>
            <a:ext cx="1524889" cy="1524889"/>
          </a:xfrm>
          <a:prstGeom prst="rect">
            <a:avLst/>
          </a:prstGeom>
        </p:spPr>
      </p:pic>
      <p:pic>
        <p:nvPicPr>
          <p:cNvPr id="16" name="Image 2" descr="https://kimi-img.moonshot.cn/pub/slides/okc/flfuysioo4gzm/mnt/agents/output/yuan_pptd/images/image_5.png">    </p:cNvPr>
          <p:cNvPicPr>
            <a:picLocks noChangeAspect="1"/>
          </p:cNvPicPr>
          <p:nvPr/>
        </p:nvPicPr>
        <p:blipFill>
          <a:blip r:embed="rId3"/>
          <a:stretch>
            <a:fillRect/>
          </a:stretch>
        </p:blipFill>
        <p:spPr>
          <a:xfrm>
            <a:off x="9075420" y="5306949"/>
            <a:ext cx="1598549" cy="1598549"/>
          </a:xfrm>
          <a:prstGeom prst="rect">
            <a:avLst/>
          </a:prstGeom>
        </p:spPr>
      </p:pic>
      <p:pic>
        <p:nvPicPr>
          <p:cNvPr id="17" name="Image 3" descr="https://kimi-img.moonshot.cn/pub/slides/okc/flfuysioo4gzm/mnt/agents/output/yuan_pptd/images/image_6.png">    </p:cNvPr>
          <p:cNvPicPr>
            <a:picLocks noChangeAspect="1"/>
          </p:cNvPicPr>
          <p:nvPr/>
        </p:nvPicPr>
        <p:blipFill>
          <a:blip r:embed="rId4"/>
          <a:stretch>
            <a:fillRect/>
          </a:stretch>
        </p:blipFill>
        <p:spPr>
          <a:xfrm>
            <a:off x="12605131" y="2420620"/>
            <a:ext cx="1703451" cy="1703451"/>
          </a:xfrm>
          <a:prstGeom prst="rect">
            <a:avLst/>
          </a:prstGeom>
        </p:spPr>
      </p:pic>
      <p:pic>
        <p:nvPicPr>
          <p:cNvPr id="18" name="Image 4" descr="https://kimi-img.moonshot.cn/pub/slides/okc/flfuysioo4gzm/mnt/agents/output/yuan_pptd/images/image_7.png">    </p:cNvPr>
          <p:cNvPicPr>
            <a:picLocks noChangeAspect="1"/>
          </p:cNvPicPr>
          <p:nvPr/>
        </p:nvPicPr>
        <p:blipFill>
          <a:blip r:embed="rId5"/>
          <a:stretch>
            <a:fillRect/>
          </a:stretch>
        </p:blipFill>
        <p:spPr>
          <a:xfrm>
            <a:off x="11865991" y="5868289"/>
            <a:ext cx="3148711" cy="799211"/>
          </a:xfrm>
          <a:prstGeom prst="rect">
            <a:avLst/>
          </a:prstGeom>
        </p:spPr>
      </p:pic>
      <p:sp>
        <p:nvSpPr>
          <p:cNvPr id="19" name="Shape 11"/>
          <p:cNvSpPr/>
          <p:nvPr/>
        </p:nvSpPr>
        <p:spPr>
          <a:xfrm>
            <a:off x="3129280" y="3772789"/>
            <a:ext cx="3153029" cy="1224280"/>
          </a:xfrm>
          <a:prstGeom prst="rect">
            <a:avLst/>
          </a:prstGeom>
          <a:noFill/>
          <a:ln/>
        </p:spPr>
      </p:sp>
      <p:sp>
        <p:nvSpPr>
          <p:cNvPr id="20" name="Text 12"/>
          <p:cNvSpPr/>
          <p:nvPr/>
        </p:nvSpPr>
        <p:spPr>
          <a:xfrm>
            <a:off x="1621409" y="2503551"/>
            <a:ext cx="6261989" cy="4099560"/>
          </a:xfrm>
          <a:prstGeom prst="rect">
            <a:avLst/>
          </a:prstGeom>
          <a:noFill/>
          <a:ln/>
        </p:spPr>
        <p:txBody>
          <a:bodyPr wrap="square" lIns="0" tIns="0" rIns="0" bIns="0" rtlCol="0" anchor="t"/>
          <a:lstStyle/>
          <a:p>
            <a:pPr algn="l">
              <a:lnSpc>
                <a:spcPct val="150000"/>
              </a:lnSpc>
            </a:pPr>
            <a:r>
              <a:rPr lang="en-US" sz="2400" dirty="0">
                <a:solidFill>
                  <a:srgbClr val="000000"/>
                </a:solidFill>
                <a:latin typeface="Arial" pitchFamily="34" charset="0"/>
                <a:ea typeface="Arial" pitchFamily="34" charset="-122"/>
                <a:cs typeface="Arial" pitchFamily="34" charset="-120"/>
              </a:rPr>
              <a:t>智能体已深度渗透至编程开发（Claude)、企业办公(moveworks)、客户服务(Salsforce)、商业决策(deepMiner)等领域，正从单一任务执行向跨系统、多步骤的复杂业务流程自动化演进。</a:t>
            </a:r>
            <a:endParaRPr lang="en-US" sz="2400" dirty="0"/>
          </a:p>
        </p:txBody>
      </p:sp>
    </p:spTree>
  </p:cSld>
  <p:clrMapOvr>
    <a:masterClrMapping/>
  </p:clrMapOvr>
  <p:transition>
    <p:fade/>
    <p:spd val="med"/>
  </p:transition>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509651" y="2425700"/>
            <a:ext cx="3173349" cy="4916551"/>
          </a:xfrm>
          <a:prstGeom prst="roundRect">
            <a:avLst>
              <a:gd name="adj" fmla="val 16667"/>
            </a:avLst>
          </a:prstGeom>
          <a:solidFill>
            <a:srgbClr val="F2F2F2"/>
          </a:solidFill>
          <a:ln/>
          <a:effectLst>
            <a:outerShdw sx="100000" sy="100000" kx="0" ky="0" algn="bl" rotWithShape="0" blurRad="50800" dist="26924" dir="2700000">
              <a:srgbClr val="000000">
                <a:alpha val="40000"/>
              </a:srgbClr>
            </a:outerShdw>
          </a:effectLst>
        </p:spPr>
      </p:sp>
      <p:sp>
        <p:nvSpPr>
          <p:cNvPr id="4" name="Shape 1"/>
          <p:cNvSpPr/>
          <p:nvPr/>
        </p:nvSpPr>
        <p:spPr>
          <a:xfrm>
            <a:off x="7958709" y="4709160"/>
            <a:ext cx="2363851" cy="536829"/>
          </a:xfrm>
          <a:prstGeom prst="rect">
            <a:avLst/>
          </a:prstGeom>
          <a:noFill/>
          <a:ln w="12700">
            <a:solidFill>
              <a:srgbClr val="BFD5F5"/>
            </a:solidFill>
            <a:prstDash val="solid"/>
          </a:ln>
        </p:spPr>
      </p:sp>
      <p:sp>
        <p:nvSpPr>
          <p:cNvPr id="5" name="Shape 2"/>
          <p:cNvSpPr/>
          <p:nvPr/>
        </p:nvSpPr>
        <p:spPr>
          <a:xfrm>
            <a:off x="5162169" y="-889"/>
            <a:ext cx="2590800" cy="962660"/>
          </a:xfrm>
          <a:prstGeom prst="rect">
            <a:avLst/>
          </a:prstGeom>
          <a:solidFill>
            <a:srgbClr val="F2F2F2"/>
          </a:solidFill>
          <a:ln/>
        </p:spPr>
      </p:sp>
      <p:sp>
        <p:nvSpPr>
          <p:cNvPr id="6" name="Shape 3"/>
          <p:cNvSpPr/>
          <p:nvPr/>
        </p:nvSpPr>
        <p:spPr>
          <a:xfrm>
            <a:off x="7816469" y="-889"/>
            <a:ext cx="4114800" cy="962660"/>
          </a:xfrm>
          <a:prstGeom prst="rect">
            <a:avLst/>
          </a:prstGeom>
          <a:solidFill>
            <a:srgbClr val="F2F2F2"/>
          </a:solidFill>
          <a:ln/>
        </p:spPr>
      </p:sp>
      <p:sp>
        <p:nvSpPr>
          <p:cNvPr id="7" name="Shape 4"/>
          <p:cNvSpPr/>
          <p:nvPr/>
        </p:nvSpPr>
        <p:spPr>
          <a:xfrm>
            <a:off x="11971020" y="0"/>
            <a:ext cx="4284980" cy="961771"/>
          </a:xfrm>
          <a:prstGeom prst="rect">
            <a:avLst/>
          </a:prstGeom>
          <a:solidFill>
            <a:srgbClr val="F2F2F2"/>
          </a:solidFill>
          <a:ln/>
        </p:spPr>
      </p:sp>
      <p:sp>
        <p:nvSpPr>
          <p:cNvPr id="8" name="Shape 5"/>
          <p:cNvSpPr/>
          <p:nvPr/>
        </p:nvSpPr>
        <p:spPr>
          <a:xfrm>
            <a:off x="2219960" y="-889"/>
            <a:ext cx="2895600" cy="962660"/>
          </a:xfrm>
          <a:prstGeom prst="rect">
            <a:avLst/>
          </a:prstGeom>
          <a:solidFill>
            <a:srgbClr val="04579A"/>
          </a:solidFill>
          <a:ln w="12700">
            <a:solidFill>
              <a:srgbClr val="304B73"/>
            </a:solidFill>
            <a:prstDash val="solid"/>
          </a:ln>
        </p:spPr>
      </p:sp>
      <p:sp>
        <p:nvSpPr>
          <p:cNvPr id="9" name="Text 6"/>
          <p:cNvSpPr/>
          <p:nvPr/>
        </p:nvSpPr>
        <p:spPr>
          <a:xfrm>
            <a:off x="2283460" y="203200"/>
            <a:ext cx="2768600" cy="508000"/>
          </a:xfrm>
          <a:prstGeom prst="rect">
            <a:avLst/>
          </a:prstGeom>
          <a:noFill/>
          <a:ln/>
        </p:spPr>
        <p:txBody>
          <a:bodyPr wrap="none" lIns="0" tIns="0" rIns="0" bIns="0" rtlCol="0" anchor="ctr"/>
          <a:lstStyle/>
          <a:p>
            <a:pPr algn="ctr">
              <a:lnSpc>
                <a:spcPct val="120000"/>
              </a:lnSpc>
            </a:pPr>
            <a:r>
              <a:rPr lang="en-US" sz="2000" dirty="0">
                <a:solidFill>
                  <a:srgbClr val="FFFFFF"/>
                </a:solidFill>
                <a:latin typeface="Arial" pitchFamily="34" charset="0"/>
                <a:ea typeface="Arial" pitchFamily="34" charset="-122"/>
                <a:cs typeface="Arial" pitchFamily="34" charset="-120"/>
              </a:rPr>
              <a:t>选题背景及意义</a:t>
            </a:r>
            <a:endParaRPr lang="en-US" sz="2000" dirty="0"/>
          </a:p>
        </p:txBody>
      </p:sp>
      <p:sp>
        <p:nvSpPr>
          <p:cNvPr id="10" name="Text 7"/>
          <p:cNvSpPr/>
          <p:nvPr/>
        </p:nvSpPr>
        <p:spPr>
          <a:xfrm>
            <a:off x="5225669" y="203200"/>
            <a:ext cx="24638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国内外研究现状</a:t>
            </a:r>
            <a:endParaRPr lang="en-US" sz="2000" dirty="0"/>
          </a:p>
        </p:txBody>
      </p:sp>
      <p:sp>
        <p:nvSpPr>
          <p:cNvPr id="11" name="Text 8"/>
          <p:cNvSpPr/>
          <p:nvPr/>
        </p:nvSpPr>
        <p:spPr>
          <a:xfrm>
            <a:off x="7879969" y="203200"/>
            <a:ext cx="39878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主要研究内容及预期目标</a:t>
            </a:r>
            <a:endParaRPr lang="en-US" sz="2000" dirty="0"/>
          </a:p>
        </p:txBody>
      </p:sp>
      <p:sp>
        <p:nvSpPr>
          <p:cNvPr id="12" name="Text 9"/>
          <p:cNvSpPr/>
          <p:nvPr/>
        </p:nvSpPr>
        <p:spPr>
          <a:xfrm>
            <a:off x="12034520" y="203200"/>
            <a:ext cx="415798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工作计划与进度安排</a:t>
            </a:r>
            <a:endParaRPr lang="en-US" sz="2000" dirty="0"/>
          </a:p>
        </p:txBody>
      </p:sp>
      <p:pic>
        <p:nvPicPr>
          <p:cNvPr id="13" name="Image 0" descr="https://kimi-img.moonshot.cn/pub/slides/okc/flfuysioo4gzm/mnt/agents/output/yuan_pptd/images/image_2.jpg">    </p:cNvPr>
          <p:cNvPicPr>
            <a:picLocks noChangeAspect="1"/>
          </p:cNvPicPr>
          <p:nvPr/>
        </p:nvPicPr>
        <p:blipFill>
          <a:blip r:embed="rId1"/>
          <a:srcRect l="5060" r="29000" t="0" b="0"/>
          <a:stretch/>
        </p:blipFill>
        <p:spPr>
          <a:xfrm>
            <a:off x="544449" y="140589"/>
            <a:ext cx="1273429" cy="745871"/>
          </a:xfrm>
          <a:prstGeom prst="rect">
            <a:avLst/>
          </a:prstGeom>
        </p:spPr>
      </p:pic>
      <p:sp>
        <p:nvSpPr>
          <p:cNvPr id="14" name="Shape 10"/>
          <p:cNvSpPr/>
          <p:nvPr/>
        </p:nvSpPr>
        <p:spPr>
          <a:xfrm rot="10800000">
            <a:off x="3496691" y="961771"/>
            <a:ext cx="389509" cy="304800"/>
          </a:xfrm>
          <a:prstGeom prst="triangle">
            <a:avLst>
              <a:gd name="adj" fmla="val 50000"/>
            </a:avLst>
          </a:prstGeom>
          <a:solidFill>
            <a:srgbClr val="04579A"/>
          </a:solidFill>
          <a:ln/>
        </p:spPr>
      </p:sp>
      <p:sp>
        <p:nvSpPr>
          <p:cNvPr id="15" name="Shape 11"/>
          <p:cNvSpPr/>
          <p:nvPr/>
        </p:nvSpPr>
        <p:spPr>
          <a:xfrm>
            <a:off x="1708150" y="4160520"/>
            <a:ext cx="864616" cy="719074"/>
          </a:xfrm>
          <a:prstGeom prst="roundRect">
            <a:avLst>
              <a:gd name="adj" fmla="val 16667"/>
            </a:avLst>
          </a:prstGeom>
          <a:solidFill>
            <a:srgbClr val="F7BFC7"/>
          </a:solidFill>
          <a:ln w="12700">
            <a:solidFill>
              <a:srgbClr val="F7BFC7"/>
            </a:solidFill>
            <a:prstDash val="solid"/>
          </a:ln>
        </p:spPr>
      </p:sp>
      <p:pic>
        <p:nvPicPr>
          <p:cNvPr id="16" name="Image 1" descr="https://kimi-img.moonshot.cn/pub/slides/okc/flfuysioo4gzm/mnt/agents/output/yuan_pptd/images/image_13.jpg">    </p:cNvPr>
          <p:cNvPicPr>
            <a:picLocks noChangeAspect="1"/>
          </p:cNvPicPr>
          <p:nvPr/>
        </p:nvPicPr>
        <p:blipFill>
          <a:blip r:embed="rId2"/>
          <a:srcRect l="20420" r="50110" t="24710" b="22240"/>
          <a:stretch/>
        </p:blipFill>
        <p:spPr>
          <a:xfrm>
            <a:off x="1041400" y="3648329"/>
            <a:ext cx="613410" cy="621665"/>
          </a:xfrm>
          <a:prstGeom prst="rect">
            <a:avLst/>
          </a:prstGeom>
        </p:spPr>
      </p:pic>
      <p:pic>
        <p:nvPicPr>
          <p:cNvPr id="17" name="Image 2" descr="https://kimi-img.moonshot.cn/pub/slides/okc/flfuysioo4gzm/mnt/agents/output/yuan_pptd/images/image_13.jpg">    </p:cNvPr>
          <p:cNvPicPr>
            <a:picLocks noChangeAspect="1"/>
          </p:cNvPicPr>
          <p:nvPr/>
        </p:nvPicPr>
        <p:blipFill>
          <a:blip r:embed="rId3"/>
          <a:srcRect l="20420" r="50110" t="24710" b="22240"/>
          <a:stretch/>
        </p:blipFill>
        <p:spPr>
          <a:xfrm>
            <a:off x="2654935" y="3648329"/>
            <a:ext cx="613410" cy="621665"/>
          </a:xfrm>
          <a:prstGeom prst="rect">
            <a:avLst/>
          </a:prstGeom>
        </p:spPr>
      </p:pic>
      <p:pic>
        <p:nvPicPr>
          <p:cNvPr id="18" name="Image 3" descr="https://kimi-img.moonshot.cn/pub/slides/okc/flfuysioo4gzm/mnt/agents/output/yuan_pptd/images/image_13.jpg">    </p:cNvPr>
          <p:cNvPicPr>
            <a:picLocks noChangeAspect="1"/>
          </p:cNvPicPr>
          <p:nvPr/>
        </p:nvPicPr>
        <p:blipFill>
          <a:blip r:embed="rId4"/>
          <a:srcRect l="20420" r="50110" t="24710" b="22240"/>
          <a:stretch/>
        </p:blipFill>
        <p:spPr>
          <a:xfrm>
            <a:off x="1041400" y="4782439"/>
            <a:ext cx="613410" cy="621665"/>
          </a:xfrm>
          <a:prstGeom prst="rect">
            <a:avLst/>
          </a:prstGeom>
        </p:spPr>
      </p:pic>
      <p:pic>
        <p:nvPicPr>
          <p:cNvPr id="19" name="Image 4" descr="https://kimi-img.moonshot.cn/pub/slides/okc/flfuysioo4gzm/mnt/agents/output/yuan_pptd/images/image_13.jpg">    </p:cNvPr>
          <p:cNvPicPr>
            <a:picLocks noChangeAspect="1"/>
          </p:cNvPicPr>
          <p:nvPr/>
        </p:nvPicPr>
        <p:blipFill>
          <a:blip r:embed="rId5"/>
          <a:srcRect l="20420" r="50110" t="24710" b="22240"/>
          <a:stretch/>
        </p:blipFill>
        <p:spPr>
          <a:xfrm>
            <a:off x="2654935" y="4782439"/>
            <a:ext cx="613410" cy="621665"/>
          </a:xfrm>
          <a:prstGeom prst="rect">
            <a:avLst/>
          </a:prstGeom>
        </p:spPr>
      </p:pic>
      <p:pic>
        <p:nvPicPr>
          <p:cNvPr id="20" name="Image 5" descr="https://kimi-img.moonshot.cn/pub/slides/okc/flfuysioo4gzm/mnt/agents/output/yuan_pptd/images/image_13.jpg">    </p:cNvPr>
          <p:cNvPicPr>
            <a:picLocks noChangeAspect="1"/>
          </p:cNvPicPr>
          <p:nvPr/>
        </p:nvPicPr>
        <p:blipFill>
          <a:blip r:embed="rId6"/>
          <a:srcRect l="49740" r="17560" t="29550" b="22240"/>
          <a:stretch/>
        </p:blipFill>
        <p:spPr>
          <a:xfrm>
            <a:off x="1814322" y="4217543"/>
            <a:ext cx="680847" cy="564896"/>
          </a:xfrm>
          <a:prstGeom prst="rect">
            <a:avLst/>
          </a:prstGeom>
        </p:spPr>
      </p:pic>
      <p:sp>
        <p:nvSpPr>
          <p:cNvPr id="21" name="Shape 12"/>
          <p:cNvSpPr/>
          <p:nvPr/>
        </p:nvSpPr>
        <p:spPr>
          <a:xfrm flipV="1">
            <a:off x="2961894" y="4269994"/>
            <a:ext cx="0" cy="512445"/>
          </a:xfrm>
          <a:prstGeom prst="line">
            <a:avLst/>
          </a:prstGeom>
          <a:noFill/>
          <a:ln w="22225">
            <a:solidFill>
              <a:srgbClr val="04579A"/>
            </a:solidFill>
            <a:prstDash val="solid"/>
            <a:headEnd type="none"/>
            <a:tailEnd type="none"/>
          </a:ln>
        </p:spPr>
      </p:sp>
      <p:sp>
        <p:nvSpPr>
          <p:cNvPr id="22" name="Shape 13"/>
          <p:cNvSpPr/>
          <p:nvPr/>
        </p:nvSpPr>
        <p:spPr>
          <a:xfrm flipV="1">
            <a:off x="1348359" y="4269994"/>
            <a:ext cx="0" cy="512445"/>
          </a:xfrm>
          <a:prstGeom prst="line">
            <a:avLst/>
          </a:prstGeom>
          <a:noFill/>
          <a:ln w="22225">
            <a:solidFill>
              <a:srgbClr val="04579A"/>
            </a:solidFill>
            <a:prstDash val="solid"/>
            <a:headEnd type="none"/>
            <a:tailEnd type="none"/>
          </a:ln>
        </p:spPr>
      </p:sp>
      <p:sp>
        <p:nvSpPr>
          <p:cNvPr id="23" name="Shape 14"/>
          <p:cNvSpPr/>
          <p:nvPr/>
        </p:nvSpPr>
        <p:spPr>
          <a:xfrm>
            <a:off x="2495042" y="4500118"/>
            <a:ext cx="467233" cy="889"/>
          </a:xfrm>
          <a:prstGeom prst="line">
            <a:avLst/>
          </a:prstGeom>
          <a:noFill/>
          <a:ln w="22225">
            <a:solidFill>
              <a:srgbClr val="04579A"/>
            </a:solidFill>
            <a:prstDash val="solid"/>
            <a:headEnd type="none"/>
            <a:tailEnd type="none"/>
          </a:ln>
        </p:spPr>
      </p:sp>
      <p:sp>
        <p:nvSpPr>
          <p:cNvPr id="24" name="Shape 15"/>
          <p:cNvSpPr/>
          <p:nvPr/>
        </p:nvSpPr>
        <p:spPr>
          <a:xfrm>
            <a:off x="1348359" y="4525772"/>
            <a:ext cx="467233" cy="889"/>
          </a:xfrm>
          <a:prstGeom prst="line">
            <a:avLst/>
          </a:prstGeom>
          <a:noFill/>
          <a:ln w="22225">
            <a:solidFill>
              <a:srgbClr val="04579A"/>
            </a:solidFill>
            <a:prstDash val="solid"/>
            <a:headEnd type="none"/>
            <a:tailEnd type="none"/>
          </a:ln>
        </p:spPr>
      </p:sp>
      <p:sp>
        <p:nvSpPr>
          <p:cNvPr id="25" name="Text 16"/>
          <p:cNvSpPr/>
          <p:nvPr/>
        </p:nvSpPr>
        <p:spPr>
          <a:xfrm>
            <a:off x="1129411" y="6159500"/>
            <a:ext cx="2037969" cy="702691"/>
          </a:xfrm>
          <a:prstGeom prst="rect">
            <a:avLst/>
          </a:prstGeom>
          <a:noFill/>
          <a:ln/>
        </p:spPr>
        <p:txBody>
          <a:bodyPr wrap="square" lIns="0" tIns="0" rIns="0" bIns="0" rtlCol="0" anchor="t"/>
          <a:lstStyle/>
          <a:p>
            <a:pPr algn="ctr">
              <a:lnSpc>
                <a:spcPct val="120000"/>
              </a:lnSpc>
            </a:pPr>
            <a:r>
              <a:rPr lang="en-US" sz="2130" b="1" dirty="0">
                <a:solidFill>
                  <a:srgbClr val="7F7F7F"/>
                </a:solidFill>
                <a:latin typeface="Arial" pitchFamily="34" charset="0"/>
                <a:ea typeface="Arial" pitchFamily="34" charset="-122"/>
                <a:cs typeface="Arial" pitchFamily="34" charset="-120"/>
              </a:rPr>
              <a:t>中心化网络</a:t>
            </a:r>
            <a:endParaRPr lang="en-US" sz="2130" dirty="0"/>
          </a:p>
          <a:p>
            <a:pPr algn="ctr">
              <a:lnSpc>
                <a:spcPct val="120000"/>
              </a:lnSpc>
            </a:pPr>
            <a:r>
              <a:rPr lang="en-US" sz="2130" b="1" dirty="0">
                <a:solidFill>
                  <a:srgbClr val="7F7F7F"/>
                </a:solidFill>
                <a:latin typeface="Arial" pitchFamily="34" charset="0"/>
                <a:ea typeface="Arial" pitchFamily="34" charset="-122"/>
                <a:cs typeface="Arial" pitchFamily="34" charset="-120"/>
              </a:rPr>
              <a:t>单点失效</a:t>
            </a:r>
            <a:endParaRPr lang="en-US" sz="2130" dirty="0"/>
          </a:p>
        </p:txBody>
      </p:sp>
      <p:sp>
        <p:nvSpPr>
          <p:cNvPr id="26" name="Text 17"/>
          <p:cNvSpPr/>
          <p:nvPr/>
        </p:nvSpPr>
        <p:spPr>
          <a:xfrm>
            <a:off x="7928229" y="3517011"/>
            <a:ext cx="8301609" cy="615569"/>
          </a:xfrm>
          <a:prstGeom prst="rect">
            <a:avLst/>
          </a:prstGeom>
          <a:noFill/>
          <a:ln/>
        </p:spPr>
        <p:txBody>
          <a:bodyPr wrap="square" lIns="0" tIns="0" rIns="0" bIns="0" rtlCol="0" anchor="t"/>
          <a:lstStyle/>
          <a:p>
            <a:pPr algn="l">
              <a:lnSpc>
                <a:spcPct val="120000"/>
              </a:lnSpc>
            </a:pPr>
            <a:r>
              <a:rPr lang="en-US" sz="3200" b="1" dirty="0">
                <a:solidFill>
                  <a:srgbClr val="04579A"/>
                </a:solidFill>
                <a:latin typeface="Arial" pitchFamily="34" charset="0"/>
                <a:ea typeface="Arial" pitchFamily="34" charset="-122"/>
                <a:cs typeface="Arial" pitchFamily="34" charset="-120"/>
              </a:rPr>
              <a:t>分布式架构 </a:t>
            </a:r>
            <a:pPr algn="l">
              <a:lnSpc>
                <a:spcPct val="120000"/>
              </a:lnSpc>
            </a:pPr>
            <a:r>
              <a:rPr lang="en-US" sz="3200" b="1" dirty="0">
                <a:solidFill>
                  <a:srgbClr val="04579A"/>
                </a:solidFill>
                <a:latin typeface="Arial" pitchFamily="34" charset="0"/>
                <a:ea typeface="Arial" pitchFamily="34" charset="-122"/>
                <a:cs typeface="Arial" pitchFamily="34" charset="-120"/>
              </a:rPr>
              <a:t>vs </a:t>
            </a:r>
            <a:pPr algn="l">
              <a:lnSpc>
                <a:spcPct val="120000"/>
              </a:lnSpc>
            </a:pPr>
            <a:r>
              <a:rPr lang="en-US" sz="3200" b="1" dirty="0">
                <a:solidFill>
                  <a:srgbClr val="04579A"/>
                </a:solidFill>
                <a:latin typeface="Arial" pitchFamily="34" charset="0"/>
                <a:ea typeface="Arial" pitchFamily="34" charset="-122"/>
                <a:cs typeface="Arial" pitchFamily="34" charset="-120"/>
              </a:rPr>
              <a:t>中心化架构：</a:t>
            </a:r>
            <a:endParaRPr lang="en-US" sz="3200" dirty="0"/>
          </a:p>
        </p:txBody>
      </p:sp>
      <p:sp>
        <p:nvSpPr>
          <p:cNvPr id="27" name="Shape 18"/>
          <p:cNvSpPr/>
          <p:nvPr/>
        </p:nvSpPr>
        <p:spPr>
          <a:xfrm>
            <a:off x="10323449" y="4709160"/>
            <a:ext cx="3513709" cy="536829"/>
          </a:xfrm>
          <a:prstGeom prst="rect">
            <a:avLst/>
          </a:prstGeom>
          <a:solidFill>
            <a:srgbClr val="005C8F"/>
          </a:solidFill>
          <a:ln w="12700">
            <a:solidFill>
              <a:srgbClr val="005C8F"/>
            </a:solidFill>
            <a:prstDash val="solid"/>
          </a:ln>
        </p:spPr>
      </p:sp>
      <p:sp>
        <p:nvSpPr>
          <p:cNvPr id="28" name="Shape 19"/>
          <p:cNvSpPr/>
          <p:nvPr/>
        </p:nvSpPr>
        <p:spPr>
          <a:xfrm>
            <a:off x="7958709" y="5364480"/>
            <a:ext cx="2363851" cy="536829"/>
          </a:xfrm>
          <a:prstGeom prst="rect">
            <a:avLst/>
          </a:prstGeom>
          <a:noFill/>
          <a:ln w="12700">
            <a:solidFill>
              <a:srgbClr val="BFD5F5"/>
            </a:solidFill>
            <a:prstDash val="solid"/>
          </a:ln>
        </p:spPr>
      </p:sp>
      <p:sp>
        <p:nvSpPr>
          <p:cNvPr id="29" name="Shape 20"/>
          <p:cNvSpPr/>
          <p:nvPr/>
        </p:nvSpPr>
        <p:spPr>
          <a:xfrm>
            <a:off x="7958709" y="6019800"/>
            <a:ext cx="2363851" cy="536829"/>
          </a:xfrm>
          <a:prstGeom prst="rect">
            <a:avLst/>
          </a:prstGeom>
          <a:noFill/>
          <a:ln w="12700">
            <a:solidFill>
              <a:srgbClr val="BFD5F5"/>
            </a:solidFill>
            <a:prstDash val="solid"/>
          </a:ln>
        </p:spPr>
      </p:sp>
      <p:sp>
        <p:nvSpPr>
          <p:cNvPr id="30" name="Shape 21"/>
          <p:cNvSpPr/>
          <p:nvPr/>
        </p:nvSpPr>
        <p:spPr>
          <a:xfrm>
            <a:off x="10323449" y="5364480"/>
            <a:ext cx="3513709" cy="536829"/>
          </a:xfrm>
          <a:prstGeom prst="rect">
            <a:avLst/>
          </a:prstGeom>
          <a:solidFill>
            <a:srgbClr val="005C8F"/>
          </a:solidFill>
          <a:ln w="12700">
            <a:solidFill>
              <a:srgbClr val="005C8F"/>
            </a:solidFill>
            <a:prstDash val="solid"/>
          </a:ln>
        </p:spPr>
      </p:sp>
      <p:sp>
        <p:nvSpPr>
          <p:cNvPr id="31" name="Shape 22"/>
          <p:cNvSpPr/>
          <p:nvPr/>
        </p:nvSpPr>
        <p:spPr>
          <a:xfrm>
            <a:off x="10323449" y="6019800"/>
            <a:ext cx="3513709" cy="536829"/>
          </a:xfrm>
          <a:prstGeom prst="rect">
            <a:avLst/>
          </a:prstGeom>
          <a:solidFill>
            <a:srgbClr val="005C8F"/>
          </a:solidFill>
          <a:ln w="12700">
            <a:solidFill>
              <a:srgbClr val="005C8F"/>
            </a:solidFill>
            <a:prstDash val="solid"/>
          </a:ln>
        </p:spPr>
      </p:sp>
      <p:sp>
        <p:nvSpPr>
          <p:cNvPr id="32" name="Text 23"/>
          <p:cNvSpPr/>
          <p:nvPr/>
        </p:nvSpPr>
        <p:spPr>
          <a:xfrm>
            <a:off x="8078470" y="4520057"/>
            <a:ext cx="6035040" cy="1993900"/>
          </a:xfrm>
          <a:prstGeom prst="rect">
            <a:avLst/>
          </a:prstGeom>
          <a:noFill/>
          <a:ln/>
        </p:spPr>
        <p:txBody>
          <a:bodyPr wrap="square" lIns="0" tIns="0" rIns="0" bIns="0" rtlCol="0" anchor="t"/>
          <a:lstStyle/>
          <a:p>
            <a:pPr algn="l">
              <a:lnSpc>
                <a:spcPct val="200000"/>
              </a:lnSpc>
            </a:pPr>
            <a:r>
              <a:rPr lang="en-US" sz="2130" dirty="0">
                <a:solidFill>
                  <a:srgbClr val="000000"/>
                </a:solidFill>
                <a:latin typeface="MiSans" pitchFamily="34" charset="0"/>
                <a:ea typeface="MiSans" pitchFamily="34" charset="-122"/>
                <a:cs typeface="MiSans" pitchFamily="34" charset="-120"/>
              </a:rPr>
              <a:t>弹性扩容	             扩展节点灵活提升系统容量</a:t>
            </a:r>
            <a:endParaRPr lang="en-US" sz="2130" dirty="0"/>
          </a:p>
          <a:p>
            <a:pPr algn="l">
              <a:lnSpc>
                <a:spcPct val="200000"/>
              </a:lnSpc>
            </a:pPr>
            <a:r>
              <a:rPr lang="en-US" sz="2130" dirty="0">
                <a:solidFill>
                  <a:srgbClr val="000000"/>
                </a:solidFill>
                <a:latin typeface="MiSans" pitchFamily="34" charset="0"/>
                <a:ea typeface="MiSans" pitchFamily="34" charset="-122"/>
                <a:cs typeface="MiSans" pitchFamily="34" charset="-120"/>
              </a:rPr>
              <a:t>高容错性		      无单点失效隐患</a:t>
            </a:r>
            <a:endParaRPr lang="en-US" sz="2130" dirty="0"/>
          </a:p>
          <a:p>
            <a:pPr algn="l">
              <a:lnSpc>
                <a:spcPct val="200000"/>
              </a:lnSpc>
            </a:pPr>
            <a:r>
              <a:rPr lang="en-US" sz="2130" dirty="0">
                <a:solidFill>
                  <a:srgbClr val="000000"/>
                </a:solidFill>
                <a:latin typeface="MiSans" pitchFamily="34" charset="0"/>
                <a:ea typeface="MiSans" pitchFamily="34" charset="-122"/>
                <a:cs typeface="MiSans" pitchFamily="34" charset="-120"/>
              </a:rPr>
              <a:t>去中心化	               消除中心控制，防止垄断</a:t>
            </a:r>
            <a:endParaRPr lang="en-US" sz="2130" dirty="0"/>
          </a:p>
        </p:txBody>
      </p:sp>
      <p:sp>
        <p:nvSpPr>
          <p:cNvPr id="33" name="Shape 24"/>
          <p:cNvSpPr/>
          <p:nvPr/>
        </p:nvSpPr>
        <p:spPr>
          <a:xfrm>
            <a:off x="3108071" y="1965071"/>
            <a:ext cx="4063111" cy="5837809"/>
          </a:xfrm>
          <a:prstGeom prst="roundRect">
            <a:avLst>
              <a:gd name="adj" fmla="val 16667"/>
            </a:avLst>
          </a:prstGeom>
          <a:solidFill>
            <a:srgbClr val="FFFFFF"/>
          </a:solidFill>
          <a:ln w="12700">
            <a:solidFill>
              <a:srgbClr val="0688EC"/>
            </a:solidFill>
            <a:prstDash val="solid"/>
          </a:ln>
          <a:effectLst>
            <a:outerShdw sx="100000" sy="100000" kx="0" ky="0" algn="bl" rotWithShape="0" blurRad="50800" dist="26924" dir="2700000">
              <a:srgbClr val="000000">
                <a:alpha val="40000"/>
              </a:srgbClr>
            </a:outerShdw>
          </a:effectLst>
        </p:spPr>
      </p:sp>
      <p:pic>
        <p:nvPicPr>
          <p:cNvPr id="34" name="Image 6" descr="https://kimi-img.moonshot.cn/pub/slides/okc/flfuysioo4gzm/mnt/agents/output/yuan_pptd/images/image_13.jpg">    </p:cNvPr>
          <p:cNvPicPr>
            <a:picLocks noChangeAspect="1"/>
          </p:cNvPicPr>
          <p:nvPr/>
        </p:nvPicPr>
        <p:blipFill>
          <a:blip r:embed="rId7"/>
          <a:srcRect l="20420" r="50110" t="24710" b="22240"/>
          <a:stretch/>
        </p:blipFill>
        <p:spPr>
          <a:xfrm>
            <a:off x="3474720" y="2954020"/>
            <a:ext cx="911225" cy="923544"/>
          </a:xfrm>
          <a:prstGeom prst="rect">
            <a:avLst/>
          </a:prstGeom>
        </p:spPr>
      </p:pic>
      <p:pic>
        <p:nvPicPr>
          <p:cNvPr id="35" name="Image 7" descr="https://kimi-img.moonshot.cn/pub/slides/okc/flfuysioo4gzm/mnt/agents/output/yuan_pptd/images/image_13.jpg">    </p:cNvPr>
          <p:cNvPicPr>
            <a:picLocks noChangeAspect="1"/>
          </p:cNvPicPr>
          <p:nvPr/>
        </p:nvPicPr>
        <p:blipFill>
          <a:blip r:embed="rId8"/>
          <a:srcRect l="20420" r="50110" t="24710" b="22240"/>
          <a:stretch/>
        </p:blipFill>
        <p:spPr>
          <a:xfrm>
            <a:off x="5871464" y="2954020"/>
            <a:ext cx="911225" cy="923544"/>
          </a:xfrm>
          <a:prstGeom prst="rect">
            <a:avLst/>
          </a:prstGeom>
        </p:spPr>
      </p:pic>
      <p:pic>
        <p:nvPicPr>
          <p:cNvPr id="36" name="Image 8" descr="https://kimi-img.moonshot.cn/pub/slides/okc/flfuysioo4gzm/mnt/agents/output/yuan_pptd/images/image_13.jpg">    </p:cNvPr>
          <p:cNvPicPr>
            <a:picLocks noChangeAspect="1"/>
          </p:cNvPicPr>
          <p:nvPr/>
        </p:nvPicPr>
        <p:blipFill>
          <a:blip r:embed="rId9"/>
          <a:srcRect l="20420" r="50110" t="24710" b="22240"/>
          <a:stretch/>
        </p:blipFill>
        <p:spPr>
          <a:xfrm>
            <a:off x="3474720" y="4638929"/>
            <a:ext cx="911225" cy="923544"/>
          </a:xfrm>
          <a:prstGeom prst="rect">
            <a:avLst/>
          </a:prstGeom>
        </p:spPr>
      </p:pic>
      <p:pic>
        <p:nvPicPr>
          <p:cNvPr id="37" name="Image 9" descr="https://kimi-img.moonshot.cn/pub/slides/okc/flfuysioo4gzm/mnt/agents/output/yuan_pptd/images/image_13.jpg">    </p:cNvPr>
          <p:cNvPicPr>
            <a:picLocks noChangeAspect="1"/>
          </p:cNvPicPr>
          <p:nvPr/>
        </p:nvPicPr>
        <p:blipFill>
          <a:blip r:embed="rId10"/>
          <a:srcRect l="20420" r="50110" t="24710" b="22240"/>
          <a:stretch/>
        </p:blipFill>
        <p:spPr>
          <a:xfrm>
            <a:off x="5871464" y="4638929"/>
            <a:ext cx="911225" cy="923544"/>
          </a:xfrm>
          <a:prstGeom prst="rect">
            <a:avLst/>
          </a:prstGeom>
        </p:spPr>
      </p:pic>
      <p:sp>
        <p:nvSpPr>
          <p:cNvPr id="38" name="Shape 25"/>
          <p:cNvSpPr/>
          <p:nvPr/>
        </p:nvSpPr>
        <p:spPr>
          <a:xfrm flipV="1">
            <a:off x="6327394" y="3877564"/>
            <a:ext cx="0" cy="761365"/>
          </a:xfrm>
          <a:prstGeom prst="line">
            <a:avLst/>
          </a:prstGeom>
          <a:noFill/>
          <a:ln w="22225">
            <a:solidFill>
              <a:srgbClr val="04579A"/>
            </a:solidFill>
            <a:prstDash val="solid"/>
            <a:headEnd type="none"/>
            <a:tailEnd type="none"/>
          </a:ln>
        </p:spPr>
      </p:sp>
      <p:sp>
        <p:nvSpPr>
          <p:cNvPr id="39" name="Shape 26"/>
          <p:cNvSpPr/>
          <p:nvPr/>
        </p:nvSpPr>
        <p:spPr>
          <a:xfrm flipV="1">
            <a:off x="3930650" y="3877564"/>
            <a:ext cx="0" cy="761365"/>
          </a:xfrm>
          <a:prstGeom prst="line">
            <a:avLst/>
          </a:prstGeom>
          <a:noFill/>
          <a:ln w="22225">
            <a:solidFill>
              <a:srgbClr val="04579A"/>
            </a:solidFill>
            <a:prstDash val="solid"/>
            <a:headEnd type="none"/>
            <a:tailEnd type="none"/>
          </a:ln>
        </p:spPr>
      </p:sp>
      <p:sp>
        <p:nvSpPr>
          <p:cNvPr id="40" name="Shape 27"/>
          <p:cNvSpPr/>
          <p:nvPr/>
        </p:nvSpPr>
        <p:spPr>
          <a:xfrm>
            <a:off x="4385945" y="5100066"/>
            <a:ext cx="1485519" cy="0"/>
          </a:xfrm>
          <a:prstGeom prst="line">
            <a:avLst/>
          </a:prstGeom>
          <a:noFill/>
          <a:ln w="22225">
            <a:solidFill>
              <a:srgbClr val="04579A"/>
            </a:solidFill>
            <a:prstDash val="solid"/>
            <a:headEnd type="none"/>
            <a:tailEnd type="none"/>
          </a:ln>
        </p:spPr>
      </p:sp>
      <p:sp>
        <p:nvSpPr>
          <p:cNvPr id="41" name="Shape 28"/>
          <p:cNvSpPr/>
          <p:nvPr/>
        </p:nvSpPr>
        <p:spPr>
          <a:xfrm>
            <a:off x="4385945" y="3415792"/>
            <a:ext cx="1485519" cy="0"/>
          </a:xfrm>
          <a:prstGeom prst="line">
            <a:avLst/>
          </a:prstGeom>
          <a:noFill/>
          <a:ln w="22225">
            <a:solidFill>
              <a:srgbClr val="04579A"/>
            </a:solidFill>
            <a:prstDash val="solid"/>
            <a:headEnd type="none"/>
            <a:tailEnd type="none"/>
          </a:ln>
        </p:spPr>
      </p:sp>
      <p:sp>
        <p:nvSpPr>
          <p:cNvPr id="42" name="Shape 29"/>
          <p:cNvSpPr/>
          <p:nvPr/>
        </p:nvSpPr>
        <p:spPr>
          <a:xfrm flipV="1">
            <a:off x="4407281" y="3711194"/>
            <a:ext cx="1503299" cy="981075"/>
          </a:xfrm>
          <a:prstGeom prst="line">
            <a:avLst/>
          </a:prstGeom>
          <a:noFill/>
          <a:ln w="22225">
            <a:solidFill>
              <a:srgbClr val="04579A"/>
            </a:solidFill>
            <a:prstDash val="solid"/>
            <a:headEnd type="none"/>
            <a:tailEnd type="none"/>
          </a:ln>
        </p:spPr>
      </p:sp>
      <p:sp>
        <p:nvSpPr>
          <p:cNvPr id="43" name="Shape 30"/>
          <p:cNvSpPr/>
          <p:nvPr/>
        </p:nvSpPr>
        <p:spPr>
          <a:xfrm flipH="1" flipV="1">
            <a:off x="4385945" y="3711194"/>
            <a:ext cx="1481963" cy="970407"/>
          </a:xfrm>
          <a:prstGeom prst="line">
            <a:avLst/>
          </a:prstGeom>
          <a:noFill/>
          <a:ln w="22225">
            <a:solidFill>
              <a:srgbClr val="04579A"/>
            </a:solidFill>
            <a:prstDash val="solid"/>
            <a:headEnd type="none"/>
            <a:tailEnd type="none"/>
          </a:ln>
        </p:spPr>
      </p:sp>
      <p:sp>
        <p:nvSpPr>
          <p:cNvPr id="44" name="Text 31"/>
          <p:cNvSpPr/>
          <p:nvPr/>
        </p:nvSpPr>
        <p:spPr>
          <a:xfrm>
            <a:off x="4143629" y="6416929"/>
            <a:ext cx="2041271" cy="480949"/>
          </a:xfrm>
          <a:prstGeom prst="rect">
            <a:avLst/>
          </a:prstGeom>
          <a:noFill/>
          <a:ln/>
        </p:spPr>
        <p:txBody>
          <a:bodyPr wrap="square" lIns="0" tIns="0" rIns="0" bIns="0" rtlCol="0" anchor="t"/>
          <a:lstStyle/>
          <a:p>
            <a:pPr algn="ctr">
              <a:lnSpc>
                <a:spcPct val="120000"/>
              </a:lnSpc>
            </a:pPr>
            <a:r>
              <a:rPr lang="en-US" sz="2670" b="1" dirty="0">
                <a:solidFill>
                  <a:srgbClr val="04579A"/>
                </a:solidFill>
                <a:latin typeface="Arial" pitchFamily="34" charset="0"/>
                <a:ea typeface="Arial" pitchFamily="34" charset="-122"/>
                <a:cs typeface="Arial" pitchFamily="34" charset="-120"/>
              </a:rPr>
              <a:t>分布式系统</a:t>
            </a:r>
            <a:endParaRPr lang="en-US" sz="2670" dirty="0"/>
          </a:p>
        </p:txBody>
      </p:sp>
      <p:sp>
        <p:nvSpPr>
          <p:cNvPr id="45" name="Text 32"/>
          <p:cNvSpPr/>
          <p:nvPr/>
        </p:nvSpPr>
        <p:spPr>
          <a:xfrm>
            <a:off x="15649067" y="8666353"/>
            <a:ext cx="606933" cy="492506"/>
          </a:xfrm>
          <a:prstGeom prst="rect">
            <a:avLst/>
          </a:prstGeom>
          <a:noFill/>
          <a:ln/>
        </p:spPr>
        <p:txBody>
          <a:bodyPr wrap="square" lIns="0" tIns="0" rIns="0" bIns="0" rtlCol="0" anchor="t"/>
          <a:lstStyle/>
          <a:p>
            <a:pPr algn="ctr">
              <a:lnSpc>
                <a:spcPct val="120000"/>
              </a:lnSpc>
            </a:pPr>
            <a:r>
              <a:rPr lang="en-US" sz="2400" dirty="0">
                <a:solidFill>
                  <a:srgbClr val="000000"/>
                </a:solidFill>
                <a:latin typeface="Arial" pitchFamily="34" charset="0"/>
                <a:ea typeface="Arial" pitchFamily="34" charset="-122"/>
                <a:cs typeface="Arial" pitchFamily="34" charset="-120"/>
              </a:rPr>
              <a:t>1</a:t>
            </a:r>
            <a:endParaRPr lang="en-US" sz="2400" dirty="0"/>
          </a:p>
        </p:txBody>
      </p:sp>
    </p:spTree>
  </p:cSld>
  <p:clrMapOvr>
    <a:masterClrMapping/>
  </p:clrMapOvr>
  <p:transition>
    <p:fade/>
    <p:spd val="med"/>
  </p:transition>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pic>
        <p:nvPicPr>
          <p:cNvPr id="3" name="Image 0" descr="https://kimi-img.moonshot.cn/pub/slides/okc/flfuysioo4gzm/mnt/agents/output/yuan_pptd/images/image_14.jpg">    </p:cNvPr>
          <p:cNvPicPr>
            <a:picLocks noChangeAspect="1"/>
          </p:cNvPicPr>
          <p:nvPr/>
        </p:nvPicPr>
        <p:blipFill>
          <a:blip r:embed="rId1"/>
          <a:srcRect l="0" r="0" t="0" b="1330"/>
          <a:stretch/>
        </p:blipFill>
        <p:spPr>
          <a:xfrm>
            <a:off x="1694180" y="1737360"/>
            <a:ext cx="4269740" cy="2807589"/>
          </a:xfrm>
          <a:prstGeom prst="rect">
            <a:avLst/>
          </a:prstGeom>
          <a:effectLst>
            <a:outerShdw sx="100000" sy="100000" kx="0" ky="0" algn="bl" rotWithShape="0" blurRad="50800" dist="26924" dir="2700000">
              <a:srgbClr val="000000">
                <a:alpha val="40000"/>
              </a:srgbClr>
            </a:outerShdw>
          </a:effectLst>
        </p:spPr>
      </p:pic>
      <p:sp>
        <p:nvSpPr>
          <p:cNvPr id="4" name="Text 0"/>
          <p:cNvSpPr/>
          <p:nvPr/>
        </p:nvSpPr>
        <p:spPr>
          <a:xfrm>
            <a:off x="2630551" y="5700649"/>
            <a:ext cx="5799582" cy="2744216"/>
          </a:xfrm>
          <a:prstGeom prst="rect">
            <a:avLst/>
          </a:prstGeom>
          <a:noFill/>
          <a:ln/>
        </p:spPr>
        <p:txBody>
          <a:bodyPr wrap="square" lIns="0" tIns="0" rIns="0" bIns="0" rtlCol="0" anchor="t"/>
          <a:lstStyle/>
          <a:p>
            <a:pPr algn="l">
              <a:lnSpc>
                <a:spcPct val="120000"/>
              </a:lnSpc>
            </a:pPr>
            <a:r>
              <a:rPr lang="en-US" sz="2400" b="1" dirty="0">
                <a:solidFill>
                  <a:srgbClr val="04579A"/>
                </a:solidFill>
                <a:latin typeface="Arial" pitchFamily="34" charset="0"/>
                <a:ea typeface="Arial" pitchFamily="34" charset="-122"/>
                <a:cs typeface="Arial" pitchFamily="34" charset="-120"/>
              </a:rPr>
              <a:t>公开可验证</a:t>
            </a:r>
            <a:endParaRPr lang="en-US" sz="2400" dirty="0"/>
          </a:p>
          <a:p>
            <a:pPr algn="l">
              <a:lnSpc>
                <a:spcPct val="120000"/>
              </a:lnSpc>
            </a:pPr>
            <a:r>
              <a:rPr lang="en-US" sz="2400" dirty="0">
                <a:solidFill>
                  <a:srgbClr val="04579A"/>
                </a:solidFill>
                <a:latin typeface="Arial" pitchFamily="34" charset="0"/>
                <a:ea typeface="Arial" pitchFamily="34" charset="-122"/>
                <a:cs typeface="Arial" pitchFamily="34" charset="-120"/>
              </a:rPr>
              <a:t>维护全局统一的线性有序交易记录</a:t>
            </a:r>
            <a:endParaRPr lang="en-US" sz="2400" dirty="0"/>
          </a:p>
          <a:p>
            <a:pPr algn="l">
              <a:lnSpc>
                <a:spcPct val="120000"/>
              </a:lnSpc>
            </a:pPr>
            <a:r>
              <a:rPr lang="en-US" sz="2400" b="1" dirty="0">
                <a:solidFill>
                  <a:srgbClr val="04579A"/>
                </a:solidFill>
                <a:latin typeface="Arial" pitchFamily="34" charset="0"/>
                <a:ea typeface="Arial" pitchFamily="34" charset="-122"/>
                <a:cs typeface="Arial" pitchFamily="34" charset="-120"/>
              </a:rPr>
              <a:t>不可篡改</a:t>
            </a:r>
            <a:endParaRPr lang="en-US" sz="2400" dirty="0"/>
          </a:p>
          <a:p>
            <a:pPr algn="l">
              <a:lnSpc>
                <a:spcPct val="120000"/>
              </a:lnSpc>
            </a:pPr>
            <a:r>
              <a:rPr lang="en-US" sz="2400" dirty="0">
                <a:solidFill>
                  <a:srgbClr val="04579A"/>
                </a:solidFill>
                <a:latin typeface="Arial" pitchFamily="34" charset="0"/>
                <a:ea typeface="Arial" pitchFamily="34" charset="-122"/>
                <a:cs typeface="Arial" pitchFamily="34" charset="-120"/>
              </a:rPr>
              <a:t>区块间存在链接结构，一旦篡改即失效</a:t>
            </a:r>
            <a:endParaRPr lang="en-US" sz="2400" dirty="0"/>
          </a:p>
          <a:p>
            <a:pPr algn="l">
              <a:lnSpc>
                <a:spcPct val="120000"/>
              </a:lnSpc>
            </a:pPr>
            <a:r>
              <a:rPr lang="en-US" sz="2400" b="1" dirty="0">
                <a:solidFill>
                  <a:srgbClr val="04579A"/>
                </a:solidFill>
                <a:latin typeface="Arial" pitchFamily="34" charset="0"/>
                <a:ea typeface="Arial" pitchFamily="34" charset="-122"/>
                <a:cs typeface="Arial" pitchFamily="34" charset="-120"/>
              </a:rPr>
              <a:t>去中心化</a:t>
            </a:r>
            <a:endParaRPr lang="en-US" sz="2400" dirty="0"/>
          </a:p>
          <a:p>
            <a:pPr algn="l">
              <a:lnSpc>
                <a:spcPct val="120000"/>
              </a:lnSpc>
            </a:pPr>
            <a:r>
              <a:rPr lang="en-US" sz="2400" dirty="0">
                <a:solidFill>
                  <a:srgbClr val="04579A"/>
                </a:solidFill>
                <a:latin typeface="Arial" pitchFamily="34" charset="0"/>
                <a:ea typeface="Arial" pitchFamily="34" charset="-122"/>
                <a:cs typeface="Arial" pitchFamily="34" charset="-120"/>
              </a:rPr>
              <a:t>独立验证节点构成的点对点网络共同维护</a:t>
            </a:r>
            <a:endParaRPr lang="en-US" sz="2400" dirty="0"/>
          </a:p>
        </p:txBody>
      </p:sp>
      <p:sp>
        <p:nvSpPr>
          <p:cNvPr id="5" name="Shape 1"/>
          <p:cNvSpPr/>
          <p:nvPr/>
        </p:nvSpPr>
        <p:spPr>
          <a:xfrm>
            <a:off x="5162169" y="-889"/>
            <a:ext cx="2590800" cy="962660"/>
          </a:xfrm>
          <a:prstGeom prst="rect">
            <a:avLst/>
          </a:prstGeom>
          <a:solidFill>
            <a:srgbClr val="F2F2F2"/>
          </a:solidFill>
          <a:ln/>
        </p:spPr>
      </p:sp>
      <p:sp>
        <p:nvSpPr>
          <p:cNvPr id="6" name="Shape 2"/>
          <p:cNvSpPr/>
          <p:nvPr/>
        </p:nvSpPr>
        <p:spPr>
          <a:xfrm>
            <a:off x="7816469" y="-889"/>
            <a:ext cx="4114800" cy="962660"/>
          </a:xfrm>
          <a:prstGeom prst="rect">
            <a:avLst/>
          </a:prstGeom>
          <a:solidFill>
            <a:srgbClr val="F2F2F2"/>
          </a:solidFill>
          <a:ln/>
        </p:spPr>
      </p:sp>
      <p:sp>
        <p:nvSpPr>
          <p:cNvPr id="7" name="Shape 3"/>
          <p:cNvSpPr/>
          <p:nvPr/>
        </p:nvSpPr>
        <p:spPr>
          <a:xfrm>
            <a:off x="11971020" y="0"/>
            <a:ext cx="4284980" cy="961771"/>
          </a:xfrm>
          <a:prstGeom prst="rect">
            <a:avLst/>
          </a:prstGeom>
          <a:solidFill>
            <a:srgbClr val="F2F2F2"/>
          </a:solidFill>
          <a:ln/>
        </p:spPr>
      </p:sp>
      <p:sp>
        <p:nvSpPr>
          <p:cNvPr id="8" name="Shape 4"/>
          <p:cNvSpPr/>
          <p:nvPr/>
        </p:nvSpPr>
        <p:spPr>
          <a:xfrm>
            <a:off x="2219960" y="-889"/>
            <a:ext cx="2895600" cy="962660"/>
          </a:xfrm>
          <a:prstGeom prst="rect">
            <a:avLst/>
          </a:prstGeom>
          <a:solidFill>
            <a:srgbClr val="04579A"/>
          </a:solidFill>
          <a:ln w="12700">
            <a:solidFill>
              <a:srgbClr val="304B73"/>
            </a:solidFill>
            <a:prstDash val="solid"/>
          </a:ln>
        </p:spPr>
      </p:sp>
      <p:sp>
        <p:nvSpPr>
          <p:cNvPr id="9" name="Text 5"/>
          <p:cNvSpPr/>
          <p:nvPr/>
        </p:nvSpPr>
        <p:spPr>
          <a:xfrm>
            <a:off x="2283460" y="203200"/>
            <a:ext cx="2768600" cy="508000"/>
          </a:xfrm>
          <a:prstGeom prst="rect">
            <a:avLst/>
          </a:prstGeom>
          <a:noFill/>
          <a:ln/>
        </p:spPr>
        <p:txBody>
          <a:bodyPr wrap="none" lIns="0" tIns="0" rIns="0" bIns="0" rtlCol="0" anchor="ctr"/>
          <a:lstStyle/>
          <a:p>
            <a:pPr algn="ctr">
              <a:lnSpc>
                <a:spcPct val="120000"/>
              </a:lnSpc>
            </a:pPr>
            <a:r>
              <a:rPr lang="en-US" sz="2000" dirty="0">
                <a:solidFill>
                  <a:srgbClr val="FFFFFF"/>
                </a:solidFill>
                <a:latin typeface="Arial" pitchFamily="34" charset="0"/>
                <a:ea typeface="Arial" pitchFamily="34" charset="-122"/>
                <a:cs typeface="Arial" pitchFamily="34" charset="-120"/>
              </a:rPr>
              <a:t>选题背景及意义</a:t>
            </a:r>
            <a:endParaRPr lang="en-US" sz="2000" dirty="0"/>
          </a:p>
        </p:txBody>
      </p:sp>
      <p:sp>
        <p:nvSpPr>
          <p:cNvPr id="10" name="Text 6"/>
          <p:cNvSpPr/>
          <p:nvPr/>
        </p:nvSpPr>
        <p:spPr>
          <a:xfrm>
            <a:off x="5225669" y="203200"/>
            <a:ext cx="24638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国内外研究现状</a:t>
            </a:r>
            <a:endParaRPr lang="en-US" sz="2000" dirty="0"/>
          </a:p>
        </p:txBody>
      </p:sp>
      <p:sp>
        <p:nvSpPr>
          <p:cNvPr id="11" name="Text 7"/>
          <p:cNvSpPr/>
          <p:nvPr/>
        </p:nvSpPr>
        <p:spPr>
          <a:xfrm>
            <a:off x="7879969" y="203200"/>
            <a:ext cx="39878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主要研究内容及预期目标</a:t>
            </a:r>
            <a:endParaRPr lang="en-US" sz="2000" dirty="0"/>
          </a:p>
        </p:txBody>
      </p:sp>
      <p:sp>
        <p:nvSpPr>
          <p:cNvPr id="12" name="Text 8"/>
          <p:cNvSpPr/>
          <p:nvPr/>
        </p:nvSpPr>
        <p:spPr>
          <a:xfrm>
            <a:off x="12034520" y="203200"/>
            <a:ext cx="415798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工作计划与进度安排</a:t>
            </a:r>
            <a:endParaRPr lang="en-US" sz="2000" dirty="0"/>
          </a:p>
        </p:txBody>
      </p:sp>
      <p:pic>
        <p:nvPicPr>
          <p:cNvPr id="13" name="Image 1" descr="https://kimi-img.moonshot.cn/pub/slides/okc/flfuysioo4gzm/mnt/agents/output/yuan_pptd/images/image_2.jpg">    </p:cNvPr>
          <p:cNvPicPr>
            <a:picLocks noChangeAspect="1"/>
          </p:cNvPicPr>
          <p:nvPr/>
        </p:nvPicPr>
        <p:blipFill>
          <a:blip r:embed="rId2"/>
          <a:srcRect l="5060" r="29000" t="0" b="0"/>
          <a:stretch/>
        </p:blipFill>
        <p:spPr>
          <a:xfrm>
            <a:off x="544449" y="140589"/>
            <a:ext cx="1273429" cy="745871"/>
          </a:xfrm>
          <a:prstGeom prst="rect">
            <a:avLst/>
          </a:prstGeom>
        </p:spPr>
      </p:pic>
      <p:sp>
        <p:nvSpPr>
          <p:cNvPr id="14" name="Shape 9"/>
          <p:cNvSpPr/>
          <p:nvPr/>
        </p:nvSpPr>
        <p:spPr>
          <a:xfrm rot="10800000">
            <a:off x="3496691" y="961771"/>
            <a:ext cx="389509" cy="304800"/>
          </a:xfrm>
          <a:prstGeom prst="triangle">
            <a:avLst>
              <a:gd name="adj" fmla="val 50000"/>
            </a:avLst>
          </a:prstGeom>
          <a:solidFill>
            <a:srgbClr val="04579A"/>
          </a:solidFill>
          <a:ln/>
        </p:spPr>
      </p:sp>
      <p:sp>
        <p:nvSpPr>
          <p:cNvPr id="15" name="Text 10"/>
          <p:cNvSpPr/>
          <p:nvPr/>
        </p:nvSpPr>
        <p:spPr>
          <a:xfrm>
            <a:off x="6501511" y="2393569"/>
            <a:ext cx="8260969" cy="2337689"/>
          </a:xfrm>
          <a:prstGeom prst="rect">
            <a:avLst/>
          </a:prstGeom>
          <a:noFill/>
          <a:ln/>
        </p:spPr>
        <p:txBody>
          <a:bodyPr wrap="square" lIns="0" tIns="0" rIns="0" bIns="0" rtlCol="0" anchor="t"/>
          <a:lstStyle/>
          <a:p>
            <a:pPr algn="l" marL="381000" indent="-381000">
              <a:lnSpc>
                <a:spcPct val="150000"/>
              </a:lnSpc>
              <a:spcBef>
                <a:spcPts val="10"/>
              </a:spcBef>
              <a:buSzPct val="100000"/>
              <a:buChar char="•"/>
            </a:pPr>
            <a:r>
              <a:rPr lang="en-US" sz="2400" dirty="0">
                <a:solidFill>
                  <a:srgbClr val="000000"/>
                </a:solidFill>
                <a:latin typeface="Arial" pitchFamily="34" charset="0"/>
                <a:ea typeface="Arial" pitchFamily="34" charset="-122"/>
                <a:cs typeface="Arial" pitchFamily="34" charset="-120"/>
              </a:rPr>
              <a:t>持续增长，线性排序的交易日志</a:t>
            </a:r>
            <a:endParaRPr lang="en-US" sz="2400" dirty="0"/>
          </a:p>
          <a:p>
            <a:pPr algn="l" marL="381000" indent="-381000">
              <a:lnSpc>
                <a:spcPct val="150000"/>
              </a:lnSpc>
              <a:spcBef>
                <a:spcPts val="10"/>
              </a:spcBef>
              <a:buSzPct val="100000"/>
              <a:buChar char="•"/>
            </a:pPr>
            <a:r>
              <a:rPr lang="en-US" sz="2400" dirty="0">
                <a:solidFill>
                  <a:srgbClr val="000000"/>
                </a:solidFill>
                <a:latin typeface="Arial" pitchFamily="34" charset="0"/>
                <a:ea typeface="Arial" pitchFamily="34" charset="-122"/>
                <a:cs typeface="Arial" pitchFamily="34" charset="-120"/>
              </a:rPr>
              <a:t>基于工作量证明 (Proof of Work, PoW) 的共识机制</a:t>
            </a:r>
            <a:endParaRPr lang="en-US" sz="2400" dirty="0"/>
          </a:p>
          <a:p>
            <a:pPr algn="l" marL="381000" indent="-381000">
              <a:lnSpc>
                <a:spcPct val="150000"/>
              </a:lnSpc>
              <a:spcBef>
                <a:spcPts val="10"/>
              </a:spcBef>
              <a:buSzPct val="100000"/>
              <a:buChar char="•"/>
            </a:pPr>
            <a:r>
              <a:rPr lang="en-US" sz="2400" dirty="0">
                <a:solidFill>
                  <a:srgbClr val="000000"/>
                </a:solidFill>
                <a:latin typeface="Arial" pitchFamily="34" charset="0"/>
                <a:ea typeface="Arial" pitchFamily="34" charset="-122"/>
                <a:cs typeface="Arial" pitchFamily="34" charset="-120"/>
              </a:rPr>
              <a:t>允许任何节点随时自由地加入系统</a:t>
            </a:r>
            <a:endParaRPr lang="en-US" sz="2400" dirty="0"/>
          </a:p>
          <a:p>
            <a:pPr algn="l" marL="381000" indent="-381000">
              <a:lnSpc>
                <a:spcPct val="150000"/>
              </a:lnSpc>
              <a:spcBef>
                <a:spcPts val="10"/>
              </a:spcBef>
              <a:buSzPct val="100000"/>
              <a:buChar char="•"/>
            </a:pPr>
            <a:r>
              <a:rPr lang="en-US" sz="2400" dirty="0">
                <a:solidFill>
                  <a:srgbClr val="000000"/>
                </a:solidFill>
                <a:latin typeface="Arial" pitchFamily="34" charset="0"/>
                <a:ea typeface="Arial" pitchFamily="34" charset="-122"/>
                <a:cs typeface="Arial" pitchFamily="34" charset="-120"/>
              </a:rPr>
              <a:t> </a:t>
            </a:r>
            <a:endParaRPr lang="en-US" sz="2400" dirty="0"/>
          </a:p>
        </p:txBody>
      </p:sp>
      <p:sp>
        <p:nvSpPr>
          <p:cNvPr id="16" name="Text 11"/>
          <p:cNvSpPr/>
          <p:nvPr/>
        </p:nvSpPr>
        <p:spPr>
          <a:xfrm>
            <a:off x="6415151" y="1568069"/>
            <a:ext cx="7705471" cy="613791"/>
          </a:xfrm>
          <a:prstGeom prst="rect">
            <a:avLst/>
          </a:prstGeom>
          <a:noFill/>
          <a:ln/>
        </p:spPr>
        <p:txBody>
          <a:bodyPr wrap="square" lIns="0" tIns="0" rIns="0" bIns="0" rtlCol="0" anchor="t"/>
          <a:lstStyle/>
          <a:p>
            <a:pPr algn="l">
              <a:lnSpc>
                <a:spcPct val="120000"/>
              </a:lnSpc>
            </a:pPr>
            <a:r>
              <a:rPr lang="en-US" sz="3200" b="1" dirty="0">
                <a:solidFill>
                  <a:srgbClr val="04579A"/>
                </a:solidFill>
                <a:latin typeface="Arial" pitchFamily="34" charset="0"/>
                <a:ea typeface="Arial" pitchFamily="34" charset="-122"/>
                <a:cs typeface="Arial" pitchFamily="34" charset="-120"/>
              </a:rPr>
              <a:t>2008 年，比特币在全球范围内获得成功</a:t>
            </a:r>
            <a:endParaRPr lang="en-US" sz="3200" dirty="0"/>
          </a:p>
        </p:txBody>
      </p:sp>
      <p:sp>
        <p:nvSpPr>
          <p:cNvPr id="17" name="Shape 12"/>
          <p:cNvSpPr/>
          <p:nvPr/>
        </p:nvSpPr>
        <p:spPr>
          <a:xfrm>
            <a:off x="9680702" y="6101207"/>
            <a:ext cx="651383" cy="394335"/>
          </a:xfrm>
          <a:prstGeom prst="rect">
            <a:avLst/>
          </a:prstGeom>
          <a:solidFill>
            <a:srgbClr val="04579A"/>
          </a:solidFill>
          <a:ln w="12700">
            <a:solidFill>
              <a:srgbClr val="04579A"/>
            </a:solidFill>
            <a:prstDash val="solid"/>
          </a:ln>
        </p:spPr>
      </p:sp>
      <p:sp>
        <p:nvSpPr>
          <p:cNvPr id="18" name="Shape 13"/>
          <p:cNvSpPr/>
          <p:nvPr/>
        </p:nvSpPr>
        <p:spPr>
          <a:xfrm>
            <a:off x="10458450" y="6101207"/>
            <a:ext cx="651383" cy="394335"/>
          </a:xfrm>
          <a:prstGeom prst="rect">
            <a:avLst/>
          </a:prstGeom>
          <a:solidFill>
            <a:srgbClr val="04579A"/>
          </a:solidFill>
          <a:ln w="12700">
            <a:solidFill>
              <a:srgbClr val="04579A"/>
            </a:solidFill>
            <a:prstDash val="solid"/>
          </a:ln>
        </p:spPr>
      </p:sp>
      <p:sp>
        <p:nvSpPr>
          <p:cNvPr id="19" name="Shape 14"/>
          <p:cNvSpPr/>
          <p:nvPr/>
        </p:nvSpPr>
        <p:spPr>
          <a:xfrm>
            <a:off x="11235309" y="6101207"/>
            <a:ext cx="651383" cy="394335"/>
          </a:xfrm>
          <a:prstGeom prst="rect">
            <a:avLst/>
          </a:prstGeom>
          <a:solidFill>
            <a:srgbClr val="04579A"/>
          </a:solidFill>
          <a:ln w="12700">
            <a:solidFill>
              <a:srgbClr val="04579A"/>
            </a:solidFill>
            <a:prstDash val="solid"/>
          </a:ln>
        </p:spPr>
      </p:sp>
      <p:sp>
        <p:nvSpPr>
          <p:cNvPr id="20" name="Shape 15"/>
          <p:cNvSpPr/>
          <p:nvPr/>
        </p:nvSpPr>
        <p:spPr>
          <a:xfrm>
            <a:off x="12013057" y="6101207"/>
            <a:ext cx="651383" cy="394335"/>
          </a:xfrm>
          <a:prstGeom prst="rect">
            <a:avLst/>
          </a:prstGeom>
          <a:solidFill>
            <a:srgbClr val="04579A"/>
          </a:solidFill>
          <a:ln w="12700">
            <a:solidFill>
              <a:srgbClr val="04579A"/>
            </a:solidFill>
            <a:prstDash val="solid"/>
          </a:ln>
        </p:spPr>
      </p:sp>
      <p:sp>
        <p:nvSpPr>
          <p:cNvPr id="21" name="Shape 16"/>
          <p:cNvSpPr/>
          <p:nvPr/>
        </p:nvSpPr>
        <p:spPr>
          <a:xfrm>
            <a:off x="12790805" y="6101207"/>
            <a:ext cx="651383" cy="394335"/>
          </a:xfrm>
          <a:prstGeom prst="rect">
            <a:avLst/>
          </a:prstGeom>
          <a:solidFill>
            <a:srgbClr val="04579A"/>
          </a:solidFill>
          <a:ln w="12700">
            <a:solidFill>
              <a:srgbClr val="04579A"/>
            </a:solidFill>
            <a:prstDash val="solid"/>
          </a:ln>
        </p:spPr>
      </p:sp>
      <p:sp>
        <p:nvSpPr>
          <p:cNvPr id="22" name="Shape 17"/>
          <p:cNvSpPr/>
          <p:nvPr/>
        </p:nvSpPr>
        <p:spPr>
          <a:xfrm flipH="1">
            <a:off x="10332212" y="6298311"/>
            <a:ext cx="125476" cy="0"/>
          </a:xfrm>
          <a:prstGeom prst="line">
            <a:avLst/>
          </a:prstGeom>
          <a:noFill/>
          <a:ln w="12700">
            <a:solidFill>
              <a:srgbClr val="005C8F"/>
            </a:solidFill>
            <a:prstDash val="solid"/>
            <a:headEnd type="none"/>
            <a:tailEnd type="none"/>
          </a:ln>
        </p:spPr>
      </p:sp>
      <p:sp>
        <p:nvSpPr>
          <p:cNvPr id="23" name="Shape 18"/>
          <p:cNvSpPr/>
          <p:nvPr/>
        </p:nvSpPr>
        <p:spPr>
          <a:xfrm flipH="1">
            <a:off x="11109960" y="6298311"/>
            <a:ext cx="125476" cy="0"/>
          </a:xfrm>
          <a:prstGeom prst="line">
            <a:avLst/>
          </a:prstGeom>
          <a:noFill/>
          <a:ln w="12700">
            <a:solidFill>
              <a:srgbClr val="005C8F"/>
            </a:solidFill>
            <a:prstDash val="solid"/>
            <a:headEnd type="none"/>
            <a:tailEnd type="none"/>
          </a:ln>
        </p:spPr>
      </p:sp>
      <p:sp>
        <p:nvSpPr>
          <p:cNvPr id="24" name="Shape 19"/>
          <p:cNvSpPr/>
          <p:nvPr/>
        </p:nvSpPr>
        <p:spPr>
          <a:xfrm flipH="1">
            <a:off x="11887581" y="6298311"/>
            <a:ext cx="126365" cy="0"/>
          </a:xfrm>
          <a:prstGeom prst="line">
            <a:avLst/>
          </a:prstGeom>
          <a:noFill/>
          <a:ln w="12700">
            <a:solidFill>
              <a:srgbClr val="005C8F"/>
            </a:solidFill>
            <a:prstDash val="solid"/>
            <a:headEnd type="none"/>
            <a:tailEnd type="none"/>
          </a:ln>
        </p:spPr>
      </p:sp>
      <p:sp>
        <p:nvSpPr>
          <p:cNvPr id="25" name="Shape 20"/>
          <p:cNvSpPr/>
          <p:nvPr/>
        </p:nvSpPr>
        <p:spPr>
          <a:xfrm flipH="1">
            <a:off x="12665329" y="6298311"/>
            <a:ext cx="125476" cy="0"/>
          </a:xfrm>
          <a:prstGeom prst="line">
            <a:avLst/>
          </a:prstGeom>
          <a:noFill/>
          <a:ln w="12700">
            <a:solidFill>
              <a:srgbClr val="005C8F"/>
            </a:solidFill>
            <a:prstDash val="solid"/>
            <a:headEnd type="none"/>
            <a:tailEnd type="none"/>
          </a:ln>
        </p:spPr>
      </p:sp>
      <p:sp>
        <p:nvSpPr>
          <p:cNvPr id="26" name="Shape 21"/>
          <p:cNvSpPr/>
          <p:nvPr/>
        </p:nvSpPr>
        <p:spPr>
          <a:xfrm>
            <a:off x="13569442" y="6101207"/>
            <a:ext cx="651383" cy="394335"/>
          </a:xfrm>
          <a:prstGeom prst="rect">
            <a:avLst/>
          </a:prstGeom>
          <a:solidFill>
            <a:srgbClr val="04579A"/>
          </a:solidFill>
          <a:ln w="12700">
            <a:solidFill>
              <a:srgbClr val="04579A"/>
            </a:solidFill>
            <a:prstDash val="solid"/>
          </a:ln>
        </p:spPr>
      </p:sp>
      <p:sp>
        <p:nvSpPr>
          <p:cNvPr id="27" name="Shape 22"/>
          <p:cNvSpPr/>
          <p:nvPr/>
        </p:nvSpPr>
        <p:spPr>
          <a:xfrm flipH="1">
            <a:off x="13443966" y="6298311"/>
            <a:ext cx="125476" cy="0"/>
          </a:xfrm>
          <a:prstGeom prst="line">
            <a:avLst/>
          </a:prstGeom>
          <a:noFill/>
          <a:ln w="12700">
            <a:solidFill>
              <a:srgbClr val="005C8F"/>
            </a:solidFill>
            <a:prstDash val="solid"/>
            <a:headEnd type="none"/>
            <a:tailEnd type="none"/>
          </a:ln>
        </p:spPr>
      </p:sp>
      <p:sp>
        <p:nvSpPr>
          <p:cNvPr id="28" name="Shape 23"/>
          <p:cNvSpPr/>
          <p:nvPr/>
        </p:nvSpPr>
        <p:spPr>
          <a:xfrm>
            <a:off x="14348968" y="6101207"/>
            <a:ext cx="651383" cy="394335"/>
          </a:xfrm>
          <a:prstGeom prst="rect">
            <a:avLst/>
          </a:prstGeom>
          <a:solidFill>
            <a:srgbClr val="04579A"/>
          </a:solidFill>
          <a:ln w="12700">
            <a:solidFill>
              <a:srgbClr val="04579A"/>
            </a:solidFill>
            <a:prstDash val="solid"/>
          </a:ln>
        </p:spPr>
      </p:sp>
      <p:sp>
        <p:nvSpPr>
          <p:cNvPr id="29" name="Shape 24"/>
          <p:cNvSpPr/>
          <p:nvPr/>
        </p:nvSpPr>
        <p:spPr>
          <a:xfrm flipH="1">
            <a:off x="14223619" y="6298311"/>
            <a:ext cx="125476" cy="0"/>
          </a:xfrm>
          <a:prstGeom prst="line">
            <a:avLst/>
          </a:prstGeom>
          <a:noFill/>
          <a:ln w="12700">
            <a:solidFill>
              <a:srgbClr val="005C8F"/>
            </a:solidFill>
            <a:prstDash val="solid"/>
            <a:headEnd type="none"/>
            <a:tailEnd type="none"/>
          </a:ln>
        </p:spPr>
      </p:sp>
      <p:sp>
        <p:nvSpPr>
          <p:cNvPr id="30" name="Shape 25"/>
          <p:cNvSpPr/>
          <p:nvPr/>
        </p:nvSpPr>
        <p:spPr>
          <a:xfrm>
            <a:off x="592709" y="5007991"/>
            <a:ext cx="15036800" cy="0"/>
          </a:xfrm>
          <a:prstGeom prst="line">
            <a:avLst/>
          </a:prstGeom>
          <a:noFill/>
          <a:ln w="12700">
            <a:solidFill>
              <a:srgbClr val="7F7F7F">
                <a:alpha val="53725"/>
              </a:srgbClr>
            </a:solidFill>
            <a:prstDash val="solid"/>
            <a:headEnd type="none"/>
            <a:tailEnd type="arrow"/>
          </a:ln>
        </p:spPr>
      </p:sp>
      <p:sp>
        <p:nvSpPr>
          <p:cNvPr id="31" name="Shape 26"/>
          <p:cNvSpPr/>
          <p:nvPr/>
        </p:nvSpPr>
        <p:spPr>
          <a:xfrm>
            <a:off x="579120" y="6430391"/>
            <a:ext cx="1870329" cy="679831"/>
          </a:xfrm>
          <a:prstGeom prst="roundRect">
            <a:avLst>
              <a:gd name="adj" fmla="val 16667"/>
            </a:avLst>
          </a:prstGeom>
          <a:solidFill>
            <a:srgbClr val="04579A"/>
          </a:solidFill>
          <a:ln/>
        </p:spPr>
      </p:sp>
      <p:sp>
        <p:nvSpPr>
          <p:cNvPr id="32" name="Text 27"/>
          <p:cNvSpPr/>
          <p:nvPr/>
        </p:nvSpPr>
        <p:spPr>
          <a:xfrm>
            <a:off x="612267" y="6463538"/>
            <a:ext cx="1803908" cy="613410"/>
          </a:xfrm>
          <a:prstGeom prst="rect">
            <a:avLst/>
          </a:prstGeom>
          <a:noFill/>
          <a:ln/>
        </p:spPr>
        <p:txBody>
          <a:bodyPr wrap="square" lIns="0" tIns="0" rIns="0" bIns="0" rtlCol="0" anchor="t"/>
          <a:lstStyle/>
          <a:p>
            <a:pPr algn="ctr">
              <a:lnSpc>
                <a:spcPct val="120000"/>
              </a:lnSpc>
            </a:pPr>
            <a:r>
              <a:rPr lang="en-US" sz="3200" b="1" dirty="0">
                <a:solidFill>
                  <a:srgbClr val="FFFFFF"/>
                </a:solidFill>
                <a:latin typeface="Arial" pitchFamily="34" charset="0"/>
                <a:ea typeface="Arial" pitchFamily="34" charset="-122"/>
                <a:cs typeface="Arial" pitchFamily="34" charset="-120"/>
              </a:rPr>
              <a:t>性质</a:t>
            </a:r>
            <a:endParaRPr lang="en-US" sz="3200" dirty="0"/>
          </a:p>
        </p:txBody>
      </p:sp>
      <p:sp>
        <p:nvSpPr>
          <p:cNvPr id="33" name="Shape 28"/>
          <p:cNvSpPr/>
          <p:nvPr/>
        </p:nvSpPr>
        <p:spPr>
          <a:xfrm>
            <a:off x="8582660" y="6389751"/>
            <a:ext cx="575691" cy="778891"/>
          </a:xfrm>
          <a:prstGeom prst="rightArrow">
            <a:avLst>
              <a:gd name="adj1" fmla="val 50000"/>
              <a:gd name="adj2" fmla="val 50000"/>
            </a:avLst>
          </a:prstGeom>
          <a:noFill/>
          <a:ln w="12700">
            <a:solidFill>
              <a:srgbClr val="04579A"/>
            </a:solidFill>
            <a:prstDash val="solid"/>
          </a:ln>
        </p:spPr>
      </p:sp>
      <p:sp>
        <p:nvSpPr>
          <p:cNvPr id="34" name="Text 29"/>
          <p:cNvSpPr/>
          <p:nvPr/>
        </p:nvSpPr>
        <p:spPr>
          <a:xfrm>
            <a:off x="579120" y="5939409"/>
            <a:ext cx="1870329" cy="531749"/>
          </a:xfrm>
          <a:prstGeom prst="rect">
            <a:avLst/>
          </a:prstGeom>
          <a:noFill/>
          <a:ln/>
        </p:spPr>
        <p:txBody>
          <a:bodyPr wrap="square" lIns="0" tIns="0" rIns="0" bIns="0" rtlCol="0" anchor="t"/>
          <a:lstStyle/>
          <a:p>
            <a:pPr algn="ctr">
              <a:lnSpc>
                <a:spcPct val="120000"/>
              </a:lnSpc>
            </a:pPr>
            <a:r>
              <a:rPr lang="en-US" sz="2670" b="1" dirty="0">
                <a:solidFill>
                  <a:srgbClr val="04579A"/>
                </a:solidFill>
                <a:latin typeface="Arial" pitchFamily="34" charset="0"/>
                <a:ea typeface="Arial" pitchFamily="34" charset="-122"/>
                <a:cs typeface="Arial" pitchFamily="34" charset="-120"/>
              </a:rPr>
              <a:t>区块链</a:t>
            </a:r>
            <a:endParaRPr lang="en-US" sz="2670" dirty="0"/>
          </a:p>
        </p:txBody>
      </p:sp>
      <p:sp>
        <p:nvSpPr>
          <p:cNvPr id="35" name="Shape 30"/>
          <p:cNvSpPr/>
          <p:nvPr/>
        </p:nvSpPr>
        <p:spPr>
          <a:xfrm flipV="1">
            <a:off x="1694180" y="1552829"/>
            <a:ext cx="7620" cy="3349371"/>
          </a:xfrm>
          <a:prstGeom prst="line">
            <a:avLst/>
          </a:prstGeom>
          <a:noFill/>
          <a:ln w="12700">
            <a:solidFill>
              <a:srgbClr val="7F7F7F"/>
            </a:solidFill>
            <a:prstDash val="solid"/>
            <a:headEnd type="none"/>
            <a:tailEnd type="none"/>
          </a:ln>
        </p:spPr>
      </p:sp>
      <p:sp>
        <p:nvSpPr>
          <p:cNvPr id="36" name="Shape 31"/>
          <p:cNvSpPr/>
          <p:nvPr/>
        </p:nvSpPr>
        <p:spPr>
          <a:xfrm>
            <a:off x="1586611" y="4902200"/>
            <a:ext cx="214249" cy="214249"/>
          </a:xfrm>
          <a:prstGeom prst="ellipse">
            <a:avLst/>
          </a:prstGeom>
          <a:solidFill>
            <a:srgbClr val="00B0F0"/>
          </a:solidFill>
          <a:ln/>
        </p:spPr>
      </p:sp>
      <p:sp>
        <p:nvSpPr>
          <p:cNvPr id="37" name="Shape 32"/>
          <p:cNvSpPr/>
          <p:nvPr/>
        </p:nvSpPr>
        <p:spPr>
          <a:xfrm>
            <a:off x="12338812" y="6495542"/>
            <a:ext cx="0" cy="445135"/>
          </a:xfrm>
          <a:prstGeom prst="straightConnector1">
            <a:avLst/>
          </a:prstGeom>
          <a:noFill/>
          <a:ln w="12700">
            <a:solidFill>
              <a:srgbClr val="005C8F"/>
            </a:solidFill>
            <a:prstDash val="solid"/>
            <a:headEnd type="none"/>
            <a:tailEnd type="arrow"/>
          </a:ln>
        </p:spPr>
      </p:sp>
      <p:sp>
        <p:nvSpPr>
          <p:cNvPr id="38" name="Shape 33"/>
          <p:cNvSpPr/>
          <p:nvPr/>
        </p:nvSpPr>
        <p:spPr>
          <a:xfrm>
            <a:off x="10332212" y="6940550"/>
            <a:ext cx="4067175" cy="1504188"/>
          </a:xfrm>
          <a:prstGeom prst="roundRect">
            <a:avLst>
              <a:gd name="adj" fmla="val 16667"/>
            </a:avLst>
          </a:prstGeom>
          <a:solidFill>
            <a:srgbClr val="5E74BA"/>
          </a:solidFill>
          <a:ln w="12700">
            <a:solidFill>
              <a:srgbClr val="FFFFFF"/>
            </a:solidFill>
            <a:prstDash val="solid"/>
          </a:ln>
        </p:spPr>
      </p:sp>
      <p:sp>
        <p:nvSpPr>
          <p:cNvPr id="39" name="Text 34"/>
          <p:cNvSpPr/>
          <p:nvPr/>
        </p:nvSpPr>
        <p:spPr>
          <a:xfrm>
            <a:off x="9660890" y="6889877"/>
            <a:ext cx="5409819" cy="1541907"/>
          </a:xfrm>
          <a:prstGeom prst="rect">
            <a:avLst/>
          </a:prstGeom>
          <a:noFill/>
          <a:ln/>
        </p:spPr>
        <p:txBody>
          <a:bodyPr wrap="square" lIns="0" tIns="0" rIns="0" bIns="0" rtlCol="0" anchor="t"/>
          <a:lstStyle/>
          <a:p>
            <a:pPr algn="ctr">
              <a:lnSpc>
                <a:spcPct val="150000"/>
              </a:lnSpc>
            </a:pPr>
            <a:r>
              <a:rPr lang="en-US" sz="2130" b="1" dirty="0">
                <a:solidFill>
                  <a:srgbClr val="FFFFFF"/>
                </a:solidFill>
                <a:latin typeface="Arial" pitchFamily="34" charset="0"/>
                <a:ea typeface="Arial" pitchFamily="34" charset="-122"/>
                <a:cs typeface="Arial" pitchFamily="34" charset="-120"/>
              </a:rPr>
              <a:t>数据所有权的透明性和可追溯性</a:t>
            </a:r>
            <a:endParaRPr lang="en-US" sz="2130" dirty="0"/>
          </a:p>
          <a:p>
            <a:pPr algn="ctr">
              <a:lnSpc>
                <a:spcPct val="150000"/>
              </a:lnSpc>
            </a:pPr>
            <a:r>
              <a:rPr lang="en-US" sz="2130" b="1" dirty="0">
                <a:solidFill>
                  <a:srgbClr val="FFFFFF"/>
                </a:solidFill>
                <a:latin typeface="Arial" pitchFamily="34" charset="0"/>
                <a:ea typeface="Arial" pitchFamily="34" charset="-122"/>
                <a:cs typeface="Arial" pitchFamily="34" charset="-120"/>
              </a:rPr>
              <a:t>数据的完整性和可用性</a:t>
            </a:r>
            <a:endParaRPr lang="en-US" sz="2130" dirty="0"/>
          </a:p>
          <a:p>
            <a:pPr algn="ctr">
              <a:lnSpc>
                <a:spcPct val="150000"/>
              </a:lnSpc>
            </a:pPr>
            <a:r>
              <a:rPr lang="en-US" sz="2130" b="1" dirty="0">
                <a:solidFill>
                  <a:srgbClr val="FFFFFF"/>
                </a:solidFill>
                <a:latin typeface="Arial" pitchFamily="34" charset="0"/>
                <a:ea typeface="Arial" pitchFamily="34" charset="-122"/>
                <a:cs typeface="Arial" pitchFamily="34" charset="-120"/>
              </a:rPr>
              <a:t>数据存储的鲁棒性</a:t>
            </a:r>
            <a:endParaRPr lang="en-US" sz="2130" dirty="0"/>
          </a:p>
        </p:txBody>
      </p:sp>
      <p:sp>
        <p:nvSpPr>
          <p:cNvPr id="40" name="Text 35"/>
          <p:cNvSpPr/>
          <p:nvPr/>
        </p:nvSpPr>
        <p:spPr>
          <a:xfrm>
            <a:off x="8486013" y="5139817"/>
            <a:ext cx="7705471" cy="613791"/>
          </a:xfrm>
          <a:prstGeom prst="rect">
            <a:avLst/>
          </a:prstGeom>
          <a:noFill/>
          <a:ln/>
        </p:spPr>
        <p:txBody>
          <a:bodyPr wrap="square" lIns="0" tIns="0" rIns="0" bIns="0" rtlCol="0" anchor="t"/>
          <a:lstStyle/>
          <a:p>
            <a:pPr algn="ctr">
              <a:lnSpc>
                <a:spcPct val="120000"/>
              </a:lnSpc>
            </a:pPr>
            <a:r>
              <a:rPr lang="en-US" sz="3200" b="1" dirty="0">
                <a:solidFill>
                  <a:srgbClr val="04579A"/>
                </a:solidFill>
                <a:latin typeface="Arial" pitchFamily="34" charset="0"/>
                <a:ea typeface="Arial" pitchFamily="34" charset="-122"/>
                <a:cs typeface="Arial" pitchFamily="34" charset="-120"/>
              </a:rPr>
              <a:t>数据确权</a:t>
            </a:r>
            <a:endParaRPr lang="en-US" sz="3200" dirty="0"/>
          </a:p>
        </p:txBody>
      </p:sp>
      <p:sp>
        <p:nvSpPr>
          <p:cNvPr id="41" name="Text 36"/>
          <p:cNvSpPr/>
          <p:nvPr/>
        </p:nvSpPr>
        <p:spPr>
          <a:xfrm>
            <a:off x="15649067" y="8666353"/>
            <a:ext cx="606933" cy="492506"/>
          </a:xfrm>
          <a:prstGeom prst="rect">
            <a:avLst/>
          </a:prstGeom>
          <a:noFill/>
          <a:ln/>
        </p:spPr>
        <p:txBody>
          <a:bodyPr wrap="square" lIns="0" tIns="0" rIns="0" bIns="0" rtlCol="0" anchor="t"/>
          <a:lstStyle/>
          <a:p>
            <a:pPr algn="ctr">
              <a:lnSpc>
                <a:spcPct val="120000"/>
              </a:lnSpc>
            </a:pPr>
            <a:r>
              <a:rPr lang="en-US" sz="2400" dirty="0">
                <a:solidFill>
                  <a:srgbClr val="000000"/>
                </a:solidFill>
                <a:latin typeface="Arial" pitchFamily="34" charset="0"/>
                <a:ea typeface="Arial" pitchFamily="34" charset="-122"/>
                <a:cs typeface="Arial" pitchFamily="34" charset="-120"/>
              </a:rPr>
              <a:t>2</a:t>
            </a:r>
            <a:endParaRPr lang="en-US" sz="2400" dirty="0"/>
          </a:p>
        </p:txBody>
      </p:sp>
    </p:spTree>
  </p:cSld>
  <p:clrMapOvr>
    <a:masterClrMapping/>
  </p:clrMapOvr>
  <p:transition>
    <p:fade/>
    <p:spd val="med"/>
  </p:transition>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pic>
        <p:nvPicPr>
          <p:cNvPr id="3" name="Image 0" descr="https://kimi-img.moonshot.cn/pub/slides/okc/flfuysioo4gzm/mnt/agents/output/yuan_pptd/images/image_15.png">    </p:cNvPr>
          <p:cNvPicPr>
            <a:picLocks noChangeAspect="1"/>
          </p:cNvPicPr>
          <p:nvPr/>
        </p:nvPicPr>
        <p:blipFill>
          <a:blip r:embed="rId1"/>
          <a:srcRect l="0" r="0" t="7060" b="7060"/>
          <a:stretch/>
        </p:blipFill>
        <p:spPr>
          <a:xfrm>
            <a:off x="1694180" y="1737360"/>
            <a:ext cx="4269740" cy="2807589"/>
          </a:xfrm>
          <a:prstGeom prst="rect">
            <a:avLst/>
          </a:prstGeom>
          <a:effectLst>
            <a:outerShdw sx="100000" sy="100000" kx="0" ky="0" algn="bl" rotWithShape="0" blurRad="50800" dist="26924" dir="2700000">
              <a:srgbClr val="000000">
                <a:alpha val="40000"/>
              </a:srgbClr>
            </a:outerShdw>
          </a:effectLst>
        </p:spPr>
      </p:pic>
      <p:sp>
        <p:nvSpPr>
          <p:cNvPr id="4" name="Shape 0"/>
          <p:cNvSpPr/>
          <p:nvPr/>
        </p:nvSpPr>
        <p:spPr>
          <a:xfrm>
            <a:off x="5162169" y="-889"/>
            <a:ext cx="2590800" cy="962660"/>
          </a:xfrm>
          <a:prstGeom prst="rect">
            <a:avLst/>
          </a:prstGeom>
          <a:solidFill>
            <a:srgbClr val="F2F2F2"/>
          </a:solidFill>
          <a:ln/>
        </p:spPr>
      </p:sp>
      <p:sp>
        <p:nvSpPr>
          <p:cNvPr id="5" name="Shape 1"/>
          <p:cNvSpPr/>
          <p:nvPr/>
        </p:nvSpPr>
        <p:spPr>
          <a:xfrm>
            <a:off x="7816469" y="-889"/>
            <a:ext cx="4114800" cy="962660"/>
          </a:xfrm>
          <a:prstGeom prst="rect">
            <a:avLst/>
          </a:prstGeom>
          <a:solidFill>
            <a:srgbClr val="F2F2F2"/>
          </a:solidFill>
          <a:ln/>
        </p:spPr>
      </p:sp>
      <p:sp>
        <p:nvSpPr>
          <p:cNvPr id="6" name="Shape 2"/>
          <p:cNvSpPr/>
          <p:nvPr/>
        </p:nvSpPr>
        <p:spPr>
          <a:xfrm>
            <a:off x="11971020" y="0"/>
            <a:ext cx="4284980" cy="961771"/>
          </a:xfrm>
          <a:prstGeom prst="rect">
            <a:avLst/>
          </a:prstGeom>
          <a:solidFill>
            <a:srgbClr val="F2F2F2"/>
          </a:solidFill>
          <a:ln/>
        </p:spPr>
      </p:sp>
      <p:sp>
        <p:nvSpPr>
          <p:cNvPr id="7" name="Shape 3"/>
          <p:cNvSpPr/>
          <p:nvPr/>
        </p:nvSpPr>
        <p:spPr>
          <a:xfrm>
            <a:off x="2219960" y="-889"/>
            <a:ext cx="2895600" cy="962660"/>
          </a:xfrm>
          <a:prstGeom prst="rect">
            <a:avLst/>
          </a:prstGeom>
          <a:solidFill>
            <a:srgbClr val="04579A"/>
          </a:solidFill>
          <a:ln w="12700">
            <a:solidFill>
              <a:srgbClr val="304B73"/>
            </a:solidFill>
            <a:prstDash val="solid"/>
          </a:ln>
        </p:spPr>
      </p:sp>
      <p:sp>
        <p:nvSpPr>
          <p:cNvPr id="8" name="Text 4"/>
          <p:cNvSpPr/>
          <p:nvPr/>
        </p:nvSpPr>
        <p:spPr>
          <a:xfrm>
            <a:off x="2283460" y="203200"/>
            <a:ext cx="2768600" cy="508000"/>
          </a:xfrm>
          <a:prstGeom prst="rect">
            <a:avLst/>
          </a:prstGeom>
          <a:noFill/>
          <a:ln/>
        </p:spPr>
        <p:txBody>
          <a:bodyPr wrap="none" lIns="0" tIns="0" rIns="0" bIns="0" rtlCol="0" anchor="ctr"/>
          <a:lstStyle/>
          <a:p>
            <a:pPr algn="ctr">
              <a:lnSpc>
                <a:spcPct val="120000"/>
              </a:lnSpc>
            </a:pPr>
            <a:r>
              <a:rPr lang="en-US" sz="2000" dirty="0">
                <a:solidFill>
                  <a:srgbClr val="FFFFFF"/>
                </a:solidFill>
                <a:latin typeface="Arial" pitchFamily="34" charset="0"/>
                <a:ea typeface="Arial" pitchFamily="34" charset="-122"/>
                <a:cs typeface="Arial" pitchFamily="34" charset="-120"/>
              </a:rPr>
              <a:t>选题背景及意义</a:t>
            </a:r>
            <a:endParaRPr lang="en-US" sz="2000" dirty="0"/>
          </a:p>
        </p:txBody>
      </p:sp>
      <p:sp>
        <p:nvSpPr>
          <p:cNvPr id="9" name="Text 5"/>
          <p:cNvSpPr/>
          <p:nvPr/>
        </p:nvSpPr>
        <p:spPr>
          <a:xfrm>
            <a:off x="5225669" y="203200"/>
            <a:ext cx="24638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国内外研究现状</a:t>
            </a:r>
            <a:endParaRPr lang="en-US" sz="2000" dirty="0"/>
          </a:p>
        </p:txBody>
      </p:sp>
      <p:sp>
        <p:nvSpPr>
          <p:cNvPr id="10" name="Text 6"/>
          <p:cNvSpPr/>
          <p:nvPr/>
        </p:nvSpPr>
        <p:spPr>
          <a:xfrm>
            <a:off x="7879969" y="203200"/>
            <a:ext cx="39878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主要研究内容及预期目标</a:t>
            </a:r>
            <a:endParaRPr lang="en-US" sz="2000" dirty="0"/>
          </a:p>
        </p:txBody>
      </p:sp>
      <p:sp>
        <p:nvSpPr>
          <p:cNvPr id="11" name="Text 7"/>
          <p:cNvSpPr/>
          <p:nvPr/>
        </p:nvSpPr>
        <p:spPr>
          <a:xfrm>
            <a:off x="12034520" y="203200"/>
            <a:ext cx="415798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工作计划与进度安排</a:t>
            </a:r>
            <a:endParaRPr lang="en-US" sz="2000" dirty="0"/>
          </a:p>
        </p:txBody>
      </p:sp>
      <p:pic>
        <p:nvPicPr>
          <p:cNvPr id="12" name="Image 1" descr="https://kimi-img.moonshot.cn/pub/slides/okc/flfuysioo4gzm/mnt/agents/output/yuan_pptd/images/image_2.jpg">    </p:cNvPr>
          <p:cNvPicPr>
            <a:picLocks noChangeAspect="1"/>
          </p:cNvPicPr>
          <p:nvPr/>
        </p:nvPicPr>
        <p:blipFill>
          <a:blip r:embed="rId2"/>
          <a:srcRect l="5060" r="29000" t="0" b="0"/>
          <a:stretch/>
        </p:blipFill>
        <p:spPr>
          <a:xfrm>
            <a:off x="544449" y="140589"/>
            <a:ext cx="1273429" cy="745871"/>
          </a:xfrm>
          <a:prstGeom prst="rect">
            <a:avLst/>
          </a:prstGeom>
        </p:spPr>
      </p:pic>
      <p:sp>
        <p:nvSpPr>
          <p:cNvPr id="13" name="Shape 8"/>
          <p:cNvSpPr/>
          <p:nvPr/>
        </p:nvSpPr>
        <p:spPr>
          <a:xfrm rot="10800000">
            <a:off x="3496691" y="961771"/>
            <a:ext cx="389509" cy="304800"/>
          </a:xfrm>
          <a:prstGeom prst="triangle">
            <a:avLst>
              <a:gd name="adj" fmla="val 50000"/>
            </a:avLst>
          </a:prstGeom>
          <a:solidFill>
            <a:srgbClr val="04579A"/>
          </a:solidFill>
          <a:ln/>
        </p:spPr>
      </p:sp>
      <p:sp>
        <p:nvSpPr>
          <p:cNvPr id="14" name="Text 9"/>
          <p:cNvSpPr/>
          <p:nvPr/>
        </p:nvSpPr>
        <p:spPr>
          <a:xfrm>
            <a:off x="6523736" y="2128774"/>
            <a:ext cx="8866759" cy="2273300"/>
          </a:xfrm>
          <a:prstGeom prst="rect">
            <a:avLst/>
          </a:prstGeom>
          <a:noFill/>
          <a:ln/>
        </p:spPr>
        <p:txBody>
          <a:bodyPr wrap="square" lIns="0" tIns="0" rIns="0" bIns="0" rtlCol="0" anchor="t"/>
          <a:lstStyle/>
          <a:p>
            <a:pPr algn="l">
              <a:lnSpc>
                <a:spcPct val="150000"/>
              </a:lnSpc>
            </a:pPr>
            <a:r>
              <a:rPr lang="en-US" sz="2400" dirty="0">
                <a:solidFill>
                  <a:srgbClr val="000000"/>
                </a:solidFill>
                <a:latin typeface="Arial" pitchFamily="34" charset="0"/>
                <a:ea typeface="Arial" pitchFamily="34" charset="-122"/>
                <a:cs typeface="Arial" pitchFamily="34" charset="-120"/>
              </a:rPr>
              <a:t>2008年，比特币首次实现基于区块链的点对点数字资产交易方案</a:t>
            </a:r>
            <a:endParaRPr lang="en-US" sz="2400" dirty="0"/>
          </a:p>
          <a:p>
            <a:pPr algn="l">
              <a:lnSpc>
                <a:spcPct val="150000"/>
              </a:lnSpc>
            </a:pPr>
            <a:r>
              <a:rPr lang="en-US" sz="2400" dirty="0">
                <a:solidFill>
                  <a:srgbClr val="000000"/>
                </a:solidFill>
                <a:latin typeface="Arial" pitchFamily="34" charset="0"/>
                <a:ea typeface="Arial" pitchFamily="34" charset="-122"/>
                <a:cs typeface="Arial" pitchFamily="34" charset="-120"/>
              </a:rPr>
              <a:t>允许用户在去中心化的、互不信任的环境中实现安全支付，目前：</a:t>
            </a:r>
            <a:endParaRPr lang="en-US" sz="2400" dirty="0"/>
          </a:p>
          <a:p>
            <a:pPr algn="l" marL="381000" indent="-381000">
              <a:lnSpc>
                <a:spcPct val="150000"/>
              </a:lnSpc>
              <a:spcBef>
                <a:spcPts val="10"/>
              </a:spcBef>
              <a:buSzPct val="100000"/>
              <a:buChar char="•"/>
            </a:pPr>
            <a:r>
              <a:rPr lang="en-US" sz="2400" dirty="0">
                <a:solidFill>
                  <a:srgbClr val="000000"/>
                </a:solidFill>
                <a:latin typeface="Arial" pitchFamily="34" charset="0"/>
                <a:ea typeface="Arial" pitchFamily="34" charset="-122"/>
                <a:cs typeface="Arial" pitchFamily="34" charset="-120"/>
              </a:rPr>
              <a:t>加密货币系统用户达到5.8亿，比特币日交易量超过40万笔</a:t>
            </a:r>
            <a:endParaRPr lang="en-US" sz="2400" dirty="0"/>
          </a:p>
          <a:p>
            <a:pPr algn="l" marL="381000" indent="-381000">
              <a:lnSpc>
                <a:spcPct val="150000"/>
              </a:lnSpc>
              <a:spcBef>
                <a:spcPts val="10"/>
              </a:spcBef>
              <a:buSzPct val="100000"/>
              <a:buChar char="•"/>
            </a:pPr>
            <a:r>
              <a:rPr lang="en-US" sz="2400" dirty="0">
                <a:solidFill>
                  <a:srgbClr val="000000"/>
                </a:solidFill>
                <a:latin typeface="Arial" pitchFamily="34" charset="0"/>
                <a:ea typeface="Arial" pitchFamily="34" charset="-122"/>
                <a:cs typeface="Arial" pitchFamily="34" charset="-120"/>
              </a:rPr>
              <a:t>涌现出超200种不同技术特征区块链</a:t>
            </a:r>
            <a:endParaRPr lang="en-US" sz="2400" dirty="0"/>
          </a:p>
        </p:txBody>
      </p:sp>
      <p:sp>
        <p:nvSpPr>
          <p:cNvPr id="15" name="Text 10"/>
          <p:cNvSpPr/>
          <p:nvPr/>
        </p:nvSpPr>
        <p:spPr>
          <a:xfrm>
            <a:off x="6415151" y="1568069"/>
            <a:ext cx="7705471" cy="613791"/>
          </a:xfrm>
          <a:prstGeom prst="rect">
            <a:avLst/>
          </a:prstGeom>
          <a:noFill/>
          <a:ln/>
        </p:spPr>
        <p:txBody>
          <a:bodyPr wrap="square" lIns="0" tIns="0" rIns="0" bIns="0" rtlCol="0" anchor="t"/>
          <a:lstStyle/>
          <a:p>
            <a:pPr algn="l">
              <a:lnSpc>
                <a:spcPct val="120000"/>
              </a:lnSpc>
            </a:pPr>
            <a:r>
              <a:rPr lang="en-US" sz="3200" b="1" dirty="0">
                <a:solidFill>
                  <a:srgbClr val="04579A"/>
                </a:solidFill>
                <a:latin typeface="Arial" pitchFamily="34" charset="0"/>
                <a:ea typeface="Arial" pitchFamily="34" charset="-122"/>
                <a:cs typeface="Arial" pitchFamily="34" charset="-120"/>
              </a:rPr>
              <a:t>数据流通</a:t>
            </a:r>
            <a:endParaRPr lang="en-US" sz="3200" dirty="0"/>
          </a:p>
        </p:txBody>
      </p:sp>
      <p:sp>
        <p:nvSpPr>
          <p:cNvPr id="16" name="Shape 11"/>
          <p:cNvSpPr/>
          <p:nvPr/>
        </p:nvSpPr>
        <p:spPr>
          <a:xfrm>
            <a:off x="592709" y="5007991"/>
            <a:ext cx="15036800" cy="0"/>
          </a:xfrm>
          <a:prstGeom prst="line">
            <a:avLst/>
          </a:prstGeom>
          <a:noFill/>
          <a:ln w="12700">
            <a:solidFill>
              <a:srgbClr val="7F7F7F">
                <a:alpha val="53725"/>
              </a:srgbClr>
            </a:solidFill>
            <a:prstDash val="solid"/>
            <a:headEnd type="none"/>
            <a:tailEnd type="arrow"/>
          </a:ln>
        </p:spPr>
      </p:sp>
      <p:sp>
        <p:nvSpPr>
          <p:cNvPr id="17" name="Shape 12"/>
          <p:cNvSpPr/>
          <p:nvPr/>
        </p:nvSpPr>
        <p:spPr>
          <a:xfrm flipV="1">
            <a:off x="1694180" y="1552829"/>
            <a:ext cx="7620" cy="3349371"/>
          </a:xfrm>
          <a:prstGeom prst="line">
            <a:avLst/>
          </a:prstGeom>
          <a:noFill/>
          <a:ln w="12700">
            <a:solidFill>
              <a:srgbClr val="7F7F7F"/>
            </a:solidFill>
            <a:prstDash val="solid"/>
            <a:headEnd type="none"/>
            <a:tailEnd type="none"/>
          </a:ln>
        </p:spPr>
      </p:sp>
      <p:sp>
        <p:nvSpPr>
          <p:cNvPr id="18" name="Shape 13"/>
          <p:cNvSpPr/>
          <p:nvPr/>
        </p:nvSpPr>
        <p:spPr>
          <a:xfrm>
            <a:off x="1586611" y="4902200"/>
            <a:ext cx="214249" cy="214249"/>
          </a:xfrm>
          <a:prstGeom prst="ellipse">
            <a:avLst/>
          </a:prstGeom>
          <a:solidFill>
            <a:srgbClr val="00B0F0"/>
          </a:solidFill>
          <a:ln/>
        </p:spPr>
      </p:sp>
      <p:pic>
        <p:nvPicPr>
          <p:cNvPr id="19" name="Image 2" descr="https://kimi-img.moonshot.cn/pub/slides/okc/flfuysioo4gzm/mnt/agents/output/yuan_pptd/images/image_16.png">    </p:cNvPr>
          <p:cNvPicPr>
            <a:picLocks noChangeAspect="1"/>
          </p:cNvPicPr>
          <p:nvPr/>
        </p:nvPicPr>
        <p:blipFill>
          <a:blip r:embed="rId3"/>
          <a:stretch>
            <a:fillRect/>
          </a:stretch>
        </p:blipFill>
        <p:spPr>
          <a:xfrm>
            <a:off x="2763012" y="5113909"/>
            <a:ext cx="10729976" cy="3360039"/>
          </a:xfrm>
          <a:prstGeom prst="rect">
            <a:avLst/>
          </a:prstGeom>
        </p:spPr>
      </p:pic>
      <p:sp>
        <p:nvSpPr>
          <p:cNvPr id="20" name="Text 14"/>
          <p:cNvSpPr/>
          <p:nvPr/>
        </p:nvSpPr>
        <p:spPr>
          <a:xfrm>
            <a:off x="15649067" y="8666353"/>
            <a:ext cx="606933" cy="492506"/>
          </a:xfrm>
          <a:prstGeom prst="rect">
            <a:avLst/>
          </a:prstGeom>
          <a:noFill/>
          <a:ln/>
        </p:spPr>
        <p:txBody>
          <a:bodyPr wrap="square" lIns="0" tIns="0" rIns="0" bIns="0" rtlCol="0" anchor="t"/>
          <a:lstStyle/>
          <a:p>
            <a:pPr algn="ctr">
              <a:lnSpc>
                <a:spcPct val="120000"/>
              </a:lnSpc>
            </a:pPr>
            <a:r>
              <a:rPr lang="en-US" sz="2400" dirty="0">
                <a:solidFill>
                  <a:srgbClr val="000000"/>
                </a:solidFill>
                <a:latin typeface="Arial" pitchFamily="34" charset="0"/>
                <a:ea typeface="Arial" pitchFamily="34" charset="-122"/>
                <a:cs typeface="Arial" pitchFamily="34" charset="-120"/>
              </a:rPr>
              <a:t>3</a:t>
            </a:r>
            <a:endParaRPr lang="en-US" sz="2400" dirty="0"/>
          </a:p>
        </p:txBody>
      </p:sp>
    </p:spTree>
  </p:cSld>
  <p:clrMapOvr>
    <a:masterClrMapping/>
  </p:clrMapOvr>
  <p:transition>
    <p:fade/>
    <p:spd val="med"/>
  </p:transition>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654431" y="3809111"/>
            <a:ext cx="14037691" cy="762889"/>
          </a:xfrm>
          <a:prstGeom prst="rect">
            <a:avLst/>
          </a:prstGeom>
          <a:solidFill>
            <a:srgbClr val="F2F2F2"/>
          </a:solidFill>
          <a:ln/>
        </p:spPr>
      </p:sp>
      <p:sp>
        <p:nvSpPr>
          <p:cNvPr id="4" name="Text 1"/>
          <p:cNvSpPr/>
          <p:nvPr/>
        </p:nvSpPr>
        <p:spPr>
          <a:xfrm>
            <a:off x="643509" y="1196340"/>
            <a:ext cx="14772640" cy="531749"/>
          </a:xfrm>
          <a:prstGeom prst="rect">
            <a:avLst/>
          </a:prstGeom>
          <a:noFill/>
          <a:ln/>
        </p:spPr>
        <p:txBody>
          <a:bodyPr wrap="square" lIns="0" tIns="0" rIns="0" bIns="0" rtlCol="0" anchor="t"/>
          <a:lstStyle/>
          <a:p>
            <a:pPr algn="l">
              <a:lnSpc>
                <a:spcPct val="120000"/>
              </a:lnSpc>
            </a:pPr>
            <a:r>
              <a:rPr lang="en-US" sz="2670" dirty="0">
                <a:solidFill>
                  <a:srgbClr val="000000"/>
                </a:solidFill>
                <a:latin typeface="Arial" pitchFamily="34" charset="0"/>
                <a:ea typeface="Arial" pitchFamily="34" charset="-122"/>
                <a:cs typeface="Arial" pitchFamily="34" charset="-120"/>
              </a:rPr>
              <a:t>数字资产市场为区块链提供了新的</a:t>
            </a:r>
            <a:pPr algn="l">
              <a:lnSpc>
                <a:spcPct val="120000"/>
              </a:lnSpc>
            </a:pPr>
            <a:r>
              <a:rPr lang="en-US" sz="2670" b="1" dirty="0">
                <a:solidFill>
                  <a:srgbClr val="04579A"/>
                </a:solidFill>
                <a:latin typeface="Arial" pitchFamily="34" charset="0"/>
                <a:ea typeface="Arial" pitchFamily="34" charset="-122"/>
                <a:cs typeface="Arial" pitchFamily="34" charset="-120"/>
              </a:rPr>
              <a:t>应用方向</a:t>
            </a:r>
            <a:pPr algn="l">
              <a:lnSpc>
                <a:spcPct val="120000"/>
              </a:lnSpc>
            </a:pPr>
            <a:r>
              <a:rPr lang="en-US" sz="2670" dirty="0">
                <a:solidFill>
                  <a:srgbClr val="000000"/>
                </a:solidFill>
                <a:latin typeface="Arial" pitchFamily="34" charset="0"/>
                <a:ea typeface="Arial" pitchFamily="34" charset="-122"/>
                <a:cs typeface="Arial" pitchFamily="34" charset="-120"/>
              </a:rPr>
              <a:t>，但同时也带来了新的</a:t>
            </a:r>
            <a:pPr algn="l">
              <a:lnSpc>
                <a:spcPct val="120000"/>
              </a:lnSpc>
            </a:pPr>
            <a:r>
              <a:rPr lang="en-US" sz="2670" b="1" dirty="0">
                <a:solidFill>
                  <a:srgbClr val="04579A"/>
                </a:solidFill>
                <a:latin typeface="Arial" pitchFamily="34" charset="0"/>
                <a:ea typeface="Arial" pitchFamily="34" charset="-122"/>
                <a:cs typeface="Arial" pitchFamily="34" charset="-120"/>
              </a:rPr>
              <a:t>技术需求</a:t>
            </a:r>
            <a:pPr algn="l">
              <a:lnSpc>
                <a:spcPct val="120000"/>
              </a:lnSpc>
            </a:pPr>
            <a:r>
              <a:rPr lang="en-US" sz="2670" dirty="0">
                <a:solidFill>
                  <a:srgbClr val="000000"/>
                </a:solidFill>
                <a:latin typeface="Arial" pitchFamily="34" charset="0"/>
                <a:ea typeface="Arial" pitchFamily="34" charset="-122"/>
                <a:cs typeface="Arial" pitchFamily="34" charset="-120"/>
              </a:rPr>
              <a:t>：</a:t>
            </a:r>
            <a:endParaRPr lang="en-US" sz="2670" dirty="0"/>
          </a:p>
        </p:txBody>
      </p:sp>
      <p:sp>
        <p:nvSpPr>
          <p:cNvPr id="5" name="Shape 2"/>
          <p:cNvSpPr/>
          <p:nvPr/>
        </p:nvSpPr>
        <p:spPr>
          <a:xfrm>
            <a:off x="2219960" y="0"/>
            <a:ext cx="2895600" cy="962660"/>
          </a:xfrm>
          <a:prstGeom prst="rect">
            <a:avLst/>
          </a:prstGeom>
          <a:solidFill>
            <a:srgbClr val="F2F2F2"/>
          </a:solidFill>
          <a:ln w="12700">
            <a:solidFill>
              <a:srgbClr val="F2F2F2"/>
            </a:solidFill>
            <a:prstDash val="solid"/>
          </a:ln>
        </p:spPr>
      </p:sp>
      <p:sp>
        <p:nvSpPr>
          <p:cNvPr id="6" name="Shape 3"/>
          <p:cNvSpPr/>
          <p:nvPr/>
        </p:nvSpPr>
        <p:spPr>
          <a:xfrm>
            <a:off x="5162169" y="-889"/>
            <a:ext cx="2590800" cy="962660"/>
          </a:xfrm>
          <a:prstGeom prst="rect">
            <a:avLst/>
          </a:prstGeom>
          <a:solidFill>
            <a:srgbClr val="F2F2F2"/>
          </a:solidFill>
          <a:ln/>
        </p:spPr>
      </p:sp>
      <p:sp>
        <p:nvSpPr>
          <p:cNvPr id="7" name="Shape 4"/>
          <p:cNvSpPr/>
          <p:nvPr/>
        </p:nvSpPr>
        <p:spPr>
          <a:xfrm>
            <a:off x="7816469" y="-889"/>
            <a:ext cx="4114800" cy="962660"/>
          </a:xfrm>
          <a:prstGeom prst="rect">
            <a:avLst/>
          </a:prstGeom>
          <a:solidFill>
            <a:srgbClr val="F2F2F2"/>
          </a:solidFill>
          <a:ln/>
        </p:spPr>
      </p:sp>
      <p:sp>
        <p:nvSpPr>
          <p:cNvPr id="8" name="Shape 5"/>
          <p:cNvSpPr/>
          <p:nvPr/>
        </p:nvSpPr>
        <p:spPr>
          <a:xfrm>
            <a:off x="11971020" y="0"/>
            <a:ext cx="4284980" cy="961771"/>
          </a:xfrm>
          <a:prstGeom prst="rect">
            <a:avLst/>
          </a:prstGeom>
          <a:solidFill>
            <a:srgbClr val="F2F2F2"/>
          </a:solidFill>
          <a:ln/>
        </p:spPr>
      </p:sp>
      <p:sp>
        <p:nvSpPr>
          <p:cNvPr id="9" name="Shape 6"/>
          <p:cNvSpPr/>
          <p:nvPr/>
        </p:nvSpPr>
        <p:spPr>
          <a:xfrm>
            <a:off x="2219960" y="-889"/>
            <a:ext cx="2895600" cy="962660"/>
          </a:xfrm>
          <a:prstGeom prst="rect">
            <a:avLst/>
          </a:prstGeom>
          <a:solidFill>
            <a:srgbClr val="04579A"/>
          </a:solidFill>
          <a:ln w="12700">
            <a:solidFill>
              <a:srgbClr val="04579A"/>
            </a:solidFill>
            <a:prstDash val="solid"/>
          </a:ln>
        </p:spPr>
      </p:sp>
      <p:sp>
        <p:nvSpPr>
          <p:cNvPr id="10" name="Text 7"/>
          <p:cNvSpPr/>
          <p:nvPr/>
        </p:nvSpPr>
        <p:spPr>
          <a:xfrm>
            <a:off x="2283460" y="203200"/>
            <a:ext cx="2768600" cy="508000"/>
          </a:xfrm>
          <a:prstGeom prst="rect">
            <a:avLst/>
          </a:prstGeom>
          <a:noFill/>
          <a:ln/>
        </p:spPr>
        <p:txBody>
          <a:bodyPr wrap="none" lIns="0" tIns="0" rIns="0" bIns="0" rtlCol="0" anchor="ctr"/>
          <a:lstStyle/>
          <a:p>
            <a:pPr algn="ctr">
              <a:lnSpc>
                <a:spcPct val="120000"/>
              </a:lnSpc>
            </a:pPr>
            <a:r>
              <a:rPr lang="en-US" sz="2000" dirty="0">
                <a:solidFill>
                  <a:srgbClr val="FFFFFF"/>
                </a:solidFill>
                <a:latin typeface="Arial" pitchFamily="34" charset="0"/>
                <a:ea typeface="Arial" pitchFamily="34" charset="-122"/>
                <a:cs typeface="Arial" pitchFamily="34" charset="-120"/>
              </a:rPr>
              <a:t>选题背景及意义</a:t>
            </a:r>
            <a:endParaRPr lang="en-US" sz="2000" dirty="0"/>
          </a:p>
        </p:txBody>
      </p:sp>
      <p:sp>
        <p:nvSpPr>
          <p:cNvPr id="11" name="Text 8"/>
          <p:cNvSpPr/>
          <p:nvPr/>
        </p:nvSpPr>
        <p:spPr>
          <a:xfrm>
            <a:off x="5225669" y="203200"/>
            <a:ext cx="24638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国内外研究现状</a:t>
            </a:r>
            <a:endParaRPr lang="en-US" sz="2000" dirty="0"/>
          </a:p>
        </p:txBody>
      </p:sp>
      <p:sp>
        <p:nvSpPr>
          <p:cNvPr id="12" name="Text 9"/>
          <p:cNvSpPr/>
          <p:nvPr/>
        </p:nvSpPr>
        <p:spPr>
          <a:xfrm>
            <a:off x="7879969" y="203200"/>
            <a:ext cx="39878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主要研究内容及预期目标</a:t>
            </a:r>
            <a:endParaRPr lang="en-US" sz="2000" dirty="0"/>
          </a:p>
        </p:txBody>
      </p:sp>
      <p:sp>
        <p:nvSpPr>
          <p:cNvPr id="13" name="Text 10"/>
          <p:cNvSpPr/>
          <p:nvPr/>
        </p:nvSpPr>
        <p:spPr>
          <a:xfrm>
            <a:off x="12034520" y="203200"/>
            <a:ext cx="415798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工作计划与进度安排</a:t>
            </a:r>
            <a:endParaRPr lang="en-US" sz="2000" dirty="0"/>
          </a:p>
        </p:txBody>
      </p:sp>
      <p:pic>
        <p:nvPicPr>
          <p:cNvPr id="14" name="Image 0" descr="https://kimi-img.moonshot.cn/pub/slides/okc/flfuysioo4gzm/mnt/agents/output/yuan_pptd/images/image_2.jpg">    </p:cNvPr>
          <p:cNvPicPr>
            <a:picLocks noChangeAspect="1"/>
          </p:cNvPicPr>
          <p:nvPr/>
        </p:nvPicPr>
        <p:blipFill>
          <a:blip r:embed="rId1"/>
          <a:srcRect l="5060" r="29000" t="0" b="0"/>
          <a:stretch/>
        </p:blipFill>
        <p:spPr>
          <a:xfrm>
            <a:off x="544449" y="140589"/>
            <a:ext cx="1273429" cy="745871"/>
          </a:xfrm>
          <a:prstGeom prst="rect">
            <a:avLst/>
          </a:prstGeom>
        </p:spPr>
      </p:pic>
      <p:sp>
        <p:nvSpPr>
          <p:cNvPr id="15" name="Shape 11"/>
          <p:cNvSpPr/>
          <p:nvPr/>
        </p:nvSpPr>
        <p:spPr>
          <a:xfrm rot="10800000">
            <a:off x="3496691" y="961771"/>
            <a:ext cx="389509" cy="304800"/>
          </a:xfrm>
          <a:prstGeom prst="triangle">
            <a:avLst>
              <a:gd name="adj" fmla="val 50000"/>
            </a:avLst>
          </a:prstGeom>
          <a:solidFill>
            <a:srgbClr val="04579A"/>
          </a:solidFill>
          <a:ln/>
        </p:spPr>
      </p:sp>
      <p:sp>
        <p:nvSpPr>
          <p:cNvPr id="16" name="Shape 12"/>
          <p:cNvSpPr/>
          <p:nvPr/>
        </p:nvSpPr>
        <p:spPr>
          <a:xfrm>
            <a:off x="643509" y="2236089"/>
            <a:ext cx="14037691" cy="762889"/>
          </a:xfrm>
          <a:prstGeom prst="rect">
            <a:avLst/>
          </a:prstGeom>
          <a:solidFill>
            <a:srgbClr val="F2F2F2"/>
          </a:solidFill>
          <a:ln/>
        </p:spPr>
      </p:sp>
      <p:sp>
        <p:nvSpPr>
          <p:cNvPr id="17" name="Shape 13"/>
          <p:cNvSpPr/>
          <p:nvPr/>
        </p:nvSpPr>
        <p:spPr>
          <a:xfrm>
            <a:off x="1358900" y="3120009"/>
            <a:ext cx="486029" cy="343789"/>
          </a:xfrm>
          <a:prstGeom prst="chevron">
            <a:avLst>
              <a:gd name="adj" fmla="val 50000"/>
            </a:avLst>
          </a:prstGeom>
          <a:solidFill>
            <a:srgbClr val="04579A"/>
          </a:solidFill>
          <a:ln w="12700">
            <a:solidFill>
              <a:srgbClr val="304B73"/>
            </a:solidFill>
            <a:prstDash val="solid"/>
          </a:ln>
        </p:spPr>
      </p:sp>
      <p:sp>
        <p:nvSpPr>
          <p:cNvPr id="18" name="Text 14"/>
          <p:cNvSpPr/>
          <p:nvPr/>
        </p:nvSpPr>
        <p:spPr>
          <a:xfrm>
            <a:off x="742569" y="2218309"/>
            <a:ext cx="14771751" cy="4508246"/>
          </a:xfrm>
          <a:prstGeom prst="rect">
            <a:avLst/>
          </a:prstGeom>
          <a:noFill/>
          <a:ln/>
        </p:spPr>
        <p:txBody>
          <a:bodyPr wrap="square" lIns="0" tIns="0" rIns="0" bIns="0" rtlCol="0" anchor="t"/>
          <a:lstStyle/>
          <a:p>
            <a:pPr algn="l" marL="423863" indent="-423863">
              <a:lnSpc>
                <a:spcPct val="150000"/>
              </a:lnSpc>
              <a:spcBef>
                <a:spcPts val="10"/>
              </a:spcBef>
              <a:buSzPct val="100000"/>
              <a:buFont typeface="+mj-lt"/>
              <a:buAutoNum type="arabicPeriod" startAt="1"/>
            </a:pPr>
            <a:r>
              <a:rPr lang="en-US" sz="2670" dirty="0">
                <a:solidFill>
                  <a:srgbClr val="262626"/>
                </a:solidFill>
                <a:latin typeface="Arial" pitchFamily="34" charset="0"/>
                <a:ea typeface="Arial" pitchFamily="34" charset="-122"/>
                <a:cs typeface="Arial" pitchFamily="34" charset="-120"/>
              </a:rPr>
              <a:t>现实网络环境对分布式数字资产交易协议的安全性和健壮性提出了更高的要求</a:t>
            </a:r>
            <a:endParaRPr lang="en-US" sz="2670" dirty="0"/>
          </a:p>
          <a:p>
            <a:pPr algn="l">
              <a:lnSpc>
                <a:spcPct val="150000"/>
              </a:lnSpc>
            </a:pPr>
            <a:r>
              <a:rPr lang="en-US" sz="3200" b="1" dirty="0">
                <a:solidFill>
                  <a:srgbClr val="04579A"/>
                </a:solidFill>
                <a:latin typeface="Arial" pitchFamily="34" charset="0"/>
                <a:ea typeface="Arial" pitchFamily="34" charset="-122"/>
                <a:cs typeface="Arial" pitchFamily="34" charset="-120"/>
              </a:rPr>
              <a:t>分布式数字资产交易协议需要去除可信假设，建立更强的安全模型</a:t>
            </a:r>
            <a:endParaRPr lang="en-US" sz="2670" dirty="0"/>
          </a:p>
          <a:p>
            <a:pPr algn="l" marL="423863" indent="-423863">
              <a:lnSpc>
                <a:spcPct val="150000"/>
              </a:lnSpc>
              <a:spcBef>
                <a:spcPts val="10"/>
              </a:spcBef>
              <a:buSzPct val="100000"/>
              <a:buFont typeface="+mj-lt"/>
              <a:buAutoNum type="arabicPeriod" startAt="1"/>
            </a:pPr>
            <a:r>
              <a:rPr lang="en-US" sz="2670" dirty="0">
                <a:solidFill>
                  <a:srgbClr val="F2F2F2"/>
                </a:solidFill>
                <a:latin typeface="Arial" pitchFamily="34" charset="0"/>
                <a:ea typeface="Arial" pitchFamily="34" charset="-122"/>
                <a:cs typeface="Arial" pitchFamily="34" charset="-120"/>
              </a:rPr>
              <a:t>区块链具有长期部署的需要</a:t>
            </a:r>
            <a:endParaRPr lang="en-US" sz="2670" dirty="0"/>
          </a:p>
          <a:p>
            <a:pPr algn="l">
              <a:lnSpc>
                <a:spcPct val="150000"/>
              </a:lnSpc>
            </a:pPr>
            <a:r>
              <a:rPr lang="en-US" sz="3200" b="1" dirty="0">
                <a:solidFill>
                  <a:srgbClr val="F2F2F2"/>
                </a:solidFill>
                <a:latin typeface="Arial" pitchFamily="34" charset="0"/>
                <a:ea typeface="Arial" pitchFamily="34" charset="-122"/>
                <a:cs typeface="Arial" pitchFamily="34" charset="-120"/>
              </a:rPr>
              <a:t>分布式数字资产交易协议需要高性能的链下方案构造</a:t>
            </a:r>
            <a:endParaRPr lang="en-US" sz="2670" dirty="0"/>
          </a:p>
          <a:p>
            <a:pPr algn="l" marL="423863" indent="-423863">
              <a:lnSpc>
                <a:spcPct val="150000"/>
              </a:lnSpc>
              <a:spcBef>
                <a:spcPts val="10"/>
              </a:spcBef>
              <a:buSzPct val="100000"/>
              <a:buFont typeface="+mj-lt"/>
              <a:buAutoNum type="arabicPeriod" startAt="1"/>
            </a:pPr>
            <a:r>
              <a:rPr lang="en-US" sz="2670" dirty="0">
                <a:solidFill>
                  <a:srgbClr val="F2F2F2"/>
                </a:solidFill>
                <a:latin typeface="Arial" pitchFamily="34" charset="0"/>
                <a:ea typeface="Arial" pitchFamily="34" charset="-122"/>
                <a:cs typeface="Arial" pitchFamily="34" charset="-120"/>
              </a:rPr>
              <a:t>异构区块链系统间的互联互通要求分布式数字资产交易协议具有互操作性</a:t>
            </a:r>
            <a:endParaRPr lang="en-US" sz="2670" dirty="0"/>
          </a:p>
          <a:p>
            <a:pPr algn="l">
              <a:lnSpc>
                <a:spcPct val="150000"/>
              </a:lnSpc>
            </a:pPr>
            <a:r>
              <a:rPr lang="en-US" sz="3200" b="1" dirty="0">
                <a:solidFill>
                  <a:srgbClr val="F2F2F2"/>
                </a:solidFill>
                <a:latin typeface="Arial" pitchFamily="34" charset="0"/>
                <a:ea typeface="Arial" pitchFamily="34" charset="-122"/>
                <a:cs typeface="Arial" pitchFamily="34" charset="-120"/>
              </a:rPr>
              <a:t>分布式数字资产交易协议需要高效的跨链证明协议</a:t>
            </a:r>
            <a:endParaRPr lang="en-US" sz="2670" dirty="0"/>
          </a:p>
        </p:txBody>
      </p:sp>
      <p:sp>
        <p:nvSpPr>
          <p:cNvPr id="19" name="Text 15"/>
          <p:cNvSpPr/>
          <p:nvPr/>
        </p:nvSpPr>
        <p:spPr>
          <a:xfrm>
            <a:off x="15649067" y="8666353"/>
            <a:ext cx="606933" cy="492506"/>
          </a:xfrm>
          <a:prstGeom prst="rect">
            <a:avLst/>
          </a:prstGeom>
          <a:noFill/>
          <a:ln/>
        </p:spPr>
        <p:txBody>
          <a:bodyPr wrap="square" lIns="0" tIns="0" rIns="0" bIns="0" rtlCol="0" anchor="t"/>
          <a:lstStyle/>
          <a:p>
            <a:pPr algn="ctr">
              <a:lnSpc>
                <a:spcPct val="120000"/>
              </a:lnSpc>
            </a:pPr>
            <a:r>
              <a:rPr lang="en-US" sz="2400" dirty="0">
                <a:solidFill>
                  <a:srgbClr val="000000"/>
                </a:solidFill>
                <a:latin typeface="Arial" pitchFamily="34" charset="0"/>
                <a:ea typeface="Arial" pitchFamily="34" charset="-122"/>
                <a:cs typeface="Arial" pitchFamily="34" charset="-120"/>
              </a:rPr>
              <a:t>4</a:t>
            </a:r>
            <a:endParaRPr lang="en-US" sz="2400" dirty="0"/>
          </a:p>
        </p:txBody>
      </p:sp>
      <p:sp>
        <p:nvSpPr>
          <p:cNvPr id="20" name="Shape 16"/>
          <p:cNvSpPr/>
          <p:nvPr/>
        </p:nvSpPr>
        <p:spPr>
          <a:xfrm>
            <a:off x="654431" y="5267833"/>
            <a:ext cx="14037691" cy="762889"/>
          </a:xfrm>
          <a:prstGeom prst="rect">
            <a:avLst/>
          </a:prstGeom>
          <a:solidFill>
            <a:srgbClr val="F2F2F2"/>
          </a:solidFill>
          <a:ln/>
        </p:spPr>
      </p:sp>
    </p:spTree>
  </p:cSld>
  <p:clrMapOvr>
    <a:masterClrMapping/>
  </p:clrMapOvr>
  <p:transition>
    <p:fade/>
    <p:spd val="med"/>
  </p:transition>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4449" y="1266571"/>
            <a:ext cx="14303629" cy="665480"/>
          </a:xfrm>
          <a:prstGeom prst="rect">
            <a:avLst/>
          </a:prstGeom>
          <a:noFill/>
          <a:ln/>
        </p:spPr>
        <p:txBody>
          <a:bodyPr wrap="square" lIns="0" tIns="0" rIns="0" bIns="0" rtlCol="0" anchor="t"/>
          <a:lstStyle/>
          <a:p>
            <a:pPr algn="l" marL="423863" indent="-423863">
              <a:lnSpc>
                <a:spcPct val="150000"/>
              </a:lnSpc>
              <a:spcBef>
                <a:spcPts val="10"/>
              </a:spcBef>
              <a:buSzPct val="100000"/>
              <a:buFont typeface="+mj-lt"/>
              <a:buAutoNum type="arabicPeriod" startAt="1"/>
            </a:pPr>
            <a:r>
              <a:rPr lang="en-US" sz="2670" dirty="0">
                <a:solidFill>
                  <a:srgbClr val="3F3F3F"/>
                </a:solidFill>
                <a:latin typeface="Arial" pitchFamily="34" charset="0"/>
                <a:ea typeface="Arial" pitchFamily="34" charset="-122"/>
                <a:cs typeface="Arial" pitchFamily="34" charset="-120"/>
              </a:rPr>
              <a:t>现实网络环境对分布式数字资产交易协议的安全性和健壮性提出了更高的要求</a:t>
            </a:r>
            <a:endParaRPr lang="en-US" sz="2670" dirty="0"/>
          </a:p>
        </p:txBody>
      </p:sp>
      <p:sp>
        <p:nvSpPr>
          <p:cNvPr id="4" name="Shape 1"/>
          <p:cNvSpPr/>
          <p:nvPr/>
        </p:nvSpPr>
        <p:spPr>
          <a:xfrm>
            <a:off x="2219960" y="0"/>
            <a:ext cx="2895600" cy="962660"/>
          </a:xfrm>
          <a:prstGeom prst="rect">
            <a:avLst/>
          </a:prstGeom>
          <a:solidFill>
            <a:srgbClr val="F2F2F2"/>
          </a:solidFill>
          <a:ln w="12700">
            <a:solidFill>
              <a:srgbClr val="F2F2F2"/>
            </a:solidFill>
            <a:prstDash val="solid"/>
          </a:ln>
        </p:spPr>
      </p:sp>
      <p:sp>
        <p:nvSpPr>
          <p:cNvPr id="5" name="Shape 2"/>
          <p:cNvSpPr/>
          <p:nvPr/>
        </p:nvSpPr>
        <p:spPr>
          <a:xfrm>
            <a:off x="5162169" y="-889"/>
            <a:ext cx="2590800" cy="962660"/>
          </a:xfrm>
          <a:prstGeom prst="rect">
            <a:avLst/>
          </a:prstGeom>
          <a:solidFill>
            <a:srgbClr val="F2F2F2"/>
          </a:solidFill>
          <a:ln/>
        </p:spPr>
      </p:sp>
      <p:sp>
        <p:nvSpPr>
          <p:cNvPr id="6" name="Shape 3"/>
          <p:cNvSpPr/>
          <p:nvPr/>
        </p:nvSpPr>
        <p:spPr>
          <a:xfrm>
            <a:off x="7816469" y="-889"/>
            <a:ext cx="4114800" cy="962660"/>
          </a:xfrm>
          <a:prstGeom prst="rect">
            <a:avLst/>
          </a:prstGeom>
          <a:solidFill>
            <a:srgbClr val="F2F2F2"/>
          </a:solidFill>
          <a:ln/>
        </p:spPr>
      </p:sp>
      <p:sp>
        <p:nvSpPr>
          <p:cNvPr id="7" name="Shape 4"/>
          <p:cNvSpPr/>
          <p:nvPr/>
        </p:nvSpPr>
        <p:spPr>
          <a:xfrm>
            <a:off x="11971020" y="0"/>
            <a:ext cx="4284980" cy="961771"/>
          </a:xfrm>
          <a:prstGeom prst="rect">
            <a:avLst/>
          </a:prstGeom>
          <a:solidFill>
            <a:srgbClr val="F2F2F2"/>
          </a:solidFill>
          <a:ln/>
        </p:spPr>
      </p:sp>
      <p:sp>
        <p:nvSpPr>
          <p:cNvPr id="8" name="Shape 5"/>
          <p:cNvSpPr/>
          <p:nvPr/>
        </p:nvSpPr>
        <p:spPr>
          <a:xfrm>
            <a:off x="2219960" y="-889"/>
            <a:ext cx="2895600" cy="962660"/>
          </a:xfrm>
          <a:prstGeom prst="rect">
            <a:avLst/>
          </a:prstGeom>
          <a:solidFill>
            <a:srgbClr val="04579A"/>
          </a:solidFill>
          <a:ln w="12700">
            <a:solidFill>
              <a:srgbClr val="04579A"/>
            </a:solidFill>
            <a:prstDash val="solid"/>
          </a:ln>
        </p:spPr>
      </p:sp>
      <p:sp>
        <p:nvSpPr>
          <p:cNvPr id="9" name="Text 6"/>
          <p:cNvSpPr/>
          <p:nvPr/>
        </p:nvSpPr>
        <p:spPr>
          <a:xfrm>
            <a:off x="2283460" y="203200"/>
            <a:ext cx="2768600" cy="508000"/>
          </a:xfrm>
          <a:prstGeom prst="rect">
            <a:avLst/>
          </a:prstGeom>
          <a:noFill/>
          <a:ln/>
        </p:spPr>
        <p:txBody>
          <a:bodyPr wrap="none" lIns="0" tIns="0" rIns="0" bIns="0" rtlCol="0" anchor="ctr"/>
          <a:lstStyle/>
          <a:p>
            <a:pPr algn="ctr">
              <a:lnSpc>
                <a:spcPct val="120000"/>
              </a:lnSpc>
            </a:pPr>
            <a:r>
              <a:rPr lang="en-US" sz="2000" dirty="0">
                <a:solidFill>
                  <a:srgbClr val="FFFFFF"/>
                </a:solidFill>
                <a:latin typeface="Arial" pitchFamily="34" charset="0"/>
                <a:ea typeface="Arial" pitchFamily="34" charset="-122"/>
                <a:cs typeface="Arial" pitchFamily="34" charset="-120"/>
              </a:rPr>
              <a:t>选题背景及意义</a:t>
            </a:r>
            <a:endParaRPr lang="en-US" sz="2000" dirty="0"/>
          </a:p>
        </p:txBody>
      </p:sp>
      <p:sp>
        <p:nvSpPr>
          <p:cNvPr id="10" name="Text 7"/>
          <p:cNvSpPr/>
          <p:nvPr/>
        </p:nvSpPr>
        <p:spPr>
          <a:xfrm>
            <a:off x="5225669" y="203200"/>
            <a:ext cx="24638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国内外研究现状</a:t>
            </a:r>
            <a:endParaRPr lang="en-US" sz="2000" dirty="0"/>
          </a:p>
        </p:txBody>
      </p:sp>
      <p:sp>
        <p:nvSpPr>
          <p:cNvPr id="11" name="Text 8"/>
          <p:cNvSpPr/>
          <p:nvPr/>
        </p:nvSpPr>
        <p:spPr>
          <a:xfrm>
            <a:off x="7879969" y="203200"/>
            <a:ext cx="39878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主要研究内容及预期目标</a:t>
            </a:r>
            <a:endParaRPr lang="en-US" sz="2000" dirty="0"/>
          </a:p>
        </p:txBody>
      </p:sp>
      <p:sp>
        <p:nvSpPr>
          <p:cNvPr id="12" name="Text 9"/>
          <p:cNvSpPr/>
          <p:nvPr/>
        </p:nvSpPr>
        <p:spPr>
          <a:xfrm>
            <a:off x="12034520" y="203200"/>
            <a:ext cx="415798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工作计划与进度安排</a:t>
            </a:r>
            <a:endParaRPr lang="en-US" sz="2000" dirty="0"/>
          </a:p>
        </p:txBody>
      </p:sp>
      <p:pic>
        <p:nvPicPr>
          <p:cNvPr id="13" name="Image 0" descr="https://kimi-img.moonshot.cn/pub/slides/okc/flfuysioo4gzm/mnt/agents/output/yuan_pptd/images/image_2.jpg">    </p:cNvPr>
          <p:cNvPicPr>
            <a:picLocks noChangeAspect="1"/>
          </p:cNvPicPr>
          <p:nvPr/>
        </p:nvPicPr>
        <p:blipFill>
          <a:blip r:embed="rId1"/>
          <a:srcRect l="5060" r="29000" t="0" b="0"/>
          <a:stretch/>
        </p:blipFill>
        <p:spPr>
          <a:xfrm>
            <a:off x="544449" y="140589"/>
            <a:ext cx="1273429" cy="745871"/>
          </a:xfrm>
          <a:prstGeom prst="rect">
            <a:avLst/>
          </a:prstGeom>
        </p:spPr>
      </p:pic>
      <p:sp>
        <p:nvSpPr>
          <p:cNvPr id="14" name="Shape 10"/>
          <p:cNvSpPr/>
          <p:nvPr/>
        </p:nvSpPr>
        <p:spPr>
          <a:xfrm rot="10800000">
            <a:off x="3496691" y="961771"/>
            <a:ext cx="389509" cy="304800"/>
          </a:xfrm>
          <a:prstGeom prst="triangle">
            <a:avLst>
              <a:gd name="adj" fmla="val 50000"/>
            </a:avLst>
          </a:prstGeom>
          <a:solidFill>
            <a:srgbClr val="04579A"/>
          </a:solidFill>
          <a:ln/>
        </p:spPr>
      </p:sp>
      <p:pic>
        <p:nvPicPr>
          <p:cNvPr id="15" name="Image 1" descr="https://kimi-img.moonshot.cn/pub/slides/okc/flfuysioo4gzm/mnt/agents/output/yuan_pptd/images/image_17.png">    </p:cNvPr>
          <p:cNvPicPr>
            <a:picLocks noChangeAspect="1"/>
          </p:cNvPicPr>
          <p:nvPr/>
        </p:nvPicPr>
        <p:blipFill>
          <a:blip r:embed="rId2"/>
          <a:stretch>
            <a:fillRect/>
          </a:stretch>
        </p:blipFill>
        <p:spPr>
          <a:xfrm>
            <a:off x="10011283" y="4572000"/>
            <a:ext cx="4930521" cy="3297301"/>
          </a:xfrm>
          <a:prstGeom prst="rect">
            <a:avLst/>
          </a:prstGeom>
        </p:spPr>
      </p:pic>
      <p:sp>
        <p:nvSpPr>
          <p:cNvPr id="16" name="Shape 11"/>
          <p:cNvSpPr/>
          <p:nvPr/>
        </p:nvSpPr>
        <p:spPr>
          <a:xfrm>
            <a:off x="10011283" y="7763002"/>
            <a:ext cx="4930521" cy="402336"/>
          </a:xfrm>
          <a:prstGeom prst="rect">
            <a:avLst/>
          </a:prstGeom>
          <a:solidFill>
            <a:srgbClr val="04579A"/>
          </a:solidFill>
          <a:ln w="12700">
            <a:solidFill>
              <a:srgbClr val="304B73"/>
            </a:solidFill>
            <a:prstDash val="solid"/>
          </a:ln>
          <a:effectLst>
            <a:outerShdw sx="100000" sy="100000" kx="0" ky="0" algn="bl" rotWithShape="0" blurRad="63500" dist="50800" dir="2700000">
              <a:srgbClr val="000000">
                <a:alpha val="40000"/>
              </a:srgbClr>
            </a:outerShdw>
          </a:effectLst>
        </p:spPr>
      </p:sp>
      <p:sp>
        <p:nvSpPr>
          <p:cNvPr id="17" name="Text 12"/>
          <p:cNvSpPr/>
          <p:nvPr/>
        </p:nvSpPr>
        <p:spPr>
          <a:xfrm>
            <a:off x="10011283" y="7763002"/>
            <a:ext cx="4930521" cy="402336"/>
          </a:xfrm>
          <a:prstGeom prst="rect">
            <a:avLst/>
          </a:prstGeom>
          <a:noFill/>
          <a:ln/>
        </p:spPr>
        <p:txBody>
          <a:bodyPr wrap="square" lIns="0" tIns="0" rIns="0" bIns="0" rtlCol="0" anchor="ctr"/>
          <a:lstStyle/>
          <a:p>
            <a:pPr algn="ctr">
              <a:lnSpc>
                <a:spcPct val="120000"/>
              </a:lnSpc>
            </a:pPr>
            <a:r>
              <a:rPr lang="en-US" sz="2130" b="1" dirty="0">
                <a:solidFill>
                  <a:srgbClr val="FFFFFF"/>
                </a:solidFill>
                <a:latin typeface="Arial" pitchFamily="34" charset="0"/>
                <a:ea typeface="Arial" pitchFamily="34" charset="-122"/>
                <a:cs typeface="Arial" pitchFamily="34" charset="-120"/>
              </a:rPr>
              <a:t>真实黑客攻击案例</a:t>
            </a:r>
            <a:endParaRPr lang="en-US" sz="2130" dirty="0"/>
          </a:p>
        </p:txBody>
      </p:sp>
      <p:sp>
        <p:nvSpPr>
          <p:cNvPr id="18" name="Text 13"/>
          <p:cNvSpPr/>
          <p:nvPr/>
        </p:nvSpPr>
        <p:spPr>
          <a:xfrm>
            <a:off x="1300480" y="5390261"/>
            <a:ext cx="7003669" cy="971931"/>
          </a:xfrm>
          <a:prstGeom prst="rect">
            <a:avLst/>
          </a:prstGeom>
          <a:noFill/>
          <a:ln/>
        </p:spPr>
        <p:txBody>
          <a:bodyPr wrap="square" lIns="0" tIns="0" rIns="0" bIns="0" rtlCol="0" anchor="t"/>
          <a:lstStyle/>
          <a:p>
            <a:pPr algn="l">
              <a:lnSpc>
                <a:spcPct val="120000"/>
              </a:lnSpc>
            </a:pPr>
            <a:r>
              <a:rPr lang="en-US" sz="2400" dirty="0">
                <a:solidFill>
                  <a:srgbClr val="000000"/>
                </a:solidFill>
                <a:latin typeface="MiSans" pitchFamily="34" charset="0"/>
                <a:ea typeface="MiSans" pitchFamily="34" charset="-122"/>
                <a:cs typeface="MiSans" pitchFamily="34" charset="-120"/>
              </a:rPr>
              <a:t>2024年8月6日，Ronin Network跨链应用在升级智能合约代码时函数参数调用错误，引发攻击</a:t>
            </a:r>
            <a:endParaRPr lang="en-US" sz="2400" dirty="0"/>
          </a:p>
        </p:txBody>
      </p:sp>
      <p:sp>
        <p:nvSpPr>
          <p:cNvPr id="19" name="Text 14"/>
          <p:cNvSpPr/>
          <p:nvPr/>
        </p:nvSpPr>
        <p:spPr>
          <a:xfrm>
            <a:off x="1300480" y="6408801"/>
            <a:ext cx="5761355" cy="1764538"/>
          </a:xfrm>
          <a:prstGeom prst="rect">
            <a:avLst/>
          </a:prstGeom>
          <a:noFill/>
          <a:ln/>
        </p:spPr>
        <p:txBody>
          <a:bodyPr wrap="square" lIns="0" tIns="0" rIns="0" bIns="0" rtlCol="0" anchor="t"/>
          <a:lstStyle/>
          <a:p>
            <a:pPr algn="l" marL="381000" indent="-381000">
              <a:lnSpc>
                <a:spcPct val="120000"/>
              </a:lnSpc>
              <a:spcBef>
                <a:spcPts val="10"/>
              </a:spcBef>
              <a:buSzPct val="100000"/>
              <a:buChar char="•"/>
            </a:pPr>
            <a:r>
              <a:rPr lang="en-US" sz="2400" dirty="0">
                <a:solidFill>
                  <a:srgbClr val="000000"/>
                </a:solidFill>
                <a:latin typeface="MiSans" pitchFamily="34" charset="0"/>
                <a:ea typeface="MiSans" pitchFamily="34" charset="-122"/>
                <a:cs typeface="MiSans" pitchFamily="34" charset="-120"/>
              </a:rPr>
              <a:t>服务时长不足 </a:t>
            </a:r>
            <a:pPr algn="l">
              <a:lnSpc>
                <a:spcPct val="120000"/>
              </a:lnSpc>
              <a:spcBef>
                <a:spcPts val="10"/>
              </a:spcBef>
            </a:pPr>
            <a:r>
              <a:rPr lang="en-US" sz="2670" b="1" dirty="0">
                <a:solidFill>
                  <a:srgbClr val="04579A"/>
                </a:solidFill>
                <a:latin typeface="MiSans" pitchFamily="34" charset="0"/>
                <a:ea typeface="MiSans" pitchFamily="34" charset="-122"/>
                <a:cs typeface="MiSans" pitchFamily="34" charset="-120"/>
              </a:rPr>
              <a:t>1h</a:t>
            </a:r>
            <a:endParaRPr lang="en-US" sz="2400" dirty="0"/>
          </a:p>
          <a:p>
            <a:pPr algn="l" marL="381000" indent="-381000">
              <a:lnSpc>
                <a:spcPct val="120000"/>
              </a:lnSpc>
              <a:spcBef>
                <a:spcPts val="10"/>
              </a:spcBef>
              <a:buSzPct val="100000"/>
              <a:buChar char="•"/>
            </a:pPr>
            <a:r>
              <a:rPr lang="en-US" sz="2400" dirty="0">
                <a:solidFill>
                  <a:srgbClr val="000000"/>
                </a:solidFill>
                <a:latin typeface="MiSans" pitchFamily="34" charset="0"/>
                <a:ea typeface="MiSans" pitchFamily="34" charset="-122"/>
                <a:cs typeface="MiSans" pitchFamily="34" charset="-120"/>
              </a:rPr>
              <a:t>盗走密码货币价值 </a:t>
            </a:r>
            <a:pPr algn="l">
              <a:lnSpc>
                <a:spcPct val="120000"/>
              </a:lnSpc>
              <a:spcBef>
                <a:spcPts val="10"/>
              </a:spcBef>
            </a:pPr>
            <a:r>
              <a:rPr lang="en-US" sz="2670" b="1" dirty="0">
                <a:solidFill>
                  <a:srgbClr val="04579A"/>
                </a:solidFill>
                <a:latin typeface="MiSans" pitchFamily="34" charset="0"/>
                <a:ea typeface="MiSans" pitchFamily="34" charset="-122"/>
                <a:cs typeface="MiSans" pitchFamily="34" charset="-120"/>
              </a:rPr>
              <a:t>1200</a:t>
            </a:r>
            <a:pPr algn="l">
              <a:lnSpc>
                <a:spcPct val="120000"/>
              </a:lnSpc>
              <a:spcBef>
                <a:spcPts val="10"/>
              </a:spcBef>
            </a:pPr>
            <a:r>
              <a:rPr lang="en-US" sz="2670" b="1" dirty="0">
                <a:solidFill>
                  <a:srgbClr val="04579A"/>
                </a:solidFill>
                <a:latin typeface="MiSans" pitchFamily="34" charset="0"/>
                <a:ea typeface="MiSans" pitchFamily="34" charset="-122"/>
                <a:cs typeface="MiSans" pitchFamily="34" charset="-120"/>
              </a:rPr>
              <a:t>万美元</a:t>
            </a:r>
            <a:endParaRPr lang="en-US" sz="2400" dirty="0"/>
          </a:p>
          <a:p>
            <a:pPr algn="l" marL="381000" indent="-381000">
              <a:lnSpc>
                <a:spcPct val="120000"/>
              </a:lnSpc>
              <a:spcBef>
                <a:spcPts val="10"/>
              </a:spcBef>
              <a:buSzPct val="100000"/>
              <a:buChar char="•"/>
            </a:pPr>
            <a:r>
              <a:rPr lang="en-US" sz="2400" dirty="0">
                <a:solidFill>
                  <a:srgbClr val="000000"/>
                </a:solidFill>
                <a:latin typeface="MiSans" pitchFamily="34" charset="0"/>
                <a:ea typeface="MiSans" pitchFamily="34" charset="-122"/>
                <a:cs typeface="MiSans" pitchFamily="34" charset="-120"/>
              </a:rPr>
              <a:t>已被成功攻击次数</a:t>
            </a:r>
            <a:pPr algn="l">
              <a:lnSpc>
                <a:spcPct val="120000"/>
              </a:lnSpc>
              <a:spcBef>
                <a:spcPts val="10"/>
              </a:spcBef>
            </a:pPr>
            <a:r>
              <a:rPr lang="en-US" sz="2130" dirty="0">
                <a:solidFill>
                  <a:srgbClr val="000000"/>
                </a:solidFill>
                <a:latin typeface="MiSans" pitchFamily="34" charset="0"/>
                <a:ea typeface="MiSans" pitchFamily="34" charset="-122"/>
                <a:cs typeface="MiSans" pitchFamily="34" charset="-120"/>
              </a:rPr>
              <a:t>  </a:t>
            </a:r>
            <a:pPr algn="l">
              <a:lnSpc>
                <a:spcPct val="120000"/>
              </a:lnSpc>
              <a:spcBef>
                <a:spcPts val="10"/>
              </a:spcBef>
            </a:pPr>
            <a:r>
              <a:rPr lang="en-US" sz="2670" b="1" dirty="0">
                <a:solidFill>
                  <a:srgbClr val="04579A"/>
                </a:solidFill>
                <a:latin typeface="MiSans" pitchFamily="34" charset="0"/>
                <a:ea typeface="MiSans" pitchFamily="34" charset="-122"/>
                <a:cs typeface="MiSans" pitchFamily="34" charset="-120"/>
              </a:rPr>
              <a:t>3</a:t>
            </a:r>
            <a:pPr algn="l">
              <a:lnSpc>
                <a:spcPct val="120000"/>
              </a:lnSpc>
              <a:spcBef>
                <a:spcPts val="10"/>
              </a:spcBef>
            </a:pPr>
            <a:r>
              <a:rPr lang="en-US" sz="2670" b="1" dirty="0">
                <a:solidFill>
                  <a:srgbClr val="04579A"/>
                </a:solidFill>
                <a:latin typeface="MiSans" pitchFamily="34" charset="0"/>
                <a:ea typeface="MiSans" pitchFamily="34" charset="-122"/>
                <a:cs typeface="MiSans" pitchFamily="34" charset="-120"/>
              </a:rPr>
              <a:t>次</a:t>
            </a:r>
            <a:endParaRPr lang="en-US" sz="2400" dirty="0"/>
          </a:p>
          <a:p>
            <a:pPr algn="l" marL="381000" indent="-381000">
              <a:lnSpc>
                <a:spcPct val="120000"/>
              </a:lnSpc>
              <a:spcBef>
                <a:spcPts val="10"/>
              </a:spcBef>
              <a:buSzPct val="100000"/>
              <a:buChar char="•"/>
            </a:pPr>
            <a:r>
              <a:rPr lang="en-US" sz="2400" dirty="0">
                <a:solidFill>
                  <a:srgbClr val="000000"/>
                </a:solidFill>
                <a:latin typeface="MiSans" pitchFamily="34" charset="0"/>
                <a:ea typeface="MiSans" pitchFamily="34" charset="-122"/>
                <a:cs typeface="MiSans" pitchFamily="34" charset="-120"/>
              </a:rPr>
              <a:t>损失金额总数高于 </a:t>
            </a:r>
            <a:pPr algn="l">
              <a:lnSpc>
                <a:spcPct val="120000"/>
              </a:lnSpc>
              <a:spcBef>
                <a:spcPts val="10"/>
              </a:spcBef>
            </a:pPr>
            <a:r>
              <a:rPr lang="en-US" sz="2670" b="1" dirty="0">
                <a:solidFill>
                  <a:srgbClr val="04579A"/>
                </a:solidFill>
                <a:latin typeface="MiSans" pitchFamily="34" charset="0"/>
                <a:ea typeface="MiSans" pitchFamily="34" charset="-122"/>
                <a:cs typeface="MiSans" pitchFamily="34" charset="-120"/>
              </a:rPr>
              <a:t>6.5</a:t>
            </a:r>
            <a:pPr algn="l">
              <a:lnSpc>
                <a:spcPct val="120000"/>
              </a:lnSpc>
              <a:spcBef>
                <a:spcPts val="10"/>
              </a:spcBef>
            </a:pPr>
            <a:r>
              <a:rPr lang="en-US" sz="2670" b="1" dirty="0">
                <a:solidFill>
                  <a:srgbClr val="04579A"/>
                </a:solidFill>
                <a:latin typeface="MiSans" pitchFamily="34" charset="0"/>
                <a:ea typeface="MiSans" pitchFamily="34" charset="-122"/>
                <a:cs typeface="MiSans" pitchFamily="34" charset="-120"/>
              </a:rPr>
              <a:t>亿美元</a:t>
            </a:r>
            <a:endParaRPr lang="en-US" sz="2400" dirty="0"/>
          </a:p>
        </p:txBody>
      </p:sp>
      <p:sp>
        <p:nvSpPr>
          <p:cNvPr id="20" name="Text 15"/>
          <p:cNvSpPr/>
          <p:nvPr/>
        </p:nvSpPr>
        <p:spPr>
          <a:xfrm>
            <a:off x="9435592" y="2780411"/>
            <a:ext cx="5519928" cy="968756"/>
          </a:xfrm>
          <a:prstGeom prst="rect">
            <a:avLst/>
          </a:prstGeom>
          <a:noFill/>
          <a:ln/>
        </p:spPr>
        <p:txBody>
          <a:bodyPr wrap="square" lIns="0" tIns="0" rIns="0" bIns="0" rtlCol="0" anchor="t"/>
          <a:lstStyle/>
          <a:p>
            <a:pPr algn="ctr">
              <a:lnSpc>
                <a:spcPct val="120000"/>
              </a:lnSpc>
            </a:pPr>
            <a:r>
              <a:rPr lang="en-US" sz="2400" dirty="0">
                <a:solidFill>
                  <a:srgbClr val="000000"/>
                </a:solidFill>
                <a:latin typeface="Arial" pitchFamily="34" charset="0"/>
                <a:ea typeface="Arial" pitchFamily="34" charset="-122"/>
                <a:cs typeface="Arial" pitchFamily="34" charset="-120"/>
              </a:rPr>
              <a:t>当</a:t>
            </a:r>
            <a:pPr algn="ctr">
              <a:lnSpc>
                <a:spcPct val="120000"/>
              </a:lnSpc>
            </a:pPr>
            <a:r>
              <a:rPr lang="en-US" sz="2400" b="1" dirty="0">
                <a:solidFill>
                  <a:srgbClr val="04579A"/>
                </a:solidFill>
                <a:latin typeface="Arial" pitchFamily="34" charset="0"/>
                <a:ea typeface="Arial" pitchFamily="34" charset="-122"/>
                <a:cs typeface="Arial" pitchFamily="34" charset="-120"/>
              </a:rPr>
              <a:t>恶意</a:t>
            </a:r>
            <a:pPr algn="ctr">
              <a:lnSpc>
                <a:spcPct val="120000"/>
              </a:lnSpc>
            </a:pPr>
            <a:r>
              <a:rPr lang="en-US" sz="2400" dirty="0">
                <a:solidFill>
                  <a:srgbClr val="000000"/>
                </a:solidFill>
                <a:latin typeface="Arial" pitchFamily="34" charset="0"/>
                <a:ea typeface="Arial" pitchFamily="34" charset="-122"/>
                <a:cs typeface="Arial" pitchFamily="34" charset="-120"/>
              </a:rPr>
              <a:t>节点主动攻击，协议</a:t>
            </a:r>
            <a:pPr algn="ctr">
              <a:lnSpc>
                <a:spcPct val="120000"/>
              </a:lnSpc>
            </a:pPr>
            <a:r>
              <a:rPr lang="en-US" sz="2400" b="1" dirty="0">
                <a:solidFill>
                  <a:srgbClr val="04579A"/>
                </a:solidFill>
                <a:latin typeface="Arial" pitchFamily="34" charset="0"/>
                <a:ea typeface="Arial" pitchFamily="34" charset="-122"/>
                <a:cs typeface="Arial" pitchFamily="34" charset="-120"/>
              </a:rPr>
              <a:t>安全性被破坏</a:t>
            </a:r>
            <a:pPr algn="ctr">
              <a:lnSpc>
                <a:spcPct val="120000"/>
              </a:lnSpc>
            </a:pPr>
            <a:r>
              <a:rPr lang="en-US" sz="2400" dirty="0">
                <a:solidFill>
                  <a:srgbClr val="000000"/>
                </a:solidFill>
                <a:latin typeface="Arial" pitchFamily="34" charset="0"/>
                <a:ea typeface="Arial" pitchFamily="34" charset="-122"/>
                <a:cs typeface="Arial" pitchFamily="34" charset="-120"/>
              </a:rPr>
              <a:t>将导致用户直接</a:t>
            </a:r>
            <a:pPr algn="ctr">
              <a:lnSpc>
                <a:spcPct val="120000"/>
              </a:lnSpc>
            </a:pPr>
            <a:r>
              <a:rPr lang="en-US" sz="2400" b="1" dirty="0">
                <a:solidFill>
                  <a:srgbClr val="04579A"/>
                </a:solidFill>
                <a:latin typeface="Arial" pitchFamily="34" charset="0"/>
                <a:ea typeface="Arial" pitchFamily="34" charset="-122"/>
                <a:cs typeface="Arial" pitchFamily="34" charset="-120"/>
              </a:rPr>
              <a:t>财产损失</a:t>
            </a:r>
            <a:endParaRPr lang="en-US" sz="2400" dirty="0"/>
          </a:p>
        </p:txBody>
      </p:sp>
      <p:pic>
        <p:nvPicPr>
          <p:cNvPr id="21" name="Image 2" descr="https://kimi-img.moonshot.cn/pub/slides/okc/flfuysioo4gzm/mnt/agents/output/yuan_pptd/images/image_18.png">    </p:cNvPr>
          <p:cNvPicPr>
            <a:picLocks noChangeAspect="1"/>
          </p:cNvPicPr>
          <p:nvPr/>
        </p:nvPicPr>
        <p:blipFill>
          <a:blip r:embed="rId3"/>
          <a:stretch>
            <a:fillRect/>
          </a:stretch>
        </p:blipFill>
        <p:spPr>
          <a:xfrm>
            <a:off x="1314196" y="2486279"/>
            <a:ext cx="6813804" cy="2306828"/>
          </a:xfrm>
          <a:prstGeom prst="rect">
            <a:avLst/>
          </a:prstGeom>
        </p:spPr>
      </p:pic>
      <p:sp>
        <p:nvSpPr>
          <p:cNvPr id="22" name="Shape 16"/>
          <p:cNvSpPr/>
          <p:nvPr/>
        </p:nvSpPr>
        <p:spPr>
          <a:xfrm>
            <a:off x="1403985" y="4185412"/>
            <a:ext cx="2686431" cy="410337"/>
          </a:xfrm>
          <a:prstGeom prst="rect">
            <a:avLst/>
          </a:prstGeom>
          <a:solidFill>
            <a:srgbClr val="FFFFFF"/>
          </a:solidFill>
          <a:ln/>
        </p:spPr>
      </p:sp>
      <p:sp>
        <p:nvSpPr>
          <p:cNvPr id="23" name="Text 17"/>
          <p:cNvSpPr/>
          <p:nvPr/>
        </p:nvSpPr>
        <p:spPr>
          <a:xfrm>
            <a:off x="1403985" y="4185412"/>
            <a:ext cx="2686431" cy="410337"/>
          </a:xfrm>
          <a:prstGeom prst="rect">
            <a:avLst/>
          </a:prstGeom>
          <a:noFill/>
          <a:ln/>
        </p:spPr>
        <p:txBody>
          <a:bodyPr wrap="square" lIns="0" tIns="0" rIns="0" bIns="0" rtlCol="0" anchor="t"/>
          <a:lstStyle/>
          <a:p>
            <a:pPr algn="ctr">
              <a:lnSpc>
                <a:spcPct val="120000"/>
              </a:lnSpc>
            </a:pPr>
            <a:r>
              <a:rPr lang="en-US" sz="1870" dirty="0">
                <a:solidFill>
                  <a:srgbClr val="000000"/>
                </a:solidFill>
                <a:latin typeface="Arial" pitchFamily="34" charset="0"/>
                <a:ea typeface="Arial" pitchFamily="34" charset="-122"/>
                <a:cs typeface="Arial" pitchFamily="34" charset="-120"/>
              </a:rPr>
              <a:t>涉案金额（百万美元）</a:t>
            </a:r>
            <a:endParaRPr lang="en-US" sz="1870" dirty="0"/>
          </a:p>
        </p:txBody>
      </p:sp>
      <p:sp>
        <p:nvSpPr>
          <p:cNvPr id="24" name="Text 18"/>
          <p:cNvSpPr/>
          <p:nvPr/>
        </p:nvSpPr>
        <p:spPr>
          <a:xfrm>
            <a:off x="15649067" y="8666353"/>
            <a:ext cx="606933" cy="492506"/>
          </a:xfrm>
          <a:prstGeom prst="rect">
            <a:avLst/>
          </a:prstGeom>
          <a:noFill/>
          <a:ln/>
        </p:spPr>
        <p:txBody>
          <a:bodyPr wrap="square" lIns="0" tIns="0" rIns="0" bIns="0" rtlCol="0" anchor="t"/>
          <a:lstStyle/>
          <a:p>
            <a:pPr algn="ctr">
              <a:lnSpc>
                <a:spcPct val="120000"/>
              </a:lnSpc>
            </a:pPr>
            <a:r>
              <a:rPr lang="en-US" sz="2400" dirty="0">
                <a:solidFill>
                  <a:srgbClr val="000000"/>
                </a:solidFill>
                <a:latin typeface="Arial" pitchFamily="34" charset="0"/>
                <a:ea typeface="Arial" pitchFamily="34" charset="-122"/>
                <a:cs typeface="Arial" pitchFamily="34" charset="-120"/>
              </a:rPr>
              <a:t>5</a:t>
            </a:r>
            <a:endParaRPr lang="en-US" sz="2400" dirty="0"/>
          </a:p>
        </p:txBody>
      </p:sp>
    </p:spTree>
  </p:cSld>
  <p:clrMapOvr>
    <a:masterClrMapping/>
  </p:clrMapOvr>
  <p:transition>
    <p:fade/>
    <p:spd val="med"/>
  </p:transition>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3068320" y="2958211"/>
            <a:ext cx="3100451" cy="1252220"/>
          </a:xfrm>
          <a:prstGeom prst="round2DiagRect">
            <a:avLst>
              <a:gd name="adj1" fmla="val 16667"/>
              <a:gd name="adj2" fmla="val 0"/>
            </a:avLst>
          </a:prstGeom>
          <a:solidFill>
            <a:srgbClr val="FFFFFF"/>
          </a:solidFill>
          <a:ln w="12700">
            <a:solidFill>
              <a:srgbClr val="304B73"/>
            </a:solidFill>
            <a:prstDash val="solid"/>
          </a:ln>
        </p:spPr>
      </p:sp>
      <p:pic>
        <p:nvPicPr>
          <p:cNvPr id="4" name="Image 0" descr="https://kimi-img.moonshot.cn/pub/slides/okc/flfuysioo4gzm/mnt/agents/output/yuan_pptd/images/image_19.png">    </p:cNvPr>
          <p:cNvPicPr>
            <a:picLocks noChangeAspect="1"/>
          </p:cNvPicPr>
          <p:nvPr/>
        </p:nvPicPr>
        <p:blipFill>
          <a:blip r:embed="rId1"/>
          <a:srcRect l="44180" r="41590" t="13850" b="75700"/>
          <a:stretch/>
        </p:blipFill>
        <p:spPr>
          <a:xfrm>
            <a:off x="4268597" y="5627624"/>
            <a:ext cx="893445" cy="763651"/>
          </a:xfrm>
          <a:prstGeom prst="rect">
            <a:avLst/>
          </a:prstGeom>
        </p:spPr>
      </p:pic>
      <p:pic>
        <p:nvPicPr>
          <p:cNvPr id="5" name="Image 1" descr="https://kimi-img.moonshot.cn/pub/slides/okc/flfuysioo4gzm/mnt/agents/output/yuan_pptd/images/image_20.jpg">    </p:cNvPr>
          <p:cNvPicPr>
            <a:picLocks noChangeAspect="1"/>
          </p:cNvPicPr>
          <p:nvPr/>
        </p:nvPicPr>
        <p:blipFill>
          <a:blip r:embed="rId2"/>
          <a:srcRect l="0" r="49990" t="0" b="0"/>
          <a:stretch/>
        </p:blipFill>
        <p:spPr>
          <a:xfrm>
            <a:off x="2860929" y="4859909"/>
            <a:ext cx="1407795" cy="1119505"/>
          </a:xfrm>
          <a:prstGeom prst="rect">
            <a:avLst/>
          </a:prstGeom>
        </p:spPr>
      </p:pic>
      <p:pic>
        <p:nvPicPr>
          <p:cNvPr id="6" name="Image 2" descr="https://kimi-img.moonshot.cn/pub/slides/okc/flfuysioo4gzm/mnt/agents/output/yuan_pptd/images/image_20.jpg">    </p:cNvPr>
          <p:cNvPicPr>
            <a:picLocks noChangeAspect="1"/>
          </p:cNvPicPr>
          <p:nvPr/>
        </p:nvPicPr>
        <p:blipFill>
          <a:blip r:embed="rId3"/>
          <a:srcRect l="50010" r="0" t="0" b="0"/>
          <a:stretch/>
        </p:blipFill>
        <p:spPr>
          <a:xfrm>
            <a:off x="5162042" y="4859909"/>
            <a:ext cx="1407160" cy="1119505"/>
          </a:xfrm>
          <a:prstGeom prst="rect">
            <a:avLst/>
          </a:prstGeom>
        </p:spPr>
      </p:pic>
      <p:pic>
        <p:nvPicPr>
          <p:cNvPr id="7" name="Image 3" descr="https://kimi-img.moonshot.cn/pub/slides/okc/flfuysioo4gzm/mnt/agents/output/yuan_pptd/images/image_20.jpg">    </p:cNvPr>
          <p:cNvPicPr>
            <a:picLocks noChangeAspect="1"/>
          </p:cNvPicPr>
          <p:nvPr/>
        </p:nvPicPr>
        <p:blipFill>
          <a:blip r:embed="rId4"/>
          <a:srcRect l="50010" r="0" t="0" b="0"/>
          <a:stretch/>
        </p:blipFill>
        <p:spPr>
          <a:xfrm>
            <a:off x="2861437" y="6391275"/>
            <a:ext cx="1407160" cy="1119505"/>
          </a:xfrm>
          <a:prstGeom prst="rect">
            <a:avLst/>
          </a:prstGeom>
        </p:spPr>
      </p:pic>
      <p:pic>
        <p:nvPicPr>
          <p:cNvPr id="8" name="Image 4" descr="https://kimi-img.moonshot.cn/pub/slides/okc/flfuysioo4gzm/mnt/agents/output/yuan_pptd/images/image_20.jpg">    </p:cNvPr>
          <p:cNvPicPr>
            <a:picLocks noChangeAspect="1"/>
          </p:cNvPicPr>
          <p:nvPr/>
        </p:nvPicPr>
        <p:blipFill>
          <a:blip r:embed="rId5"/>
          <a:srcRect l="0" r="49990" t="0" b="0"/>
          <a:stretch/>
        </p:blipFill>
        <p:spPr>
          <a:xfrm>
            <a:off x="5161534" y="6391275"/>
            <a:ext cx="1407795" cy="1119505"/>
          </a:xfrm>
          <a:prstGeom prst="rect">
            <a:avLst/>
          </a:prstGeom>
        </p:spPr>
      </p:pic>
      <p:sp>
        <p:nvSpPr>
          <p:cNvPr id="9" name="Shape 1"/>
          <p:cNvSpPr/>
          <p:nvPr/>
        </p:nvSpPr>
        <p:spPr>
          <a:xfrm>
            <a:off x="3947922" y="5637276"/>
            <a:ext cx="297815" cy="297942"/>
          </a:xfrm>
          <a:prstGeom prst="line">
            <a:avLst/>
          </a:prstGeom>
          <a:noFill/>
          <a:ln w="12700">
            <a:solidFill>
              <a:srgbClr val="03569A"/>
            </a:solidFill>
            <a:prstDash val="solid"/>
            <a:headEnd type="arrow"/>
            <a:tailEnd type="none"/>
          </a:ln>
        </p:spPr>
      </p:sp>
      <p:sp>
        <p:nvSpPr>
          <p:cNvPr id="10" name="Shape 2"/>
          <p:cNvSpPr/>
          <p:nvPr/>
        </p:nvSpPr>
        <p:spPr>
          <a:xfrm flipH="1">
            <a:off x="5185029" y="5637276"/>
            <a:ext cx="297815" cy="297942"/>
          </a:xfrm>
          <a:prstGeom prst="line">
            <a:avLst/>
          </a:prstGeom>
          <a:noFill/>
          <a:ln w="12700">
            <a:solidFill>
              <a:srgbClr val="03569A"/>
            </a:solidFill>
            <a:prstDash val="solid"/>
            <a:headEnd type="none"/>
            <a:tailEnd type="arrow"/>
          </a:ln>
        </p:spPr>
      </p:sp>
      <p:sp>
        <p:nvSpPr>
          <p:cNvPr id="11" name="Shape 3"/>
          <p:cNvSpPr/>
          <p:nvPr/>
        </p:nvSpPr>
        <p:spPr>
          <a:xfrm>
            <a:off x="5185029" y="6496685"/>
            <a:ext cx="297815" cy="297942"/>
          </a:xfrm>
          <a:prstGeom prst="line">
            <a:avLst/>
          </a:prstGeom>
          <a:noFill/>
          <a:ln w="12700">
            <a:solidFill>
              <a:srgbClr val="03569A"/>
            </a:solidFill>
            <a:prstDash val="solid"/>
            <a:headEnd type="none"/>
            <a:tailEnd type="arrow"/>
          </a:ln>
        </p:spPr>
      </p:sp>
      <p:sp>
        <p:nvSpPr>
          <p:cNvPr id="12" name="Shape 4"/>
          <p:cNvSpPr/>
          <p:nvPr/>
        </p:nvSpPr>
        <p:spPr>
          <a:xfrm flipH="1">
            <a:off x="3947922" y="6496685"/>
            <a:ext cx="297815" cy="297942"/>
          </a:xfrm>
          <a:prstGeom prst="line">
            <a:avLst/>
          </a:prstGeom>
          <a:noFill/>
          <a:ln w="12700">
            <a:solidFill>
              <a:srgbClr val="03569A"/>
            </a:solidFill>
            <a:prstDash val="solid"/>
            <a:headEnd type="arrow"/>
            <a:tailEnd type="none"/>
          </a:ln>
        </p:spPr>
      </p:sp>
      <p:pic>
        <p:nvPicPr>
          <p:cNvPr id="13" name="Image 5" descr="https://kimi-img.moonshot.cn/pub/slides/okc/flfuysioo4gzm/mnt/agents/output/yuan_pptd/images/image_20.jpg">    </p:cNvPr>
          <p:cNvPicPr>
            <a:picLocks noChangeAspect="1"/>
          </p:cNvPicPr>
          <p:nvPr/>
        </p:nvPicPr>
        <p:blipFill>
          <a:blip r:embed="rId6"/>
          <a:srcRect l="0" r="59740" t="0" b="0"/>
          <a:stretch/>
        </p:blipFill>
        <p:spPr>
          <a:xfrm>
            <a:off x="9109329" y="4765929"/>
            <a:ext cx="1201674" cy="1186434"/>
          </a:xfrm>
          <a:prstGeom prst="rect">
            <a:avLst/>
          </a:prstGeom>
        </p:spPr>
      </p:pic>
      <p:pic>
        <p:nvPicPr>
          <p:cNvPr id="14" name="Image 6" descr="https://kimi-img.moonshot.cn/pub/slides/okc/flfuysioo4gzm/mnt/agents/output/yuan_pptd/images/image_20.jpg">    </p:cNvPr>
          <p:cNvPicPr>
            <a:picLocks noChangeAspect="1"/>
          </p:cNvPicPr>
          <p:nvPr/>
        </p:nvPicPr>
        <p:blipFill>
          <a:blip r:embed="rId7"/>
          <a:srcRect l="60280" r="0" t="0" b="0"/>
          <a:stretch/>
        </p:blipFill>
        <p:spPr>
          <a:xfrm>
            <a:off x="11855069" y="4765929"/>
            <a:ext cx="1185164" cy="1186434"/>
          </a:xfrm>
          <a:prstGeom prst="rect">
            <a:avLst/>
          </a:prstGeom>
        </p:spPr>
      </p:pic>
      <p:pic>
        <p:nvPicPr>
          <p:cNvPr id="15" name="Image 7" descr="https://kimi-img.moonshot.cn/pub/slides/okc/flfuysioo4gzm/mnt/agents/output/yuan_pptd/images/image_20.jpg">    </p:cNvPr>
          <p:cNvPicPr>
            <a:picLocks noChangeAspect="1"/>
          </p:cNvPicPr>
          <p:nvPr/>
        </p:nvPicPr>
        <p:blipFill>
          <a:blip r:embed="rId8"/>
          <a:srcRect l="50010" r="9750" t="0" b="0"/>
          <a:stretch/>
        </p:blipFill>
        <p:spPr>
          <a:xfrm>
            <a:off x="9110091" y="6388608"/>
            <a:ext cx="1200912" cy="1186434"/>
          </a:xfrm>
          <a:prstGeom prst="rect">
            <a:avLst/>
          </a:prstGeom>
        </p:spPr>
      </p:pic>
      <p:pic>
        <p:nvPicPr>
          <p:cNvPr id="16" name="Image 8" descr="https://kimi-img.moonshot.cn/pub/slides/okc/flfuysioo4gzm/mnt/agents/output/yuan_pptd/images/image_20.jpg">    </p:cNvPr>
          <p:cNvPicPr>
            <a:picLocks noChangeAspect="1"/>
          </p:cNvPicPr>
          <p:nvPr/>
        </p:nvPicPr>
        <p:blipFill>
          <a:blip r:embed="rId9"/>
          <a:srcRect l="10300" r="49990" t="0" b="0"/>
          <a:stretch/>
        </p:blipFill>
        <p:spPr>
          <a:xfrm>
            <a:off x="11855069" y="6388608"/>
            <a:ext cx="1185164" cy="1186434"/>
          </a:xfrm>
          <a:prstGeom prst="rect">
            <a:avLst/>
          </a:prstGeom>
        </p:spPr>
      </p:pic>
      <p:sp>
        <p:nvSpPr>
          <p:cNvPr id="17" name="Shape 5"/>
          <p:cNvSpPr/>
          <p:nvPr/>
        </p:nvSpPr>
        <p:spPr>
          <a:xfrm>
            <a:off x="10310876" y="5359527"/>
            <a:ext cx="0" cy="1622679"/>
          </a:xfrm>
          <a:prstGeom prst="line">
            <a:avLst/>
          </a:prstGeom>
          <a:noFill/>
          <a:ln w="12700">
            <a:solidFill>
              <a:srgbClr val="03569A"/>
            </a:solidFill>
            <a:prstDash val="solid"/>
            <a:headEnd type="none"/>
            <a:tailEnd type="none"/>
          </a:ln>
        </p:spPr>
      </p:sp>
      <p:sp>
        <p:nvSpPr>
          <p:cNvPr id="18" name="Shape 6"/>
          <p:cNvSpPr/>
          <p:nvPr/>
        </p:nvSpPr>
        <p:spPr>
          <a:xfrm>
            <a:off x="10310876" y="5359527"/>
            <a:ext cx="1544193" cy="1622679"/>
          </a:xfrm>
          <a:prstGeom prst="line">
            <a:avLst/>
          </a:prstGeom>
          <a:noFill/>
          <a:ln w="12700">
            <a:solidFill>
              <a:srgbClr val="03569A"/>
            </a:solidFill>
            <a:prstDash val="solid"/>
            <a:headEnd type="none"/>
            <a:tailEnd type="none"/>
          </a:ln>
        </p:spPr>
      </p:sp>
      <p:sp>
        <p:nvSpPr>
          <p:cNvPr id="19" name="Shape 7"/>
          <p:cNvSpPr/>
          <p:nvPr/>
        </p:nvSpPr>
        <p:spPr>
          <a:xfrm flipH="1">
            <a:off x="10310876" y="5359527"/>
            <a:ext cx="1544193" cy="1622679"/>
          </a:xfrm>
          <a:prstGeom prst="line">
            <a:avLst/>
          </a:prstGeom>
          <a:noFill/>
          <a:ln w="12700">
            <a:solidFill>
              <a:srgbClr val="03569A"/>
            </a:solidFill>
            <a:prstDash val="solid"/>
            <a:headEnd type="none"/>
            <a:tailEnd type="none"/>
          </a:ln>
        </p:spPr>
      </p:sp>
      <p:sp>
        <p:nvSpPr>
          <p:cNvPr id="20" name="Shape 8"/>
          <p:cNvSpPr/>
          <p:nvPr/>
        </p:nvSpPr>
        <p:spPr>
          <a:xfrm flipH="1">
            <a:off x="10310876" y="6982206"/>
            <a:ext cx="1544193" cy="0"/>
          </a:xfrm>
          <a:prstGeom prst="line">
            <a:avLst/>
          </a:prstGeom>
          <a:noFill/>
          <a:ln w="12700">
            <a:solidFill>
              <a:srgbClr val="03569A"/>
            </a:solidFill>
            <a:prstDash val="solid"/>
            <a:headEnd type="none"/>
            <a:tailEnd type="none"/>
          </a:ln>
        </p:spPr>
      </p:sp>
      <p:sp>
        <p:nvSpPr>
          <p:cNvPr id="21" name="Shape 9"/>
          <p:cNvSpPr/>
          <p:nvPr/>
        </p:nvSpPr>
        <p:spPr>
          <a:xfrm>
            <a:off x="10310876" y="5359527"/>
            <a:ext cx="1544193" cy="0"/>
          </a:xfrm>
          <a:prstGeom prst="line">
            <a:avLst/>
          </a:prstGeom>
          <a:noFill/>
          <a:ln w="12700">
            <a:solidFill>
              <a:srgbClr val="03569A"/>
            </a:solidFill>
            <a:prstDash val="solid"/>
            <a:headEnd type="none"/>
            <a:tailEnd type="none"/>
          </a:ln>
        </p:spPr>
      </p:sp>
      <p:sp>
        <p:nvSpPr>
          <p:cNvPr id="22" name="Shape 10"/>
          <p:cNvSpPr/>
          <p:nvPr/>
        </p:nvSpPr>
        <p:spPr>
          <a:xfrm>
            <a:off x="11855069" y="5359527"/>
            <a:ext cx="0" cy="1622679"/>
          </a:xfrm>
          <a:prstGeom prst="line">
            <a:avLst/>
          </a:prstGeom>
          <a:noFill/>
          <a:ln w="12700">
            <a:solidFill>
              <a:srgbClr val="03569A"/>
            </a:solidFill>
            <a:prstDash val="solid"/>
            <a:headEnd type="none"/>
            <a:tailEnd type="none"/>
          </a:ln>
        </p:spPr>
      </p:sp>
      <p:sp>
        <p:nvSpPr>
          <p:cNvPr id="23" name="Text 11"/>
          <p:cNvSpPr/>
          <p:nvPr/>
        </p:nvSpPr>
        <p:spPr>
          <a:xfrm>
            <a:off x="1337691" y="7552436"/>
            <a:ext cx="6769100" cy="533527"/>
          </a:xfrm>
          <a:prstGeom prst="rect">
            <a:avLst/>
          </a:prstGeom>
          <a:noFill/>
          <a:ln/>
        </p:spPr>
        <p:txBody>
          <a:bodyPr wrap="square" lIns="0" tIns="0" rIns="0" bIns="0" rtlCol="0" anchor="t"/>
          <a:lstStyle/>
          <a:p>
            <a:pPr algn="ctr">
              <a:lnSpc>
                <a:spcPct val="120000"/>
              </a:lnSpc>
            </a:pPr>
            <a:r>
              <a:rPr lang="en-US" sz="2670" dirty="0">
                <a:solidFill>
                  <a:srgbClr val="000000"/>
                </a:solidFill>
                <a:latin typeface="Arial" pitchFamily="34" charset="0"/>
                <a:ea typeface="Arial" pitchFamily="34" charset="-122"/>
                <a:cs typeface="Arial" pitchFamily="34" charset="-120"/>
              </a:rPr>
              <a:t>可信假设减弱了协议的安全性</a:t>
            </a:r>
            <a:endParaRPr lang="en-US" sz="2670" dirty="0"/>
          </a:p>
        </p:txBody>
      </p:sp>
      <p:sp>
        <p:nvSpPr>
          <p:cNvPr id="24" name="Text 12"/>
          <p:cNvSpPr/>
          <p:nvPr/>
        </p:nvSpPr>
        <p:spPr>
          <a:xfrm>
            <a:off x="9123807" y="7418324"/>
            <a:ext cx="4270629" cy="943864"/>
          </a:xfrm>
          <a:prstGeom prst="rect">
            <a:avLst/>
          </a:prstGeom>
          <a:noFill/>
          <a:ln/>
        </p:spPr>
        <p:txBody>
          <a:bodyPr wrap="square" lIns="0" tIns="0" rIns="0" bIns="0" rtlCol="0" anchor="t"/>
          <a:lstStyle/>
          <a:p>
            <a:pPr algn="ctr">
              <a:lnSpc>
                <a:spcPct val="120000"/>
              </a:lnSpc>
            </a:pPr>
            <a:r>
              <a:rPr lang="en-US" sz="2670" b="1" dirty="0">
                <a:solidFill>
                  <a:srgbClr val="04579A"/>
                </a:solidFill>
                <a:latin typeface="Arial" pitchFamily="34" charset="0"/>
                <a:ea typeface="Arial" pitchFamily="34" charset="-122"/>
                <a:cs typeface="Arial" pitchFamily="34" charset="-120"/>
              </a:rPr>
              <a:t>需要去除可信假设，</a:t>
            </a:r>
            <a:endParaRPr lang="en-US" sz="2670" dirty="0"/>
          </a:p>
          <a:p>
            <a:pPr algn="ctr">
              <a:lnSpc>
                <a:spcPct val="120000"/>
              </a:lnSpc>
            </a:pPr>
            <a:r>
              <a:rPr lang="en-US" sz="2670" b="1" dirty="0">
                <a:solidFill>
                  <a:srgbClr val="04579A"/>
                </a:solidFill>
                <a:latin typeface="Arial" pitchFamily="34" charset="0"/>
                <a:ea typeface="Arial" pitchFamily="34" charset="-122"/>
                <a:cs typeface="Arial" pitchFamily="34" charset="-120"/>
              </a:rPr>
              <a:t>建立更实际的安全模型</a:t>
            </a:r>
            <a:endParaRPr lang="en-US" sz="2670" dirty="0"/>
          </a:p>
        </p:txBody>
      </p:sp>
      <p:sp>
        <p:nvSpPr>
          <p:cNvPr id="25" name="Text 13"/>
          <p:cNvSpPr/>
          <p:nvPr/>
        </p:nvSpPr>
        <p:spPr>
          <a:xfrm>
            <a:off x="1151509" y="2083689"/>
            <a:ext cx="8128000" cy="861822"/>
          </a:xfrm>
          <a:prstGeom prst="rect">
            <a:avLst/>
          </a:prstGeom>
          <a:noFill/>
          <a:ln/>
        </p:spPr>
        <p:txBody>
          <a:bodyPr wrap="square" lIns="0" tIns="0" rIns="0" bIns="0" rtlCol="0" anchor="t"/>
          <a:lstStyle/>
          <a:p>
            <a:pPr algn="l">
              <a:lnSpc>
                <a:spcPct val="120000"/>
              </a:lnSpc>
            </a:pPr>
            <a:r>
              <a:rPr lang="en-US" sz="2400" dirty="0">
                <a:solidFill>
                  <a:srgbClr val="262626"/>
                </a:solidFill>
                <a:latin typeface="Arial" pitchFamily="34" charset="0"/>
                <a:ea typeface="Arial" pitchFamily="34" charset="-122"/>
                <a:cs typeface="Arial" pitchFamily="34" charset="-120"/>
              </a:rPr>
              <a:t>资产兑换协议是构建</a:t>
            </a:r>
            <a:pPr algn="l">
              <a:lnSpc>
                <a:spcPct val="120000"/>
              </a:lnSpc>
            </a:pPr>
            <a:r>
              <a:rPr lang="en-US" sz="2400" dirty="0">
                <a:solidFill>
                  <a:srgbClr val="3F3F3F"/>
                </a:solidFill>
                <a:latin typeface="Arial" pitchFamily="34" charset="0"/>
                <a:ea typeface="Arial" pitchFamily="34" charset="-122"/>
                <a:cs typeface="Arial" pitchFamily="34" charset="-120"/>
              </a:rPr>
              <a:t>分布式数字资产交易协议</a:t>
            </a:r>
            <a:pPr algn="l">
              <a:lnSpc>
                <a:spcPct val="120000"/>
              </a:lnSpc>
            </a:pPr>
            <a:r>
              <a:rPr lang="en-US" sz="2400" dirty="0">
                <a:solidFill>
                  <a:srgbClr val="262626"/>
                </a:solidFill>
                <a:latin typeface="Arial" pitchFamily="34" charset="0"/>
                <a:ea typeface="Arial" pitchFamily="34" charset="-122"/>
                <a:cs typeface="Arial" pitchFamily="34" charset="-120"/>
              </a:rPr>
              <a:t>的重要组件:</a:t>
            </a:r>
            <a:endParaRPr lang="en-US" sz="2400" dirty="0"/>
          </a:p>
          <a:p>
            <a:pPr algn="l">
              <a:lnSpc>
                <a:spcPct val="120000"/>
              </a:lnSpc>
            </a:pPr>
            <a:r>
              <a:rPr lang="en-US" sz="2400" dirty="0">
                <a:solidFill>
                  <a:srgbClr val="262626"/>
                </a:solidFill>
                <a:latin typeface="Arial" pitchFamily="34" charset="0"/>
                <a:ea typeface="Arial" pitchFamily="34" charset="-122"/>
                <a:cs typeface="Arial" pitchFamily="34" charset="-120"/>
              </a:rPr>
              <a:t> </a:t>
            </a:r>
            <a:endParaRPr lang="en-US" sz="2400" dirty="0"/>
          </a:p>
        </p:txBody>
      </p:sp>
      <p:sp>
        <p:nvSpPr>
          <p:cNvPr id="26" name="Shape 14"/>
          <p:cNvSpPr/>
          <p:nvPr/>
        </p:nvSpPr>
        <p:spPr>
          <a:xfrm>
            <a:off x="7448931" y="6194171"/>
            <a:ext cx="574929" cy="1125220"/>
          </a:xfrm>
          <a:prstGeom prst="rightArrow">
            <a:avLst>
              <a:gd name="adj1" fmla="val 50000"/>
              <a:gd name="adj2" fmla="val 50000"/>
            </a:avLst>
          </a:prstGeom>
          <a:noFill/>
          <a:ln w="12700">
            <a:solidFill>
              <a:srgbClr val="04579A"/>
            </a:solidFill>
            <a:prstDash val="solid"/>
          </a:ln>
        </p:spPr>
      </p:sp>
      <p:sp>
        <p:nvSpPr>
          <p:cNvPr id="27" name="Text 15"/>
          <p:cNvSpPr/>
          <p:nvPr/>
        </p:nvSpPr>
        <p:spPr>
          <a:xfrm>
            <a:off x="3479800" y="3156331"/>
            <a:ext cx="2241169" cy="1016889"/>
          </a:xfrm>
          <a:prstGeom prst="rect">
            <a:avLst/>
          </a:prstGeom>
          <a:noFill/>
          <a:ln/>
        </p:spPr>
        <p:txBody>
          <a:bodyPr wrap="square" lIns="0" tIns="0" rIns="0" bIns="0" rtlCol="0" anchor="t"/>
          <a:lstStyle/>
          <a:p>
            <a:pPr algn="ctr">
              <a:lnSpc>
                <a:spcPct val="120000"/>
              </a:lnSpc>
            </a:pPr>
            <a:r>
              <a:rPr lang="en-US" sz="2020" dirty="0">
                <a:solidFill>
                  <a:srgbClr val="000000"/>
                </a:solidFill>
                <a:latin typeface="Arial" pitchFamily="34" charset="0"/>
                <a:ea typeface="Arial" pitchFamily="34" charset="-122"/>
                <a:cs typeface="Arial" pitchFamily="34" charset="-120"/>
              </a:rPr>
              <a:t>资产安全性依赖</a:t>
            </a:r>
            <a:pPr algn="ctr">
              <a:lnSpc>
                <a:spcPct val="120000"/>
              </a:lnSpc>
            </a:pPr>
            <a:r>
              <a:rPr lang="en-US" sz="2020" b="1" dirty="0">
                <a:solidFill>
                  <a:srgbClr val="E9451F"/>
                </a:solidFill>
                <a:latin typeface="Arial" pitchFamily="34" charset="0"/>
                <a:ea typeface="Arial" pitchFamily="34" charset="-122"/>
                <a:cs typeface="Arial" pitchFamily="34" charset="-120"/>
              </a:rPr>
              <a:t>智能合约</a:t>
            </a:r>
            <a:pPr algn="ctr">
              <a:lnSpc>
                <a:spcPct val="120000"/>
              </a:lnSpc>
            </a:pPr>
            <a:r>
              <a:rPr lang="en-US" sz="2020" dirty="0">
                <a:solidFill>
                  <a:srgbClr val="000000"/>
                </a:solidFill>
                <a:latin typeface="Arial" pitchFamily="34" charset="0"/>
                <a:ea typeface="Arial" pitchFamily="34" charset="-122"/>
                <a:cs typeface="Arial" pitchFamily="34" charset="-120"/>
              </a:rPr>
              <a:t>托管</a:t>
            </a:r>
            <a:endParaRPr lang="en-US" sz="2020" dirty="0"/>
          </a:p>
        </p:txBody>
      </p:sp>
      <p:sp>
        <p:nvSpPr>
          <p:cNvPr id="28" name="Shape 16"/>
          <p:cNvSpPr/>
          <p:nvPr/>
        </p:nvSpPr>
        <p:spPr>
          <a:xfrm>
            <a:off x="6583680" y="2970149"/>
            <a:ext cx="3100451" cy="1252220"/>
          </a:xfrm>
          <a:prstGeom prst="round2DiagRect">
            <a:avLst>
              <a:gd name="adj1" fmla="val 16667"/>
              <a:gd name="adj2" fmla="val 0"/>
            </a:avLst>
          </a:prstGeom>
          <a:solidFill>
            <a:srgbClr val="FFFFFF"/>
          </a:solidFill>
          <a:ln w="12700">
            <a:solidFill>
              <a:srgbClr val="304B73"/>
            </a:solidFill>
            <a:prstDash val="solid"/>
          </a:ln>
        </p:spPr>
      </p:sp>
      <p:sp>
        <p:nvSpPr>
          <p:cNvPr id="29" name="Shape 17"/>
          <p:cNvSpPr/>
          <p:nvPr/>
        </p:nvSpPr>
        <p:spPr>
          <a:xfrm>
            <a:off x="10099040" y="2921000"/>
            <a:ext cx="3100451" cy="1252220"/>
          </a:xfrm>
          <a:prstGeom prst="round2DiagRect">
            <a:avLst>
              <a:gd name="adj1" fmla="val 16667"/>
              <a:gd name="adj2" fmla="val 0"/>
            </a:avLst>
          </a:prstGeom>
          <a:solidFill>
            <a:srgbClr val="FFFFFF"/>
          </a:solidFill>
          <a:ln w="12700">
            <a:solidFill>
              <a:srgbClr val="304B73"/>
            </a:solidFill>
            <a:prstDash val="solid"/>
          </a:ln>
        </p:spPr>
      </p:sp>
      <p:sp>
        <p:nvSpPr>
          <p:cNvPr id="30" name="Text 18"/>
          <p:cNvSpPr/>
          <p:nvPr/>
        </p:nvSpPr>
        <p:spPr>
          <a:xfrm>
            <a:off x="7022211" y="3134360"/>
            <a:ext cx="2224151" cy="935609"/>
          </a:xfrm>
          <a:prstGeom prst="rect">
            <a:avLst/>
          </a:prstGeom>
          <a:noFill/>
          <a:ln/>
        </p:spPr>
        <p:txBody>
          <a:bodyPr wrap="square" lIns="0" tIns="0" rIns="0" bIns="0" rtlCol="0" anchor="t"/>
          <a:lstStyle/>
          <a:p>
            <a:pPr algn="l">
              <a:lnSpc>
                <a:spcPct val="120000"/>
              </a:lnSpc>
            </a:pPr>
            <a:r>
              <a:rPr lang="en-US" sz="1870" dirty="0">
                <a:solidFill>
                  <a:srgbClr val="000000"/>
                </a:solidFill>
                <a:latin typeface="Arial" pitchFamily="34" charset="0"/>
                <a:ea typeface="Arial" pitchFamily="34" charset="-122"/>
                <a:cs typeface="Arial" pitchFamily="34" charset="-120"/>
              </a:rPr>
              <a:t>兑换有效性依赖于</a:t>
            </a:r>
            <a:pPr algn="l">
              <a:lnSpc>
                <a:spcPct val="120000"/>
              </a:lnSpc>
            </a:pPr>
            <a:r>
              <a:rPr lang="en-US" sz="1870" b="1" dirty="0">
                <a:solidFill>
                  <a:srgbClr val="E9451F"/>
                </a:solidFill>
                <a:latin typeface="Arial" pitchFamily="34" charset="0"/>
                <a:ea typeface="Arial" pitchFamily="34" charset="-122"/>
                <a:cs typeface="Arial" pitchFamily="34" charset="-120"/>
              </a:rPr>
              <a:t>诚实矿工交易排序</a:t>
            </a:r>
            <a:endParaRPr lang="en-US" sz="1870" dirty="0"/>
          </a:p>
        </p:txBody>
      </p:sp>
      <p:sp>
        <p:nvSpPr>
          <p:cNvPr id="31" name="Text 19"/>
          <p:cNvSpPr/>
          <p:nvPr/>
        </p:nvSpPr>
        <p:spPr>
          <a:xfrm>
            <a:off x="10316210" y="3115056"/>
            <a:ext cx="2666111" cy="917829"/>
          </a:xfrm>
          <a:prstGeom prst="rect">
            <a:avLst/>
          </a:prstGeom>
          <a:noFill/>
          <a:ln/>
        </p:spPr>
        <p:txBody>
          <a:bodyPr wrap="square" lIns="0" tIns="0" rIns="0" bIns="0" rtlCol="0" anchor="t"/>
          <a:lstStyle/>
          <a:p>
            <a:pPr algn="l">
              <a:lnSpc>
                <a:spcPct val="120000"/>
              </a:lnSpc>
            </a:pPr>
            <a:r>
              <a:rPr lang="en-US" sz="1730" spc="200" kern="0" dirty="0">
                <a:solidFill>
                  <a:srgbClr val="000000"/>
                </a:solidFill>
                <a:latin typeface="Arial" pitchFamily="34" charset="0"/>
                <a:ea typeface="Arial" pitchFamily="34" charset="-122"/>
                <a:cs typeface="Arial" pitchFamily="34" charset="-120"/>
              </a:rPr>
              <a:t>惩罚机制依赖于用户</a:t>
            </a:r>
            <a:pPr algn="l">
              <a:lnSpc>
                <a:spcPct val="120000"/>
              </a:lnSpc>
            </a:pPr>
            <a:r>
              <a:rPr lang="en-US" sz="1730" b="1" spc="200" kern="0" dirty="0">
                <a:solidFill>
                  <a:srgbClr val="E9451F"/>
                </a:solidFill>
                <a:latin typeface="Arial" pitchFamily="34" charset="0"/>
                <a:ea typeface="Arial" pitchFamily="34" charset="-122"/>
                <a:cs typeface="Arial" pitchFamily="34" charset="-120"/>
              </a:rPr>
              <a:t>实时在线</a:t>
            </a:r>
            <a:pPr algn="l">
              <a:lnSpc>
                <a:spcPct val="120000"/>
              </a:lnSpc>
            </a:pPr>
            <a:r>
              <a:rPr lang="en-US" sz="1730" spc="200" kern="0" dirty="0">
                <a:solidFill>
                  <a:srgbClr val="000000"/>
                </a:solidFill>
                <a:latin typeface="Arial" pitchFamily="34" charset="0"/>
                <a:ea typeface="Arial" pitchFamily="34" charset="-122"/>
                <a:cs typeface="Arial" pitchFamily="34" charset="-120"/>
              </a:rPr>
              <a:t>监控链上交易</a:t>
            </a:r>
            <a:endParaRPr lang="en-US" sz="1730" dirty="0"/>
          </a:p>
        </p:txBody>
      </p:sp>
      <p:sp>
        <p:nvSpPr>
          <p:cNvPr id="32" name="Shape 20"/>
          <p:cNvSpPr/>
          <p:nvPr/>
        </p:nvSpPr>
        <p:spPr>
          <a:xfrm>
            <a:off x="2219960" y="0"/>
            <a:ext cx="2895600" cy="962660"/>
          </a:xfrm>
          <a:prstGeom prst="rect">
            <a:avLst/>
          </a:prstGeom>
          <a:solidFill>
            <a:srgbClr val="F2F2F2"/>
          </a:solidFill>
          <a:ln w="12700">
            <a:solidFill>
              <a:srgbClr val="F2F2F2"/>
            </a:solidFill>
            <a:prstDash val="solid"/>
          </a:ln>
        </p:spPr>
      </p:sp>
      <p:sp>
        <p:nvSpPr>
          <p:cNvPr id="33" name="Shape 21"/>
          <p:cNvSpPr/>
          <p:nvPr/>
        </p:nvSpPr>
        <p:spPr>
          <a:xfrm>
            <a:off x="5162169" y="-889"/>
            <a:ext cx="2590800" cy="962660"/>
          </a:xfrm>
          <a:prstGeom prst="rect">
            <a:avLst/>
          </a:prstGeom>
          <a:solidFill>
            <a:srgbClr val="F2F2F2"/>
          </a:solidFill>
          <a:ln/>
        </p:spPr>
      </p:sp>
      <p:sp>
        <p:nvSpPr>
          <p:cNvPr id="34" name="Shape 22"/>
          <p:cNvSpPr/>
          <p:nvPr/>
        </p:nvSpPr>
        <p:spPr>
          <a:xfrm>
            <a:off x="7816469" y="-889"/>
            <a:ext cx="4114800" cy="962660"/>
          </a:xfrm>
          <a:prstGeom prst="rect">
            <a:avLst/>
          </a:prstGeom>
          <a:solidFill>
            <a:srgbClr val="F2F2F2"/>
          </a:solidFill>
          <a:ln/>
        </p:spPr>
      </p:sp>
      <p:sp>
        <p:nvSpPr>
          <p:cNvPr id="35" name="Shape 23"/>
          <p:cNvSpPr/>
          <p:nvPr/>
        </p:nvSpPr>
        <p:spPr>
          <a:xfrm>
            <a:off x="11971020" y="0"/>
            <a:ext cx="4284980" cy="961771"/>
          </a:xfrm>
          <a:prstGeom prst="rect">
            <a:avLst/>
          </a:prstGeom>
          <a:solidFill>
            <a:srgbClr val="F2F2F2"/>
          </a:solidFill>
          <a:ln/>
        </p:spPr>
      </p:sp>
      <p:sp>
        <p:nvSpPr>
          <p:cNvPr id="36" name="Shape 24"/>
          <p:cNvSpPr/>
          <p:nvPr/>
        </p:nvSpPr>
        <p:spPr>
          <a:xfrm>
            <a:off x="2219960" y="-889"/>
            <a:ext cx="2895600" cy="962660"/>
          </a:xfrm>
          <a:prstGeom prst="rect">
            <a:avLst/>
          </a:prstGeom>
          <a:solidFill>
            <a:srgbClr val="04579A"/>
          </a:solidFill>
          <a:ln w="12700">
            <a:solidFill>
              <a:srgbClr val="04579A"/>
            </a:solidFill>
            <a:prstDash val="solid"/>
          </a:ln>
        </p:spPr>
      </p:sp>
      <p:sp>
        <p:nvSpPr>
          <p:cNvPr id="37" name="Text 25"/>
          <p:cNvSpPr/>
          <p:nvPr/>
        </p:nvSpPr>
        <p:spPr>
          <a:xfrm>
            <a:off x="2283460" y="203200"/>
            <a:ext cx="2768600" cy="508000"/>
          </a:xfrm>
          <a:prstGeom prst="rect">
            <a:avLst/>
          </a:prstGeom>
          <a:noFill/>
          <a:ln/>
        </p:spPr>
        <p:txBody>
          <a:bodyPr wrap="none" lIns="0" tIns="0" rIns="0" bIns="0" rtlCol="0" anchor="ctr"/>
          <a:lstStyle/>
          <a:p>
            <a:pPr algn="ctr">
              <a:lnSpc>
                <a:spcPct val="120000"/>
              </a:lnSpc>
            </a:pPr>
            <a:r>
              <a:rPr lang="en-US" sz="2000" dirty="0">
                <a:solidFill>
                  <a:srgbClr val="FFFFFF"/>
                </a:solidFill>
                <a:latin typeface="Arial" pitchFamily="34" charset="0"/>
                <a:ea typeface="Arial" pitchFamily="34" charset="-122"/>
                <a:cs typeface="Arial" pitchFamily="34" charset="-120"/>
              </a:rPr>
              <a:t>选题背景及意义</a:t>
            </a:r>
            <a:endParaRPr lang="en-US" sz="2000" dirty="0"/>
          </a:p>
        </p:txBody>
      </p:sp>
      <p:sp>
        <p:nvSpPr>
          <p:cNvPr id="38" name="Text 26"/>
          <p:cNvSpPr/>
          <p:nvPr/>
        </p:nvSpPr>
        <p:spPr>
          <a:xfrm>
            <a:off x="5225669" y="203200"/>
            <a:ext cx="24638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国内外研究现状</a:t>
            </a:r>
            <a:endParaRPr lang="en-US" sz="2000" dirty="0"/>
          </a:p>
        </p:txBody>
      </p:sp>
      <p:sp>
        <p:nvSpPr>
          <p:cNvPr id="39" name="Text 27"/>
          <p:cNvSpPr/>
          <p:nvPr/>
        </p:nvSpPr>
        <p:spPr>
          <a:xfrm>
            <a:off x="7879969" y="203200"/>
            <a:ext cx="39878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主要研究内容及预期目标</a:t>
            </a:r>
            <a:endParaRPr lang="en-US" sz="2000" dirty="0"/>
          </a:p>
        </p:txBody>
      </p:sp>
      <p:sp>
        <p:nvSpPr>
          <p:cNvPr id="40" name="Text 28"/>
          <p:cNvSpPr/>
          <p:nvPr/>
        </p:nvSpPr>
        <p:spPr>
          <a:xfrm>
            <a:off x="12034520" y="203200"/>
            <a:ext cx="415798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工作计划与进度安排</a:t>
            </a:r>
            <a:endParaRPr lang="en-US" sz="2000" dirty="0"/>
          </a:p>
        </p:txBody>
      </p:sp>
      <p:pic>
        <p:nvPicPr>
          <p:cNvPr id="41" name="Image 9" descr="https://kimi-img.moonshot.cn/pub/slides/okc/flfuysioo4gzm/mnt/agents/output/yuan_pptd/images/image_2.jpg">    </p:cNvPr>
          <p:cNvPicPr>
            <a:picLocks noChangeAspect="1"/>
          </p:cNvPicPr>
          <p:nvPr/>
        </p:nvPicPr>
        <p:blipFill>
          <a:blip r:embed="rId10"/>
          <a:srcRect l="5060" r="29000" t="0" b="0"/>
          <a:stretch/>
        </p:blipFill>
        <p:spPr>
          <a:xfrm>
            <a:off x="544449" y="140589"/>
            <a:ext cx="1273429" cy="745871"/>
          </a:xfrm>
          <a:prstGeom prst="rect">
            <a:avLst/>
          </a:prstGeom>
        </p:spPr>
      </p:pic>
      <p:sp>
        <p:nvSpPr>
          <p:cNvPr id="42" name="Shape 29"/>
          <p:cNvSpPr/>
          <p:nvPr/>
        </p:nvSpPr>
        <p:spPr>
          <a:xfrm rot="10800000">
            <a:off x="3496691" y="961771"/>
            <a:ext cx="389509" cy="304800"/>
          </a:xfrm>
          <a:prstGeom prst="triangle">
            <a:avLst>
              <a:gd name="adj" fmla="val 50000"/>
            </a:avLst>
          </a:prstGeom>
          <a:solidFill>
            <a:srgbClr val="04579A"/>
          </a:solidFill>
          <a:ln/>
        </p:spPr>
      </p:sp>
      <p:sp>
        <p:nvSpPr>
          <p:cNvPr id="43" name="Text 30"/>
          <p:cNvSpPr/>
          <p:nvPr/>
        </p:nvSpPr>
        <p:spPr>
          <a:xfrm>
            <a:off x="544449" y="1266571"/>
            <a:ext cx="14303629" cy="665480"/>
          </a:xfrm>
          <a:prstGeom prst="rect">
            <a:avLst/>
          </a:prstGeom>
          <a:noFill/>
          <a:ln/>
        </p:spPr>
        <p:txBody>
          <a:bodyPr wrap="square" lIns="0" tIns="0" rIns="0" bIns="0" rtlCol="0" anchor="t"/>
          <a:lstStyle/>
          <a:p>
            <a:pPr algn="l" marL="423863" indent="-423863">
              <a:lnSpc>
                <a:spcPct val="150000"/>
              </a:lnSpc>
              <a:spcBef>
                <a:spcPts val="10"/>
              </a:spcBef>
              <a:buSzPct val="100000"/>
              <a:buFont typeface="+mj-lt"/>
              <a:buAutoNum type="arabicPeriod" startAt="1"/>
            </a:pPr>
            <a:r>
              <a:rPr lang="en-US" sz="2670" dirty="0">
                <a:solidFill>
                  <a:srgbClr val="3F3F3F"/>
                </a:solidFill>
                <a:latin typeface="Arial" pitchFamily="34" charset="0"/>
                <a:ea typeface="Arial" pitchFamily="34" charset="-122"/>
                <a:cs typeface="Arial" pitchFamily="34" charset="-120"/>
              </a:rPr>
              <a:t>现实网络环境对分布式数字资产交易协议的安全性和健壮性提出了更高的要求</a:t>
            </a:r>
            <a:endParaRPr lang="en-US" sz="2670" dirty="0"/>
          </a:p>
        </p:txBody>
      </p:sp>
      <p:sp>
        <p:nvSpPr>
          <p:cNvPr id="44" name="Text 31"/>
          <p:cNvSpPr/>
          <p:nvPr/>
        </p:nvSpPr>
        <p:spPr>
          <a:xfrm>
            <a:off x="15649067" y="8666353"/>
            <a:ext cx="606933" cy="492506"/>
          </a:xfrm>
          <a:prstGeom prst="rect">
            <a:avLst/>
          </a:prstGeom>
          <a:noFill/>
          <a:ln/>
        </p:spPr>
        <p:txBody>
          <a:bodyPr wrap="square" lIns="0" tIns="0" rIns="0" bIns="0" rtlCol="0" anchor="t"/>
          <a:lstStyle/>
          <a:p>
            <a:pPr algn="ctr">
              <a:lnSpc>
                <a:spcPct val="120000"/>
              </a:lnSpc>
            </a:pPr>
            <a:r>
              <a:rPr lang="en-US" sz="2400" dirty="0">
                <a:solidFill>
                  <a:srgbClr val="000000"/>
                </a:solidFill>
                <a:latin typeface="Arial" pitchFamily="34" charset="0"/>
                <a:ea typeface="Arial" pitchFamily="34" charset="-122"/>
                <a:cs typeface="Arial" pitchFamily="34" charset="-120"/>
              </a:rPr>
              <a:t>6</a:t>
            </a:r>
            <a:endParaRPr lang="en-US" sz="2400" dirty="0"/>
          </a:p>
        </p:txBody>
      </p:sp>
    </p:spTree>
  </p:cSld>
  <p:clrMapOvr>
    <a:masterClrMapping/>
  </p:clrMapOvr>
  <p:transition>
    <p:fade/>
    <p:spd val="med"/>
  </p:transition>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654431" y="5296281"/>
            <a:ext cx="14037691" cy="762889"/>
          </a:xfrm>
          <a:prstGeom prst="rect">
            <a:avLst/>
          </a:prstGeom>
          <a:solidFill>
            <a:srgbClr val="F2F2F2"/>
          </a:solidFill>
          <a:ln/>
        </p:spPr>
      </p:sp>
      <p:sp>
        <p:nvSpPr>
          <p:cNvPr id="4" name="Shape 1"/>
          <p:cNvSpPr/>
          <p:nvPr/>
        </p:nvSpPr>
        <p:spPr>
          <a:xfrm>
            <a:off x="654431" y="3809111"/>
            <a:ext cx="14037691" cy="762889"/>
          </a:xfrm>
          <a:prstGeom prst="rect">
            <a:avLst/>
          </a:prstGeom>
          <a:solidFill>
            <a:srgbClr val="F2F2F2"/>
          </a:solidFill>
          <a:ln/>
        </p:spPr>
      </p:sp>
      <p:sp>
        <p:nvSpPr>
          <p:cNvPr id="5" name="Shape 2"/>
          <p:cNvSpPr/>
          <p:nvPr/>
        </p:nvSpPr>
        <p:spPr>
          <a:xfrm>
            <a:off x="1358900" y="4713351"/>
            <a:ext cx="486029" cy="343789"/>
          </a:xfrm>
          <a:prstGeom prst="chevron">
            <a:avLst>
              <a:gd name="adj" fmla="val 50000"/>
            </a:avLst>
          </a:prstGeom>
          <a:solidFill>
            <a:srgbClr val="04579A"/>
          </a:solidFill>
          <a:ln w="12700">
            <a:solidFill>
              <a:srgbClr val="304B73"/>
            </a:solidFill>
            <a:prstDash val="solid"/>
          </a:ln>
        </p:spPr>
      </p:sp>
      <p:sp>
        <p:nvSpPr>
          <p:cNvPr id="6" name="Text 3"/>
          <p:cNvSpPr/>
          <p:nvPr/>
        </p:nvSpPr>
        <p:spPr>
          <a:xfrm>
            <a:off x="643509" y="1196340"/>
            <a:ext cx="14772640" cy="531749"/>
          </a:xfrm>
          <a:prstGeom prst="rect">
            <a:avLst/>
          </a:prstGeom>
          <a:noFill/>
          <a:ln/>
        </p:spPr>
        <p:txBody>
          <a:bodyPr wrap="square" lIns="0" tIns="0" rIns="0" bIns="0" rtlCol="0" anchor="t"/>
          <a:lstStyle/>
          <a:p>
            <a:pPr algn="l">
              <a:lnSpc>
                <a:spcPct val="120000"/>
              </a:lnSpc>
            </a:pPr>
            <a:r>
              <a:rPr lang="en-US" sz="2670" dirty="0">
                <a:solidFill>
                  <a:srgbClr val="000000"/>
                </a:solidFill>
                <a:latin typeface="Arial" pitchFamily="34" charset="0"/>
                <a:ea typeface="Arial" pitchFamily="34" charset="-122"/>
                <a:cs typeface="Arial" pitchFamily="34" charset="-120"/>
              </a:rPr>
              <a:t>数字资产市场为区块链提供了新的</a:t>
            </a:r>
            <a:pPr algn="l">
              <a:lnSpc>
                <a:spcPct val="120000"/>
              </a:lnSpc>
            </a:pPr>
            <a:r>
              <a:rPr lang="en-US" sz="2670" b="1" dirty="0">
                <a:solidFill>
                  <a:srgbClr val="04579A"/>
                </a:solidFill>
                <a:latin typeface="Arial" pitchFamily="34" charset="0"/>
                <a:ea typeface="Arial" pitchFamily="34" charset="-122"/>
                <a:cs typeface="Arial" pitchFamily="34" charset="-120"/>
              </a:rPr>
              <a:t>应用方向</a:t>
            </a:r>
            <a:pPr algn="l">
              <a:lnSpc>
                <a:spcPct val="120000"/>
              </a:lnSpc>
            </a:pPr>
            <a:r>
              <a:rPr lang="en-US" sz="2670" dirty="0">
                <a:solidFill>
                  <a:srgbClr val="000000"/>
                </a:solidFill>
                <a:latin typeface="Arial" pitchFamily="34" charset="0"/>
                <a:ea typeface="Arial" pitchFamily="34" charset="-122"/>
                <a:cs typeface="Arial" pitchFamily="34" charset="-120"/>
              </a:rPr>
              <a:t>，但同时也带来了新的</a:t>
            </a:r>
            <a:pPr algn="l">
              <a:lnSpc>
                <a:spcPct val="120000"/>
              </a:lnSpc>
            </a:pPr>
            <a:r>
              <a:rPr lang="en-US" sz="2670" b="1" dirty="0">
                <a:solidFill>
                  <a:srgbClr val="04579A"/>
                </a:solidFill>
                <a:latin typeface="Arial" pitchFamily="34" charset="0"/>
                <a:ea typeface="Arial" pitchFamily="34" charset="-122"/>
                <a:cs typeface="Arial" pitchFamily="34" charset="-120"/>
              </a:rPr>
              <a:t>技术需求</a:t>
            </a:r>
            <a:pPr algn="l">
              <a:lnSpc>
                <a:spcPct val="120000"/>
              </a:lnSpc>
            </a:pPr>
            <a:r>
              <a:rPr lang="en-US" sz="2670" dirty="0">
                <a:solidFill>
                  <a:srgbClr val="000000"/>
                </a:solidFill>
                <a:latin typeface="Arial" pitchFamily="34" charset="0"/>
                <a:ea typeface="Arial" pitchFamily="34" charset="-122"/>
                <a:cs typeface="Arial" pitchFamily="34" charset="-120"/>
              </a:rPr>
              <a:t>：</a:t>
            </a:r>
            <a:endParaRPr lang="en-US" sz="2670" dirty="0"/>
          </a:p>
        </p:txBody>
      </p:sp>
      <p:sp>
        <p:nvSpPr>
          <p:cNvPr id="7" name="Shape 4"/>
          <p:cNvSpPr/>
          <p:nvPr/>
        </p:nvSpPr>
        <p:spPr>
          <a:xfrm>
            <a:off x="2219960" y="0"/>
            <a:ext cx="2895600" cy="962660"/>
          </a:xfrm>
          <a:prstGeom prst="rect">
            <a:avLst/>
          </a:prstGeom>
          <a:solidFill>
            <a:srgbClr val="F2F2F2"/>
          </a:solidFill>
          <a:ln w="12700">
            <a:solidFill>
              <a:srgbClr val="F2F2F2"/>
            </a:solidFill>
            <a:prstDash val="solid"/>
          </a:ln>
        </p:spPr>
      </p:sp>
      <p:sp>
        <p:nvSpPr>
          <p:cNvPr id="8" name="Shape 5"/>
          <p:cNvSpPr/>
          <p:nvPr/>
        </p:nvSpPr>
        <p:spPr>
          <a:xfrm>
            <a:off x="5162169" y="-889"/>
            <a:ext cx="2590800" cy="962660"/>
          </a:xfrm>
          <a:prstGeom prst="rect">
            <a:avLst/>
          </a:prstGeom>
          <a:solidFill>
            <a:srgbClr val="F2F2F2"/>
          </a:solidFill>
          <a:ln/>
        </p:spPr>
      </p:sp>
      <p:sp>
        <p:nvSpPr>
          <p:cNvPr id="9" name="Shape 6"/>
          <p:cNvSpPr/>
          <p:nvPr/>
        </p:nvSpPr>
        <p:spPr>
          <a:xfrm>
            <a:off x="7816469" y="-889"/>
            <a:ext cx="4114800" cy="962660"/>
          </a:xfrm>
          <a:prstGeom prst="rect">
            <a:avLst/>
          </a:prstGeom>
          <a:solidFill>
            <a:srgbClr val="F2F2F2"/>
          </a:solidFill>
          <a:ln/>
        </p:spPr>
      </p:sp>
      <p:sp>
        <p:nvSpPr>
          <p:cNvPr id="10" name="Shape 7"/>
          <p:cNvSpPr/>
          <p:nvPr/>
        </p:nvSpPr>
        <p:spPr>
          <a:xfrm>
            <a:off x="11971020" y="0"/>
            <a:ext cx="4284980" cy="961771"/>
          </a:xfrm>
          <a:prstGeom prst="rect">
            <a:avLst/>
          </a:prstGeom>
          <a:solidFill>
            <a:srgbClr val="F2F2F2"/>
          </a:solidFill>
          <a:ln/>
        </p:spPr>
      </p:sp>
      <p:sp>
        <p:nvSpPr>
          <p:cNvPr id="11" name="Shape 8"/>
          <p:cNvSpPr/>
          <p:nvPr/>
        </p:nvSpPr>
        <p:spPr>
          <a:xfrm>
            <a:off x="2219960" y="-889"/>
            <a:ext cx="2895600" cy="962660"/>
          </a:xfrm>
          <a:prstGeom prst="rect">
            <a:avLst/>
          </a:prstGeom>
          <a:solidFill>
            <a:srgbClr val="04579A"/>
          </a:solidFill>
          <a:ln w="12700">
            <a:solidFill>
              <a:srgbClr val="04579A"/>
            </a:solidFill>
            <a:prstDash val="solid"/>
          </a:ln>
        </p:spPr>
      </p:sp>
      <p:sp>
        <p:nvSpPr>
          <p:cNvPr id="12" name="Text 9"/>
          <p:cNvSpPr/>
          <p:nvPr/>
        </p:nvSpPr>
        <p:spPr>
          <a:xfrm>
            <a:off x="2283460" y="203200"/>
            <a:ext cx="2768600" cy="508000"/>
          </a:xfrm>
          <a:prstGeom prst="rect">
            <a:avLst/>
          </a:prstGeom>
          <a:noFill/>
          <a:ln/>
        </p:spPr>
        <p:txBody>
          <a:bodyPr wrap="none" lIns="0" tIns="0" rIns="0" bIns="0" rtlCol="0" anchor="ctr"/>
          <a:lstStyle/>
          <a:p>
            <a:pPr algn="ctr">
              <a:lnSpc>
                <a:spcPct val="120000"/>
              </a:lnSpc>
            </a:pPr>
            <a:r>
              <a:rPr lang="en-US" sz="2000" dirty="0">
                <a:solidFill>
                  <a:srgbClr val="FFFFFF"/>
                </a:solidFill>
                <a:latin typeface="Arial" pitchFamily="34" charset="0"/>
                <a:ea typeface="Arial" pitchFamily="34" charset="-122"/>
                <a:cs typeface="Arial" pitchFamily="34" charset="-120"/>
              </a:rPr>
              <a:t>选题背景及意义</a:t>
            </a:r>
            <a:endParaRPr lang="en-US" sz="2000" dirty="0"/>
          </a:p>
        </p:txBody>
      </p:sp>
      <p:sp>
        <p:nvSpPr>
          <p:cNvPr id="13" name="Text 10"/>
          <p:cNvSpPr/>
          <p:nvPr/>
        </p:nvSpPr>
        <p:spPr>
          <a:xfrm>
            <a:off x="5225669" y="203200"/>
            <a:ext cx="24638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国内外研究现状</a:t>
            </a:r>
            <a:endParaRPr lang="en-US" sz="2000" dirty="0"/>
          </a:p>
        </p:txBody>
      </p:sp>
      <p:sp>
        <p:nvSpPr>
          <p:cNvPr id="14" name="Text 11"/>
          <p:cNvSpPr/>
          <p:nvPr/>
        </p:nvSpPr>
        <p:spPr>
          <a:xfrm>
            <a:off x="7879969" y="203200"/>
            <a:ext cx="39878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主要研究内容及预期目标</a:t>
            </a:r>
            <a:endParaRPr lang="en-US" sz="2000" dirty="0"/>
          </a:p>
        </p:txBody>
      </p:sp>
      <p:sp>
        <p:nvSpPr>
          <p:cNvPr id="15" name="Text 12"/>
          <p:cNvSpPr/>
          <p:nvPr/>
        </p:nvSpPr>
        <p:spPr>
          <a:xfrm>
            <a:off x="12034520" y="203200"/>
            <a:ext cx="415798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工作计划与进度安排</a:t>
            </a:r>
            <a:endParaRPr lang="en-US" sz="2000" dirty="0"/>
          </a:p>
        </p:txBody>
      </p:sp>
      <p:pic>
        <p:nvPicPr>
          <p:cNvPr id="16" name="Image 0" descr="https://kimi-img.moonshot.cn/pub/slides/okc/flfuysioo4gzm/mnt/agents/output/yuan_pptd/images/image_2.jpg">    </p:cNvPr>
          <p:cNvPicPr>
            <a:picLocks noChangeAspect="1"/>
          </p:cNvPicPr>
          <p:nvPr/>
        </p:nvPicPr>
        <p:blipFill>
          <a:blip r:embed="rId1"/>
          <a:srcRect l="5060" r="29000" t="0" b="0"/>
          <a:stretch/>
        </p:blipFill>
        <p:spPr>
          <a:xfrm>
            <a:off x="544449" y="140589"/>
            <a:ext cx="1273429" cy="745871"/>
          </a:xfrm>
          <a:prstGeom prst="rect">
            <a:avLst/>
          </a:prstGeom>
        </p:spPr>
      </p:pic>
      <p:sp>
        <p:nvSpPr>
          <p:cNvPr id="17" name="Shape 13"/>
          <p:cNvSpPr/>
          <p:nvPr/>
        </p:nvSpPr>
        <p:spPr>
          <a:xfrm rot="10800000">
            <a:off x="3496691" y="961771"/>
            <a:ext cx="389509" cy="304800"/>
          </a:xfrm>
          <a:prstGeom prst="triangle">
            <a:avLst>
              <a:gd name="adj" fmla="val 50000"/>
            </a:avLst>
          </a:prstGeom>
          <a:solidFill>
            <a:srgbClr val="04579A"/>
          </a:solidFill>
          <a:ln/>
        </p:spPr>
      </p:sp>
      <p:sp>
        <p:nvSpPr>
          <p:cNvPr id="18" name="Shape 14"/>
          <p:cNvSpPr/>
          <p:nvPr/>
        </p:nvSpPr>
        <p:spPr>
          <a:xfrm>
            <a:off x="643509" y="2236089"/>
            <a:ext cx="14037691" cy="762889"/>
          </a:xfrm>
          <a:prstGeom prst="rect">
            <a:avLst/>
          </a:prstGeom>
          <a:solidFill>
            <a:srgbClr val="F2F2F2"/>
          </a:solidFill>
          <a:ln/>
        </p:spPr>
      </p:sp>
      <p:sp>
        <p:nvSpPr>
          <p:cNvPr id="19" name="Text 15"/>
          <p:cNvSpPr/>
          <p:nvPr/>
        </p:nvSpPr>
        <p:spPr>
          <a:xfrm>
            <a:off x="742569" y="2218309"/>
            <a:ext cx="14771751" cy="5243449"/>
          </a:xfrm>
          <a:prstGeom prst="rect">
            <a:avLst/>
          </a:prstGeom>
          <a:noFill/>
          <a:ln/>
        </p:spPr>
        <p:txBody>
          <a:bodyPr wrap="square" lIns="0" tIns="0" rIns="0" bIns="0" rtlCol="0" anchor="t"/>
          <a:lstStyle/>
          <a:p>
            <a:pPr algn="l" marL="423863" indent="-423863">
              <a:lnSpc>
                <a:spcPct val="150000"/>
              </a:lnSpc>
              <a:spcBef>
                <a:spcPts val="10"/>
              </a:spcBef>
              <a:buSzPct val="100000"/>
              <a:buFont typeface="+mj-lt"/>
              <a:buAutoNum type="arabicPeriod" startAt="1"/>
            </a:pPr>
            <a:r>
              <a:rPr lang="en-US" sz="2670" dirty="0">
                <a:solidFill>
                  <a:srgbClr val="262626"/>
                </a:solidFill>
                <a:latin typeface="Arial" pitchFamily="34" charset="0"/>
                <a:ea typeface="Arial" pitchFamily="34" charset="-122"/>
                <a:cs typeface="Arial" pitchFamily="34" charset="-120"/>
              </a:rPr>
              <a:t>现实网络环境对分布式数字资产交易协议的安全性和健壮性提出了更高的要求</a:t>
            </a:r>
            <a:endParaRPr lang="en-US" sz="2670" dirty="0"/>
          </a:p>
          <a:p>
            <a:pPr algn="l">
              <a:lnSpc>
                <a:spcPct val="150000"/>
              </a:lnSpc>
            </a:pPr>
            <a:r>
              <a:rPr lang="en-US" sz="3200" b="1" dirty="0">
                <a:solidFill>
                  <a:srgbClr val="04579A"/>
                </a:solidFill>
                <a:latin typeface="Arial" pitchFamily="34" charset="0"/>
                <a:ea typeface="Arial" pitchFamily="34" charset="-122"/>
                <a:cs typeface="Arial" pitchFamily="34" charset="-120"/>
              </a:rPr>
              <a:t>分布式数字资产交易协议需要去除可信假设，建立更强的安全模型</a:t>
            </a:r>
            <a:endParaRPr lang="en-US" sz="2670" dirty="0"/>
          </a:p>
          <a:p>
            <a:pPr algn="l" marL="423863" indent="-423863">
              <a:lnSpc>
                <a:spcPct val="150000"/>
              </a:lnSpc>
              <a:spcBef>
                <a:spcPts val="10"/>
              </a:spcBef>
              <a:buSzPct val="100000"/>
              <a:buFont typeface="+mj-lt"/>
              <a:buAutoNum type="arabicPeriod" startAt="1"/>
            </a:pPr>
            <a:r>
              <a:rPr lang="en-US" sz="2670" dirty="0">
                <a:solidFill>
                  <a:srgbClr val="262626"/>
                </a:solidFill>
                <a:latin typeface="Arial" pitchFamily="34" charset="0"/>
                <a:ea typeface="Arial" pitchFamily="34" charset="-122"/>
                <a:cs typeface="Arial" pitchFamily="34" charset="-120"/>
              </a:rPr>
              <a:t>大规模、高并发的交易场景要求分布式数字资产交易协议具有可扩展性</a:t>
            </a:r>
            <a:endParaRPr lang="en-US" sz="2670" dirty="0"/>
          </a:p>
          <a:p>
            <a:pPr algn="l">
              <a:lnSpc>
                <a:spcPct val="150000"/>
              </a:lnSpc>
            </a:pPr>
            <a:r>
              <a:rPr lang="en-US" sz="3200" b="1" dirty="0">
                <a:solidFill>
                  <a:srgbClr val="04579A"/>
                </a:solidFill>
                <a:latin typeface="Arial" pitchFamily="34" charset="0"/>
                <a:ea typeface="Arial" pitchFamily="34" charset="-122"/>
                <a:cs typeface="Arial" pitchFamily="34" charset="-120"/>
              </a:rPr>
              <a:t>分布式数字资产交易协议需要高性能的链下方案构造</a:t>
            </a:r>
            <a:endParaRPr lang="en-US" sz="2670" dirty="0"/>
          </a:p>
          <a:p>
            <a:pPr algn="l" marL="423863" indent="-423863">
              <a:lnSpc>
                <a:spcPct val="150000"/>
              </a:lnSpc>
              <a:spcBef>
                <a:spcPts val="10"/>
              </a:spcBef>
              <a:buSzPct val="100000"/>
              <a:buFont typeface="+mj-lt"/>
              <a:buAutoNum type="arabicPeriod" startAt="1"/>
            </a:pPr>
            <a:r>
              <a:rPr lang="en-US" sz="2670" dirty="0">
                <a:solidFill>
                  <a:srgbClr val="F2F2F2"/>
                </a:solidFill>
                <a:latin typeface="Arial" pitchFamily="34" charset="0"/>
                <a:ea typeface="Arial" pitchFamily="34" charset="-122"/>
                <a:cs typeface="Arial" pitchFamily="34" charset="-120"/>
              </a:rPr>
              <a:t>异构区块链系统间的互联互通要求分布式数字资产交易协议具有互操作性</a:t>
            </a:r>
            <a:endParaRPr lang="en-US" sz="2670" dirty="0"/>
          </a:p>
          <a:p>
            <a:pPr algn="l">
              <a:lnSpc>
                <a:spcPct val="150000"/>
              </a:lnSpc>
            </a:pPr>
            <a:r>
              <a:rPr lang="en-US" sz="3200" b="1" dirty="0">
                <a:solidFill>
                  <a:srgbClr val="F2F2F2"/>
                </a:solidFill>
                <a:latin typeface="Arial" pitchFamily="34" charset="0"/>
                <a:ea typeface="Arial" pitchFamily="34" charset="-122"/>
                <a:cs typeface="Arial" pitchFamily="34" charset="-120"/>
              </a:rPr>
              <a:t>分布式数字资产交易协议需要高效的跨链证明协议</a:t>
            </a:r>
            <a:endParaRPr lang="en-US" sz="2670" dirty="0"/>
          </a:p>
          <a:p>
            <a:pPr algn="l">
              <a:lnSpc>
                <a:spcPct val="150000"/>
              </a:lnSpc>
            </a:pPr>
            <a:r>
              <a:rPr lang="en-US" sz="2670" dirty="0">
                <a:solidFill>
                  <a:srgbClr val="262626"/>
                </a:solidFill>
                <a:latin typeface="Arial" pitchFamily="34" charset="0"/>
                <a:ea typeface="Arial" pitchFamily="34" charset="-122"/>
                <a:cs typeface="Arial" pitchFamily="34" charset="-120"/>
              </a:rPr>
              <a:t> </a:t>
            </a:r>
            <a:endParaRPr lang="en-US" sz="2670" dirty="0"/>
          </a:p>
        </p:txBody>
      </p:sp>
      <p:sp>
        <p:nvSpPr>
          <p:cNvPr id="20" name="Shape 16"/>
          <p:cNvSpPr/>
          <p:nvPr/>
        </p:nvSpPr>
        <p:spPr>
          <a:xfrm>
            <a:off x="1358900" y="3120009"/>
            <a:ext cx="486029" cy="343789"/>
          </a:xfrm>
          <a:prstGeom prst="chevron">
            <a:avLst>
              <a:gd name="adj" fmla="val 50000"/>
            </a:avLst>
          </a:prstGeom>
          <a:solidFill>
            <a:srgbClr val="04579A"/>
          </a:solidFill>
          <a:ln w="12700">
            <a:solidFill>
              <a:srgbClr val="304B73"/>
            </a:solidFill>
            <a:prstDash val="solid"/>
          </a:ln>
        </p:spPr>
      </p:sp>
      <p:sp>
        <p:nvSpPr>
          <p:cNvPr id="21" name="Text 17"/>
          <p:cNvSpPr/>
          <p:nvPr/>
        </p:nvSpPr>
        <p:spPr>
          <a:xfrm>
            <a:off x="15649067" y="8666353"/>
            <a:ext cx="606933" cy="492506"/>
          </a:xfrm>
          <a:prstGeom prst="rect">
            <a:avLst/>
          </a:prstGeom>
          <a:noFill/>
          <a:ln/>
        </p:spPr>
        <p:txBody>
          <a:bodyPr wrap="square" lIns="0" tIns="0" rIns="0" bIns="0" rtlCol="0" anchor="t"/>
          <a:lstStyle/>
          <a:p>
            <a:pPr algn="ctr">
              <a:lnSpc>
                <a:spcPct val="120000"/>
              </a:lnSpc>
            </a:pPr>
            <a:r>
              <a:rPr lang="en-US" sz="2400" dirty="0">
                <a:solidFill>
                  <a:srgbClr val="000000"/>
                </a:solidFill>
                <a:latin typeface="Arial" pitchFamily="34" charset="0"/>
                <a:ea typeface="Arial" pitchFamily="34" charset="-122"/>
                <a:cs typeface="Arial" pitchFamily="34" charset="-120"/>
              </a:rPr>
              <a:t>7</a:t>
            </a:r>
            <a:endParaRPr lang="en-US" sz="2400" dirty="0"/>
          </a:p>
        </p:txBody>
      </p:sp>
    </p:spTree>
  </p:cSld>
  <p:clrMapOvr>
    <a:masterClrMapping/>
  </p:clrMapOvr>
  <p:transition>
    <p:fade/>
    <p:spd val="med"/>
  </p:transition>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4449" y="1266571"/>
            <a:ext cx="14303629" cy="665480"/>
          </a:xfrm>
          <a:prstGeom prst="rect">
            <a:avLst/>
          </a:prstGeom>
          <a:noFill/>
          <a:ln/>
        </p:spPr>
        <p:txBody>
          <a:bodyPr wrap="square" lIns="0" tIns="0" rIns="0" bIns="0" rtlCol="0" anchor="t"/>
          <a:lstStyle/>
          <a:p>
            <a:pPr algn="l" marL="423863" indent="-423863">
              <a:lnSpc>
                <a:spcPct val="150000"/>
              </a:lnSpc>
              <a:spcBef>
                <a:spcPts val="10"/>
              </a:spcBef>
              <a:buSzPct val="100000"/>
              <a:buFont typeface="+mj-lt"/>
              <a:buAutoNum type="arabicPeriod" startAt="1"/>
            </a:pPr>
            <a:r>
              <a:rPr lang="en-US" sz="2670" dirty="0">
                <a:solidFill>
                  <a:srgbClr val="3F3F3F"/>
                </a:solidFill>
                <a:latin typeface="Arial" pitchFamily="34" charset="0"/>
                <a:ea typeface="Arial" pitchFamily="34" charset="-122"/>
                <a:cs typeface="Arial" pitchFamily="34" charset="-120"/>
              </a:rPr>
              <a:t>大规模、高并发的交易场景要求分布式数字资产交易协议具有可扩展性</a:t>
            </a:r>
            <a:endParaRPr lang="en-US" sz="2670" dirty="0"/>
          </a:p>
        </p:txBody>
      </p:sp>
      <p:sp>
        <p:nvSpPr>
          <p:cNvPr id="4" name="Shape 1"/>
          <p:cNvSpPr/>
          <p:nvPr/>
        </p:nvSpPr>
        <p:spPr>
          <a:xfrm>
            <a:off x="2219960" y="0"/>
            <a:ext cx="2895600" cy="962660"/>
          </a:xfrm>
          <a:prstGeom prst="rect">
            <a:avLst/>
          </a:prstGeom>
          <a:solidFill>
            <a:srgbClr val="F2F2F2"/>
          </a:solidFill>
          <a:ln w="12700">
            <a:solidFill>
              <a:srgbClr val="F2F2F2"/>
            </a:solidFill>
            <a:prstDash val="solid"/>
          </a:ln>
        </p:spPr>
      </p:sp>
      <p:sp>
        <p:nvSpPr>
          <p:cNvPr id="5" name="Shape 2"/>
          <p:cNvSpPr/>
          <p:nvPr/>
        </p:nvSpPr>
        <p:spPr>
          <a:xfrm>
            <a:off x="5162169" y="-889"/>
            <a:ext cx="2590800" cy="962660"/>
          </a:xfrm>
          <a:prstGeom prst="rect">
            <a:avLst/>
          </a:prstGeom>
          <a:solidFill>
            <a:srgbClr val="F2F2F2"/>
          </a:solidFill>
          <a:ln/>
        </p:spPr>
      </p:sp>
      <p:sp>
        <p:nvSpPr>
          <p:cNvPr id="6" name="Shape 3"/>
          <p:cNvSpPr/>
          <p:nvPr/>
        </p:nvSpPr>
        <p:spPr>
          <a:xfrm>
            <a:off x="7816469" y="-889"/>
            <a:ext cx="4114800" cy="962660"/>
          </a:xfrm>
          <a:prstGeom prst="rect">
            <a:avLst/>
          </a:prstGeom>
          <a:solidFill>
            <a:srgbClr val="F2F2F2"/>
          </a:solidFill>
          <a:ln/>
        </p:spPr>
      </p:sp>
      <p:sp>
        <p:nvSpPr>
          <p:cNvPr id="7" name="Shape 4"/>
          <p:cNvSpPr/>
          <p:nvPr/>
        </p:nvSpPr>
        <p:spPr>
          <a:xfrm>
            <a:off x="11971020" y="0"/>
            <a:ext cx="4284980" cy="961771"/>
          </a:xfrm>
          <a:prstGeom prst="rect">
            <a:avLst/>
          </a:prstGeom>
          <a:solidFill>
            <a:srgbClr val="F2F2F2"/>
          </a:solidFill>
          <a:ln/>
        </p:spPr>
      </p:sp>
      <p:sp>
        <p:nvSpPr>
          <p:cNvPr id="8" name="Shape 5"/>
          <p:cNvSpPr/>
          <p:nvPr/>
        </p:nvSpPr>
        <p:spPr>
          <a:xfrm>
            <a:off x="2219960" y="-889"/>
            <a:ext cx="2895600" cy="962660"/>
          </a:xfrm>
          <a:prstGeom prst="rect">
            <a:avLst/>
          </a:prstGeom>
          <a:solidFill>
            <a:srgbClr val="04579A"/>
          </a:solidFill>
          <a:ln w="12700">
            <a:solidFill>
              <a:srgbClr val="04579A"/>
            </a:solidFill>
            <a:prstDash val="solid"/>
          </a:ln>
        </p:spPr>
      </p:sp>
      <p:sp>
        <p:nvSpPr>
          <p:cNvPr id="9" name="Text 6"/>
          <p:cNvSpPr/>
          <p:nvPr/>
        </p:nvSpPr>
        <p:spPr>
          <a:xfrm>
            <a:off x="2283460" y="203200"/>
            <a:ext cx="2768600" cy="508000"/>
          </a:xfrm>
          <a:prstGeom prst="rect">
            <a:avLst/>
          </a:prstGeom>
          <a:noFill/>
          <a:ln/>
        </p:spPr>
        <p:txBody>
          <a:bodyPr wrap="none" lIns="0" tIns="0" rIns="0" bIns="0" rtlCol="0" anchor="ctr"/>
          <a:lstStyle/>
          <a:p>
            <a:pPr algn="ctr">
              <a:lnSpc>
                <a:spcPct val="120000"/>
              </a:lnSpc>
            </a:pPr>
            <a:r>
              <a:rPr lang="en-US" sz="2000" dirty="0">
                <a:solidFill>
                  <a:srgbClr val="FFFFFF"/>
                </a:solidFill>
                <a:latin typeface="Arial" pitchFamily="34" charset="0"/>
                <a:ea typeface="Arial" pitchFamily="34" charset="-122"/>
                <a:cs typeface="Arial" pitchFamily="34" charset="-120"/>
              </a:rPr>
              <a:t>选题背景及意义</a:t>
            </a:r>
            <a:endParaRPr lang="en-US" sz="2000" dirty="0"/>
          </a:p>
        </p:txBody>
      </p:sp>
      <p:sp>
        <p:nvSpPr>
          <p:cNvPr id="10" name="Text 7"/>
          <p:cNvSpPr/>
          <p:nvPr/>
        </p:nvSpPr>
        <p:spPr>
          <a:xfrm>
            <a:off x="5225669" y="203200"/>
            <a:ext cx="24638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国内外研究现状</a:t>
            </a:r>
            <a:endParaRPr lang="en-US" sz="2000" dirty="0"/>
          </a:p>
        </p:txBody>
      </p:sp>
      <p:sp>
        <p:nvSpPr>
          <p:cNvPr id="11" name="Text 8"/>
          <p:cNvSpPr/>
          <p:nvPr/>
        </p:nvSpPr>
        <p:spPr>
          <a:xfrm>
            <a:off x="7879969" y="203200"/>
            <a:ext cx="39878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主要研究内容及预期目标</a:t>
            </a:r>
            <a:endParaRPr lang="en-US" sz="2000" dirty="0"/>
          </a:p>
        </p:txBody>
      </p:sp>
      <p:sp>
        <p:nvSpPr>
          <p:cNvPr id="12" name="Text 9"/>
          <p:cNvSpPr/>
          <p:nvPr/>
        </p:nvSpPr>
        <p:spPr>
          <a:xfrm>
            <a:off x="12034520" y="203200"/>
            <a:ext cx="415798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工作计划与进度安排</a:t>
            </a:r>
            <a:endParaRPr lang="en-US" sz="2000" dirty="0"/>
          </a:p>
        </p:txBody>
      </p:sp>
      <p:pic>
        <p:nvPicPr>
          <p:cNvPr id="13" name="Image 0" descr="https://kimi-img.moonshot.cn/pub/slides/okc/flfuysioo4gzm/mnt/agents/output/yuan_pptd/images/image_21.jpg">    </p:cNvPr>
          <p:cNvPicPr>
            <a:picLocks noChangeAspect="1"/>
          </p:cNvPicPr>
          <p:nvPr/>
        </p:nvPicPr>
        <p:blipFill>
          <a:blip r:embed="rId1"/>
          <a:srcRect l="5060" r="29000" t="0" b="0"/>
          <a:stretch/>
        </p:blipFill>
        <p:spPr>
          <a:xfrm>
            <a:off x="544449" y="140589"/>
            <a:ext cx="1273429" cy="745871"/>
          </a:xfrm>
          <a:prstGeom prst="rect">
            <a:avLst/>
          </a:prstGeom>
        </p:spPr>
      </p:pic>
      <p:sp>
        <p:nvSpPr>
          <p:cNvPr id="14" name="Shape 10"/>
          <p:cNvSpPr/>
          <p:nvPr/>
        </p:nvSpPr>
        <p:spPr>
          <a:xfrm rot="10800000">
            <a:off x="3496691" y="961771"/>
            <a:ext cx="389509" cy="304800"/>
          </a:xfrm>
          <a:prstGeom prst="triangle">
            <a:avLst>
              <a:gd name="adj" fmla="val 50000"/>
            </a:avLst>
          </a:prstGeom>
          <a:solidFill>
            <a:srgbClr val="04579A"/>
          </a:solidFill>
          <a:ln/>
        </p:spPr>
      </p:sp>
      <p:pic>
        <p:nvPicPr>
          <p:cNvPr id="15" name="Image 1" descr="https://kimi-img.moonshot.cn/pub/slides/okc/flfuysioo4gzm/mnt/agents/output/yuan_pptd/images/image_22.png">    </p:cNvPr>
          <p:cNvPicPr>
            <a:picLocks noChangeAspect="1"/>
          </p:cNvPicPr>
          <p:nvPr/>
        </p:nvPicPr>
        <p:blipFill>
          <a:blip r:embed="rId2"/>
          <a:srcRect l="0" r="0" t="7000" b="7000"/>
          <a:stretch/>
        </p:blipFill>
        <p:spPr>
          <a:xfrm>
            <a:off x="2850515" y="2640330"/>
            <a:ext cx="3750437" cy="2873248"/>
          </a:xfrm>
          <a:prstGeom prst="rect">
            <a:avLst/>
          </a:prstGeom>
        </p:spPr>
      </p:pic>
      <p:sp>
        <p:nvSpPr>
          <p:cNvPr id="16" name="Shape 11"/>
          <p:cNvSpPr/>
          <p:nvPr/>
        </p:nvSpPr>
        <p:spPr>
          <a:xfrm>
            <a:off x="2850515" y="5513578"/>
            <a:ext cx="3750437" cy="746252"/>
          </a:xfrm>
          <a:prstGeom prst="plaque">
            <a:avLst>
              <a:gd name="adj" fmla="val 18633"/>
            </a:avLst>
          </a:prstGeom>
          <a:gradFill rotWithShape="1" flip="none">
            <a:gsLst>
              <a:gs pos="0">
                <a:srgbClr val="9FBFF0"/>
              </a:gs>
              <a:gs pos="60000">
                <a:srgbClr val="005C8F"/>
              </a:gs>
              <a:gs pos="100000">
                <a:srgbClr val="005C8F"/>
              </a:gs>
            </a:gsLst>
            <a:lin ang="2700000" scaled="1"/>
          </a:gradFill>
          <a:ln/>
          <a:effectLst>
            <a:outerShdw sx="100000" sy="100000" kx="0" ky="0" algn="bl" rotWithShape="0" blurRad="76200" dist="50800" dir="60000">
              <a:srgbClr val="6096e6">
                <a:alpha val="20000"/>
              </a:srgbClr>
            </a:outerShdw>
          </a:effectLst>
        </p:spPr>
      </p:sp>
      <p:sp>
        <p:nvSpPr>
          <p:cNvPr id="17" name="Text 12"/>
          <p:cNvSpPr/>
          <p:nvPr/>
        </p:nvSpPr>
        <p:spPr>
          <a:xfrm>
            <a:off x="2850515" y="5513578"/>
            <a:ext cx="3750437" cy="746252"/>
          </a:xfrm>
          <a:prstGeom prst="rect">
            <a:avLst/>
          </a:prstGeom>
          <a:noFill/>
          <a:ln/>
        </p:spPr>
        <p:txBody>
          <a:bodyPr wrap="none" lIns="0" tIns="0" rIns="0" bIns="0" rtlCol="0" anchor="ctr"/>
          <a:lstStyle/>
          <a:p>
            <a:pPr algn="ctr">
              <a:lnSpc>
                <a:spcPct val="120000"/>
              </a:lnSpc>
            </a:pPr>
            <a:r>
              <a:rPr lang="en-US" sz="2400" b="1" dirty="0">
                <a:solidFill>
                  <a:srgbClr val="FFFFFF"/>
                </a:solidFill>
                <a:latin typeface="Arial" pitchFamily="34" charset="0"/>
                <a:ea typeface="Arial" pitchFamily="34" charset="-122"/>
                <a:cs typeface="Arial" pitchFamily="34" charset="-120"/>
              </a:rPr>
              <a:t>传统金融机构（</a:t>
            </a:r>
            <a:pPr algn="ctr">
              <a:lnSpc>
                <a:spcPct val="120000"/>
              </a:lnSpc>
            </a:pPr>
            <a:r>
              <a:rPr lang="en-US" sz="2400" b="1" dirty="0">
                <a:solidFill>
                  <a:srgbClr val="FFFFFF"/>
                </a:solidFill>
                <a:latin typeface="Arial" pitchFamily="34" charset="0"/>
                <a:ea typeface="Arial" pitchFamily="34" charset="-122"/>
                <a:cs typeface="Arial" pitchFamily="34" charset="-120"/>
              </a:rPr>
              <a:t>Visa</a:t>
            </a:r>
            <a:pPr algn="ctr">
              <a:lnSpc>
                <a:spcPct val="120000"/>
              </a:lnSpc>
            </a:pPr>
            <a:r>
              <a:rPr lang="en-US" sz="2400" b="1" dirty="0">
                <a:solidFill>
                  <a:srgbClr val="FFFFFF"/>
                </a:solidFill>
                <a:latin typeface="Arial" pitchFamily="34" charset="0"/>
                <a:ea typeface="Arial" pitchFamily="34" charset="-122"/>
                <a:cs typeface="Arial" pitchFamily="34" charset="-120"/>
              </a:rPr>
              <a:t>）</a:t>
            </a:r>
            <a:endParaRPr lang="en-US" sz="2400" dirty="0"/>
          </a:p>
        </p:txBody>
      </p:sp>
      <p:sp>
        <p:nvSpPr>
          <p:cNvPr id="18" name="Shape 13"/>
          <p:cNvSpPr/>
          <p:nvPr/>
        </p:nvSpPr>
        <p:spPr>
          <a:xfrm>
            <a:off x="2419858" y="6200140"/>
            <a:ext cx="4611751" cy="1046988"/>
          </a:xfrm>
          <a:prstGeom prst="rect">
            <a:avLst/>
          </a:prstGeom>
          <a:noFill/>
          <a:ln/>
        </p:spPr>
      </p:sp>
      <p:sp>
        <p:nvSpPr>
          <p:cNvPr id="19" name="Text 14"/>
          <p:cNvSpPr/>
          <p:nvPr/>
        </p:nvSpPr>
        <p:spPr>
          <a:xfrm>
            <a:off x="2441956" y="6283198"/>
            <a:ext cx="4567555" cy="880872"/>
          </a:xfrm>
          <a:prstGeom prst="rect">
            <a:avLst/>
          </a:prstGeom>
          <a:noFill/>
          <a:ln/>
        </p:spPr>
        <p:txBody>
          <a:bodyPr wrap="square" lIns="0" tIns="0" rIns="0" bIns="0" rtlCol="0" anchor="t"/>
          <a:lstStyle/>
          <a:p>
            <a:pPr algn="ctr">
              <a:lnSpc>
                <a:spcPct val="130000"/>
              </a:lnSpc>
            </a:pPr>
            <a:r>
              <a:rPr lang="en-US" sz="2400" dirty="0">
                <a:solidFill>
                  <a:srgbClr val="000000"/>
                </a:solidFill>
                <a:latin typeface="Arial" pitchFamily="34" charset="0"/>
                <a:ea typeface="Arial" pitchFamily="34" charset="-122"/>
                <a:cs typeface="Arial" pitchFamily="34" charset="-120"/>
              </a:rPr>
              <a:t>每秒处理峰值超4万笔交易</a:t>
            </a:r>
            <a:endParaRPr lang="en-US" sz="2400" dirty="0"/>
          </a:p>
          <a:p>
            <a:pPr algn="ctr">
              <a:lnSpc>
                <a:spcPct val="130000"/>
              </a:lnSpc>
            </a:pPr>
            <a:r>
              <a:rPr lang="en-US" sz="2400" dirty="0">
                <a:solidFill>
                  <a:srgbClr val="000000"/>
                </a:solidFill>
                <a:latin typeface="Arial" pitchFamily="34" charset="0"/>
                <a:ea typeface="Arial" pitchFamily="34" charset="-122"/>
                <a:cs typeface="Arial" pitchFamily="34" charset="-120"/>
              </a:rPr>
              <a:t>每笔交易确认延时为毫秒级</a:t>
            </a:r>
            <a:endParaRPr lang="en-US" sz="2400" dirty="0"/>
          </a:p>
        </p:txBody>
      </p:sp>
      <p:pic>
        <p:nvPicPr>
          <p:cNvPr id="20" name="Image 2" descr="https://kimi-img.moonshot.cn/pub/slides/okc/flfuysioo4gzm/mnt/agents/output/yuan_pptd/images/image_23.png">    </p:cNvPr>
          <p:cNvPicPr>
            <a:picLocks noChangeAspect="1"/>
          </p:cNvPicPr>
          <p:nvPr/>
        </p:nvPicPr>
        <p:blipFill>
          <a:blip r:embed="rId3"/>
          <a:srcRect l="50" r="50" t="0" b="0"/>
          <a:stretch/>
        </p:blipFill>
        <p:spPr>
          <a:xfrm>
            <a:off x="9655048" y="2640330"/>
            <a:ext cx="3750437" cy="2873248"/>
          </a:xfrm>
          <a:prstGeom prst="rect">
            <a:avLst/>
          </a:prstGeom>
        </p:spPr>
      </p:pic>
      <p:sp>
        <p:nvSpPr>
          <p:cNvPr id="21" name="Shape 15"/>
          <p:cNvSpPr/>
          <p:nvPr/>
        </p:nvSpPr>
        <p:spPr>
          <a:xfrm>
            <a:off x="9655048" y="5513578"/>
            <a:ext cx="3750437" cy="746252"/>
          </a:xfrm>
          <a:prstGeom prst="plaque">
            <a:avLst>
              <a:gd name="adj" fmla="val 18633"/>
            </a:avLst>
          </a:prstGeom>
          <a:gradFill rotWithShape="1" flip="none">
            <a:gsLst>
              <a:gs pos="0">
                <a:srgbClr val="9FBFF0"/>
              </a:gs>
              <a:gs pos="60000">
                <a:srgbClr val="005C8F"/>
              </a:gs>
              <a:gs pos="100000">
                <a:srgbClr val="005C8F"/>
              </a:gs>
            </a:gsLst>
            <a:lin ang="2700000" scaled="1"/>
          </a:gradFill>
          <a:ln/>
          <a:effectLst>
            <a:outerShdw sx="100000" sy="100000" kx="0" ky="0" algn="bl" rotWithShape="0" blurRad="76200" dist="50800" dir="60000">
              <a:srgbClr val="6096e6">
                <a:alpha val="20000"/>
              </a:srgbClr>
            </a:outerShdw>
          </a:effectLst>
        </p:spPr>
      </p:sp>
      <p:sp>
        <p:nvSpPr>
          <p:cNvPr id="22" name="Text 16"/>
          <p:cNvSpPr/>
          <p:nvPr/>
        </p:nvSpPr>
        <p:spPr>
          <a:xfrm>
            <a:off x="9655048" y="5513578"/>
            <a:ext cx="3750437" cy="746252"/>
          </a:xfrm>
          <a:prstGeom prst="rect">
            <a:avLst/>
          </a:prstGeom>
          <a:noFill/>
          <a:ln/>
        </p:spPr>
        <p:txBody>
          <a:bodyPr wrap="none" lIns="0" tIns="0" rIns="0" bIns="0" rtlCol="0" anchor="ctr"/>
          <a:lstStyle/>
          <a:p>
            <a:pPr algn="ctr">
              <a:lnSpc>
                <a:spcPct val="120000"/>
              </a:lnSpc>
            </a:pPr>
            <a:r>
              <a:rPr lang="en-US" sz="2400" b="1" dirty="0">
                <a:solidFill>
                  <a:srgbClr val="FFFFFF"/>
                </a:solidFill>
                <a:latin typeface="Arial" pitchFamily="34" charset="0"/>
                <a:ea typeface="Arial" pitchFamily="34" charset="-122"/>
                <a:cs typeface="Arial" pitchFamily="34" charset="-120"/>
              </a:rPr>
              <a:t>区块链交易（比特币）</a:t>
            </a:r>
            <a:endParaRPr lang="en-US" sz="2400" dirty="0"/>
          </a:p>
        </p:txBody>
      </p:sp>
      <p:sp>
        <p:nvSpPr>
          <p:cNvPr id="23" name="Shape 17"/>
          <p:cNvSpPr/>
          <p:nvPr/>
        </p:nvSpPr>
        <p:spPr>
          <a:xfrm>
            <a:off x="9224391" y="6200140"/>
            <a:ext cx="4611751" cy="1046988"/>
          </a:xfrm>
          <a:prstGeom prst="rect">
            <a:avLst/>
          </a:prstGeom>
          <a:noFill/>
          <a:ln/>
        </p:spPr>
      </p:sp>
      <p:sp>
        <p:nvSpPr>
          <p:cNvPr id="24" name="Text 18"/>
          <p:cNvSpPr/>
          <p:nvPr/>
        </p:nvSpPr>
        <p:spPr>
          <a:xfrm>
            <a:off x="9246489" y="6283198"/>
            <a:ext cx="4567555" cy="880872"/>
          </a:xfrm>
          <a:prstGeom prst="rect">
            <a:avLst/>
          </a:prstGeom>
          <a:noFill/>
          <a:ln/>
        </p:spPr>
        <p:txBody>
          <a:bodyPr wrap="square" lIns="0" tIns="0" rIns="0" bIns="0" rtlCol="0" anchor="t"/>
          <a:lstStyle/>
          <a:p>
            <a:pPr algn="ctr">
              <a:lnSpc>
                <a:spcPct val="130000"/>
              </a:lnSpc>
            </a:pPr>
            <a:r>
              <a:rPr lang="en-US" sz="2400" dirty="0">
                <a:solidFill>
                  <a:srgbClr val="000000"/>
                </a:solidFill>
                <a:latin typeface="Arial" pitchFamily="34" charset="0"/>
                <a:ea typeface="Arial" pitchFamily="34" charset="-122"/>
                <a:cs typeface="Arial" pitchFamily="34" charset="-120"/>
              </a:rPr>
              <a:t>每秒处理峰值7-10笔交易</a:t>
            </a:r>
            <a:endParaRPr lang="en-US" sz="2400" dirty="0"/>
          </a:p>
          <a:p>
            <a:pPr algn="ctr">
              <a:lnSpc>
                <a:spcPct val="130000"/>
              </a:lnSpc>
            </a:pPr>
            <a:r>
              <a:rPr lang="en-US" sz="2400" dirty="0">
                <a:solidFill>
                  <a:srgbClr val="000000"/>
                </a:solidFill>
                <a:latin typeface="Arial" pitchFamily="34" charset="0"/>
                <a:ea typeface="Arial" pitchFamily="34" charset="-122"/>
                <a:cs typeface="Arial" pitchFamily="34" charset="-120"/>
              </a:rPr>
              <a:t>每笔交易确认延时约1小时</a:t>
            </a:r>
            <a:endParaRPr lang="en-US" sz="2400" dirty="0"/>
          </a:p>
        </p:txBody>
      </p:sp>
      <p:sp>
        <p:nvSpPr>
          <p:cNvPr id="25" name="Text 19"/>
          <p:cNvSpPr/>
          <p:nvPr/>
        </p:nvSpPr>
        <p:spPr>
          <a:xfrm>
            <a:off x="15649067" y="8666353"/>
            <a:ext cx="606933" cy="492506"/>
          </a:xfrm>
          <a:prstGeom prst="rect">
            <a:avLst/>
          </a:prstGeom>
          <a:noFill/>
          <a:ln/>
        </p:spPr>
        <p:txBody>
          <a:bodyPr wrap="square" lIns="0" tIns="0" rIns="0" bIns="0" rtlCol="0" anchor="t"/>
          <a:lstStyle/>
          <a:p>
            <a:pPr algn="ctr">
              <a:lnSpc>
                <a:spcPct val="120000"/>
              </a:lnSpc>
            </a:pPr>
            <a:r>
              <a:rPr lang="en-US" sz="2400" dirty="0">
                <a:solidFill>
                  <a:srgbClr val="000000"/>
                </a:solidFill>
                <a:latin typeface="Arial" pitchFamily="34" charset="0"/>
                <a:ea typeface="Arial" pitchFamily="34" charset="-122"/>
                <a:cs typeface="Arial" pitchFamily="34" charset="-120"/>
              </a:rPr>
              <a:t>8</a:t>
            </a:r>
            <a:endParaRPr lang="en-US" sz="2400" dirty="0"/>
          </a:p>
        </p:txBody>
      </p:sp>
    </p:spTree>
  </p:cSld>
  <p:clrMapOvr>
    <a:masterClrMapping/>
  </p:clrMapOvr>
  <p:transition>
    <p:fade/>
    <p:spd val="med"/>
  </p:transition>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2219960" y="0"/>
            <a:ext cx="2895600" cy="962660"/>
          </a:xfrm>
          <a:prstGeom prst="rect">
            <a:avLst/>
          </a:prstGeom>
          <a:solidFill>
            <a:srgbClr val="F2F2F2"/>
          </a:solidFill>
          <a:ln w="12700">
            <a:solidFill>
              <a:srgbClr val="F2F2F2"/>
            </a:solidFill>
            <a:prstDash val="solid"/>
          </a:ln>
        </p:spPr>
      </p:sp>
      <p:sp>
        <p:nvSpPr>
          <p:cNvPr id="4" name="Shape 1"/>
          <p:cNvSpPr/>
          <p:nvPr/>
        </p:nvSpPr>
        <p:spPr>
          <a:xfrm>
            <a:off x="5162169" y="-889"/>
            <a:ext cx="2590800" cy="962660"/>
          </a:xfrm>
          <a:prstGeom prst="rect">
            <a:avLst/>
          </a:prstGeom>
          <a:solidFill>
            <a:srgbClr val="F2F2F2"/>
          </a:solidFill>
          <a:ln/>
        </p:spPr>
      </p:sp>
      <p:sp>
        <p:nvSpPr>
          <p:cNvPr id="5" name="Shape 2"/>
          <p:cNvSpPr/>
          <p:nvPr/>
        </p:nvSpPr>
        <p:spPr>
          <a:xfrm>
            <a:off x="7816469" y="-889"/>
            <a:ext cx="4114800" cy="962660"/>
          </a:xfrm>
          <a:prstGeom prst="rect">
            <a:avLst/>
          </a:prstGeom>
          <a:solidFill>
            <a:srgbClr val="F2F2F2"/>
          </a:solidFill>
          <a:ln/>
        </p:spPr>
      </p:sp>
      <p:sp>
        <p:nvSpPr>
          <p:cNvPr id="6" name="Shape 3"/>
          <p:cNvSpPr/>
          <p:nvPr/>
        </p:nvSpPr>
        <p:spPr>
          <a:xfrm>
            <a:off x="11971020" y="0"/>
            <a:ext cx="4284980" cy="961771"/>
          </a:xfrm>
          <a:prstGeom prst="rect">
            <a:avLst/>
          </a:prstGeom>
          <a:solidFill>
            <a:srgbClr val="F2F2F2"/>
          </a:solidFill>
          <a:ln/>
        </p:spPr>
      </p:sp>
      <p:sp>
        <p:nvSpPr>
          <p:cNvPr id="7" name="Shape 4"/>
          <p:cNvSpPr/>
          <p:nvPr/>
        </p:nvSpPr>
        <p:spPr>
          <a:xfrm>
            <a:off x="2219960" y="-889"/>
            <a:ext cx="2895600" cy="962660"/>
          </a:xfrm>
          <a:prstGeom prst="rect">
            <a:avLst/>
          </a:prstGeom>
          <a:solidFill>
            <a:srgbClr val="04579A"/>
          </a:solidFill>
          <a:ln w="12700">
            <a:solidFill>
              <a:srgbClr val="04579A"/>
            </a:solidFill>
            <a:prstDash val="solid"/>
          </a:ln>
        </p:spPr>
      </p:sp>
      <p:sp>
        <p:nvSpPr>
          <p:cNvPr id="8" name="Text 5"/>
          <p:cNvSpPr/>
          <p:nvPr/>
        </p:nvSpPr>
        <p:spPr>
          <a:xfrm>
            <a:off x="2283460" y="203200"/>
            <a:ext cx="2768600" cy="508000"/>
          </a:xfrm>
          <a:prstGeom prst="rect">
            <a:avLst/>
          </a:prstGeom>
          <a:noFill/>
          <a:ln/>
        </p:spPr>
        <p:txBody>
          <a:bodyPr wrap="none" lIns="0" tIns="0" rIns="0" bIns="0" rtlCol="0" anchor="ctr"/>
          <a:lstStyle/>
          <a:p>
            <a:pPr algn="ctr">
              <a:lnSpc>
                <a:spcPct val="120000"/>
              </a:lnSpc>
            </a:pPr>
            <a:r>
              <a:rPr lang="en-US" sz="2000" dirty="0">
                <a:solidFill>
                  <a:srgbClr val="FFFFFF"/>
                </a:solidFill>
                <a:latin typeface="Arial" pitchFamily="34" charset="0"/>
                <a:ea typeface="Arial" pitchFamily="34" charset="-122"/>
                <a:cs typeface="Arial" pitchFamily="34" charset="-120"/>
              </a:rPr>
              <a:t>选题背景及意义</a:t>
            </a:r>
            <a:endParaRPr lang="en-US" sz="2000" dirty="0"/>
          </a:p>
        </p:txBody>
      </p:sp>
      <p:sp>
        <p:nvSpPr>
          <p:cNvPr id="9" name="Text 6"/>
          <p:cNvSpPr/>
          <p:nvPr/>
        </p:nvSpPr>
        <p:spPr>
          <a:xfrm>
            <a:off x="5225669" y="203200"/>
            <a:ext cx="24638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国内外研究现状</a:t>
            </a:r>
            <a:endParaRPr lang="en-US" sz="2000" dirty="0"/>
          </a:p>
        </p:txBody>
      </p:sp>
      <p:sp>
        <p:nvSpPr>
          <p:cNvPr id="10" name="Text 7"/>
          <p:cNvSpPr/>
          <p:nvPr/>
        </p:nvSpPr>
        <p:spPr>
          <a:xfrm>
            <a:off x="7879969" y="203200"/>
            <a:ext cx="39878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主要研究内容及预期目标</a:t>
            </a:r>
            <a:endParaRPr lang="en-US" sz="2000" dirty="0"/>
          </a:p>
        </p:txBody>
      </p:sp>
      <p:sp>
        <p:nvSpPr>
          <p:cNvPr id="11" name="Text 8"/>
          <p:cNvSpPr/>
          <p:nvPr/>
        </p:nvSpPr>
        <p:spPr>
          <a:xfrm>
            <a:off x="12034520" y="203200"/>
            <a:ext cx="415798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工作计划与进度安排</a:t>
            </a:r>
            <a:endParaRPr lang="en-US" sz="2000" dirty="0"/>
          </a:p>
        </p:txBody>
      </p:sp>
      <p:pic>
        <p:nvPicPr>
          <p:cNvPr id="12" name="Image 0" descr="https://kimi-img.moonshot.cn/pub/slides/okc/flfuysioo4gzm/mnt/agents/output/yuan_pptd/images/image_21.jpg">    </p:cNvPr>
          <p:cNvPicPr>
            <a:picLocks noChangeAspect="1"/>
          </p:cNvPicPr>
          <p:nvPr/>
        </p:nvPicPr>
        <p:blipFill>
          <a:blip r:embed="rId1"/>
          <a:srcRect l="5060" r="29000" t="0" b="0"/>
          <a:stretch/>
        </p:blipFill>
        <p:spPr>
          <a:xfrm>
            <a:off x="544449" y="140589"/>
            <a:ext cx="1273429" cy="745871"/>
          </a:xfrm>
          <a:prstGeom prst="rect">
            <a:avLst/>
          </a:prstGeom>
        </p:spPr>
      </p:pic>
      <p:sp>
        <p:nvSpPr>
          <p:cNvPr id="13" name="Shape 9"/>
          <p:cNvSpPr/>
          <p:nvPr/>
        </p:nvSpPr>
        <p:spPr>
          <a:xfrm rot="10800000">
            <a:off x="3496691" y="961771"/>
            <a:ext cx="389509" cy="304800"/>
          </a:xfrm>
          <a:prstGeom prst="triangle">
            <a:avLst>
              <a:gd name="adj" fmla="val 50000"/>
            </a:avLst>
          </a:prstGeom>
          <a:solidFill>
            <a:srgbClr val="04579A"/>
          </a:solidFill>
          <a:ln/>
        </p:spPr>
      </p:sp>
      <p:pic>
        <p:nvPicPr>
          <p:cNvPr id="14" name="Image 1" descr="https://kimi-img.moonshot.cn/pub/slides/okc/flfuysioo4gzm/mnt/agents/output/yuan_pptd/images/image_24.png">    </p:cNvPr>
          <p:cNvPicPr>
            <a:picLocks noChangeAspect="1"/>
          </p:cNvPicPr>
          <p:nvPr/>
        </p:nvPicPr>
        <p:blipFill>
          <a:blip r:embed="rId2"/>
          <a:stretch>
            <a:fillRect/>
          </a:stretch>
        </p:blipFill>
        <p:spPr>
          <a:xfrm>
            <a:off x="7885049" y="2455164"/>
            <a:ext cx="6821932" cy="5398897"/>
          </a:xfrm>
          <a:prstGeom prst="rect">
            <a:avLst/>
          </a:prstGeom>
        </p:spPr>
      </p:pic>
      <p:sp>
        <p:nvSpPr>
          <p:cNvPr id="15" name="Text 10"/>
          <p:cNvSpPr/>
          <p:nvPr/>
        </p:nvSpPr>
        <p:spPr>
          <a:xfrm>
            <a:off x="7414133" y="2674239"/>
            <a:ext cx="941959" cy="615569"/>
          </a:xfrm>
          <a:prstGeom prst="rect">
            <a:avLst/>
          </a:prstGeom>
          <a:noFill/>
          <a:ln/>
        </p:spPr>
        <p:txBody>
          <a:bodyPr wrap="square" lIns="0" tIns="0" rIns="0" bIns="0" rtlCol="0" anchor="t"/>
          <a:lstStyle/>
          <a:p>
            <a:pPr algn="ctr">
              <a:lnSpc>
                <a:spcPct val="120000"/>
              </a:lnSpc>
            </a:pPr>
            <a:r>
              <a:rPr lang="en-US" sz="1600" dirty="0">
                <a:solidFill>
                  <a:srgbClr val="000000"/>
                </a:solidFill>
                <a:latin typeface="Arial" pitchFamily="34" charset="0"/>
                <a:ea typeface="Arial" pitchFamily="34" charset="-122"/>
                <a:cs typeface="Arial" pitchFamily="34" charset="-120"/>
              </a:rPr>
              <a:t>吞吐量(tx/s)</a:t>
            </a:r>
            <a:endParaRPr lang="en-US" sz="1600" dirty="0"/>
          </a:p>
        </p:txBody>
      </p:sp>
      <p:sp>
        <p:nvSpPr>
          <p:cNvPr id="16" name="Text 11"/>
          <p:cNvSpPr/>
          <p:nvPr/>
        </p:nvSpPr>
        <p:spPr>
          <a:xfrm>
            <a:off x="13441807" y="7727061"/>
            <a:ext cx="1831975" cy="369316"/>
          </a:xfrm>
          <a:prstGeom prst="rect">
            <a:avLst/>
          </a:prstGeom>
          <a:noFill/>
          <a:ln/>
        </p:spPr>
        <p:txBody>
          <a:bodyPr wrap="square" lIns="0" tIns="0" rIns="0" bIns="0" rtlCol="0" anchor="t"/>
          <a:lstStyle/>
          <a:p>
            <a:pPr algn="ctr">
              <a:lnSpc>
                <a:spcPct val="120000"/>
              </a:lnSpc>
            </a:pPr>
            <a:r>
              <a:rPr lang="en-US" sz="1600" dirty="0">
                <a:solidFill>
                  <a:srgbClr val="000000"/>
                </a:solidFill>
                <a:latin typeface="Arial" pitchFamily="34" charset="0"/>
                <a:ea typeface="Arial" pitchFamily="34" charset="-122"/>
                <a:cs typeface="Arial" pitchFamily="34" charset="-120"/>
              </a:rPr>
              <a:t>共识节点个数/个</a:t>
            </a:r>
            <a:endParaRPr lang="en-US" sz="1600" dirty="0"/>
          </a:p>
        </p:txBody>
      </p:sp>
      <p:sp>
        <p:nvSpPr>
          <p:cNvPr id="17" name="Shape 12"/>
          <p:cNvSpPr/>
          <p:nvPr/>
        </p:nvSpPr>
        <p:spPr>
          <a:xfrm>
            <a:off x="1011682" y="4833874"/>
            <a:ext cx="5498211" cy="2611120"/>
          </a:xfrm>
          <a:prstGeom prst="rect">
            <a:avLst/>
          </a:prstGeom>
          <a:solidFill>
            <a:srgbClr val="FFFFFF"/>
          </a:solidFill>
          <a:ln w="12700">
            <a:solidFill>
              <a:srgbClr val="3F3F3F"/>
            </a:solidFill>
            <a:prstDash val="solid"/>
          </a:ln>
        </p:spPr>
      </p:sp>
      <p:sp>
        <p:nvSpPr>
          <p:cNvPr id="18" name="Shape 13"/>
          <p:cNvSpPr/>
          <p:nvPr/>
        </p:nvSpPr>
        <p:spPr>
          <a:xfrm>
            <a:off x="995299" y="5186807"/>
            <a:ext cx="328930" cy="495935"/>
          </a:xfrm>
          <a:prstGeom prst="rect">
            <a:avLst/>
          </a:prstGeom>
          <a:solidFill>
            <a:srgbClr val="FFFFFF"/>
          </a:solidFill>
          <a:ln/>
        </p:spPr>
      </p:sp>
      <p:sp>
        <p:nvSpPr>
          <p:cNvPr id="19" name="Shape 14"/>
          <p:cNvSpPr/>
          <p:nvPr/>
        </p:nvSpPr>
        <p:spPr>
          <a:xfrm rot="10800000">
            <a:off x="753364" y="5186807"/>
            <a:ext cx="570865" cy="471551"/>
          </a:xfrm>
          <a:custGeom>
            <a:avLst/>
            <a:gdLst/>
            <a:ahLst/>
            <a:cxnLst/>
            <a:rect l="l" t="t" r="r" b="b"/>
            <a:pathLst>
              <a:path w="570865" h="471551">
                <a:moveTo>
                  <a:pt x="0" y="0"/>
                </a:moveTo>
                <a:lnTo>
                  <a:pt x="240319" y="0"/>
                </a:lnTo>
                <a:lnTo>
                  <a:pt x="240319" y="165636"/>
                </a:lnTo>
                <a:cubicBezTo>
                  <a:pt x="240319" y="233209"/>
                  <a:pt x="234190" y="286223"/>
                  <a:pt x="221932" y="324679"/>
                </a:cubicBezTo>
                <a:cubicBezTo>
                  <a:pt x="209674" y="363136"/>
                  <a:pt x="196926" y="388808"/>
                  <a:pt x="163572" y="419573"/>
                </a:cubicBezTo>
                <a:cubicBezTo>
                  <a:pt x="130218" y="450338"/>
                  <a:pt x="107075" y="459570"/>
                  <a:pt x="58117" y="471551"/>
                </a:cubicBezTo>
                <a:lnTo>
                  <a:pt x="23914" y="401251"/>
                </a:lnTo>
                <a:cubicBezTo>
                  <a:pt x="58117" y="388761"/>
                  <a:pt x="78955" y="383190"/>
                  <a:pt x="111093" y="351327"/>
                </a:cubicBezTo>
                <a:cubicBezTo>
                  <a:pt x="143232" y="319463"/>
                  <a:pt x="145603" y="288644"/>
                  <a:pt x="145603" y="262154"/>
                </a:cubicBezTo>
                <a:lnTo>
                  <a:pt x="0" y="262154"/>
                </a:lnTo>
                <a:close/>
                <a:moveTo>
                  <a:pt x="330546" y="0"/>
                </a:moveTo>
                <a:lnTo>
                  <a:pt x="570865" y="0"/>
                </a:lnTo>
                <a:lnTo>
                  <a:pt x="570865" y="165636"/>
                </a:lnTo>
                <a:cubicBezTo>
                  <a:pt x="570865" y="233209"/>
                  <a:pt x="564736" y="286223"/>
                  <a:pt x="552478" y="324679"/>
                </a:cubicBezTo>
                <a:cubicBezTo>
                  <a:pt x="540219" y="363136"/>
                  <a:pt x="527472" y="388808"/>
                  <a:pt x="494118" y="419573"/>
                </a:cubicBezTo>
                <a:cubicBezTo>
                  <a:pt x="460764" y="450338"/>
                  <a:pt x="437621" y="459570"/>
                  <a:pt x="388663" y="471551"/>
                </a:cubicBezTo>
                <a:lnTo>
                  <a:pt x="354460" y="401251"/>
                </a:lnTo>
                <a:cubicBezTo>
                  <a:pt x="388663" y="388761"/>
                  <a:pt x="409501" y="383190"/>
                  <a:pt x="441639" y="351327"/>
                </a:cubicBezTo>
                <a:cubicBezTo>
                  <a:pt x="473778" y="319463"/>
                  <a:pt x="476148" y="288644"/>
                  <a:pt x="476148" y="262154"/>
                </a:cubicBezTo>
                <a:lnTo>
                  <a:pt x="330546" y="262154"/>
                </a:lnTo>
                <a:close/>
              </a:path>
            </a:pathLst>
          </a:custGeom>
          <a:solidFill>
            <a:srgbClr val="005C8F"/>
          </a:solidFill>
          <a:ln/>
        </p:spPr>
      </p:sp>
      <p:sp>
        <p:nvSpPr>
          <p:cNvPr id="20" name="Text 15"/>
          <p:cNvSpPr/>
          <p:nvPr/>
        </p:nvSpPr>
        <p:spPr>
          <a:xfrm>
            <a:off x="1297305" y="5014214"/>
            <a:ext cx="5041265" cy="2052320"/>
          </a:xfrm>
          <a:prstGeom prst="rect">
            <a:avLst/>
          </a:prstGeom>
          <a:noFill/>
          <a:ln/>
        </p:spPr>
        <p:txBody>
          <a:bodyPr wrap="square" lIns="0" tIns="0" rIns="0" bIns="0" rtlCol="0" anchor="t"/>
          <a:lstStyle/>
          <a:p>
            <a:pPr algn="l">
              <a:lnSpc>
                <a:spcPct val="120000"/>
              </a:lnSpc>
              <a:spcBef>
                <a:spcPts val="1067"/>
              </a:spcBef>
            </a:pPr>
            <a:r>
              <a:rPr lang="en-US" sz="1870" spc="-65" kern="0" dirty="0">
                <a:solidFill>
                  <a:srgbClr val="000000"/>
                </a:solidFill>
                <a:latin typeface="MiSans" pitchFamily="34" charset="0"/>
                <a:ea typeface="MiSans" pitchFamily="34" charset="-122"/>
                <a:cs typeface="MiSans" pitchFamily="34" charset="-120"/>
              </a:rPr>
              <a:t>The blockchain scalability trilemma is a conjecture that states that </a:t>
            </a:r>
            <a:pPr algn="l">
              <a:lnSpc>
                <a:spcPct val="120000"/>
              </a:lnSpc>
              <a:spcBef>
                <a:spcPts val="1067"/>
              </a:spcBef>
            </a:pPr>
            <a:r>
              <a:rPr lang="en-US" sz="1870" b="1" spc="-65" kern="0" dirty="0">
                <a:solidFill>
                  <a:srgbClr val="5E74BA"/>
                </a:solidFill>
                <a:latin typeface="MiSans" pitchFamily="34" charset="0"/>
                <a:ea typeface="MiSans" pitchFamily="34" charset="-122"/>
                <a:cs typeface="MiSans" pitchFamily="34" charset="-120"/>
              </a:rPr>
              <a:t>no blockchain system can provide all properties simultaneously</a:t>
            </a:r>
            <a:pPr algn="l">
              <a:lnSpc>
                <a:spcPct val="120000"/>
              </a:lnSpc>
              <a:spcBef>
                <a:spcPts val="1067"/>
              </a:spcBef>
            </a:pPr>
            <a:r>
              <a:rPr lang="en-US" sz="1870" spc="-65" kern="0" dirty="0">
                <a:solidFill>
                  <a:srgbClr val="000000"/>
                </a:solidFill>
                <a:latin typeface="MiSans" pitchFamily="34" charset="0"/>
                <a:ea typeface="MiSans" pitchFamily="34" charset="-122"/>
                <a:cs typeface="MiSans" pitchFamily="34" charset="-120"/>
              </a:rPr>
              <a:t>. Consequently, every blockchain forfeits at least one property at any given time.</a:t>
            </a:r>
            <a:endParaRPr lang="en-US" sz="1870" dirty="0"/>
          </a:p>
        </p:txBody>
      </p:sp>
      <p:sp>
        <p:nvSpPr>
          <p:cNvPr id="21" name="Text 16"/>
          <p:cNvSpPr/>
          <p:nvPr/>
        </p:nvSpPr>
        <p:spPr>
          <a:xfrm>
            <a:off x="2991993" y="6880352"/>
            <a:ext cx="3007360" cy="438531"/>
          </a:xfrm>
          <a:prstGeom prst="rect">
            <a:avLst/>
          </a:prstGeom>
          <a:noFill/>
          <a:ln/>
        </p:spPr>
        <p:txBody>
          <a:bodyPr wrap="square" lIns="0" tIns="0" rIns="0" bIns="0" rtlCol="0" anchor="t"/>
          <a:lstStyle/>
          <a:p>
            <a:pPr algn="r">
              <a:lnSpc>
                <a:spcPct val="120000"/>
              </a:lnSpc>
              <a:spcBef>
                <a:spcPts val="1067"/>
              </a:spcBef>
            </a:pPr>
            <a:r>
              <a:rPr lang="en-US" sz="1870" dirty="0">
                <a:solidFill>
                  <a:srgbClr val="000000"/>
                </a:solidFill>
                <a:latin typeface="MiSans" pitchFamily="34" charset="0"/>
                <a:ea typeface="MiSans" pitchFamily="34" charset="-122"/>
                <a:cs typeface="MiSans" pitchFamily="34" charset="-120"/>
              </a:rPr>
              <a:t>——Vitalik Buterin. </a:t>
            </a:r>
            <a:endParaRPr lang="en-US" sz="1870" dirty="0"/>
          </a:p>
        </p:txBody>
      </p:sp>
      <p:sp>
        <p:nvSpPr>
          <p:cNvPr id="22" name="Text 17"/>
          <p:cNvSpPr/>
          <p:nvPr/>
        </p:nvSpPr>
        <p:spPr>
          <a:xfrm>
            <a:off x="831723" y="2125853"/>
            <a:ext cx="5498211" cy="492506"/>
          </a:xfrm>
          <a:prstGeom prst="rect">
            <a:avLst/>
          </a:prstGeom>
          <a:noFill/>
          <a:ln/>
        </p:spPr>
        <p:txBody>
          <a:bodyPr wrap="square" lIns="0" tIns="0" rIns="0" bIns="0" rtlCol="0" anchor="t"/>
          <a:lstStyle/>
          <a:p>
            <a:pPr algn="l">
              <a:lnSpc>
                <a:spcPct val="120000"/>
              </a:lnSpc>
            </a:pPr>
            <a:r>
              <a:rPr lang="en-US" sz="2400" b="1" dirty="0">
                <a:solidFill>
                  <a:srgbClr val="000000"/>
                </a:solidFill>
                <a:latin typeface="Arial" pitchFamily="34" charset="0"/>
                <a:ea typeface="Arial" pitchFamily="34" charset="-122"/>
                <a:cs typeface="Arial" pitchFamily="34" charset="-120"/>
              </a:rPr>
              <a:t>区块链可扩展性三元悖论</a:t>
            </a:r>
            <a:endParaRPr lang="en-US" sz="2400" dirty="0"/>
          </a:p>
        </p:txBody>
      </p:sp>
      <p:sp>
        <p:nvSpPr>
          <p:cNvPr id="23" name="Text 18"/>
          <p:cNvSpPr/>
          <p:nvPr/>
        </p:nvSpPr>
        <p:spPr>
          <a:xfrm>
            <a:off x="918337" y="2886964"/>
            <a:ext cx="5700141" cy="1600454"/>
          </a:xfrm>
          <a:prstGeom prst="rect">
            <a:avLst/>
          </a:prstGeom>
          <a:noFill/>
          <a:ln/>
        </p:spPr>
        <p:txBody>
          <a:bodyPr wrap="square" lIns="0" tIns="0" rIns="0" bIns="0" rtlCol="0" anchor="t"/>
          <a:lstStyle/>
          <a:p>
            <a:pPr algn="l">
              <a:lnSpc>
                <a:spcPct val="150000"/>
              </a:lnSpc>
            </a:pPr>
            <a:r>
              <a:rPr lang="en-US" sz="2400" dirty="0">
                <a:solidFill>
                  <a:srgbClr val="000000"/>
                </a:solidFill>
                <a:latin typeface="Arial" pitchFamily="34" charset="0"/>
                <a:ea typeface="Arial" pitchFamily="34" charset="-122"/>
                <a:cs typeface="Arial" pitchFamily="34" charset="-120"/>
              </a:rPr>
              <a:t>在保证安全性的前提下，</a:t>
            </a:r>
            <a:endParaRPr lang="en-US" sz="2400" dirty="0"/>
          </a:p>
          <a:p>
            <a:pPr algn="l">
              <a:lnSpc>
                <a:spcPct val="150000"/>
              </a:lnSpc>
            </a:pPr>
            <a:r>
              <a:rPr lang="en-US" sz="2400" dirty="0">
                <a:solidFill>
                  <a:srgbClr val="000000"/>
                </a:solidFill>
                <a:latin typeface="Arial" pitchFamily="34" charset="0"/>
                <a:ea typeface="Arial" pitchFamily="34" charset="-122"/>
                <a:cs typeface="Arial" pitchFamily="34" charset="-120"/>
              </a:rPr>
              <a:t>吞吐量           去中心化程度 </a:t>
            </a:r>
            <a:endParaRPr lang="en-US" sz="2400" dirty="0"/>
          </a:p>
          <a:p>
            <a:pPr algn="l">
              <a:lnSpc>
                <a:spcPct val="150000"/>
              </a:lnSpc>
            </a:pPr>
            <a:r>
              <a:rPr lang="en-US" sz="2400" dirty="0">
                <a:solidFill>
                  <a:srgbClr val="000000"/>
                </a:solidFill>
                <a:latin typeface="Arial" pitchFamily="34" charset="0"/>
                <a:ea typeface="Arial" pitchFamily="34" charset="-122"/>
                <a:cs typeface="Arial" pitchFamily="34" charset="-120"/>
              </a:rPr>
              <a:t>吞吐量           去中心化程度</a:t>
            </a:r>
            <a:endParaRPr lang="en-US" sz="2400" dirty="0"/>
          </a:p>
        </p:txBody>
      </p:sp>
      <p:sp>
        <p:nvSpPr>
          <p:cNvPr id="24" name="Shape 19"/>
          <p:cNvSpPr/>
          <p:nvPr/>
        </p:nvSpPr>
        <p:spPr>
          <a:xfrm>
            <a:off x="2219960" y="4126357"/>
            <a:ext cx="208280" cy="295529"/>
          </a:xfrm>
          <a:prstGeom prst="downArrow">
            <a:avLst>
              <a:gd name="adj1" fmla="val 50000"/>
              <a:gd name="adj2" fmla="val 50000"/>
            </a:avLst>
          </a:prstGeom>
          <a:solidFill>
            <a:srgbClr val="E9451F"/>
          </a:solidFill>
          <a:ln w="12700">
            <a:solidFill>
              <a:srgbClr val="0E1622"/>
            </a:solidFill>
            <a:prstDash val="solid"/>
          </a:ln>
        </p:spPr>
      </p:sp>
      <p:sp>
        <p:nvSpPr>
          <p:cNvPr id="25" name="Shape 20"/>
          <p:cNvSpPr/>
          <p:nvPr/>
        </p:nvSpPr>
        <p:spPr>
          <a:xfrm>
            <a:off x="5099050" y="3656965"/>
            <a:ext cx="208280" cy="295529"/>
          </a:xfrm>
          <a:prstGeom prst="downArrow">
            <a:avLst>
              <a:gd name="adj1" fmla="val 50000"/>
              <a:gd name="adj2" fmla="val 50000"/>
            </a:avLst>
          </a:prstGeom>
          <a:solidFill>
            <a:srgbClr val="E9451F"/>
          </a:solidFill>
          <a:ln w="12700">
            <a:solidFill>
              <a:srgbClr val="0E1622"/>
            </a:solidFill>
            <a:prstDash val="solid"/>
          </a:ln>
        </p:spPr>
      </p:sp>
      <p:sp>
        <p:nvSpPr>
          <p:cNvPr id="26" name="Shape 21"/>
          <p:cNvSpPr/>
          <p:nvPr/>
        </p:nvSpPr>
        <p:spPr>
          <a:xfrm rot="10800000">
            <a:off x="2219960" y="3656965"/>
            <a:ext cx="208280" cy="295529"/>
          </a:xfrm>
          <a:prstGeom prst="downArrow">
            <a:avLst>
              <a:gd name="adj1" fmla="val 50000"/>
              <a:gd name="adj2" fmla="val 50000"/>
            </a:avLst>
          </a:prstGeom>
          <a:solidFill>
            <a:srgbClr val="005C8F"/>
          </a:solidFill>
          <a:ln w="12700">
            <a:solidFill>
              <a:srgbClr val="0E1622"/>
            </a:solidFill>
            <a:prstDash val="solid"/>
          </a:ln>
        </p:spPr>
      </p:sp>
      <p:sp>
        <p:nvSpPr>
          <p:cNvPr id="27" name="Shape 22"/>
          <p:cNvSpPr/>
          <p:nvPr/>
        </p:nvSpPr>
        <p:spPr>
          <a:xfrm rot="10800000">
            <a:off x="5099050" y="4126357"/>
            <a:ext cx="208280" cy="295529"/>
          </a:xfrm>
          <a:prstGeom prst="downArrow">
            <a:avLst>
              <a:gd name="adj1" fmla="val 50000"/>
              <a:gd name="adj2" fmla="val 50000"/>
            </a:avLst>
          </a:prstGeom>
          <a:solidFill>
            <a:srgbClr val="005C8F"/>
          </a:solidFill>
          <a:ln w="12700">
            <a:solidFill>
              <a:srgbClr val="0E1622"/>
            </a:solidFill>
            <a:prstDash val="solid"/>
          </a:ln>
        </p:spPr>
      </p:sp>
      <p:sp>
        <p:nvSpPr>
          <p:cNvPr id="28" name="Text 23"/>
          <p:cNvSpPr/>
          <p:nvPr/>
        </p:nvSpPr>
        <p:spPr>
          <a:xfrm>
            <a:off x="544449" y="1266571"/>
            <a:ext cx="14303629" cy="665480"/>
          </a:xfrm>
          <a:prstGeom prst="rect">
            <a:avLst/>
          </a:prstGeom>
          <a:noFill/>
          <a:ln/>
        </p:spPr>
        <p:txBody>
          <a:bodyPr wrap="square" lIns="0" tIns="0" rIns="0" bIns="0" rtlCol="0" anchor="t"/>
          <a:lstStyle/>
          <a:p>
            <a:pPr algn="l" marL="423863" indent="-423863">
              <a:lnSpc>
                <a:spcPct val="150000"/>
              </a:lnSpc>
              <a:spcBef>
                <a:spcPts val="10"/>
              </a:spcBef>
              <a:buSzPct val="100000"/>
              <a:buFont typeface="+mj-lt"/>
              <a:buAutoNum type="arabicPeriod" startAt="1"/>
            </a:pPr>
            <a:r>
              <a:rPr lang="en-US" sz="2670" dirty="0">
                <a:solidFill>
                  <a:srgbClr val="3F3F3F"/>
                </a:solidFill>
                <a:latin typeface="Arial" pitchFamily="34" charset="0"/>
                <a:ea typeface="Arial" pitchFamily="34" charset="-122"/>
                <a:cs typeface="Arial" pitchFamily="34" charset="-120"/>
              </a:rPr>
              <a:t>大规模、高并发的交易场景要求分布式数字资产交易协议具有可扩展性</a:t>
            </a:r>
            <a:endParaRPr lang="en-US" sz="2670" dirty="0"/>
          </a:p>
        </p:txBody>
      </p:sp>
      <p:sp>
        <p:nvSpPr>
          <p:cNvPr id="29" name="Text 24"/>
          <p:cNvSpPr/>
          <p:nvPr/>
        </p:nvSpPr>
        <p:spPr>
          <a:xfrm>
            <a:off x="15649067" y="8666353"/>
            <a:ext cx="606933" cy="492506"/>
          </a:xfrm>
          <a:prstGeom prst="rect">
            <a:avLst/>
          </a:prstGeom>
          <a:noFill/>
          <a:ln/>
        </p:spPr>
        <p:txBody>
          <a:bodyPr wrap="square" lIns="0" tIns="0" rIns="0" bIns="0" rtlCol="0" anchor="t"/>
          <a:lstStyle/>
          <a:p>
            <a:pPr algn="ctr">
              <a:lnSpc>
                <a:spcPct val="120000"/>
              </a:lnSpc>
            </a:pPr>
            <a:r>
              <a:rPr lang="en-US" sz="2400" dirty="0">
                <a:solidFill>
                  <a:srgbClr val="000000"/>
                </a:solidFill>
                <a:latin typeface="Arial" pitchFamily="34" charset="0"/>
                <a:ea typeface="Arial" pitchFamily="34" charset="-122"/>
                <a:cs typeface="Arial" pitchFamily="34" charset="-120"/>
              </a:rPr>
              <a:t>9</a:t>
            </a:r>
            <a:endParaRPr lang="en-US" sz="2400" dirty="0"/>
          </a:p>
        </p:txBody>
      </p:sp>
    </p:spTree>
  </p:cSld>
  <p:clrMapOvr>
    <a:masterClrMapping/>
  </p:clrMapOvr>
  <p:transition>
    <p:fade/>
    <p:spd val="med"/>
  </p:transition>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9404477" y="2586101"/>
            <a:ext cx="1862709" cy="508000"/>
          </a:xfrm>
          <a:prstGeom prst="roundRect">
            <a:avLst>
              <a:gd name="adj" fmla="val 50000"/>
            </a:avLst>
          </a:prstGeom>
          <a:solidFill>
            <a:srgbClr val="04579A"/>
          </a:solidFill>
          <a:ln/>
        </p:spPr>
      </p:sp>
      <p:sp>
        <p:nvSpPr>
          <p:cNvPr id="4" name="Shape 1"/>
          <p:cNvSpPr/>
          <p:nvPr/>
        </p:nvSpPr>
        <p:spPr>
          <a:xfrm>
            <a:off x="6464046" y="2586990"/>
            <a:ext cx="1693291" cy="508000"/>
          </a:xfrm>
          <a:prstGeom prst="roundRect">
            <a:avLst>
              <a:gd name="adj" fmla="val 50000"/>
            </a:avLst>
          </a:prstGeom>
          <a:solidFill>
            <a:srgbClr val="04579A"/>
          </a:solidFill>
          <a:ln/>
        </p:spPr>
      </p:sp>
      <p:sp>
        <p:nvSpPr>
          <p:cNvPr id="5" name="Shape 2"/>
          <p:cNvSpPr/>
          <p:nvPr/>
        </p:nvSpPr>
        <p:spPr>
          <a:xfrm>
            <a:off x="4025646" y="2586101"/>
            <a:ext cx="1693291" cy="508000"/>
          </a:xfrm>
          <a:prstGeom prst="roundRect">
            <a:avLst>
              <a:gd name="adj" fmla="val 50000"/>
            </a:avLst>
          </a:prstGeom>
          <a:solidFill>
            <a:srgbClr val="04579A"/>
          </a:solidFill>
          <a:ln/>
        </p:spPr>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3924046" y="2509139"/>
          <a:ext cx="7891780" cy="2211451"/>
        </p:xfrm>
        <a:graphic>
          <a:graphicData uri="http://schemas.openxmlformats.org/drawingml/2006/table">
            <a:tbl>
              <a:tblPr/>
              <a:tblGrid>
                <a:gridCol w="1927173"/>
                <a:gridCol w="2994931"/>
                <a:gridCol w="2970466"/>
              </a:tblGrid>
              <a:tr h="678915">
                <a:tc>
                  <a:txBody>
                    <a:bodyPr/>
                    <a:lstStyle/>
                    <a:p>
                      <a:pPr algn="ctr"/>
                      <a:r>
                        <a:rPr lang="en-US" sz="2130" dirty="0">
                          <a:solidFill>
                            <a:srgbClr val="FFFFFF"/>
                          </a:solidFill>
                          <a:latin typeface="MiSans" pitchFamily="34" charset="0"/>
                          <a:ea typeface="MiSans" pitchFamily="34" charset="-122"/>
                          <a:cs typeface="MiSans" pitchFamily="34" charset="-120"/>
                        </a:rPr>
                        <a:t>层级</a:t>
                      </a:r>
                      <a:endParaRPr lang="en-US" sz="2130" dirty="0">
                        <a:latin typeface="MiSans" charset="0"/>
                        <a:ea typeface="MiSans" charset="0"/>
                        <a:cs typeface="MiSans" charset="0"/>
                      </a:endParaRPr>
                    </a:p>
                  </a:txBody>
                  <a:tcPr marL="54864" marR="548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sz="2130" dirty="0">
                          <a:solidFill>
                            <a:srgbClr val="FFFFFF"/>
                          </a:solidFill>
                          <a:latin typeface="MiSans" pitchFamily="34" charset="0"/>
                          <a:ea typeface="MiSans" pitchFamily="34" charset="-122"/>
                          <a:cs typeface="MiSans" pitchFamily="34" charset="-120"/>
                        </a:rPr>
                        <a:t>兼容性</a:t>
                      </a:r>
                      <a:endParaRPr lang="en-US" sz="2130" dirty="0">
                        <a:latin typeface="MiSans" charset="0"/>
                        <a:ea typeface="MiSans" charset="0"/>
                        <a:cs typeface="MiSans" charset="0"/>
                      </a:endParaRPr>
                    </a:p>
                  </a:txBody>
                  <a:tcPr marL="54864" marR="548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sz="2130" dirty="0">
                          <a:solidFill>
                            <a:srgbClr val="FFFFFF"/>
                          </a:solidFill>
                          <a:latin typeface="MiSans" pitchFamily="34" charset="0"/>
                          <a:ea typeface="MiSans" pitchFamily="34" charset="-122"/>
                          <a:cs typeface="MiSans" pitchFamily="34" charset="-120"/>
                        </a:rPr>
                        <a:t>增益效果</a:t>
                      </a:r>
                      <a:endParaRPr lang="en-US" sz="2130" dirty="0">
                        <a:latin typeface="MiSans" charset="0"/>
                        <a:ea typeface="MiSans" charset="0"/>
                        <a:cs typeface="MiSans" charset="0"/>
                      </a:endParaRPr>
                    </a:p>
                  </a:txBody>
                  <a:tcPr marL="54864" marR="548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78915">
                <a:tc>
                  <a:txBody>
                    <a:bodyPr/>
                    <a:lstStyle/>
                    <a:p>
                      <a:pPr algn="ctr"/>
                      <a:r>
                        <a:rPr lang="en-US" sz="2130" dirty="0">
                          <a:solidFill>
                            <a:srgbClr val="000000"/>
                          </a:solidFill>
                          <a:latin typeface="MiSans" pitchFamily="34" charset="0"/>
                          <a:ea typeface="MiSans" pitchFamily="34" charset="-122"/>
                          <a:cs typeface="MiSans" pitchFamily="34" charset="-120"/>
                        </a:rPr>
                        <a:t>硬件层</a:t>
                      </a:r>
                      <a:endParaRPr lang="en-US" sz="2130" dirty="0">
                        <a:latin typeface="MiSans" charset="0"/>
                        <a:ea typeface="MiSans" charset="0"/>
                        <a:cs typeface="MiSans" charset="0"/>
                      </a:endParaRPr>
                    </a:p>
                  </a:txBody>
                  <a:tcPr marL="54864" marR="54864" marT="0" marB="0" anchor="ctr">
                    <a:lnL w="0" cap="flat" cmpd="sng" algn="ctr">
                      <a:noFill/>
                    </a:lnL>
                    <a:lnR w="0" cap="flat" cmpd="sng" algn="ctr">
                      <a:noFill/>
                    </a:lnR>
                    <a:lnT w="0" cap="flat" cmpd="sng" algn="ctr">
                      <a:noFill/>
                    </a:lnT>
                    <a:lnB w="12700" cap="flat" cmpd="sng" algn="ctr">
                      <a:solidFill>
                        <a:srgbClr val="000000"/>
                      </a:solidFill>
                      <a:prstDash val="solid"/>
                      <a:round/>
                      <a:headEnd type="none" w="med" len="med"/>
                      <a:tailEnd type="none" w="med" len="med"/>
                    </a:lnB>
                    <a:solidFill>
                      <a:srgbClr val="D8D8D8"/>
                    </a:solidFill>
                  </a:tcPr>
                </a:tc>
                <a:tc>
                  <a:txBody>
                    <a:bodyPr/>
                    <a:lstStyle/>
                    <a:p>
                      <a:pPr algn="ctr"/>
                      <a:r>
                        <a:rPr lang="en-US" sz="2130" dirty="0">
                          <a:solidFill>
                            <a:srgbClr val="000000"/>
                          </a:solidFill>
                          <a:latin typeface="MiSans" pitchFamily="34" charset="0"/>
                          <a:ea typeface="MiSans" pitchFamily="34" charset="-122"/>
                          <a:cs typeface="MiSans" pitchFamily="34" charset="-120"/>
                        </a:rPr>
                        <a:t>难以部署</a:t>
                      </a:r>
                      <a:endParaRPr lang="en-US" sz="2130" dirty="0">
                        <a:latin typeface="MiSans" charset="0"/>
                        <a:ea typeface="MiSans" charset="0"/>
                        <a:cs typeface="MiSans" charset="0"/>
                      </a:endParaRPr>
                    </a:p>
                  </a:txBody>
                  <a:tcPr marL="54864" marR="54864" marT="0" marB="0" anchor="ctr">
                    <a:lnL w="0" cap="flat" cmpd="sng" algn="ctr">
                      <a:noFill/>
                    </a:lnL>
                    <a:lnR w="0" cap="flat" cmpd="sng" algn="ctr">
                      <a:noFill/>
                    </a:lnR>
                    <a:lnT w="0" cap="flat" cmpd="sng" algn="ctr">
                      <a:noFill/>
                    </a:lnT>
                    <a:lnB w="12700" cap="flat" cmpd="sng" algn="ctr">
                      <a:solidFill>
                        <a:srgbClr val="000000"/>
                      </a:solidFill>
                      <a:prstDash val="solid"/>
                      <a:round/>
                      <a:headEnd type="none" w="med" len="med"/>
                      <a:tailEnd type="none" w="med" len="med"/>
                    </a:lnB>
                    <a:solidFill>
                      <a:srgbClr val="D8D8D8"/>
                    </a:solidFill>
                  </a:tcPr>
                </a:tc>
                <a:tc>
                  <a:txBody>
                    <a:bodyPr/>
                    <a:lstStyle/>
                    <a:p>
                      <a:pPr algn="ctr"/>
                      <a:r>
                        <a:rPr lang="en-US" sz="2130" dirty="0">
                          <a:solidFill>
                            <a:srgbClr val="000000"/>
                          </a:solidFill>
                          <a:latin typeface="MiSans" pitchFamily="34" charset="0"/>
                          <a:ea typeface="MiSans" pitchFamily="34" charset="-122"/>
                          <a:cs typeface="MiSans" pitchFamily="34" charset="-120"/>
                        </a:rPr>
                        <a:t>-</a:t>
                      </a:r>
                      <a:endParaRPr lang="en-US" sz="2130" dirty="0">
                        <a:latin typeface="MiSans" charset="0"/>
                        <a:ea typeface="MiSans" charset="0"/>
                        <a:cs typeface="MiSans" charset="0"/>
                      </a:endParaRPr>
                    </a:p>
                  </a:txBody>
                  <a:tcPr marL="54864" marR="54864" marT="0" marB="0" anchor="ctr">
                    <a:lnL w="0" cap="flat" cmpd="sng" algn="ctr">
                      <a:noFill/>
                    </a:lnL>
                    <a:lnR w="0" cap="flat" cmpd="sng" algn="ctr">
                      <a:noFill/>
                    </a:lnR>
                    <a:lnT w="0" cap="flat" cmpd="sng" algn="ctr">
                      <a:noFill/>
                    </a:lnT>
                    <a:lnB w="12700" cap="flat" cmpd="sng" algn="ctr">
                      <a:solidFill>
                        <a:srgbClr val="000000"/>
                      </a:solidFill>
                      <a:prstDash val="solid"/>
                      <a:round/>
                      <a:headEnd type="none" w="med" len="med"/>
                      <a:tailEnd type="none" w="med" len="med"/>
                    </a:lnB>
                    <a:solidFill>
                      <a:srgbClr val="D8D8D8"/>
                    </a:solidFill>
                  </a:tcPr>
                </a:tc>
              </a:tr>
              <a:tr h="853399">
                <a:tc>
                  <a:txBody>
                    <a:bodyPr/>
                    <a:lstStyle/>
                    <a:p>
                      <a:pPr algn="ctr"/>
                      <a:endParaRPr lang="en-US" sz="2130" dirty="0">
                        <a:latin typeface="MiSans" charset="0"/>
                        <a:ea typeface="MiSans" charset="0"/>
                        <a:cs typeface="MiSans" charset="0"/>
                      </a:endParaRPr>
                    </a:p>
                  </a:txBody>
                  <a:tcPr marL="54864" marR="54864" marT="0" marB="0" anchor="ctr">
                    <a:lnL w="0" cap="flat" cmpd="sng" algn="ctr">
                      <a:noFill/>
                    </a:lnL>
                    <a:lnR w="0" cap="flat" cmpd="sng" algn="ctr">
                      <a:noFill/>
                    </a:lnR>
                    <a:lnT w="12700" cap="flat" cmpd="sng" algn="ctr">
                      <a:solidFill>
                        <a:srgbClr val="000000"/>
                      </a:solidFill>
                      <a:prstDash val="solid"/>
                      <a:round/>
                      <a:headEnd type="none" w="med" len="med"/>
                      <a:tailEnd type="none" w="med" len="med"/>
                    </a:lnT>
                    <a:lnB w="0" cap="flat" cmpd="sng" algn="ctr">
                      <a:noFill/>
                    </a:lnB>
                    <a:solidFill>
                      <a:srgbClr val="FFFFFF"/>
                    </a:solidFill>
                  </a:tcPr>
                </a:tc>
                <a:tc>
                  <a:txBody>
                    <a:bodyPr/>
                    <a:lstStyle/>
                    <a:p>
                      <a:pPr algn="ctr"/>
                      <a:endParaRPr lang="en-US" sz="2130" dirty="0">
                        <a:latin typeface="MiSans" charset="0"/>
                        <a:ea typeface="MiSans" charset="0"/>
                        <a:cs typeface="MiSans" charset="0"/>
                      </a:endParaRPr>
                    </a:p>
                  </a:txBody>
                  <a:tcPr marL="54864" marR="54864" marT="0" marB="0" anchor="ctr">
                    <a:lnL w="0" cap="flat" cmpd="sng" algn="ctr">
                      <a:noFill/>
                    </a:lnL>
                    <a:lnR w="0" cap="flat" cmpd="sng" algn="ctr">
                      <a:noFill/>
                    </a:lnR>
                    <a:lnT w="12700" cap="flat" cmpd="sng" algn="ctr">
                      <a:solidFill>
                        <a:srgbClr val="000000"/>
                      </a:solidFill>
                      <a:prstDash val="solid"/>
                      <a:round/>
                      <a:headEnd type="none" w="med" len="med"/>
                      <a:tailEnd type="none" w="med" len="med"/>
                    </a:lnT>
                    <a:lnB w="0" cap="flat" cmpd="sng" algn="ctr">
                      <a:noFill/>
                    </a:lnB>
                    <a:solidFill>
                      <a:srgbClr val="FFFFFF"/>
                    </a:solidFill>
                  </a:tcPr>
                </a:tc>
                <a:tc>
                  <a:txBody>
                    <a:bodyPr/>
                    <a:lstStyle/>
                    <a:p>
                      <a:pPr algn="ctr"/>
                      <a:endParaRPr lang="en-US" sz="2130" dirty="0">
                        <a:latin typeface="MiSans" charset="0"/>
                        <a:ea typeface="MiSans" charset="0"/>
                        <a:cs typeface="MiSans" charset="0"/>
                      </a:endParaRPr>
                    </a:p>
                  </a:txBody>
                  <a:tcPr marL="54864" marR="54864" marT="0" marB="0" anchor="ctr">
                    <a:lnL w="0" cap="flat" cmpd="sng" algn="ctr">
                      <a:noFill/>
                    </a:lnL>
                    <a:lnR w="0" cap="flat" cmpd="sng" algn="ctr">
                      <a:noFill/>
                    </a:lnR>
                    <a:lnT w="12700" cap="flat" cmpd="sng" algn="ctr">
                      <a:solidFill>
                        <a:srgbClr val="000000"/>
                      </a:solidFill>
                      <a:prstDash val="solid"/>
                      <a:round/>
                      <a:headEnd type="none" w="med" len="med"/>
                      <a:tailEnd type="none" w="med" len="med"/>
                    </a:lnT>
                    <a:lnB w="0" cap="flat" cmpd="sng" algn="ctr">
                      <a:noFill/>
                    </a:lnB>
                    <a:solidFill>
                      <a:srgbClr val="FFFFFF"/>
                    </a:solidFill>
                  </a:tcPr>
                </a:tc>
              </a:tr>
            </a:tbl>
          </a:graphicData>
        </a:graphic>
      </p:graphicFrame>
      <p:sp>
        <p:nvSpPr>
          <p:cNvPr id="7" name="Text 3"/>
          <p:cNvSpPr/>
          <p:nvPr/>
        </p:nvSpPr>
        <p:spPr>
          <a:xfrm>
            <a:off x="2473579" y="6409309"/>
            <a:ext cx="8031480" cy="1742948"/>
          </a:xfrm>
          <a:prstGeom prst="rect">
            <a:avLst/>
          </a:prstGeom>
          <a:noFill/>
          <a:ln/>
        </p:spPr>
        <p:txBody>
          <a:bodyPr wrap="square" lIns="0" tIns="0" rIns="0" bIns="0" rtlCol="0" anchor="t"/>
          <a:lstStyle/>
          <a:p>
            <a:pPr algn="l">
              <a:lnSpc>
                <a:spcPct val="120000"/>
              </a:lnSpc>
            </a:pPr>
            <a:r>
              <a:rPr lang="en-US" sz="2400" b="1" dirty="0">
                <a:solidFill>
                  <a:srgbClr val="000000"/>
                </a:solidFill>
                <a:latin typeface="Arial" pitchFamily="34" charset="0"/>
                <a:ea typeface="Arial" pitchFamily="34" charset="-122"/>
                <a:cs typeface="Arial" pitchFamily="34" charset="-120"/>
              </a:rPr>
              <a:t>链下方案</a:t>
            </a:r>
            <a:endParaRPr lang="en-US" sz="2400" dirty="0"/>
          </a:p>
          <a:p>
            <a:pPr algn="l" marL="381000" indent="-381000">
              <a:lnSpc>
                <a:spcPct val="120000"/>
              </a:lnSpc>
              <a:spcBef>
                <a:spcPts val="10"/>
              </a:spcBef>
              <a:buSzPct val="100000"/>
              <a:buChar char="•"/>
            </a:pPr>
            <a:r>
              <a:rPr lang="en-US" sz="2130" dirty="0">
                <a:solidFill>
                  <a:srgbClr val="000000"/>
                </a:solidFill>
                <a:latin typeface="Arial" pitchFamily="34" charset="0"/>
                <a:ea typeface="Arial" pitchFamily="34" charset="-122"/>
                <a:cs typeface="Arial" pitchFamily="34" charset="-120"/>
              </a:rPr>
              <a:t>理论上交易吞吐量仅受限于参与方的通信带宽与延迟</a:t>
            </a:r>
            <a:endParaRPr lang="en-US" sz="2400" dirty="0"/>
          </a:p>
          <a:p>
            <a:pPr algn="l" marL="381000" indent="-381000">
              <a:lnSpc>
                <a:spcPct val="120000"/>
              </a:lnSpc>
              <a:spcBef>
                <a:spcPts val="10"/>
              </a:spcBef>
              <a:buSzPct val="100000"/>
              <a:buChar char="•"/>
            </a:pPr>
            <a:r>
              <a:rPr lang="en-US" sz="2130" dirty="0">
                <a:solidFill>
                  <a:srgbClr val="000000"/>
                </a:solidFill>
                <a:latin typeface="Arial" pitchFamily="34" charset="0"/>
                <a:ea typeface="Arial" pitchFamily="34" charset="-122"/>
                <a:cs typeface="Arial" pitchFamily="34" charset="-120"/>
              </a:rPr>
              <a:t>构造</a:t>
            </a:r>
            <a:pPr algn="l">
              <a:lnSpc>
                <a:spcPct val="120000"/>
              </a:lnSpc>
              <a:spcBef>
                <a:spcPts val="10"/>
              </a:spcBef>
            </a:pPr>
            <a:r>
              <a:rPr lang="en-US" sz="2130" dirty="0">
                <a:solidFill>
                  <a:srgbClr val="000000"/>
                </a:solidFill>
                <a:latin typeface="Arial" pitchFamily="34" charset="0"/>
                <a:ea typeface="Arial" pitchFamily="34" charset="-122"/>
                <a:cs typeface="Arial" pitchFamily="34" charset="-120"/>
              </a:rPr>
              <a:t>简单，易于实现和部署</a:t>
            </a:r>
            <a:endParaRPr lang="en-US" sz="2400" dirty="0"/>
          </a:p>
          <a:p>
            <a:pPr algn="l" marL="381000" indent="-381000">
              <a:lnSpc>
                <a:spcPct val="120000"/>
              </a:lnSpc>
              <a:spcBef>
                <a:spcPts val="10"/>
              </a:spcBef>
              <a:buSzPct val="100000"/>
              <a:buChar char="•"/>
            </a:pPr>
            <a:r>
              <a:rPr lang="en-US" sz="2130" dirty="0">
                <a:solidFill>
                  <a:srgbClr val="000000"/>
                </a:solidFill>
                <a:latin typeface="Arial" pitchFamily="34" charset="0"/>
                <a:ea typeface="Arial" pitchFamily="34" charset="-122"/>
                <a:cs typeface="Arial" pitchFamily="34" charset="-120"/>
              </a:rPr>
              <a:t>不仅兼容于现有区块链，具有后向兼容性</a:t>
            </a:r>
            <a:endParaRPr lang="en-US" sz="2400" dirty="0"/>
          </a:p>
        </p:txBody>
      </p:sp>
      <p:sp>
        <p:nvSpPr>
          <p:cNvPr id="8" name="Shape 4"/>
          <p:cNvSpPr/>
          <p:nvPr/>
        </p:nvSpPr>
        <p:spPr>
          <a:xfrm>
            <a:off x="2219960" y="0"/>
            <a:ext cx="2895600" cy="962660"/>
          </a:xfrm>
          <a:prstGeom prst="rect">
            <a:avLst/>
          </a:prstGeom>
          <a:solidFill>
            <a:srgbClr val="F2F2F2"/>
          </a:solidFill>
          <a:ln w="12700">
            <a:solidFill>
              <a:srgbClr val="F2F2F2"/>
            </a:solidFill>
            <a:prstDash val="solid"/>
          </a:ln>
        </p:spPr>
      </p:sp>
      <p:sp>
        <p:nvSpPr>
          <p:cNvPr id="9" name="Shape 5"/>
          <p:cNvSpPr/>
          <p:nvPr/>
        </p:nvSpPr>
        <p:spPr>
          <a:xfrm>
            <a:off x="5162169" y="-889"/>
            <a:ext cx="2590800" cy="962660"/>
          </a:xfrm>
          <a:prstGeom prst="rect">
            <a:avLst/>
          </a:prstGeom>
          <a:solidFill>
            <a:srgbClr val="F2F2F2"/>
          </a:solidFill>
          <a:ln/>
        </p:spPr>
      </p:sp>
      <p:sp>
        <p:nvSpPr>
          <p:cNvPr id="10" name="Shape 6"/>
          <p:cNvSpPr/>
          <p:nvPr/>
        </p:nvSpPr>
        <p:spPr>
          <a:xfrm>
            <a:off x="7816469" y="-889"/>
            <a:ext cx="4114800" cy="962660"/>
          </a:xfrm>
          <a:prstGeom prst="rect">
            <a:avLst/>
          </a:prstGeom>
          <a:solidFill>
            <a:srgbClr val="F2F2F2"/>
          </a:solidFill>
          <a:ln/>
        </p:spPr>
      </p:sp>
      <p:sp>
        <p:nvSpPr>
          <p:cNvPr id="11" name="Shape 7"/>
          <p:cNvSpPr/>
          <p:nvPr/>
        </p:nvSpPr>
        <p:spPr>
          <a:xfrm>
            <a:off x="11971020" y="0"/>
            <a:ext cx="4284980" cy="961771"/>
          </a:xfrm>
          <a:prstGeom prst="rect">
            <a:avLst/>
          </a:prstGeom>
          <a:solidFill>
            <a:srgbClr val="F2F2F2"/>
          </a:solidFill>
          <a:ln/>
        </p:spPr>
      </p:sp>
      <p:sp>
        <p:nvSpPr>
          <p:cNvPr id="12" name="Shape 8"/>
          <p:cNvSpPr/>
          <p:nvPr/>
        </p:nvSpPr>
        <p:spPr>
          <a:xfrm>
            <a:off x="2219960" y="-889"/>
            <a:ext cx="2895600" cy="962660"/>
          </a:xfrm>
          <a:prstGeom prst="rect">
            <a:avLst/>
          </a:prstGeom>
          <a:solidFill>
            <a:srgbClr val="04579A"/>
          </a:solidFill>
          <a:ln w="12700">
            <a:solidFill>
              <a:srgbClr val="04579A"/>
            </a:solidFill>
            <a:prstDash val="solid"/>
          </a:ln>
        </p:spPr>
      </p:sp>
      <p:sp>
        <p:nvSpPr>
          <p:cNvPr id="13" name="Text 9"/>
          <p:cNvSpPr/>
          <p:nvPr/>
        </p:nvSpPr>
        <p:spPr>
          <a:xfrm>
            <a:off x="2283460" y="203200"/>
            <a:ext cx="2768600" cy="508000"/>
          </a:xfrm>
          <a:prstGeom prst="rect">
            <a:avLst/>
          </a:prstGeom>
          <a:noFill/>
          <a:ln/>
        </p:spPr>
        <p:txBody>
          <a:bodyPr wrap="none" lIns="0" tIns="0" rIns="0" bIns="0" rtlCol="0" anchor="ctr"/>
          <a:lstStyle/>
          <a:p>
            <a:pPr algn="ctr">
              <a:lnSpc>
                <a:spcPct val="120000"/>
              </a:lnSpc>
            </a:pPr>
            <a:r>
              <a:rPr lang="en-US" sz="2000" dirty="0">
                <a:solidFill>
                  <a:srgbClr val="FFFFFF"/>
                </a:solidFill>
                <a:latin typeface="Arial" pitchFamily="34" charset="0"/>
                <a:ea typeface="Arial" pitchFamily="34" charset="-122"/>
                <a:cs typeface="Arial" pitchFamily="34" charset="-120"/>
              </a:rPr>
              <a:t>选题背景及意义</a:t>
            </a:r>
            <a:endParaRPr lang="en-US" sz="2000" dirty="0"/>
          </a:p>
        </p:txBody>
      </p:sp>
      <p:sp>
        <p:nvSpPr>
          <p:cNvPr id="14" name="Text 10"/>
          <p:cNvSpPr/>
          <p:nvPr/>
        </p:nvSpPr>
        <p:spPr>
          <a:xfrm>
            <a:off x="5225669" y="203200"/>
            <a:ext cx="24638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国内外研究现状</a:t>
            </a:r>
            <a:endParaRPr lang="en-US" sz="2000" dirty="0"/>
          </a:p>
        </p:txBody>
      </p:sp>
      <p:sp>
        <p:nvSpPr>
          <p:cNvPr id="15" name="Text 11"/>
          <p:cNvSpPr/>
          <p:nvPr/>
        </p:nvSpPr>
        <p:spPr>
          <a:xfrm>
            <a:off x="7879969" y="203200"/>
            <a:ext cx="39878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主要研究内容及预期目标</a:t>
            </a:r>
            <a:endParaRPr lang="en-US" sz="2000" dirty="0"/>
          </a:p>
        </p:txBody>
      </p:sp>
      <p:sp>
        <p:nvSpPr>
          <p:cNvPr id="16" name="Text 12"/>
          <p:cNvSpPr/>
          <p:nvPr/>
        </p:nvSpPr>
        <p:spPr>
          <a:xfrm>
            <a:off x="12034520" y="203200"/>
            <a:ext cx="415798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工作计划与进度安排</a:t>
            </a:r>
            <a:endParaRPr lang="en-US" sz="2000" dirty="0"/>
          </a:p>
        </p:txBody>
      </p:sp>
      <p:pic>
        <p:nvPicPr>
          <p:cNvPr id="17" name="Image 0" descr="https://kimi-img.moonshot.cn/pub/slides/okc/flfuysioo4gzm/mnt/agents/output/yuan_pptd/images/image_21.jpg">    </p:cNvPr>
          <p:cNvPicPr>
            <a:picLocks noChangeAspect="1"/>
          </p:cNvPicPr>
          <p:nvPr/>
        </p:nvPicPr>
        <p:blipFill>
          <a:blip r:embed="rId1"/>
          <a:srcRect l="5060" r="29000" t="0" b="0"/>
          <a:stretch/>
        </p:blipFill>
        <p:spPr>
          <a:xfrm>
            <a:off x="544449" y="140589"/>
            <a:ext cx="1273429" cy="745871"/>
          </a:xfrm>
          <a:prstGeom prst="rect">
            <a:avLst/>
          </a:prstGeom>
        </p:spPr>
      </p:pic>
      <p:sp>
        <p:nvSpPr>
          <p:cNvPr id="18" name="Shape 13"/>
          <p:cNvSpPr/>
          <p:nvPr/>
        </p:nvSpPr>
        <p:spPr>
          <a:xfrm rot="10800000">
            <a:off x="3496691" y="961771"/>
            <a:ext cx="389509" cy="304800"/>
          </a:xfrm>
          <a:prstGeom prst="triangle">
            <a:avLst>
              <a:gd name="adj" fmla="val 50000"/>
            </a:avLst>
          </a:prstGeom>
          <a:solidFill>
            <a:srgbClr val="04579A"/>
          </a:solidFill>
          <a:ln/>
        </p:spPr>
      </p:sp>
      <p:graphicFrame>
        <p:nvGraphicFramePr>
          <p:cNvPr id="79" name="Table 1"/>
          <p:cNvGraphicFramePr>
            <a:graphicFrameLocks noGrp="1"/>
          </p:cNvGraphicFramePr>
          <p:nvPr>
            <p:extLst>
              <p:ext uri="{D42A27DB-BD31-4B8C-83A1-F6EECF244321}">
                <p14:modId xmlns:p14="http://schemas.microsoft.com/office/powerpoint/2010/main" val="1579011935"/>
              </p:ext>
            </p:extLst>
          </p:nvPr>
        </p:nvGraphicFramePr>
        <p:xfrm>
          <a:off x="3924046" y="3889121"/>
          <a:ext cx="7891780" cy="679069"/>
        </p:xfrm>
        <a:graphic>
          <a:graphicData uri="http://schemas.openxmlformats.org/drawingml/2006/table">
            <a:tbl>
              <a:tblPr/>
              <a:tblGrid>
                <a:gridCol w="1927173"/>
                <a:gridCol w="2994931"/>
                <a:gridCol w="2970466"/>
              </a:tblGrid>
              <a:tr h="679069">
                <a:tc>
                  <a:txBody>
                    <a:bodyPr/>
                    <a:lstStyle/>
                    <a:p>
                      <a:pPr algn="ctr"/>
                      <a:r>
                        <a:rPr lang="en-US" sz="2130" dirty="0">
                          <a:solidFill>
                            <a:srgbClr val="000000"/>
                          </a:solidFill>
                          <a:latin typeface="MiSans" pitchFamily="34" charset="0"/>
                          <a:ea typeface="MiSans" pitchFamily="34" charset="-122"/>
                          <a:cs typeface="MiSans" pitchFamily="34" charset="-120"/>
                        </a:rPr>
                        <a:t>网络层</a:t>
                      </a:r>
                      <a:endParaRPr lang="en-US" sz="2130" dirty="0">
                        <a:latin typeface="MiSans" charset="0"/>
                        <a:ea typeface="MiSans" charset="0"/>
                        <a:cs typeface="MiSans" charset="0"/>
                      </a:endParaRPr>
                    </a:p>
                  </a:txBody>
                  <a:tcPr marL="54864" marR="54864" marT="0" marB="0" anchor="ctr">
                    <a:lnL w="0" cap="flat" cmpd="sng" algn="ctr">
                      <a:noFill/>
                    </a:lnL>
                    <a:lnR w="0" cap="flat" cmpd="sng" algn="ctr">
                      <a:noFill/>
                    </a:lnR>
                    <a:lnT w="0" cap="flat" cmpd="sng" algn="ctr">
                      <a:noFill/>
                    </a:lnT>
                    <a:lnB w="12700" cap="flat" cmpd="sng" algn="ctr">
                      <a:solidFill>
                        <a:srgbClr val="000000"/>
                      </a:solidFill>
                      <a:prstDash val="solid"/>
                      <a:round/>
                      <a:headEnd type="none" w="med" len="med"/>
                      <a:tailEnd type="none" w="med" len="med"/>
                    </a:lnB>
                    <a:solidFill>
                      <a:srgbClr val="D8D8D8"/>
                    </a:solidFill>
                  </a:tcPr>
                </a:tc>
                <a:tc>
                  <a:txBody>
                    <a:bodyPr/>
                    <a:lstStyle/>
                    <a:p>
                      <a:pPr algn="ctr"/>
                      <a:r>
                        <a:rPr lang="en-US" sz="2130" dirty="0">
                          <a:solidFill>
                            <a:srgbClr val="000000"/>
                          </a:solidFill>
                          <a:latin typeface="MiSans" pitchFamily="34" charset="0"/>
                          <a:ea typeface="MiSans" pitchFamily="34" charset="-122"/>
                          <a:cs typeface="MiSans" pitchFamily="34" charset="-120"/>
                        </a:rPr>
                        <a:t>需修改原有区块链结构</a:t>
                      </a:r>
                      <a:endParaRPr lang="en-US" sz="2130" dirty="0">
                        <a:latin typeface="MiSans" charset="0"/>
                        <a:ea typeface="MiSans" charset="0"/>
                        <a:cs typeface="MiSans" charset="0"/>
                      </a:endParaRPr>
                    </a:p>
                  </a:txBody>
                  <a:tcPr marL="54864" marR="54864" marT="0" marB="0" anchor="ctr">
                    <a:lnL w="0" cap="flat" cmpd="sng" algn="ctr">
                      <a:noFill/>
                    </a:lnL>
                    <a:lnR w="0" cap="flat" cmpd="sng" algn="ctr">
                      <a:noFill/>
                    </a:lnR>
                    <a:lnT w="0" cap="flat" cmpd="sng" algn="ctr">
                      <a:noFill/>
                    </a:lnT>
                    <a:lnB w="12700" cap="flat" cmpd="sng" algn="ctr">
                      <a:solidFill>
                        <a:srgbClr val="000000"/>
                      </a:solidFill>
                      <a:prstDash val="solid"/>
                      <a:round/>
                      <a:headEnd type="none" w="med" len="med"/>
                      <a:tailEnd type="none" w="med" len="med"/>
                    </a:lnB>
                    <a:solidFill>
                      <a:srgbClr val="D8D8D8"/>
                    </a:solidFill>
                  </a:tcPr>
                </a:tc>
                <a:tc>
                  <a:txBody>
                    <a:bodyPr/>
                    <a:lstStyle/>
                    <a:p>
                      <a:pPr algn="ctr"/>
                      <a:r>
                        <a:rPr lang="en-US" sz="2130" dirty="0">
                          <a:solidFill>
                            <a:srgbClr val="000000"/>
                          </a:solidFill>
                          <a:latin typeface="MiSans" pitchFamily="34" charset="0"/>
                          <a:ea typeface="MiSans" pitchFamily="34" charset="-122"/>
                          <a:cs typeface="MiSans" pitchFamily="34" charset="-120"/>
                        </a:rPr>
                        <a:t>有限的扩展增益</a:t>
                      </a:r>
                      <a:endParaRPr lang="en-US" sz="2130" dirty="0">
                        <a:latin typeface="MiSans" charset="0"/>
                        <a:ea typeface="MiSans" charset="0"/>
                        <a:cs typeface="MiSans" charset="0"/>
                      </a:endParaRPr>
                    </a:p>
                  </a:txBody>
                  <a:tcPr marL="54864" marR="54864" marT="0" marB="0" anchor="ctr">
                    <a:lnL w="0" cap="flat" cmpd="sng" algn="ctr">
                      <a:noFill/>
                    </a:lnL>
                    <a:lnR w="0" cap="flat" cmpd="sng" algn="ctr">
                      <a:noFill/>
                    </a:lnR>
                    <a:lnT w="0" cap="flat" cmpd="sng" algn="ctr">
                      <a:noFill/>
                    </a:lnT>
                    <a:lnB w="12700" cap="flat" cmpd="sng" algn="ctr">
                      <a:solidFill>
                        <a:srgbClr val="000000"/>
                      </a:solidFill>
                      <a:prstDash val="solid"/>
                      <a:round/>
                      <a:headEnd type="none" w="med" len="med"/>
                      <a:tailEnd type="none" w="med" len="med"/>
                    </a:lnB>
                    <a:solidFill>
                      <a:srgbClr val="D8D8D8"/>
                    </a:solidFill>
                  </a:tcPr>
                </a:tc>
              </a:tr>
            </a:tbl>
          </a:graphicData>
        </a:graphic>
      </p:graphicFrame>
      <p:graphicFrame>
        <p:nvGraphicFramePr>
          <p:cNvPr id="118" name="Table 2"/>
          <p:cNvGraphicFramePr>
            <a:graphicFrameLocks noGrp="1"/>
          </p:cNvGraphicFramePr>
          <p:nvPr>
            <p:extLst>
              <p:ext uri="{D42A27DB-BD31-4B8C-83A1-F6EECF244321}">
                <p14:modId xmlns:p14="http://schemas.microsoft.com/office/powerpoint/2010/main" val="1579011935"/>
              </p:ext>
            </p:extLst>
          </p:nvPr>
        </p:nvGraphicFramePr>
        <p:xfrm>
          <a:off x="3363087" y="5247259"/>
          <a:ext cx="9008491" cy="867791"/>
        </p:xfrm>
        <a:graphic>
          <a:graphicData uri="http://schemas.openxmlformats.org/drawingml/2006/table">
            <a:tbl>
              <a:tblPr/>
              <a:tblGrid>
                <a:gridCol w="2655703"/>
                <a:gridCol w="2730474"/>
                <a:gridCol w="3622314"/>
              </a:tblGrid>
              <a:tr h="867791">
                <a:tc>
                  <a:txBody>
                    <a:bodyPr/>
                    <a:lstStyle/>
                    <a:p>
                      <a:pPr algn="ctr"/>
                      <a:r>
                        <a:rPr lang="en-US" sz="2400" b="1" dirty="0">
                          <a:solidFill>
                            <a:srgbClr val="04579A"/>
                          </a:solidFill>
                          <a:latin typeface="MiSans" pitchFamily="34" charset="0"/>
                          <a:ea typeface="MiSans" pitchFamily="34" charset="-122"/>
                          <a:cs typeface="MiSans" pitchFamily="34" charset="-120"/>
                        </a:rPr>
                        <a:t>链下层</a:t>
                      </a:r>
                      <a:endParaRPr lang="en-US" sz="2400" dirty="0">
                        <a:latin typeface="MiSans" charset="0"/>
                        <a:ea typeface="MiSans" charset="0"/>
                        <a:cs typeface="MiSans" charset="0"/>
                      </a:endParaRPr>
                    </a:p>
                  </a:txBody>
                  <a:tcPr marL="54864" marR="548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r>
                        <a:rPr lang="en-US" sz="2400" dirty="0">
                          <a:solidFill>
                            <a:srgbClr val="04579A"/>
                          </a:solidFill>
                          <a:latin typeface="MiSans" pitchFamily="34" charset="0"/>
                          <a:ea typeface="MiSans" pitchFamily="34" charset="-122"/>
                          <a:cs typeface="MiSans" pitchFamily="34" charset="-120"/>
                        </a:rPr>
                        <a:t>完全兼容</a:t>
                      </a:r>
                      <a:endParaRPr lang="en-US" sz="2400" dirty="0">
                        <a:latin typeface="MiSans" charset="0"/>
                        <a:ea typeface="MiSans" charset="0"/>
                        <a:cs typeface="MiSans" charset="0"/>
                      </a:endParaRPr>
                    </a:p>
                    <a:p>
                      <a:pPr algn="ctr"/>
                      <a:r>
                        <a:rPr lang="en-US" sz="2400" dirty="0">
                          <a:solidFill>
                            <a:srgbClr val="04579A"/>
                          </a:solidFill>
                          <a:latin typeface="MiSans" pitchFamily="34" charset="0"/>
                          <a:ea typeface="MiSans" pitchFamily="34" charset="-122"/>
                          <a:cs typeface="MiSans" pitchFamily="34" charset="-120"/>
                        </a:rPr>
                        <a:t>现有区块链</a:t>
                      </a:r>
                      <a:endParaRPr lang="en-US" sz="2400" dirty="0">
                        <a:latin typeface="MiSans" charset="0"/>
                        <a:ea typeface="MiSans" charset="0"/>
                        <a:cs typeface="MiSans" charset="0"/>
                      </a:endParaRPr>
                    </a:p>
                  </a:txBody>
                  <a:tcPr marL="54864" marR="548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r>
                        <a:rPr lang="en-US" sz="2400" b="1" dirty="0">
                          <a:solidFill>
                            <a:srgbClr val="04579A"/>
                          </a:solidFill>
                          <a:latin typeface="MiSans" pitchFamily="34" charset="0"/>
                          <a:ea typeface="MiSans" pitchFamily="34" charset="-122"/>
                          <a:cs typeface="MiSans" pitchFamily="34" charset="-120"/>
                        </a:rPr>
                        <a:t>有效的扩展增益</a:t>
                      </a:r>
                      <a:endParaRPr lang="en-US" sz="2400" dirty="0">
                        <a:latin typeface="MiSans" charset="0"/>
                        <a:ea typeface="MiSans" charset="0"/>
                        <a:cs typeface="MiSans" charset="0"/>
                      </a:endParaRPr>
                    </a:p>
                  </a:txBody>
                  <a:tcPr marL="54864" marR="548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bl>
          </a:graphicData>
        </a:graphic>
      </p:graphicFrame>
      <p:graphicFrame>
        <p:nvGraphicFramePr>
          <p:cNvPr id="157" name="Table 3"/>
          <p:cNvGraphicFramePr>
            <a:graphicFrameLocks noGrp="1"/>
          </p:cNvGraphicFramePr>
          <p:nvPr>
            <p:extLst>
              <p:ext uri="{D42A27DB-BD31-4B8C-83A1-F6EECF244321}">
                <p14:modId xmlns:p14="http://schemas.microsoft.com/office/powerpoint/2010/main" val="1579011935"/>
              </p:ext>
            </p:extLst>
          </p:nvPr>
        </p:nvGraphicFramePr>
        <p:xfrm>
          <a:off x="3921506" y="4568190"/>
          <a:ext cx="7891780" cy="679069"/>
        </p:xfrm>
        <a:graphic>
          <a:graphicData uri="http://schemas.openxmlformats.org/drawingml/2006/table">
            <a:tbl>
              <a:tblPr/>
              <a:tblGrid>
                <a:gridCol w="1927173"/>
                <a:gridCol w="2994931"/>
                <a:gridCol w="2970466"/>
              </a:tblGrid>
              <a:tr h="679069">
                <a:tc>
                  <a:txBody>
                    <a:bodyPr/>
                    <a:lstStyle/>
                    <a:p>
                      <a:pPr algn="ctr"/>
                      <a:r>
                        <a:rPr lang="en-US" sz="2130" dirty="0">
                          <a:solidFill>
                            <a:srgbClr val="000000"/>
                          </a:solidFill>
                          <a:latin typeface="MiSans" pitchFamily="34" charset="0"/>
                          <a:ea typeface="MiSans" pitchFamily="34" charset="-122"/>
                          <a:cs typeface="MiSans" pitchFamily="34" charset="-120"/>
                        </a:rPr>
                        <a:t>区块链层</a:t>
                      </a:r>
                      <a:endParaRPr lang="en-US" sz="2130" dirty="0">
                        <a:latin typeface="MiSans" charset="0"/>
                        <a:ea typeface="MiSans" charset="0"/>
                        <a:cs typeface="MiSans" charset="0"/>
                      </a:endParaRPr>
                    </a:p>
                  </a:txBody>
                  <a:tcPr marL="54864" marR="548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8D8D8"/>
                    </a:solidFill>
                  </a:tcPr>
                </a:tc>
                <a:tc>
                  <a:txBody>
                    <a:bodyPr/>
                    <a:lstStyle/>
                    <a:p>
                      <a:pPr algn="ctr"/>
                      <a:r>
                        <a:rPr lang="en-US" sz="2130" dirty="0">
                          <a:solidFill>
                            <a:srgbClr val="000000"/>
                          </a:solidFill>
                          <a:latin typeface="MiSans" pitchFamily="34" charset="0"/>
                          <a:ea typeface="MiSans" pitchFamily="34" charset="-122"/>
                          <a:cs typeface="MiSans" pitchFamily="34" charset="-120"/>
                        </a:rPr>
                        <a:t>需修改原有共识协议</a:t>
                      </a:r>
                      <a:endParaRPr lang="en-US" sz="2130" dirty="0">
                        <a:latin typeface="MiSans" charset="0"/>
                        <a:ea typeface="MiSans" charset="0"/>
                        <a:cs typeface="MiSans" charset="0"/>
                      </a:endParaRPr>
                    </a:p>
                  </a:txBody>
                  <a:tcPr marL="54864" marR="548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8D8D8"/>
                    </a:solidFill>
                  </a:tcPr>
                </a:tc>
                <a:tc>
                  <a:txBody>
                    <a:bodyPr/>
                    <a:lstStyle/>
                    <a:p>
                      <a:pPr algn="ctr"/>
                      <a:r>
                        <a:rPr lang="en-US" sz="2130" dirty="0">
                          <a:solidFill>
                            <a:srgbClr val="000000"/>
                          </a:solidFill>
                          <a:latin typeface="MiSans" pitchFamily="34" charset="0"/>
                          <a:ea typeface="MiSans" pitchFamily="34" charset="-122"/>
                          <a:cs typeface="MiSans" pitchFamily="34" charset="-120"/>
                        </a:rPr>
                        <a:t>有限的扩展增益</a:t>
                      </a:r>
                      <a:endParaRPr lang="en-US" sz="2130" dirty="0">
                        <a:latin typeface="MiSans" charset="0"/>
                        <a:ea typeface="MiSans" charset="0"/>
                        <a:cs typeface="MiSans" charset="0"/>
                      </a:endParaRPr>
                    </a:p>
                  </a:txBody>
                  <a:tcPr marL="54864" marR="548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8D8D8"/>
                    </a:solidFill>
                  </a:tcPr>
                </a:tc>
              </a:tr>
            </a:tbl>
          </a:graphicData>
        </a:graphic>
      </p:graphicFrame>
      <p:sp>
        <p:nvSpPr>
          <p:cNvPr id="22" name="Text 14"/>
          <p:cNvSpPr/>
          <p:nvPr/>
        </p:nvSpPr>
        <p:spPr>
          <a:xfrm>
            <a:off x="544449" y="1266571"/>
            <a:ext cx="14303629" cy="665480"/>
          </a:xfrm>
          <a:prstGeom prst="rect">
            <a:avLst/>
          </a:prstGeom>
          <a:noFill/>
          <a:ln/>
        </p:spPr>
        <p:txBody>
          <a:bodyPr wrap="square" lIns="0" tIns="0" rIns="0" bIns="0" rtlCol="0" anchor="t"/>
          <a:lstStyle/>
          <a:p>
            <a:pPr algn="l" marL="423863" indent="-423863">
              <a:lnSpc>
                <a:spcPct val="150000"/>
              </a:lnSpc>
              <a:spcBef>
                <a:spcPts val="10"/>
              </a:spcBef>
              <a:buSzPct val="100000"/>
              <a:buFont typeface="+mj-lt"/>
              <a:buAutoNum type="arabicPeriod" startAt="1"/>
            </a:pPr>
            <a:r>
              <a:rPr lang="en-US" sz="2670" dirty="0">
                <a:solidFill>
                  <a:srgbClr val="3F3F3F"/>
                </a:solidFill>
                <a:latin typeface="Arial" pitchFamily="34" charset="0"/>
                <a:ea typeface="Arial" pitchFamily="34" charset="-122"/>
                <a:cs typeface="Arial" pitchFamily="34" charset="-120"/>
              </a:rPr>
              <a:t>大规模、高并发的交易场景要求分布式数字资产交易协议具有可扩展性</a:t>
            </a:r>
            <a:endParaRPr lang="en-US" sz="2670" dirty="0"/>
          </a:p>
        </p:txBody>
      </p:sp>
      <p:sp>
        <p:nvSpPr>
          <p:cNvPr id="23" name="Text 15"/>
          <p:cNvSpPr/>
          <p:nvPr/>
        </p:nvSpPr>
        <p:spPr>
          <a:xfrm>
            <a:off x="15649067" y="8666353"/>
            <a:ext cx="606933" cy="492506"/>
          </a:xfrm>
          <a:prstGeom prst="rect">
            <a:avLst/>
          </a:prstGeom>
          <a:noFill/>
          <a:ln/>
        </p:spPr>
        <p:txBody>
          <a:bodyPr wrap="square" lIns="0" tIns="0" rIns="0" bIns="0" rtlCol="0" anchor="t"/>
          <a:lstStyle/>
          <a:p>
            <a:pPr algn="ctr">
              <a:lnSpc>
                <a:spcPct val="120000"/>
              </a:lnSpc>
            </a:pPr>
            <a:r>
              <a:rPr lang="en-US" sz="2400" dirty="0">
                <a:solidFill>
                  <a:srgbClr val="000000"/>
                </a:solidFill>
                <a:latin typeface="Arial" pitchFamily="34" charset="0"/>
                <a:ea typeface="Arial" pitchFamily="34" charset="-122"/>
                <a:cs typeface="Arial" pitchFamily="34" charset="-120"/>
              </a:rPr>
              <a:t>10</a:t>
            </a:r>
            <a:endParaRPr lang="en-US" sz="2400" dirty="0"/>
          </a:p>
        </p:txBody>
      </p:sp>
    </p:spTree>
  </p:cSld>
  <p:clrMapOvr>
    <a:masterClrMapping/>
  </p:clrMapOvr>
  <p:transition>
    <p:fade/>
    <p:spd val="med"/>
  </p:transition>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643509" y="5298821"/>
            <a:ext cx="14037691" cy="762889"/>
          </a:xfrm>
          <a:prstGeom prst="rect">
            <a:avLst/>
          </a:prstGeom>
          <a:solidFill>
            <a:srgbClr val="F2F2F2"/>
          </a:solidFill>
          <a:ln/>
        </p:spPr>
      </p:sp>
      <p:sp>
        <p:nvSpPr>
          <p:cNvPr id="4" name="Text 1"/>
          <p:cNvSpPr/>
          <p:nvPr/>
        </p:nvSpPr>
        <p:spPr>
          <a:xfrm>
            <a:off x="643509" y="1196340"/>
            <a:ext cx="14772640" cy="531749"/>
          </a:xfrm>
          <a:prstGeom prst="rect">
            <a:avLst/>
          </a:prstGeom>
          <a:noFill/>
          <a:ln/>
        </p:spPr>
        <p:txBody>
          <a:bodyPr wrap="square" lIns="0" tIns="0" rIns="0" bIns="0" rtlCol="0" anchor="t"/>
          <a:lstStyle/>
          <a:p>
            <a:pPr algn="l">
              <a:lnSpc>
                <a:spcPct val="120000"/>
              </a:lnSpc>
            </a:pPr>
            <a:r>
              <a:rPr lang="en-US" sz="2670" dirty="0">
                <a:solidFill>
                  <a:srgbClr val="000000"/>
                </a:solidFill>
                <a:latin typeface="Arial" pitchFamily="34" charset="0"/>
                <a:ea typeface="Arial" pitchFamily="34" charset="-122"/>
                <a:cs typeface="Arial" pitchFamily="34" charset="-120"/>
              </a:rPr>
              <a:t>数字资产市场为区块链提供了新的</a:t>
            </a:r>
            <a:pPr algn="l">
              <a:lnSpc>
                <a:spcPct val="120000"/>
              </a:lnSpc>
            </a:pPr>
            <a:r>
              <a:rPr lang="en-US" sz="2670" b="1" dirty="0">
                <a:solidFill>
                  <a:srgbClr val="04579A"/>
                </a:solidFill>
                <a:latin typeface="Arial" pitchFamily="34" charset="0"/>
                <a:ea typeface="Arial" pitchFamily="34" charset="-122"/>
                <a:cs typeface="Arial" pitchFamily="34" charset="-120"/>
              </a:rPr>
              <a:t>应用方向</a:t>
            </a:r>
            <a:pPr algn="l">
              <a:lnSpc>
                <a:spcPct val="120000"/>
              </a:lnSpc>
            </a:pPr>
            <a:r>
              <a:rPr lang="en-US" sz="2670" dirty="0">
                <a:solidFill>
                  <a:srgbClr val="000000"/>
                </a:solidFill>
                <a:latin typeface="Arial" pitchFamily="34" charset="0"/>
                <a:ea typeface="Arial" pitchFamily="34" charset="-122"/>
                <a:cs typeface="Arial" pitchFamily="34" charset="-120"/>
              </a:rPr>
              <a:t>，但同时也带来了新的</a:t>
            </a:r>
            <a:pPr algn="l">
              <a:lnSpc>
                <a:spcPct val="120000"/>
              </a:lnSpc>
            </a:pPr>
            <a:r>
              <a:rPr lang="en-US" sz="2670" b="1" dirty="0">
                <a:solidFill>
                  <a:srgbClr val="04579A"/>
                </a:solidFill>
                <a:latin typeface="Arial" pitchFamily="34" charset="0"/>
                <a:ea typeface="Arial" pitchFamily="34" charset="-122"/>
                <a:cs typeface="Arial" pitchFamily="34" charset="-120"/>
              </a:rPr>
              <a:t>技术需求</a:t>
            </a:r>
            <a:pPr algn="l">
              <a:lnSpc>
                <a:spcPct val="120000"/>
              </a:lnSpc>
            </a:pPr>
            <a:r>
              <a:rPr lang="en-US" sz="2670" dirty="0">
                <a:solidFill>
                  <a:srgbClr val="000000"/>
                </a:solidFill>
                <a:latin typeface="Arial" pitchFamily="34" charset="0"/>
                <a:ea typeface="Arial" pitchFamily="34" charset="-122"/>
                <a:cs typeface="Arial" pitchFamily="34" charset="-120"/>
              </a:rPr>
              <a:t>：</a:t>
            </a:r>
            <a:endParaRPr lang="en-US" sz="2670" dirty="0"/>
          </a:p>
        </p:txBody>
      </p:sp>
      <p:sp>
        <p:nvSpPr>
          <p:cNvPr id="5" name="Shape 2"/>
          <p:cNvSpPr/>
          <p:nvPr/>
        </p:nvSpPr>
        <p:spPr>
          <a:xfrm>
            <a:off x="2219960" y="0"/>
            <a:ext cx="2895600" cy="962660"/>
          </a:xfrm>
          <a:prstGeom prst="rect">
            <a:avLst/>
          </a:prstGeom>
          <a:solidFill>
            <a:srgbClr val="F2F2F2"/>
          </a:solidFill>
          <a:ln w="12700">
            <a:solidFill>
              <a:srgbClr val="F2F2F2"/>
            </a:solidFill>
            <a:prstDash val="solid"/>
          </a:ln>
        </p:spPr>
      </p:sp>
      <p:sp>
        <p:nvSpPr>
          <p:cNvPr id="6" name="Shape 3"/>
          <p:cNvSpPr/>
          <p:nvPr/>
        </p:nvSpPr>
        <p:spPr>
          <a:xfrm>
            <a:off x="5162169" y="-889"/>
            <a:ext cx="2590800" cy="962660"/>
          </a:xfrm>
          <a:prstGeom prst="rect">
            <a:avLst/>
          </a:prstGeom>
          <a:solidFill>
            <a:srgbClr val="F2F2F2"/>
          </a:solidFill>
          <a:ln/>
        </p:spPr>
      </p:sp>
      <p:sp>
        <p:nvSpPr>
          <p:cNvPr id="7" name="Shape 4"/>
          <p:cNvSpPr/>
          <p:nvPr/>
        </p:nvSpPr>
        <p:spPr>
          <a:xfrm>
            <a:off x="7816469" y="-889"/>
            <a:ext cx="4114800" cy="962660"/>
          </a:xfrm>
          <a:prstGeom prst="rect">
            <a:avLst/>
          </a:prstGeom>
          <a:solidFill>
            <a:srgbClr val="F2F2F2"/>
          </a:solidFill>
          <a:ln/>
        </p:spPr>
      </p:sp>
      <p:sp>
        <p:nvSpPr>
          <p:cNvPr id="8" name="Shape 5"/>
          <p:cNvSpPr/>
          <p:nvPr/>
        </p:nvSpPr>
        <p:spPr>
          <a:xfrm>
            <a:off x="11971020" y="0"/>
            <a:ext cx="4284980" cy="961771"/>
          </a:xfrm>
          <a:prstGeom prst="rect">
            <a:avLst/>
          </a:prstGeom>
          <a:solidFill>
            <a:srgbClr val="F2F2F2"/>
          </a:solidFill>
          <a:ln/>
        </p:spPr>
      </p:sp>
      <p:sp>
        <p:nvSpPr>
          <p:cNvPr id="9" name="Shape 6"/>
          <p:cNvSpPr/>
          <p:nvPr/>
        </p:nvSpPr>
        <p:spPr>
          <a:xfrm>
            <a:off x="2219960" y="-889"/>
            <a:ext cx="2895600" cy="962660"/>
          </a:xfrm>
          <a:prstGeom prst="rect">
            <a:avLst/>
          </a:prstGeom>
          <a:solidFill>
            <a:srgbClr val="04579A"/>
          </a:solidFill>
          <a:ln w="12700">
            <a:solidFill>
              <a:srgbClr val="04579A"/>
            </a:solidFill>
            <a:prstDash val="solid"/>
          </a:ln>
        </p:spPr>
      </p:sp>
      <p:sp>
        <p:nvSpPr>
          <p:cNvPr id="10" name="Text 7"/>
          <p:cNvSpPr/>
          <p:nvPr/>
        </p:nvSpPr>
        <p:spPr>
          <a:xfrm>
            <a:off x="2283460" y="203200"/>
            <a:ext cx="2768600" cy="508000"/>
          </a:xfrm>
          <a:prstGeom prst="rect">
            <a:avLst/>
          </a:prstGeom>
          <a:noFill/>
          <a:ln/>
        </p:spPr>
        <p:txBody>
          <a:bodyPr wrap="none" lIns="0" tIns="0" rIns="0" bIns="0" rtlCol="0" anchor="ctr"/>
          <a:lstStyle/>
          <a:p>
            <a:pPr algn="ctr">
              <a:lnSpc>
                <a:spcPct val="120000"/>
              </a:lnSpc>
            </a:pPr>
            <a:r>
              <a:rPr lang="en-US" sz="2000" dirty="0">
                <a:solidFill>
                  <a:srgbClr val="FFFFFF"/>
                </a:solidFill>
                <a:latin typeface="Arial" pitchFamily="34" charset="0"/>
                <a:ea typeface="Arial" pitchFamily="34" charset="-122"/>
                <a:cs typeface="Arial" pitchFamily="34" charset="-120"/>
              </a:rPr>
              <a:t>选题背景及意义</a:t>
            </a:r>
            <a:endParaRPr lang="en-US" sz="2000" dirty="0"/>
          </a:p>
        </p:txBody>
      </p:sp>
      <p:sp>
        <p:nvSpPr>
          <p:cNvPr id="11" name="Text 8"/>
          <p:cNvSpPr/>
          <p:nvPr/>
        </p:nvSpPr>
        <p:spPr>
          <a:xfrm>
            <a:off x="5225669" y="203200"/>
            <a:ext cx="24638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国内外研究现状</a:t>
            </a:r>
            <a:endParaRPr lang="en-US" sz="2000" dirty="0"/>
          </a:p>
        </p:txBody>
      </p:sp>
      <p:sp>
        <p:nvSpPr>
          <p:cNvPr id="12" name="Text 9"/>
          <p:cNvSpPr/>
          <p:nvPr/>
        </p:nvSpPr>
        <p:spPr>
          <a:xfrm>
            <a:off x="7879969" y="203200"/>
            <a:ext cx="39878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主要研究内容及预期目标</a:t>
            </a:r>
            <a:endParaRPr lang="en-US" sz="2000" dirty="0"/>
          </a:p>
        </p:txBody>
      </p:sp>
      <p:sp>
        <p:nvSpPr>
          <p:cNvPr id="13" name="Text 10"/>
          <p:cNvSpPr/>
          <p:nvPr/>
        </p:nvSpPr>
        <p:spPr>
          <a:xfrm>
            <a:off x="12034520" y="203200"/>
            <a:ext cx="415798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工作计划与进度安排</a:t>
            </a:r>
            <a:endParaRPr lang="en-US" sz="2000" dirty="0"/>
          </a:p>
        </p:txBody>
      </p:sp>
      <p:pic>
        <p:nvPicPr>
          <p:cNvPr id="14" name="Image 0" descr="https://kimi-img.moonshot.cn/pub/slides/okc/flfuysioo4gzm/mnt/agents/output/yuan_pptd/images/image_2.jpg">    </p:cNvPr>
          <p:cNvPicPr>
            <a:picLocks noChangeAspect="1"/>
          </p:cNvPicPr>
          <p:nvPr/>
        </p:nvPicPr>
        <p:blipFill>
          <a:blip r:embed="rId1"/>
          <a:srcRect l="5060" r="29000" t="0" b="0"/>
          <a:stretch/>
        </p:blipFill>
        <p:spPr>
          <a:xfrm>
            <a:off x="544449" y="140589"/>
            <a:ext cx="1273429" cy="745871"/>
          </a:xfrm>
          <a:prstGeom prst="rect">
            <a:avLst/>
          </a:prstGeom>
        </p:spPr>
      </p:pic>
      <p:sp>
        <p:nvSpPr>
          <p:cNvPr id="15" name="Shape 11"/>
          <p:cNvSpPr/>
          <p:nvPr/>
        </p:nvSpPr>
        <p:spPr>
          <a:xfrm rot="10800000">
            <a:off x="3496691" y="961771"/>
            <a:ext cx="389509" cy="304800"/>
          </a:xfrm>
          <a:prstGeom prst="triangle">
            <a:avLst>
              <a:gd name="adj" fmla="val 50000"/>
            </a:avLst>
          </a:prstGeom>
          <a:solidFill>
            <a:srgbClr val="04579A"/>
          </a:solidFill>
          <a:ln/>
        </p:spPr>
      </p:sp>
      <p:sp>
        <p:nvSpPr>
          <p:cNvPr id="16" name="Shape 12"/>
          <p:cNvSpPr/>
          <p:nvPr/>
        </p:nvSpPr>
        <p:spPr>
          <a:xfrm>
            <a:off x="654431" y="3809111"/>
            <a:ext cx="14037691" cy="762889"/>
          </a:xfrm>
          <a:prstGeom prst="rect">
            <a:avLst/>
          </a:prstGeom>
          <a:solidFill>
            <a:srgbClr val="F2F2F2"/>
          </a:solidFill>
          <a:ln/>
        </p:spPr>
      </p:sp>
      <p:sp>
        <p:nvSpPr>
          <p:cNvPr id="17" name="Shape 13"/>
          <p:cNvSpPr/>
          <p:nvPr/>
        </p:nvSpPr>
        <p:spPr>
          <a:xfrm>
            <a:off x="1358900" y="4713351"/>
            <a:ext cx="486029" cy="343789"/>
          </a:xfrm>
          <a:prstGeom prst="chevron">
            <a:avLst>
              <a:gd name="adj" fmla="val 50000"/>
            </a:avLst>
          </a:prstGeom>
          <a:solidFill>
            <a:srgbClr val="04579A"/>
          </a:solidFill>
          <a:ln w="12700">
            <a:solidFill>
              <a:srgbClr val="304B73"/>
            </a:solidFill>
            <a:prstDash val="solid"/>
          </a:ln>
        </p:spPr>
      </p:sp>
      <p:sp>
        <p:nvSpPr>
          <p:cNvPr id="18" name="Shape 14"/>
          <p:cNvSpPr/>
          <p:nvPr/>
        </p:nvSpPr>
        <p:spPr>
          <a:xfrm>
            <a:off x="643509" y="2236089"/>
            <a:ext cx="14037691" cy="762889"/>
          </a:xfrm>
          <a:prstGeom prst="rect">
            <a:avLst/>
          </a:prstGeom>
          <a:solidFill>
            <a:srgbClr val="F2F2F2"/>
          </a:solidFill>
          <a:ln/>
        </p:spPr>
      </p:sp>
      <p:sp>
        <p:nvSpPr>
          <p:cNvPr id="19" name="Text 15"/>
          <p:cNvSpPr/>
          <p:nvPr/>
        </p:nvSpPr>
        <p:spPr>
          <a:xfrm>
            <a:off x="742569" y="2218309"/>
            <a:ext cx="14771751" cy="5333111"/>
          </a:xfrm>
          <a:prstGeom prst="rect">
            <a:avLst/>
          </a:prstGeom>
          <a:noFill/>
          <a:ln/>
        </p:spPr>
        <p:txBody>
          <a:bodyPr wrap="square" lIns="0" tIns="0" rIns="0" bIns="0" rtlCol="0" anchor="t"/>
          <a:lstStyle/>
          <a:p>
            <a:pPr algn="l" marL="423863" indent="-423863">
              <a:lnSpc>
                <a:spcPct val="150000"/>
              </a:lnSpc>
              <a:spcBef>
                <a:spcPts val="10"/>
              </a:spcBef>
              <a:buSzPct val="100000"/>
              <a:buFont typeface="+mj-lt"/>
              <a:buAutoNum type="arabicPeriod" startAt="1"/>
            </a:pPr>
            <a:r>
              <a:rPr lang="en-US" sz="2670" dirty="0">
                <a:solidFill>
                  <a:srgbClr val="262626"/>
                </a:solidFill>
                <a:latin typeface="Arial" pitchFamily="34" charset="0"/>
                <a:ea typeface="Arial" pitchFamily="34" charset="-122"/>
                <a:cs typeface="Arial" pitchFamily="34" charset="-120"/>
              </a:rPr>
              <a:t>现实网络环境对分布式数字资产交易协议的安全性和健壮性提出了更高的要求</a:t>
            </a:r>
            <a:endParaRPr lang="en-US" sz="2670" dirty="0"/>
          </a:p>
          <a:p>
            <a:pPr algn="l">
              <a:lnSpc>
                <a:spcPct val="150000"/>
              </a:lnSpc>
            </a:pPr>
            <a:r>
              <a:rPr lang="en-US" sz="3200" b="1" dirty="0">
                <a:solidFill>
                  <a:srgbClr val="04579A"/>
                </a:solidFill>
                <a:latin typeface="Arial" pitchFamily="34" charset="0"/>
                <a:ea typeface="Arial" pitchFamily="34" charset="-122"/>
                <a:cs typeface="Arial" pitchFamily="34" charset="-120"/>
              </a:rPr>
              <a:t>分布式数字资产交易协议需要去除可信假设，建立更强的安全模型</a:t>
            </a:r>
            <a:endParaRPr lang="en-US" sz="2670" dirty="0"/>
          </a:p>
          <a:p>
            <a:pPr algn="l" marL="423863" indent="-423863">
              <a:lnSpc>
                <a:spcPct val="150000"/>
              </a:lnSpc>
              <a:spcBef>
                <a:spcPts val="10"/>
              </a:spcBef>
              <a:buSzPct val="100000"/>
              <a:buFont typeface="+mj-lt"/>
              <a:buAutoNum type="arabicPeriod" startAt="1"/>
            </a:pPr>
            <a:r>
              <a:rPr lang="en-US" sz="2670" dirty="0">
                <a:solidFill>
                  <a:srgbClr val="262626"/>
                </a:solidFill>
                <a:latin typeface="Arial" pitchFamily="34" charset="0"/>
                <a:ea typeface="Arial" pitchFamily="34" charset="-122"/>
                <a:cs typeface="Arial" pitchFamily="34" charset="-120"/>
              </a:rPr>
              <a:t>大规模、高并发的交易场景要求分布式数字资产交易协议具有可扩展性</a:t>
            </a:r>
            <a:endParaRPr lang="en-US" sz="2670" dirty="0"/>
          </a:p>
          <a:p>
            <a:pPr algn="l">
              <a:lnSpc>
                <a:spcPct val="150000"/>
              </a:lnSpc>
            </a:pPr>
            <a:r>
              <a:rPr lang="en-US" sz="3200" b="1" dirty="0">
                <a:solidFill>
                  <a:srgbClr val="04579A"/>
                </a:solidFill>
                <a:latin typeface="Arial" pitchFamily="34" charset="0"/>
                <a:ea typeface="Arial" pitchFamily="34" charset="-122"/>
                <a:cs typeface="Arial" pitchFamily="34" charset="-120"/>
              </a:rPr>
              <a:t>分布式数字资产交易协议需要高性能的链下方案构造</a:t>
            </a:r>
            <a:endParaRPr lang="en-US" sz="2670" dirty="0"/>
          </a:p>
          <a:p>
            <a:pPr algn="l" marL="423863" indent="-423863">
              <a:lnSpc>
                <a:spcPct val="150000"/>
              </a:lnSpc>
              <a:spcBef>
                <a:spcPts val="10"/>
              </a:spcBef>
              <a:buSzPct val="100000"/>
              <a:buFont typeface="+mj-lt"/>
              <a:buAutoNum type="arabicPeriod" startAt="1"/>
            </a:pPr>
            <a:r>
              <a:rPr lang="en-US" sz="2670" dirty="0">
                <a:solidFill>
                  <a:srgbClr val="262626"/>
                </a:solidFill>
                <a:latin typeface="Arial" pitchFamily="34" charset="0"/>
                <a:ea typeface="Arial" pitchFamily="34" charset="-122"/>
                <a:cs typeface="Arial" pitchFamily="34" charset="-120"/>
              </a:rPr>
              <a:t>异构区块链系统间的互联互通要求分布式数字资产交易协议具有互操作性</a:t>
            </a:r>
            <a:endParaRPr lang="en-US" sz="2670" dirty="0"/>
          </a:p>
          <a:p>
            <a:pPr algn="l">
              <a:lnSpc>
                <a:spcPct val="150000"/>
              </a:lnSpc>
            </a:pPr>
            <a:r>
              <a:rPr lang="en-US" sz="3200" b="1" dirty="0">
                <a:solidFill>
                  <a:srgbClr val="04579A"/>
                </a:solidFill>
                <a:latin typeface="Arial" pitchFamily="34" charset="0"/>
                <a:ea typeface="Arial" pitchFamily="34" charset="-122"/>
                <a:cs typeface="Arial" pitchFamily="34" charset="-120"/>
              </a:rPr>
              <a:t>分布式数字资产交易协议需要高效的跨链证明协议</a:t>
            </a:r>
            <a:endParaRPr lang="en-US" sz="2670" dirty="0"/>
          </a:p>
          <a:p>
            <a:pPr algn="l">
              <a:lnSpc>
                <a:spcPct val="150000"/>
              </a:lnSpc>
            </a:pPr>
            <a:r>
              <a:rPr lang="en-US" sz="2670" dirty="0">
                <a:solidFill>
                  <a:srgbClr val="262626"/>
                </a:solidFill>
                <a:latin typeface="Arial" pitchFamily="34" charset="0"/>
                <a:ea typeface="Arial" pitchFamily="34" charset="-122"/>
                <a:cs typeface="Arial" pitchFamily="34" charset="-120"/>
              </a:rPr>
              <a:t> </a:t>
            </a:r>
            <a:endParaRPr lang="en-US" sz="2670" dirty="0"/>
          </a:p>
        </p:txBody>
      </p:sp>
      <p:sp>
        <p:nvSpPr>
          <p:cNvPr id="20" name="Shape 16"/>
          <p:cNvSpPr/>
          <p:nvPr/>
        </p:nvSpPr>
        <p:spPr>
          <a:xfrm>
            <a:off x="1358900" y="3120009"/>
            <a:ext cx="486029" cy="343789"/>
          </a:xfrm>
          <a:prstGeom prst="chevron">
            <a:avLst>
              <a:gd name="adj" fmla="val 50000"/>
            </a:avLst>
          </a:prstGeom>
          <a:solidFill>
            <a:srgbClr val="04579A"/>
          </a:solidFill>
          <a:ln w="12700">
            <a:solidFill>
              <a:srgbClr val="304B73"/>
            </a:solidFill>
            <a:prstDash val="solid"/>
          </a:ln>
        </p:spPr>
      </p:sp>
      <p:sp>
        <p:nvSpPr>
          <p:cNvPr id="21" name="Text 17"/>
          <p:cNvSpPr/>
          <p:nvPr/>
        </p:nvSpPr>
        <p:spPr>
          <a:xfrm>
            <a:off x="15649067" y="8666353"/>
            <a:ext cx="606933" cy="492506"/>
          </a:xfrm>
          <a:prstGeom prst="rect">
            <a:avLst/>
          </a:prstGeom>
          <a:noFill/>
          <a:ln/>
        </p:spPr>
        <p:txBody>
          <a:bodyPr wrap="square" lIns="0" tIns="0" rIns="0" bIns="0" rtlCol="0" anchor="t"/>
          <a:lstStyle/>
          <a:p>
            <a:pPr algn="ctr">
              <a:lnSpc>
                <a:spcPct val="120000"/>
              </a:lnSpc>
            </a:pPr>
            <a:r>
              <a:rPr lang="en-US" sz="2400" dirty="0">
                <a:solidFill>
                  <a:srgbClr val="000000"/>
                </a:solidFill>
                <a:latin typeface="Arial" pitchFamily="34" charset="0"/>
                <a:ea typeface="Arial" pitchFamily="34" charset="-122"/>
                <a:cs typeface="Arial" pitchFamily="34" charset="-120"/>
              </a:rPr>
              <a:t>11</a:t>
            </a:r>
            <a:endParaRPr lang="en-US" sz="2400" dirty="0"/>
          </a:p>
        </p:txBody>
      </p:sp>
      <p:sp>
        <p:nvSpPr>
          <p:cNvPr id="22" name="Shape 18"/>
          <p:cNvSpPr/>
          <p:nvPr/>
        </p:nvSpPr>
        <p:spPr>
          <a:xfrm>
            <a:off x="1358900" y="6208141"/>
            <a:ext cx="486029" cy="343789"/>
          </a:xfrm>
          <a:prstGeom prst="chevron">
            <a:avLst>
              <a:gd name="adj" fmla="val 50000"/>
            </a:avLst>
          </a:prstGeom>
          <a:solidFill>
            <a:srgbClr val="04579A"/>
          </a:solidFill>
          <a:ln w="12700">
            <a:solidFill>
              <a:srgbClr val="304B73"/>
            </a:solidFill>
            <a:prstDash val="solid"/>
          </a:ln>
        </p:spPr>
      </p:sp>
    </p:spTree>
  </p:cSld>
  <p:clrMapOvr>
    <a:masterClrMapping/>
  </p:clrMapOvr>
  <p:transition>
    <p:fade/>
    <p:spd val="med"/>
  </p:transition>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1716151" y="5103749"/>
            <a:ext cx="12313031" cy="1879600"/>
          </a:xfrm>
          <a:prstGeom prst="ellipse">
            <a:avLst/>
          </a:prstGeom>
          <a:noFill/>
          <a:ln w="12700">
            <a:solidFill>
              <a:srgbClr val="04579A"/>
            </a:solidFill>
            <a:prstDash val="solid"/>
          </a:ln>
        </p:spPr>
      </p:sp>
      <p:sp>
        <p:nvSpPr>
          <p:cNvPr id="4" name="Shape 1"/>
          <p:cNvSpPr/>
          <p:nvPr/>
        </p:nvSpPr>
        <p:spPr>
          <a:xfrm>
            <a:off x="2220341" y="4573651"/>
            <a:ext cx="11647297" cy="1265809"/>
          </a:xfrm>
          <a:prstGeom prst="ellipse">
            <a:avLst/>
          </a:prstGeom>
          <a:solidFill>
            <a:srgbClr val="FFFFFF"/>
          </a:solidFill>
          <a:ln/>
        </p:spPr>
      </p:sp>
      <p:sp>
        <p:nvSpPr>
          <p:cNvPr id="5" name="Shape 2"/>
          <p:cNvSpPr/>
          <p:nvPr/>
        </p:nvSpPr>
        <p:spPr>
          <a:xfrm>
            <a:off x="9757791" y="2293620"/>
            <a:ext cx="3191129" cy="3550793"/>
          </a:xfrm>
          <a:prstGeom prst="roundRect">
            <a:avLst>
              <a:gd name="adj" fmla="val 16667"/>
            </a:avLst>
          </a:prstGeom>
          <a:solidFill>
            <a:srgbClr val="FFFFFF"/>
          </a:solidFill>
          <a:ln w="12700">
            <a:solidFill>
              <a:srgbClr val="04579A"/>
            </a:solidFill>
            <a:prstDash val="solid"/>
          </a:ln>
          <a:effectLst>
            <a:outerShdw sx="100000" sy="100000" kx="0" ky="0" algn="bl" rotWithShape="0" blurRad="63500" dist="50800" dir="2700000">
              <a:srgbClr val="000000">
                <a:alpha val="40000"/>
              </a:srgbClr>
            </a:outerShdw>
          </a:effectLst>
        </p:spPr>
      </p:sp>
      <p:sp>
        <p:nvSpPr>
          <p:cNvPr id="6" name="Text 3"/>
          <p:cNvSpPr/>
          <p:nvPr/>
        </p:nvSpPr>
        <p:spPr>
          <a:xfrm>
            <a:off x="10073640" y="4068699"/>
            <a:ext cx="2633980" cy="1108202"/>
          </a:xfrm>
          <a:prstGeom prst="rect">
            <a:avLst/>
          </a:prstGeom>
          <a:noFill/>
          <a:ln/>
        </p:spPr>
        <p:txBody>
          <a:bodyPr wrap="square" lIns="0" tIns="0" rIns="0" bIns="0" rtlCol="0" anchor="t"/>
          <a:lstStyle/>
          <a:p>
            <a:pPr algn="l">
              <a:lnSpc>
                <a:spcPct val="120000"/>
              </a:lnSpc>
            </a:pPr>
            <a:r>
              <a:rPr lang="en-US" sz="2130" dirty="0">
                <a:solidFill>
                  <a:srgbClr val="3F3F3F"/>
                </a:solidFill>
                <a:latin typeface="Arial" pitchFamily="34" charset="0"/>
                <a:ea typeface="Arial" pitchFamily="34" charset="-122"/>
                <a:cs typeface="Arial" pitchFamily="34" charset="-120"/>
              </a:rPr>
              <a:t>锁定或销毁源链中的资产，并在目标链中创建该资产</a:t>
            </a:r>
            <a:endParaRPr lang="en-US" sz="2130" dirty="0"/>
          </a:p>
        </p:txBody>
      </p:sp>
      <p:sp>
        <p:nvSpPr>
          <p:cNvPr id="7" name="Text 4"/>
          <p:cNvSpPr/>
          <p:nvPr/>
        </p:nvSpPr>
        <p:spPr>
          <a:xfrm>
            <a:off x="9757029" y="3392297"/>
            <a:ext cx="3191891" cy="531495"/>
          </a:xfrm>
          <a:prstGeom prst="rect">
            <a:avLst/>
          </a:prstGeom>
          <a:noFill/>
          <a:ln/>
        </p:spPr>
        <p:txBody>
          <a:bodyPr wrap="square" lIns="0" tIns="0" rIns="0" bIns="0" rtlCol="0" anchor="t"/>
          <a:lstStyle/>
          <a:p>
            <a:pPr algn="ctr">
              <a:lnSpc>
                <a:spcPct val="120000"/>
              </a:lnSpc>
            </a:pPr>
            <a:r>
              <a:rPr lang="en-US" sz="2670" b="1" dirty="0">
                <a:solidFill>
                  <a:srgbClr val="04579A"/>
                </a:solidFill>
                <a:latin typeface="Arial" pitchFamily="34" charset="0"/>
                <a:ea typeface="Arial" pitchFamily="34" charset="-122"/>
                <a:cs typeface="Arial" pitchFamily="34" charset="-120"/>
              </a:rPr>
              <a:t>资产转移</a:t>
            </a:r>
            <a:endParaRPr lang="en-US" sz="2670" dirty="0"/>
          </a:p>
        </p:txBody>
      </p:sp>
      <p:sp>
        <p:nvSpPr>
          <p:cNvPr id="8" name="Shape 5"/>
          <p:cNvSpPr/>
          <p:nvPr/>
        </p:nvSpPr>
        <p:spPr>
          <a:xfrm>
            <a:off x="2856611" y="2313051"/>
            <a:ext cx="3191129" cy="3559429"/>
          </a:xfrm>
          <a:prstGeom prst="roundRect">
            <a:avLst>
              <a:gd name="adj" fmla="val 16667"/>
            </a:avLst>
          </a:prstGeom>
          <a:solidFill>
            <a:srgbClr val="FFFFFF"/>
          </a:solidFill>
          <a:ln w="12700">
            <a:solidFill>
              <a:srgbClr val="04579A"/>
            </a:solidFill>
            <a:prstDash val="solid"/>
          </a:ln>
          <a:effectLst>
            <a:outerShdw sx="100000" sy="100000" kx="0" ky="0" algn="bl" rotWithShape="0" blurRad="63500" dist="50800" dir="2700000">
              <a:srgbClr val="000000">
                <a:alpha val="40000"/>
              </a:srgbClr>
            </a:outerShdw>
          </a:effectLst>
        </p:spPr>
      </p:sp>
      <p:sp>
        <p:nvSpPr>
          <p:cNvPr id="9" name="Shape 6"/>
          <p:cNvSpPr/>
          <p:nvPr/>
        </p:nvSpPr>
        <p:spPr>
          <a:xfrm>
            <a:off x="3200400" y="4072890"/>
            <a:ext cx="2502789" cy="1107948"/>
          </a:xfrm>
          <a:prstGeom prst="rect">
            <a:avLst/>
          </a:prstGeom>
          <a:solidFill>
            <a:srgbClr val="FFFFFF"/>
          </a:solidFill>
          <a:ln/>
        </p:spPr>
      </p:sp>
      <p:sp>
        <p:nvSpPr>
          <p:cNvPr id="10" name="Text 7"/>
          <p:cNvSpPr/>
          <p:nvPr/>
        </p:nvSpPr>
        <p:spPr>
          <a:xfrm>
            <a:off x="3200400" y="4072890"/>
            <a:ext cx="2502789" cy="1107948"/>
          </a:xfrm>
          <a:prstGeom prst="rect">
            <a:avLst/>
          </a:prstGeom>
          <a:noFill/>
          <a:ln/>
        </p:spPr>
        <p:txBody>
          <a:bodyPr wrap="square" lIns="0" tIns="0" rIns="0" bIns="0" rtlCol="0" anchor="t"/>
          <a:lstStyle/>
          <a:p>
            <a:pPr algn="l">
              <a:lnSpc>
                <a:spcPct val="120000"/>
              </a:lnSpc>
            </a:pPr>
            <a:r>
              <a:rPr lang="en-US" sz="2130" dirty="0">
                <a:solidFill>
                  <a:srgbClr val="3F3F3F"/>
                </a:solidFill>
                <a:latin typeface="Arial" pitchFamily="34" charset="0"/>
                <a:ea typeface="Arial" pitchFamily="34" charset="-122"/>
                <a:cs typeface="Arial" pitchFamily="34" charset="-120"/>
              </a:rPr>
              <a:t>在一个域中写入的信息可以被转移或复制到另一个域</a:t>
            </a:r>
            <a:endParaRPr lang="en-US" sz="2130" dirty="0"/>
          </a:p>
        </p:txBody>
      </p:sp>
      <p:sp>
        <p:nvSpPr>
          <p:cNvPr id="11" name="Text 8"/>
          <p:cNvSpPr/>
          <p:nvPr/>
        </p:nvSpPr>
        <p:spPr>
          <a:xfrm>
            <a:off x="2855849" y="3410331"/>
            <a:ext cx="3191891" cy="531749"/>
          </a:xfrm>
          <a:prstGeom prst="rect">
            <a:avLst/>
          </a:prstGeom>
          <a:noFill/>
          <a:ln/>
        </p:spPr>
        <p:txBody>
          <a:bodyPr wrap="square" lIns="0" tIns="0" rIns="0" bIns="0" rtlCol="0" anchor="t"/>
          <a:lstStyle/>
          <a:p>
            <a:pPr algn="ctr">
              <a:lnSpc>
                <a:spcPct val="120000"/>
              </a:lnSpc>
            </a:pPr>
            <a:r>
              <a:rPr lang="en-US" sz="2670" b="1" dirty="0">
                <a:solidFill>
                  <a:srgbClr val="04579A"/>
                </a:solidFill>
                <a:latin typeface="Arial" pitchFamily="34" charset="0"/>
                <a:ea typeface="Arial" pitchFamily="34" charset="-122"/>
                <a:cs typeface="Arial" pitchFamily="34" charset="-120"/>
              </a:rPr>
              <a:t>数据传输</a:t>
            </a:r>
            <a:endParaRPr lang="en-US" sz="2670" dirty="0"/>
          </a:p>
        </p:txBody>
      </p:sp>
      <p:sp>
        <p:nvSpPr>
          <p:cNvPr id="12" name="Text 9"/>
          <p:cNvSpPr/>
          <p:nvPr/>
        </p:nvSpPr>
        <p:spPr>
          <a:xfrm>
            <a:off x="6681851" y="4257421"/>
            <a:ext cx="2555240" cy="779399"/>
          </a:xfrm>
          <a:prstGeom prst="rect">
            <a:avLst/>
          </a:prstGeom>
          <a:noFill/>
          <a:ln/>
        </p:spPr>
        <p:txBody>
          <a:bodyPr wrap="square" lIns="0" tIns="0" rIns="0" bIns="0" rtlCol="0" anchor="t"/>
          <a:lstStyle/>
          <a:p>
            <a:pPr algn="l">
              <a:lnSpc>
                <a:spcPct val="120000"/>
              </a:lnSpc>
            </a:pPr>
            <a:r>
              <a:rPr lang="en-US" sz="2130" dirty="0">
                <a:solidFill>
                  <a:srgbClr val="3F3F3F"/>
                </a:solidFill>
                <a:latin typeface="Arial" pitchFamily="34" charset="0"/>
                <a:ea typeface="Arial" pitchFamily="34" charset="-122"/>
                <a:cs typeface="Arial" pitchFamily="34" charset="-120"/>
              </a:rPr>
              <a:t>允许不受信任的各方原子地交换资产</a:t>
            </a:r>
            <a:endParaRPr lang="en-US" sz="2130" dirty="0"/>
          </a:p>
        </p:txBody>
      </p:sp>
      <p:sp>
        <p:nvSpPr>
          <p:cNvPr id="13" name="Text 10"/>
          <p:cNvSpPr/>
          <p:nvPr/>
        </p:nvSpPr>
        <p:spPr>
          <a:xfrm>
            <a:off x="6305931" y="3393186"/>
            <a:ext cx="3191891" cy="531368"/>
          </a:xfrm>
          <a:prstGeom prst="rect">
            <a:avLst/>
          </a:prstGeom>
          <a:noFill/>
          <a:ln/>
        </p:spPr>
        <p:txBody>
          <a:bodyPr wrap="square" lIns="0" tIns="0" rIns="0" bIns="0" rtlCol="0" anchor="t"/>
          <a:lstStyle/>
          <a:p>
            <a:pPr algn="ctr">
              <a:lnSpc>
                <a:spcPct val="120000"/>
              </a:lnSpc>
            </a:pPr>
            <a:r>
              <a:rPr lang="en-US" sz="2670" b="1" dirty="0">
                <a:solidFill>
                  <a:srgbClr val="04579A"/>
                </a:solidFill>
                <a:latin typeface="Arial" pitchFamily="34" charset="0"/>
                <a:ea typeface="Arial" pitchFamily="34" charset="-122"/>
                <a:cs typeface="Arial" pitchFamily="34" charset="-120"/>
              </a:rPr>
              <a:t>资产交换</a:t>
            </a:r>
            <a:endParaRPr lang="en-US" sz="2670" dirty="0"/>
          </a:p>
        </p:txBody>
      </p:sp>
      <p:sp>
        <p:nvSpPr>
          <p:cNvPr id="14" name="Shape 11"/>
          <p:cNvSpPr/>
          <p:nvPr/>
        </p:nvSpPr>
        <p:spPr>
          <a:xfrm>
            <a:off x="6306820" y="2281809"/>
            <a:ext cx="3191129" cy="3588766"/>
          </a:xfrm>
          <a:prstGeom prst="roundRect">
            <a:avLst>
              <a:gd name="adj" fmla="val 16667"/>
            </a:avLst>
          </a:prstGeom>
          <a:noFill/>
          <a:ln w="12700">
            <a:solidFill>
              <a:srgbClr val="04579A"/>
            </a:solidFill>
            <a:prstDash val="solid"/>
          </a:ln>
          <a:effectLst>
            <a:outerShdw sx="100000" sy="100000" kx="0" ky="0" algn="bl" rotWithShape="0" blurRad="63500" dist="50800" dir="2700000">
              <a:srgbClr val="000000">
                <a:alpha val="40000"/>
              </a:srgbClr>
            </a:outerShdw>
          </a:effectLst>
        </p:spPr>
      </p:sp>
      <p:sp>
        <p:nvSpPr>
          <p:cNvPr id="15" name="Text 12"/>
          <p:cNvSpPr/>
          <p:nvPr/>
        </p:nvSpPr>
        <p:spPr>
          <a:xfrm>
            <a:off x="3623310" y="7989951"/>
            <a:ext cx="9009380" cy="492506"/>
          </a:xfrm>
          <a:prstGeom prst="rect">
            <a:avLst/>
          </a:prstGeom>
          <a:noFill/>
          <a:ln/>
        </p:spPr>
        <p:txBody>
          <a:bodyPr wrap="square" lIns="0" tIns="0" rIns="0" bIns="0" rtlCol="0" anchor="t"/>
          <a:lstStyle/>
          <a:p>
            <a:pPr algn="ctr">
              <a:lnSpc>
                <a:spcPct val="120000"/>
              </a:lnSpc>
            </a:pPr>
            <a:r>
              <a:rPr lang="en-US" sz="2400" b="1" dirty="0">
                <a:solidFill>
                  <a:srgbClr val="04579A"/>
                </a:solidFill>
                <a:latin typeface="Arial" pitchFamily="34" charset="0"/>
                <a:ea typeface="Arial" pitchFamily="34" charset="-122"/>
                <a:cs typeface="Arial" pitchFamily="34" charset="-120"/>
              </a:rPr>
              <a:t>跨链分布式数字资产交易协议的核心是跨链证明生成和验证机制</a:t>
            </a:r>
            <a:endParaRPr lang="en-US" sz="2400" dirty="0"/>
          </a:p>
        </p:txBody>
      </p:sp>
      <p:sp>
        <p:nvSpPr>
          <p:cNvPr id="16" name="Shape 13"/>
          <p:cNvSpPr/>
          <p:nvPr/>
        </p:nvSpPr>
        <p:spPr>
          <a:xfrm>
            <a:off x="11558651" y="5709920"/>
            <a:ext cx="1524000" cy="1524000"/>
          </a:xfrm>
          <a:prstGeom prst="ellipse">
            <a:avLst/>
          </a:prstGeom>
          <a:gradFill rotWithShape="1" flip="none">
            <a:gsLst>
              <a:gs pos="0">
                <a:srgbClr val="03569A"/>
              </a:gs>
              <a:gs pos="72000">
                <a:srgbClr val="F7F9FD"/>
              </a:gs>
              <a:gs pos="100000">
                <a:srgbClr val="F7F9FD"/>
              </a:gs>
            </a:gsLst>
            <a:path path="circle"/>
          </a:gradFill>
          <a:ln/>
        </p:spPr>
      </p:sp>
      <p:sp>
        <p:nvSpPr>
          <p:cNvPr id="17" name="Text 14"/>
          <p:cNvSpPr/>
          <p:nvPr/>
        </p:nvSpPr>
        <p:spPr>
          <a:xfrm>
            <a:off x="11558651" y="5709920"/>
            <a:ext cx="1524000" cy="1524000"/>
          </a:xfrm>
          <a:prstGeom prst="rect">
            <a:avLst/>
          </a:prstGeom>
          <a:noFill/>
          <a:ln/>
        </p:spPr>
        <p:txBody>
          <a:bodyPr wrap="square" lIns="0" tIns="0" rIns="0" bIns="0" rtlCol="0" anchor="ctr"/>
          <a:lstStyle/>
          <a:p>
            <a:pPr algn="ctr">
              <a:lnSpc>
                <a:spcPct val="120000"/>
              </a:lnSpc>
            </a:pPr>
            <a:r>
              <a:rPr lang="en-US" sz="2400" dirty="0">
                <a:solidFill>
                  <a:srgbClr val="FFFFFF"/>
                </a:solidFill>
                <a:latin typeface="Arial" pitchFamily="34" charset="0"/>
                <a:ea typeface="Arial" pitchFamily="34" charset="-122"/>
                <a:cs typeface="Arial" pitchFamily="34" charset="-120"/>
              </a:rPr>
              <a:t>条件交易</a:t>
            </a:r>
            <a:endParaRPr lang="en-US" sz="2400" dirty="0"/>
          </a:p>
        </p:txBody>
      </p:sp>
      <p:sp>
        <p:nvSpPr>
          <p:cNvPr id="18" name="Shape 15"/>
          <p:cNvSpPr/>
          <p:nvPr/>
        </p:nvSpPr>
        <p:spPr>
          <a:xfrm>
            <a:off x="8781669" y="6032500"/>
            <a:ext cx="1528191" cy="1528191"/>
          </a:xfrm>
          <a:prstGeom prst="ellipse">
            <a:avLst/>
          </a:prstGeom>
          <a:gradFill rotWithShape="1" flip="none">
            <a:gsLst>
              <a:gs pos="0">
                <a:srgbClr val="03569A"/>
              </a:gs>
              <a:gs pos="72000">
                <a:srgbClr val="F7F9FD"/>
              </a:gs>
              <a:gs pos="100000">
                <a:srgbClr val="F7F9FD"/>
              </a:gs>
            </a:gsLst>
            <a:path path="circle"/>
          </a:gradFill>
          <a:ln/>
        </p:spPr>
      </p:sp>
      <p:sp>
        <p:nvSpPr>
          <p:cNvPr id="19" name="Text 16"/>
          <p:cNvSpPr/>
          <p:nvPr/>
        </p:nvSpPr>
        <p:spPr>
          <a:xfrm>
            <a:off x="8781669" y="6032500"/>
            <a:ext cx="1528191" cy="1528191"/>
          </a:xfrm>
          <a:prstGeom prst="rect">
            <a:avLst/>
          </a:prstGeom>
          <a:noFill/>
          <a:ln/>
        </p:spPr>
        <p:txBody>
          <a:bodyPr wrap="square" lIns="0" tIns="0" rIns="0" bIns="0" rtlCol="0" anchor="ctr"/>
          <a:lstStyle/>
          <a:p>
            <a:pPr algn="ctr">
              <a:lnSpc>
                <a:spcPct val="120000"/>
              </a:lnSpc>
            </a:pPr>
            <a:r>
              <a:rPr lang="en-US" sz="2400" dirty="0">
                <a:solidFill>
                  <a:srgbClr val="FFFFFF"/>
                </a:solidFill>
                <a:latin typeface="Arial" pitchFamily="34" charset="0"/>
                <a:ea typeface="Arial" pitchFamily="34" charset="-122"/>
                <a:cs typeface="Arial" pitchFamily="34" charset="-120"/>
              </a:rPr>
              <a:t>证明验证</a:t>
            </a:r>
            <a:endParaRPr lang="en-US" sz="2400" dirty="0"/>
          </a:p>
        </p:txBody>
      </p:sp>
      <p:sp>
        <p:nvSpPr>
          <p:cNvPr id="20" name="Shape 17"/>
          <p:cNvSpPr/>
          <p:nvPr/>
        </p:nvSpPr>
        <p:spPr>
          <a:xfrm>
            <a:off x="5619369" y="6032500"/>
            <a:ext cx="1528191" cy="1528191"/>
          </a:xfrm>
          <a:prstGeom prst="ellipse">
            <a:avLst/>
          </a:prstGeom>
          <a:gradFill rotWithShape="1" flip="none">
            <a:gsLst>
              <a:gs pos="0">
                <a:srgbClr val="03569A"/>
              </a:gs>
              <a:gs pos="72000">
                <a:srgbClr val="F7F9FD"/>
              </a:gs>
              <a:gs pos="100000">
                <a:srgbClr val="F7F9FD"/>
              </a:gs>
            </a:gsLst>
            <a:path path="circle"/>
          </a:gradFill>
          <a:ln/>
        </p:spPr>
      </p:sp>
      <p:sp>
        <p:nvSpPr>
          <p:cNvPr id="21" name="Text 18"/>
          <p:cNvSpPr/>
          <p:nvPr/>
        </p:nvSpPr>
        <p:spPr>
          <a:xfrm>
            <a:off x="5619369" y="6032500"/>
            <a:ext cx="1528191" cy="1528191"/>
          </a:xfrm>
          <a:prstGeom prst="rect">
            <a:avLst/>
          </a:prstGeom>
          <a:noFill/>
          <a:ln/>
        </p:spPr>
        <p:txBody>
          <a:bodyPr wrap="square" lIns="0" tIns="0" rIns="0" bIns="0" rtlCol="0" anchor="ctr"/>
          <a:lstStyle/>
          <a:p>
            <a:pPr algn="ctr">
              <a:lnSpc>
                <a:spcPct val="120000"/>
              </a:lnSpc>
            </a:pPr>
            <a:r>
              <a:rPr lang="en-US" sz="2400" dirty="0">
                <a:solidFill>
                  <a:srgbClr val="FFFFFF"/>
                </a:solidFill>
                <a:latin typeface="Arial" pitchFamily="34" charset="0"/>
                <a:ea typeface="Arial" pitchFamily="34" charset="-122"/>
                <a:cs typeface="Arial" pitchFamily="34" charset="-120"/>
              </a:rPr>
              <a:t>证明生成</a:t>
            </a:r>
            <a:endParaRPr lang="en-US" sz="2400" dirty="0"/>
          </a:p>
        </p:txBody>
      </p:sp>
      <p:sp>
        <p:nvSpPr>
          <p:cNvPr id="22" name="Shape 19"/>
          <p:cNvSpPr/>
          <p:nvPr/>
        </p:nvSpPr>
        <p:spPr>
          <a:xfrm>
            <a:off x="2565400" y="5839460"/>
            <a:ext cx="1528191" cy="1528191"/>
          </a:xfrm>
          <a:prstGeom prst="ellipse">
            <a:avLst/>
          </a:prstGeom>
          <a:gradFill rotWithShape="1" flip="none">
            <a:gsLst>
              <a:gs pos="0">
                <a:srgbClr val="03569A"/>
              </a:gs>
              <a:gs pos="72000">
                <a:srgbClr val="F7F9FD"/>
              </a:gs>
              <a:gs pos="100000">
                <a:srgbClr val="F7F9FD"/>
              </a:gs>
            </a:gsLst>
            <a:path path="circle"/>
          </a:gradFill>
          <a:ln/>
        </p:spPr>
      </p:sp>
      <p:sp>
        <p:nvSpPr>
          <p:cNvPr id="23" name="Text 20"/>
          <p:cNvSpPr/>
          <p:nvPr/>
        </p:nvSpPr>
        <p:spPr>
          <a:xfrm>
            <a:off x="2565400" y="5839460"/>
            <a:ext cx="1528191" cy="1528191"/>
          </a:xfrm>
          <a:prstGeom prst="rect">
            <a:avLst/>
          </a:prstGeom>
          <a:noFill/>
          <a:ln/>
        </p:spPr>
        <p:txBody>
          <a:bodyPr wrap="square" lIns="0" tIns="0" rIns="0" bIns="0" rtlCol="0" anchor="ctr"/>
          <a:lstStyle/>
          <a:p>
            <a:pPr algn="ctr">
              <a:lnSpc>
                <a:spcPct val="120000"/>
              </a:lnSpc>
            </a:pPr>
            <a:r>
              <a:rPr lang="en-US" sz="2400" dirty="0">
                <a:solidFill>
                  <a:srgbClr val="FFFFFF"/>
                </a:solidFill>
                <a:latin typeface="Arial" pitchFamily="34" charset="0"/>
                <a:ea typeface="Arial" pitchFamily="34" charset="-122"/>
                <a:cs typeface="Arial" pitchFamily="34" charset="-120"/>
              </a:rPr>
              <a:t>资产</a:t>
            </a:r>
            <a:endParaRPr lang="en-US" sz="2400" dirty="0"/>
          </a:p>
          <a:p>
            <a:pPr algn="ctr">
              <a:lnSpc>
                <a:spcPct val="120000"/>
              </a:lnSpc>
            </a:pPr>
            <a:r>
              <a:rPr lang="en-US" sz="2400" dirty="0">
                <a:solidFill>
                  <a:srgbClr val="FFFFFF"/>
                </a:solidFill>
                <a:latin typeface="Arial" pitchFamily="34" charset="0"/>
                <a:ea typeface="Arial" pitchFamily="34" charset="-122"/>
                <a:cs typeface="Arial" pitchFamily="34" charset="-120"/>
              </a:rPr>
              <a:t>托管</a:t>
            </a:r>
            <a:endParaRPr lang="en-US" sz="2400" dirty="0"/>
          </a:p>
        </p:txBody>
      </p:sp>
      <p:sp>
        <p:nvSpPr>
          <p:cNvPr id="24" name="Shape 21"/>
          <p:cNvSpPr/>
          <p:nvPr/>
        </p:nvSpPr>
        <p:spPr>
          <a:xfrm>
            <a:off x="2219960" y="0"/>
            <a:ext cx="2895600" cy="962660"/>
          </a:xfrm>
          <a:prstGeom prst="rect">
            <a:avLst/>
          </a:prstGeom>
          <a:solidFill>
            <a:srgbClr val="F2F2F2"/>
          </a:solidFill>
          <a:ln w="12700">
            <a:solidFill>
              <a:srgbClr val="F2F2F2"/>
            </a:solidFill>
            <a:prstDash val="solid"/>
          </a:ln>
        </p:spPr>
      </p:sp>
      <p:sp>
        <p:nvSpPr>
          <p:cNvPr id="25" name="Shape 22"/>
          <p:cNvSpPr/>
          <p:nvPr/>
        </p:nvSpPr>
        <p:spPr>
          <a:xfrm>
            <a:off x="5162169" y="-889"/>
            <a:ext cx="2590800" cy="962660"/>
          </a:xfrm>
          <a:prstGeom prst="rect">
            <a:avLst/>
          </a:prstGeom>
          <a:solidFill>
            <a:srgbClr val="F2F2F2"/>
          </a:solidFill>
          <a:ln/>
        </p:spPr>
      </p:sp>
      <p:sp>
        <p:nvSpPr>
          <p:cNvPr id="26" name="Shape 23"/>
          <p:cNvSpPr/>
          <p:nvPr/>
        </p:nvSpPr>
        <p:spPr>
          <a:xfrm>
            <a:off x="7816469" y="-889"/>
            <a:ext cx="4114800" cy="962660"/>
          </a:xfrm>
          <a:prstGeom prst="rect">
            <a:avLst/>
          </a:prstGeom>
          <a:solidFill>
            <a:srgbClr val="F2F2F2"/>
          </a:solidFill>
          <a:ln/>
        </p:spPr>
      </p:sp>
      <p:sp>
        <p:nvSpPr>
          <p:cNvPr id="27" name="Shape 24"/>
          <p:cNvSpPr/>
          <p:nvPr/>
        </p:nvSpPr>
        <p:spPr>
          <a:xfrm>
            <a:off x="11971020" y="0"/>
            <a:ext cx="4284980" cy="961771"/>
          </a:xfrm>
          <a:prstGeom prst="rect">
            <a:avLst/>
          </a:prstGeom>
          <a:solidFill>
            <a:srgbClr val="F2F2F2"/>
          </a:solidFill>
          <a:ln/>
        </p:spPr>
      </p:sp>
      <p:sp>
        <p:nvSpPr>
          <p:cNvPr id="28" name="Shape 25"/>
          <p:cNvSpPr/>
          <p:nvPr/>
        </p:nvSpPr>
        <p:spPr>
          <a:xfrm>
            <a:off x="2219960" y="-889"/>
            <a:ext cx="2895600" cy="962660"/>
          </a:xfrm>
          <a:prstGeom prst="rect">
            <a:avLst/>
          </a:prstGeom>
          <a:solidFill>
            <a:srgbClr val="04579A"/>
          </a:solidFill>
          <a:ln w="12700">
            <a:solidFill>
              <a:srgbClr val="04579A"/>
            </a:solidFill>
            <a:prstDash val="solid"/>
          </a:ln>
        </p:spPr>
      </p:sp>
      <p:sp>
        <p:nvSpPr>
          <p:cNvPr id="29" name="Text 26"/>
          <p:cNvSpPr/>
          <p:nvPr/>
        </p:nvSpPr>
        <p:spPr>
          <a:xfrm>
            <a:off x="2283460" y="203200"/>
            <a:ext cx="2768600" cy="508000"/>
          </a:xfrm>
          <a:prstGeom prst="rect">
            <a:avLst/>
          </a:prstGeom>
          <a:noFill/>
          <a:ln/>
        </p:spPr>
        <p:txBody>
          <a:bodyPr wrap="none" lIns="0" tIns="0" rIns="0" bIns="0" rtlCol="0" anchor="ctr"/>
          <a:lstStyle/>
          <a:p>
            <a:pPr algn="ctr">
              <a:lnSpc>
                <a:spcPct val="120000"/>
              </a:lnSpc>
            </a:pPr>
            <a:r>
              <a:rPr lang="en-US" sz="2000" dirty="0">
                <a:solidFill>
                  <a:srgbClr val="FFFFFF"/>
                </a:solidFill>
                <a:latin typeface="Arial" pitchFamily="34" charset="0"/>
                <a:ea typeface="Arial" pitchFamily="34" charset="-122"/>
                <a:cs typeface="Arial" pitchFamily="34" charset="-120"/>
              </a:rPr>
              <a:t>选题背景及意义</a:t>
            </a:r>
            <a:endParaRPr lang="en-US" sz="2000" dirty="0"/>
          </a:p>
        </p:txBody>
      </p:sp>
      <p:sp>
        <p:nvSpPr>
          <p:cNvPr id="30" name="Text 27"/>
          <p:cNvSpPr/>
          <p:nvPr/>
        </p:nvSpPr>
        <p:spPr>
          <a:xfrm>
            <a:off x="5225669" y="203200"/>
            <a:ext cx="24638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国内外研究现状</a:t>
            </a:r>
            <a:endParaRPr lang="en-US" sz="2000" dirty="0"/>
          </a:p>
        </p:txBody>
      </p:sp>
      <p:sp>
        <p:nvSpPr>
          <p:cNvPr id="31" name="Text 28"/>
          <p:cNvSpPr/>
          <p:nvPr/>
        </p:nvSpPr>
        <p:spPr>
          <a:xfrm>
            <a:off x="7879969" y="203200"/>
            <a:ext cx="39878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主要研究内容及预期目标</a:t>
            </a:r>
            <a:endParaRPr lang="en-US" sz="2000" dirty="0"/>
          </a:p>
        </p:txBody>
      </p:sp>
      <p:sp>
        <p:nvSpPr>
          <p:cNvPr id="32" name="Text 29"/>
          <p:cNvSpPr/>
          <p:nvPr/>
        </p:nvSpPr>
        <p:spPr>
          <a:xfrm>
            <a:off x="12034520" y="203200"/>
            <a:ext cx="415798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工作计划与进度安排</a:t>
            </a:r>
            <a:endParaRPr lang="en-US" sz="2000" dirty="0"/>
          </a:p>
        </p:txBody>
      </p:sp>
      <p:pic>
        <p:nvPicPr>
          <p:cNvPr id="33" name="Image 0" descr="https://kimi-img.moonshot.cn/pub/slides/okc/flfuysioo4gzm/mnt/agents/output/yuan_pptd/images/image_2.jpg">    </p:cNvPr>
          <p:cNvPicPr>
            <a:picLocks noChangeAspect="1"/>
          </p:cNvPicPr>
          <p:nvPr/>
        </p:nvPicPr>
        <p:blipFill>
          <a:blip r:embed="rId1"/>
          <a:srcRect l="5060" r="29000" t="0" b="0"/>
          <a:stretch/>
        </p:blipFill>
        <p:spPr>
          <a:xfrm>
            <a:off x="544449" y="140589"/>
            <a:ext cx="1273429" cy="745871"/>
          </a:xfrm>
          <a:prstGeom prst="rect">
            <a:avLst/>
          </a:prstGeom>
        </p:spPr>
      </p:pic>
      <p:sp>
        <p:nvSpPr>
          <p:cNvPr id="34" name="Shape 30"/>
          <p:cNvSpPr/>
          <p:nvPr/>
        </p:nvSpPr>
        <p:spPr>
          <a:xfrm rot="10800000">
            <a:off x="3496691" y="961771"/>
            <a:ext cx="389509" cy="304800"/>
          </a:xfrm>
          <a:prstGeom prst="triangle">
            <a:avLst>
              <a:gd name="adj" fmla="val 50000"/>
            </a:avLst>
          </a:prstGeom>
          <a:solidFill>
            <a:srgbClr val="04579A"/>
          </a:solidFill>
          <a:ln/>
        </p:spPr>
      </p:sp>
      <p:sp>
        <p:nvSpPr>
          <p:cNvPr id="35" name="Text 31"/>
          <p:cNvSpPr/>
          <p:nvPr/>
        </p:nvSpPr>
        <p:spPr>
          <a:xfrm>
            <a:off x="544449" y="1266571"/>
            <a:ext cx="14303629" cy="665480"/>
          </a:xfrm>
          <a:prstGeom prst="rect">
            <a:avLst/>
          </a:prstGeom>
          <a:noFill/>
          <a:ln/>
        </p:spPr>
        <p:txBody>
          <a:bodyPr wrap="square" lIns="0" tIns="0" rIns="0" bIns="0" rtlCol="0" anchor="t"/>
          <a:lstStyle/>
          <a:p>
            <a:pPr algn="l" marL="423863" indent="-423863">
              <a:lnSpc>
                <a:spcPct val="150000"/>
              </a:lnSpc>
              <a:spcBef>
                <a:spcPts val="10"/>
              </a:spcBef>
              <a:buSzPct val="100000"/>
              <a:buFont typeface="+mj-lt"/>
              <a:buAutoNum type="arabicPeriod" startAt="1"/>
            </a:pPr>
            <a:r>
              <a:rPr lang="en-US" sz="2670" dirty="0">
                <a:solidFill>
                  <a:srgbClr val="3F3F3F"/>
                </a:solidFill>
                <a:latin typeface="Arial" pitchFamily="34" charset="0"/>
                <a:ea typeface="Arial" pitchFamily="34" charset="-122"/>
                <a:cs typeface="Arial" pitchFamily="34" charset="-120"/>
              </a:rPr>
              <a:t>异构区块链系统间的互联互通要求分布式数字资产交易协议具有互操作性</a:t>
            </a:r>
            <a:endParaRPr lang="en-US" sz="2670" dirty="0"/>
          </a:p>
        </p:txBody>
      </p:sp>
      <p:pic>
        <p:nvPicPr>
          <p:cNvPr id="36" name="Image 1" descr="https://kimi-img.moonshot.cn/pub/slides/okc/flfuysioo4gzm/mnt/agents/output/yuan_pptd/images/image_25.sv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097020" y="2649982"/>
            <a:ext cx="600329" cy="600329"/>
          </a:xfrm>
          <a:prstGeom prst="rect">
            <a:avLst/>
          </a:prstGeom>
        </p:spPr>
      </p:pic>
      <p:pic>
        <p:nvPicPr>
          <p:cNvPr id="37" name="Image 2" descr="https://kimi-img.moonshot.cn/pub/slides/okc/flfuysioo4gzm/mnt/agents/output/yuan_pptd/images/image_26.sv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603744" y="2645537"/>
            <a:ext cx="596265" cy="596265"/>
          </a:xfrm>
          <a:prstGeom prst="rect">
            <a:avLst/>
          </a:prstGeom>
        </p:spPr>
      </p:pic>
      <p:pic>
        <p:nvPicPr>
          <p:cNvPr id="38" name="Image 3" descr="https://kimi-img.moonshot.cn/pub/slides/okc/flfuysioo4gzm/mnt/agents/output/yuan_pptd/images/image_27.sv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1054842" y="2645410"/>
            <a:ext cx="596265" cy="596265"/>
          </a:xfrm>
          <a:prstGeom prst="rect">
            <a:avLst/>
          </a:prstGeom>
        </p:spPr>
      </p:pic>
      <p:sp>
        <p:nvSpPr>
          <p:cNvPr id="39" name="Text 32"/>
          <p:cNvSpPr/>
          <p:nvPr/>
        </p:nvSpPr>
        <p:spPr>
          <a:xfrm>
            <a:off x="15649067" y="8666353"/>
            <a:ext cx="606933" cy="492506"/>
          </a:xfrm>
          <a:prstGeom prst="rect">
            <a:avLst/>
          </a:prstGeom>
          <a:noFill/>
          <a:ln/>
        </p:spPr>
        <p:txBody>
          <a:bodyPr wrap="square" lIns="0" tIns="0" rIns="0" bIns="0" rtlCol="0" anchor="t"/>
          <a:lstStyle/>
          <a:p>
            <a:pPr algn="ctr">
              <a:lnSpc>
                <a:spcPct val="120000"/>
              </a:lnSpc>
            </a:pPr>
            <a:r>
              <a:rPr lang="en-US" sz="2400" dirty="0">
                <a:solidFill>
                  <a:srgbClr val="000000"/>
                </a:solidFill>
                <a:latin typeface="Arial" pitchFamily="34" charset="0"/>
                <a:ea typeface="Arial" pitchFamily="34" charset="-122"/>
                <a:cs typeface="Arial" pitchFamily="34" charset="-120"/>
              </a:rPr>
              <a:t>12</a:t>
            </a:r>
            <a:endParaRPr lang="en-US" sz="2400" dirty="0"/>
          </a:p>
        </p:txBody>
      </p:sp>
    </p:spTree>
  </p:cSld>
  <p:clrMapOvr>
    <a:masterClrMapping/>
  </p:clrMapOvr>
  <p:transition>
    <p:fade/>
    <p:spd val="med"/>
  </p:transition>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2219960" y="0"/>
            <a:ext cx="2895600" cy="962660"/>
          </a:xfrm>
          <a:prstGeom prst="rect">
            <a:avLst/>
          </a:prstGeom>
          <a:solidFill>
            <a:srgbClr val="F2F2F2"/>
          </a:solidFill>
          <a:ln w="12700">
            <a:solidFill>
              <a:srgbClr val="F2F2F2"/>
            </a:solidFill>
            <a:prstDash val="solid"/>
          </a:ln>
        </p:spPr>
      </p:sp>
      <p:sp>
        <p:nvSpPr>
          <p:cNvPr id="4" name="Shape 1"/>
          <p:cNvSpPr/>
          <p:nvPr/>
        </p:nvSpPr>
        <p:spPr>
          <a:xfrm>
            <a:off x="5162169" y="-889"/>
            <a:ext cx="2590800" cy="962660"/>
          </a:xfrm>
          <a:prstGeom prst="rect">
            <a:avLst/>
          </a:prstGeom>
          <a:solidFill>
            <a:srgbClr val="F2F2F2"/>
          </a:solidFill>
          <a:ln/>
        </p:spPr>
      </p:sp>
      <p:sp>
        <p:nvSpPr>
          <p:cNvPr id="5" name="Shape 2"/>
          <p:cNvSpPr/>
          <p:nvPr/>
        </p:nvSpPr>
        <p:spPr>
          <a:xfrm>
            <a:off x="7816469" y="-889"/>
            <a:ext cx="4114800" cy="962660"/>
          </a:xfrm>
          <a:prstGeom prst="rect">
            <a:avLst/>
          </a:prstGeom>
          <a:solidFill>
            <a:srgbClr val="F2F2F2"/>
          </a:solidFill>
          <a:ln/>
        </p:spPr>
      </p:sp>
      <p:sp>
        <p:nvSpPr>
          <p:cNvPr id="6" name="Shape 3"/>
          <p:cNvSpPr/>
          <p:nvPr/>
        </p:nvSpPr>
        <p:spPr>
          <a:xfrm>
            <a:off x="11971020" y="0"/>
            <a:ext cx="4284980" cy="961771"/>
          </a:xfrm>
          <a:prstGeom prst="rect">
            <a:avLst/>
          </a:prstGeom>
          <a:solidFill>
            <a:srgbClr val="F2F2F2"/>
          </a:solidFill>
          <a:ln/>
        </p:spPr>
      </p:sp>
      <p:sp>
        <p:nvSpPr>
          <p:cNvPr id="7" name="Shape 4"/>
          <p:cNvSpPr/>
          <p:nvPr/>
        </p:nvSpPr>
        <p:spPr>
          <a:xfrm>
            <a:off x="2219960" y="-889"/>
            <a:ext cx="2895600" cy="962660"/>
          </a:xfrm>
          <a:prstGeom prst="rect">
            <a:avLst/>
          </a:prstGeom>
          <a:solidFill>
            <a:srgbClr val="04579A"/>
          </a:solidFill>
          <a:ln w="12700">
            <a:solidFill>
              <a:srgbClr val="04579A"/>
            </a:solidFill>
            <a:prstDash val="solid"/>
          </a:ln>
        </p:spPr>
      </p:sp>
      <p:sp>
        <p:nvSpPr>
          <p:cNvPr id="8" name="Text 5"/>
          <p:cNvSpPr/>
          <p:nvPr/>
        </p:nvSpPr>
        <p:spPr>
          <a:xfrm>
            <a:off x="2283460" y="203200"/>
            <a:ext cx="2768600" cy="508000"/>
          </a:xfrm>
          <a:prstGeom prst="rect">
            <a:avLst/>
          </a:prstGeom>
          <a:noFill/>
          <a:ln/>
        </p:spPr>
        <p:txBody>
          <a:bodyPr wrap="none" lIns="0" tIns="0" rIns="0" bIns="0" rtlCol="0" anchor="ctr"/>
          <a:lstStyle/>
          <a:p>
            <a:pPr algn="ctr">
              <a:lnSpc>
                <a:spcPct val="120000"/>
              </a:lnSpc>
            </a:pPr>
            <a:r>
              <a:rPr lang="en-US" sz="2000" dirty="0">
                <a:solidFill>
                  <a:srgbClr val="FFFFFF"/>
                </a:solidFill>
                <a:latin typeface="Arial" pitchFamily="34" charset="0"/>
                <a:ea typeface="Arial" pitchFamily="34" charset="-122"/>
                <a:cs typeface="Arial" pitchFamily="34" charset="-120"/>
              </a:rPr>
              <a:t>选题背景及意义</a:t>
            </a:r>
            <a:endParaRPr lang="en-US" sz="2000" dirty="0"/>
          </a:p>
        </p:txBody>
      </p:sp>
      <p:sp>
        <p:nvSpPr>
          <p:cNvPr id="9" name="Text 6"/>
          <p:cNvSpPr/>
          <p:nvPr/>
        </p:nvSpPr>
        <p:spPr>
          <a:xfrm>
            <a:off x="5225669" y="203200"/>
            <a:ext cx="24638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国内外研究现状</a:t>
            </a:r>
            <a:endParaRPr lang="en-US" sz="2000" dirty="0"/>
          </a:p>
        </p:txBody>
      </p:sp>
      <p:sp>
        <p:nvSpPr>
          <p:cNvPr id="10" name="Text 7"/>
          <p:cNvSpPr/>
          <p:nvPr/>
        </p:nvSpPr>
        <p:spPr>
          <a:xfrm>
            <a:off x="7879969" y="203200"/>
            <a:ext cx="39878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主要研究内容及预期目标</a:t>
            </a:r>
            <a:endParaRPr lang="en-US" sz="2000" dirty="0"/>
          </a:p>
        </p:txBody>
      </p:sp>
      <p:sp>
        <p:nvSpPr>
          <p:cNvPr id="11" name="Text 8"/>
          <p:cNvSpPr/>
          <p:nvPr/>
        </p:nvSpPr>
        <p:spPr>
          <a:xfrm>
            <a:off x="12034520" y="203200"/>
            <a:ext cx="415798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工作计划与进度安排</a:t>
            </a:r>
            <a:endParaRPr lang="en-US" sz="2000" dirty="0"/>
          </a:p>
        </p:txBody>
      </p:sp>
      <p:pic>
        <p:nvPicPr>
          <p:cNvPr id="12" name="Image 0" descr="https://kimi-img.moonshot.cn/pub/slides/okc/flfuysioo4gzm/mnt/agents/output/yuan_pptd/images/image_2.jpg">    </p:cNvPr>
          <p:cNvPicPr>
            <a:picLocks noChangeAspect="1"/>
          </p:cNvPicPr>
          <p:nvPr/>
        </p:nvPicPr>
        <p:blipFill>
          <a:blip r:embed="rId1"/>
          <a:srcRect l="5060" r="29000" t="0" b="0"/>
          <a:stretch/>
        </p:blipFill>
        <p:spPr>
          <a:xfrm>
            <a:off x="544449" y="140589"/>
            <a:ext cx="1273429" cy="745871"/>
          </a:xfrm>
          <a:prstGeom prst="rect">
            <a:avLst/>
          </a:prstGeom>
        </p:spPr>
      </p:pic>
      <p:sp>
        <p:nvSpPr>
          <p:cNvPr id="13" name="Shape 9"/>
          <p:cNvSpPr/>
          <p:nvPr/>
        </p:nvSpPr>
        <p:spPr>
          <a:xfrm rot="10800000">
            <a:off x="3496691" y="961771"/>
            <a:ext cx="389509" cy="304800"/>
          </a:xfrm>
          <a:prstGeom prst="triangle">
            <a:avLst>
              <a:gd name="adj" fmla="val 50000"/>
            </a:avLst>
          </a:prstGeom>
          <a:solidFill>
            <a:srgbClr val="04579A"/>
          </a:solidFill>
          <a:ln/>
        </p:spPr>
      </p:sp>
      <p:sp>
        <p:nvSpPr>
          <p:cNvPr id="14" name="Text 10"/>
          <p:cNvSpPr/>
          <p:nvPr/>
        </p:nvSpPr>
        <p:spPr>
          <a:xfrm>
            <a:off x="643509" y="1196340"/>
            <a:ext cx="14772640" cy="531749"/>
          </a:xfrm>
          <a:prstGeom prst="rect">
            <a:avLst/>
          </a:prstGeom>
          <a:noFill/>
          <a:ln/>
        </p:spPr>
        <p:txBody>
          <a:bodyPr wrap="square" lIns="0" tIns="0" rIns="0" bIns="0" rtlCol="0" anchor="t"/>
          <a:lstStyle/>
          <a:p>
            <a:pPr algn="l">
              <a:lnSpc>
                <a:spcPct val="120000"/>
              </a:lnSpc>
            </a:pPr>
            <a:r>
              <a:rPr lang="en-US" sz="2670" dirty="0">
                <a:solidFill>
                  <a:srgbClr val="000000"/>
                </a:solidFill>
                <a:latin typeface="Arial" pitchFamily="34" charset="0"/>
                <a:ea typeface="Arial" pitchFamily="34" charset="-122"/>
                <a:cs typeface="Arial" pitchFamily="34" charset="-120"/>
              </a:rPr>
              <a:t>数字资产市场为区块链提供了新的</a:t>
            </a:r>
            <a:pPr algn="l">
              <a:lnSpc>
                <a:spcPct val="120000"/>
              </a:lnSpc>
            </a:pPr>
            <a:r>
              <a:rPr lang="en-US" sz="2670" b="1" dirty="0">
                <a:solidFill>
                  <a:srgbClr val="04579A"/>
                </a:solidFill>
                <a:latin typeface="Arial" pitchFamily="34" charset="0"/>
                <a:ea typeface="Arial" pitchFamily="34" charset="-122"/>
                <a:cs typeface="Arial" pitchFamily="34" charset="-120"/>
              </a:rPr>
              <a:t>应用方向</a:t>
            </a:r>
            <a:pPr algn="l">
              <a:lnSpc>
                <a:spcPct val="120000"/>
              </a:lnSpc>
            </a:pPr>
            <a:r>
              <a:rPr lang="en-US" sz="2670" dirty="0">
                <a:solidFill>
                  <a:srgbClr val="000000"/>
                </a:solidFill>
                <a:latin typeface="Arial" pitchFamily="34" charset="0"/>
                <a:ea typeface="Arial" pitchFamily="34" charset="-122"/>
                <a:cs typeface="Arial" pitchFamily="34" charset="-120"/>
              </a:rPr>
              <a:t>，但同时也带来了新的</a:t>
            </a:r>
            <a:pPr algn="l">
              <a:lnSpc>
                <a:spcPct val="120000"/>
              </a:lnSpc>
            </a:pPr>
            <a:r>
              <a:rPr lang="en-US" sz="2670" b="1" dirty="0">
                <a:solidFill>
                  <a:srgbClr val="04579A"/>
                </a:solidFill>
                <a:latin typeface="Arial" pitchFamily="34" charset="0"/>
                <a:ea typeface="Arial" pitchFamily="34" charset="-122"/>
                <a:cs typeface="Arial" pitchFamily="34" charset="-120"/>
              </a:rPr>
              <a:t>技术需求</a:t>
            </a:r>
            <a:pPr algn="l">
              <a:lnSpc>
                <a:spcPct val="120000"/>
              </a:lnSpc>
            </a:pPr>
            <a:r>
              <a:rPr lang="en-US" sz="2670" dirty="0">
                <a:solidFill>
                  <a:srgbClr val="000000"/>
                </a:solidFill>
                <a:latin typeface="Arial" pitchFamily="34" charset="0"/>
                <a:ea typeface="Arial" pitchFamily="34" charset="-122"/>
                <a:cs typeface="Arial" pitchFamily="34" charset="-120"/>
              </a:rPr>
              <a:t>：</a:t>
            </a:r>
            <a:endParaRPr lang="en-US" sz="2670" dirty="0"/>
          </a:p>
        </p:txBody>
      </p:sp>
      <p:sp>
        <p:nvSpPr>
          <p:cNvPr id="15" name="Text 11"/>
          <p:cNvSpPr/>
          <p:nvPr/>
        </p:nvSpPr>
        <p:spPr>
          <a:xfrm>
            <a:off x="1010920" y="7786751"/>
            <a:ext cx="14037691" cy="531749"/>
          </a:xfrm>
          <a:prstGeom prst="rect">
            <a:avLst/>
          </a:prstGeom>
          <a:noFill/>
          <a:ln/>
        </p:spPr>
        <p:txBody>
          <a:bodyPr wrap="square" lIns="0" tIns="0" rIns="0" bIns="0" rtlCol="0" anchor="t"/>
          <a:lstStyle/>
          <a:p>
            <a:pPr algn="ctr">
              <a:lnSpc>
                <a:spcPct val="120000"/>
              </a:lnSpc>
            </a:pPr>
            <a:r>
              <a:rPr lang="en-US" sz="2670" b="1" dirty="0">
                <a:solidFill>
                  <a:srgbClr val="000000"/>
                </a:solidFill>
                <a:latin typeface="Arial" pitchFamily="34" charset="0"/>
                <a:ea typeface="Arial" pitchFamily="34" charset="-122"/>
                <a:cs typeface="Arial" pitchFamily="34" charset="-120"/>
              </a:rPr>
              <a:t>要应对新场景下特有的技术挑战，构建安全高效的分布式数字资产交易协议</a:t>
            </a:r>
            <a:endParaRPr lang="en-US" sz="2670" dirty="0"/>
          </a:p>
        </p:txBody>
      </p:sp>
      <p:sp>
        <p:nvSpPr>
          <p:cNvPr id="16" name="Shape 12"/>
          <p:cNvSpPr/>
          <p:nvPr/>
        </p:nvSpPr>
        <p:spPr>
          <a:xfrm>
            <a:off x="643509" y="5382260"/>
            <a:ext cx="14037691" cy="762889"/>
          </a:xfrm>
          <a:prstGeom prst="rect">
            <a:avLst/>
          </a:prstGeom>
          <a:solidFill>
            <a:srgbClr val="F2F2F2"/>
          </a:solidFill>
          <a:ln/>
        </p:spPr>
      </p:sp>
      <p:sp>
        <p:nvSpPr>
          <p:cNvPr id="17" name="Shape 13"/>
          <p:cNvSpPr/>
          <p:nvPr/>
        </p:nvSpPr>
        <p:spPr>
          <a:xfrm>
            <a:off x="654431" y="3809111"/>
            <a:ext cx="14037691" cy="762889"/>
          </a:xfrm>
          <a:prstGeom prst="rect">
            <a:avLst/>
          </a:prstGeom>
          <a:solidFill>
            <a:srgbClr val="F2F2F2"/>
          </a:solidFill>
          <a:ln/>
        </p:spPr>
      </p:sp>
      <p:sp>
        <p:nvSpPr>
          <p:cNvPr id="18" name="Shape 14"/>
          <p:cNvSpPr/>
          <p:nvPr/>
        </p:nvSpPr>
        <p:spPr>
          <a:xfrm>
            <a:off x="1358900" y="4713351"/>
            <a:ext cx="486029" cy="343789"/>
          </a:xfrm>
          <a:prstGeom prst="chevron">
            <a:avLst>
              <a:gd name="adj" fmla="val 50000"/>
            </a:avLst>
          </a:prstGeom>
          <a:solidFill>
            <a:srgbClr val="04579A"/>
          </a:solidFill>
          <a:ln w="12700">
            <a:solidFill>
              <a:srgbClr val="304B73"/>
            </a:solidFill>
            <a:prstDash val="solid"/>
          </a:ln>
        </p:spPr>
      </p:sp>
      <p:sp>
        <p:nvSpPr>
          <p:cNvPr id="19" name="Shape 15"/>
          <p:cNvSpPr/>
          <p:nvPr/>
        </p:nvSpPr>
        <p:spPr>
          <a:xfrm>
            <a:off x="643509" y="2236089"/>
            <a:ext cx="14037691" cy="762889"/>
          </a:xfrm>
          <a:prstGeom prst="rect">
            <a:avLst/>
          </a:prstGeom>
          <a:solidFill>
            <a:srgbClr val="F2F2F2"/>
          </a:solidFill>
          <a:ln/>
        </p:spPr>
      </p:sp>
      <p:sp>
        <p:nvSpPr>
          <p:cNvPr id="20" name="Text 16"/>
          <p:cNvSpPr/>
          <p:nvPr/>
        </p:nvSpPr>
        <p:spPr>
          <a:xfrm>
            <a:off x="742569" y="2218309"/>
            <a:ext cx="14771751" cy="5333111"/>
          </a:xfrm>
          <a:prstGeom prst="rect">
            <a:avLst/>
          </a:prstGeom>
          <a:noFill/>
          <a:ln/>
        </p:spPr>
        <p:txBody>
          <a:bodyPr wrap="square" lIns="0" tIns="0" rIns="0" bIns="0" rtlCol="0" anchor="t"/>
          <a:lstStyle/>
          <a:p>
            <a:pPr algn="l" marL="423863" indent="-423863">
              <a:lnSpc>
                <a:spcPct val="150000"/>
              </a:lnSpc>
              <a:spcBef>
                <a:spcPts val="10"/>
              </a:spcBef>
              <a:buSzPct val="100000"/>
              <a:buFont typeface="+mj-lt"/>
              <a:buAutoNum type="arabicPeriod" startAt="1"/>
            </a:pPr>
            <a:r>
              <a:rPr lang="en-US" sz="2670" dirty="0">
                <a:solidFill>
                  <a:srgbClr val="262626"/>
                </a:solidFill>
                <a:latin typeface="Arial" pitchFamily="34" charset="0"/>
                <a:ea typeface="Arial" pitchFamily="34" charset="-122"/>
                <a:cs typeface="Arial" pitchFamily="34" charset="-120"/>
              </a:rPr>
              <a:t>现实网络环境对分布式数字资产交易协议的安全性和健壮性提出了更高的要求</a:t>
            </a:r>
            <a:endParaRPr lang="en-US" sz="2670" dirty="0"/>
          </a:p>
          <a:p>
            <a:pPr algn="l">
              <a:lnSpc>
                <a:spcPct val="150000"/>
              </a:lnSpc>
            </a:pPr>
            <a:r>
              <a:rPr lang="en-US" sz="3200" b="1" dirty="0">
                <a:solidFill>
                  <a:srgbClr val="04579A"/>
                </a:solidFill>
                <a:latin typeface="Arial" pitchFamily="34" charset="0"/>
                <a:ea typeface="Arial" pitchFamily="34" charset="-122"/>
                <a:cs typeface="Arial" pitchFamily="34" charset="-120"/>
              </a:rPr>
              <a:t>分布式数字资产交易协议需要去除可信假设，建立更强的安全模型</a:t>
            </a:r>
            <a:endParaRPr lang="en-US" sz="2670" dirty="0"/>
          </a:p>
          <a:p>
            <a:pPr algn="l" marL="423863" indent="-423863">
              <a:lnSpc>
                <a:spcPct val="150000"/>
              </a:lnSpc>
              <a:spcBef>
                <a:spcPts val="10"/>
              </a:spcBef>
              <a:buSzPct val="100000"/>
              <a:buFont typeface="+mj-lt"/>
              <a:buAutoNum type="arabicPeriod" startAt="1"/>
            </a:pPr>
            <a:r>
              <a:rPr lang="en-US" sz="2670" dirty="0">
                <a:solidFill>
                  <a:srgbClr val="262626"/>
                </a:solidFill>
                <a:latin typeface="Arial" pitchFamily="34" charset="0"/>
                <a:ea typeface="Arial" pitchFamily="34" charset="-122"/>
                <a:cs typeface="Arial" pitchFamily="34" charset="-120"/>
              </a:rPr>
              <a:t>大规模、高并发的交易场景要求分布式数字资产交易协议具有可扩展性</a:t>
            </a:r>
            <a:endParaRPr lang="en-US" sz="2670" dirty="0"/>
          </a:p>
          <a:p>
            <a:pPr algn="l">
              <a:lnSpc>
                <a:spcPct val="150000"/>
              </a:lnSpc>
            </a:pPr>
            <a:r>
              <a:rPr lang="en-US" sz="3200" b="1" dirty="0">
                <a:solidFill>
                  <a:srgbClr val="04579A"/>
                </a:solidFill>
                <a:latin typeface="Arial" pitchFamily="34" charset="0"/>
                <a:ea typeface="Arial" pitchFamily="34" charset="-122"/>
                <a:cs typeface="Arial" pitchFamily="34" charset="-120"/>
              </a:rPr>
              <a:t>分布式数字资产交易协议需要高性能的链下方案构造</a:t>
            </a:r>
            <a:endParaRPr lang="en-US" sz="2670" dirty="0"/>
          </a:p>
          <a:p>
            <a:pPr algn="l" marL="423863" indent="-423863">
              <a:lnSpc>
                <a:spcPct val="150000"/>
              </a:lnSpc>
              <a:spcBef>
                <a:spcPts val="10"/>
              </a:spcBef>
              <a:buSzPct val="100000"/>
              <a:buFont typeface="+mj-lt"/>
              <a:buAutoNum type="arabicPeriod" startAt="1"/>
            </a:pPr>
            <a:r>
              <a:rPr lang="en-US" sz="2670" dirty="0">
                <a:solidFill>
                  <a:srgbClr val="262626"/>
                </a:solidFill>
                <a:latin typeface="Arial" pitchFamily="34" charset="0"/>
                <a:ea typeface="Arial" pitchFamily="34" charset="-122"/>
                <a:cs typeface="Arial" pitchFamily="34" charset="-120"/>
              </a:rPr>
              <a:t>异构区块链系统间的互联互通要求分布式数字资产交易协议具有互操作性</a:t>
            </a:r>
            <a:endParaRPr lang="en-US" sz="2670" dirty="0"/>
          </a:p>
          <a:p>
            <a:pPr algn="l">
              <a:lnSpc>
                <a:spcPct val="150000"/>
              </a:lnSpc>
            </a:pPr>
            <a:r>
              <a:rPr lang="en-US" sz="3200" b="1" dirty="0">
                <a:solidFill>
                  <a:srgbClr val="04579A"/>
                </a:solidFill>
                <a:latin typeface="Arial" pitchFamily="34" charset="0"/>
                <a:ea typeface="Arial" pitchFamily="34" charset="-122"/>
                <a:cs typeface="Arial" pitchFamily="34" charset="-120"/>
              </a:rPr>
              <a:t>分布式数字资产交易协议需要高效的跨链证明协议</a:t>
            </a:r>
            <a:endParaRPr lang="en-US" sz="2670" dirty="0"/>
          </a:p>
          <a:p>
            <a:pPr algn="l">
              <a:lnSpc>
                <a:spcPct val="150000"/>
              </a:lnSpc>
            </a:pPr>
            <a:r>
              <a:rPr lang="en-US" sz="2670" dirty="0">
                <a:solidFill>
                  <a:srgbClr val="262626"/>
                </a:solidFill>
                <a:latin typeface="Arial" pitchFamily="34" charset="0"/>
                <a:ea typeface="Arial" pitchFamily="34" charset="-122"/>
                <a:cs typeface="Arial" pitchFamily="34" charset="-120"/>
              </a:rPr>
              <a:t> </a:t>
            </a:r>
            <a:endParaRPr lang="en-US" sz="2670" dirty="0"/>
          </a:p>
        </p:txBody>
      </p:sp>
      <p:sp>
        <p:nvSpPr>
          <p:cNvPr id="21" name="Shape 17"/>
          <p:cNvSpPr/>
          <p:nvPr/>
        </p:nvSpPr>
        <p:spPr>
          <a:xfrm>
            <a:off x="1358900" y="3120009"/>
            <a:ext cx="486029" cy="343789"/>
          </a:xfrm>
          <a:prstGeom prst="chevron">
            <a:avLst>
              <a:gd name="adj" fmla="val 50000"/>
            </a:avLst>
          </a:prstGeom>
          <a:solidFill>
            <a:srgbClr val="04579A"/>
          </a:solidFill>
          <a:ln w="12700">
            <a:solidFill>
              <a:srgbClr val="304B73"/>
            </a:solidFill>
            <a:prstDash val="solid"/>
          </a:ln>
        </p:spPr>
      </p:sp>
      <p:sp>
        <p:nvSpPr>
          <p:cNvPr id="22" name="Shape 18"/>
          <p:cNvSpPr/>
          <p:nvPr/>
        </p:nvSpPr>
        <p:spPr>
          <a:xfrm>
            <a:off x="1358900" y="6223000"/>
            <a:ext cx="486029" cy="343789"/>
          </a:xfrm>
          <a:prstGeom prst="chevron">
            <a:avLst>
              <a:gd name="adj" fmla="val 50000"/>
            </a:avLst>
          </a:prstGeom>
          <a:solidFill>
            <a:srgbClr val="04579A"/>
          </a:solidFill>
          <a:ln w="12700">
            <a:solidFill>
              <a:srgbClr val="304B73"/>
            </a:solidFill>
            <a:prstDash val="solid"/>
          </a:ln>
        </p:spPr>
      </p:sp>
      <p:sp>
        <p:nvSpPr>
          <p:cNvPr id="23" name="Text 19"/>
          <p:cNvSpPr/>
          <p:nvPr/>
        </p:nvSpPr>
        <p:spPr>
          <a:xfrm>
            <a:off x="15649067" y="8666353"/>
            <a:ext cx="606933" cy="492506"/>
          </a:xfrm>
          <a:prstGeom prst="rect">
            <a:avLst/>
          </a:prstGeom>
          <a:noFill/>
          <a:ln/>
        </p:spPr>
        <p:txBody>
          <a:bodyPr wrap="square" lIns="0" tIns="0" rIns="0" bIns="0" rtlCol="0" anchor="t"/>
          <a:lstStyle/>
          <a:p>
            <a:pPr algn="ctr">
              <a:lnSpc>
                <a:spcPct val="120000"/>
              </a:lnSpc>
            </a:pPr>
            <a:r>
              <a:rPr lang="en-US" sz="2400" dirty="0">
                <a:solidFill>
                  <a:srgbClr val="000000"/>
                </a:solidFill>
                <a:latin typeface="Arial" pitchFamily="34" charset="0"/>
                <a:ea typeface="Arial" pitchFamily="34" charset="-122"/>
                <a:cs typeface="Arial" pitchFamily="34" charset="-120"/>
              </a:rPr>
              <a:t>13</a:t>
            </a:r>
            <a:endParaRPr lang="en-US" sz="2400" dirty="0"/>
          </a:p>
        </p:txBody>
      </p:sp>
    </p:spTree>
  </p:cSld>
  <p:clrMapOvr>
    <a:masterClrMapping/>
  </p:clrMapOvr>
  <p:transition>
    <p:fade/>
    <p:spd val="med"/>
  </p:transition>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275971" y="2037969"/>
            <a:ext cx="14771751" cy="4981702"/>
          </a:xfrm>
          <a:prstGeom prst="rect">
            <a:avLst/>
          </a:prstGeom>
          <a:noFill/>
          <a:ln/>
        </p:spPr>
        <p:txBody>
          <a:bodyPr wrap="square" lIns="0" tIns="0" rIns="0" bIns="0" rtlCol="0" anchor="t"/>
          <a:lstStyle/>
          <a:p>
            <a:pPr algn="l" marL="338138" indent="-338138">
              <a:lnSpc>
                <a:spcPct val="150000"/>
              </a:lnSpc>
              <a:spcBef>
                <a:spcPts val="10"/>
              </a:spcBef>
              <a:buSzPct val="100000"/>
              <a:buFont typeface="+mj-lt"/>
              <a:buAutoNum type="arabicPeriod" startAt="1"/>
            </a:pPr>
            <a:r>
              <a:rPr lang="en-US" sz="2130" dirty="0">
                <a:solidFill>
                  <a:srgbClr val="FFFFFF"/>
                </a:solidFill>
                <a:latin typeface="Arial" pitchFamily="34" charset="0"/>
                <a:ea typeface="Arial" pitchFamily="34" charset="-122"/>
                <a:cs typeface="Arial" pitchFamily="34" charset="-120"/>
              </a:rPr>
              <a:t>广域网环境中延迟、丢包以及窃听等攻击对共识协议的健壮性提出了更高的要求</a:t>
            </a:r>
            <a:endParaRPr lang="en-US" sz="2130" dirty="0"/>
          </a:p>
          <a:p>
            <a:pPr algn="l">
              <a:lnSpc>
                <a:spcPct val="150000"/>
              </a:lnSpc>
            </a:pPr>
            <a:r>
              <a:rPr lang="en-US" sz="2130" b="1" dirty="0">
                <a:solidFill>
                  <a:srgbClr val="04579A"/>
                </a:solidFill>
                <a:latin typeface="Arial" pitchFamily="34" charset="0"/>
                <a:ea typeface="Arial" pitchFamily="34" charset="-122"/>
                <a:cs typeface="Arial" pitchFamily="34" charset="-120"/>
              </a:rPr>
              <a:t>分布式数字资产交易协议需要去除可信假设，</a:t>
            </a:r>
            <a:endParaRPr lang="en-US" sz="2130" dirty="0"/>
          </a:p>
          <a:p>
            <a:pPr algn="l">
              <a:lnSpc>
                <a:spcPct val="150000"/>
              </a:lnSpc>
              <a:spcBef>
                <a:spcPts val="1600"/>
              </a:spcBef>
            </a:pPr>
            <a:r>
              <a:rPr lang="en-US" sz="2130" b="1" dirty="0">
                <a:solidFill>
                  <a:srgbClr val="04579A"/>
                </a:solidFill>
                <a:latin typeface="Arial" pitchFamily="34" charset="0"/>
                <a:ea typeface="Arial" pitchFamily="34" charset="-122"/>
                <a:cs typeface="Arial" pitchFamily="34" charset="-120"/>
              </a:rPr>
              <a:t>建立更强的安全模型</a:t>
            </a:r>
            <a:pPr algn="l">
              <a:lnSpc>
                <a:spcPct val="150000"/>
              </a:lnSpc>
              <a:spcBef>
                <a:spcPts val="1600"/>
              </a:spcBef>
            </a:pPr>
            <a:r>
              <a:rPr lang="en-US" sz="2130" dirty="0">
                <a:solidFill>
                  <a:srgbClr val="FFFFFF"/>
                </a:solidFill>
                <a:latin typeface="Arial" pitchFamily="34" charset="0"/>
                <a:ea typeface="Arial" pitchFamily="34" charset="-122"/>
                <a:cs typeface="Arial" pitchFamily="34" charset="-120"/>
              </a:rPr>
              <a:t>有</a:t>
            </a:r>
            <a:endParaRPr lang="en-US" sz="2130" dirty="0"/>
          </a:p>
          <a:p>
            <a:pPr algn="l">
              <a:lnSpc>
                <a:spcPct val="150000"/>
              </a:lnSpc>
              <a:spcBef>
                <a:spcPts val="1600"/>
              </a:spcBef>
            </a:pPr>
            <a:r>
              <a:rPr lang="en-US" sz="2130" dirty="0">
                <a:solidFill>
                  <a:srgbClr val="FFFFFF"/>
                </a:solidFill>
                <a:latin typeface="Arial" pitchFamily="34" charset="0"/>
                <a:ea typeface="Arial" pitchFamily="34" charset="-122"/>
                <a:cs typeface="Arial" pitchFamily="34" charset="-120"/>
              </a:rPr>
              <a:t>长期部署的需要</a:t>
            </a:r>
            <a:endParaRPr lang="en-US" sz="2130" dirty="0"/>
          </a:p>
          <a:p>
            <a:pPr algn="l">
              <a:lnSpc>
                <a:spcPct val="150000"/>
              </a:lnSpc>
              <a:spcBef>
                <a:spcPts val="1600"/>
              </a:spcBef>
            </a:pPr>
            <a:r>
              <a:rPr lang="en-US" sz="2130" b="1" dirty="0">
                <a:solidFill>
                  <a:srgbClr val="04579A"/>
                </a:solidFill>
                <a:latin typeface="Arial" pitchFamily="34" charset="0"/>
                <a:ea typeface="Arial" pitchFamily="34" charset="-122"/>
                <a:cs typeface="Arial" pitchFamily="34" charset="-120"/>
              </a:rPr>
              <a:t>分布式数字资产交易协议需要高性能的链下</a:t>
            </a:r>
            <a:endParaRPr lang="en-US" sz="2130" dirty="0"/>
          </a:p>
          <a:p>
            <a:pPr algn="l">
              <a:lnSpc>
                <a:spcPct val="150000"/>
              </a:lnSpc>
              <a:spcBef>
                <a:spcPts val="1600"/>
              </a:spcBef>
            </a:pPr>
            <a:r>
              <a:rPr lang="en-US" sz="2130" b="1" dirty="0">
                <a:solidFill>
                  <a:srgbClr val="04579A"/>
                </a:solidFill>
                <a:latin typeface="Arial" pitchFamily="34" charset="0"/>
                <a:ea typeface="Arial" pitchFamily="34" charset="-122"/>
                <a:cs typeface="Arial" pitchFamily="34" charset="-120"/>
              </a:rPr>
              <a:t>方案构造</a:t>
            </a:r>
            <a:endParaRPr lang="en-US" sz="2130" dirty="0"/>
          </a:p>
          <a:p>
            <a:pPr algn="l">
              <a:lnSpc>
                <a:spcPct val="150000"/>
              </a:lnSpc>
              <a:spcBef>
                <a:spcPts val="1600"/>
              </a:spcBef>
            </a:pPr>
            <a:r>
              <a:rPr lang="en-US" sz="130" dirty="0">
                <a:solidFill>
                  <a:srgbClr val="FFFFFF"/>
                </a:solidFill>
                <a:latin typeface="Arial" pitchFamily="34" charset="0"/>
                <a:ea typeface="Arial" pitchFamily="34" charset="-122"/>
                <a:cs typeface="Arial" pitchFamily="34" charset="-120"/>
              </a:rPr>
              <a:t>三方设置的门限密码系统减弱了区块链</a:t>
            </a:r>
            <a:pPr algn="l">
              <a:lnSpc>
                <a:spcPct val="150000"/>
              </a:lnSpc>
              <a:spcBef>
                <a:spcPts val="1600"/>
              </a:spcBef>
            </a:pPr>
            <a:r>
              <a:rPr lang="en-US" sz="800" dirty="0">
                <a:solidFill>
                  <a:srgbClr val="FFFFFF"/>
                </a:solidFill>
                <a:latin typeface="Arial" pitchFamily="34" charset="0"/>
                <a:ea typeface="Arial" pitchFamily="34" charset="-122"/>
                <a:cs typeface="Arial" pitchFamily="34" charset="-120"/>
              </a:rPr>
              <a:t>系统去中心化的特性</a:t>
            </a:r>
            <a:endParaRPr lang="en-US" sz="2130" dirty="0"/>
          </a:p>
          <a:p>
            <a:pPr algn="l">
              <a:lnSpc>
                <a:spcPct val="150000"/>
              </a:lnSpc>
              <a:spcBef>
                <a:spcPts val="1600"/>
              </a:spcBef>
            </a:pPr>
            <a:r>
              <a:rPr lang="en-US" sz="2130" b="1" dirty="0">
                <a:solidFill>
                  <a:srgbClr val="04579A"/>
                </a:solidFill>
                <a:latin typeface="Arial" pitchFamily="34" charset="0"/>
                <a:ea typeface="Arial" pitchFamily="34" charset="-122"/>
                <a:cs typeface="Arial" pitchFamily="34" charset="-120"/>
              </a:rPr>
              <a:t>分布式数字资产交易协议需要高效的跨链证</a:t>
            </a:r>
            <a:endParaRPr lang="en-US" sz="2130" dirty="0"/>
          </a:p>
          <a:p>
            <a:pPr algn="l">
              <a:lnSpc>
                <a:spcPct val="150000"/>
              </a:lnSpc>
            </a:pPr>
            <a:r>
              <a:rPr lang="en-US" sz="2130" b="1" dirty="0">
                <a:solidFill>
                  <a:srgbClr val="04579A"/>
                </a:solidFill>
                <a:latin typeface="Arial" pitchFamily="34" charset="0"/>
                <a:ea typeface="Arial" pitchFamily="34" charset="-122"/>
                <a:cs typeface="Arial" pitchFamily="34" charset="-120"/>
              </a:rPr>
              <a:t>明协议</a:t>
            </a:r>
            <a:endParaRPr lang="en-US" sz="2130" dirty="0"/>
          </a:p>
        </p:txBody>
      </p:sp>
      <p:sp>
        <p:nvSpPr>
          <p:cNvPr id="4" name="Shape 1"/>
          <p:cNvSpPr/>
          <p:nvPr/>
        </p:nvSpPr>
        <p:spPr>
          <a:xfrm>
            <a:off x="5162169" y="-889"/>
            <a:ext cx="2590800" cy="962660"/>
          </a:xfrm>
          <a:prstGeom prst="rect">
            <a:avLst/>
          </a:prstGeom>
          <a:solidFill>
            <a:srgbClr val="F2F2F2"/>
          </a:solidFill>
          <a:ln w="12700">
            <a:solidFill>
              <a:srgbClr val="F2F2F2"/>
            </a:solidFill>
            <a:prstDash val="solid"/>
          </a:ln>
        </p:spPr>
      </p:sp>
      <p:sp>
        <p:nvSpPr>
          <p:cNvPr id="5" name="Shape 2"/>
          <p:cNvSpPr/>
          <p:nvPr/>
        </p:nvSpPr>
        <p:spPr>
          <a:xfrm>
            <a:off x="5162169" y="-889"/>
            <a:ext cx="2590800" cy="962660"/>
          </a:xfrm>
          <a:prstGeom prst="rect">
            <a:avLst/>
          </a:prstGeom>
          <a:solidFill>
            <a:srgbClr val="04579A"/>
          </a:solidFill>
          <a:ln w="12700">
            <a:solidFill>
              <a:srgbClr val="04579A"/>
            </a:solidFill>
            <a:prstDash val="solid"/>
          </a:ln>
        </p:spPr>
      </p:sp>
      <p:sp>
        <p:nvSpPr>
          <p:cNvPr id="6" name="Shape 3"/>
          <p:cNvSpPr/>
          <p:nvPr/>
        </p:nvSpPr>
        <p:spPr>
          <a:xfrm>
            <a:off x="7816469" y="-889"/>
            <a:ext cx="4114800" cy="962660"/>
          </a:xfrm>
          <a:prstGeom prst="rect">
            <a:avLst/>
          </a:prstGeom>
          <a:solidFill>
            <a:srgbClr val="F2F2F2"/>
          </a:solidFill>
          <a:ln/>
        </p:spPr>
      </p:sp>
      <p:sp>
        <p:nvSpPr>
          <p:cNvPr id="7" name="Shape 4"/>
          <p:cNvSpPr/>
          <p:nvPr/>
        </p:nvSpPr>
        <p:spPr>
          <a:xfrm>
            <a:off x="11971020" y="0"/>
            <a:ext cx="4284980" cy="961771"/>
          </a:xfrm>
          <a:prstGeom prst="rect">
            <a:avLst/>
          </a:prstGeom>
          <a:solidFill>
            <a:srgbClr val="F2F2F2"/>
          </a:solidFill>
          <a:ln/>
        </p:spPr>
      </p:sp>
      <p:sp>
        <p:nvSpPr>
          <p:cNvPr id="8" name="Shape 5"/>
          <p:cNvSpPr/>
          <p:nvPr/>
        </p:nvSpPr>
        <p:spPr>
          <a:xfrm>
            <a:off x="2219960" y="-889"/>
            <a:ext cx="2895600" cy="962660"/>
          </a:xfrm>
          <a:prstGeom prst="rect">
            <a:avLst/>
          </a:prstGeom>
          <a:solidFill>
            <a:srgbClr val="F2F2F2"/>
          </a:solidFill>
          <a:ln w="12700">
            <a:solidFill>
              <a:srgbClr val="F2F2F2"/>
            </a:solidFill>
            <a:prstDash val="solid"/>
          </a:ln>
        </p:spPr>
      </p:sp>
      <p:sp>
        <p:nvSpPr>
          <p:cNvPr id="9" name="Text 6"/>
          <p:cNvSpPr/>
          <p:nvPr/>
        </p:nvSpPr>
        <p:spPr>
          <a:xfrm>
            <a:off x="2283460" y="203200"/>
            <a:ext cx="27686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选题背景及意义</a:t>
            </a:r>
            <a:endParaRPr lang="en-US" sz="2000" dirty="0"/>
          </a:p>
        </p:txBody>
      </p:sp>
      <p:sp>
        <p:nvSpPr>
          <p:cNvPr id="10" name="Text 7"/>
          <p:cNvSpPr/>
          <p:nvPr/>
        </p:nvSpPr>
        <p:spPr>
          <a:xfrm>
            <a:off x="5225669" y="203200"/>
            <a:ext cx="2463800" cy="508000"/>
          </a:xfrm>
          <a:prstGeom prst="rect">
            <a:avLst/>
          </a:prstGeom>
          <a:noFill/>
          <a:ln/>
        </p:spPr>
        <p:txBody>
          <a:bodyPr wrap="none" lIns="0" tIns="0" rIns="0" bIns="0" rtlCol="0" anchor="ctr"/>
          <a:lstStyle/>
          <a:p>
            <a:pPr algn="ctr">
              <a:lnSpc>
                <a:spcPct val="120000"/>
              </a:lnSpc>
            </a:pPr>
            <a:r>
              <a:rPr lang="en-US" sz="2000" dirty="0">
                <a:solidFill>
                  <a:srgbClr val="FFFFFF"/>
                </a:solidFill>
                <a:latin typeface="Arial" pitchFamily="34" charset="0"/>
                <a:ea typeface="Arial" pitchFamily="34" charset="-122"/>
                <a:cs typeface="Arial" pitchFamily="34" charset="-120"/>
              </a:rPr>
              <a:t>国内外研究现状</a:t>
            </a:r>
            <a:endParaRPr lang="en-US" sz="2000" dirty="0"/>
          </a:p>
        </p:txBody>
      </p:sp>
      <p:sp>
        <p:nvSpPr>
          <p:cNvPr id="11" name="Text 8"/>
          <p:cNvSpPr/>
          <p:nvPr/>
        </p:nvSpPr>
        <p:spPr>
          <a:xfrm>
            <a:off x="7879969" y="203200"/>
            <a:ext cx="39878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主要研究内容及预期目标</a:t>
            </a:r>
            <a:endParaRPr lang="en-US" sz="2000" dirty="0"/>
          </a:p>
        </p:txBody>
      </p:sp>
      <p:sp>
        <p:nvSpPr>
          <p:cNvPr id="12" name="Text 9"/>
          <p:cNvSpPr/>
          <p:nvPr/>
        </p:nvSpPr>
        <p:spPr>
          <a:xfrm>
            <a:off x="12034520" y="203200"/>
            <a:ext cx="415798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工作计划与进度安排</a:t>
            </a:r>
            <a:endParaRPr lang="en-US" sz="2000" dirty="0"/>
          </a:p>
        </p:txBody>
      </p:sp>
      <p:pic>
        <p:nvPicPr>
          <p:cNvPr id="13" name="Image 0" descr="https://kimi-img.moonshot.cn/pub/slides/okc/flfuysioo4gzm/mnt/agents/output/yuan_pptd/images/image_2.jpg">    </p:cNvPr>
          <p:cNvPicPr>
            <a:picLocks noChangeAspect="1"/>
          </p:cNvPicPr>
          <p:nvPr/>
        </p:nvPicPr>
        <p:blipFill>
          <a:blip r:embed="rId1"/>
          <a:srcRect l="5060" r="29000" t="0" b="0"/>
          <a:stretch/>
        </p:blipFill>
        <p:spPr>
          <a:xfrm>
            <a:off x="544449" y="140589"/>
            <a:ext cx="1273429" cy="745871"/>
          </a:xfrm>
          <a:prstGeom prst="rect">
            <a:avLst/>
          </a:prstGeom>
        </p:spPr>
      </p:pic>
      <p:sp>
        <p:nvSpPr>
          <p:cNvPr id="14" name="Shape 10"/>
          <p:cNvSpPr/>
          <p:nvPr/>
        </p:nvSpPr>
        <p:spPr>
          <a:xfrm rot="10800000">
            <a:off x="6121400" y="961771"/>
            <a:ext cx="389509" cy="304800"/>
          </a:xfrm>
          <a:prstGeom prst="triangle">
            <a:avLst>
              <a:gd name="adj" fmla="val 50000"/>
            </a:avLst>
          </a:prstGeom>
          <a:solidFill>
            <a:srgbClr val="04579A"/>
          </a:solidFill>
          <a:ln/>
        </p:spPr>
      </p:sp>
      <p:sp>
        <p:nvSpPr>
          <p:cNvPr id="15" name="Shape 11"/>
          <p:cNvSpPr/>
          <p:nvPr/>
        </p:nvSpPr>
        <p:spPr>
          <a:xfrm>
            <a:off x="988949" y="2846451"/>
            <a:ext cx="385191" cy="272669"/>
          </a:xfrm>
          <a:prstGeom prst="chevron">
            <a:avLst>
              <a:gd name="adj" fmla="val 50000"/>
            </a:avLst>
          </a:prstGeom>
          <a:solidFill>
            <a:srgbClr val="04579A"/>
          </a:solidFill>
          <a:ln w="12700">
            <a:solidFill>
              <a:srgbClr val="304B73"/>
            </a:solidFill>
            <a:prstDash val="solid"/>
          </a:ln>
        </p:spPr>
      </p:sp>
      <p:sp>
        <p:nvSpPr>
          <p:cNvPr id="16" name="Shape 12"/>
          <p:cNvSpPr/>
          <p:nvPr/>
        </p:nvSpPr>
        <p:spPr>
          <a:xfrm>
            <a:off x="988441" y="4487037"/>
            <a:ext cx="385191" cy="272669"/>
          </a:xfrm>
          <a:prstGeom prst="chevron">
            <a:avLst>
              <a:gd name="adj" fmla="val 50000"/>
            </a:avLst>
          </a:prstGeom>
          <a:solidFill>
            <a:srgbClr val="04579A"/>
          </a:solidFill>
          <a:ln w="12700">
            <a:solidFill>
              <a:srgbClr val="304B73"/>
            </a:solidFill>
            <a:prstDash val="solid"/>
          </a:ln>
        </p:spPr>
      </p:sp>
      <p:sp>
        <p:nvSpPr>
          <p:cNvPr id="17" name="Shape 13"/>
          <p:cNvSpPr/>
          <p:nvPr/>
        </p:nvSpPr>
        <p:spPr>
          <a:xfrm>
            <a:off x="988441" y="6038723"/>
            <a:ext cx="385191" cy="272669"/>
          </a:xfrm>
          <a:prstGeom prst="chevron">
            <a:avLst>
              <a:gd name="adj" fmla="val 50000"/>
            </a:avLst>
          </a:prstGeom>
          <a:solidFill>
            <a:srgbClr val="04579A"/>
          </a:solidFill>
          <a:ln w="12700">
            <a:solidFill>
              <a:srgbClr val="304B73"/>
            </a:solidFill>
            <a:prstDash val="solid"/>
          </a:ln>
        </p:spPr>
      </p:sp>
      <p:sp>
        <p:nvSpPr>
          <p:cNvPr id="18" name="Text 14"/>
          <p:cNvSpPr/>
          <p:nvPr/>
        </p:nvSpPr>
        <p:spPr>
          <a:xfrm>
            <a:off x="9259189" y="2427732"/>
            <a:ext cx="5571871" cy="1107948"/>
          </a:xfrm>
          <a:prstGeom prst="rect">
            <a:avLst/>
          </a:prstGeom>
          <a:noFill/>
          <a:ln/>
        </p:spPr>
        <p:txBody>
          <a:bodyPr wrap="square" lIns="0" tIns="0" rIns="0" bIns="0" rtlCol="0" anchor="t"/>
          <a:lstStyle/>
          <a:p>
            <a:pPr algn="l">
              <a:lnSpc>
                <a:spcPct val="120000"/>
              </a:lnSpc>
            </a:pPr>
            <a:r>
              <a:rPr lang="en-US" sz="3730" b="1" dirty="0">
                <a:solidFill>
                  <a:srgbClr val="262626"/>
                </a:solidFill>
                <a:latin typeface="Arial" pitchFamily="34" charset="0"/>
                <a:ea typeface="Arial" pitchFamily="34" charset="-122"/>
                <a:cs typeface="Arial" pitchFamily="34" charset="-120"/>
              </a:rPr>
              <a:t>1. </a:t>
            </a:r>
            <a:pPr algn="l">
              <a:lnSpc>
                <a:spcPct val="120000"/>
              </a:lnSpc>
            </a:pPr>
            <a:r>
              <a:rPr lang="en-US" sz="2670" b="1" dirty="0">
                <a:solidFill>
                  <a:srgbClr val="262626"/>
                </a:solidFill>
                <a:latin typeface="MiSans" pitchFamily="34" charset="0"/>
                <a:ea typeface="MiSans" pitchFamily="34" charset="-122"/>
                <a:cs typeface="MiSans" pitchFamily="34" charset="-120"/>
              </a:rPr>
              <a:t>恶意场景下分布式数字资产交易安全性</a:t>
            </a:r>
            <a:endParaRPr lang="en-US" sz="3730" dirty="0"/>
          </a:p>
        </p:txBody>
      </p:sp>
      <p:sp>
        <p:nvSpPr>
          <p:cNvPr id="19" name="Text 15"/>
          <p:cNvSpPr/>
          <p:nvPr/>
        </p:nvSpPr>
        <p:spPr>
          <a:xfrm>
            <a:off x="9325991" y="4187698"/>
            <a:ext cx="5571871" cy="697611"/>
          </a:xfrm>
          <a:prstGeom prst="rect">
            <a:avLst/>
          </a:prstGeom>
          <a:noFill/>
          <a:ln/>
        </p:spPr>
        <p:txBody>
          <a:bodyPr wrap="square" lIns="0" tIns="0" rIns="0" bIns="0" rtlCol="0" anchor="t"/>
          <a:lstStyle/>
          <a:p>
            <a:pPr algn="l">
              <a:lnSpc>
                <a:spcPct val="120000"/>
              </a:lnSpc>
            </a:pPr>
            <a:r>
              <a:rPr lang="en-US" sz="3730" b="1" dirty="0">
                <a:solidFill>
                  <a:srgbClr val="262626"/>
                </a:solidFill>
                <a:latin typeface="Arial" pitchFamily="34" charset="0"/>
                <a:ea typeface="Arial" pitchFamily="34" charset="-122"/>
                <a:cs typeface="Arial" pitchFamily="34" charset="-120"/>
              </a:rPr>
              <a:t>2. </a:t>
            </a:r>
            <a:pPr algn="l">
              <a:lnSpc>
                <a:spcPct val="120000"/>
              </a:lnSpc>
            </a:pPr>
            <a:r>
              <a:rPr lang="en-US" sz="2670" b="1" dirty="0">
                <a:solidFill>
                  <a:srgbClr val="262626"/>
                </a:solidFill>
                <a:latin typeface="MiSans" pitchFamily="34" charset="0"/>
                <a:ea typeface="MiSans" pitchFamily="34" charset="-122"/>
                <a:cs typeface="MiSans" pitchFamily="34" charset="-120"/>
              </a:rPr>
              <a:t>链下数字资产交易方案性能</a:t>
            </a:r>
            <a:endParaRPr lang="en-US" sz="3730" dirty="0"/>
          </a:p>
        </p:txBody>
      </p:sp>
      <p:sp>
        <p:nvSpPr>
          <p:cNvPr id="20" name="Text 16"/>
          <p:cNvSpPr/>
          <p:nvPr/>
        </p:nvSpPr>
        <p:spPr>
          <a:xfrm>
            <a:off x="9325991" y="5769737"/>
            <a:ext cx="5941441" cy="697611"/>
          </a:xfrm>
          <a:prstGeom prst="rect">
            <a:avLst/>
          </a:prstGeom>
          <a:noFill/>
          <a:ln/>
        </p:spPr>
        <p:txBody>
          <a:bodyPr wrap="square" lIns="0" tIns="0" rIns="0" bIns="0" rtlCol="0" anchor="t"/>
          <a:lstStyle/>
          <a:p>
            <a:pPr algn="l">
              <a:lnSpc>
                <a:spcPct val="120000"/>
              </a:lnSpc>
            </a:pPr>
            <a:r>
              <a:rPr lang="en-US" sz="3730" b="1" dirty="0">
                <a:solidFill>
                  <a:srgbClr val="262626"/>
                </a:solidFill>
                <a:latin typeface="Arial" pitchFamily="34" charset="0"/>
                <a:ea typeface="Arial" pitchFamily="34" charset="-122"/>
                <a:cs typeface="Arial" pitchFamily="34" charset="-120"/>
              </a:rPr>
              <a:t>3. </a:t>
            </a:r>
            <a:pPr algn="l">
              <a:lnSpc>
                <a:spcPct val="120000"/>
              </a:lnSpc>
            </a:pPr>
            <a:r>
              <a:rPr lang="en-US" sz="2670" b="1" dirty="0">
                <a:solidFill>
                  <a:srgbClr val="262626"/>
                </a:solidFill>
                <a:latin typeface="Arial" pitchFamily="34" charset="0"/>
                <a:ea typeface="Arial" pitchFamily="34" charset="-122"/>
                <a:cs typeface="Arial" pitchFamily="34" charset="-120"/>
              </a:rPr>
              <a:t>跨链</a:t>
            </a:r>
            <a:pPr algn="l">
              <a:lnSpc>
                <a:spcPct val="120000"/>
              </a:lnSpc>
            </a:pPr>
            <a:r>
              <a:rPr lang="en-US" sz="2670" b="1" dirty="0">
                <a:solidFill>
                  <a:srgbClr val="262626"/>
                </a:solidFill>
                <a:latin typeface="MiSans" pitchFamily="34" charset="0"/>
                <a:ea typeface="MiSans" pitchFamily="34" charset="-122"/>
                <a:cs typeface="MiSans" pitchFamily="34" charset="-120"/>
              </a:rPr>
              <a:t>数字资产交易协议证明机制</a:t>
            </a:r>
            <a:endParaRPr lang="en-US" sz="3730" dirty="0"/>
          </a:p>
        </p:txBody>
      </p:sp>
      <p:sp>
        <p:nvSpPr>
          <p:cNvPr id="21" name="Shape 17"/>
          <p:cNvSpPr/>
          <p:nvPr/>
        </p:nvSpPr>
        <p:spPr>
          <a:xfrm>
            <a:off x="8332089" y="2675001"/>
            <a:ext cx="412369" cy="615569"/>
          </a:xfrm>
          <a:prstGeom prst="stripedRightArrow">
            <a:avLst>
              <a:gd name="adj1" fmla="val 50000"/>
              <a:gd name="adj2" fmla="val 50000"/>
            </a:avLst>
          </a:prstGeom>
          <a:solidFill>
            <a:srgbClr val="7F7F7F"/>
          </a:solidFill>
          <a:ln/>
        </p:spPr>
      </p:sp>
      <p:sp>
        <p:nvSpPr>
          <p:cNvPr id="22" name="Shape 18"/>
          <p:cNvSpPr/>
          <p:nvPr/>
        </p:nvSpPr>
        <p:spPr>
          <a:xfrm>
            <a:off x="8332089" y="4270629"/>
            <a:ext cx="412369" cy="615569"/>
          </a:xfrm>
          <a:prstGeom prst="stripedRightArrow">
            <a:avLst>
              <a:gd name="adj1" fmla="val 50000"/>
              <a:gd name="adj2" fmla="val 50000"/>
            </a:avLst>
          </a:prstGeom>
          <a:solidFill>
            <a:srgbClr val="7F7F7F"/>
          </a:solidFill>
          <a:ln/>
        </p:spPr>
      </p:sp>
      <p:sp>
        <p:nvSpPr>
          <p:cNvPr id="23" name="Shape 19"/>
          <p:cNvSpPr/>
          <p:nvPr/>
        </p:nvSpPr>
        <p:spPr>
          <a:xfrm>
            <a:off x="8367522" y="5867273"/>
            <a:ext cx="412369" cy="615569"/>
          </a:xfrm>
          <a:prstGeom prst="stripedRightArrow">
            <a:avLst>
              <a:gd name="adj1" fmla="val 50000"/>
              <a:gd name="adj2" fmla="val 50000"/>
            </a:avLst>
          </a:prstGeom>
          <a:solidFill>
            <a:srgbClr val="7F7F7F"/>
          </a:solidFill>
          <a:ln/>
        </p:spPr>
      </p:sp>
      <p:sp>
        <p:nvSpPr>
          <p:cNvPr id="24" name="Text 20"/>
          <p:cNvSpPr/>
          <p:nvPr/>
        </p:nvSpPr>
        <p:spPr>
          <a:xfrm>
            <a:off x="1010920" y="7786751"/>
            <a:ext cx="14037691" cy="531749"/>
          </a:xfrm>
          <a:prstGeom prst="rect">
            <a:avLst/>
          </a:prstGeom>
          <a:noFill/>
          <a:ln/>
        </p:spPr>
        <p:txBody>
          <a:bodyPr wrap="square" lIns="0" tIns="0" rIns="0" bIns="0" rtlCol="0" anchor="t"/>
          <a:lstStyle/>
          <a:p>
            <a:pPr algn="ctr">
              <a:lnSpc>
                <a:spcPct val="120000"/>
              </a:lnSpc>
            </a:pPr>
            <a:r>
              <a:rPr lang="en-US" sz="2670" b="1" dirty="0">
                <a:solidFill>
                  <a:srgbClr val="000000"/>
                </a:solidFill>
                <a:latin typeface="Arial" pitchFamily="34" charset="0"/>
                <a:ea typeface="Arial" pitchFamily="34" charset="-122"/>
                <a:cs typeface="Arial" pitchFamily="34" charset="-120"/>
              </a:rPr>
              <a:t>要应对新场景下特有的技术挑战，构建安全高效的分布式数字资产交易协议</a:t>
            </a:r>
            <a:endParaRPr lang="en-US" sz="2670" dirty="0"/>
          </a:p>
        </p:txBody>
      </p:sp>
      <p:sp>
        <p:nvSpPr>
          <p:cNvPr id="25" name="Text 21"/>
          <p:cNvSpPr/>
          <p:nvPr/>
        </p:nvSpPr>
        <p:spPr>
          <a:xfrm>
            <a:off x="15649067" y="8666353"/>
            <a:ext cx="606933" cy="492506"/>
          </a:xfrm>
          <a:prstGeom prst="rect">
            <a:avLst/>
          </a:prstGeom>
          <a:noFill/>
          <a:ln/>
        </p:spPr>
        <p:txBody>
          <a:bodyPr wrap="square" lIns="0" tIns="0" rIns="0" bIns="0" rtlCol="0" anchor="t"/>
          <a:lstStyle/>
          <a:p>
            <a:pPr algn="ctr">
              <a:lnSpc>
                <a:spcPct val="120000"/>
              </a:lnSpc>
            </a:pPr>
            <a:r>
              <a:rPr lang="en-US" sz="2400" dirty="0">
                <a:solidFill>
                  <a:srgbClr val="000000"/>
                </a:solidFill>
                <a:latin typeface="Arial" pitchFamily="34" charset="0"/>
                <a:ea typeface="Arial" pitchFamily="34" charset="-122"/>
                <a:cs typeface="Arial" pitchFamily="34" charset="-120"/>
              </a:rPr>
              <a:t>14</a:t>
            </a:r>
            <a:endParaRPr lang="en-US" sz="2400" dirty="0"/>
          </a:p>
        </p:txBody>
      </p:sp>
    </p:spTree>
  </p:cSld>
  <p:clrMapOvr>
    <a:masterClrMapping/>
  </p:clrMapOvr>
  <p:transition>
    <p:fade/>
    <p:spd val="med"/>
  </p:transition>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5162169" y="-889"/>
            <a:ext cx="2590800" cy="962660"/>
          </a:xfrm>
          <a:prstGeom prst="rect">
            <a:avLst/>
          </a:prstGeom>
          <a:solidFill>
            <a:srgbClr val="F2F2F2"/>
          </a:solidFill>
          <a:ln w="12700">
            <a:solidFill>
              <a:srgbClr val="F2F2F2"/>
            </a:solidFill>
            <a:prstDash val="solid"/>
          </a:ln>
        </p:spPr>
      </p:sp>
      <p:sp>
        <p:nvSpPr>
          <p:cNvPr id="4" name="Shape 1"/>
          <p:cNvSpPr/>
          <p:nvPr/>
        </p:nvSpPr>
        <p:spPr>
          <a:xfrm>
            <a:off x="5162169" y="-889"/>
            <a:ext cx="2590800" cy="962660"/>
          </a:xfrm>
          <a:prstGeom prst="rect">
            <a:avLst/>
          </a:prstGeom>
          <a:solidFill>
            <a:srgbClr val="04579A"/>
          </a:solidFill>
          <a:ln w="12700">
            <a:solidFill>
              <a:srgbClr val="04579A"/>
            </a:solidFill>
            <a:prstDash val="solid"/>
          </a:ln>
        </p:spPr>
      </p:sp>
      <p:sp>
        <p:nvSpPr>
          <p:cNvPr id="5" name="Shape 2"/>
          <p:cNvSpPr/>
          <p:nvPr/>
        </p:nvSpPr>
        <p:spPr>
          <a:xfrm>
            <a:off x="7816469" y="-889"/>
            <a:ext cx="4114800" cy="962660"/>
          </a:xfrm>
          <a:prstGeom prst="rect">
            <a:avLst/>
          </a:prstGeom>
          <a:solidFill>
            <a:srgbClr val="F2F2F2"/>
          </a:solidFill>
          <a:ln/>
        </p:spPr>
      </p:sp>
      <p:sp>
        <p:nvSpPr>
          <p:cNvPr id="6" name="Shape 3"/>
          <p:cNvSpPr/>
          <p:nvPr/>
        </p:nvSpPr>
        <p:spPr>
          <a:xfrm>
            <a:off x="11971020" y="0"/>
            <a:ext cx="4284980" cy="961771"/>
          </a:xfrm>
          <a:prstGeom prst="rect">
            <a:avLst/>
          </a:prstGeom>
          <a:solidFill>
            <a:srgbClr val="F2F2F2"/>
          </a:solidFill>
          <a:ln/>
        </p:spPr>
      </p:sp>
      <p:sp>
        <p:nvSpPr>
          <p:cNvPr id="7" name="Shape 4"/>
          <p:cNvSpPr/>
          <p:nvPr/>
        </p:nvSpPr>
        <p:spPr>
          <a:xfrm>
            <a:off x="2219960" y="-889"/>
            <a:ext cx="2895600" cy="962660"/>
          </a:xfrm>
          <a:prstGeom prst="rect">
            <a:avLst/>
          </a:prstGeom>
          <a:solidFill>
            <a:srgbClr val="F2F2F2"/>
          </a:solidFill>
          <a:ln w="12700">
            <a:solidFill>
              <a:srgbClr val="F2F2F2"/>
            </a:solidFill>
            <a:prstDash val="solid"/>
          </a:ln>
        </p:spPr>
      </p:sp>
      <p:sp>
        <p:nvSpPr>
          <p:cNvPr id="8" name="Text 5"/>
          <p:cNvSpPr/>
          <p:nvPr/>
        </p:nvSpPr>
        <p:spPr>
          <a:xfrm>
            <a:off x="2283460" y="203200"/>
            <a:ext cx="27686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选题背景及意义</a:t>
            </a:r>
            <a:endParaRPr lang="en-US" sz="2000" dirty="0"/>
          </a:p>
        </p:txBody>
      </p:sp>
      <p:sp>
        <p:nvSpPr>
          <p:cNvPr id="9" name="Text 6"/>
          <p:cNvSpPr/>
          <p:nvPr/>
        </p:nvSpPr>
        <p:spPr>
          <a:xfrm>
            <a:off x="5225669" y="203200"/>
            <a:ext cx="2463800" cy="508000"/>
          </a:xfrm>
          <a:prstGeom prst="rect">
            <a:avLst/>
          </a:prstGeom>
          <a:noFill/>
          <a:ln/>
        </p:spPr>
        <p:txBody>
          <a:bodyPr wrap="none" lIns="0" tIns="0" rIns="0" bIns="0" rtlCol="0" anchor="ctr"/>
          <a:lstStyle/>
          <a:p>
            <a:pPr algn="ctr">
              <a:lnSpc>
                <a:spcPct val="120000"/>
              </a:lnSpc>
            </a:pPr>
            <a:r>
              <a:rPr lang="en-US" sz="2000" dirty="0">
                <a:solidFill>
                  <a:srgbClr val="FFFFFF"/>
                </a:solidFill>
                <a:latin typeface="Arial" pitchFamily="34" charset="0"/>
                <a:ea typeface="Arial" pitchFamily="34" charset="-122"/>
                <a:cs typeface="Arial" pitchFamily="34" charset="-120"/>
              </a:rPr>
              <a:t>国内外研究现状</a:t>
            </a:r>
            <a:endParaRPr lang="en-US" sz="2000" dirty="0"/>
          </a:p>
        </p:txBody>
      </p:sp>
      <p:sp>
        <p:nvSpPr>
          <p:cNvPr id="10" name="Text 7"/>
          <p:cNvSpPr/>
          <p:nvPr/>
        </p:nvSpPr>
        <p:spPr>
          <a:xfrm>
            <a:off x="7879969" y="203200"/>
            <a:ext cx="39878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主要研究内容及预期目标</a:t>
            </a:r>
            <a:endParaRPr lang="en-US" sz="2000" dirty="0"/>
          </a:p>
        </p:txBody>
      </p:sp>
      <p:sp>
        <p:nvSpPr>
          <p:cNvPr id="11" name="Text 8"/>
          <p:cNvSpPr/>
          <p:nvPr/>
        </p:nvSpPr>
        <p:spPr>
          <a:xfrm>
            <a:off x="12034520" y="203200"/>
            <a:ext cx="415798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工作计划与进度安排</a:t>
            </a:r>
            <a:endParaRPr lang="en-US" sz="2000" dirty="0"/>
          </a:p>
        </p:txBody>
      </p:sp>
      <p:pic>
        <p:nvPicPr>
          <p:cNvPr id="12" name="Image 0" descr="https://kimi-img.moonshot.cn/pub/slides/okc/flfuysioo4gzm/mnt/agents/output/yuan_pptd/images/image_2.jpg">    </p:cNvPr>
          <p:cNvPicPr>
            <a:picLocks noChangeAspect="1"/>
          </p:cNvPicPr>
          <p:nvPr/>
        </p:nvPicPr>
        <p:blipFill>
          <a:blip r:embed="rId1"/>
          <a:srcRect l="5060" r="29000" t="0" b="0"/>
          <a:stretch/>
        </p:blipFill>
        <p:spPr>
          <a:xfrm>
            <a:off x="544449" y="140589"/>
            <a:ext cx="1273429" cy="745871"/>
          </a:xfrm>
          <a:prstGeom prst="rect">
            <a:avLst/>
          </a:prstGeom>
        </p:spPr>
      </p:pic>
      <p:sp>
        <p:nvSpPr>
          <p:cNvPr id="13" name="Shape 9"/>
          <p:cNvSpPr/>
          <p:nvPr/>
        </p:nvSpPr>
        <p:spPr>
          <a:xfrm rot="10800000">
            <a:off x="6121400" y="961771"/>
            <a:ext cx="389509" cy="304800"/>
          </a:xfrm>
          <a:prstGeom prst="triangle">
            <a:avLst>
              <a:gd name="adj" fmla="val 50000"/>
            </a:avLst>
          </a:prstGeom>
          <a:solidFill>
            <a:srgbClr val="04579A"/>
          </a:solidFill>
          <a:ln/>
        </p:spPr>
      </p:sp>
      <p:sp>
        <p:nvSpPr>
          <p:cNvPr id="14" name="Text 10"/>
          <p:cNvSpPr/>
          <p:nvPr/>
        </p:nvSpPr>
        <p:spPr>
          <a:xfrm>
            <a:off x="544449" y="1266571"/>
            <a:ext cx="10275316" cy="984885"/>
          </a:xfrm>
          <a:prstGeom prst="rect">
            <a:avLst/>
          </a:prstGeom>
          <a:noFill/>
          <a:ln/>
        </p:spPr>
        <p:txBody>
          <a:bodyPr wrap="square" lIns="0" tIns="0" rIns="0" bIns="0" rtlCol="0" anchor="t"/>
          <a:lstStyle/>
          <a:p>
            <a:pPr algn="l" marL="508000" indent="-508000">
              <a:lnSpc>
                <a:spcPct val="120000"/>
              </a:lnSpc>
              <a:spcBef>
                <a:spcPts val="10"/>
              </a:spcBef>
              <a:buSzPct val="100000"/>
              <a:buFont typeface="+mj-lt"/>
              <a:buAutoNum type="arabicPeriod" startAt="1"/>
            </a:pPr>
            <a:r>
              <a:rPr lang="en-US" sz="3200" b="1" dirty="0">
                <a:solidFill>
                  <a:srgbClr val="262626"/>
                </a:solidFill>
                <a:latin typeface="MiSans" pitchFamily="34" charset="0"/>
                <a:ea typeface="MiSans" pitchFamily="34" charset="-122"/>
                <a:cs typeface="MiSans" pitchFamily="34" charset="-120"/>
              </a:rPr>
              <a:t>恶意场景下分布式数字资产交易安全性</a:t>
            </a:r>
            <a:endParaRPr lang="en-US" sz="3200" dirty="0"/>
          </a:p>
          <a:p>
            <a:pPr algn="l">
              <a:lnSpc>
                <a:spcPct val="120000"/>
              </a:lnSpc>
            </a:pPr>
            <a:r>
              <a:rPr lang="en-US" sz="2400" b="1" dirty="0">
                <a:solidFill>
                  <a:srgbClr val="595959"/>
                </a:solidFill>
                <a:latin typeface="MiSans" pitchFamily="34" charset="0"/>
                <a:ea typeface="MiSans" pitchFamily="34" charset="-122"/>
                <a:cs typeface="MiSans" pitchFamily="34" charset="-120"/>
              </a:rPr>
              <a:t>      </a:t>
            </a:r>
            <a:pPr algn="l">
              <a:lnSpc>
                <a:spcPct val="120000"/>
              </a:lnSpc>
            </a:pPr>
            <a:r>
              <a:rPr lang="en-US" sz="2400" b="1" dirty="0">
                <a:solidFill>
                  <a:srgbClr val="595959"/>
                </a:solidFill>
                <a:latin typeface="MiSans" pitchFamily="34" charset="0"/>
                <a:ea typeface="MiSans" pitchFamily="34" charset="-122"/>
                <a:cs typeface="MiSans" pitchFamily="34" charset="-120"/>
              </a:rPr>
              <a:t>设计难点</a:t>
            </a:r>
            <a:endParaRPr lang="en-US" sz="3200" dirty="0"/>
          </a:p>
        </p:txBody>
      </p:sp>
      <p:pic>
        <p:nvPicPr>
          <p:cNvPr id="15" name="Image 1" descr="https://kimi-img.moonshot.cn/pub/slides/okc/flfuysioo4gzm/mnt/agents/output/yuan_pptd/images/image_28.png">    </p:cNvPr>
          <p:cNvPicPr>
            <a:picLocks noChangeAspect="1"/>
          </p:cNvPicPr>
          <p:nvPr/>
        </p:nvPicPr>
        <p:blipFill>
          <a:blip r:embed="rId2"/>
          <a:stretch>
            <a:fillRect/>
          </a:stretch>
        </p:blipFill>
        <p:spPr>
          <a:xfrm>
            <a:off x="1986280" y="2646680"/>
            <a:ext cx="604520" cy="604520"/>
          </a:xfrm>
          <a:prstGeom prst="rect">
            <a:avLst/>
          </a:prstGeom>
        </p:spPr>
      </p:pic>
      <p:pic>
        <p:nvPicPr>
          <p:cNvPr id="16" name="Image 2" descr="https://kimi-img.moonshot.cn/pub/slides/okc/flfuysioo4gzm/mnt/agents/output/yuan_pptd/images/image_20.jpg">    </p:cNvPr>
          <p:cNvPicPr>
            <a:picLocks noChangeAspect="1"/>
          </p:cNvPicPr>
          <p:nvPr/>
        </p:nvPicPr>
        <p:blipFill>
          <a:blip r:embed="rId3"/>
          <a:srcRect l="14590" r="60610" t="10800" b="21090"/>
          <a:stretch/>
        </p:blipFill>
        <p:spPr>
          <a:xfrm>
            <a:off x="1027049" y="3975989"/>
            <a:ext cx="791591" cy="864489"/>
          </a:xfrm>
          <a:prstGeom prst="rect">
            <a:avLst/>
          </a:prstGeom>
        </p:spPr>
      </p:pic>
      <p:pic>
        <p:nvPicPr>
          <p:cNvPr id="17" name="Image 3" descr="https://kimi-img.moonshot.cn/pub/slides/okc/flfuysioo4gzm/mnt/agents/output/yuan_pptd/images/image_20.jpg">    </p:cNvPr>
          <p:cNvPicPr>
            <a:picLocks noChangeAspect="1"/>
          </p:cNvPicPr>
          <p:nvPr/>
        </p:nvPicPr>
        <p:blipFill>
          <a:blip r:embed="rId4"/>
          <a:srcRect l="14590" r="60610" t="10800" b="21090"/>
          <a:stretch/>
        </p:blipFill>
        <p:spPr>
          <a:xfrm>
            <a:off x="2810891" y="3975989"/>
            <a:ext cx="791591" cy="864489"/>
          </a:xfrm>
          <a:prstGeom prst="rect">
            <a:avLst/>
          </a:prstGeom>
        </p:spPr>
      </p:pic>
      <p:pic>
        <p:nvPicPr>
          <p:cNvPr id="18" name="Image 4" descr="https://kimi-img.moonshot.cn/pub/slides/okc/flfuysioo4gzm/mnt/agents/output/yuan_pptd/images/image_20.jpg">    </p:cNvPr>
          <p:cNvPicPr>
            <a:picLocks noChangeAspect="1"/>
          </p:cNvPicPr>
          <p:nvPr/>
        </p:nvPicPr>
        <p:blipFill>
          <a:blip r:embed="rId5"/>
          <a:srcRect l="14590" r="60610" t="10800" b="21090"/>
          <a:stretch/>
        </p:blipFill>
        <p:spPr>
          <a:xfrm>
            <a:off x="5241671" y="3950589"/>
            <a:ext cx="791591" cy="864489"/>
          </a:xfrm>
          <a:prstGeom prst="rect">
            <a:avLst/>
          </a:prstGeom>
        </p:spPr>
      </p:pic>
      <p:pic>
        <p:nvPicPr>
          <p:cNvPr id="19" name="Image 5" descr="https://kimi-img.moonshot.cn/pub/slides/okc/flfuysioo4gzm/mnt/agents/output/yuan_pptd/images/image_20.jpg">    </p:cNvPr>
          <p:cNvPicPr>
            <a:picLocks noChangeAspect="1"/>
          </p:cNvPicPr>
          <p:nvPr/>
        </p:nvPicPr>
        <p:blipFill>
          <a:blip r:embed="rId6"/>
          <a:srcRect l="14590" r="60610" t="10800" b="21090"/>
          <a:stretch/>
        </p:blipFill>
        <p:spPr>
          <a:xfrm>
            <a:off x="7025640" y="3950589"/>
            <a:ext cx="791591" cy="864489"/>
          </a:xfrm>
          <a:prstGeom prst="rect">
            <a:avLst/>
          </a:prstGeom>
        </p:spPr>
      </p:pic>
      <p:sp>
        <p:nvSpPr>
          <p:cNvPr id="20" name="Shape 11"/>
          <p:cNvSpPr/>
          <p:nvPr/>
        </p:nvSpPr>
        <p:spPr>
          <a:xfrm flipH="1">
            <a:off x="5878449" y="3375660"/>
            <a:ext cx="243840" cy="393700"/>
          </a:xfrm>
          <a:prstGeom prst="straightConnector1">
            <a:avLst/>
          </a:prstGeom>
          <a:noFill/>
          <a:ln w="12700">
            <a:solidFill>
              <a:srgbClr val="005C8F"/>
            </a:solidFill>
            <a:prstDash val="solid"/>
            <a:headEnd type="none"/>
            <a:tailEnd type="arrow"/>
          </a:ln>
        </p:spPr>
      </p:sp>
      <p:sp>
        <p:nvSpPr>
          <p:cNvPr id="21" name="Shape 12"/>
          <p:cNvSpPr/>
          <p:nvPr/>
        </p:nvSpPr>
        <p:spPr>
          <a:xfrm>
            <a:off x="6863080" y="3348609"/>
            <a:ext cx="238760" cy="417449"/>
          </a:xfrm>
          <a:prstGeom prst="straightConnector1">
            <a:avLst/>
          </a:prstGeom>
          <a:noFill/>
          <a:ln w="12700">
            <a:solidFill>
              <a:srgbClr val="005C8F"/>
            </a:solidFill>
            <a:prstDash val="solid"/>
            <a:headEnd type="arrow"/>
            <a:tailEnd type="none"/>
          </a:ln>
        </p:spPr>
      </p:sp>
      <p:sp>
        <p:nvSpPr>
          <p:cNvPr id="22" name="Shape 13"/>
          <p:cNvSpPr/>
          <p:nvPr/>
        </p:nvSpPr>
        <p:spPr>
          <a:xfrm>
            <a:off x="8244840" y="2688209"/>
            <a:ext cx="7051929" cy="751840"/>
          </a:xfrm>
          <a:prstGeom prst="roundRect">
            <a:avLst>
              <a:gd name="adj" fmla="val 16667"/>
            </a:avLst>
          </a:prstGeom>
          <a:solidFill>
            <a:srgbClr val="04579A"/>
          </a:solidFill>
          <a:ln/>
        </p:spPr>
      </p:sp>
      <p:sp>
        <p:nvSpPr>
          <p:cNvPr id="23" name="Text 14"/>
          <p:cNvSpPr/>
          <p:nvPr/>
        </p:nvSpPr>
        <p:spPr>
          <a:xfrm>
            <a:off x="8281543" y="2724912"/>
            <a:ext cx="6978523" cy="678434"/>
          </a:xfrm>
          <a:prstGeom prst="rect">
            <a:avLst/>
          </a:prstGeom>
          <a:noFill/>
          <a:ln/>
        </p:spPr>
        <p:txBody>
          <a:bodyPr wrap="square" lIns="0" tIns="0" rIns="0" bIns="0" rtlCol="0" anchor="ctr"/>
          <a:lstStyle/>
          <a:p>
            <a:pPr algn="ctr">
              <a:lnSpc>
                <a:spcPct val="120000"/>
              </a:lnSpc>
            </a:pPr>
            <a:r>
              <a:rPr lang="en-US" sz="2670" dirty="0">
                <a:solidFill>
                  <a:srgbClr val="FFFFFF"/>
                </a:solidFill>
                <a:latin typeface="MiSans" pitchFamily="34" charset="0"/>
                <a:ea typeface="MiSans" pitchFamily="34" charset="-122"/>
                <a:cs typeface="MiSans" pitchFamily="34" charset="-120"/>
              </a:rPr>
              <a:t>矿工有动机和能力对链上交易顺序进行排序</a:t>
            </a:r>
            <a:endParaRPr lang="en-US" sz="2670" dirty="0"/>
          </a:p>
        </p:txBody>
      </p:sp>
      <p:sp>
        <p:nvSpPr>
          <p:cNvPr id="24" name="Text 15"/>
          <p:cNvSpPr/>
          <p:nvPr/>
        </p:nvSpPr>
        <p:spPr>
          <a:xfrm>
            <a:off x="8245729" y="3583051"/>
            <a:ext cx="7051040" cy="613791"/>
          </a:xfrm>
          <a:prstGeom prst="rect">
            <a:avLst/>
          </a:prstGeom>
          <a:noFill/>
          <a:ln/>
        </p:spPr>
        <p:txBody>
          <a:bodyPr wrap="square" lIns="0" tIns="0" rIns="0" bIns="0" rtlCol="0" anchor="t"/>
          <a:lstStyle/>
          <a:p>
            <a:pPr algn="ctr">
              <a:lnSpc>
                <a:spcPct val="120000"/>
              </a:lnSpc>
            </a:pPr>
            <a:r>
              <a:rPr lang="en-US" sz="3200" b="1" dirty="0">
                <a:solidFill>
                  <a:srgbClr val="04579A"/>
                </a:solidFill>
                <a:latin typeface="Arial" pitchFamily="34" charset="0"/>
                <a:ea typeface="Arial" pitchFamily="34" charset="-122"/>
                <a:cs typeface="Arial" pitchFamily="34" charset="-120"/>
              </a:rPr>
              <a:t>诚实矿工假设在实践中并不安全</a:t>
            </a:r>
            <a:endParaRPr lang="en-US" sz="3200" dirty="0"/>
          </a:p>
        </p:txBody>
      </p:sp>
      <p:sp>
        <p:nvSpPr>
          <p:cNvPr id="25" name="Text 16"/>
          <p:cNvSpPr/>
          <p:nvPr/>
        </p:nvSpPr>
        <p:spPr>
          <a:xfrm>
            <a:off x="9472549" y="8258810"/>
            <a:ext cx="3529711" cy="451358"/>
          </a:xfrm>
          <a:prstGeom prst="rect">
            <a:avLst/>
          </a:prstGeom>
          <a:noFill/>
          <a:ln/>
        </p:spPr>
        <p:txBody>
          <a:bodyPr wrap="square" lIns="0" tIns="0" rIns="0" bIns="0" rtlCol="0" anchor="t"/>
          <a:lstStyle/>
          <a:p>
            <a:pPr algn="ctr">
              <a:lnSpc>
                <a:spcPct val="120000"/>
              </a:lnSpc>
            </a:pPr>
            <a:r>
              <a:rPr lang="en-US" sz="2130" dirty="0">
                <a:solidFill>
                  <a:srgbClr val="000000"/>
                </a:solidFill>
                <a:latin typeface="MiSans" pitchFamily="34" charset="0"/>
                <a:ea typeface="MiSans" pitchFamily="34" charset="-122"/>
                <a:cs typeface="MiSans" pitchFamily="34" charset="-120"/>
              </a:rPr>
              <a:t>链上托管资产不再安全</a:t>
            </a:r>
            <a:endParaRPr lang="en-US" sz="2130" dirty="0"/>
          </a:p>
        </p:txBody>
      </p:sp>
      <p:sp>
        <p:nvSpPr>
          <p:cNvPr id="26" name="Text 17"/>
          <p:cNvSpPr/>
          <p:nvPr/>
        </p:nvSpPr>
        <p:spPr>
          <a:xfrm>
            <a:off x="2056257" y="8258810"/>
            <a:ext cx="4103243" cy="451358"/>
          </a:xfrm>
          <a:prstGeom prst="rect">
            <a:avLst/>
          </a:prstGeom>
          <a:noFill/>
          <a:ln/>
        </p:spPr>
        <p:txBody>
          <a:bodyPr wrap="square" lIns="0" tIns="0" rIns="0" bIns="0" rtlCol="0" anchor="t"/>
          <a:lstStyle/>
          <a:p>
            <a:pPr algn="ctr">
              <a:lnSpc>
                <a:spcPct val="120000"/>
              </a:lnSpc>
            </a:pPr>
            <a:r>
              <a:rPr lang="en-US" sz="2130" dirty="0">
                <a:solidFill>
                  <a:srgbClr val="000000"/>
                </a:solidFill>
                <a:latin typeface="MiSans" pitchFamily="34" charset="0"/>
                <a:ea typeface="MiSans" pitchFamily="34" charset="-122"/>
                <a:cs typeface="MiSans" pitchFamily="34" charset="-120"/>
              </a:rPr>
              <a:t>按交易时间/顺序保证资产安全</a:t>
            </a:r>
            <a:endParaRPr lang="en-US" sz="2130" dirty="0"/>
          </a:p>
        </p:txBody>
      </p:sp>
      <p:sp>
        <p:nvSpPr>
          <p:cNvPr id="27" name="Shape 18"/>
          <p:cNvSpPr/>
          <p:nvPr/>
        </p:nvSpPr>
        <p:spPr>
          <a:xfrm>
            <a:off x="1027049" y="5226431"/>
            <a:ext cx="13912469" cy="0"/>
          </a:xfrm>
          <a:prstGeom prst="line">
            <a:avLst/>
          </a:prstGeom>
          <a:noFill/>
          <a:ln w="12700">
            <a:solidFill>
              <a:srgbClr val="7F7F7F"/>
            </a:solidFill>
            <a:prstDash val="solid"/>
            <a:headEnd type="none"/>
            <a:tailEnd type="none"/>
          </a:ln>
        </p:spPr>
      </p:sp>
      <p:pic>
        <p:nvPicPr>
          <p:cNvPr id="28" name="Image 6" descr="https://kimi-img.moonshot.cn/pub/slides/okc/flfuysioo4gzm/mnt/agents/output/yuan_pptd/images/image_28.png">    </p:cNvPr>
          <p:cNvPicPr>
            <a:picLocks noChangeAspect="1"/>
          </p:cNvPicPr>
          <p:nvPr/>
        </p:nvPicPr>
        <p:blipFill>
          <a:blip r:embed="rId7"/>
          <a:stretch>
            <a:fillRect/>
          </a:stretch>
        </p:blipFill>
        <p:spPr>
          <a:xfrm>
            <a:off x="6187059" y="2646680"/>
            <a:ext cx="604520" cy="604520"/>
          </a:xfrm>
          <a:prstGeom prst="rect">
            <a:avLst/>
          </a:prstGeom>
        </p:spPr>
      </p:pic>
      <p:sp>
        <p:nvSpPr>
          <p:cNvPr id="29" name="Shape 19"/>
          <p:cNvSpPr/>
          <p:nvPr/>
        </p:nvSpPr>
        <p:spPr>
          <a:xfrm flipH="1">
            <a:off x="1652270" y="3450971"/>
            <a:ext cx="243840" cy="393700"/>
          </a:xfrm>
          <a:prstGeom prst="straightConnector1">
            <a:avLst/>
          </a:prstGeom>
          <a:noFill/>
          <a:ln w="12700">
            <a:solidFill>
              <a:srgbClr val="005C8F"/>
            </a:solidFill>
            <a:prstDash val="solid"/>
            <a:headEnd type="none"/>
            <a:tailEnd type="arrow"/>
          </a:ln>
        </p:spPr>
      </p:sp>
      <p:sp>
        <p:nvSpPr>
          <p:cNvPr id="30" name="Shape 20"/>
          <p:cNvSpPr/>
          <p:nvPr/>
        </p:nvSpPr>
        <p:spPr>
          <a:xfrm>
            <a:off x="2636901" y="3423920"/>
            <a:ext cx="238760" cy="417449"/>
          </a:xfrm>
          <a:prstGeom prst="straightConnector1">
            <a:avLst/>
          </a:prstGeom>
          <a:noFill/>
          <a:ln w="12700">
            <a:solidFill>
              <a:srgbClr val="005C8F"/>
            </a:solidFill>
            <a:prstDash val="solid"/>
            <a:headEnd type="arrow"/>
            <a:tailEnd type="none"/>
          </a:ln>
        </p:spPr>
      </p:sp>
      <p:sp>
        <p:nvSpPr>
          <p:cNvPr id="31" name="Text 21"/>
          <p:cNvSpPr/>
          <p:nvPr/>
        </p:nvSpPr>
        <p:spPr>
          <a:xfrm>
            <a:off x="1040257" y="3450971"/>
            <a:ext cx="751713" cy="348869"/>
          </a:xfrm>
          <a:prstGeom prst="rect">
            <a:avLst/>
          </a:prstGeom>
          <a:noFill/>
          <a:ln/>
        </p:spPr>
        <p:txBody>
          <a:bodyPr wrap="square" lIns="0" tIns="0" rIns="0" bIns="0" rtlCol="0" anchor="t"/>
          <a:lstStyle/>
          <a:p>
            <a:pPr algn="l">
              <a:lnSpc>
                <a:spcPct val="120000"/>
              </a:lnSpc>
            </a:pPr>
            <a:r>
              <a:rPr lang="en-US" sz="1470" dirty="0">
                <a:solidFill>
                  <a:srgbClr val="000000"/>
                </a:solidFill>
                <a:latin typeface="Arial" pitchFamily="34" charset="0"/>
                <a:ea typeface="Arial" pitchFamily="34" charset="-122"/>
                <a:cs typeface="Arial" pitchFamily="34" charset="-120"/>
              </a:rPr>
              <a:t>交易A</a:t>
            </a:r>
            <a:endParaRPr lang="en-US" sz="1470" dirty="0"/>
          </a:p>
        </p:txBody>
      </p:sp>
      <p:sp>
        <p:nvSpPr>
          <p:cNvPr id="32" name="Text 22"/>
          <p:cNvSpPr/>
          <p:nvPr/>
        </p:nvSpPr>
        <p:spPr>
          <a:xfrm>
            <a:off x="2772156" y="3450971"/>
            <a:ext cx="948563" cy="348869"/>
          </a:xfrm>
          <a:prstGeom prst="rect">
            <a:avLst/>
          </a:prstGeom>
          <a:noFill/>
          <a:ln/>
        </p:spPr>
        <p:txBody>
          <a:bodyPr wrap="square" lIns="0" tIns="0" rIns="0" bIns="0" rtlCol="0" anchor="t"/>
          <a:lstStyle/>
          <a:p>
            <a:pPr algn="l">
              <a:lnSpc>
                <a:spcPct val="120000"/>
              </a:lnSpc>
            </a:pPr>
            <a:r>
              <a:rPr lang="en-US" sz="1470" dirty="0">
                <a:solidFill>
                  <a:srgbClr val="000000"/>
                </a:solidFill>
                <a:latin typeface="Arial" pitchFamily="34" charset="0"/>
                <a:ea typeface="Arial" pitchFamily="34" charset="-122"/>
                <a:cs typeface="Arial" pitchFamily="34" charset="-120"/>
              </a:rPr>
              <a:t>交易B +</a:t>
            </a:r>
            <a:endParaRPr lang="en-US" sz="1470" dirty="0"/>
          </a:p>
        </p:txBody>
      </p:sp>
      <p:pic>
        <p:nvPicPr>
          <p:cNvPr id="33" name="Image 7" descr="https://kimi-img.moonshot.cn/pub/slides/okc/flfuysioo4gzm/mnt/agents/output/yuan_pptd/images/image_29.sv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flipH="1">
            <a:off x="3576066" y="3418840"/>
            <a:ext cx="354076" cy="354076"/>
          </a:xfrm>
          <a:prstGeom prst="rect">
            <a:avLst/>
          </a:prstGeom>
        </p:spPr>
      </p:pic>
      <p:pic>
        <p:nvPicPr>
          <p:cNvPr id="34" name="Image 8" descr="https://kimi-img.moonshot.cn/pub/slides/okc/flfuysioo4gzm/mnt/agents/output/yuan_pptd/images/image_30.svg">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5699506" y="3222625"/>
            <a:ext cx="354076" cy="354076"/>
          </a:xfrm>
          <a:prstGeom prst="rect">
            <a:avLst/>
          </a:prstGeom>
        </p:spPr>
      </p:pic>
      <p:pic>
        <p:nvPicPr>
          <p:cNvPr id="35" name="Image 9" descr="https://kimi-img.moonshot.cn/pub/slides/okc/flfuysioo4gzm/mnt/agents/output/yuan_pptd/images/image_31.svg">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6938264" y="3222625"/>
            <a:ext cx="354076" cy="354076"/>
          </a:xfrm>
          <a:prstGeom prst="rect">
            <a:avLst/>
          </a:prstGeom>
        </p:spPr>
      </p:pic>
      <p:sp>
        <p:nvSpPr>
          <p:cNvPr id="36" name="Shape 23"/>
          <p:cNvSpPr/>
          <p:nvPr/>
        </p:nvSpPr>
        <p:spPr>
          <a:xfrm>
            <a:off x="7342251" y="6463919"/>
            <a:ext cx="474091" cy="694309"/>
          </a:xfrm>
          <a:prstGeom prst="rightArrow">
            <a:avLst>
              <a:gd name="adj1" fmla="val 50000"/>
              <a:gd name="adj2" fmla="val 50000"/>
            </a:avLst>
          </a:prstGeom>
          <a:solidFill>
            <a:srgbClr val="FFFFFF"/>
          </a:solidFill>
          <a:ln w="12700">
            <a:solidFill>
              <a:srgbClr val="04579A"/>
            </a:solidFill>
            <a:prstDash val="solid"/>
          </a:ln>
        </p:spPr>
      </p:sp>
      <p:sp>
        <p:nvSpPr>
          <p:cNvPr id="37" name="Shape 24"/>
          <p:cNvSpPr/>
          <p:nvPr/>
        </p:nvSpPr>
        <p:spPr>
          <a:xfrm>
            <a:off x="2530856" y="6056757"/>
            <a:ext cx="0" cy="2005584"/>
          </a:xfrm>
          <a:prstGeom prst="line">
            <a:avLst/>
          </a:prstGeom>
          <a:noFill/>
          <a:ln w="12700">
            <a:solidFill>
              <a:srgbClr val="005C8F"/>
            </a:solidFill>
            <a:prstDash val="solid"/>
            <a:headEnd type="none"/>
            <a:tailEnd type="none"/>
          </a:ln>
        </p:spPr>
      </p:sp>
      <p:sp>
        <p:nvSpPr>
          <p:cNvPr id="38" name="Shape 25"/>
          <p:cNvSpPr/>
          <p:nvPr/>
        </p:nvSpPr>
        <p:spPr>
          <a:xfrm flipH="1">
            <a:off x="4107942" y="5990209"/>
            <a:ext cx="0" cy="2072132"/>
          </a:xfrm>
          <a:prstGeom prst="line">
            <a:avLst/>
          </a:prstGeom>
          <a:noFill/>
          <a:ln w="12700">
            <a:solidFill>
              <a:srgbClr val="005C8F"/>
            </a:solidFill>
            <a:prstDash val="solid"/>
            <a:headEnd type="none"/>
            <a:tailEnd type="none"/>
          </a:ln>
        </p:spPr>
      </p:sp>
      <p:sp>
        <p:nvSpPr>
          <p:cNvPr id="39" name="Shape 26"/>
          <p:cNvSpPr/>
          <p:nvPr/>
        </p:nvSpPr>
        <p:spPr>
          <a:xfrm>
            <a:off x="5758307" y="6044311"/>
            <a:ext cx="0" cy="2018030"/>
          </a:xfrm>
          <a:prstGeom prst="line">
            <a:avLst/>
          </a:prstGeom>
          <a:noFill/>
          <a:ln w="12700">
            <a:solidFill>
              <a:srgbClr val="005C8F"/>
            </a:solidFill>
            <a:prstDash val="solid"/>
            <a:headEnd type="none"/>
            <a:tailEnd type="none"/>
          </a:ln>
        </p:spPr>
      </p:sp>
      <p:sp>
        <p:nvSpPr>
          <p:cNvPr id="40" name="Text 27"/>
          <p:cNvSpPr/>
          <p:nvPr/>
        </p:nvSpPr>
        <p:spPr>
          <a:xfrm>
            <a:off x="1947545" y="5617210"/>
            <a:ext cx="1189609" cy="451358"/>
          </a:xfrm>
          <a:prstGeom prst="rect">
            <a:avLst/>
          </a:prstGeom>
          <a:noFill/>
          <a:ln/>
        </p:spPr>
        <p:txBody>
          <a:bodyPr wrap="square" lIns="0" tIns="0" rIns="0" bIns="0" rtlCol="0" anchor="t"/>
          <a:lstStyle/>
          <a:p>
            <a:pPr algn="ctr">
              <a:lnSpc>
                <a:spcPct val="120000"/>
              </a:lnSpc>
            </a:pPr>
            <a:r>
              <a:rPr lang="en-US" sz="2130" dirty="0">
                <a:solidFill>
                  <a:srgbClr val="000000"/>
                </a:solidFill>
                <a:latin typeface="Arial" pitchFamily="34" charset="0"/>
                <a:ea typeface="Arial" pitchFamily="34" charset="-122"/>
                <a:cs typeface="Arial" pitchFamily="34" charset="-120"/>
              </a:rPr>
              <a:t>用户A</a:t>
            </a:r>
            <a:endParaRPr lang="en-US" sz="2130" dirty="0"/>
          </a:p>
        </p:txBody>
      </p:sp>
      <p:sp>
        <p:nvSpPr>
          <p:cNvPr id="41" name="Text 28"/>
          <p:cNvSpPr/>
          <p:nvPr/>
        </p:nvSpPr>
        <p:spPr>
          <a:xfrm>
            <a:off x="3513201" y="5531993"/>
            <a:ext cx="1189609" cy="451358"/>
          </a:xfrm>
          <a:prstGeom prst="rect">
            <a:avLst/>
          </a:prstGeom>
          <a:noFill/>
          <a:ln/>
        </p:spPr>
        <p:txBody>
          <a:bodyPr wrap="square" lIns="0" tIns="0" rIns="0" bIns="0" rtlCol="0" anchor="t"/>
          <a:lstStyle/>
          <a:p>
            <a:pPr algn="ctr">
              <a:lnSpc>
                <a:spcPct val="120000"/>
              </a:lnSpc>
            </a:pPr>
            <a:r>
              <a:rPr lang="en-US" sz="2130" dirty="0">
                <a:solidFill>
                  <a:srgbClr val="000000"/>
                </a:solidFill>
                <a:latin typeface="Arial" pitchFamily="34" charset="0"/>
                <a:ea typeface="Arial" pitchFamily="34" charset="-122"/>
                <a:cs typeface="Arial" pitchFamily="34" charset="-120"/>
              </a:rPr>
              <a:t>区块链</a:t>
            </a:r>
            <a:endParaRPr lang="en-US" sz="2130" dirty="0"/>
          </a:p>
        </p:txBody>
      </p:sp>
      <p:sp>
        <p:nvSpPr>
          <p:cNvPr id="42" name="Text 29"/>
          <p:cNvSpPr/>
          <p:nvPr/>
        </p:nvSpPr>
        <p:spPr>
          <a:xfrm>
            <a:off x="5117338" y="5610479"/>
            <a:ext cx="1189609" cy="451358"/>
          </a:xfrm>
          <a:prstGeom prst="rect">
            <a:avLst/>
          </a:prstGeom>
          <a:noFill/>
          <a:ln/>
        </p:spPr>
        <p:txBody>
          <a:bodyPr wrap="square" lIns="0" tIns="0" rIns="0" bIns="0" rtlCol="0" anchor="t"/>
          <a:lstStyle/>
          <a:p>
            <a:pPr algn="ctr">
              <a:lnSpc>
                <a:spcPct val="120000"/>
              </a:lnSpc>
            </a:pPr>
            <a:r>
              <a:rPr lang="en-US" sz="2130" dirty="0">
                <a:solidFill>
                  <a:srgbClr val="000000"/>
                </a:solidFill>
                <a:latin typeface="Arial" pitchFamily="34" charset="0"/>
                <a:ea typeface="Arial" pitchFamily="34" charset="-122"/>
                <a:cs typeface="Arial" pitchFamily="34" charset="-120"/>
              </a:rPr>
              <a:t>用户B</a:t>
            </a:r>
            <a:endParaRPr lang="en-US" sz="2130" dirty="0"/>
          </a:p>
        </p:txBody>
      </p:sp>
      <p:sp>
        <p:nvSpPr>
          <p:cNvPr id="43" name="Shape 30"/>
          <p:cNvSpPr/>
          <p:nvPr/>
        </p:nvSpPr>
        <p:spPr>
          <a:xfrm>
            <a:off x="2585847" y="6568694"/>
            <a:ext cx="1456563" cy="0"/>
          </a:xfrm>
          <a:prstGeom prst="straightConnector1">
            <a:avLst/>
          </a:prstGeom>
          <a:noFill/>
          <a:ln w="12700">
            <a:solidFill>
              <a:srgbClr val="000000"/>
            </a:solidFill>
            <a:prstDash val="solid"/>
            <a:headEnd type="none"/>
            <a:tailEnd type="arrow"/>
          </a:ln>
        </p:spPr>
      </p:sp>
      <p:sp>
        <p:nvSpPr>
          <p:cNvPr id="44" name="Text 31"/>
          <p:cNvSpPr/>
          <p:nvPr/>
        </p:nvSpPr>
        <p:spPr>
          <a:xfrm>
            <a:off x="2709926" y="6206490"/>
            <a:ext cx="1189609" cy="369316"/>
          </a:xfrm>
          <a:prstGeom prst="rect">
            <a:avLst/>
          </a:prstGeom>
          <a:noFill/>
          <a:ln/>
        </p:spPr>
        <p:txBody>
          <a:bodyPr wrap="square" lIns="0" tIns="0" rIns="0" bIns="0" rtlCol="0" anchor="t"/>
          <a:lstStyle/>
          <a:p>
            <a:pPr algn="l">
              <a:lnSpc>
                <a:spcPct val="120000"/>
              </a:lnSpc>
            </a:pPr>
            <a:r>
              <a:rPr lang="en-US" sz="1600" dirty="0">
                <a:solidFill>
                  <a:srgbClr val="000000"/>
                </a:solidFill>
                <a:latin typeface="Arial" pitchFamily="34" charset="0"/>
                <a:ea typeface="Arial" pitchFamily="34" charset="-122"/>
                <a:cs typeface="Arial" pitchFamily="34" charset="-120"/>
              </a:rPr>
              <a:t>在时间T前</a:t>
            </a:r>
            <a:endParaRPr lang="en-US" sz="1600" dirty="0"/>
          </a:p>
        </p:txBody>
      </p:sp>
      <p:sp>
        <p:nvSpPr>
          <p:cNvPr id="45" name="Shape 32"/>
          <p:cNvSpPr/>
          <p:nvPr/>
        </p:nvSpPr>
        <p:spPr>
          <a:xfrm>
            <a:off x="4172458" y="7494016"/>
            <a:ext cx="1539621" cy="0"/>
          </a:xfrm>
          <a:prstGeom prst="straightConnector1">
            <a:avLst/>
          </a:prstGeom>
          <a:noFill/>
          <a:ln w="12700">
            <a:solidFill>
              <a:srgbClr val="000000"/>
            </a:solidFill>
            <a:prstDash val="solid"/>
            <a:headEnd type="arrow"/>
            <a:tailEnd type="none"/>
          </a:ln>
        </p:spPr>
      </p:sp>
      <p:sp>
        <p:nvSpPr>
          <p:cNvPr id="46" name="Text 33"/>
          <p:cNvSpPr/>
          <p:nvPr/>
        </p:nvSpPr>
        <p:spPr>
          <a:xfrm>
            <a:off x="4330700" y="7112254"/>
            <a:ext cx="1189609" cy="369316"/>
          </a:xfrm>
          <a:prstGeom prst="rect">
            <a:avLst/>
          </a:prstGeom>
          <a:noFill/>
          <a:ln/>
        </p:spPr>
        <p:txBody>
          <a:bodyPr wrap="square" lIns="0" tIns="0" rIns="0" bIns="0" rtlCol="0" anchor="t"/>
          <a:lstStyle/>
          <a:p>
            <a:pPr algn="l">
              <a:lnSpc>
                <a:spcPct val="120000"/>
              </a:lnSpc>
            </a:pPr>
            <a:r>
              <a:rPr lang="en-US" sz="1600" dirty="0">
                <a:solidFill>
                  <a:srgbClr val="000000"/>
                </a:solidFill>
                <a:latin typeface="Arial" pitchFamily="34" charset="0"/>
                <a:ea typeface="Arial" pitchFamily="34" charset="-122"/>
                <a:cs typeface="Arial" pitchFamily="34" charset="-120"/>
              </a:rPr>
              <a:t>在时间T后</a:t>
            </a:r>
            <a:endParaRPr lang="en-US" sz="1600" dirty="0"/>
          </a:p>
        </p:txBody>
      </p:sp>
      <p:sp>
        <p:nvSpPr>
          <p:cNvPr id="47" name="Shape 34"/>
          <p:cNvSpPr/>
          <p:nvPr/>
        </p:nvSpPr>
        <p:spPr>
          <a:xfrm>
            <a:off x="9640951" y="6042914"/>
            <a:ext cx="0" cy="2005584"/>
          </a:xfrm>
          <a:prstGeom prst="line">
            <a:avLst/>
          </a:prstGeom>
          <a:noFill/>
          <a:ln w="12700">
            <a:solidFill>
              <a:srgbClr val="005C8F"/>
            </a:solidFill>
            <a:prstDash val="solid"/>
            <a:headEnd type="none"/>
            <a:tailEnd type="none"/>
          </a:ln>
        </p:spPr>
      </p:sp>
      <p:sp>
        <p:nvSpPr>
          <p:cNvPr id="48" name="Shape 35"/>
          <p:cNvSpPr/>
          <p:nvPr/>
        </p:nvSpPr>
        <p:spPr>
          <a:xfrm flipH="1">
            <a:off x="11218164" y="5976366"/>
            <a:ext cx="0" cy="2072132"/>
          </a:xfrm>
          <a:prstGeom prst="line">
            <a:avLst/>
          </a:prstGeom>
          <a:noFill/>
          <a:ln w="12700">
            <a:solidFill>
              <a:srgbClr val="005C8F"/>
            </a:solidFill>
            <a:prstDash val="solid"/>
            <a:headEnd type="none"/>
            <a:tailEnd type="none"/>
          </a:ln>
        </p:spPr>
      </p:sp>
      <p:sp>
        <p:nvSpPr>
          <p:cNvPr id="49" name="Shape 36"/>
          <p:cNvSpPr/>
          <p:nvPr/>
        </p:nvSpPr>
        <p:spPr>
          <a:xfrm>
            <a:off x="12868402" y="6030468"/>
            <a:ext cx="0" cy="2018030"/>
          </a:xfrm>
          <a:prstGeom prst="line">
            <a:avLst/>
          </a:prstGeom>
          <a:noFill/>
          <a:ln w="12700">
            <a:solidFill>
              <a:srgbClr val="005C8F"/>
            </a:solidFill>
            <a:prstDash val="solid"/>
            <a:headEnd type="none"/>
            <a:tailEnd type="none"/>
          </a:ln>
        </p:spPr>
      </p:sp>
      <p:sp>
        <p:nvSpPr>
          <p:cNvPr id="50" name="Text 37"/>
          <p:cNvSpPr/>
          <p:nvPr/>
        </p:nvSpPr>
        <p:spPr>
          <a:xfrm>
            <a:off x="9057640" y="5603367"/>
            <a:ext cx="1189609" cy="451358"/>
          </a:xfrm>
          <a:prstGeom prst="rect">
            <a:avLst/>
          </a:prstGeom>
          <a:noFill/>
          <a:ln/>
        </p:spPr>
        <p:txBody>
          <a:bodyPr wrap="square" lIns="0" tIns="0" rIns="0" bIns="0" rtlCol="0" anchor="t"/>
          <a:lstStyle/>
          <a:p>
            <a:pPr algn="ctr">
              <a:lnSpc>
                <a:spcPct val="120000"/>
              </a:lnSpc>
            </a:pPr>
            <a:r>
              <a:rPr lang="en-US" sz="2130" dirty="0">
                <a:solidFill>
                  <a:srgbClr val="000000"/>
                </a:solidFill>
                <a:latin typeface="Arial" pitchFamily="34" charset="0"/>
                <a:ea typeface="Arial" pitchFamily="34" charset="-122"/>
                <a:cs typeface="Arial" pitchFamily="34" charset="-120"/>
              </a:rPr>
              <a:t>用户A</a:t>
            </a:r>
            <a:endParaRPr lang="en-US" sz="2130" dirty="0"/>
          </a:p>
        </p:txBody>
      </p:sp>
      <p:sp>
        <p:nvSpPr>
          <p:cNvPr id="51" name="Text 38"/>
          <p:cNvSpPr/>
          <p:nvPr/>
        </p:nvSpPr>
        <p:spPr>
          <a:xfrm>
            <a:off x="10623296" y="5518150"/>
            <a:ext cx="1189609" cy="451358"/>
          </a:xfrm>
          <a:prstGeom prst="rect">
            <a:avLst/>
          </a:prstGeom>
          <a:noFill/>
          <a:ln/>
        </p:spPr>
        <p:txBody>
          <a:bodyPr wrap="square" lIns="0" tIns="0" rIns="0" bIns="0" rtlCol="0" anchor="t"/>
          <a:lstStyle/>
          <a:p>
            <a:pPr algn="ctr">
              <a:lnSpc>
                <a:spcPct val="120000"/>
              </a:lnSpc>
            </a:pPr>
            <a:r>
              <a:rPr lang="en-US" sz="2130" dirty="0">
                <a:solidFill>
                  <a:srgbClr val="000000"/>
                </a:solidFill>
                <a:latin typeface="Arial" pitchFamily="34" charset="0"/>
                <a:ea typeface="Arial" pitchFamily="34" charset="-122"/>
                <a:cs typeface="Arial" pitchFamily="34" charset="-120"/>
              </a:rPr>
              <a:t>区块链</a:t>
            </a:r>
            <a:endParaRPr lang="en-US" sz="2130" dirty="0"/>
          </a:p>
        </p:txBody>
      </p:sp>
      <p:sp>
        <p:nvSpPr>
          <p:cNvPr id="52" name="Text 39"/>
          <p:cNvSpPr/>
          <p:nvPr/>
        </p:nvSpPr>
        <p:spPr>
          <a:xfrm>
            <a:off x="12227560" y="5596636"/>
            <a:ext cx="1189609" cy="451358"/>
          </a:xfrm>
          <a:prstGeom prst="rect">
            <a:avLst/>
          </a:prstGeom>
          <a:noFill/>
          <a:ln/>
        </p:spPr>
        <p:txBody>
          <a:bodyPr wrap="square" lIns="0" tIns="0" rIns="0" bIns="0" rtlCol="0" anchor="t"/>
          <a:lstStyle/>
          <a:p>
            <a:pPr algn="ctr">
              <a:lnSpc>
                <a:spcPct val="120000"/>
              </a:lnSpc>
            </a:pPr>
            <a:r>
              <a:rPr lang="en-US" sz="2130" dirty="0">
                <a:solidFill>
                  <a:srgbClr val="000000"/>
                </a:solidFill>
                <a:latin typeface="Arial" pitchFamily="34" charset="0"/>
                <a:ea typeface="Arial" pitchFamily="34" charset="-122"/>
                <a:cs typeface="Arial" pitchFamily="34" charset="-120"/>
              </a:rPr>
              <a:t>用户B</a:t>
            </a:r>
            <a:endParaRPr lang="en-US" sz="2130" dirty="0"/>
          </a:p>
        </p:txBody>
      </p:sp>
      <p:sp>
        <p:nvSpPr>
          <p:cNvPr id="53" name="Shape 40"/>
          <p:cNvSpPr/>
          <p:nvPr/>
        </p:nvSpPr>
        <p:spPr>
          <a:xfrm>
            <a:off x="9696069" y="6554851"/>
            <a:ext cx="1456563" cy="0"/>
          </a:xfrm>
          <a:prstGeom prst="straightConnector1">
            <a:avLst/>
          </a:prstGeom>
          <a:noFill/>
          <a:ln w="12700">
            <a:solidFill>
              <a:srgbClr val="000000"/>
            </a:solidFill>
            <a:prstDash val="solid"/>
            <a:headEnd type="none"/>
            <a:tailEnd type="arrow"/>
          </a:ln>
        </p:spPr>
      </p:sp>
      <p:sp>
        <p:nvSpPr>
          <p:cNvPr id="54" name="Text 41"/>
          <p:cNvSpPr/>
          <p:nvPr/>
        </p:nvSpPr>
        <p:spPr>
          <a:xfrm>
            <a:off x="9820148" y="6192647"/>
            <a:ext cx="1189609" cy="369316"/>
          </a:xfrm>
          <a:prstGeom prst="rect">
            <a:avLst/>
          </a:prstGeom>
          <a:noFill/>
          <a:ln/>
        </p:spPr>
        <p:txBody>
          <a:bodyPr wrap="square" lIns="0" tIns="0" rIns="0" bIns="0" rtlCol="0" anchor="t"/>
          <a:lstStyle/>
          <a:p>
            <a:pPr algn="l">
              <a:lnSpc>
                <a:spcPct val="120000"/>
              </a:lnSpc>
            </a:pPr>
            <a:r>
              <a:rPr lang="en-US" sz="1600" dirty="0">
                <a:solidFill>
                  <a:srgbClr val="000000"/>
                </a:solidFill>
                <a:latin typeface="Arial" pitchFamily="34" charset="0"/>
                <a:ea typeface="Arial" pitchFamily="34" charset="-122"/>
                <a:cs typeface="Arial" pitchFamily="34" charset="-120"/>
              </a:rPr>
              <a:t>在时间T前</a:t>
            </a:r>
            <a:endParaRPr lang="en-US" sz="1600" dirty="0"/>
          </a:p>
        </p:txBody>
      </p:sp>
      <p:sp>
        <p:nvSpPr>
          <p:cNvPr id="55" name="Shape 42"/>
          <p:cNvSpPr/>
          <p:nvPr/>
        </p:nvSpPr>
        <p:spPr>
          <a:xfrm>
            <a:off x="11290300" y="7494016"/>
            <a:ext cx="1539621" cy="0"/>
          </a:xfrm>
          <a:prstGeom prst="straightConnector1">
            <a:avLst/>
          </a:prstGeom>
          <a:noFill/>
          <a:ln w="12700">
            <a:solidFill>
              <a:srgbClr val="000000"/>
            </a:solidFill>
            <a:prstDash val="solid"/>
            <a:headEnd type="arrow"/>
            <a:tailEnd type="none"/>
          </a:ln>
        </p:spPr>
      </p:sp>
      <p:sp>
        <p:nvSpPr>
          <p:cNvPr id="56" name="Text 43"/>
          <p:cNvSpPr/>
          <p:nvPr/>
        </p:nvSpPr>
        <p:spPr>
          <a:xfrm>
            <a:off x="11448542" y="7112254"/>
            <a:ext cx="1189609" cy="369316"/>
          </a:xfrm>
          <a:prstGeom prst="rect">
            <a:avLst/>
          </a:prstGeom>
          <a:noFill/>
          <a:ln/>
        </p:spPr>
        <p:txBody>
          <a:bodyPr wrap="square" lIns="0" tIns="0" rIns="0" bIns="0" rtlCol="0" anchor="t"/>
          <a:lstStyle/>
          <a:p>
            <a:pPr algn="l">
              <a:lnSpc>
                <a:spcPct val="120000"/>
              </a:lnSpc>
            </a:pPr>
            <a:r>
              <a:rPr lang="en-US" sz="1600" dirty="0">
                <a:solidFill>
                  <a:srgbClr val="000000"/>
                </a:solidFill>
                <a:latin typeface="Arial" pitchFamily="34" charset="0"/>
                <a:ea typeface="Arial" pitchFamily="34" charset="-122"/>
                <a:cs typeface="Arial" pitchFamily="34" charset="-120"/>
              </a:rPr>
              <a:t>在时间T后</a:t>
            </a:r>
            <a:endParaRPr lang="en-US" sz="1600" dirty="0"/>
          </a:p>
        </p:txBody>
      </p:sp>
      <p:sp>
        <p:nvSpPr>
          <p:cNvPr id="57" name="Shape 44"/>
          <p:cNvSpPr/>
          <p:nvPr/>
        </p:nvSpPr>
        <p:spPr>
          <a:xfrm>
            <a:off x="9710674" y="7229221"/>
            <a:ext cx="1456563" cy="0"/>
          </a:xfrm>
          <a:prstGeom prst="straightConnector1">
            <a:avLst/>
          </a:prstGeom>
          <a:noFill/>
          <a:ln w="12700">
            <a:solidFill>
              <a:srgbClr val="000000"/>
            </a:solidFill>
            <a:prstDash val="solid"/>
            <a:headEnd type="none"/>
            <a:tailEnd type="arrow"/>
          </a:ln>
        </p:spPr>
      </p:sp>
      <p:sp>
        <p:nvSpPr>
          <p:cNvPr id="58" name="Text 45"/>
          <p:cNvSpPr/>
          <p:nvPr/>
        </p:nvSpPr>
        <p:spPr>
          <a:xfrm>
            <a:off x="9834753" y="6867017"/>
            <a:ext cx="1189609" cy="369316"/>
          </a:xfrm>
          <a:prstGeom prst="rect">
            <a:avLst/>
          </a:prstGeom>
          <a:noFill/>
          <a:ln/>
        </p:spPr>
        <p:txBody>
          <a:bodyPr wrap="square" lIns="0" tIns="0" rIns="0" bIns="0" rtlCol="0" anchor="t"/>
          <a:lstStyle/>
          <a:p>
            <a:pPr algn="l">
              <a:lnSpc>
                <a:spcPct val="120000"/>
              </a:lnSpc>
            </a:pPr>
            <a:r>
              <a:rPr lang="en-US" sz="1600" dirty="0">
                <a:solidFill>
                  <a:srgbClr val="000000"/>
                </a:solidFill>
                <a:latin typeface="Arial" pitchFamily="34" charset="0"/>
                <a:ea typeface="Arial" pitchFamily="34" charset="-122"/>
                <a:cs typeface="Arial" pitchFamily="34" charset="-120"/>
              </a:rPr>
              <a:t>在时间T前</a:t>
            </a:r>
            <a:endParaRPr lang="en-US" sz="1600" dirty="0"/>
          </a:p>
        </p:txBody>
      </p:sp>
      <p:sp>
        <p:nvSpPr>
          <p:cNvPr id="59" name="Text 46"/>
          <p:cNvSpPr/>
          <p:nvPr/>
        </p:nvSpPr>
        <p:spPr>
          <a:xfrm>
            <a:off x="9737852" y="6431788"/>
            <a:ext cx="1383284" cy="492506"/>
          </a:xfrm>
          <a:prstGeom prst="rect">
            <a:avLst/>
          </a:prstGeom>
          <a:noFill/>
          <a:ln/>
        </p:spPr>
        <p:txBody>
          <a:bodyPr wrap="square" lIns="0" tIns="0" rIns="0" bIns="0" rtlCol="0" anchor="t"/>
          <a:lstStyle/>
          <a:p>
            <a:pPr algn="ctr">
              <a:lnSpc>
                <a:spcPct val="120000"/>
              </a:lnSpc>
            </a:pPr>
            <a:r>
              <a:rPr lang="en-US" sz="2400" dirty="0">
                <a:solidFill>
                  <a:srgbClr val="000000"/>
                </a:solidFill>
                <a:latin typeface="Arial" pitchFamily="34" charset="0"/>
                <a:ea typeface="Arial" pitchFamily="34" charset="-122"/>
                <a:cs typeface="Arial" pitchFamily="34" charset="-120"/>
              </a:rPr>
              <a:t>…</a:t>
            </a:r>
            <a:endParaRPr lang="en-US" sz="2400" dirty="0"/>
          </a:p>
        </p:txBody>
      </p:sp>
      <p:pic>
        <p:nvPicPr>
          <p:cNvPr id="60" name="Image 10" descr="https://kimi-img.moonshot.cn/pub/slides/okc/flfuysioo4gzm/mnt/agents/output/yuan_pptd/images/image_30.svg">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10971403" y="6375019"/>
            <a:ext cx="354076" cy="354076"/>
          </a:xfrm>
          <a:prstGeom prst="rect">
            <a:avLst/>
          </a:prstGeom>
        </p:spPr>
      </p:pic>
      <p:pic>
        <p:nvPicPr>
          <p:cNvPr id="61" name="Image 11" descr="https://kimi-img.moonshot.cn/pub/slides/okc/flfuysioo4gzm/mnt/agents/output/yuan_pptd/images/image_30.svg">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10971403" y="7050151"/>
            <a:ext cx="354076" cy="354076"/>
          </a:xfrm>
          <a:prstGeom prst="rect">
            <a:avLst/>
          </a:prstGeom>
        </p:spPr>
      </p:pic>
      <p:sp>
        <p:nvSpPr>
          <p:cNvPr id="62" name="Text 47"/>
          <p:cNvSpPr/>
          <p:nvPr/>
        </p:nvSpPr>
        <p:spPr>
          <a:xfrm>
            <a:off x="15649067" y="8666353"/>
            <a:ext cx="606933" cy="492506"/>
          </a:xfrm>
          <a:prstGeom prst="rect">
            <a:avLst/>
          </a:prstGeom>
          <a:noFill/>
          <a:ln/>
        </p:spPr>
        <p:txBody>
          <a:bodyPr wrap="square" lIns="0" tIns="0" rIns="0" bIns="0" rtlCol="0" anchor="t"/>
          <a:lstStyle/>
          <a:p>
            <a:pPr algn="ctr">
              <a:lnSpc>
                <a:spcPct val="120000"/>
              </a:lnSpc>
            </a:pPr>
            <a:r>
              <a:rPr lang="en-US" sz="2400" dirty="0">
                <a:solidFill>
                  <a:srgbClr val="000000"/>
                </a:solidFill>
                <a:latin typeface="Arial" pitchFamily="34" charset="0"/>
                <a:ea typeface="Arial" pitchFamily="34" charset="-122"/>
                <a:cs typeface="Arial" pitchFamily="34" charset="-120"/>
              </a:rPr>
              <a:t>15</a:t>
            </a:r>
            <a:endParaRPr lang="en-US" sz="2400" dirty="0"/>
          </a:p>
        </p:txBody>
      </p:sp>
    </p:spTree>
  </p:cSld>
  <p:clrMapOvr>
    <a:masterClrMapping/>
  </p:clrMapOvr>
  <p:transition>
    <p:fade/>
    <p:spd val="med"/>
  </p:transition>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3" name="Shape 0"/>
          <p:cNvSpPr/>
          <p:nvPr/>
        </p:nvSpPr>
        <p:spPr>
          <a:xfrm rot="16200000">
            <a:off x="7468489" y="-29591"/>
            <a:ext cx="3791331" cy="13785469"/>
          </a:xfrm>
          <a:prstGeom prst="trapezoid">
            <a:avLst>
              <a:gd name="adj" fmla="val 25000"/>
            </a:avLst>
          </a:prstGeom>
          <a:gradFill rotWithShape="1" flip="none">
            <a:gsLst>
              <a:gs pos="0">
                <a:srgbClr val="F2F2F2"/>
              </a:gs>
              <a:gs pos="100000">
                <a:srgbClr val="FFFFFF">
                  <a:alpha val="48000"/>
                </a:srgbClr>
              </a:gs>
            </a:gsLst>
            <a:lin ang="16200000" scaled="1"/>
          </a:gradFill>
          <a:ln/>
        </p:spPr>
      </p:sp>
      <p:sp>
        <p:nvSpPr>
          <p:cNvPr id="4" name="Shape 1"/>
          <p:cNvSpPr/>
          <p:nvPr/>
        </p:nvSpPr>
        <p:spPr>
          <a:xfrm rot="16200000">
            <a:off x="7115429" y="-4200271"/>
            <a:ext cx="2694940" cy="15588869"/>
          </a:xfrm>
          <a:prstGeom prst="trapezoid">
            <a:avLst>
              <a:gd name="adj" fmla="val 25000"/>
            </a:avLst>
          </a:prstGeom>
          <a:gradFill rotWithShape="1" flip="none">
            <a:gsLst>
              <a:gs pos="0">
                <a:srgbClr val="F2F2F2"/>
              </a:gs>
              <a:gs pos="100000">
                <a:srgbClr val="FFFFFF">
                  <a:alpha val="48000"/>
                </a:srgbClr>
              </a:gs>
            </a:gsLst>
            <a:lin ang="16200000" scaled="1"/>
          </a:gradFill>
          <a:ln/>
        </p:spPr>
      </p:sp>
      <p:sp>
        <p:nvSpPr>
          <p:cNvPr id="5" name="Shape 2"/>
          <p:cNvSpPr/>
          <p:nvPr/>
        </p:nvSpPr>
        <p:spPr>
          <a:xfrm flipV="1">
            <a:off x="11171809" y="4941570"/>
            <a:ext cx="2752471" cy="25781"/>
          </a:xfrm>
          <a:prstGeom prst="line">
            <a:avLst/>
          </a:prstGeom>
          <a:noFill/>
          <a:ln w="12700">
            <a:solidFill>
              <a:srgbClr val="7F7F7F"/>
            </a:solidFill>
            <a:prstDash val="dash"/>
            <a:headEnd type="none"/>
            <a:tailEnd type="none"/>
          </a:ln>
        </p:spPr>
      </p:sp>
      <p:sp>
        <p:nvSpPr>
          <p:cNvPr id="6" name="Shape 3"/>
          <p:cNvSpPr/>
          <p:nvPr/>
        </p:nvSpPr>
        <p:spPr>
          <a:xfrm flipV="1">
            <a:off x="14037691" y="4936109"/>
            <a:ext cx="0" cy="2599309"/>
          </a:xfrm>
          <a:prstGeom prst="line">
            <a:avLst/>
          </a:prstGeom>
          <a:noFill/>
          <a:ln w="12700">
            <a:solidFill>
              <a:srgbClr val="7F7F7F"/>
            </a:solidFill>
            <a:prstDash val="solid"/>
            <a:headEnd type="none"/>
            <a:tailEnd type="none"/>
          </a:ln>
        </p:spPr>
      </p:sp>
      <p:sp>
        <p:nvSpPr>
          <p:cNvPr id="7" name="Shape 4"/>
          <p:cNvSpPr/>
          <p:nvPr/>
        </p:nvSpPr>
        <p:spPr>
          <a:xfrm flipV="1">
            <a:off x="11058271" y="2780919"/>
            <a:ext cx="0" cy="2186940"/>
          </a:xfrm>
          <a:prstGeom prst="line">
            <a:avLst/>
          </a:prstGeom>
          <a:noFill/>
          <a:ln w="12700">
            <a:solidFill>
              <a:srgbClr val="7F7F7F"/>
            </a:solidFill>
            <a:prstDash val="solid"/>
            <a:headEnd type="none"/>
            <a:tailEnd type="none"/>
          </a:ln>
        </p:spPr>
      </p:sp>
      <p:sp>
        <p:nvSpPr>
          <p:cNvPr id="8" name="Shape 5"/>
          <p:cNvSpPr/>
          <p:nvPr/>
        </p:nvSpPr>
        <p:spPr>
          <a:xfrm flipH="1">
            <a:off x="9294241" y="5111369"/>
            <a:ext cx="0" cy="2079625"/>
          </a:xfrm>
          <a:prstGeom prst="bentConnector3">
            <a:avLst/>
          </a:prstGeom>
          <a:noFill/>
          <a:ln w="12700">
            <a:solidFill>
              <a:srgbClr val="7F7F7F"/>
            </a:solidFill>
            <a:prstDash val="solid"/>
            <a:headEnd type="none"/>
            <a:tailEnd type="none"/>
          </a:ln>
        </p:spPr>
      </p:sp>
      <p:sp>
        <p:nvSpPr>
          <p:cNvPr id="9" name="Shape 6"/>
          <p:cNvSpPr/>
          <p:nvPr/>
        </p:nvSpPr>
        <p:spPr>
          <a:xfrm>
            <a:off x="0" y="4888611"/>
            <a:ext cx="126111" cy="126111"/>
          </a:xfrm>
          <a:prstGeom prst="ellipse">
            <a:avLst/>
          </a:prstGeom>
          <a:solidFill>
            <a:srgbClr val="A5A5A5"/>
          </a:solidFill>
          <a:ln/>
        </p:spPr>
      </p:sp>
      <p:sp>
        <p:nvSpPr>
          <p:cNvPr id="10" name="Shape 7"/>
          <p:cNvSpPr/>
          <p:nvPr/>
        </p:nvSpPr>
        <p:spPr>
          <a:xfrm>
            <a:off x="295529" y="4888611"/>
            <a:ext cx="126111" cy="126111"/>
          </a:xfrm>
          <a:prstGeom prst="ellipse">
            <a:avLst/>
          </a:prstGeom>
          <a:solidFill>
            <a:srgbClr val="A5A5A5"/>
          </a:solidFill>
          <a:ln/>
        </p:spPr>
      </p:sp>
      <p:sp>
        <p:nvSpPr>
          <p:cNvPr id="11" name="Shape 8"/>
          <p:cNvSpPr/>
          <p:nvPr/>
        </p:nvSpPr>
        <p:spPr>
          <a:xfrm>
            <a:off x="886460" y="4888611"/>
            <a:ext cx="126111" cy="126111"/>
          </a:xfrm>
          <a:prstGeom prst="ellipse">
            <a:avLst/>
          </a:prstGeom>
          <a:solidFill>
            <a:srgbClr val="BFBFBF"/>
          </a:solidFill>
          <a:ln/>
        </p:spPr>
      </p:sp>
      <p:sp>
        <p:nvSpPr>
          <p:cNvPr id="12" name="Shape 9"/>
          <p:cNvSpPr/>
          <p:nvPr/>
        </p:nvSpPr>
        <p:spPr>
          <a:xfrm>
            <a:off x="1253109" y="4888611"/>
            <a:ext cx="126111" cy="126111"/>
          </a:xfrm>
          <a:prstGeom prst="ellipse">
            <a:avLst/>
          </a:prstGeom>
          <a:solidFill>
            <a:srgbClr val="BFBFBF"/>
          </a:solidFill>
          <a:ln/>
        </p:spPr>
      </p:sp>
      <p:sp>
        <p:nvSpPr>
          <p:cNvPr id="13" name="Shape 10"/>
          <p:cNvSpPr/>
          <p:nvPr/>
        </p:nvSpPr>
        <p:spPr>
          <a:xfrm>
            <a:off x="1548511" y="4889500"/>
            <a:ext cx="126111" cy="126111"/>
          </a:xfrm>
          <a:prstGeom prst="ellipse">
            <a:avLst/>
          </a:prstGeom>
          <a:solidFill>
            <a:srgbClr val="BFBFBF"/>
          </a:solidFill>
          <a:ln/>
        </p:spPr>
      </p:sp>
      <p:sp>
        <p:nvSpPr>
          <p:cNvPr id="14" name="Shape 11"/>
          <p:cNvSpPr/>
          <p:nvPr/>
        </p:nvSpPr>
        <p:spPr>
          <a:xfrm>
            <a:off x="1844040" y="4890389"/>
            <a:ext cx="126111" cy="126111"/>
          </a:xfrm>
          <a:prstGeom prst="ellipse">
            <a:avLst/>
          </a:prstGeom>
          <a:solidFill>
            <a:srgbClr val="BFBFBF"/>
          </a:solidFill>
          <a:ln/>
        </p:spPr>
      </p:sp>
      <p:sp>
        <p:nvSpPr>
          <p:cNvPr id="15" name="Shape 12"/>
          <p:cNvSpPr/>
          <p:nvPr/>
        </p:nvSpPr>
        <p:spPr>
          <a:xfrm>
            <a:off x="2139569" y="4891151"/>
            <a:ext cx="126111" cy="126111"/>
          </a:xfrm>
          <a:prstGeom prst="ellipse">
            <a:avLst/>
          </a:prstGeom>
          <a:solidFill>
            <a:srgbClr val="BFBFBF"/>
          </a:solidFill>
          <a:ln/>
        </p:spPr>
      </p:sp>
      <p:sp>
        <p:nvSpPr>
          <p:cNvPr id="16" name="Shape 13"/>
          <p:cNvSpPr/>
          <p:nvPr/>
        </p:nvSpPr>
        <p:spPr>
          <a:xfrm>
            <a:off x="2434971" y="4892040"/>
            <a:ext cx="126111" cy="126111"/>
          </a:xfrm>
          <a:prstGeom prst="ellipse">
            <a:avLst/>
          </a:prstGeom>
          <a:solidFill>
            <a:srgbClr val="BFBFBF"/>
          </a:solidFill>
          <a:ln/>
        </p:spPr>
      </p:sp>
      <p:sp>
        <p:nvSpPr>
          <p:cNvPr id="17" name="Shape 14"/>
          <p:cNvSpPr/>
          <p:nvPr/>
        </p:nvSpPr>
        <p:spPr>
          <a:xfrm>
            <a:off x="2730500" y="4892040"/>
            <a:ext cx="126111" cy="126111"/>
          </a:xfrm>
          <a:prstGeom prst="ellipse">
            <a:avLst/>
          </a:prstGeom>
          <a:solidFill>
            <a:srgbClr val="BFBFBF"/>
          </a:solidFill>
          <a:ln/>
        </p:spPr>
      </p:sp>
      <p:sp>
        <p:nvSpPr>
          <p:cNvPr id="18" name="Shape 15"/>
          <p:cNvSpPr/>
          <p:nvPr/>
        </p:nvSpPr>
        <p:spPr>
          <a:xfrm>
            <a:off x="3026029" y="4892040"/>
            <a:ext cx="126111" cy="126111"/>
          </a:xfrm>
          <a:prstGeom prst="ellipse">
            <a:avLst/>
          </a:prstGeom>
          <a:solidFill>
            <a:srgbClr val="BFBFBF"/>
          </a:solidFill>
          <a:ln/>
        </p:spPr>
      </p:sp>
      <p:sp>
        <p:nvSpPr>
          <p:cNvPr id="19" name="Shape 16"/>
          <p:cNvSpPr/>
          <p:nvPr/>
        </p:nvSpPr>
        <p:spPr>
          <a:xfrm>
            <a:off x="3321431" y="4892040"/>
            <a:ext cx="126111" cy="126111"/>
          </a:xfrm>
          <a:prstGeom prst="ellipse">
            <a:avLst/>
          </a:prstGeom>
          <a:solidFill>
            <a:srgbClr val="BFBFBF"/>
          </a:solidFill>
          <a:ln/>
        </p:spPr>
      </p:sp>
      <p:sp>
        <p:nvSpPr>
          <p:cNvPr id="20" name="Shape 17"/>
          <p:cNvSpPr/>
          <p:nvPr/>
        </p:nvSpPr>
        <p:spPr>
          <a:xfrm>
            <a:off x="3616960" y="4892040"/>
            <a:ext cx="126111" cy="126111"/>
          </a:xfrm>
          <a:prstGeom prst="ellipse">
            <a:avLst/>
          </a:prstGeom>
          <a:solidFill>
            <a:srgbClr val="BFBFBF"/>
          </a:solidFill>
          <a:ln/>
        </p:spPr>
      </p:sp>
      <p:sp>
        <p:nvSpPr>
          <p:cNvPr id="21" name="Shape 18"/>
          <p:cNvSpPr/>
          <p:nvPr/>
        </p:nvSpPr>
        <p:spPr>
          <a:xfrm>
            <a:off x="3912489" y="4892040"/>
            <a:ext cx="126111" cy="126111"/>
          </a:xfrm>
          <a:prstGeom prst="ellipse">
            <a:avLst/>
          </a:prstGeom>
          <a:solidFill>
            <a:srgbClr val="BFBFBF"/>
          </a:solidFill>
          <a:ln/>
        </p:spPr>
      </p:sp>
      <p:sp>
        <p:nvSpPr>
          <p:cNvPr id="22" name="Shape 19"/>
          <p:cNvSpPr/>
          <p:nvPr/>
        </p:nvSpPr>
        <p:spPr>
          <a:xfrm>
            <a:off x="4207891" y="4892040"/>
            <a:ext cx="126111" cy="126111"/>
          </a:xfrm>
          <a:prstGeom prst="ellipse">
            <a:avLst/>
          </a:prstGeom>
          <a:solidFill>
            <a:srgbClr val="BFBFBF"/>
          </a:solidFill>
          <a:ln/>
        </p:spPr>
      </p:sp>
      <p:sp>
        <p:nvSpPr>
          <p:cNvPr id="23" name="Shape 20"/>
          <p:cNvSpPr/>
          <p:nvPr/>
        </p:nvSpPr>
        <p:spPr>
          <a:xfrm>
            <a:off x="5389880" y="4892040"/>
            <a:ext cx="126111" cy="126111"/>
          </a:xfrm>
          <a:prstGeom prst="ellipse">
            <a:avLst/>
          </a:prstGeom>
          <a:solidFill>
            <a:srgbClr val="BFBFBF"/>
          </a:solidFill>
          <a:ln/>
        </p:spPr>
      </p:sp>
      <p:sp>
        <p:nvSpPr>
          <p:cNvPr id="24" name="Shape 21"/>
          <p:cNvSpPr/>
          <p:nvPr/>
        </p:nvSpPr>
        <p:spPr>
          <a:xfrm>
            <a:off x="5685409" y="4892040"/>
            <a:ext cx="126111" cy="126111"/>
          </a:xfrm>
          <a:prstGeom prst="ellipse">
            <a:avLst/>
          </a:prstGeom>
          <a:solidFill>
            <a:srgbClr val="BFBFBF"/>
          </a:solidFill>
          <a:ln/>
        </p:spPr>
      </p:sp>
      <p:sp>
        <p:nvSpPr>
          <p:cNvPr id="25" name="Shape 22"/>
          <p:cNvSpPr/>
          <p:nvPr/>
        </p:nvSpPr>
        <p:spPr>
          <a:xfrm>
            <a:off x="5980811" y="4892040"/>
            <a:ext cx="126111" cy="126111"/>
          </a:xfrm>
          <a:prstGeom prst="ellipse">
            <a:avLst/>
          </a:prstGeom>
          <a:solidFill>
            <a:srgbClr val="BFBFBF"/>
          </a:solidFill>
          <a:ln/>
        </p:spPr>
      </p:sp>
      <p:sp>
        <p:nvSpPr>
          <p:cNvPr id="26" name="Shape 23"/>
          <p:cNvSpPr/>
          <p:nvPr/>
        </p:nvSpPr>
        <p:spPr>
          <a:xfrm>
            <a:off x="6276340" y="4892040"/>
            <a:ext cx="126111" cy="126111"/>
          </a:xfrm>
          <a:prstGeom prst="ellipse">
            <a:avLst/>
          </a:prstGeom>
          <a:solidFill>
            <a:srgbClr val="BFBFBF"/>
          </a:solidFill>
          <a:ln/>
        </p:spPr>
      </p:sp>
      <p:sp>
        <p:nvSpPr>
          <p:cNvPr id="27" name="Shape 24"/>
          <p:cNvSpPr/>
          <p:nvPr/>
        </p:nvSpPr>
        <p:spPr>
          <a:xfrm>
            <a:off x="6571869" y="4892040"/>
            <a:ext cx="126111" cy="126111"/>
          </a:xfrm>
          <a:prstGeom prst="ellipse">
            <a:avLst/>
          </a:prstGeom>
          <a:solidFill>
            <a:srgbClr val="BFBFBF"/>
          </a:solidFill>
          <a:ln/>
        </p:spPr>
      </p:sp>
      <p:sp>
        <p:nvSpPr>
          <p:cNvPr id="28" name="Shape 25"/>
          <p:cNvSpPr/>
          <p:nvPr/>
        </p:nvSpPr>
        <p:spPr>
          <a:xfrm>
            <a:off x="7162800" y="4892040"/>
            <a:ext cx="126111" cy="126111"/>
          </a:xfrm>
          <a:prstGeom prst="ellipse">
            <a:avLst/>
          </a:prstGeom>
          <a:solidFill>
            <a:srgbClr val="BFBFBF"/>
          </a:solidFill>
          <a:ln/>
        </p:spPr>
      </p:sp>
      <p:sp>
        <p:nvSpPr>
          <p:cNvPr id="29" name="Shape 26"/>
          <p:cNvSpPr/>
          <p:nvPr/>
        </p:nvSpPr>
        <p:spPr>
          <a:xfrm>
            <a:off x="7458329" y="4892040"/>
            <a:ext cx="126111" cy="126111"/>
          </a:xfrm>
          <a:prstGeom prst="ellipse">
            <a:avLst/>
          </a:prstGeom>
          <a:solidFill>
            <a:srgbClr val="BFBFBF"/>
          </a:solidFill>
          <a:ln/>
        </p:spPr>
      </p:sp>
      <p:sp>
        <p:nvSpPr>
          <p:cNvPr id="30" name="Shape 27"/>
          <p:cNvSpPr/>
          <p:nvPr/>
        </p:nvSpPr>
        <p:spPr>
          <a:xfrm>
            <a:off x="7753731" y="4892040"/>
            <a:ext cx="126111" cy="126111"/>
          </a:xfrm>
          <a:prstGeom prst="ellipse">
            <a:avLst/>
          </a:prstGeom>
          <a:solidFill>
            <a:srgbClr val="BFBFBF"/>
          </a:solidFill>
          <a:ln/>
        </p:spPr>
      </p:sp>
      <p:sp>
        <p:nvSpPr>
          <p:cNvPr id="31" name="Shape 28"/>
          <p:cNvSpPr/>
          <p:nvPr/>
        </p:nvSpPr>
        <p:spPr>
          <a:xfrm>
            <a:off x="8344789" y="4892040"/>
            <a:ext cx="126111" cy="126111"/>
          </a:xfrm>
          <a:prstGeom prst="ellipse">
            <a:avLst/>
          </a:prstGeom>
          <a:solidFill>
            <a:srgbClr val="BFBFBF"/>
          </a:solidFill>
          <a:ln/>
        </p:spPr>
      </p:sp>
      <p:sp>
        <p:nvSpPr>
          <p:cNvPr id="32" name="Shape 29"/>
          <p:cNvSpPr/>
          <p:nvPr/>
        </p:nvSpPr>
        <p:spPr>
          <a:xfrm>
            <a:off x="8640191" y="4892040"/>
            <a:ext cx="126111" cy="126111"/>
          </a:xfrm>
          <a:prstGeom prst="ellipse">
            <a:avLst/>
          </a:prstGeom>
          <a:solidFill>
            <a:srgbClr val="BFBFBF"/>
          </a:solidFill>
          <a:ln/>
        </p:spPr>
      </p:sp>
      <p:sp>
        <p:nvSpPr>
          <p:cNvPr id="33" name="Shape 30"/>
          <p:cNvSpPr/>
          <p:nvPr/>
        </p:nvSpPr>
        <p:spPr>
          <a:xfrm>
            <a:off x="8935720" y="4892040"/>
            <a:ext cx="126111" cy="126111"/>
          </a:xfrm>
          <a:prstGeom prst="ellipse">
            <a:avLst/>
          </a:prstGeom>
          <a:solidFill>
            <a:srgbClr val="BFBFBF"/>
          </a:solidFill>
          <a:ln/>
        </p:spPr>
      </p:sp>
      <p:sp>
        <p:nvSpPr>
          <p:cNvPr id="34" name="Shape 31"/>
          <p:cNvSpPr/>
          <p:nvPr/>
        </p:nvSpPr>
        <p:spPr>
          <a:xfrm>
            <a:off x="9526651" y="4892040"/>
            <a:ext cx="126111" cy="126111"/>
          </a:xfrm>
          <a:prstGeom prst="ellipse">
            <a:avLst/>
          </a:prstGeom>
          <a:solidFill>
            <a:srgbClr val="BFBFBF"/>
          </a:solidFill>
          <a:ln/>
        </p:spPr>
      </p:sp>
      <p:sp>
        <p:nvSpPr>
          <p:cNvPr id="35" name="Shape 32"/>
          <p:cNvSpPr/>
          <p:nvPr/>
        </p:nvSpPr>
        <p:spPr>
          <a:xfrm>
            <a:off x="9822180" y="4892040"/>
            <a:ext cx="126111" cy="126111"/>
          </a:xfrm>
          <a:prstGeom prst="ellipse">
            <a:avLst/>
          </a:prstGeom>
          <a:solidFill>
            <a:srgbClr val="BFBFBF"/>
          </a:solidFill>
          <a:ln/>
        </p:spPr>
      </p:sp>
      <p:sp>
        <p:nvSpPr>
          <p:cNvPr id="36" name="Shape 33"/>
          <p:cNvSpPr/>
          <p:nvPr/>
        </p:nvSpPr>
        <p:spPr>
          <a:xfrm>
            <a:off x="10117709" y="4892040"/>
            <a:ext cx="126111" cy="126111"/>
          </a:xfrm>
          <a:prstGeom prst="ellipse">
            <a:avLst/>
          </a:prstGeom>
          <a:solidFill>
            <a:srgbClr val="BFBFBF"/>
          </a:solidFill>
          <a:ln/>
        </p:spPr>
      </p:sp>
      <p:sp>
        <p:nvSpPr>
          <p:cNvPr id="37" name="Shape 34"/>
          <p:cNvSpPr/>
          <p:nvPr/>
        </p:nvSpPr>
        <p:spPr>
          <a:xfrm>
            <a:off x="10413111" y="4892040"/>
            <a:ext cx="126111" cy="126111"/>
          </a:xfrm>
          <a:prstGeom prst="ellipse">
            <a:avLst/>
          </a:prstGeom>
          <a:solidFill>
            <a:srgbClr val="BFBFBF"/>
          </a:solidFill>
          <a:ln/>
        </p:spPr>
      </p:sp>
      <p:sp>
        <p:nvSpPr>
          <p:cNvPr id="38" name="Shape 35"/>
          <p:cNvSpPr/>
          <p:nvPr/>
        </p:nvSpPr>
        <p:spPr>
          <a:xfrm>
            <a:off x="10708640" y="4892040"/>
            <a:ext cx="126111" cy="126111"/>
          </a:xfrm>
          <a:prstGeom prst="ellipse">
            <a:avLst/>
          </a:prstGeom>
          <a:solidFill>
            <a:srgbClr val="BFBFBF"/>
          </a:solidFill>
          <a:ln/>
        </p:spPr>
      </p:sp>
      <p:sp>
        <p:nvSpPr>
          <p:cNvPr id="39" name="Shape 36"/>
          <p:cNvSpPr/>
          <p:nvPr/>
        </p:nvSpPr>
        <p:spPr>
          <a:xfrm>
            <a:off x="11299571" y="4892040"/>
            <a:ext cx="126111" cy="126111"/>
          </a:xfrm>
          <a:prstGeom prst="ellipse">
            <a:avLst/>
          </a:prstGeom>
          <a:solidFill>
            <a:srgbClr val="BFBFBF"/>
          </a:solidFill>
          <a:ln/>
        </p:spPr>
      </p:sp>
      <p:sp>
        <p:nvSpPr>
          <p:cNvPr id="40" name="Shape 37"/>
          <p:cNvSpPr/>
          <p:nvPr/>
        </p:nvSpPr>
        <p:spPr>
          <a:xfrm>
            <a:off x="11595100" y="4892040"/>
            <a:ext cx="126111" cy="126111"/>
          </a:xfrm>
          <a:prstGeom prst="ellipse">
            <a:avLst/>
          </a:prstGeom>
          <a:solidFill>
            <a:srgbClr val="BFBFBF"/>
          </a:solidFill>
          <a:ln/>
        </p:spPr>
      </p:sp>
      <p:sp>
        <p:nvSpPr>
          <p:cNvPr id="41" name="Shape 38"/>
          <p:cNvSpPr/>
          <p:nvPr/>
        </p:nvSpPr>
        <p:spPr>
          <a:xfrm>
            <a:off x="11890629" y="4892040"/>
            <a:ext cx="126111" cy="126111"/>
          </a:xfrm>
          <a:prstGeom prst="ellipse">
            <a:avLst/>
          </a:prstGeom>
          <a:solidFill>
            <a:srgbClr val="BFBFBF"/>
          </a:solidFill>
          <a:ln/>
        </p:spPr>
      </p:sp>
      <p:sp>
        <p:nvSpPr>
          <p:cNvPr id="42" name="Shape 39"/>
          <p:cNvSpPr/>
          <p:nvPr/>
        </p:nvSpPr>
        <p:spPr>
          <a:xfrm>
            <a:off x="12186031" y="4892040"/>
            <a:ext cx="126111" cy="126111"/>
          </a:xfrm>
          <a:prstGeom prst="ellipse">
            <a:avLst/>
          </a:prstGeom>
          <a:solidFill>
            <a:srgbClr val="BFBFBF"/>
          </a:solidFill>
          <a:ln/>
        </p:spPr>
      </p:sp>
      <p:sp>
        <p:nvSpPr>
          <p:cNvPr id="43" name="Shape 40"/>
          <p:cNvSpPr/>
          <p:nvPr/>
        </p:nvSpPr>
        <p:spPr>
          <a:xfrm>
            <a:off x="12481560" y="4892040"/>
            <a:ext cx="126111" cy="126111"/>
          </a:xfrm>
          <a:prstGeom prst="ellipse">
            <a:avLst/>
          </a:prstGeom>
          <a:solidFill>
            <a:srgbClr val="BFBFBF"/>
          </a:solidFill>
          <a:ln/>
        </p:spPr>
      </p:sp>
      <p:sp>
        <p:nvSpPr>
          <p:cNvPr id="44" name="Shape 41"/>
          <p:cNvSpPr/>
          <p:nvPr/>
        </p:nvSpPr>
        <p:spPr>
          <a:xfrm>
            <a:off x="12777089" y="4892040"/>
            <a:ext cx="126111" cy="126111"/>
          </a:xfrm>
          <a:prstGeom prst="ellipse">
            <a:avLst/>
          </a:prstGeom>
          <a:solidFill>
            <a:srgbClr val="BFBFBF"/>
          </a:solidFill>
          <a:ln/>
        </p:spPr>
      </p:sp>
      <p:sp>
        <p:nvSpPr>
          <p:cNvPr id="45" name="Shape 42"/>
          <p:cNvSpPr/>
          <p:nvPr/>
        </p:nvSpPr>
        <p:spPr>
          <a:xfrm>
            <a:off x="11045571" y="4917821"/>
            <a:ext cx="126111" cy="126111"/>
          </a:xfrm>
          <a:prstGeom prst="ellipse">
            <a:avLst/>
          </a:prstGeom>
          <a:solidFill>
            <a:srgbClr val="BFBFBF"/>
          </a:solidFill>
          <a:ln/>
        </p:spPr>
      </p:sp>
      <p:sp>
        <p:nvSpPr>
          <p:cNvPr id="46" name="Shape 43"/>
          <p:cNvSpPr/>
          <p:nvPr/>
        </p:nvSpPr>
        <p:spPr>
          <a:xfrm>
            <a:off x="13368020" y="4892040"/>
            <a:ext cx="126111" cy="126111"/>
          </a:xfrm>
          <a:prstGeom prst="ellipse">
            <a:avLst/>
          </a:prstGeom>
          <a:solidFill>
            <a:srgbClr val="BFBFBF"/>
          </a:solidFill>
          <a:ln/>
        </p:spPr>
      </p:sp>
      <p:sp>
        <p:nvSpPr>
          <p:cNvPr id="47" name="Shape 44"/>
          <p:cNvSpPr/>
          <p:nvPr/>
        </p:nvSpPr>
        <p:spPr>
          <a:xfrm>
            <a:off x="13663549" y="4892040"/>
            <a:ext cx="126111" cy="126111"/>
          </a:xfrm>
          <a:prstGeom prst="ellipse">
            <a:avLst/>
          </a:prstGeom>
          <a:solidFill>
            <a:srgbClr val="BFBFBF"/>
          </a:solidFill>
          <a:ln/>
        </p:spPr>
      </p:sp>
      <p:sp>
        <p:nvSpPr>
          <p:cNvPr id="48" name="Shape 45"/>
          <p:cNvSpPr/>
          <p:nvPr/>
        </p:nvSpPr>
        <p:spPr>
          <a:xfrm>
            <a:off x="13958951" y="4892040"/>
            <a:ext cx="126111" cy="126111"/>
          </a:xfrm>
          <a:prstGeom prst="ellipse">
            <a:avLst/>
          </a:prstGeom>
          <a:solidFill>
            <a:srgbClr val="BFBFBF"/>
          </a:solidFill>
          <a:ln/>
        </p:spPr>
      </p:sp>
      <p:sp>
        <p:nvSpPr>
          <p:cNvPr id="49" name="Shape 46"/>
          <p:cNvSpPr/>
          <p:nvPr/>
        </p:nvSpPr>
        <p:spPr>
          <a:xfrm>
            <a:off x="14254480" y="4892040"/>
            <a:ext cx="126111" cy="126111"/>
          </a:xfrm>
          <a:prstGeom prst="ellipse">
            <a:avLst/>
          </a:prstGeom>
          <a:solidFill>
            <a:srgbClr val="BFBFBF"/>
          </a:solidFill>
          <a:ln/>
        </p:spPr>
      </p:sp>
      <p:sp>
        <p:nvSpPr>
          <p:cNvPr id="50" name="Shape 47"/>
          <p:cNvSpPr/>
          <p:nvPr/>
        </p:nvSpPr>
        <p:spPr>
          <a:xfrm>
            <a:off x="14550009" y="4892040"/>
            <a:ext cx="126111" cy="126111"/>
          </a:xfrm>
          <a:prstGeom prst="ellipse">
            <a:avLst/>
          </a:prstGeom>
          <a:solidFill>
            <a:srgbClr val="BFBFBF"/>
          </a:solidFill>
          <a:ln/>
        </p:spPr>
      </p:sp>
      <p:sp>
        <p:nvSpPr>
          <p:cNvPr id="51" name="Shape 48"/>
          <p:cNvSpPr/>
          <p:nvPr/>
        </p:nvSpPr>
        <p:spPr>
          <a:xfrm>
            <a:off x="14845411" y="4892040"/>
            <a:ext cx="126111" cy="126111"/>
          </a:xfrm>
          <a:prstGeom prst="ellipse">
            <a:avLst/>
          </a:prstGeom>
          <a:solidFill>
            <a:srgbClr val="BFBFBF"/>
          </a:solidFill>
          <a:ln/>
        </p:spPr>
      </p:sp>
      <p:sp>
        <p:nvSpPr>
          <p:cNvPr id="52" name="Shape 49"/>
          <p:cNvSpPr/>
          <p:nvPr/>
        </p:nvSpPr>
        <p:spPr>
          <a:xfrm>
            <a:off x="15140940" y="4892040"/>
            <a:ext cx="126111" cy="126111"/>
          </a:xfrm>
          <a:prstGeom prst="ellipse">
            <a:avLst/>
          </a:prstGeom>
          <a:solidFill>
            <a:srgbClr val="BFBFBF"/>
          </a:solidFill>
          <a:ln/>
        </p:spPr>
      </p:sp>
      <p:sp>
        <p:nvSpPr>
          <p:cNvPr id="53" name="Shape 50"/>
          <p:cNvSpPr/>
          <p:nvPr/>
        </p:nvSpPr>
        <p:spPr>
          <a:xfrm>
            <a:off x="15436469" y="4892040"/>
            <a:ext cx="126111" cy="126111"/>
          </a:xfrm>
          <a:prstGeom prst="ellipse">
            <a:avLst/>
          </a:prstGeom>
          <a:solidFill>
            <a:srgbClr val="BFBFBF"/>
          </a:solidFill>
          <a:ln/>
        </p:spPr>
      </p:sp>
      <p:sp>
        <p:nvSpPr>
          <p:cNvPr id="54" name="Shape 51"/>
          <p:cNvSpPr/>
          <p:nvPr/>
        </p:nvSpPr>
        <p:spPr>
          <a:xfrm>
            <a:off x="15731871" y="4892040"/>
            <a:ext cx="126111" cy="126111"/>
          </a:xfrm>
          <a:prstGeom prst="ellipse">
            <a:avLst/>
          </a:prstGeom>
          <a:solidFill>
            <a:srgbClr val="BFBFBF"/>
          </a:solidFill>
          <a:ln/>
        </p:spPr>
      </p:sp>
      <p:sp>
        <p:nvSpPr>
          <p:cNvPr id="55" name="Shape 52"/>
          <p:cNvSpPr/>
          <p:nvPr/>
        </p:nvSpPr>
        <p:spPr>
          <a:xfrm>
            <a:off x="16027400" y="4892040"/>
            <a:ext cx="126111" cy="126111"/>
          </a:xfrm>
          <a:prstGeom prst="ellipse">
            <a:avLst/>
          </a:prstGeom>
          <a:solidFill>
            <a:srgbClr val="BFBFBF"/>
          </a:solidFill>
          <a:ln/>
        </p:spPr>
      </p:sp>
      <p:sp>
        <p:nvSpPr>
          <p:cNvPr id="56" name="Shape 53"/>
          <p:cNvSpPr/>
          <p:nvPr/>
        </p:nvSpPr>
        <p:spPr>
          <a:xfrm flipV="1">
            <a:off x="674751" y="2460371"/>
            <a:ext cx="0" cy="2374011"/>
          </a:xfrm>
          <a:prstGeom prst="line">
            <a:avLst/>
          </a:prstGeom>
          <a:noFill/>
          <a:ln w="12700">
            <a:solidFill>
              <a:srgbClr val="7F7F7F"/>
            </a:solidFill>
            <a:prstDash val="solid"/>
            <a:headEnd type="none"/>
            <a:tailEnd type="none"/>
          </a:ln>
        </p:spPr>
      </p:sp>
      <p:sp>
        <p:nvSpPr>
          <p:cNvPr id="57" name="Shape 54"/>
          <p:cNvSpPr/>
          <p:nvPr/>
        </p:nvSpPr>
        <p:spPr>
          <a:xfrm>
            <a:off x="608711" y="3876929"/>
            <a:ext cx="126111" cy="126111"/>
          </a:xfrm>
          <a:prstGeom prst="ellipse">
            <a:avLst/>
          </a:prstGeom>
          <a:solidFill>
            <a:srgbClr val="A5A5A5"/>
          </a:solidFill>
          <a:ln/>
        </p:spPr>
      </p:sp>
      <p:sp>
        <p:nvSpPr>
          <p:cNvPr id="58" name="Text 55"/>
          <p:cNvSpPr/>
          <p:nvPr/>
        </p:nvSpPr>
        <p:spPr>
          <a:xfrm>
            <a:off x="665480" y="2632075"/>
            <a:ext cx="2483231" cy="1744091"/>
          </a:xfrm>
          <a:prstGeom prst="rect">
            <a:avLst/>
          </a:prstGeom>
          <a:noFill/>
          <a:ln/>
        </p:spPr>
        <p:txBody>
          <a:bodyPr wrap="square" lIns="0" tIns="0" rIns="0" bIns="0" rtlCol="0" anchor="t"/>
          <a:lstStyle/>
          <a:p>
            <a:pPr algn="l" marL="254000" indent="-254000">
              <a:lnSpc>
                <a:spcPct val="120000"/>
              </a:lnSpc>
              <a:spcBef>
                <a:spcPts val="10"/>
              </a:spcBef>
              <a:buSzPct val="100000"/>
              <a:buChar char="•"/>
            </a:pPr>
            <a:r>
              <a:rPr lang="en-US" sz="1600" dirty="0">
                <a:solidFill>
                  <a:srgbClr val="595959"/>
                </a:solidFill>
                <a:latin typeface="Arial" pitchFamily="34" charset="0"/>
                <a:ea typeface="Arial" pitchFamily="34" charset="-122"/>
                <a:cs typeface="Arial" pitchFamily="34" charset="-120"/>
              </a:rPr>
              <a:t>理性矿工模型下，通过部署贿赂合约延迟特定交易的攻击行为</a:t>
            </a:r>
            <a:endParaRPr lang="en-US" sz="1600" dirty="0"/>
          </a:p>
          <a:p>
            <a:pPr algn="l">
              <a:lnSpc>
                <a:spcPct val="120000"/>
              </a:lnSpc>
              <a:spcBef>
                <a:spcPts val="800"/>
              </a:spcBef>
            </a:pPr>
            <a:r>
              <a:rPr lang="en-US" sz="1600" b="1" dirty="0">
                <a:solidFill>
                  <a:srgbClr val="595959"/>
                </a:solidFill>
                <a:latin typeface="Arial" pitchFamily="34" charset="0"/>
                <a:ea typeface="Arial" pitchFamily="34" charset="-122"/>
                <a:cs typeface="Arial" pitchFamily="34" charset="-120"/>
              </a:rPr>
              <a:t>  </a:t>
            </a:r>
            <a:pPr algn="l">
              <a:lnSpc>
                <a:spcPct val="120000"/>
              </a:lnSpc>
              <a:spcBef>
                <a:spcPts val="800"/>
              </a:spcBef>
            </a:pPr>
            <a:r>
              <a:rPr lang="en-US" sz="1600" b="1" dirty="0">
                <a:solidFill>
                  <a:srgbClr val="595959"/>
                </a:solidFill>
                <a:latin typeface="Arial" pitchFamily="34" charset="0"/>
                <a:ea typeface="Arial" pitchFamily="34" charset="-122"/>
                <a:cs typeface="Arial" pitchFamily="34" charset="-120"/>
              </a:rPr>
              <a:t>Bride Attack</a:t>
            </a:r>
            <a:endParaRPr lang="en-US" sz="1600" dirty="0"/>
          </a:p>
          <a:p>
            <a:pPr algn="l">
              <a:lnSpc>
                <a:spcPct val="120000"/>
              </a:lnSpc>
              <a:spcBef>
                <a:spcPts val="800"/>
              </a:spcBef>
            </a:pPr>
            <a:r>
              <a:rPr lang="en-US" sz="1600" b="1" dirty="0">
                <a:solidFill>
                  <a:srgbClr val="595959"/>
                </a:solidFill>
                <a:latin typeface="Arial" pitchFamily="34" charset="0"/>
                <a:ea typeface="Arial" pitchFamily="34" charset="-122"/>
                <a:cs typeface="Arial" pitchFamily="34" charset="-120"/>
              </a:rPr>
              <a:t>  EuroS&amp;PW</a:t>
            </a:r>
            <a:pPr algn="l">
              <a:lnSpc>
                <a:spcPct val="120000"/>
              </a:lnSpc>
              <a:spcBef>
                <a:spcPts val="800"/>
              </a:spcBef>
            </a:pPr>
            <a:r>
              <a:rPr lang="en-US" sz="1600" b="1" dirty="0">
                <a:solidFill>
                  <a:srgbClr val="595959"/>
                </a:solidFill>
                <a:latin typeface="MiSans" pitchFamily="34" charset="0"/>
                <a:ea typeface="MiSans" pitchFamily="34" charset="-122"/>
                <a:cs typeface="MiSans" pitchFamily="34" charset="-120"/>
              </a:rPr>
              <a:t>'</a:t>
            </a:r>
            <a:pPr algn="l">
              <a:lnSpc>
                <a:spcPct val="120000"/>
              </a:lnSpc>
              <a:spcBef>
                <a:spcPts val="800"/>
              </a:spcBef>
            </a:pPr>
            <a:r>
              <a:rPr lang="en-US" sz="1600" b="1" dirty="0">
                <a:solidFill>
                  <a:srgbClr val="595959"/>
                </a:solidFill>
                <a:latin typeface="Arial" pitchFamily="34" charset="0"/>
                <a:ea typeface="Arial" pitchFamily="34" charset="-122"/>
                <a:cs typeface="Arial" pitchFamily="34" charset="-120"/>
              </a:rPr>
              <a:t>19</a:t>
            </a:r>
            <a:endParaRPr lang="en-US" sz="1600" dirty="0"/>
          </a:p>
        </p:txBody>
      </p:sp>
      <p:sp>
        <p:nvSpPr>
          <p:cNvPr id="59" name="Shape 56"/>
          <p:cNvSpPr/>
          <p:nvPr/>
        </p:nvSpPr>
        <p:spPr>
          <a:xfrm flipH="1" flipV="1">
            <a:off x="2472309" y="5048631"/>
            <a:ext cx="25781" cy="2739009"/>
          </a:xfrm>
          <a:prstGeom prst="line">
            <a:avLst/>
          </a:prstGeom>
          <a:noFill/>
          <a:ln w="12700">
            <a:solidFill>
              <a:srgbClr val="7F7F7F"/>
            </a:solidFill>
            <a:prstDash val="solid"/>
            <a:headEnd type="none"/>
            <a:tailEnd type="none"/>
          </a:ln>
        </p:spPr>
      </p:sp>
      <p:sp>
        <p:nvSpPr>
          <p:cNvPr id="60" name="Shape 57"/>
          <p:cNvSpPr/>
          <p:nvPr/>
        </p:nvSpPr>
        <p:spPr>
          <a:xfrm>
            <a:off x="2370709" y="4846320"/>
            <a:ext cx="214249" cy="214249"/>
          </a:xfrm>
          <a:prstGeom prst="ellipse">
            <a:avLst/>
          </a:prstGeom>
          <a:solidFill>
            <a:srgbClr val="00B0F0"/>
          </a:solidFill>
          <a:ln/>
        </p:spPr>
      </p:sp>
      <p:sp>
        <p:nvSpPr>
          <p:cNvPr id="61" name="Text 58"/>
          <p:cNvSpPr/>
          <p:nvPr/>
        </p:nvSpPr>
        <p:spPr>
          <a:xfrm>
            <a:off x="2471420" y="5163693"/>
            <a:ext cx="3397250" cy="943864"/>
          </a:xfrm>
          <a:prstGeom prst="rect">
            <a:avLst/>
          </a:prstGeom>
          <a:noFill/>
          <a:ln/>
        </p:spPr>
        <p:txBody>
          <a:bodyPr wrap="square" lIns="0" tIns="0" rIns="0" bIns="0" rtlCol="0" anchor="t"/>
          <a:lstStyle/>
          <a:p>
            <a:pPr algn="l">
              <a:lnSpc>
                <a:spcPct val="120000"/>
              </a:lnSpc>
            </a:pPr>
            <a:r>
              <a:rPr lang="en-US" sz="2670" b="1" dirty="0">
                <a:solidFill>
                  <a:srgbClr val="595959"/>
                </a:solidFill>
                <a:latin typeface="MiSans" pitchFamily="34" charset="0"/>
                <a:ea typeface="MiSans" pitchFamily="34" charset="-122"/>
                <a:cs typeface="MiSans" pitchFamily="34" charset="-120"/>
              </a:rPr>
              <a:t>SP</a:t>
            </a:r>
            <a:pPr algn="l">
              <a:lnSpc>
                <a:spcPct val="120000"/>
              </a:lnSpc>
            </a:pPr>
            <a:r>
              <a:rPr lang="en-US" sz="2670" b="1" dirty="0">
                <a:solidFill>
                  <a:srgbClr val="595959"/>
                </a:solidFill>
                <a:latin typeface="MiSans" pitchFamily="34" charset="0"/>
                <a:ea typeface="MiSans" pitchFamily="34" charset="-122"/>
                <a:cs typeface="MiSans" pitchFamily="34" charset="-120"/>
              </a:rPr>
              <a:t>'</a:t>
            </a:r>
            <a:pPr algn="l">
              <a:lnSpc>
                <a:spcPct val="120000"/>
              </a:lnSpc>
            </a:pPr>
            <a:r>
              <a:rPr lang="en-US" sz="2670" b="1" dirty="0">
                <a:solidFill>
                  <a:srgbClr val="595959"/>
                </a:solidFill>
                <a:latin typeface="MiSans" pitchFamily="34" charset="0"/>
                <a:ea typeface="MiSans" pitchFamily="34" charset="-122"/>
                <a:cs typeface="MiSans" pitchFamily="34" charset="-120"/>
              </a:rPr>
              <a:t>21</a:t>
            </a:r>
            <a:endParaRPr lang="en-US" sz="2670" dirty="0"/>
          </a:p>
          <a:p>
            <a:pPr algn="l">
              <a:lnSpc>
                <a:spcPct val="120000"/>
              </a:lnSpc>
            </a:pPr>
            <a:r>
              <a:rPr lang="en-US" sz="2670" b="1" dirty="0">
                <a:solidFill>
                  <a:srgbClr val="595959"/>
                </a:solidFill>
                <a:latin typeface="MiSans" pitchFamily="34" charset="0"/>
                <a:ea typeface="MiSans" pitchFamily="34" charset="-122"/>
                <a:cs typeface="MiSans" pitchFamily="34" charset="-120"/>
              </a:rPr>
              <a:t>MAD-HTLC</a:t>
            </a:r>
            <a:endParaRPr lang="en-US" sz="2670" dirty="0"/>
          </a:p>
        </p:txBody>
      </p:sp>
      <p:sp>
        <p:nvSpPr>
          <p:cNvPr id="62" name="Text 59"/>
          <p:cNvSpPr/>
          <p:nvPr/>
        </p:nvSpPr>
        <p:spPr>
          <a:xfrm>
            <a:off x="2472309" y="5979160"/>
            <a:ext cx="3804031" cy="1809750"/>
          </a:xfrm>
          <a:prstGeom prst="rect">
            <a:avLst/>
          </a:prstGeom>
          <a:noFill/>
          <a:ln/>
        </p:spPr>
        <p:txBody>
          <a:bodyPr wrap="square" lIns="0" tIns="0" rIns="0" bIns="0" rtlCol="0" anchor="t"/>
          <a:lstStyle/>
          <a:p>
            <a:pPr algn="l">
              <a:lnSpc>
                <a:spcPct val="120000"/>
              </a:lnSpc>
              <a:spcBef>
                <a:spcPts val="800"/>
              </a:spcBef>
            </a:pPr>
            <a:r>
              <a:rPr lang="en-US" sz="2400" b="1" dirty="0">
                <a:solidFill>
                  <a:srgbClr val="595959"/>
                </a:solidFill>
                <a:latin typeface="Arial" pitchFamily="34" charset="0"/>
                <a:ea typeface="Arial" pitchFamily="34" charset="-122"/>
                <a:cs typeface="Arial" pitchFamily="34" charset="-120"/>
              </a:rPr>
              <a:t>抗贿赂攻击的</a:t>
            </a:r>
            <a:pPr algn="l">
              <a:lnSpc>
                <a:spcPct val="120000"/>
              </a:lnSpc>
              <a:spcBef>
                <a:spcPts val="800"/>
              </a:spcBef>
            </a:pPr>
            <a:r>
              <a:rPr lang="en-US" sz="2400" b="1" dirty="0">
                <a:solidFill>
                  <a:srgbClr val="595959"/>
                </a:solidFill>
                <a:latin typeface="Arial" pitchFamily="34" charset="0"/>
                <a:ea typeface="Arial" pitchFamily="34" charset="-122"/>
                <a:cs typeface="Arial" pitchFamily="34" charset="-120"/>
              </a:rPr>
              <a:t>HTLC-Spec</a:t>
            </a:r>
            <a:endParaRPr lang="en-US" sz="2400" dirty="0"/>
          </a:p>
          <a:p>
            <a:pPr algn="l" marL="381000" indent="-381000">
              <a:lnSpc>
                <a:spcPct val="120000"/>
              </a:lnSpc>
              <a:spcBef>
                <a:spcPts val="10"/>
              </a:spcBef>
              <a:buSzPct val="100000"/>
              <a:buChar char="•"/>
            </a:pPr>
            <a:r>
              <a:rPr lang="en-US" sz="1600" dirty="0">
                <a:solidFill>
                  <a:srgbClr val="595959"/>
                </a:solidFill>
                <a:latin typeface="Arial" pitchFamily="34" charset="0"/>
                <a:ea typeface="Arial" pitchFamily="34" charset="-122"/>
                <a:cs typeface="Arial" pitchFamily="34" charset="-120"/>
              </a:rPr>
              <a:t>抽象出哈希时间锁范式</a:t>
            </a:r>
            <a:pPr algn="l">
              <a:lnSpc>
                <a:spcPct val="120000"/>
              </a:lnSpc>
              <a:spcBef>
                <a:spcPts val="10"/>
              </a:spcBef>
            </a:pPr>
            <a:r>
              <a:rPr lang="en-US" sz="1600" dirty="0">
                <a:solidFill>
                  <a:srgbClr val="595959"/>
                </a:solidFill>
                <a:latin typeface="Arial" pitchFamily="34" charset="0"/>
                <a:ea typeface="Arial" pitchFamily="34" charset="-122"/>
                <a:cs typeface="Arial" pitchFamily="34" charset="-120"/>
              </a:rPr>
              <a:t>HTLC-Spec</a:t>
            </a:r>
            <a:endParaRPr lang="en-US" sz="2400" dirty="0"/>
          </a:p>
          <a:p>
            <a:pPr algn="l" marL="381000" indent="-381000">
              <a:lnSpc>
                <a:spcPct val="120000"/>
              </a:lnSpc>
              <a:spcBef>
                <a:spcPts val="10"/>
              </a:spcBef>
              <a:buSzPct val="100000"/>
              <a:buChar char="•"/>
            </a:pPr>
            <a:r>
              <a:rPr lang="en-US" sz="1600" dirty="0">
                <a:solidFill>
                  <a:srgbClr val="595959"/>
                </a:solidFill>
                <a:latin typeface="Arial" pitchFamily="34" charset="0"/>
                <a:ea typeface="Arial" pitchFamily="34" charset="-122"/>
                <a:cs typeface="Arial" pitchFamily="34" charset="-120"/>
              </a:rPr>
              <a:t>抗贿赂攻击的交易结构</a:t>
            </a:r>
            <a:endParaRPr lang="en-US" sz="2400" dirty="0"/>
          </a:p>
          <a:p>
            <a:pPr algn="l" marL="381000" indent="-381000">
              <a:lnSpc>
                <a:spcPct val="120000"/>
              </a:lnSpc>
              <a:spcBef>
                <a:spcPts val="10"/>
              </a:spcBef>
              <a:buSzPct val="100000"/>
              <a:buChar char="•"/>
            </a:pPr>
            <a:r>
              <a:rPr lang="en-US" sz="1600" dirty="0">
                <a:solidFill>
                  <a:srgbClr val="595959"/>
                </a:solidFill>
                <a:latin typeface="Arial" pitchFamily="34" charset="0"/>
                <a:ea typeface="Arial" pitchFamily="34" charset="-122"/>
                <a:cs typeface="Arial" pitchFamily="34" charset="-120"/>
              </a:rPr>
              <a:t>兼容于现有区块链系统</a:t>
            </a:r>
            <a:endParaRPr lang="en-US" sz="2400" dirty="0"/>
          </a:p>
          <a:p>
            <a:pPr algn="l" marL="381000" indent="-381000">
              <a:lnSpc>
                <a:spcPct val="120000"/>
              </a:lnSpc>
              <a:spcBef>
                <a:spcPts val="10"/>
              </a:spcBef>
              <a:buSzPct val="100000"/>
              <a:buChar char="•"/>
            </a:pPr>
            <a:r>
              <a:rPr lang="en-US" sz="2400" dirty="0">
                <a:solidFill>
                  <a:srgbClr val="595959"/>
                </a:solidFill>
                <a:latin typeface="Arial" pitchFamily="34" charset="0"/>
                <a:ea typeface="Arial" pitchFamily="34" charset="-122"/>
                <a:cs typeface="Arial" pitchFamily="34" charset="-120"/>
              </a:rPr>
              <a:t> </a:t>
            </a:r>
            <a:endParaRPr lang="en-US" sz="2400" dirty="0"/>
          </a:p>
        </p:txBody>
      </p:sp>
      <p:sp>
        <p:nvSpPr>
          <p:cNvPr id="63" name="Shape 60"/>
          <p:cNvSpPr/>
          <p:nvPr/>
        </p:nvSpPr>
        <p:spPr>
          <a:xfrm>
            <a:off x="2412111" y="5785231"/>
            <a:ext cx="126111" cy="126111"/>
          </a:xfrm>
          <a:prstGeom prst="ellipse">
            <a:avLst/>
          </a:prstGeom>
          <a:solidFill>
            <a:srgbClr val="A5A5A5"/>
          </a:solidFill>
          <a:ln/>
        </p:spPr>
      </p:sp>
      <p:sp>
        <p:nvSpPr>
          <p:cNvPr id="64" name="Text 61"/>
          <p:cNvSpPr/>
          <p:nvPr/>
        </p:nvSpPr>
        <p:spPr>
          <a:xfrm>
            <a:off x="6941820" y="3462655"/>
            <a:ext cx="3302000" cy="861822"/>
          </a:xfrm>
          <a:prstGeom prst="rect">
            <a:avLst/>
          </a:prstGeom>
          <a:noFill/>
          <a:ln/>
        </p:spPr>
        <p:txBody>
          <a:bodyPr wrap="square" lIns="0" tIns="0" rIns="0" bIns="0" rtlCol="0" anchor="t"/>
          <a:lstStyle/>
          <a:p>
            <a:pPr algn="l">
              <a:lnSpc>
                <a:spcPct val="120000"/>
              </a:lnSpc>
            </a:pPr>
            <a:r>
              <a:rPr lang="en-US" sz="2400" b="1" dirty="0">
                <a:solidFill>
                  <a:srgbClr val="595959"/>
                </a:solidFill>
                <a:latin typeface="MiSans" pitchFamily="34" charset="0"/>
                <a:ea typeface="MiSans" pitchFamily="34" charset="-122"/>
                <a:cs typeface="MiSans" pitchFamily="34" charset="-120"/>
              </a:rPr>
              <a:t>He-HTLC</a:t>
            </a:r>
            <a:endParaRPr lang="en-US" sz="2400" dirty="0"/>
          </a:p>
          <a:p>
            <a:pPr algn="l">
              <a:lnSpc>
                <a:spcPct val="120000"/>
              </a:lnSpc>
            </a:pPr>
            <a:r>
              <a:rPr lang="en-US" sz="2400" b="1" dirty="0">
                <a:solidFill>
                  <a:srgbClr val="595959"/>
                </a:solidFill>
                <a:latin typeface="MiSans" pitchFamily="34" charset="0"/>
                <a:ea typeface="MiSans" pitchFamily="34" charset="-122"/>
                <a:cs typeface="MiSans" pitchFamily="34" charset="-120"/>
              </a:rPr>
              <a:t>NDSS'23</a:t>
            </a:r>
            <a:endParaRPr lang="en-US" sz="2400" dirty="0"/>
          </a:p>
        </p:txBody>
      </p:sp>
      <p:sp>
        <p:nvSpPr>
          <p:cNvPr id="65" name="Text 62"/>
          <p:cNvSpPr/>
          <p:nvPr/>
        </p:nvSpPr>
        <p:spPr>
          <a:xfrm>
            <a:off x="6885559" y="2573528"/>
            <a:ext cx="2918460" cy="982345"/>
          </a:xfrm>
          <a:prstGeom prst="rect">
            <a:avLst/>
          </a:prstGeom>
          <a:noFill/>
          <a:ln/>
        </p:spPr>
        <p:txBody>
          <a:bodyPr wrap="square" lIns="0" tIns="0" rIns="0" bIns="0" rtlCol="0" anchor="t"/>
          <a:lstStyle/>
          <a:p>
            <a:pPr algn="l" marL="254000" indent="-254000">
              <a:lnSpc>
                <a:spcPct val="120000"/>
              </a:lnSpc>
              <a:spcBef>
                <a:spcPts val="10"/>
              </a:spcBef>
              <a:buSzPct val="100000"/>
              <a:buChar char="•"/>
            </a:pPr>
            <a:r>
              <a:rPr lang="en-US" sz="1600" dirty="0">
                <a:solidFill>
                  <a:srgbClr val="595959"/>
                </a:solidFill>
                <a:latin typeface="Arial" pitchFamily="34" charset="0"/>
                <a:ea typeface="Arial" pitchFamily="34" charset="-122"/>
                <a:cs typeface="Arial" pitchFamily="34" charset="-120"/>
              </a:rPr>
              <a:t>抗贿赂攻击+反向贿赂攻击</a:t>
            </a:r>
            <a:endParaRPr lang="en-US" sz="1600" dirty="0"/>
          </a:p>
          <a:p>
            <a:pPr algn="l" marL="254000" indent="-254000">
              <a:lnSpc>
                <a:spcPct val="120000"/>
              </a:lnSpc>
              <a:spcBef>
                <a:spcPts val="10"/>
              </a:spcBef>
              <a:buSzPct val="100000"/>
              <a:buChar char="•"/>
            </a:pPr>
            <a:r>
              <a:rPr lang="en-US" sz="1600" dirty="0">
                <a:solidFill>
                  <a:srgbClr val="595959"/>
                </a:solidFill>
                <a:latin typeface="Arial" pitchFamily="34" charset="0"/>
                <a:ea typeface="Arial" pitchFamily="34" charset="-122"/>
                <a:cs typeface="Arial" pitchFamily="34" charset="-120"/>
              </a:rPr>
              <a:t>提出主动理性矿工模型</a:t>
            </a:r>
            <a:endParaRPr lang="en-US" sz="1600" dirty="0"/>
          </a:p>
          <a:p>
            <a:pPr algn="l" marL="254000" indent="-254000">
              <a:lnSpc>
                <a:spcPct val="120000"/>
              </a:lnSpc>
              <a:spcBef>
                <a:spcPts val="10"/>
              </a:spcBef>
              <a:buSzPct val="100000"/>
              <a:buChar char="•"/>
            </a:pPr>
            <a:r>
              <a:rPr lang="en-US" sz="1600" dirty="0">
                <a:solidFill>
                  <a:srgbClr val="595959"/>
                </a:solidFill>
                <a:latin typeface="Arial" pitchFamily="34" charset="0"/>
                <a:ea typeface="Arial" pitchFamily="34" charset="-122"/>
                <a:cs typeface="Arial" pitchFamily="34" charset="-120"/>
              </a:rPr>
              <a:t>更轻量级的HTLC-Spec</a:t>
            </a:r>
            <a:endParaRPr lang="en-US" sz="1600" dirty="0"/>
          </a:p>
        </p:txBody>
      </p:sp>
      <p:sp>
        <p:nvSpPr>
          <p:cNvPr id="66" name="Text 63"/>
          <p:cNvSpPr/>
          <p:nvPr/>
        </p:nvSpPr>
        <p:spPr>
          <a:xfrm>
            <a:off x="14069314" y="5205476"/>
            <a:ext cx="1612011" cy="860171"/>
          </a:xfrm>
          <a:prstGeom prst="rect">
            <a:avLst/>
          </a:prstGeom>
          <a:noFill/>
          <a:ln/>
        </p:spPr>
        <p:txBody>
          <a:bodyPr wrap="square" lIns="0" tIns="0" rIns="0" bIns="0" rtlCol="0" anchor="t"/>
          <a:lstStyle/>
          <a:p>
            <a:pPr algn="l">
              <a:lnSpc>
                <a:spcPct val="120000"/>
              </a:lnSpc>
            </a:pPr>
            <a:r>
              <a:rPr lang="en-US" sz="2400" b="1" dirty="0">
                <a:solidFill>
                  <a:srgbClr val="595959"/>
                </a:solidFill>
                <a:latin typeface="MiSans" pitchFamily="34" charset="0"/>
                <a:ea typeface="MiSans" pitchFamily="34" charset="-122"/>
                <a:cs typeface="MiSans" pitchFamily="34" charset="-120"/>
              </a:rPr>
              <a:t>CCS'24</a:t>
            </a:r>
            <a:endParaRPr lang="en-US" sz="2400" dirty="0"/>
          </a:p>
          <a:p>
            <a:pPr algn="l">
              <a:lnSpc>
                <a:spcPct val="120000"/>
              </a:lnSpc>
            </a:pPr>
            <a:r>
              <a:rPr lang="en-US" sz="2400" b="1" dirty="0">
                <a:solidFill>
                  <a:srgbClr val="595959"/>
                </a:solidFill>
                <a:latin typeface="MiSans" pitchFamily="34" charset="0"/>
                <a:ea typeface="MiSans" pitchFamily="34" charset="-122"/>
                <a:cs typeface="MiSans" pitchFamily="34" charset="-120"/>
              </a:rPr>
              <a:t>CRAB</a:t>
            </a:r>
            <a:endParaRPr lang="en-US" sz="2400" dirty="0"/>
          </a:p>
        </p:txBody>
      </p:sp>
      <p:sp>
        <p:nvSpPr>
          <p:cNvPr id="67" name="Text 64"/>
          <p:cNvSpPr/>
          <p:nvPr/>
        </p:nvSpPr>
        <p:spPr>
          <a:xfrm>
            <a:off x="14042009" y="6037707"/>
            <a:ext cx="2213991" cy="1279525"/>
          </a:xfrm>
          <a:prstGeom prst="rect">
            <a:avLst/>
          </a:prstGeom>
          <a:noFill/>
          <a:ln/>
        </p:spPr>
        <p:txBody>
          <a:bodyPr wrap="square" lIns="0" tIns="0" rIns="0" bIns="0" rtlCol="0" anchor="t"/>
          <a:lstStyle/>
          <a:p>
            <a:pPr algn="l" marL="254000" indent="-254000">
              <a:lnSpc>
                <a:spcPct val="120000"/>
              </a:lnSpc>
              <a:spcBef>
                <a:spcPts val="10"/>
              </a:spcBef>
              <a:buSzPct val="100000"/>
              <a:buChar char="•"/>
            </a:pPr>
            <a:r>
              <a:rPr lang="en-US" sz="1600" dirty="0">
                <a:solidFill>
                  <a:srgbClr val="595959"/>
                </a:solidFill>
                <a:latin typeface="Arial" pitchFamily="34" charset="0"/>
                <a:ea typeface="Arial" pitchFamily="34" charset="-122"/>
                <a:cs typeface="Arial" pitchFamily="34" charset="-120"/>
              </a:rPr>
              <a:t>抗贿赂攻击和反向贿赂攻击的信道</a:t>
            </a:r>
            <a:endParaRPr lang="en-US" sz="1600" dirty="0"/>
          </a:p>
          <a:p>
            <a:pPr algn="l" marL="254000" indent="-254000">
              <a:lnSpc>
                <a:spcPct val="120000"/>
              </a:lnSpc>
              <a:spcBef>
                <a:spcPts val="10"/>
              </a:spcBef>
              <a:buSzPct val="100000"/>
              <a:buChar char="•"/>
            </a:pPr>
            <a:r>
              <a:rPr lang="en-US" sz="1600" dirty="0">
                <a:solidFill>
                  <a:srgbClr val="595959"/>
                </a:solidFill>
                <a:latin typeface="Arial" pitchFamily="34" charset="0"/>
                <a:ea typeface="Arial" pitchFamily="34" charset="-122"/>
                <a:cs typeface="Arial" pitchFamily="34" charset="-120"/>
              </a:rPr>
              <a:t>理性矿工、拜占庭节点模型</a:t>
            </a:r>
            <a:endParaRPr lang="en-US" sz="1600" dirty="0"/>
          </a:p>
        </p:txBody>
      </p:sp>
      <p:sp>
        <p:nvSpPr>
          <p:cNvPr id="68" name="Shape 65"/>
          <p:cNvSpPr/>
          <p:nvPr/>
        </p:nvSpPr>
        <p:spPr>
          <a:xfrm>
            <a:off x="10957560" y="4860290"/>
            <a:ext cx="214249" cy="214249"/>
          </a:xfrm>
          <a:prstGeom prst="ellipse">
            <a:avLst/>
          </a:prstGeom>
          <a:solidFill>
            <a:srgbClr val="00B0F0"/>
          </a:solidFill>
          <a:ln/>
        </p:spPr>
      </p:sp>
      <p:sp>
        <p:nvSpPr>
          <p:cNvPr id="69" name="Text 66"/>
          <p:cNvSpPr/>
          <p:nvPr/>
        </p:nvSpPr>
        <p:spPr>
          <a:xfrm>
            <a:off x="11193018" y="3210941"/>
            <a:ext cx="2774442" cy="1272159"/>
          </a:xfrm>
          <a:prstGeom prst="rect">
            <a:avLst/>
          </a:prstGeom>
          <a:noFill/>
          <a:ln/>
        </p:spPr>
        <p:txBody>
          <a:bodyPr wrap="square" lIns="0" tIns="0" rIns="0" bIns="0" rtlCol="0" anchor="t"/>
          <a:lstStyle/>
          <a:p>
            <a:pPr algn="l">
              <a:lnSpc>
                <a:spcPct val="120000"/>
              </a:lnSpc>
            </a:pPr>
            <a:r>
              <a:rPr lang="en-US" sz="2400" b="1" dirty="0">
                <a:solidFill>
                  <a:srgbClr val="595959"/>
                </a:solidFill>
                <a:latin typeface="MiSans" pitchFamily="34" charset="0"/>
                <a:ea typeface="MiSans" pitchFamily="34" charset="-122"/>
                <a:cs typeface="MiSans" pitchFamily="34" charset="-120"/>
              </a:rPr>
              <a:t>Blockchain Bribing Attacks</a:t>
            </a:r>
            <a:endParaRPr lang="en-US" sz="2400" dirty="0"/>
          </a:p>
          <a:p>
            <a:pPr algn="l">
              <a:lnSpc>
                <a:spcPct val="120000"/>
              </a:lnSpc>
            </a:pPr>
            <a:r>
              <a:rPr lang="en-US" sz="2400" b="1" dirty="0">
                <a:solidFill>
                  <a:srgbClr val="595959"/>
                </a:solidFill>
                <a:latin typeface="MiSans" pitchFamily="34" charset="0"/>
                <a:ea typeface="MiSans" pitchFamily="34" charset="-122"/>
                <a:cs typeface="MiSans" pitchFamily="34" charset="-120"/>
              </a:rPr>
              <a:t>CCS'24</a:t>
            </a:r>
            <a:pPr algn="l">
              <a:lnSpc>
                <a:spcPct val="120000"/>
              </a:lnSpc>
            </a:pPr>
            <a:r>
              <a:rPr lang="en-US" sz="2670" b="1" dirty="0">
                <a:solidFill>
                  <a:srgbClr val="595959"/>
                </a:solidFill>
                <a:latin typeface="MiSans" pitchFamily="34" charset="0"/>
                <a:ea typeface="MiSans" pitchFamily="34" charset="-122"/>
                <a:cs typeface="MiSans" pitchFamily="34" charset="-120"/>
              </a:rPr>
              <a:t> </a:t>
            </a:r>
            <a:endParaRPr lang="en-US" sz="2400" dirty="0"/>
          </a:p>
        </p:txBody>
      </p:sp>
      <p:sp>
        <p:nvSpPr>
          <p:cNvPr id="70" name="Text 67"/>
          <p:cNvSpPr/>
          <p:nvPr/>
        </p:nvSpPr>
        <p:spPr>
          <a:xfrm>
            <a:off x="11045571" y="2632710"/>
            <a:ext cx="2476500" cy="688594"/>
          </a:xfrm>
          <a:prstGeom prst="rect">
            <a:avLst/>
          </a:prstGeom>
          <a:noFill/>
          <a:ln/>
        </p:spPr>
        <p:txBody>
          <a:bodyPr wrap="square" lIns="0" tIns="0" rIns="0" bIns="0" rtlCol="0" anchor="t"/>
          <a:lstStyle/>
          <a:p>
            <a:pPr algn="l" marL="254000" indent="-254000">
              <a:lnSpc>
                <a:spcPct val="120000"/>
              </a:lnSpc>
              <a:spcBef>
                <a:spcPts val="10"/>
              </a:spcBef>
              <a:buSzPct val="100000"/>
              <a:buChar char="•"/>
            </a:pPr>
            <a:r>
              <a:rPr lang="en-US" sz="1600" dirty="0">
                <a:solidFill>
                  <a:srgbClr val="595959"/>
                </a:solidFill>
                <a:latin typeface="Arial" pitchFamily="34" charset="0"/>
                <a:ea typeface="Arial" pitchFamily="34" charset="-122"/>
                <a:cs typeface="Arial" pitchFamily="34" charset="-120"/>
              </a:rPr>
              <a:t>PoS链贿赂攻击分析</a:t>
            </a:r>
            <a:endParaRPr lang="en-US" sz="1600" dirty="0"/>
          </a:p>
          <a:p>
            <a:pPr algn="l" marL="254000" indent="-254000">
              <a:lnSpc>
                <a:spcPct val="120000"/>
              </a:lnSpc>
              <a:spcBef>
                <a:spcPts val="10"/>
              </a:spcBef>
              <a:buSzPct val="100000"/>
              <a:buChar char="•"/>
            </a:pPr>
            <a:r>
              <a:rPr lang="en-US" sz="1600" dirty="0">
                <a:solidFill>
                  <a:srgbClr val="595959"/>
                </a:solidFill>
                <a:latin typeface="Arial" pitchFamily="34" charset="0"/>
                <a:ea typeface="Arial" pitchFamily="34" charset="-122"/>
                <a:cs typeface="Arial" pitchFamily="34" charset="-120"/>
              </a:rPr>
              <a:t>细化贿赂攻击分类</a:t>
            </a:r>
            <a:endParaRPr lang="en-US" sz="1600" dirty="0"/>
          </a:p>
        </p:txBody>
      </p:sp>
      <p:sp>
        <p:nvSpPr>
          <p:cNvPr id="71" name="Shape 68"/>
          <p:cNvSpPr/>
          <p:nvPr/>
        </p:nvSpPr>
        <p:spPr>
          <a:xfrm>
            <a:off x="10994771" y="3700399"/>
            <a:ext cx="126111" cy="126111"/>
          </a:xfrm>
          <a:prstGeom prst="ellipse">
            <a:avLst/>
          </a:prstGeom>
          <a:solidFill>
            <a:srgbClr val="A5A5A5"/>
          </a:solidFill>
          <a:ln/>
        </p:spPr>
      </p:sp>
      <p:sp>
        <p:nvSpPr>
          <p:cNvPr id="72" name="Shape 69"/>
          <p:cNvSpPr/>
          <p:nvPr/>
        </p:nvSpPr>
        <p:spPr>
          <a:xfrm>
            <a:off x="13924280" y="4834509"/>
            <a:ext cx="214249" cy="214249"/>
          </a:xfrm>
          <a:prstGeom prst="ellipse">
            <a:avLst/>
          </a:prstGeom>
          <a:solidFill>
            <a:srgbClr val="00B0F0"/>
          </a:solidFill>
          <a:ln/>
        </p:spPr>
      </p:sp>
      <p:sp>
        <p:nvSpPr>
          <p:cNvPr id="73" name="Shape 70"/>
          <p:cNvSpPr/>
          <p:nvPr/>
        </p:nvSpPr>
        <p:spPr>
          <a:xfrm>
            <a:off x="13986891" y="5785231"/>
            <a:ext cx="126111" cy="126111"/>
          </a:xfrm>
          <a:prstGeom prst="ellipse">
            <a:avLst/>
          </a:prstGeom>
          <a:solidFill>
            <a:srgbClr val="A5A5A5"/>
          </a:solidFill>
          <a:ln/>
        </p:spPr>
      </p:sp>
      <p:sp>
        <p:nvSpPr>
          <p:cNvPr id="74" name="Shape 71"/>
          <p:cNvSpPr/>
          <p:nvPr/>
        </p:nvSpPr>
        <p:spPr>
          <a:xfrm>
            <a:off x="590931" y="4892040"/>
            <a:ext cx="126111" cy="126111"/>
          </a:xfrm>
          <a:prstGeom prst="ellipse">
            <a:avLst/>
          </a:prstGeom>
          <a:solidFill>
            <a:srgbClr val="BFBFBF"/>
          </a:solidFill>
          <a:ln/>
        </p:spPr>
      </p:sp>
      <p:sp>
        <p:nvSpPr>
          <p:cNvPr id="75" name="Shape 72"/>
          <p:cNvSpPr/>
          <p:nvPr/>
        </p:nvSpPr>
        <p:spPr>
          <a:xfrm>
            <a:off x="567309" y="4834509"/>
            <a:ext cx="214249" cy="214249"/>
          </a:xfrm>
          <a:prstGeom prst="ellipse">
            <a:avLst/>
          </a:prstGeom>
          <a:solidFill>
            <a:srgbClr val="00B0F0"/>
          </a:solidFill>
          <a:ln/>
        </p:spPr>
      </p:sp>
      <p:sp>
        <p:nvSpPr>
          <p:cNvPr id="76" name="Shape 73"/>
          <p:cNvSpPr/>
          <p:nvPr/>
        </p:nvSpPr>
        <p:spPr>
          <a:xfrm>
            <a:off x="4511040" y="4955540"/>
            <a:ext cx="651891" cy="0"/>
          </a:xfrm>
          <a:prstGeom prst="line">
            <a:avLst/>
          </a:prstGeom>
          <a:noFill/>
          <a:ln w="41275">
            <a:solidFill>
              <a:srgbClr val="A5A5A5"/>
            </a:solidFill>
            <a:prstDash val="sysDot"/>
            <a:headEnd type="none"/>
            <a:tailEnd type="none"/>
          </a:ln>
        </p:spPr>
      </p:sp>
      <p:sp>
        <p:nvSpPr>
          <p:cNvPr id="77" name="Text 74"/>
          <p:cNvSpPr/>
          <p:nvPr/>
        </p:nvSpPr>
        <p:spPr>
          <a:xfrm>
            <a:off x="544449" y="1266571"/>
            <a:ext cx="10164191" cy="615569"/>
          </a:xfrm>
          <a:prstGeom prst="rect">
            <a:avLst/>
          </a:prstGeom>
          <a:noFill/>
          <a:ln/>
        </p:spPr>
        <p:txBody>
          <a:bodyPr wrap="square" lIns="0" tIns="0" rIns="0" bIns="0" rtlCol="0" anchor="t"/>
          <a:lstStyle/>
          <a:p>
            <a:pPr algn="l" marL="508000" indent="-508000">
              <a:lnSpc>
                <a:spcPct val="120000"/>
              </a:lnSpc>
              <a:spcBef>
                <a:spcPts val="10"/>
              </a:spcBef>
              <a:buSzPct val="100000"/>
              <a:buFont typeface="+mj-lt"/>
              <a:buAutoNum type="arabicPeriod" startAt="1"/>
            </a:pPr>
            <a:r>
              <a:rPr lang="en-US" sz="3200" b="1" dirty="0">
                <a:solidFill>
                  <a:srgbClr val="262626"/>
                </a:solidFill>
                <a:latin typeface="MiSans" pitchFamily="34" charset="0"/>
                <a:ea typeface="MiSans" pitchFamily="34" charset="-122"/>
                <a:cs typeface="MiSans" pitchFamily="34" charset="-120"/>
              </a:rPr>
              <a:t>恶意场景下分布式数字资产交易安全性</a:t>
            </a:r>
            <a:endParaRPr lang="en-US" sz="3200" dirty="0"/>
          </a:p>
        </p:txBody>
      </p:sp>
      <p:sp>
        <p:nvSpPr>
          <p:cNvPr id="78" name="Shape 75"/>
          <p:cNvSpPr/>
          <p:nvPr/>
        </p:nvSpPr>
        <p:spPr>
          <a:xfrm>
            <a:off x="5162169" y="-889"/>
            <a:ext cx="2590800" cy="962660"/>
          </a:xfrm>
          <a:prstGeom prst="rect">
            <a:avLst/>
          </a:prstGeom>
          <a:solidFill>
            <a:srgbClr val="F2F2F2"/>
          </a:solidFill>
          <a:ln w="12700">
            <a:solidFill>
              <a:srgbClr val="F2F2F2"/>
            </a:solidFill>
            <a:prstDash val="solid"/>
          </a:ln>
        </p:spPr>
      </p:sp>
      <p:sp>
        <p:nvSpPr>
          <p:cNvPr id="79" name="Shape 76"/>
          <p:cNvSpPr/>
          <p:nvPr/>
        </p:nvSpPr>
        <p:spPr>
          <a:xfrm>
            <a:off x="5162169" y="-889"/>
            <a:ext cx="2590800" cy="962660"/>
          </a:xfrm>
          <a:prstGeom prst="rect">
            <a:avLst/>
          </a:prstGeom>
          <a:solidFill>
            <a:srgbClr val="04579A"/>
          </a:solidFill>
          <a:ln w="12700">
            <a:solidFill>
              <a:srgbClr val="04579A"/>
            </a:solidFill>
            <a:prstDash val="solid"/>
          </a:ln>
        </p:spPr>
      </p:sp>
      <p:sp>
        <p:nvSpPr>
          <p:cNvPr id="80" name="Shape 77"/>
          <p:cNvSpPr/>
          <p:nvPr/>
        </p:nvSpPr>
        <p:spPr>
          <a:xfrm>
            <a:off x="7816469" y="-889"/>
            <a:ext cx="4114800" cy="962660"/>
          </a:xfrm>
          <a:prstGeom prst="rect">
            <a:avLst/>
          </a:prstGeom>
          <a:solidFill>
            <a:srgbClr val="F2F2F2"/>
          </a:solidFill>
          <a:ln/>
        </p:spPr>
      </p:sp>
      <p:sp>
        <p:nvSpPr>
          <p:cNvPr id="81" name="Shape 78"/>
          <p:cNvSpPr/>
          <p:nvPr/>
        </p:nvSpPr>
        <p:spPr>
          <a:xfrm>
            <a:off x="11971020" y="0"/>
            <a:ext cx="4284980" cy="961771"/>
          </a:xfrm>
          <a:prstGeom prst="rect">
            <a:avLst/>
          </a:prstGeom>
          <a:solidFill>
            <a:srgbClr val="F2F2F2"/>
          </a:solidFill>
          <a:ln/>
        </p:spPr>
      </p:sp>
      <p:sp>
        <p:nvSpPr>
          <p:cNvPr id="82" name="Shape 79"/>
          <p:cNvSpPr/>
          <p:nvPr/>
        </p:nvSpPr>
        <p:spPr>
          <a:xfrm>
            <a:off x="2219960" y="-889"/>
            <a:ext cx="2895600" cy="962660"/>
          </a:xfrm>
          <a:prstGeom prst="rect">
            <a:avLst/>
          </a:prstGeom>
          <a:solidFill>
            <a:srgbClr val="F2F2F2"/>
          </a:solidFill>
          <a:ln w="12700">
            <a:solidFill>
              <a:srgbClr val="F2F2F2"/>
            </a:solidFill>
            <a:prstDash val="solid"/>
          </a:ln>
        </p:spPr>
      </p:sp>
      <p:sp>
        <p:nvSpPr>
          <p:cNvPr id="83" name="Text 80"/>
          <p:cNvSpPr/>
          <p:nvPr/>
        </p:nvSpPr>
        <p:spPr>
          <a:xfrm>
            <a:off x="2283460" y="203200"/>
            <a:ext cx="27686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选题背景及意义</a:t>
            </a:r>
            <a:endParaRPr lang="en-US" sz="2000" dirty="0"/>
          </a:p>
        </p:txBody>
      </p:sp>
      <p:sp>
        <p:nvSpPr>
          <p:cNvPr id="84" name="Text 81"/>
          <p:cNvSpPr/>
          <p:nvPr/>
        </p:nvSpPr>
        <p:spPr>
          <a:xfrm>
            <a:off x="5225669" y="203200"/>
            <a:ext cx="2463800" cy="508000"/>
          </a:xfrm>
          <a:prstGeom prst="rect">
            <a:avLst/>
          </a:prstGeom>
          <a:noFill/>
          <a:ln/>
        </p:spPr>
        <p:txBody>
          <a:bodyPr wrap="none" lIns="0" tIns="0" rIns="0" bIns="0" rtlCol="0" anchor="ctr"/>
          <a:lstStyle/>
          <a:p>
            <a:pPr algn="ctr">
              <a:lnSpc>
                <a:spcPct val="120000"/>
              </a:lnSpc>
            </a:pPr>
            <a:r>
              <a:rPr lang="en-US" sz="2000" dirty="0">
                <a:solidFill>
                  <a:srgbClr val="FFFFFF"/>
                </a:solidFill>
                <a:latin typeface="Arial" pitchFamily="34" charset="0"/>
                <a:ea typeface="Arial" pitchFamily="34" charset="-122"/>
                <a:cs typeface="Arial" pitchFamily="34" charset="-120"/>
              </a:rPr>
              <a:t>国内外研究现状</a:t>
            </a:r>
            <a:endParaRPr lang="en-US" sz="2000" dirty="0"/>
          </a:p>
        </p:txBody>
      </p:sp>
      <p:sp>
        <p:nvSpPr>
          <p:cNvPr id="85" name="Text 82"/>
          <p:cNvSpPr/>
          <p:nvPr/>
        </p:nvSpPr>
        <p:spPr>
          <a:xfrm>
            <a:off x="7879969" y="203200"/>
            <a:ext cx="39878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主要研究内容及预期目标</a:t>
            </a:r>
            <a:endParaRPr lang="en-US" sz="2000" dirty="0"/>
          </a:p>
        </p:txBody>
      </p:sp>
      <p:sp>
        <p:nvSpPr>
          <p:cNvPr id="86" name="Text 83"/>
          <p:cNvSpPr/>
          <p:nvPr/>
        </p:nvSpPr>
        <p:spPr>
          <a:xfrm>
            <a:off x="12034520" y="203200"/>
            <a:ext cx="415798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工作计划与进度安排</a:t>
            </a:r>
            <a:endParaRPr lang="en-US" sz="2000" dirty="0"/>
          </a:p>
        </p:txBody>
      </p:sp>
      <p:pic>
        <p:nvPicPr>
          <p:cNvPr id="87" name="Image 0" descr="https://kimi-img.moonshot.cn/pub/slides/okc/flfuysioo4gzm/mnt/agents/output/yuan_pptd/images/image_2.jpg">    </p:cNvPr>
          <p:cNvPicPr>
            <a:picLocks noChangeAspect="1"/>
          </p:cNvPicPr>
          <p:nvPr/>
        </p:nvPicPr>
        <p:blipFill>
          <a:blip r:embed="rId1"/>
          <a:srcRect l="5060" r="29000" t="0" b="0"/>
          <a:stretch/>
        </p:blipFill>
        <p:spPr>
          <a:xfrm>
            <a:off x="544449" y="140589"/>
            <a:ext cx="1273429" cy="745871"/>
          </a:xfrm>
          <a:prstGeom prst="rect">
            <a:avLst/>
          </a:prstGeom>
        </p:spPr>
      </p:pic>
      <p:sp>
        <p:nvSpPr>
          <p:cNvPr id="88" name="Shape 84"/>
          <p:cNvSpPr/>
          <p:nvPr/>
        </p:nvSpPr>
        <p:spPr>
          <a:xfrm rot="10800000">
            <a:off x="6121400" y="961771"/>
            <a:ext cx="389509" cy="304800"/>
          </a:xfrm>
          <a:prstGeom prst="triangle">
            <a:avLst>
              <a:gd name="adj" fmla="val 50000"/>
            </a:avLst>
          </a:prstGeom>
          <a:solidFill>
            <a:srgbClr val="04579A"/>
          </a:solidFill>
          <a:ln/>
        </p:spPr>
      </p:sp>
      <p:sp>
        <p:nvSpPr>
          <p:cNvPr id="89" name="Shape 85"/>
          <p:cNvSpPr/>
          <p:nvPr/>
        </p:nvSpPr>
        <p:spPr>
          <a:xfrm>
            <a:off x="6835140" y="4895469"/>
            <a:ext cx="126111" cy="126111"/>
          </a:xfrm>
          <a:prstGeom prst="ellipse">
            <a:avLst/>
          </a:prstGeom>
          <a:solidFill>
            <a:srgbClr val="BFBFBF"/>
          </a:solidFill>
          <a:ln/>
        </p:spPr>
      </p:sp>
      <p:sp>
        <p:nvSpPr>
          <p:cNvPr id="90" name="Shape 86"/>
          <p:cNvSpPr/>
          <p:nvPr/>
        </p:nvSpPr>
        <p:spPr>
          <a:xfrm flipV="1">
            <a:off x="6910451" y="2669540"/>
            <a:ext cx="0" cy="2168271"/>
          </a:xfrm>
          <a:prstGeom prst="line">
            <a:avLst/>
          </a:prstGeom>
          <a:noFill/>
          <a:ln w="12700">
            <a:solidFill>
              <a:srgbClr val="7F7F7F"/>
            </a:solidFill>
            <a:prstDash val="solid"/>
            <a:headEnd type="none"/>
            <a:tailEnd type="none"/>
          </a:ln>
        </p:spPr>
      </p:sp>
      <p:sp>
        <p:nvSpPr>
          <p:cNvPr id="91" name="Shape 87"/>
          <p:cNvSpPr/>
          <p:nvPr/>
        </p:nvSpPr>
        <p:spPr>
          <a:xfrm>
            <a:off x="6850380" y="3674491"/>
            <a:ext cx="126111" cy="126111"/>
          </a:xfrm>
          <a:prstGeom prst="ellipse">
            <a:avLst/>
          </a:prstGeom>
          <a:solidFill>
            <a:srgbClr val="A5A5A5"/>
          </a:solidFill>
          <a:ln/>
        </p:spPr>
      </p:sp>
      <p:sp>
        <p:nvSpPr>
          <p:cNvPr id="92" name="Shape 88"/>
          <p:cNvSpPr/>
          <p:nvPr/>
        </p:nvSpPr>
        <p:spPr>
          <a:xfrm>
            <a:off x="6803009" y="4837811"/>
            <a:ext cx="214249" cy="214249"/>
          </a:xfrm>
          <a:prstGeom prst="ellipse">
            <a:avLst/>
          </a:prstGeom>
          <a:solidFill>
            <a:srgbClr val="00B0F0"/>
          </a:solidFill>
          <a:ln/>
        </p:spPr>
      </p:sp>
      <p:sp>
        <p:nvSpPr>
          <p:cNvPr id="93" name="Shape 89"/>
          <p:cNvSpPr/>
          <p:nvPr/>
        </p:nvSpPr>
        <p:spPr>
          <a:xfrm>
            <a:off x="8051038" y="4892802"/>
            <a:ext cx="126111" cy="126111"/>
          </a:xfrm>
          <a:prstGeom prst="ellipse">
            <a:avLst/>
          </a:prstGeom>
          <a:solidFill>
            <a:srgbClr val="BFBFBF"/>
          </a:solidFill>
          <a:ln/>
        </p:spPr>
      </p:sp>
      <p:sp>
        <p:nvSpPr>
          <p:cNvPr id="94" name="Shape 90"/>
          <p:cNvSpPr/>
          <p:nvPr/>
        </p:nvSpPr>
        <p:spPr>
          <a:xfrm>
            <a:off x="9202801" y="4903851"/>
            <a:ext cx="126111" cy="126111"/>
          </a:xfrm>
          <a:prstGeom prst="ellipse">
            <a:avLst/>
          </a:prstGeom>
          <a:solidFill>
            <a:srgbClr val="BFBFBF"/>
          </a:solidFill>
          <a:ln/>
        </p:spPr>
      </p:sp>
      <p:sp>
        <p:nvSpPr>
          <p:cNvPr id="95" name="Shape 91"/>
          <p:cNvSpPr/>
          <p:nvPr/>
        </p:nvSpPr>
        <p:spPr>
          <a:xfrm>
            <a:off x="9179179" y="4846320"/>
            <a:ext cx="214249" cy="214249"/>
          </a:xfrm>
          <a:prstGeom prst="ellipse">
            <a:avLst/>
          </a:prstGeom>
          <a:solidFill>
            <a:srgbClr val="00B0F0"/>
          </a:solidFill>
          <a:ln/>
        </p:spPr>
      </p:sp>
      <p:sp>
        <p:nvSpPr>
          <p:cNvPr id="96" name="Shape 92"/>
          <p:cNvSpPr/>
          <p:nvPr/>
        </p:nvSpPr>
        <p:spPr>
          <a:xfrm>
            <a:off x="9224391" y="5696839"/>
            <a:ext cx="126111" cy="126111"/>
          </a:xfrm>
          <a:prstGeom prst="ellipse">
            <a:avLst/>
          </a:prstGeom>
          <a:solidFill>
            <a:srgbClr val="A5A5A5"/>
          </a:solidFill>
          <a:ln/>
        </p:spPr>
      </p:sp>
      <p:sp>
        <p:nvSpPr>
          <p:cNvPr id="97" name="Shape 93"/>
          <p:cNvSpPr/>
          <p:nvPr/>
        </p:nvSpPr>
        <p:spPr>
          <a:xfrm>
            <a:off x="13067411" y="4897501"/>
            <a:ext cx="126111" cy="126111"/>
          </a:xfrm>
          <a:prstGeom prst="ellipse">
            <a:avLst/>
          </a:prstGeom>
          <a:solidFill>
            <a:srgbClr val="BFBFBF"/>
          </a:solidFill>
          <a:ln/>
        </p:spPr>
      </p:sp>
      <p:sp>
        <p:nvSpPr>
          <p:cNvPr id="98" name="Text 94"/>
          <p:cNvSpPr/>
          <p:nvPr/>
        </p:nvSpPr>
        <p:spPr>
          <a:xfrm>
            <a:off x="9327769" y="5399786"/>
            <a:ext cx="1780921" cy="861822"/>
          </a:xfrm>
          <a:prstGeom prst="rect">
            <a:avLst/>
          </a:prstGeom>
          <a:noFill/>
          <a:ln/>
        </p:spPr>
        <p:txBody>
          <a:bodyPr wrap="square" lIns="0" tIns="0" rIns="0" bIns="0" rtlCol="0" anchor="t"/>
          <a:lstStyle/>
          <a:p>
            <a:pPr algn="l">
              <a:lnSpc>
                <a:spcPct val="120000"/>
              </a:lnSpc>
            </a:pPr>
            <a:r>
              <a:rPr lang="en-US" sz="2400" b="1" dirty="0">
                <a:solidFill>
                  <a:srgbClr val="595959"/>
                </a:solidFill>
                <a:latin typeface="MiSans" pitchFamily="34" charset="0"/>
                <a:ea typeface="MiSans" pitchFamily="34" charset="-122"/>
                <a:cs typeface="MiSans" pitchFamily="34" charset="-120"/>
              </a:rPr>
              <a:t>Usenix'23</a:t>
            </a:r>
            <a:endParaRPr lang="en-US" sz="2400" dirty="0"/>
          </a:p>
          <a:p>
            <a:pPr algn="l">
              <a:lnSpc>
                <a:spcPct val="120000"/>
              </a:lnSpc>
            </a:pPr>
            <a:r>
              <a:rPr lang="en-US" sz="2400" b="1" dirty="0">
                <a:solidFill>
                  <a:srgbClr val="595959"/>
                </a:solidFill>
                <a:latin typeface="MiSans" pitchFamily="34" charset="0"/>
                <a:ea typeface="MiSans" pitchFamily="34" charset="-122"/>
                <a:cs typeface="MiSans" pitchFamily="34" charset="-120"/>
              </a:rPr>
              <a:t>Glimpse</a:t>
            </a:r>
            <a:endParaRPr lang="en-US" sz="2400" dirty="0"/>
          </a:p>
        </p:txBody>
      </p:sp>
      <p:sp>
        <p:nvSpPr>
          <p:cNvPr id="99" name="Text 95"/>
          <p:cNvSpPr/>
          <p:nvPr/>
        </p:nvSpPr>
        <p:spPr>
          <a:xfrm>
            <a:off x="9276461" y="6201283"/>
            <a:ext cx="1934591" cy="861822"/>
          </a:xfrm>
          <a:prstGeom prst="rect">
            <a:avLst/>
          </a:prstGeom>
          <a:noFill/>
          <a:ln/>
        </p:spPr>
        <p:txBody>
          <a:bodyPr wrap="square" lIns="0" tIns="0" rIns="0" bIns="0" rtlCol="0" anchor="t"/>
          <a:lstStyle/>
          <a:p>
            <a:pPr algn="l" marL="254000" indent="-254000">
              <a:lnSpc>
                <a:spcPct val="120000"/>
              </a:lnSpc>
              <a:spcBef>
                <a:spcPts val="10"/>
              </a:spcBef>
              <a:buSzPct val="100000"/>
              <a:buChar char="•"/>
            </a:pPr>
            <a:r>
              <a:rPr lang="en-US" sz="1600" dirty="0">
                <a:solidFill>
                  <a:srgbClr val="595959"/>
                </a:solidFill>
                <a:latin typeface="Arial" pitchFamily="34" charset="0"/>
                <a:ea typeface="Arial" pitchFamily="34" charset="-122"/>
                <a:cs typeface="Arial" pitchFamily="34" charset="-120"/>
              </a:rPr>
              <a:t>以MAD-HTLC作为安全模块构建跨链桥</a:t>
            </a:r>
            <a:endParaRPr lang="en-US" sz="1600" dirty="0"/>
          </a:p>
        </p:txBody>
      </p:sp>
      <p:sp>
        <p:nvSpPr>
          <p:cNvPr id="100" name="Text 96"/>
          <p:cNvSpPr/>
          <p:nvPr/>
        </p:nvSpPr>
        <p:spPr>
          <a:xfrm>
            <a:off x="15649067" y="8666353"/>
            <a:ext cx="606933" cy="492506"/>
          </a:xfrm>
          <a:prstGeom prst="rect">
            <a:avLst/>
          </a:prstGeom>
          <a:noFill/>
          <a:ln/>
        </p:spPr>
        <p:txBody>
          <a:bodyPr wrap="square" lIns="0" tIns="0" rIns="0" bIns="0" rtlCol="0" anchor="t"/>
          <a:lstStyle/>
          <a:p>
            <a:pPr algn="ctr">
              <a:lnSpc>
                <a:spcPct val="120000"/>
              </a:lnSpc>
            </a:pPr>
            <a:r>
              <a:rPr lang="en-US" sz="2400" dirty="0">
                <a:solidFill>
                  <a:srgbClr val="000000"/>
                </a:solidFill>
                <a:latin typeface="Arial" pitchFamily="34" charset="0"/>
                <a:ea typeface="Arial" pitchFamily="34" charset="-122"/>
                <a:cs typeface="Arial" pitchFamily="34" charset="-120"/>
              </a:rPr>
              <a:t>16</a:t>
            </a:r>
            <a:endParaRPr lang="en-US" sz="2400" dirty="0"/>
          </a:p>
        </p:txBody>
      </p:sp>
    </p:spTree>
  </p:cSld>
  <p:clrMapOvr>
    <a:masterClrMapping/>
  </p:clrMapOvr>
  <p:transition>
    <p:fade/>
    <p:spd val="med"/>
  </p:transition>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7944231" y="3096260"/>
            <a:ext cx="8034909" cy="4947920"/>
          </a:xfrm>
          <a:prstGeom prst="rect">
            <a:avLst/>
          </a:prstGeom>
          <a:solidFill>
            <a:srgbClr val="FFFFFF"/>
          </a:solidFill>
          <a:ln/>
          <a:effectLst>
            <a:outerShdw sx="100000" sy="100000" kx="0" ky="0" algn="bl" rotWithShape="0" blurRad="63500" dist="50800" dir="2700000">
              <a:srgbClr val="000000">
                <a:alpha val="40000"/>
              </a:srgbClr>
            </a:outerShdw>
          </a:effectLst>
        </p:spPr>
      </p:sp>
      <p:sp>
        <p:nvSpPr>
          <p:cNvPr id="4" name="Shape 1"/>
          <p:cNvSpPr/>
          <p:nvPr/>
        </p:nvSpPr>
        <p:spPr>
          <a:xfrm>
            <a:off x="324231" y="2440051"/>
            <a:ext cx="7649591" cy="6292469"/>
          </a:xfrm>
          <a:prstGeom prst="rect">
            <a:avLst/>
          </a:prstGeom>
          <a:solidFill>
            <a:srgbClr val="FFFFFF"/>
          </a:solidFill>
          <a:ln/>
          <a:effectLst>
            <a:outerShdw sx="100000" sy="100000" kx="0" ky="0" algn="bl" rotWithShape="0" blurRad="63500" dist="50800" dir="2700000">
              <a:srgbClr val="000000">
                <a:alpha val="40000"/>
              </a:srgbClr>
            </a:outerShdw>
          </a:effectLst>
        </p:spPr>
      </p:sp>
      <p:sp>
        <p:nvSpPr>
          <p:cNvPr id="5" name="Shape 2"/>
          <p:cNvSpPr/>
          <p:nvPr/>
        </p:nvSpPr>
        <p:spPr>
          <a:xfrm>
            <a:off x="324231" y="3329940"/>
            <a:ext cx="7649591" cy="2195449"/>
          </a:xfrm>
          <a:prstGeom prst="roundRect">
            <a:avLst>
              <a:gd name="adj" fmla="val 16667"/>
            </a:avLst>
          </a:prstGeom>
          <a:solidFill>
            <a:srgbClr val="F2F2F2"/>
          </a:solidFill>
          <a:ln/>
        </p:spPr>
      </p:sp>
      <p:sp>
        <p:nvSpPr>
          <p:cNvPr id="6" name="Text 3"/>
          <p:cNvSpPr/>
          <p:nvPr/>
        </p:nvSpPr>
        <p:spPr>
          <a:xfrm>
            <a:off x="544449" y="1266571"/>
            <a:ext cx="11067034" cy="984885"/>
          </a:xfrm>
          <a:prstGeom prst="rect">
            <a:avLst/>
          </a:prstGeom>
          <a:noFill/>
          <a:ln/>
        </p:spPr>
        <p:txBody>
          <a:bodyPr wrap="square" lIns="0" tIns="0" rIns="0" bIns="0" rtlCol="0" anchor="t"/>
          <a:lstStyle/>
          <a:p>
            <a:pPr algn="l" marL="508000" indent="-508000">
              <a:lnSpc>
                <a:spcPct val="120000"/>
              </a:lnSpc>
              <a:spcBef>
                <a:spcPts val="10"/>
              </a:spcBef>
              <a:buSzPct val="100000"/>
              <a:buFont typeface="+mj-lt"/>
              <a:buAutoNum type="arabicPeriod" startAt="1"/>
            </a:pPr>
            <a:r>
              <a:rPr lang="en-US" sz="3200" b="1" dirty="0">
                <a:solidFill>
                  <a:srgbClr val="262626"/>
                </a:solidFill>
                <a:latin typeface="MiSans" pitchFamily="34" charset="0"/>
                <a:ea typeface="MiSans" pitchFamily="34" charset="-122"/>
                <a:cs typeface="MiSans" pitchFamily="34" charset="-120"/>
              </a:rPr>
              <a:t>恶意场景下分布式数字资产交易安全性</a:t>
            </a:r>
            <a:endParaRPr lang="en-US" sz="3200" dirty="0"/>
          </a:p>
          <a:p>
            <a:pPr algn="l">
              <a:lnSpc>
                <a:spcPct val="120000"/>
              </a:lnSpc>
            </a:pPr>
            <a:r>
              <a:rPr lang="en-US" sz="2400" b="1" dirty="0">
                <a:solidFill>
                  <a:srgbClr val="595959"/>
                </a:solidFill>
                <a:latin typeface="MiSans" pitchFamily="34" charset="0"/>
                <a:ea typeface="MiSans" pitchFamily="34" charset="-122"/>
                <a:cs typeface="MiSans" pitchFamily="34" charset="-120"/>
              </a:rPr>
              <a:t>      </a:t>
            </a:r>
            <a:pPr algn="l">
              <a:lnSpc>
                <a:spcPct val="120000"/>
              </a:lnSpc>
            </a:pPr>
            <a:r>
              <a:rPr lang="en-US" sz="3200" b="1" dirty="0">
                <a:solidFill>
                  <a:srgbClr val="595959"/>
                </a:solidFill>
                <a:latin typeface="MiSans" pitchFamily="34" charset="0"/>
                <a:ea typeface="MiSans" pitchFamily="34" charset="-122"/>
                <a:cs typeface="MiSans" pitchFamily="34" charset="-120"/>
              </a:rPr>
              <a:t>系统优化</a:t>
            </a:r>
            <a:endParaRPr lang="en-US" sz="3200" dirty="0"/>
          </a:p>
        </p:txBody>
      </p:sp>
      <p:sp>
        <p:nvSpPr>
          <p:cNvPr id="7" name="Shape 4"/>
          <p:cNvSpPr/>
          <p:nvPr/>
        </p:nvSpPr>
        <p:spPr>
          <a:xfrm>
            <a:off x="5162169" y="-889"/>
            <a:ext cx="2590800" cy="962660"/>
          </a:xfrm>
          <a:prstGeom prst="rect">
            <a:avLst/>
          </a:prstGeom>
          <a:solidFill>
            <a:srgbClr val="F2F2F2"/>
          </a:solidFill>
          <a:ln w="12700">
            <a:solidFill>
              <a:srgbClr val="F2F2F2"/>
            </a:solidFill>
            <a:prstDash val="solid"/>
          </a:ln>
        </p:spPr>
      </p:sp>
      <p:sp>
        <p:nvSpPr>
          <p:cNvPr id="8" name="Shape 5"/>
          <p:cNvSpPr/>
          <p:nvPr/>
        </p:nvSpPr>
        <p:spPr>
          <a:xfrm>
            <a:off x="5162169" y="-889"/>
            <a:ext cx="2590800" cy="962660"/>
          </a:xfrm>
          <a:prstGeom prst="rect">
            <a:avLst/>
          </a:prstGeom>
          <a:solidFill>
            <a:srgbClr val="04579A"/>
          </a:solidFill>
          <a:ln w="12700">
            <a:solidFill>
              <a:srgbClr val="04579A"/>
            </a:solidFill>
            <a:prstDash val="solid"/>
          </a:ln>
        </p:spPr>
      </p:sp>
      <p:sp>
        <p:nvSpPr>
          <p:cNvPr id="9" name="Shape 6"/>
          <p:cNvSpPr/>
          <p:nvPr/>
        </p:nvSpPr>
        <p:spPr>
          <a:xfrm>
            <a:off x="7816469" y="-889"/>
            <a:ext cx="4114800" cy="962660"/>
          </a:xfrm>
          <a:prstGeom prst="rect">
            <a:avLst/>
          </a:prstGeom>
          <a:solidFill>
            <a:srgbClr val="F2F2F2"/>
          </a:solidFill>
          <a:ln/>
        </p:spPr>
      </p:sp>
      <p:sp>
        <p:nvSpPr>
          <p:cNvPr id="10" name="Shape 7"/>
          <p:cNvSpPr/>
          <p:nvPr/>
        </p:nvSpPr>
        <p:spPr>
          <a:xfrm>
            <a:off x="11971020" y="0"/>
            <a:ext cx="4284980" cy="961771"/>
          </a:xfrm>
          <a:prstGeom prst="rect">
            <a:avLst/>
          </a:prstGeom>
          <a:solidFill>
            <a:srgbClr val="F2F2F2"/>
          </a:solidFill>
          <a:ln/>
        </p:spPr>
      </p:sp>
      <p:sp>
        <p:nvSpPr>
          <p:cNvPr id="11" name="Shape 8"/>
          <p:cNvSpPr/>
          <p:nvPr/>
        </p:nvSpPr>
        <p:spPr>
          <a:xfrm>
            <a:off x="2219960" y="-889"/>
            <a:ext cx="2895600" cy="962660"/>
          </a:xfrm>
          <a:prstGeom prst="rect">
            <a:avLst/>
          </a:prstGeom>
          <a:solidFill>
            <a:srgbClr val="F2F2F2"/>
          </a:solidFill>
          <a:ln w="12700">
            <a:solidFill>
              <a:srgbClr val="F2F2F2"/>
            </a:solidFill>
            <a:prstDash val="solid"/>
          </a:ln>
        </p:spPr>
      </p:sp>
      <p:sp>
        <p:nvSpPr>
          <p:cNvPr id="12" name="Text 9"/>
          <p:cNvSpPr/>
          <p:nvPr/>
        </p:nvSpPr>
        <p:spPr>
          <a:xfrm>
            <a:off x="2283460" y="203200"/>
            <a:ext cx="27686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选题背景及意义</a:t>
            </a:r>
            <a:endParaRPr lang="en-US" sz="2000" dirty="0"/>
          </a:p>
        </p:txBody>
      </p:sp>
      <p:sp>
        <p:nvSpPr>
          <p:cNvPr id="13" name="Text 10"/>
          <p:cNvSpPr/>
          <p:nvPr/>
        </p:nvSpPr>
        <p:spPr>
          <a:xfrm>
            <a:off x="5225669" y="203200"/>
            <a:ext cx="2463800" cy="508000"/>
          </a:xfrm>
          <a:prstGeom prst="rect">
            <a:avLst/>
          </a:prstGeom>
          <a:noFill/>
          <a:ln/>
        </p:spPr>
        <p:txBody>
          <a:bodyPr wrap="none" lIns="0" tIns="0" rIns="0" bIns="0" rtlCol="0" anchor="ctr"/>
          <a:lstStyle/>
          <a:p>
            <a:pPr algn="ctr">
              <a:lnSpc>
                <a:spcPct val="120000"/>
              </a:lnSpc>
            </a:pPr>
            <a:r>
              <a:rPr lang="en-US" sz="2000" dirty="0">
                <a:solidFill>
                  <a:srgbClr val="FFFFFF"/>
                </a:solidFill>
                <a:latin typeface="Arial" pitchFamily="34" charset="0"/>
                <a:ea typeface="Arial" pitchFamily="34" charset="-122"/>
                <a:cs typeface="Arial" pitchFamily="34" charset="-120"/>
              </a:rPr>
              <a:t>国内外研究现状</a:t>
            </a:r>
            <a:endParaRPr lang="en-US" sz="2000" dirty="0"/>
          </a:p>
        </p:txBody>
      </p:sp>
      <p:sp>
        <p:nvSpPr>
          <p:cNvPr id="14" name="Text 11"/>
          <p:cNvSpPr/>
          <p:nvPr/>
        </p:nvSpPr>
        <p:spPr>
          <a:xfrm>
            <a:off x="7879969" y="203200"/>
            <a:ext cx="39878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主要研究内容及预期目标</a:t>
            </a:r>
            <a:endParaRPr lang="en-US" sz="2000" dirty="0"/>
          </a:p>
        </p:txBody>
      </p:sp>
      <p:sp>
        <p:nvSpPr>
          <p:cNvPr id="15" name="Text 12"/>
          <p:cNvSpPr/>
          <p:nvPr/>
        </p:nvSpPr>
        <p:spPr>
          <a:xfrm>
            <a:off x="12034520" y="203200"/>
            <a:ext cx="415798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工作计划与进度安排</a:t>
            </a:r>
            <a:endParaRPr lang="en-US" sz="2000" dirty="0"/>
          </a:p>
        </p:txBody>
      </p:sp>
      <p:pic>
        <p:nvPicPr>
          <p:cNvPr id="16" name="Image 0" descr="https://kimi-img.moonshot.cn/pub/slides/okc/flfuysioo4gzm/mnt/agents/output/yuan_pptd/images/image_2.jpg">    </p:cNvPr>
          <p:cNvPicPr>
            <a:picLocks noChangeAspect="1"/>
          </p:cNvPicPr>
          <p:nvPr/>
        </p:nvPicPr>
        <p:blipFill>
          <a:blip r:embed="rId1"/>
          <a:srcRect l="5060" r="29000" t="0" b="0"/>
          <a:stretch/>
        </p:blipFill>
        <p:spPr>
          <a:xfrm>
            <a:off x="544449" y="140589"/>
            <a:ext cx="1273429" cy="745871"/>
          </a:xfrm>
          <a:prstGeom prst="rect">
            <a:avLst/>
          </a:prstGeom>
        </p:spPr>
      </p:pic>
      <p:sp>
        <p:nvSpPr>
          <p:cNvPr id="17" name="Shape 13"/>
          <p:cNvSpPr/>
          <p:nvPr/>
        </p:nvSpPr>
        <p:spPr>
          <a:xfrm rot="10800000">
            <a:off x="6121400" y="961771"/>
            <a:ext cx="389509" cy="304800"/>
          </a:xfrm>
          <a:prstGeom prst="triangle">
            <a:avLst>
              <a:gd name="adj" fmla="val 50000"/>
            </a:avLst>
          </a:prstGeom>
          <a:solidFill>
            <a:srgbClr val="04579A"/>
          </a:solidFill>
          <a:ln/>
        </p:spPr>
      </p:sp>
      <p:sp>
        <p:nvSpPr>
          <p:cNvPr id="18" name="Text 14"/>
          <p:cNvSpPr/>
          <p:nvPr/>
        </p:nvSpPr>
        <p:spPr>
          <a:xfrm>
            <a:off x="544449" y="2698369"/>
            <a:ext cx="7271131" cy="5824220"/>
          </a:xfrm>
          <a:prstGeom prst="rect">
            <a:avLst/>
          </a:prstGeom>
          <a:noFill/>
          <a:ln/>
        </p:spPr>
        <p:txBody>
          <a:bodyPr wrap="square" lIns="0" tIns="0" rIns="0" bIns="0" rtlCol="0" anchor="t"/>
          <a:lstStyle/>
          <a:p>
            <a:pPr algn="l" marL="423863" indent="-423863">
              <a:lnSpc>
                <a:spcPct val="120000"/>
              </a:lnSpc>
              <a:spcBef>
                <a:spcPts val="10"/>
              </a:spcBef>
              <a:buSzPct val="100000"/>
              <a:buChar char="•"/>
            </a:pPr>
            <a:r>
              <a:rPr lang="en-US" sz="2670" b="1" dirty="0">
                <a:solidFill>
                  <a:srgbClr val="04579A"/>
                </a:solidFill>
                <a:latin typeface="Arial" pitchFamily="34" charset="0"/>
                <a:ea typeface="Arial" pitchFamily="34" charset="-122"/>
                <a:cs typeface="Arial" pitchFamily="34" charset="-120"/>
              </a:rPr>
              <a:t>激励机制优化矿工事务处理逻辑</a:t>
            </a:r>
            <a:endParaRPr lang="en-US" sz="2670" dirty="0"/>
          </a:p>
          <a:p>
            <a:pPr algn="l">
              <a:lnSpc>
                <a:spcPct val="120000"/>
              </a:lnSpc>
            </a:pPr>
            <a:r>
              <a:rPr lang="en-US" sz="2670" dirty="0">
                <a:solidFill>
                  <a:srgbClr val="04579A"/>
                </a:solidFill>
                <a:latin typeface="Arial" pitchFamily="34" charset="0"/>
                <a:ea typeface="Arial" pitchFamily="34" charset="-122"/>
                <a:cs typeface="Arial" pitchFamily="34" charset="-120"/>
              </a:rPr>
              <a:t> </a:t>
            </a:r>
            <a:endParaRPr lang="en-US" sz="2670" dirty="0"/>
          </a:p>
          <a:p>
            <a:pPr algn="l">
              <a:lnSpc>
                <a:spcPct val="120000"/>
              </a:lnSpc>
            </a:pPr>
            <a:r>
              <a:rPr lang="en-US" sz="2670" b="1" dirty="0">
                <a:solidFill>
                  <a:srgbClr val="04579A"/>
                </a:solidFill>
                <a:latin typeface="Arial" pitchFamily="34" charset="0"/>
                <a:ea typeface="Arial" pitchFamily="34" charset="-122"/>
                <a:cs typeface="Arial" pitchFamily="34" charset="-120"/>
              </a:rPr>
              <a:t>理性矿工模型</a:t>
            </a:r>
            <a:endParaRPr lang="en-US" sz="2670" dirty="0"/>
          </a:p>
          <a:p>
            <a:pPr algn="l" marL="423863" indent="-423863">
              <a:lnSpc>
                <a:spcPct val="120000"/>
              </a:lnSpc>
              <a:spcBef>
                <a:spcPts val="10"/>
              </a:spcBef>
              <a:buSzPct val="100000"/>
              <a:buChar char="•"/>
            </a:pPr>
            <a:r>
              <a:rPr lang="en-US" sz="2670" b="1" dirty="0">
                <a:solidFill>
                  <a:srgbClr val="04579A"/>
                </a:solidFill>
                <a:latin typeface="Arial" pitchFamily="34" charset="0"/>
                <a:ea typeface="Arial" pitchFamily="34" charset="-122"/>
                <a:cs typeface="Arial" pitchFamily="34" charset="-120"/>
              </a:rPr>
              <a:t>被动理性矿工：</a:t>
            </a:r>
            <a:pPr algn="l">
              <a:lnSpc>
                <a:spcPct val="120000"/>
              </a:lnSpc>
              <a:spcBef>
                <a:spcPts val="10"/>
              </a:spcBef>
            </a:pPr>
            <a:r>
              <a:rPr lang="en-US" sz="2670" dirty="0">
                <a:solidFill>
                  <a:srgbClr val="04579A"/>
                </a:solidFill>
                <a:latin typeface="Arial" pitchFamily="34" charset="0"/>
                <a:ea typeface="Arial" pitchFamily="34" charset="-122"/>
                <a:cs typeface="Arial" pitchFamily="34" charset="-120"/>
              </a:rPr>
              <a:t>只筛选当前发布上链交易</a:t>
            </a:r>
            <a:endParaRPr lang="en-US" sz="2670" dirty="0"/>
          </a:p>
          <a:p>
            <a:pPr algn="l" marL="423863" indent="-423863">
              <a:lnSpc>
                <a:spcPct val="120000"/>
              </a:lnSpc>
              <a:spcBef>
                <a:spcPts val="10"/>
              </a:spcBef>
              <a:buSzPct val="100000"/>
              <a:buChar char="•"/>
            </a:pPr>
            <a:r>
              <a:rPr lang="en-US" sz="2670" dirty="0">
                <a:solidFill>
                  <a:srgbClr val="04579A"/>
                </a:solidFill>
                <a:latin typeface="Arial" pitchFamily="34" charset="0"/>
                <a:ea typeface="Arial" pitchFamily="34" charset="-122"/>
                <a:cs typeface="Arial" pitchFamily="34" charset="-120"/>
              </a:rPr>
              <a:t>主动理性矿工：主动参与到协议流程中谋取利益更高的交易</a:t>
            </a:r>
            <a:endParaRPr lang="en-US" sz="2670" dirty="0"/>
          </a:p>
          <a:p>
            <a:pPr algn="l">
              <a:lnSpc>
                <a:spcPct val="120000"/>
              </a:lnSpc>
            </a:pPr>
            <a:r>
              <a:rPr lang="en-US" sz="2670" dirty="0">
                <a:solidFill>
                  <a:srgbClr val="04579A"/>
                </a:solidFill>
                <a:latin typeface="Arial" pitchFamily="34" charset="0"/>
                <a:ea typeface="Arial" pitchFamily="34" charset="-122"/>
                <a:cs typeface="Arial" pitchFamily="34" charset="-120"/>
              </a:rPr>
              <a:t> </a:t>
            </a:r>
            <a:endParaRPr lang="en-US" sz="2670" dirty="0"/>
          </a:p>
          <a:p>
            <a:pPr algn="l">
              <a:lnSpc>
                <a:spcPct val="120000"/>
              </a:lnSpc>
            </a:pPr>
            <a:r>
              <a:rPr lang="en-US" sz="2670" b="1" dirty="0">
                <a:solidFill>
                  <a:srgbClr val="04579A"/>
                </a:solidFill>
                <a:latin typeface="MiSans" pitchFamily="34" charset="0"/>
                <a:ea typeface="MiSans" pitchFamily="34" charset="-122"/>
                <a:cs typeface="MiSans" pitchFamily="34" charset="-120"/>
              </a:rPr>
              <a:t>MAD-HTLC SP</a:t>
            </a:r>
            <a:pPr algn="l">
              <a:lnSpc>
                <a:spcPct val="120000"/>
              </a:lnSpc>
            </a:pPr>
            <a:r>
              <a:rPr lang="en-US" sz="2670" b="1" dirty="0">
                <a:solidFill>
                  <a:srgbClr val="595959"/>
                </a:solidFill>
                <a:latin typeface="MiSans" pitchFamily="34" charset="0"/>
                <a:ea typeface="MiSans" pitchFamily="34" charset="-122"/>
                <a:cs typeface="MiSans" pitchFamily="34" charset="-120"/>
              </a:rPr>
              <a:t>'</a:t>
            </a:r>
            <a:pPr algn="l">
              <a:lnSpc>
                <a:spcPct val="120000"/>
              </a:lnSpc>
            </a:pPr>
            <a:r>
              <a:rPr lang="en-US" sz="2670" b="1" dirty="0">
                <a:solidFill>
                  <a:srgbClr val="04579A"/>
                </a:solidFill>
                <a:latin typeface="MiSans" pitchFamily="34" charset="0"/>
                <a:ea typeface="MiSans" pitchFamily="34" charset="-122"/>
                <a:cs typeface="MiSans" pitchFamily="34" charset="-120"/>
              </a:rPr>
              <a:t>21</a:t>
            </a:r>
            <a:endParaRPr lang="en-US" sz="2670" dirty="0"/>
          </a:p>
          <a:p>
            <a:pPr algn="l">
              <a:lnSpc>
                <a:spcPct val="120000"/>
              </a:lnSpc>
            </a:pPr>
            <a:r>
              <a:rPr lang="en-US" sz="2670" dirty="0">
                <a:solidFill>
                  <a:srgbClr val="04579A"/>
                </a:solidFill>
                <a:latin typeface="MiSans" pitchFamily="34" charset="0"/>
                <a:ea typeface="MiSans" pitchFamily="34" charset="-122"/>
                <a:cs typeface="MiSans" pitchFamily="34" charset="-120"/>
              </a:rPr>
              <a:t>将被动理性矿工选择交易的行为作为惩罚机制</a:t>
            </a:r>
            <a:pPr algn="l">
              <a:lnSpc>
                <a:spcPct val="120000"/>
              </a:lnSpc>
            </a:pPr>
            <a:r>
              <a:rPr lang="en-US" sz="2670" dirty="0">
                <a:solidFill>
                  <a:srgbClr val="04579A"/>
                </a:solidFill>
                <a:latin typeface="MiSans" pitchFamily="34" charset="0"/>
                <a:ea typeface="MiSans" pitchFamily="34" charset="-122"/>
                <a:cs typeface="MiSans" pitchFamily="34" charset="-120"/>
              </a:rPr>
              <a:t>，</a:t>
            </a:r>
            <a:pPr algn="l">
              <a:lnSpc>
                <a:spcPct val="120000"/>
              </a:lnSpc>
            </a:pPr>
            <a:r>
              <a:rPr lang="en-US" sz="2670" dirty="0">
                <a:solidFill>
                  <a:srgbClr val="04579A"/>
                </a:solidFill>
                <a:latin typeface="MiSans" pitchFamily="34" charset="0"/>
                <a:ea typeface="MiSans" pitchFamily="34" charset="-122"/>
                <a:cs typeface="MiSans" pitchFamily="34" charset="-120"/>
              </a:rPr>
              <a:t>使恶意节点出现违反协议行为时，其财产被矿工没收</a:t>
            </a:r>
            <a:endParaRPr lang="en-US" sz="2670" dirty="0"/>
          </a:p>
          <a:p>
            <a:pPr algn="l">
              <a:lnSpc>
                <a:spcPct val="120000"/>
              </a:lnSpc>
              <a:spcBef>
                <a:spcPts val="800"/>
              </a:spcBef>
            </a:pPr>
            <a:r>
              <a:rPr lang="en-US" sz="2670" b="1" dirty="0">
                <a:solidFill>
                  <a:srgbClr val="04579A"/>
                </a:solidFill>
                <a:latin typeface="MiSans" pitchFamily="34" charset="0"/>
                <a:ea typeface="MiSans" pitchFamily="34" charset="-122"/>
                <a:cs typeface="MiSans" pitchFamily="34" charset="-120"/>
              </a:rPr>
              <a:t>CRAB CCS</a:t>
            </a:r>
            <a:pPr algn="l">
              <a:lnSpc>
                <a:spcPct val="120000"/>
              </a:lnSpc>
              <a:spcBef>
                <a:spcPts val="800"/>
              </a:spcBef>
            </a:pPr>
            <a:r>
              <a:rPr lang="en-US" sz="2670" b="1" dirty="0">
                <a:solidFill>
                  <a:srgbClr val="595959"/>
                </a:solidFill>
                <a:latin typeface="MiSans" pitchFamily="34" charset="0"/>
                <a:ea typeface="MiSans" pitchFamily="34" charset="-122"/>
                <a:cs typeface="MiSans" pitchFamily="34" charset="-120"/>
              </a:rPr>
              <a:t>'</a:t>
            </a:r>
            <a:pPr algn="l">
              <a:lnSpc>
                <a:spcPct val="120000"/>
              </a:lnSpc>
              <a:spcBef>
                <a:spcPts val="800"/>
              </a:spcBef>
            </a:pPr>
            <a:r>
              <a:rPr lang="en-US" sz="2670" b="1" dirty="0">
                <a:solidFill>
                  <a:srgbClr val="04579A"/>
                </a:solidFill>
                <a:latin typeface="MiSans" pitchFamily="34" charset="0"/>
                <a:ea typeface="MiSans" pitchFamily="34" charset="-122"/>
                <a:cs typeface="MiSans" pitchFamily="34" charset="-120"/>
              </a:rPr>
              <a:t>24</a:t>
            </a:r>
            <a:endParaRPr lang="en-US" sz="2670" dirty="0"/>
          </a:p>
          <a:p>
            <a:pPr algn="l">
              <a:lnSpc>
                <a:spcPct val="120000"/>
              </a:lnSpc>
            </a:pPr>
            <a:r>
              <a:rPr lang="en-US" sz="2670" dirty="0">
                <a:solidFill>
                  <a:srgbClr val="04579A"/>
                </a:solidFill>
                <a:latin typeface="MiSans" pitchFamily="34" charset="0"/>
                <a:ea typeface="MiSans" pitchFamily="34" charset="-122"/>
                <a:cs typeface="MiSans" pitchFamily="34" charset="-120"/>
              </a:rPr>
              <a:t>利用主动理性矿工积极参与到协议的行为设计即时惩罚机制，拜占庭节点作恶时诚实节点获得补偿</a:t>
            </a:r>
            <a:endParaRPr lang="en-US" sz="2670" dirty="0"/>
          </a:p>
          <a:p>
            <a:pPr algn="l">
              <a:lnSpc>
                <a:spcPct val="120000"/>
              </a:lnSpc>
              <a:spcBef>
                <a:spcPts val="800"/>
              </a:spcBef>
            </a:pPr>
            <a:r>
              <a:rPr lang="en-US" sz="2670" dirty="0">
                <a:solidFill>
                  <a:srgbClr val="04579A"/>
                </a:solidFill>
                <a:latin typeface="Arial" pitchFamily="34" charset="0"/>
                <a:ea typeface="Arial" pitchFamily="34" charset="-122"/>
                <a:cs typeface="Arial" pitchFamily="34" charset="-120"/>
              </a:rPr>
              <a:t> </a:t>
            </a:r>
            <a:endParaRPr lang="en-US" sz="2670" dirty="0"/>
          </a:p>
        </p:txBody>
      </p:sp>
      <p:pic>
        <p:nvPicPr>
          <p:cNvPr id="19" name="Image 1" descr="https://kimi-img.moonshot.cn/pub/slides/okc/flfuysioo4gzm/mnt/agents/output/yuan_pptd/images/image_32.png">    </p:cNvPr>
          <p:cNvPicPr>
            <a:picLocks noChangeAspect="1"/>
          </p:cNvPicPr>
          <p:nvPr/>
        </p:nvPicPr>
        <p:blipFill>
          <a:blip r:embed="rId2"/>
          <a:stretch>
            <a:fillRect/>
          </a:stretch>
        </p:blipFill>
        <p:spPr>
          <a:xfrm>
            <a:off x="8204327" y="4060317"/>
            <a:ext cx="7514717" cy="3682365"/>
          </a:xfrm>
          <a:prstGeom prst="rect">
            <a:avLst/>
          </a:prstGeom>
        </p:spPr>
      </p:pic>
      <p:sp>
        <p:nvSpPr>
          <p:cNvPr id="20" name="Shape 15"/>
          <p:cNvSpPr/>
          <p:nvPr/>
        </p:nvSpPr>
        <p:spPr>
          <a:xfrm>
            <a:off x="13338302" y="3958209"/>
            <a:ext cx="2465832" cy="2428240"/>
          </a:xfrm>
          <a:prstGeom prst="ellipse">
            <a:avLst/>
          </a:prstGeom>
          <a:noFill/>
          <a:ln/>
        </p:spPr>
      </p:sp>
      <p:sp>
        <p:nvSpPr>
          <p:cNvPr id="21" name="Text 16"/>
          <p:cNvSpPr/>
          <p:nvPr/>
        </p:nvSpPr>
        <p:spPr>
          <a:xfrm>
            <a:off x="10831576" y="3465703"/>
            <a:ext cx="2753106" cy="492506"/>
          </a:xfrm>
          <a:prstGeom prst="rect">
            <a:avLst/>
          </a:prstGeom>
          <a:noFill/>
          <a:ln/>
        </p:spPr>
        <p:txBody>
          <a:bodyPr wrap="square" lIns="0" tIns="0" rIns="0" bIns="0" rtlCol="0" anchor="t"/>
          <a:lstStyle/>
          <a:p>
            <a:pPr algn="r">
              <a:lnSpc>
                <a:spcPct val="120000"/>
              </a:lnSpc>
            </a:pPr>
            <a:r>
              <a:rPr lang="en-US" sz="2400" dirty="0">
                <a:solidFill>
                  <a:srgbClr val="000000"/>
                </a:solidFill>
                <a:latin typeface="Arial" pitchFamily="34" charset="0"/>
                <a:ea typeface="Arial" pitchFamily="34" charset="-122"/>
                <a:cs typeface="Arial" pitchFamily="34" charset="-120"/>
              </a:rPr>
              <a:t>矿工事务处理逻辑</a:t>
            </a:r>
            <a:endParaRPr lang="en-US" sz="2400" dirty="0"/>
          </a:p>
        </p:txBody>
      </p:sp>
      <p:sp>
        <p:nvSpPr>
          <p:cNvPr id="22" name="Shape 17"/>
          <p:cNvSpPr/>
          <p:nvPr/>
        </p:nvSpPr>
        <p:spPr>
          <a:xfrm>
            <a:off x="13617067" y="3710432"/>
            <a:ext cx="686181" cy="212217"/>
          </a:xfrm>
          <a:prstGeom prst="straightConnector1">
            <a:avLst/>
          </a:prstGeom>
          <a:noFill/>
          <a:ln w="19050">
            <a:solidFill>
              <a:srgbClr val="005C8F"/>
            </a:solidFill>
            <a:prstDash val="solid"/>
            <a:headEnd type="none"/>
            <a:tailEnd type="arrow"/>
          </a:ln>
        </p:spPr>
      </p:sp>
      <p:sp>
        <p:nvSpPr>
          <p:cNvPr id="23" name="Text 18"/>
          <p:cNvSpPr/>
          <p:nvPr/>
        </p:nvSpPr>
        <p:spPr>
          <a:xfrm>
            <a:off x="15649067" y="8666353"/>
            <a:ext cx="606933" cy="492506"/>
          </a:xfrm>
          <a:prstGeom prst="rect">
            <a:avLst/>
          </a:prstGeom>
          <a:noFill/>
          <a:ln/>
        </p:spPr>
        <p:txBody>
          <a:bodyPr wrap="square" lIns="0" tIns="0" rIns="0" bIns="0" rtlCol="0" anchor="t"/>
          <a:lstStyle/>
          <a:p>
            <a:pPr algn="ctr">
              <a:lnSpc>
                <a:spcPct val="120000"/>
              </a:lnSpc>
            </a:pPr>
            <a:r>
              <a:rPr lang="en-US" sz="2400" dirty="0">
                <a:solidFill>
                  <a:srgbClr val="000000"/>
                </a:solidFill>
                <a:latin typeface="Arial" pitchFamily="34" charset="0"/>
                <a:ea typeface="Arial" pitchFamily="34" charset="-122"/>
                <a:cs typeface="Arial" pitchFamily="34" charset="-120"/>
              </a:rPr>
              <a:t>17</a:t>
            </a:r>
            <a:endParaRPr lang="en-US" sz="2400" dirty="0"/>
          </a:p>
        </p:txBody>
      </p:sp>
    </p:spTree>
  </p:cSld>
  <p:clrMapOvr>
    <a:masterClrMapping/>
  </p:clrMapOvr>
  <p:transition>
    <p:fade/>
    <p:spd val="med"/>
  </p:transition>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5162169" y="-889"/>
            <a:ext cx="2590800" cy="962660"/>
          </a:xfrm>
          <a:prstGeom prst="rect">
            <a:avLst/>
          </a:prstGeom>
          <a:solidFill>
            <a:srgbClr val="F2F2F2"/>
          </a:solidFill>
          <a:ln w="12700">
            <a:solidFill>
              <a:srgbClr val="F2F2F2"/>
            </a:solidFill>
            <a:prstDash val="solid"/>
          </a:ln>
        </p:spPr>
      </p:sp>
      <p:sp>
        <p:nvSpPr>
          <p:cNvPr id="4" name="Shape 1"/>
          <p:cNvSpPr/>
          <p:nvPr/>
        </p:nvSpPr>
        <p:spPr>
          <a:xfrm>
            <a:off x="5162169" y="-889"/>
            <a:ext cx="2590800" cy="962660"/>
          </a:xfrm>
          <a:prstGeom prst="rect">
            <a:avLst/>
          </a:prstGeom>
          <a:solidFill>
            <a:srgbClr val="04579A"/>
          </a:solidFill>
          <a:ln w="12700">
            <a:solidFill>
              <a:srgbClr val="04579A"/>
            </a:solidFill>
            <a:prstDash val="solid"/>
          </a:ln>
        </p:spPr>
      </p:sp>
      <p:sp>
        <p:nvSpPr>
          <p:cNvPr id="5" name="Shape 2"/>
          <p:cNvSpPr/>
          <p:nvPr/>
        </p:nvSpPr>
        <p:spPr>
          <a:xfrm>
            <a:off x="7816469" y="-889"/>
            <a:ext cx="4114800" cy="962660"/>
          </a:xfrm>
          <a:prstGeom prst="rect">
            <a:avLst/>
          </a:prstGeom>
          <a:solidFill>
            <a:srgbClr val="F2F2F2"/>
          </a:solidFill>
          <a:ln/>
        </p:spPr>
      </p:sp>
      <p:sp>
        <p:nvSpPr>
          <p:cNvPr id="6" name="Shape 3"/>
          <p:cNvSpPr/>
          <p:nvPr/>
        </p:nvSpPr>
        <p:spPr>
          <a:xfrm>
            <a:off x="11971020" y="0"/>
            <a:ext cx="4284980" cy="961771"/>
          </a:xfrm>
          <a:prstGeom prst="rect">
            <a:avLst/>
          </a:prstGeom>
          <a:solidFill>
            <a:srgbClr val="F2F2F2"/>
          </a:solidFill>
          <a:ln/>
        </p:spPr>
      </p:sp>
      <p:sp>
        <p:nvSpPr>
          <p:cNvPr id="7" name="Shape 4"/>
          <p:cNvSpPr/>
          <p:nvPr/>
        </p:nvSpPr>
        <p:spPr>
          <a:xfrm>
            <a:off x="2219960" y="-889"/>
            <a:ext cx="2895600" cy="962660"/>
          </a:xfrm>
          <a:prstGeom prst="rect">
            <a:avLst/>
          </a:prstGeom>
          <a:solidFill>
            <a:srgbClr val="F2F2F2"/>
          </a:solidFill>
          <a:ln w="12700">
            <a:solidFill>
              <a:srgbClr val="F2F2F2"/>
            </a:solidFill>
            <a:prstDash val="solid"/>
          </a:ln>
        </p:spPr>
      </p:sp>
      <p:sp>
        <p:nvSpPr>
          <p:cNvPr id="8" name="Text 5"/>
          <p:cNvSpPr/>
          <p:nvPr/>
        </p:nvSpPr>
        <p:spPr>
          <a:xfrm>
            <a:off x="2283460" y="203200"/>
            <a:ext cx="27686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选题背景及意义</a:t>
            </a:r>
            <a:endParaRPr lang="en-US" sz="2000" dirty="0"/>
          </a:p>
        </p:txBody>
      </p:sp>
      <p:sp>
        <p:nvSpPr>
          <p:cNvPr id="9" name="Text 6"/>
          <p:cNvSpPr/>
          <p:nvPr/>
        </p:nvSpPr>
        <p:spPr>
          <a:xfrm>
            <a:off x="5225669" y="203200"/>
            <a:ext cx="2463800" cy="508000"/>
          </a:xfrm>
          <a:prstGeom prst="rect">
            <a:avLst/>
          </a:prstGeom>
          <a:noFill/>
          <a:ln/>
        </p:spPr>
        <p:txBody>
          <a:bodyPr wrap="none" lIns="0" tIns="0" rIns="0" bIns="0" rtlCol="0" anchor="ctr"/>
          <a:lstStyle/>
          <a:p>
            <a:pPr algn="ctr">
              <a:lnSpc>
                <a:spcPct val="120000"/>
              </a:lnSpc>
            </a:pPr>
            <a:r>
              <a:rPr lang="en-US" sz="2000" dirty="0">
                <a:solidFill>
                  <a:srgbClr val="FFFFFF"/>
                </a:solidFill>
                <a:latin typeface="Arial" pitchFamily="34" charset="0"/>
                <a:ea typeface="Arial" pitchFamily="34" charset="-122"/>
                <a:cs typeface="Arial" pitchFamily="34" charset="-120"/>
              </a:rPr>
              <a:t>国内外研究现状</a:t>
            </a:r>
            <a:endParaRPr lang="en-US" sz="2000" dirty="0"/>
          </a:p>
        </p:txBody>
      </p:sp>
      <p:sp>
        <p:nvSpPr>
          <p:cNvPr id="10" name="Text 7"/>
          <p:cNvSpPr/>
          <p:nvPr/>
        </p:nvSpPr>
        <p:spPr>
          <a:xfrm>
            <a:off x="7879969" y="203200"/>
            <a:ext cx="39878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主要研究内容及预期目标</a:t>
            </a:r>
            <a:endParaRPr lang="en-US" sz="2000" dirty="0"/>
          </a:p>
        </p:txBody>
      </p:sp>
      <p:sp>
        <p:nvSpPr>
          <p:cNvPr id="11" name="Text 8"/>
          <p:cNvSpPr/>
          <p:nvPr/>
        </p:nvSpPr>
        <p:spPr>
          <a:xfrm>
            <a:off x="12034520" y="203200"/>
            <a:ext cx="415798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工作计划与进度安排</a:t>
            </a:r>
            <a:endParaRPr lang="en-US" sz="2000" dirty="0"/>
          </a:p>
        </p:txBody>
      </p:sp>
      <p:pic>
        <p:nvPicPr>
          <p:cNvPr id="12" name="Image 0" descr="https://kimi-img.moonshot.cn/pub/slides/okc/flfuysioo4gzm/mnt/agents/output/yuan_pptd/images/image_2.jpg">    </p:cNvPr>
          <p:cNvPicPr>
            <a:picLocks noChangeAspect="1"/>
          </p:cNvPicPr>
          <p:nvPr/>
        </p:nvPicPr>
        <p:blipFill>
          <a:blip r:embed="rId1"/>
          <a:srcRect l="5060" r="29000" t="0" b="0"/>
          <a:stretch/>
        </p:blipFill>
        <p:spPr>
          <a:xfrm>
            <a:off x="544449" y="140589"/>
            <a:ext cx="1273429" cy="745871"/>
          </a:xfrm>
          <a:prstGeom prst="rect">
            <a:avLst/>
          </a:prstGeom>
        </p:spPr>
      </p:pic>
      <p:sp>
        <p:nvSpPr>
          <p:cNvPr id="13" name="Shape 9"/>
          <p:cNvSpPr/>
          <p:nvPr/>
        </p:nvSpPr>
        <p:spPr>
          <a:xfrm rot="10800000">
            <a:off x="6121400" y="961771"/>
            <a:ext cx="389509" cy="304800"/>
          </a:xfrm>
          <a:prstGeom prst="triangle">
            <a:avLst>
              <a:gd name="adj" fmla="val 50000"/>
            </a:avLst>
          </a:prstGeom>
          <a:solidFill>
            <a:srgbClr val="04579A"/>
          </a:solidFill>
          <a:ln/>
        </p:spPr>
      </p:sp>
      <p:sp>
        <p:nvSpPr>
          <p:cNvPr id="14" name="Text 10"/>
          <p:cNvSpPr/>
          <p:nvPr/>
        </p:nvSpPr>
        <p:spPr>
          <a:xfrm>
            <a:off x="544449" y="1266571"/>
            <a:ext cx="8431911" cy="613791"/>
          </a:xfrm>
          <a:prstGeom prst="rect">
            <a:avLst/>
          </a:prstGeom>
          <a:noFill/>
          <a:ln/>
        </p:spPr>
        <p:txBody>
          <a:bodyPr wrap="square" lIns="0" tIns="0" rIns="0" bIns="0" rtlCol="0" anchor="t"/>
          <a:lstStyle/>
          <a:p>
            <a:pPr algn="l" marL="508000" indent="-508000">
              <a:lnSpc>
                <a:spcPct val="120000"/>
              </a:lnSpc>
              <a:spcBef>
                <a:spcPts val="10"/>
              </a:spcBef>
              <a:buSzPct val="100000"/>
              <a:buFont typeface="+mj-lt"/>
              <a:buAutoNum type="arabicPeriod" startAt="1"/>
            </a:pPr>
            <a:r>
              <a:rPr lang="en-US" sz="3200" b="1" dirty="0">
                <a:solidFill>
                  <a:srgbClr val="262626"/>
                </a:solidFill>
                <a:latin typeface="MiSans" pitchFamily="34" charset="0"/>
                <a:ea typeface="MiSans" pitchFamily="34" charset="-122"/>
                <a:cs typeface="MiSans" pitchFamily="34" charset="-120"/>
              </a:rPr>
              <a:t>链下数字资产交易方案性能</a:t>
            </a:r>
            <a:endParaRPr lang="en-US" sz="3200" dirty="0"/>
          </a:p>
        </p:txBody>
      </p:sp>
      <p:sp>
        <p:nvSpPr>
          <p:cNvPr id="15" name="Text 11"/>
          <p:cNvSpPr/>
          <p:nvPr/>
        </p:nvSpPr>
        <p:spPr>
          <a:xfrm>
            <a:off x="1018667" y="2126996"/>
            <a:ext cx="7162165" cy="492506"/>
          </a:xfrm>
          <a:prstGeom prst="rect">
            <a:avLst/>
          </a:prstGeom>
          <a:noFill/>
          <a:ln/>
        </p:spPr>
        <p:txBody>
          <a:bodyPr wrap="square" lIns="0" tIns="0" rIns="0" bIns="0" rtlCol="0" anchor="t"/>
          <a:lstStyle/>
          <a:p>
            <a:pPr algn="l">
              <a:lnSpc>
                <a:spcPct val="120000"/>
              </a:lnSpc>
            </a:pPr>
            <a:r>
              <a:rPr lang="en-US" sz="2400" dirty="0">
                <a:solidFill>
                  <a:srgbClr val="000000"/>
                </a:solidFill>
                <a:latin typeface="Arial" pitchFamily="34" charset="0"/>
                <a:ea typeface="Arial" pitchFamily="34" charset="-122"/>
                <a:cs typeface="Arial" pitchFamily="34" charset="-120"/>
              </a:rPr>
              <a:t>支付信道方案</a:t>
            </a:r>
            <a:endParaRPr lang="en-US" sz="2400" dirty="0"/>
          </a:p>
        </p:txBody>
      </p:sp>
      <p:sp>
        <p:nvSpPr>
          <p:cNvPr id="16" name="Text 12"/>
          <p:cNvSpPr/>
          <p:nvPr/>
        </p:nvSpPr>
        <p:spPr>
          <a:xfrm>
            <a:off x="1018667" y="5537073"/>
            <a:ext cx="7162165" cy="492506"/>
          </a:xfrm>
          <a:prstGeom prst="rect">
            <a:avLst/>
          </a:prstGeom>
          <a:noFill/>
          <a:ln/>
        </p:spPr>
        <p:txBody>
          <a:bodyPr wrap="square" lIns="0" tIns="0" rIns="0" bIns="0" rtlCol="0" anchor="t"/>
          <a:lstStyle/>
          <a:p>
            <a:pPr algn="l">
              <a:lnSpc>
                <a:spcPct val="120000"/>
              </a:lnSpc>
            </a:pPr>
            <a:r>
              <a:rPr lang="en-US" sz="2400" dirty="0">
                <a:solidFill>
                  <a:srgbClr val="000000"/>
                </a:solidFill>
                <a:latin typeface="Arial" pitchFamily="34" charset="0"/>
                <a:ea typeface="Arial" pitchFamily="34" charset="-122"/>
                <a:cs typeface="Arial" pitchFamily="34" charset="-120"/>
              </a:rPr>
              <a:t>支付信道网络方案</a:t>
            </a:r>
            <a:endParaRPr lang="en-US" sz="2400" dirty="0"/>
          </a:p>
        </p:txBody>
      </p:sp>
      <p:pic>
        <p:nvPicPr>
          <p:cNvPr id="17" name="Image 1" descr="https://kimi-img.moonshot.cn/pub/slides/okc/flfuysioo4gzm/mnt/agents/output/yuan_pptd/images/image_33.png">    </p:cNvPr>
          <p:cNvPicPr>
            <a:picLocks noChangeAspect="1"/>
          </p:cNvPicPr>
          <p:nvPr/>
        </p:nvPicPr>
        <p:blipFill>
          <a:blip r:embed="rId2"/>
          <a:stretch>
            <a:fillRect/>
          </a:stretch>
        </p:blipFill>
        <p:spPr>
          <a:xfrm>
            <a:off x="2553335" y="2866009"/>
            <a:ext cx="11149203" cy="2376551"/>
          </a:xfrm>
          <a:prstGeom prst="rect">
            <a:avLst/>
          </a:prstGeom>
        </p:spPr>
      </p:pic>
      <p:pic>
        <p:nvPicPr>
          <p:cNvPr id="18" name="Image 2" descr="https://kimi-img.moonshot.cn/pub/slides/okc/flfuysioo4gzm/mnt/agents/output/yuan_pptd/images/image_34.png">    </p:cNvPr>
          <p:cNvPicPr>
            <a:picLocks noChangeAspect="1"/>
          </p:cNvPicPr>
          <p:nvPr/>
        </p:nvPicPr>
        <p:blipFill>
          <a:blip r:embed="rId3"/>
          <a:stretch>
            <a:fillRect/>
          </a:stretch>
        </p:blipFill>
        <p:spPr>
          <a:xfrm>
            <a:off x="7398258" y="5939790"/>
            <a:ext cx="7279640" cy="2553208"/>
          </a:xfrm>
          <a:prstGeom prst="rect">
            <a:avLst/>
          </a:prstGeom>
        </p:spPr>
      </p:pic>
      <p:sp>
        <p:nvSpPr>
          <p:cNvPr id="19" name="Shape 13"/>
          <p:cNvSpPr/>
          <p:nvPr/>
        </p:nvSpPr>
        <p:spPr>
          <a:xfrm>
            <a:off x="1097788" y="6483350"/>
            <a:ext cx="5299075" cy="1712341"/>
          </a:xfrm>
          <a:prstGeom prst="roundRect">
            <a:avLst>
              <a:gd name="adj" fmla="val 16667"/>
            </a:avLst>
          </a:prstGeom>
          <a:noFill/>
          <a:ln w="12700">
            <a:solidFill>
              <a:srgbClr val="0E1622"/>
            </a:solidFill>
            <a:prstDash val="solid"/>
          </a:ln>
        </p:spPr>
      </p:sp>
      <p:sp>
        <p:nvSpPr>
          <p:cNvPr id="20" name="Shape 14"/>
          <p:cNvSpPr/>
          <p:nvPr/>
        </p:nvSpPr>
        <p:spPr>
          <a:xfrm>
            <a:off x="1108329" y="6237097"/>
            <a:ext cx="1551686" cy="492506"/>
          </a:xfrm>
          <a:prstGeom prst="roundRect">
            <a:avLst>
              <a:gd name="adj" fmla="val 16667"/>
            </a:avLst>
          </a:prstGeom>
          <a:solidFill>
            <a:srgbClr val="04579A"/>
          </a:solidFill>
          <a:ln w="12700">
            <a:solidFill>
              <a:srgbClr val="0E1622"/>
            </a:solidFill>
            <a:prstDash val="solid"/>
          </a:ln>
        </p:spPr>
      </p:sp>
      <p:sp>
        <p:nvSpPr>
          <p:cNvPr id="21" name="Text 15"/>
          <p:cNvSpPr/>
          <p:nvPr/>
        </p:nvSpPr>
        <p:spPr>
          <a:xfrm>
            <a:off x="1097788" y="6237097"/>
            <a:ext cx="1606677" cy="492506"/>
          </a:xfrm>
          <a:prstGeom prst="rect">
            <a:avLst/>
          </a:prstGeom>
          <a:noFill/>
          <a:ln/>
        </p:spPr>
        <p:txBody>
          <a:bodyPr wrap="square" lIns="0" tIns="0" rIns="0" bIns="0" rtlCol="0" anchor="t"/>
          <a:lstStyle/>
          <a:p>
            <a:pPr algn="l">
              <a:lnSpc>
                <a:spcPct val="120000"/>
              </a:lnSpc>
            </a:pPr>
            <a:r>
              <a:rPr lang="en-US" sz="2400" dirty="0">
                <a:solidFill>
                  <a:srgbClr val="FFFFFF"/>
                </a:solidFill>
                <a:latin typeface="Arial" pitchFamily="34" charset="0"/>
                <a:ea typeface="Arial" pitchFamily="34" charset="-122"/>
                <a:cs typeface="Arial" pitchFamily="34" charset="-120"/>
              </a:rPr>
              <a:t>闪电网络</a:t>
            </a:r>
            <a:endParaRPr lang="en-US" sz="2400" dirty="0"/>
          </a:p>
        </p:txBody>
      </p:sp>
      <p:sp>
        <p:nvSpPr>
          <p:cNvPr id="22" name="Text 16"/>
          <p:cNvSpPr/>
          <p:nvPr/>
        </p:nvSpPr>
        <p:spPr>
          <a:xfrm>
            <a:off x="1097788" y="6777228"/>
            <a:ext cx="5413121" cy="1231138"/>
          </a:xfrm>
          <a:prstGeom prst="rect">
            <a:avLst/>
          </a:prstGeom>
          <a:noFill/>
          <a:ln/>
        </p:spPr>
        <p:txBody>
          <a:bodyPr wrap="square" lIns="0" tIns="0" rIns="0" bIns="0" rtlCol="0" anchor="t"/>
          <a:lstStyle/>
          <a:p>
            <a:pPr algn="l">
              <a:lnSpc>
                <a:spcPct val="120000"/>
              </a:lnSpc>
            </a:pPr>
            <a:r>
              <a:rPr lang="en-US" sz="2400" dirty="0">
                <a:solidFill>
                  <a:srgbClr val="000000"/>
                </a:solidFill>
                <a:latin typeface="Arial" pitchFamily="34" charset="0"/>
                <a:ea typeface="Arial" pitchFamily="34" charset="-122"/>
                <a:cs typeface="Arial" pitchFamily="34" charset="-120"/>
              </a:rPr>
              <a:t>2016年部署在比特币上，是已知最大的支付信道网络，拥有近2万个活跃节点和8万个支付信道</a:t>
            </a:r>
            <a:endParaRPr lang="en-US" sz="2400" dirty="0"/>
          </a:p>
        </p:txBody>
      </p:sp>
      <p:sp>
        <p:nvSpPr>
          <p:cNvPr id="23" name="Text 17"/>
          <p:cNvSpPr/>
          <p:nvPr/>
        </p:nvSpPr>
        <p:spPr>
          <a:xfrm>
            <a:off x="15649067" y="8666353"/>
            <a:ext cx="606933" cy="492506"/>
          </a:xfrm>
          <a:prstGeom prst="rect">
            <a:avLst/>
          </a:prstGeom>
          <a:noFill/>
          <a:ln/>
        </p:spPr>
        <p:txBody>
          <a:bodyPr wrap="square" lIns="0" tIns="0" rIns="0" bIns="0" rtlCol="0" anchor="t"/>
          <a:lstStyle/>
          <a:p>
            <a:pPr algn="ctr">
              <a:lnSpc>
                <a:spcPct val="120000"/>
              </a:lnSpc>
            </a:pPr>
            <a:r>
              <a:rPr lang="en-US" sz="2400" dirty="0">
                <a:solidFill>
                  <a:srgbClr val="000000"/>
                </a:solidFill>
                <a:latin typeface="Arial" pitchFamily="34" charset="0"/>
                <a:ea typeface="Arial" pitchFamily="34" charset="-122"/>
                <a:cs typeface="Arial" pitchFamily="34" charset="-120"/>
              </a:rPr>
              <a:t>18</a:t>
            </a:r>
            <a:endParaRPr lang="en-US" sz="2400" dirty="0"/>
          </a:p>
        </p:txBody>
      </p:sp>
    </p:spTree>
  </p:cSld>
  <p:clrMapOvr>
    <a:masterClrMapping/>
  </p:clrMapOvr>
  <p:transition>
    <p:fade/>
    <p:spd val="med"/>
  </p:transition>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5162169" y="-889"/>
            <a:ext cx="2590800" cy="962660"/>
          </a:xfrm>
          <a:prstGeom prst="rect">
            <a:avLst/>
          </a:prstGeom>
          <a:solidFill>
            <a:srgbClr val="F2F2F2"/>
          </a:solidFill>
          <a:ln w="12700">
            <a:solidFill>
              <a:srgbClr val="F2F2F2"/>
            </a:solidFill>
            <a:prstDash val="solid"/>
          </a:ln>
        </p:spPr>
      </p:sp>
      <p:sp>
        <p:nvSpPr>
          <p:cNvPr id="4" name="Shape 1"/>
          <p:cNvSpPr/>
          <p:nvPr/>
        </p:nvSpPr>
        <p:spPr>
          <a:xfrm>
            <a:off x="5162169" y="-889"/>
            <a:ext cx="2590800" cy="962660"/>
          </a:xfrm>
          <a:prstGeom prst="rect">
            <a:avLst/>
          </a:prstGeom>
          <a:solidFill>
            <a:srgbClr val="04579A"/>
          </a:solidFill>
          <a:ln w="12700">
            <a:solidFill>
              <a:srgbClr val="04579A"/>
            </a:solidFill>
            <a:prstDash val="solid"/>
          </a:ln>
        </p:spPr>
      </p:sp>
      <p:sp>
        <p:nvSpPr>
          <p:cNvPr id="5" name="Shape 2"/>
          <p:cNvSpPr/>
          <p:nvPr/>
        </p:nvSpPr>
        <p:spPr>
          <a:xfrm>
            <a:off x="7816469" y="-889"/>
            <a:ext cx="4114800" cy="962660"/>
          </a:xfrm>
          <a:prstGeom prst="rect">
            <a:avLst/>
          </a:prstGeom>
          <a:solidFill>
            <a:srgbClr val="F2F2F2"/>
          </a:solidFill>
          <a:ln/>
        </p:spPr>
      </p:sp>
      <p:sp>
        <p:nvSpPr>
          <p:cNvPr id="6" name="Shape 3"/>
          <p:cNvSpPr/>
          <p:nvPr/>
        </p:nvSpPr>
        <p:spPr>
          <a:xfrm>
            <a:off x="11971020" y="0"/>
            <a:ext cx="4284980" cy="961771"/>
          </a:xfrm>
          <a:prstGeom prst="rect">
            <a:avLst/>
          </a:prstGeom>
          <a:solidFill>
            <a:srgbClr val="F2F2F2"/>
          </a:solidFill>
          <a:ln/>
        </p:spPr>
      </p:sp>
      <p:sp>
        <p:nvSpPr>
          <p:cNvPr id="7" name="Shape 4"/>
          <p:cNvSpPr/>
          <p:nvPr/>
        </p:nvSpPr>
        <p:spPr>
          <a:xfrm>
            <a:off x="2219960" y="-889"/>
            <a:ext cx="2895600" cy="962660"/>
          </a:xfrm>
          <a:prstGeom prst="rect">
            <a:avLst/>
          </a:prstGeom>
          <a:solidFill>
            <a:srgbClr val="F2F2F2"/>
          </a:solidFill>
          <a:ln w="12700">
            <a:solidFill>
              <a:srgbClr val="F2F2F2"/>
            </a:solidFill>
            <a:prstDash val="solid"/>
          </a:ln>
        </p:spPr>
      </p:sp>
      <p:sp>
        <p:nvSpPr>
          <p:cNvPr id="8" name="Text 5"/>
          <p:cNvSpPr/>
          <p:nvPr/>
        </p:nvSpPr>
        <p:spPr>
          <a:xfrm>
            <a:off x="2283460" y="203200"/>
            <a:ext cx="27686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选题背景及意义</a:t>
            </a:r>
            <a:endParaRPr lang="en-US" sz="2000" dirty="0"/>
          </a:p>
        </p:txBody>
      </p:sp>
      <p:sp>
        <p:nvSpPr>
          <p:cNvPr id="9" name="Text 6"/>
          <p:cNvSpPr/>
          <p:nvPr/>
        </p:nvSpPr>
        <p:spPr>
          <a:xfrm>
            <a:off x="5225669" y="203200"/>
            <a:ext cx="2463800" cy="508000"/>
          </a:xfrm>
          <a:prstGeom prst="rect">
            <a:avLst/>
          </a:prstGeom>
          <a:noFill/>
          <a:ln/>
        </p:spPr>
        <p:txBody>
          <a:bodyPr wrap="none" lIns="0" tIns="0" rIns="0" bIns="0" rtlCol="0" anchor="ctr"/>
          <a:lstStyle/>
          <a:p>
            <a:pPr algn="ctr">
              <a:lnSpc>
                <a:spcPct val="120000"/>
              </a:lnSpc>
            </a:pPr>
            <a:r>
              <a:rPr lang="en-US" sz="2000" dirty="0">
                <a:solidFill>
                  <a:srgbClr val="FFFFFF"/>
                </a:solidFill>
                <a:latin typeface="Arial" pitchFamily="34" charset="0"/>
                <a:ea typeface="Arial" pitchFamily="34" charset="-122"/>
                <a:cs typeface="Arial" pitchFamily="34" charset="-120"/>
              </a:rPr>
              <a:t>国内外研究现状</a:t>
            </a:r>
            <a:endParaRPr lang="en-US" sz="2000" dirty="0"/>
          </a:p>
        </p:txBody>
      </p:sp>
      <p:sp>
        <p:nvSpPr>
          <p:cNvPr id="10" name="Text 7"/>
          <p:cNvSpPr/>
          <p:nvPr/>
        </p:nvSpPr>
        <p:spPr>
          <a:xfrm>
            <a:off x="7879969" y="203200"/>
            <a:ext cx="39878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主要研究内容及预期目标</a:t>
            </a:r>
            <a:endParaRPr lang="en-US" sz="2000" dirty="0"/>
          </a:p>
        </p:txBody>
      </p:sp>
      <p:sp>
        <p:nvSpPr>
          <p:cNvPr id="11" name="Text 8"/>
          <p:cNvSpPr/>
          <p:nvPr/>
        </p:nvSpPr>
        <p:spPr>
          <a:xfrm>
            <a:off x="12034520" y="203200"/>
            <a:ext cx="415798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工作计划与进度安排</a:t>
            </a:r>
            <a:endParaRPr lang="en-US" sz="2000" dirty="0"/>
          </a:p>
        </p:txBody>
      </p:sp>
      <p:pic>
        <p:nvPicPr>
          <p:cNvPr id="12" name="Image 0" descr="https://kimi-img.moonshot.cn/pub/slides/okc/flfuysioo4gzm/mnt/agents/output/yuan_pptd/images/image_2.jpg">    </p:cNvPr>
          <p:cNvPicPr>
            <a:picLocks noChangeAspect="1"/>
          </p:cNvPicPr>
          <p:nvPr/>
        </p:nvPicPr>
        <p:blipFill>
          <a:blip r:embed="rId1"/>
          <a:srcRect l="5060" r="29000" t="0" b="0"/>
          <a:stretch/>
        </p:blipFill>
        <p:spPr>
          <a:xfrm>
            <a:off x="544449" y="140589"/>
            <a:ext cx="1273429" cy="745871"/>
          </a:xfrm>
          <a:prstGeom prst="rect">
            <a:avLst/>
          </a:prstGeom>
        </p:spPr>
      </p:pic>
      <p:sp>
        <p:nvSpPr>
          <p:cNvPr id="13" name="Shape 9"/>
          <p:cNvSpPr/>
          <p:nvPr/>
        </p:nvSpPr>
        <p:spPr>
          <a:xfrm rot="10800000">
            <a:off x="6121400" y="961771"/>
            <a:ext cx="389509" cy="304800"/>
          </a:xfrm>
          <a:prstGeom prst="triangle">
            <a:avLst>
              <a:gd name="adj" fmla="val 50000"/>
            </a:avLst>
          </a:prstGeom>
          <a:solidFill>
            <a:srgbClr val="04579A"/>
          </a:solidFill>
          <a:ln/>
        </p:spPr>
      </p:sp>
      <p:sp>
        <p:nvSpPr>
          <p:cNvPr id="14" name="Text 10"/>
          <p:cNvSpPr/>
          <p:nvPr/>
        </p:nvSpPr>
        <p:spPr>
          <a:xfrm>
            <a:off x="544449" y="1266571"/>
            <a:ext cx="8431911" cy="613791"/>
          </a:xfrm>
          <a:prstGeom prst="rect">
            <a:avLst/>
          </a:prstGeom>
          <a:noFill/>
          <a:ln/>
        </p:spPr>
        <p:txBody>
          <a:bodyPr wrap="square" lIns="0" tIns="0" rIns="0" bIns="0" rtlCol="0" anchor="t"/>
          <a:lstStyle/>
          <a:p>
            <a:pPr algn="l" marL="508000" indent="-508000">
              <a:lnSpc>
                <a:spcPct val="120000"/>
              </a:lnSpc>
              <a:spcBef>
                <a:spcPts val="10"/>
              </a:spcBef>
              <a:buSzPct val="100000"/>
              <a:buFont typeface="+mj-lt"/>
              <a:buAutoNum type="arabicPeriod" startAt="1"/>
            </a:pPr>
            <a:r>
              <a:rPr lang="en-US" sz="3200" b="1" dirty="0">
                <a:solidFill>
                  <a:srgbClr val="262626"/>
                </a:solidFill>
                <a:latin typeface="MiSans" pitchFamily="34" charset="0"/>
                <a:ea typeface="MiSans" pitchFamily="34" charset="-122"/>
                <a:cs typeface="MiSans" pitchFamily="34" charset="-120"/>
              </a:rPr>
              <a:t>链下数字资产交易方案性能</a:t>
            </a:r>
            <a:endParaRPr lang="en-US" sz="3200" dirty="0"/>
          </a:p>
        </p:txBody>
      </p:sp>
      <p:sp>
        <p:nvSpPr>
          <p:cNvPr id="15" name="Shape 11"/>
          <p:cNvSpPr/>
          <p:nvPr/>
        </p:nvSpPr>
        <p:spPr>
          <a:xfrm>
            <a:off x="1653921" y="4927854"/>
            <a:ext cx="13753592" cy="1291082"/>
          </a:xfrm>
          <a:custGeom>
            <a:avLst/>
            <a:gdLst/>
            <a:ahLst/>
            <a:cxnLst/>
            <a:rect l="l" t="t" r="r" b="b"/>
            <a:pathLst>
              <a:path w="13753592" h="1291082">
                <a:moveTo>
                  <a:pt x="5227270" y="1291084"/>
                </a:moveTo>
                <a:cubicBezTo>
                  <a:pt x="4578818" y="1291084"/>
                  <a:pt x="4078871" y="989369"/>
                  <a:pt x="3559422" y="675608"/>
                </a:cubicBezTo>
                <a:cubicBezTo>
                  <a:pt x="2910111" y="283737"/>
                  <a:pt x="2238729" y="-121687"/>
                  <a:pt x="1221261" y="58250"/>
                </a:cubicBezTo>
                <a:cubicBezTo>
                  <a:pt x="798030" y="132974"/>
                  <a:pt x="456447" y="375776"/>
                  <a:pt x="126005" y="610673"/>
                </a:cubicBezTo>
                <a:cubicBezTo>
                  <a:pt x="87004" y="638341"/>
                  <a:pt x="48429" y="665820"/>
                  <a:pt x="10072" y="692736"/>
                </a:cubicBezTo>
                <a:lnTo>
                  <a:pt x="0" y="681631"/>
                </a:lnTo>
                <a:cubicBezTo>
                  <a:pt x="38359" y="654717"/>
                  <a:pt x="76932" y="627236"/>
                  <a:pt x="115932" y="599567"/>
                </a:cubicBezTo>
                <a:cubicBezTo>
                  <a:pt x="447873" y="363730"/>
                  <a:pt x="790959" y="119798"/>
                  <a:pt x="1218046" y="44323"/>
                </a:cubicBezTo>
                <a:cubicBezTo>
                  <a:pt x="2242157" y="-136745"/>
                  <a:pt x="2916541" y="270185"/>
                  <a:pt x="3568422" y="663751"/>
                </a:cubicBezTo>
                <a:cubicBezTo>
                  <a:pt x="4329593" y="1123193"/>
                  <a:pt x="5048550" y="1557224"/>
                  <a:pt x="6256524" y="1045269"/>
                </a:cubicBezTo>
                <a:cubicBezTo>
                  <a:pt x="6408244" y="981087"/>
                  <a:pt x="6565964" y="877943"/>
                  <a:pt x="6748756" y="758614"/>
                </a:cubicBezTo>
                <a:cubicBezTo>
                  <a:pt x="7093771" y="533314"/>
                  <a:pt x="7523002" y="253057"/>
                  <a:pt x="8102236" y="129963"/>
                </a:cubicBezTo>
                <a:cubicBezTo>
                  <a:pt x="8780264" y="-14026"/>
                  <a:pt x="9526864" y="82154"/>
                  <a:pt x="10384681" y="424525"/>
                </a:cubicBezTo>
                <a:cubicBezTo>
                  <a:pt x="10454112" y="452193"/>
                  <a:pt x="10525044" y="480803"/>
                  <a:pt x="10597047" y="509975"/>
                </a:cubicBezTo>
                <a:cubicBezTo>
                  <a:pt x="11554298" y="897143"/>
                  <a:pt x="12745556" y="1378983"/>
                  <a:pt x="13745452" y="872298"/>
                </a:cubicBezTo>
                <a:lnTo>
                  <a:pt x="13753594" y="884531"/>
                </a:lnTo>
                <a:cubicBezTo>
                  <a:pt x="12746413" y="1394793"/>
                  <a:pt x="11550869" y="911257"/>
                  <a:pt x="10590403" y="522774"/>
                </a:cubicBezTo>
                <a:cubicBezTo>
                  <a:pt x="10518400" y="493602"/>
                  <a:pt x="10447684" y="464992"/>
                  <a:pt x="10378253" y="437324"/>
                </a:cubicBezTo>
                <a:cubicBezTo>
                  <a:pt x="8447678" y="-333055"/>
                  <a:pt x="7471355" y="304440"/>
                  <a:pt x="6758615" y="769907"/>
                </a:cubicBezTo>
                <a:cubicBezTo>
                  <a:pt x="6575179" y="889614"/>
                  <a:pt x="6416816" y="993133"/>
                  <a:pt x="6263811" y="1057880"/>
                </a:cubicBezTo>
                <a:cubicBezTo>
                  <a:pt x="5873366" y="1223701"/>
                  <a:pt x="5533711" y="1291084"/>
                  <a:pt x="5227270" y="1291084"/>
                </a:cubicBezTo>
                <a:close/>
              </a:path>
            </a:pathLst>
          </a:custGeom>
          <a:gradFill rotWithShape="1" flip="none">
            <a:gsLst>
              <a:gs pos="0">
                <a:srgbClr val="DFEAF9">
                  <a:alpha val="12000"/>
                </a:srgbClr>
              </a:gs>
              <a:gs pos="8000">
                <a:srgbClr val="DFEAF9">
                  <a:alpha val="12000"/>
                </a:srgbClr>
              </a:gs>
              <a:gs pos="43000">
                <a:srgbClr val="E5EEFB">
                  <a:alpha val="67000"/>
                </a:srgbClr>
              </a:gs>
              <a:gs pos="71000">
                <a:srgbClr val="CCE0FF">
                  <a:alpha val="50000"/>
                </a:srgbClr>
              </a:gs>
              <a:gs pos="100000">
                <a:srgbClr val="DFEAF9">
                  <a:alpha val="0"/>
                </a:srgbClr>
              </a:gs>
            </a:gsLst>
            <a:lin ang="0" scaled="1"/>
          </a:gradFill>
          <a:ln/>
        </p:spPr>
      </p:sp>
      <p:sp>
        <p:nvSpPr>
          <p:cNvPr id="16" name="Shape 12"/>
          <p:cNvSpPr/>
          <p:nvPr/>
        </p:nvSpPr>
        <p:spPr>
          <a:xfrm>
            <a:off x="1573784" y="5015230"/>
            <a:ext cx="13450062" cy="1093724"/>
          </a:xfrm>
          <a:custGeom>
            <a:avLst/>
            <a:gdLst/>
            <a:ahLst/>
            <a:cxnLst/>
            <a:rect l="l" t="t" r="r" b="b"/>
            <a:pathLst>
              <a:path w="13450062" h="1093724">
                <a:moveTo>
                  <a:pt x="5000514" y="1093726"/>
                </a:moveTo>
                <a:cubicBezTo>
                  <a:pt x="4931510" y="1093726"/>
                  <a:pt x="4863153" y="1090527"/>
                  <a:pt x="4795220" y="1084317"/>
                </a:cubicBezTo>
                <a:cubicBezTo>
                  <a:pt x="4292705" y="1040840"/>
                  <a:pt x="3887478" y="834562"/>
                  <a:pt x="3458252" y="616052"/>
                </a:cubicBezTo>
                <a:cubicBezTo>
                  <a:pt x="2839375" y="301176"/>
                  <a:pt x="2199497" y="-24614"/>
                  <a:pt x="1215466" y="136493"/>
                </a:cubicBezTo>
                <a:cubicBezTo>
                  <a:pt x="822883" y="201614"/>
                  <a:pt x="491588" y="405821"/>
                  <a:pt x="171220" y="603064"/>
                </a:cubicBezTo>
                <a:cubicBezTo>
                  <a:pt x="117646" y="636001"/>
                  <a:pt x="62360" y="670254"/>
                  <a:pt x="8144" y="702628"/>
                </a:cubicBezTo>
                <a:lnTo>
                  <a:pt x="0" y="692088"/>
                </a:lnTo>
                <a:cubicBezTo>
                  <a:pt x="54002" y="659716"/>
                  <a:pt x="109290" y="625649"/>
                  <a:pt x="162862" y="592714"/>
                </a:cubicBezTo>
                <a:cubicBezTo>
                  <a:pt x="484515" y="394528"/>
                  <a:pt x="817096" y="189756"/>
                  <a:pt x="1212895" y="124072"/>
                </a:cubicBezTo>
                <a:cubicBezTo>
                  <a:pt x="2202498" y="-37976"/>
                  <a:pt x="2844732" y="288943"/>
                  <a:pt x="3465750" y="605135"/>
                </a:cubicBezTo>
                <a:cubicBezTo>
                  <a:pt x="3893478" y="822705"/>
                  <a:pt x="4297421" y="1028417"/>
                  <a:pt x="4796721" y="1071706"/>
                </a:cubicBezTo>
                <a:cubicBezTo>
                  <a:pt x="5206448" y="1109723"/>
                  <a:pt x="5637177" y="1032371"/>
                  <a:pt x="6113763" y="834938"/>
                </a:cubicBezTo>
                <a:cubicBezTo>
                  <a:pt x="6257124" y="775464"/>
                  <a:pt x="6410558" y="682489"/>
                  <a:pt x="6572777" y="584055"/>
                </a:cubicBezTo>
                <a:cubicBezTo>
                  <a:pt x="6865715" y="406198"/>
                  <a:pt x="7197867" y="204813"/>
                  <a:pt x="7623023" y="95652"/>
                </a:cubicBezTo>
                <a:cubicBezTo>
                  <a:pt x="8374547" y="-97450"/>
                  <a:pt x="9174286" y="231"/>
                  <a:pt x="10139675" y="403187"/>
                </a:cubicBezTo>
                <a:cubicBezTo>
                  <a:pt x="10187677" y="423326"/>
                  <a:pt x="10236533" y="443652"/>
                  <a:pt x="10285822" y="464542"/>
                </a:cubicBezTo>
                <a:cubicBezTo>
                  <a:pt x="11220136" y="856958"/>
                  <a:pt x="12383102" y="1345361"/>
                  <a:pt x="13443421" y="868815"/>
                </a:cubicBezTo>
                <a:lnTo>
                  <a:pt x="13450064" y="880298"/>
                </a:lnTo>
                <a:cubicBezTo>
                  <a:pt x="12383316" y="1359855"/>
                  <a:pt x="11216708" y="869946"/>
                  <a:pt x="10279608" y="476212"/>
                </a:cubicBezTo>
                <a:cubicBezTo>
                  <a:pt x="10230319" y="455508"/>
                  <a:pt x="10181461" y="434994"/>
                  <a:pt x="10133459" y="415044"/>
                </a:cubicBezTo>
                <a:cubicBezTo>
                  <a:pt x="9171501" y="13593"/>
                  <a:pt x="8375190" y="-83899"/>
                  <a:pt x="7627095" y="108262"/>
                </a:cubicBezTo>
                <a:cubicBezTo>
                  <a:pt x="7204297" y="216859"/>
                  <a:pt x="6873216" y="417678"/>
                  <a:pt x="6580921" y="594970"/>
                </a:cubicBezTo>
                <a:cubicBezTo>
                  <a:pt x="6418059" y="693782"/>
                  <a:pt x="6264195" y="787134"/>
                  <a:pt x="6119764" y="846983"/>
                </a:cubicBezTo>
                <a:cubicBezTo>
                  <a:pt x="5719679" y="1012044"/>
                  <a:pt x="5351310" y="1093726"/>
                  <a:pt x="5000514" y="1093726"/>
                </a:cubicBezTo>
                <a:close/>
              </a:path>
            </a:pathLst>
          </a:custGeom>
          <a:gradFill rotWithShape="1" flip="none">
            <a:gsLst>
              <a:gs pos="0">
                <a:srgbClr val="DFEAF9">
                  <a:alpha val="12000"/>
                </a:srgbClr>
              </a:gs>
              <a:gs pos="8000">
                <a:srgbClr val="DFEAF9">
                  <a:alpha val="12000"/>
                </a:srgbClr>
              </a:gs>
              <a:gs pos="43000">
                <a:srgbClr val="E5EEFB">
                  <a:alpha val="67000"/>
                </a:srgbClr>
              </a:gs>
              <a:gs pos="71000">
                <a:srgbClr val="CCE0FF">
                  <a:alpha val="50000"/>
                </a:srgbClr>
              </a:gs>
              <a:gs pos="100000">
                <a:srgbClr val="DFEAF9">
                  <a:alpha val="0"/>
                </a:srgbClr>
              </a:gs>
            </a:gsLst>
            <a:lin ang="0" scaled="1"/>
          </a:gradFill>
          <a:ln/>
        </p:spPr>
      </p:sp>
      <p:sp>
        <p:nvSpPr>
          <p:cNvPr id="17" name="Shape 13"/>
          <p:cNvSpPr/>
          <p:nvPr/>
        </p:nvSpPr>
        <p:spPr>
          <a:xfrm>
            <a:off x="1493647" y="5026660"/>
            <a:ext cx="13146913" cy="1127506"/>
          </a:xfrm>
          <a:custGeom>
            <a:avLst/>
            <a:gdLst/>
            <a:ahLst/>
            <a:cxnLst/>
            <a:rect l="l" t="t" r="r" b="b"/>
            <a:pathLst>
              <a:path w="13146913" h="1127506">
                <a:moveTo>
                  <a:pt x="12199308" y="1127506"/>
                </a:moveTo>
                <a:cubicBezTo>
                  <a:pt x="11396135" y="1127506"/>
                  <a:pt x="10623607" y="788902"/>
                  <a:pt x="9966798" y="501119"/>
                </a:cubicBezTo>
                <a:lnTo>
                  <a:pt x="9889009" y="467052"/>
                </a:lnTo>
                <a:cubicBezTo>
                  <a:pt x="8961546" y="61443"/>
                  <a:pt x="8193945" y="-68616"/>
                  <a:pt x="7473061" y="58056"/>
                </a:cubicBezTo>
                <a:cubicBezTo>
                  <a:pt x="7045117" y="133153"/>
                  <a:pt x="6703748" y="324194"/>
                  <a:pt x="6402666" y="492837"/>
                </a:cubicBezTo>
                <a:cubicBezTo>
                  <a:pt x="6252874" y="576593"/>
                  <a:pt x="6111441" y="655834"/>
                  <a:pt x="5976434" y="710416"/>
                </a:cubicBezTo>
                <a:cubicBezTo>
                  <a:pt x="5506919" y="900327"/>
                  <a:pt x="5086474" y="988790"/>
                  <a:pt x="4690245" y="980696"/>
                </a:cubicBezTo>
                <a:cubicBezTo>
                  <a:pt x="4181297" y="975804"/>
                  <a:pt x="3777354" y="810548"/>
                  <a:pt x="3350052" y="635507"/>
                </a:cubicBezTo>
                <a:cubicBezTo>
                  <a:pt x="2762887" y="395152"/>
                  <a:pt x="2155580" y="146517"/>
                  <a:pt x="1209903" y="290693"/>
                </a:cubicBezTo>
                <a:cubicBezTo>
                  <a:pt x="848603" y="345840"/>
                  <a:pt x="530591" y="513542"/>
                  <a:pt x="223079" y="675972"/>
                </a:cubicBezTo>
                <a:cubicBezTo>
                  <a:pt x="152147" y="713428"/>
                  <a:pt x="78646" y="752202"/>
                  <a:pt x="6644" y="788527"/>
                </a:cubicBezTo>
                <a:lnTo>
                  <a:pt x="0" y="778552"/>
                </a:lnTo>
                <a:cubicBezTo>
                  <a:pt x="71789" y="742414"/>
                  <a:pt x="145290" y="703640"/>
                  <a:pt x="216222" y="666185"/>
                </a:cubicBezTo>
                <a:cubicBezTo>
                  <a:pt x="524805" y="503377"/>
                  <a:pt x="843887" y="334922"/>
                  <a:pt x="1207545" y="279400"/>
                </a:cubicBezTo>
                <a:cubicBezTo>
                  <a:pt x="2157508" y="134659"/>
                  <a:pt x="2766532" y="384048"/>
                  <a:pt x="3355624" y="625154"/>
                </a:cubicBezTo>
                <a:cubicBezTo>
                  <a:pt x="3781854" y="799632"/>
                  <a:pt x="4184299" y="964321"/>
                  <a:pt x="4690673" y="969216"/>
                </a:cubicBezTo>
                <a:cubicBezTo>
                  <a:pt x="5084759" y="977120"/>
                  <a:pt x="5503490" y="889224"/>
                  <a:pt x="5971078" y="700064"/>
                </a:cubicBezTo>
                <a:cubicBezTo>
                  <a:pt x="6105224" y="645857"/>
                  <a:pt x="6246231" y="566806"/>
                  <a:pt x="6395593" y="483237"/>
                </a:cubicBezTo>
                <a:cubicBezTo>
                  <a:pt x="6697748" y="314032"/>
                  <a:pt x="7040404" y="122425"/>
                  <a:pt x="7470490" y="46763"/>
                </a:cubicBezTo>
                <a:cubicBezTo>
                  <a:pt x="8194375" y="-80284"/>
                  <a:pt x="8964761" y="49962"/>
                  <a:pt x="9894795" y="456887"/>
                </a:cubicBezTo>
                <a:lnTo>
                  <a:pt x="9972582" y="490956"/>
                </a:lnTo>
                <a:cubicBezTo>
                  <a:pt x="10882904" y="889977"/>
                  <a:pt x="12015872" y="1386493"/>
                  <a:pt x="13141556" y="940042"/>
                </a:cubicBezTo>
                <a:lnTo>
                  <a:pt x="13146915" y="950582"/>
                </a:lnTo>
                <a:cubicBezTo>
                  <a:pt x="12829761" y="1076123"/>
                  <a:pt x="12512176" y="1127506"/>
                  <a:pt x="12199308" y="1127506"/>
                </a:cubicBezTo>
                <a:close/>
              </a:path>
            </a:pathLst>
          </a:custGeom>
          <a:gradFill rotWithShape="1" flip="none">
            <a:gsLst>
              <a:gs pos="0">
                <a:srgbClr val="DFEAF9">
                  <a:alpha val="12000"/>
                </a:srgbClr>
              </a:gs>
              <a:gs pos="8000">
                <a:srgbClr val="DFEAF9">
                  <a:alpha val="12000"/>
                </a:srgbClr>
              </a:gs>
              <a:gs pos="43000">
                <a:srgbClr val="E5EEFB">
                  <a:alpha val="67000"/>
                </a:srgbClr>
              </a:gs>
              <a:gs pos="71000">
                <a:srgbClr val="CCE0FF">
                  <a:alpha val="50000"/>
                </a:srgbClr>
              </a:gs>
              <a:gs pos="100000">
                <a:srgbClr val="DFEAF9">
                  <a:alpha val="0"/>
                </a:srgbClr>
              </a:gs>
            </a:gsLst>
            <a:lin ang="0" scaled="1"/>
          </a:gradFill>
          <a:ln/>
        </p:spPr>
      </p:sp>
      <p:sp>
        <p:nvSpPr>
          <p:cNvPr id="18" name="Shape 14"/>
          <p:cNvSpPr/>
          <p:nvPr/>
        </p:nvSpPr>
        <p:spPr>
          <a:xfrm>
            <a:off x="1413510" y="5022342"/>
            <a:ext cx="12843891" cy="1192530"/>
          </a:xfrm>
          <a:custGeom>
            <a:avLst/>
            <a:gdLst/>
            <a:ahLst/>
            <a:cxnLst/>
            <a:rect l="l" t="t" r="r" b="b"/>
            <a:pathLst>
              <a:path w="12843891" h="1192530">
                <a:moveTo>
                  <a:pt x="11913860" y="1192530"/>
                </a:moveTo>
                <a:cubicBezTo>
                  <a:pt x="11074045" y="1192530"/>
                  <a:pt x="10304301" y="838697"/>
                  <a:pt x="9651778" y="538693"/>
                </a:cubicBezTo>
                <a:lnTo>
                  <a:pt x="9644493" y="535492"/>
                </a:lnTo>
                <a:cubicBezTo>
                  <a:pt x="8732674" y="116350"/>
                  <a:pt x="8015433" y="-41368"/>
                  <a:pt x="7318980" y="24128"/>
                </a:cubicBezTo>
                <a:cubicBezTo>
                  <a:pt x="6886965" y="64781"/>
                  <a:pt x="6532308" y="246403"/>
                  <a:pt x="6219226" y="406757"/>
                </a:cubicBezTo>
                <a:cubicBezTo>
                  <a:pt x="6084006" y="476018"/>
                  <a:pt x="5956287" y="541514"/>
                  <a:pt x="5832854" y="590261"/>
                </a:cubicBezTo>
                <a:cubicBezTo>
                  <a:pt x="5379409" y="769436"/>
                  <a:pt x="4959608" y="871257"/>
                  <a:pt x="4585453" y="892901"/>
                </a:cubicBezTo>
                <a:cubicBezTo>
                  <a:pt x="4063861" y="929790"/>
                  <a:pt x="3657775" y="806702"/>
                  <a:pt x="3228117" y="676462"/>
                </a:cubicBezTo>
                <a:cubicBezTo>
                  <a:pt x="2675240" y="508767"/>
                  <a:pt x="2103505" y="335427"/>
                  <a:pt x="1204329" y="460773"/>
                </a:cubicBezTo>
                <a:cubicBezTo>
                  <a:pt x="873890" y="506884"/>
                  <a:pt x="571308" y="641266"/>
                  <a:pt x="278582" y="771319"/>
                </a:cubicBezTo>
                <a:cubicBezTo>
                  <a:pt x="189008" y="811219"/>
                  <a:pt x="96217" y="852248"/>
                  <a:pt x="4929" y="890078"/>
                </a:cubicBezTo>
                <a:lnTo>
                  <a:pt x="0" y="880856"/>
                </a:lnTo>
                <a:cubicBezTo>
                  <a:pt x="91290" y="843214"/>
                  <a:pt x="183865" y="801996"/>
                  <a:pt x="273438" y="762285"/>
                </a:cubicBezTo>
                <a:cubicBezTo>
                  <a:pt x="566806" y="631855"/>
                  <a:pt x="870245" y="496909"/>
                  <a:pt x="1202615" y="450799"/>
                </a:cubicBezTo>
                <a:cubicBezTo>
                  <a:pt x="2104576" y="325075"/>
                  <a:pt x="2677597" y="498980"/>
                  <a:pt x="3231975" y="667050"/>
                </a:cubicBezTo>
                <a:cubicBezTo>
                  <a:pt x="3660562" y="797103"/>
                  <a:pt x="4065576" y="919816"/>
                  <a:pt x="4584809" y="882927"/>
                </a:cubicBezTo>
                <a:cubicBezTo>
                  <a:pt x="4957680" y="861282"/>
                  <a:pt x="5376195" y="759837"/>
                  <a:pt x="5828355" y="581227"/>
                </a:cubicBezTo>
                <a:cubicBezTo>
                  <a:pt x="5951144" y="532670"/>
                  <a:pt x="6078650" y="467361"/>
                  <a:pt x="6213653" y="398288"/>
                </a:cubicBezTo>
                <a:cubicBezTo>
                  <a:pt x="6527593" y="237369"/>
                  <a:pt x="6883536" y="55182"/>
                  <a:pt x="7317907" y="14341"/>
                </a:cubicBezTo>
                <a:cubicBezTo>
                  <a:pt x="8016720" y="-51343"/>
                  <a:pt x="8735889" y="106753"/>
                  <a:pt x="9650063" y="526835"/>
                </a:cubicBezTo>
                <a:lnTo>
                  <a:pt x="9657351" y="530222"/>
                </a:lnTo>
                <a:cubicBezTo>
                  <a:pt x="10542168" y="936943"/>
                  <a:pt x="11643209" y="1443224"/>
                  <a:pt x="12839607" y="1027659"/>
                </a:cubicBezTo>
                <a:lnTo>
                  <a:pt x="12843893" y="1037258"/>
                </a:lnTo>
                <a:cubicBezTo>
                  <a:pt x="12526311" y="1146984"/>
                  <a:pt x="12215371" y="1192530"/>
                  <a:pt x="11913860" y="1192530"/>
                </a:cubicBezTo>
                <a:close/>
              </a:path>
            </a:pathLst>
          </a:custGeom>
          <a:gradFill rotWithShape="1" flip="none">
            <a:gsLst>
              <a:gs pos="0">
                <a:srgbClr val="DFEAF9">
                  <a:alpha val="12000"/>
                </a:srgbClr>
              </a:gs>
              <a:gs pos="8000">
                <a:srgbClr val="DFEAF9">
                  <a:alpha val="12000"/>
                </a:srgbClr>
              </a:gs>
              <a:gs pos="43000">
                <a:srgbClr val="E5EEFB">
                  <a:alpha val="67000"/>
                </a:srgbClr>
              </a:gs>
              <a:gs pos="71000">
                <a:srgbClr val="CCE0FF">
                  <a:alpha val="50000"/>
                </a:srgbClr>
              </a:gs>
              <a:gs pos="100000">
                <a:srgbClr val="DFEAF9">
                  <a:alpha val="0"/>
                </a:srgbClr>
              </a:gs>
            </a:gsLst>
            <a:lin ang="0" scaled="1"/>
          </a:gradFill>
          <a:ln/>
        </p:spPr>
      </p:sp>
      <p:sp>
        <p:nvSpPr>
          <p:cNvPr id="19" name="Shape 15"/>
          <p:cNvSpPr/>
          <p:nvPr/>
        </p:nvSpPr>
        <p:spPr>
          <a:xfrm>
            <a:off x="1332865" y="4988941"/>
            <a:ext cx="12541123" cy="1286764"/>
          </a:xfrm>
          <a:custGeom>
            <a:avLst/>
            <a:gdLst/>
            <a:ahLst/>
            <a:cxnLst/>
            <a:rect l="l" t="t" r="r" b="b"/>
            <a:pathLst>
              <a:path w="12541123" h="1286764">
                <a:moveTo>
                  <a:pt x="11635732" y="1286766"/>
                </a:moveTo>
                <a:cubicBezTo>
                  <a:pt x="11369793" y="1286766"/>
                  <a:pt x="11098498" y="1253075"/>
                  <a:pt x="10818416" y="1186069"/>
                </a:cubicBezTo>
                <a:cubicBezTo>
                  <a:pt x="10311397" y="1064480"/>
                  <a:pt x="9858379" y="854994"/>
                  <a:pt x="9400219" y="633085"/>
                </a:cubicBezTo>
                <a:cubicBezTo>
                  <a:pt x="8502113" y="197926"/>
                  <a:pt x="7823016" y="107206"/>
                  <a:pt x="7166203" y="19308"/>
                </a:cubicBezTo>
                <a:lnTo>
                  <a:pt x="7164489" y="19120"/>
                </a:lnTo>
                <a:cubicBezTo>
                  <a:pt x="6743832" y="-37157"/>
                  <a:pt x="6376960" y="155012"/>
                  <a:pt x="6053375" y="324598"/>
                </a:cubicBezTo>
                <a:cubicBezTo>
                  <a:pt x="5926086" y="391226"/>
                  <a:pt x="5805865" y="454279"/>
                  <a:pt x="5689505" y="499074"/>
                </a:cubicBezTo>
                <a:cubicBezTo>
                  <a:pt x="5245272" y="670353"/>
                  <a:pt x="4838330" y="782906"/>
                  <a:pt x="4480458" y="834101"/>
                </a:cubicBezTo>
                <a:cubicBezTo>
                  <a:pt x="3935080" y="918612"/>
                  <a:pt x="3519778" y="838996"/>
                  <a:pt x="3080046" y="754674"/>
                </a:cubicBezTo>
                <a:cubicBezTo>
                  <a:pt x="2590385" y="660753"/>
                  <a:pt x="2035365" y="554411"/>
                  <a:pt x="1198975" y="659435"/>
                </a:cubicBezTo>
                <a:cubicBezTo>
                  <a:pt x="900035" y="696891"/>
                  <a:pt x="616096" y="800787"/>
                  <a:pt x="341370" y="901296"/>
                </a:cubicBezTo>
                <a:cubicBezTo>
                  <a:pt x="231224" y="941574"/>
                  <a:pt x="117433" y="983170"/>
                  <a:pt x="3642" y="1020250"/>
                </a:cubicBezTo>
                <a:lnTo>
                  <a:pt x="0" y="1011779"/>
                </a:lnTo>
                <a:cubicBezTo>
                  <a:pt x="113361" y="974888"/>
                  <a:pt x="227152" y="933292"/>
                  <a:pt x="337298" y="893015"/>
                </a:cubicBezTo>
                <a:cubicBezTo>
                  <a:pt x="612667" y="792318"/>
                  <a:pt x="897249" y="688234"/>
                  <a:pt x="1197475" y="650401"/>
                </a:cubicBezTo>
                <a:cubicBezTo>
                  <a:pt x="2035579" y="545189"/>
                  <a:pt x="2591672" y="651719"/>
                  <a:pt x="3082190" y="745640"/>
                </a:cubicBezTo>
                <a:cubicBezTo>
                  <a:pt x="3520851" y="829774"/>
                  <a:pt x="3935080" y="909201"/>
                  <a:pt x="4478744" y="824879"/>
                </a:cubicBezTo>
                <a:cubicBezTo>
                  <a:pt x="4835972" y="773872"/>
                  <a:pt x="5241844" y="661506"/>
                  <a:pt x="5685433" y="490605"/>
                </a:cubicBezTo>
                <a:cubicBezTo>
                  <a:pt x="5801152" y="445998"/>
                  <a:pt x="5921157" y="383132"/>
                  <a:pt x="6048019" y="316692"/>
                </a:cubicBezTo>
                <a:cubicBezTo>
                  <a:pt x="6373102" y="146355"/>
                  <a:pt x="6741474" y="-46567"/>
                  <a:pt x="7165990" y="10086"/>
                </a:cubicBezTo>
                <a:lnTo>
                  <a:pt x="7167704" y="10273"/>
                </a:lnTo>
                <a:cubicBezTo>
                  <a:pt x="7825372" y="98172"/>
                  <a:pt x="8505542" y="189081"/>
                  <a:pt x="9405146" y="624993"/>
                </a:cubicBezTo>
                <a:cubicBezTo>
                  <a:pt x="10190322" y="1005568"/>
                  <a:pt x="11265648" y="1526742"/>
                  <a:pt x="12537697" y="1143531"/>
                </a:cubicBezTo>
                <a:lnTo>
                  <a:pt x="12541125" y="1152002"/>
                </a:lnTo>
                <a:cubicBezTo>
                  <a:pt x="12243042" y="1241781"/>
                  <a:pt x="11943030" y="1286766"/>
                  <a:pt x="11635732" y="1286766"/>
                </a:cubicBezTo>
                <a:close/>
              </a:path>
            </a:pathLst>
          </a:custGeom>
          <a:gradFill rotWithShape="1" flip="none">
            <a:gsLst>
              <a:gs pos="0">
                <a:srgbClr val="DFEAF9">
                  <a:alpha val="12000"/>
                </a:srgbClr>
              </a:gs>
              <a:gs pos="8000">
                <a:srgbClr val="DFEAF9">
                  <a:alpha val="12000"/>
                </a:srgbClr>
              </a:gs>
              <a:gs pos="43000">
                <a:srgbClr val="E5EEFB">
                  <a:alpha val="67000"/>
                </a:srgbClr>
              </a:gs>
              <a:gs pos="71000">
                <a:srgbClr val="CCE0FF">
                  <a:alpha val="50000"/>
                </a:srgbClr>
              </a:gs>
              <a:gs pos="100000">
                <a:srgbClr val="DFEAF9">
                  <a:alpha val="0"/>
                </a:srgbClr>
              </a:gs>
            </a:gsLst>
            <a:lin ang="0" scaled="1"/>
          </a:gradFill>
          <a:ln/>
        </p:spPr>
      </p:sp>
      <p:sp>
        <p:nvSpPr>
          <p:cNvPr id="20" name="Shape 16"/>
          <p:cNvSpPr/>
          <p:nvPr/>
        </p:nvSpPr>
        <p:spPr>
          <a:xfrm>
            <a:off x="1252347" y="4935601"/>
            <a:ext cx="12238228" cy="1401699"/>
          </a:xfrm>
          <a:custGeom>
            <a:avLst/>
            <a:gdLst/>
            <a:ahLst/>
            <a:cxnLst/>
            <a:rect l="l" t="t" r="r" b="b"/>
            <a:pathLst>
              <a:path w="12238228" h="1401699">
                <a:moveTo>
                  <a:pt x="11359418" y="1401701"/>
                </a:moveTo>
                <a:cubicBezTo>
                  <a:pt x="11079765" y="1401701"/>
                  <a:pt x="10799471" y="1366880"/>
                  <a:pt x="10514464" y="1297236"/>
                </a:cubicBezTo>
                <a:cubicBezTo>
                  <a:pt x="9999948" y="1171502"/>
                  <a:pt x="9543505" y="949022"/>
                  <a:pt x="9156065" y="750445"/>
                </a:cubicBezTo>
                <a:cubicBezTo>
                  <a:pt x="8375611" y="350279"/>
                  <a:pt x="7776236" y="211370"/>
                  <a:pt x="7141504" y="64178"/>
                </a:cubicBezTo>
                <a:cubicBezTo>
                  <a:pt x="7098216" y="54203"/>
                  <a:pt x="7054714" y="44040"/>
                  <a:pt x="7010998" y="33874"/>
                </a:cubicBezTo>
                <a:cubicBezTo>
                  <a:pt x="6600630" y="-61931"/>
                  <a:pt x="6214261" y="121211"/>
                  <a:pt x="5873535" y="282896"/>
                </a:cubicBezTo>
                <a:cubicBezTo>
                  <a:pt x="5759104" y="337104"/>
                  <a:pt x="5651101" y="388489"/>
                  <a:pt x="5546313" y="427827"/>
                </a:cubicBezTo>
                <a:cubicBezTo>
                  <a:pt x="5110227" y="591584"/>
                  <a:pt x="4716357" y="715246"/>
                  <a:pt x="4375634" y="795054"/>
                </a:cubicBezTo>
                <a:cubicBezTo>
                  <a:pt x="3781616" y="939422"/>
                  <a:pt x="3360746" y="906860"/>
                  <a:pt x="2873444" y="869025"/>
                </a:cubicBezTo>
                <a:cubicBezTo>
                  <a:pt x="2432432" y="834769"/>
                  <a:pt x="1932488" y="796184"/>
                  <a:pt x="1193609" y="878250"/>
                </a:cubicBezTo>
                <a:cubicBezTo>
                  <a:pt x="927886" y="907800"/>
                  <a:pt x="678021" y="980644"/>
                  <a:pt x="413585" y="1057627"/>
                </a:cubicBezTo>
                <a:cubicBezTo>
                  <a:pt x="280081" y="1096400"/>
                  <a:pt x="142076" y="1136681"/>
                  <a:pt x="2358" y="1170562"/>
                </a:cubicBezTo>
                <a:lnTo>
                  <a:pt x="0" y="1163220"/>
                </a:lnTo>
                <a:cubicBezTo>
                  <a:pt x="139505" y="1129340"/>
                  <a:pt x="277295" y="1089249"/>
                  <a:pt x="410798" y="1050473"/>
                </a:cubicBezTo>
                <a:cubicBezTo>
                  <a:pt x="675663" y="973302"/>
                  <a:pt x="925956" y="900459"/>
                  <a:pt x="1192536" y="870908"/>
                </a:cubicBezTo>
                <a:cubicBezTo>
                  <a:pt x="1932488" y="788655"/>
                  <a:pt x="2432859" y="827428"/>
                  <a:pt x="2874301" y="861686"/>
                </a:cubicBezTo>
                <a:cubicBezTo>
                  <a:pt x="3360746" y="899331"/>
                  <a:pt x="3780972" y="931893"/>
                  <a:pt x="4373276" y="787902"/>
                </a:cubicBezTo>
                <a:cubicBezTo>
                  <a:pt x="4713572" y="708095"/>
                  <a:pt x="5107012" y="584620"/>
                  <a:pt x="5542884" y="421051"/>
                </a:cubicBezTo>
                <a:cubicBezTo>
                  <a:pt x="5647245" y="381901"/>
                  <a:pt x="5755246" y="330704"/>
                  <a:pt x="5869465" y="276495"/>
                </a:cubicBezTo>
                <a:cubicBezTo>
                  <a:pt x="6211689" y="114247"/>
                  <a:pt x="6599559" y="-69838"/>
                  <a:pt x="7013356" y="26723"/>
                </a:cubicBezTo>
                <a:cubicBezTo>
                  <a:pt x="7056858" y="36886"/>
                  <a:pt x="7100360" y="47051"/>
                  <a:pt x="7143646" y="57027"/>
                </a:cubicBezTo>
                <a:cubicBezTo>
                  <a:pt x="7778808" y="204217"/>
                  <a:pt x="8379040" y="343315"/>
                  <a:pt x="9160350" y="744044"/>
                </a:cubicBezTo>
                <a:cubicBezTo>
                  <a:pt x="10033378" y="1191830"/>
                  <a:pt x="10990192" y="1601972"/>
                  <a:pt x="12235659" y="1280485"/>
                </a:cubicBezTo>
                <a:lnTo>
                  <a:pt x="12238230" y="1287826"/>
                </a:lnTo>
                <a:cubicBezTo>
                  <a:pt x="11943364" y="1363679"/>
                  <a:pt x="11651713" y="1401701"/>
                  <a:pt x="11359418" y="1401701"/>
                </a:cubicBezTo>
                <a:close/>
              </a:path>
            </a:pathLst>
          </a:custGeom>
          <a:gradFill rotWithShape="1" flip="none">
            <a:gsLst>
              <a:gs pos="0">
                <a:srgbClr val="DFEAF9">
                  <a:alpha val="12000"/>
                </a:srgbClr>
              </a:gs>
              <a:gs pos="8000">
                <a:srgbClr val="DFEAF9">
                  <a:alpha val="12000"/>
                </a:srgbClr>
              </a:gs>
              <a:gs pos="43000">
                <a:srgbClr val="E5EEFB">
                  <a:alpha val="67000"/>
                </a:srgbClr>
              </a:gs>
              <a:gs pos="71000">
                <a:srgbClr val="CCE0FF">
                  <a:alpha val="50000"/>
                </a:srgbClr>
              </a:gs>
              <a:gs pos="100000">
                <a:srgbClr val="DFEAF9">
                  <a:alpha val="0"/>
                </a:srgbClr>
              </a:gs>
            </a:gsLst>
            <a:lin ang="0" scaled="1"/>
          </a:gradFill>
          <a:ln/>
        </p:spPr>
      </p:sp>
      <p:sp>
        <p:nvSpPr>
          <p:cNvPr id="21" name="Shape 17"/>
          <p:cNvSpPr/>
          <p:nvPr/>
        </p:nvSpPr>
        <p:spPr>
          <a:xfrm>
            <a:off x="1172210" y="4907153"/>
            <a:ext cx="11935460" cy="1492250"/>
          </a:xfrm>
          <a:custGeom>
            <a:avLst/>
            <a:gdLst/>
            <a:ahLst/>
            <a:cxnLst/>
            <a:rect l="l" t="t" r="r" b="b"/>
            <a:pathLst>
              <a:path w="11935460" h="1492250">
                <a:moveTo>
                  <a:pt x="11087077" y="1492252"/>
                </a:moveTo>
                <a:cubicBezTo>
                  <a:pt x="10195833" y="1492252"/>
                  <a:pt x="9505597" y="1166440"/>
                  <a:pt x="8911577" y="842886"/>
                </a:cubicBezTo>
                <a:cubicBezTo>
                  <a:pt x="8159839" y="433503"/>
                  <a:pt x="7572677" y="134984"/>
                  <a:pt x="6858224" y="23932"/>
                </a:cubicBezTo>
                <a:cubicBezTo>
                  <a:pt x="6396638" y="-47780"/>
                  <a:pt x="5964838" y="117480"/>
                  <a:pt x="5583611" y="263350"/>
                </a:cubicBezTo>
                <a:cubicBezTo>
                  <a:pt x="5521037" y="287255"/>
                  <a:pt x="5462106" y="309842"/>
                  <a:pt x="5402961" y="331488"/>
                </a:cubicBezTo>
                <a:cubicBezTo>
                  <a:pt x="4963019" y="492418"/>
                  <a:pt x="4582008" y="626807"/>
                  <a:pt x="4270425" y="731083"/>
                </a:cubicBezTo>
                <a:cubicBezTo>
                  <a:pt x="3561758" y="968806"/>
                  <a:pt x="3114315" y="981229"/>
                  <a:pt x="2495010" y="998358"/>
                </a:cubicBezTo>
                <a:cubicBezTo>
                  <a:pt x="2139285" y="1008146"/>
                  <a:pt x="1736198" y="1019439"/>
                  <a:pt x="1188252" y="1072141"/>
                </a:cubicBezTo>
                <a:cubicBezTo>
                  <a:pt x="958531" y="1094162"/>
                  <a:pt x="736096" y="1143288"/>
                  <a:pt x="500374" y="1195425"/>
                </a:cubicBezTo>
                <a:cubicBezTo>
                  <a:pt x="339440" y="1231000"/>
                  <a:pt x="172935" y="1267702"/>
                  <a:pt x="1285" y="1295936"/>
                </a:cubicBezTo>
                <a:lnTo>
                  <a:pt x="0" y="1289536"/>
                </a:lnTo>
                <a:cubicBezTo>
                  <a:pt x="171434" y="1261491"/>
                  <a:pt x="337725" y="1224787"/>
                  <a:pt x="498660" y="1189214"/>
                </a:cubicBezTo>
                <a:cubicBezTo>
                  <a:pt x="734595" y="1137077"/>
                  <a:pt x="957460" y="1087952"/>
                  <a:pt x="1187611" y="1065740"/>
                </a:cubicBezTo>
                <a:cubicBezTo>
                  <a:pt x="1735985" y="1013038"/>
                  <a:pt x="2139071" y="1001933"/>
                  <a:pt x="2495010" y="991957"/>
                </a:cubicBezTo>
                <a:cubicBezTo>
                  <a:pt x="3113458" y="974829"/>
                  <a:pt x="3560474" y="962407"/>
                  <a:pt x="4268067" y="725060"/>
                </a:cubicBezTo>
                <a:cubicBezTo>
                  <a:pt x="4579650" y="620784"/>
                  <a:pt x="4960447" y="486395"/>
                  <a:pt x="5400390" y="325465"/>
                </a:cubicBezTo>
                <a:cubicBezTo>
                  <a:pt x="5459535" y="303819"/>
                  <a:pt x="5518466" y="281232"/>
                  <a:pt x="5581039" y="257327"/>
                </a:cubicBezTo>
                <a:cubicBezTo>
                  <a:pt x="5963124" y="111080"/>
                  <a:pt x="6396209" y="-54556"/>
                  <a:pt x="6859724" y="17346"/>
                </a:cubicBezTo>
                <a:cubicBezTo>
                  <a:pt x="7575462" y="128584"/>
                  <a:pt x="8163267" y="427292"/>
                  <a:pt x="8915647" y="837050"/>
                </a:cubicBezTo>
                <a:cubicBezTo>
                  <a:pt x="9684316" y="1255845"/>
                  <a:pt x="10614990" y="1678403"/>
                  <a:pt x="11933748" y="1391175"/>
                </a:cubicBezTo>
                <a:lnTo>
                  <a:pt x="11935462" y="1397388"/>
                </a:lnTo>
                <a:cubicBezTo>
                  <a:pt x="11633095" y="1463642"/>
                  <a:pt x="11351299" y="1492252"/>
                  <a:pt x="11087077" y="1492252"/>
                </a:cubicBezTo>
                <a:close/>
              </a:path>
            </a:pathLst>
          </a:custGeom>
          <a:gradFill rotWithShape="1" flip="none">
            <a:gsLst>
              <a:gs pos="0">
                <a:srgbClr val="DFEAF9">
                  <a:alpha val="12000"/>
                </a:srgbClr>
              </a:gs>
              <a:gs pos="8000">
                <a:srgbClr val="DFEAF9">
                  <a:alpha val="12000"/>
                </a:srgbClr>
              </a:gs>
              <a:gs pos="43000">
                <a:srgbClr val="E5EEFB">
                  <a:alpha val="67000"/>
                </a:srgbClr>
              </a:gs>
              <a:gs pos="71000">
                <a:srgbClr val="CCE0FF">
                  <a:alpha val="50000"/>
                </a:srgbClr>
              </a:gs>
              <a:gs pos="100000">
                <a:srgbClr val="DFEAF9">
                  <a:alpha val="0"/>
                </a:srgbClr>
              </a:gs>
            </a:gsLst>
            <a:lin ang="0" scaled="1"/>
          </a:gradFill>
          <a:ln/>
        </p:spPr>
      </p:sp>
      <p:sp>
        <p:nvSpPr>
          <p:cNvPr id="22" name="Shape 18"/>
          <p:cNvSpPr/>
          <p:nvPr/>
        </p:nvSpPr>
        <p:spPr>
          <a:xfrm>
            <a:off x="1091565" y="4848098"/>
            <a:ext cx="11632692" cy="1614170"/>
          </a:xfrm>
          <a:custGeom>
            <a:avLst/>
            <a:gdLst/>
            <a:ahLst/>
            <a:cxnLst/>
            <a:rect l="l" t="t" r="r" b="b"/>
            <a:pathLst>
              <a:path w="11632692" h="1614170">
                <a:moveTo>
                  <a:pt x="10826092" y="1614170"/>
                </a:moveTo>
                <a:cubicBezTo>
                  <a:pt x="10508511" y="1614170"/>
                  <a:pt x="10203785" y="1576527"/>
                  <a:pt x="9906132" y="1501052"/>
                </a:cubicBezTo>
                <a:cubicBezTo>
                  <a:pt x="9409186" y="1375135"/>
                  <a:pt x="9001172" y="1160002"/>
                  <a:pt x="8667731" y="966137"/>
                </a:cubicBezTo>
                <a:cubicBezTo>
                  <a:pt x="8602372" y="928118"/>
                  <a:pt x="8538298" y="890662"/>
                  <a:pt x="8475725" y="854149"/>
                </a:cubicBezTo>
                <a:cubicBezTo>
                  <a:pt x="7855775" y="491454"/>
                  <a:pt x="7366116" y="205176"/>
                  <a:pt x="6705235" y="44815"/>
                </a:cubicBezTo>
                <a:cubicBezTo>
                  <a:pt x="6214716" y="-74139"/>
                  <a:pt x="5731701" y="98079"/>
                  <a:pt x="5305686" y="249970"/>
                </a:cubicBezTo>
                <a:lnTo>
                  <a:pt x="5260042" y="266158"/>
                </a:lnTo>
                <a:cubicBezTo>
                  <a:pt x="4859742" y="408450"/>
                  <a:pt x="4481299" y="557894"/>
                  <a:pt x="4165646" y="698116"/>
                </a:cubicBezTo>
                <a:cubicBezTo>
                  <a:pt x="3140254" y="1141368"/>
                  <a:pt x="2734167" y="1173741"/>
                  <a:pt x="1388406" y="1280649"/>
                </a:cubicBezTo>
                <a:cubicBezTo>
                  <a:pt x="1322404" y="1285919"/>
                  <a:pt x="1254044" y="1291377"/>
                  <a:pt x="1183328" y="1297024"/>
                </a:cubicBezTo>
                <a:cubicBezTo>
                  <a:pt x="995605" y="1312082"/>
                  <a:pt x="809385" y="1340878"/>
                  <a:pt x="612021" y="1371558"/>
                </a:cubicBezTo>
                <a:cubicBezTo>
                  <a:pt x="416586" y="1401861"/>
                  <a:pt x="214293" y="1433106"/>
                  <a:pt x="643" y="1452115"/>
                </a:cubicBezTo>
                <a:lnTo>
                  <a:pt x="0" y="1447033"/>
                </a:lnTo>
                <a:cubicBezTo>
                  <a:pt x="213436" y="1428211"/>
                  <a:pt x="415515" y="1396778"/>
                  <a:pt x="610950" y="1366476"/>
                </a:cubicBezTo>
                <a:cubicBezTo>
                  <a:pt x="808314" y="1335986"/>
                  <a:pt x="994748" y="1306999"/>
                  <a:pt x="1182685" y="1291942"/>
                </a:cubicBezTo>
                <a:cubicBezTo>
                  <a:pt x="1253400" y="1286296"/>
                  <a:pt x="1321760" y="1280837"/>
                  <a:pt x="1387763" y="1275566"/>
                </a:cubicBezTo>
                <a:cubicBezTo>
                  <a:pt x="2732667" y="1168659"/>
                  <a:pt x="3138539" y="1136475"/>
                  <a:pt x="4162859" y="693598"/>
                </a:cubicBezTo>
                <a:cubicBezTo>
                  <a:pt x="4478728" y="553377"/>
                  <a:pt x="4857384" y="403933"/>
                  <a:pt x="5257684" y="261451"/>
                </a:cubicBezTo>
                <a:lnTo>
                  <a:pt x="5303328" y="245266"/>
                </a:lnTo>
                <a:cubicBezTo>
                  <a:pt x="5730414" y="92998"/>
                  <a:pt x="6214289" y="-79599"/>
                  <a:pt x="6706736" y="39920"/>
                </a:cubicBezTo>
                <a:cubicBezTo>
                  <a:pt x="7368687" y="200469"/>
                  <a:pt x="7858560" y="487124"/>
                  <a:pt x="8478940" y="850007"/>
                </a:cubicBezTo>
                <a:cubicBezTo>
                  <a:pt x="8541513" y="886710"/>
                  <a:pt x="8605371" y="923976"/>
                  <a:pt x="8670946" y="961997"/>
                </a:cubicBezTo>
                <a:cubicBezTo>
                  <a:pt x="9424615" y="1400167"/>
                  <a:pt x="10304931" y="1772650"/>
                  <a:pt x="11631621" y="1533990"/>
                </a:cubicBezTo>
                <a:lnTo>
                  <a:pt x="11632692" y="1539071"/>
                </a:lnTo>
                <a:cubicBezTo>
                  <a:pt x="11353467" y="1589138"/>
                  <a:pt x="11085386" y="1614170"/>
                  <a:pt x="10826092" y="1614170"/>
                </a:cubicBezTo>
                <a:close/>
              </a:path>
            </a:pathLst>
          </a:custGeom>
          <a:gradFill rotWithShape="1" flip="none">
            <a:gsLst>
              <a:gs pos="0">
                <a:srgbClr val="DFEAF9">
                  <a:alpha val="12000"/>
                </a:srgbClr>
              </a:gs>
              <a:gs pos="8000">
                <a:srgbClr val="DFEAF9">
                  <a:alpha val="12000"/>
                </a:srgbClr>
              </a:gs>
              <a:gs pos="43000">
                <a:srgbClr val="E5EEFB">
                  <a:alpha val="67000"/>
                </a:srgbClr>
              </a:gs>
              <a:gs pos="71000">
                <a:srgbClr val="CCE0FF">
                  <a:alpha val="50000"/>
                </a:srgbClr>
              </a:gs>
              <a:gs pos="100000">
                <a:srgbClr val="DFEAF9">
                  <a:alpha val="0"/>
                </a:srgbClr>
              </a:gs>
            </a:gsLst>
            <a:lin ang="0" scaled="1"/>
          </a:gradFill>
          <a:ln/>
        </p:spPr>
      </p:sp>
      <p:sp>
        <p:nvSpPr>
          <p:cNvPr id="23" name="Shape 19"/>
          <p:cNvSpPr/>
          <p:nvPr/>
        </p:nvSpPr>
        <p:spPr>
          <a:xfrm>
            <a:off x="1010793" y="4779899"/>
            <a:ext cx="11330686" cy="1746250"/>
          </a:xfrm>
          <a:custGeom>
            <a:avLst/>
            <a:gdLst/>
            <a:ahLst/>
            <a:cxnLst/>
            <a:rect l="l" t="t" r="r" b="b"/>
            <a:pathLst>
              <a:path w="11330686" h="1746250">
                <a:moveTo>
                  <a:pt x="10574452" y="1746252"/>
                </a:moveTo>
                <a:cubicBezTo>
                  <a:pt x="10229655" y="1746252"/>
                  <a:pt x="9907576" y="1706914"/>
                  <a:pt x="9601781" y="1627862"/>
                </a:cubicBezTo>
                <a:cubicBezTo>
                  <a:pt x="9103552" y="1499119"/>
                  <a:pt x="8710540" y="1277394"/>
                  <a:pt x="8423602" y="1098396"/>
                </a:cubicBezTo>
                <a:cubicBezTo>
                  <a:pt x="8290957" y="1015579"/>
                  <a:pt x="8164524" y="933704"/>
                  <a:pt x="8042163" y="854462"/>
                </a:cubicBezTo>
                <a:cubicBezTo>
                  <a:pt x="7559150" y="541263"/>
                  <a:pt x="7141923" y="270978"/>
                  <a:pt x="6552191" y="74476"/>
                </a:cubicBezTo>
                <a:cubicBezTo>
                  <a:pt x="6061891" y="-88899"/>
                  <a:pt x="5554234" y="58666"/>
                  <a:pt x="5116865" y="209807"/>
                </a:cubicBezTo>
                <a:cubicBezTo>
                  <a:pt x="4722781" y="345891"/>
                  <a:pt x="4357414" y="506443"/>
                  <a:pt x="4060190" y="674148"/>
                </a:cubicBezTo>
                <a:lnTo>
                  <a:pt x="3989473" y="711980"/>
                </a:lnTo>
                <a:cubicBezTo>
                  <a:pt x="2999660" y="1241068"/>
                  <a:pt x="2629148" y="1439076"/>
                  <a:pt x="1178176" y="1530740"/>
                </a:cubicBezTo>
                <a:cubicBezTo>
                  <a:pt x="1045101" y="1539209"/>
                  <a:pt x="911383" y="1551821"/>
                  <a:pt x="769737" y="1565373"/>
                </a:cubicBezTo>
                <a:cubicBezTo>
                  <a:pt x="526945" y="1588522"/>
                  <a:pt x="275794" y="1612427"/>
                  <a:pt x="0" y="1616944"/>
                </a:cubicBezTo>
                <a:lnTo>
                  <a:pt x="0" y="1613180"/>
                </a:lnTo>
                <a:cubicBezTo>
                  <a:pt x="275794" y="1608662"/>
                  <a:pt x="526731" y="1584758"/>
                  <a:pt x="769523" y="1561608"/>
                </a:cubicBezTo>
                <a:cubicBezTo>
                  <a:pt x="911169" y="1548056"/>
                  <a:pt x="1045101" y="1535255"/>
                  <a:pt x="1178176" y="1526976"/>
                </a:cubicBezTo>
                <a:cubicBezTo>
                  <a:pt x="2628077" y="1435312"/>
                  <a:pt x="2998373" y="1237491"/>
                  <a:pt x="3987545" y="708780"/>
                </a:cubicBezTo>
                <a:lnTo>
                  <a:pt x="4058262" y="670946"/>
                </a:lnTo>
                <a:cubicBezTo>
                  <a:pt x="4355484" y="503243"/>
                  <a:pt x="4721281" y="342502"/>
                  <a:pt x="5115578" y="206420"/>
                </a:cubicBezTo>
                <a:cubicBezTo>
                  <a:pt x="5323442" y="134707"/>
                  <a:pt x="5569449" y="56407"/>
                  <a:pt x="5819742" y="20646"/>
                </a:cubicBezTo>
                <a:cubicBezTo>
                  <a:pt x="6094036" y="-18504"/>
                  <a:pt x="6334257" y="-2128"/>
                  <a:pt x="6554119" y="71089"/>
                </a:cubicBezTo>
                <a:cubicBezTo>
                  <a:pt x="7144494" y="267779"/>
                  <a:pt x="7582079" y="551238"/>
                  <a:pt x="8045164" y="851640"/>
                </a:cubicBezTo>
                <a:cubicBezTo>
                  <a:pt x="8167525" y="930881"/>
                  <a:pt x="8293956" y="1012945"/>
                  <a:pt x="8426604" y="1095574"/>
                </a:cubicBezTo>
                <a:cubicBezTo>
                  <a:pt x="9108695" y="1520952"/>
                  <a:pt x="9932434" y="1886853"/>
                  <a:pt x="11330045" y="1685456"/>
                </a:cubicBezTo>
                <a:lnTo>
                  <a:pt x="11330688" y="1689221"/>
                </a:lnTo>
                <a:cubicBezTo>
                  <a:pt x="11065823" y="1727242"/>
                  <a:pt x="10814673" y="1746252"/>
                  <a:pt x="10574452" y="1746252"/>
                </a:cubicBezTo>
                <a:close/>
              </a:path>
            </a:pathLst>
          </a:custGeom>
          <a:gradFill rotWithShape="1" flip="none">
            <a:gsLst>
              <a:gs pos="0">
                <a:srgbClr val="DFEAF9">
                  <a:alpha val="12000"/>
                </a:srgbClr>
              </a:gs>
              <a:gs pos="8000">
                <a:srgbClr val="DFEAF9">
                  <a:alpha val="12000"/>
                </a:srgbClr>
              </a:gs>
              <a:gs pos="43000">
                <a:srgbClr val="E5EEFB">
                  <a:alpha val="67000"/>
                </a:srgbClr>
              </a:gs>
              <a:gs pos="71000">
                <a:srgbClr val="CCE0FF">
                  <a:alpha val="50000"/>
                </a:srgbClr>
              </a:gs>
              <a:gs pos="100000">
                <a:srgbClr val="DFEAF9">
                  <a:alpha val="0"/>
                </a:srgbClr>
              </a:gs>
            </a:gsLst>
            <a:lin ang="0" scaled="1"/>
          </a:gradFill>
          <a:ln/>
        </p:spPr>
      </p:sp>
      <p:sp>
        <p:nvSpPr>
          <p:cNvPr id="24" name="Shape 20"/>
          <p:cNvSpPr/>
          <p:nvPr/>
        </p:nvSpPr>
        <p:spPr>
          <a:xfrm>
            <a:off x="929767" y="4702302"/>
            <a:ext cx="11028807" cy="1888744"/>
          </a:xfrm>
          <a:custGeom>
            <a:avLst/>
            <a:gdLst/>
            <a:ahLst/>
            <a:cxnLst/>
            <a:rect l="l" t="t" r="r" b="b"/>
            <a:pathLst>
              <a:path w="11028807" h="1888744">
                <a:moveTo>
                  <a:pt x="10339213" y="1888746"/>
                </a:moveTo>
                <a:cubicBezTo>
                  <a:pt x="9957985" y="1888746"/>
                  <a:pt x="9613831" y="1847337"/>
                  <a:pt x="9297749" y="1764332"/>
                </a:cubicBezTo>
                <a:cubicBezTo>
                  <a:pt x="8804017" y="1634458"/>
                  <a:pt x="8441006" y="1416121"/>
                  <a:pt x="8180210" y="1240323"/>
                </a:cubicBezTo>
                <a:cubicBezTo>
                  <a:pt x="8019705" y="1132283"/>
                  <a:pt x="7867771" y="1021044"/>
                  <a:pt x="7720551" y="913571"/>
                </a:cubicBezTo>
                <a:cubicBezTo>
                  <a:pt x="7321753" y="622204"/>
                  <a:pt x="6945240" y="347023"/>
                  <a:pt x="6399863" y="113816"/>
                </a:cubicBezTo>
                <a:cubicBezTo>
                  <a:pt x="6016709" y="-50123"/>
                  <a:pt x="5563692" y="-34502"/>
                  <a:pt x="4974385" y="162944"/>
                </a:cubicBezTo>
                <a:cubicBezTo>
                  <a:pt x="4594658" y="290181"/>
                  <a:pt x="4232717" y="466544"/>
                  <a:pt x="3955423" y="659659"/>
                </a:cubicBezTo>
                <a:cubicBezTo>
                  <a:pt x="3781844" y="770898"/>
                  <a:pt x="3632483" y="872350"/>
                  <a:pt x="3488048" y="970413"/>
                </a:cubicBezTo>
                <a:cubicBezTo>
                  <a:pt x="2800596" y="1437202"/>
                  <a:pt x="2385724" y="1718971"/>
                  <a:pt x="1173683" y="1773930"/>
                </a:cubicBezTo>
                <a:cubicBezTo>
                  <a:pt x="1127609" y="1776001"/>
                  <a:pt x="1080894" y="1778259"/>
                  <a:pt x="1033536" y="1780518"/>
                </a:cubicBezTo>
                <a:cubicBezTo>
                  <a:pt x="730311" y="1795200"/>
                  <a:pt x="386798" y="1811764"/>
                  <a:pt x="0" y="1791436"/>
                </a:cubicBezTo>
                <a:lnTo>
                  <a:pt x="214" y="1788800"/>
                </a:lnTo>
                <a:cubicBezTo>
                  <a:pt x="386798" y="1809128"/>
                  <a:pt x="730311" y="1792377"/>
                  <a:pt x="1033536" y="1777884"/>
                </a:cubicBezTo>
                <a:cubicBezTo>
                  <a:pt x="1080894" y="1775625"/>
                  <a:pt x="1127609" y="1773367"/>
                  <a:pt x="1173683" y="1771296"/>
                </a:cubicBezTo>
                <a:cubicBezTo>
                  <a:pt x="2384867" y="1716523"/>
                  <a:pt x="2799525" y="1434943"/>
                  <a:pt x="3486550" y="968342"/>
                </a:cubicBezTo>
                <a:cubicBezTo>
                  <a:pt x="3624338" y="874796"/>
                  <a:pt x="3780344" y="768827"/>
                  <a:pt x="3953922" y="657590"/>
                </a:cubicBezTo>
                <a:cubicBezTo>
                  <a:pt x="4231432" y="464286"/>
                  <a:pt x="4593587" y="287733"/>
                  <a:pt x="4973528" y="160495"/>
                </a:cubicBezTo>
                <a:cubicBezTo>
                  <a:pt x="5238394" y="71844"/>
                  <a:pt x="5470688" y="21024"/>
                  <a:pt x="5683910" y="5213"/>
                </a:cubicBezTo>
                <a:cubicBezTo>
                  <a:pt x="5949206" y="-14362"/>
                  <a:pt x="6190712" y="21211"/>
                  <a:pt x="6401577" y="111558"/>
                </a:cubicBezTo>
                <a:cubicBezTo>
                  <a:pt x="6947382" y="344952"/>
                  <a:pt x="7324110" y="620321"/>
                  <a:pt x="7722909" y="911688"/>
                </a:cubicBezTo>
                <a:cubicBezTo>
                  <a:pt x="7869913" y="1019163"/>
                  <a:pt x="8022062" y="1130402"/>
                  <a:pt x="8182354" y="1238252"/>
                </a:cubicBezTo>
                <a:cubicBezTo>
                  <a:pt x="8793088" y="1649704"/>
                  <a:pt x="9560687" y="2008077"/>
                  <a:pt x="11028380" y="1846019"/>
                </a:cubicBezTo>
                <a:lnTo>
                  <a:pt x="11028809" y="1848655"/>
                </a:lnTo>
                <a:cubicBezTo>
                  <a:pt x="10785800" y="1875382"/>
                  <a:pt x="10556507" y="1888746"/>
                  <a:pt x="10339213" y="1888746"/>
                </a:cubicBezTo>
                <a:close/>
              </a:path>
            </a:pathLst>
          </a:custGeom>
          <a:gradFill rotWithShape="1" flip="none">
            <a:gsLst>
              <a:gs pos="0">
                <a:srgbClr val="DFEAF9">
                  <a:alpha val="12000"/>
                </a:srgbClr>
              </a:gs>
              <a:gs pos="8000">
                <a:srgbClr val="DFEAF9">
                  <a:alpha val="12000"/>
                </a:srgbClr>
              </a:gs>
              <a:gs pos="43000">
                <a:srgbClr val="E5EEFB">
                  <a:alpha val="67000"/>
                </a:srgbClr>
              </a:gs>
              <a:gs pos="71000">
                <a:srgbClr val="CCE0FF">
                  <a:alpha val="50000"/>
                </a:srgbClr>
              </a:gs>
              <a:gs pos="100000">
                <a:srgbClr val="DFEAF9">
                  <a:alpha val="0"/>
                </a:srgbClr>
              </a:gs>
            </a:gsLst>
            <a:lin ang="0" scaled="1"/>
          </a:gradFill>
          <a:ln/>
        </p:spPr>
      </p:sp>
      <p:sp>
        <p:nvSpPr>
          <p:cNvPr id="25" name="Shape 21"/>
          <p:cNvSpPr/>
          <p:nvPr/>
        </p:nvSpPr>
        <p:spPr>
          <a:xfrm>
            <a:off x="848614" y="4614926"/>
            <a:ext cx="10726674" cy="2042668"/>
          </a:xfrm>
          <a:custGeom>
            <a:avLst/>
            <a:gdLst/>
            <a:ahLst/>
            <a:cxnLst/>
            <a:rect l="l" t="t" r="r" b="b"/>
            <a:pathLst>
              <a:path w="10726674" h="2042668">
                <a:moveTo>
                  <a:pt x="10129224" y="2042668"/>
                </a:moveTo>
                <a:cubicBezTo>
                  <a:pt x="9906359" y="2042668"/>
                  <a:pt x="9698709" y="2031000"/>
                  <a:pt x="9504558" y="2007661"/>
                </a:cubicBezTo>
                <a:cubicBezTo>
                  <a:pt x="9846786" y="2048691"/>
                  <a:pt x="10246229" y="2054338"/>
                  <a:pt x="10726460" y="2016508"/>
                </a:cubicBezTo>
                <a:lnTo>
                  <a:pt x="10726674" y="2017824"/>
                </a:lnTo>
                <a:cubicBezTo>
                  <a:pt x="10516239" y="2034387"/>
                  <a:pt x="10317159" y="2042668"/>
                  <a:pt x="10129224" y="2042668"/>
                </a:cubicBezTo>
                <a:close/>
                <a:moveTo>
                  <a:pt x="926178" y="2029870"/>
                </a:moveTo>
                <a:cubicBezTo>
                  <a:pt x="682740" y="2029870"/>
                  <a:pt x="369014" y="2019142"/>
                  <a:pt x="0" y="1975477"/>
                </a:cubicBezTo>
                <a:lnTo>
                  <a:pt x="214" y="1974159"/>
                </a:lnTo>
                <a:cubicBezTo>
                  <a:pt x="507233" y="2034199"/>
                  <a:pt x="910105" y="2031940"/>
                  <a:pt x="1169185" y="2025165"/>
                </a:cubicBezTo>
                <a:cubicBezTo>
                  <a:pt x="2268939" y="1996181"/>
                  <a:pt x="2680596" y="1639894"/>
                  <a:pt x="3250190" y="1146777"/>
                </a:cubicBezTo>
                <a:cubicBezTo>
                  <a:pt x="3422268" y="997713"/>
                  <a:pt x="3617488" y="828887"/>
                  <a:pt x="3849568" y="653849"/>
                </a:cubicBezTo>
                <a:cubicBezTo>
                  <a:pt x="4112077" y="432513"/>
                  <a:pt x="4460733" y="244488"/>
                  <a:pt x="4831462" y="124408"/>
                </a:cubicBezTo>
                <a:cubicBezTo>
                  <a:pt x="5083041" y="42912"/>
                  <a:pt x="5323693" y="1130"/>
                  <a:pt x="5546772" y="0"/>
                </a:cubicBezTo>
                <a:cubicBezTo>
                  <a:pt x="5549773" y="0"/>
                  <a:pt x="5552559" y="0"/>
                  <a:pt x="5555558" y="0"/>
                </a:cubicBezTo>
                <a:cubicBezTo>
                  <a:pt x="5811853" y="0"/>
                  <a:pt x="6045006" y="54393"/>
                  <a:pt x="6248584" y="161675"/>
                </a:cubicBezTo>
                <a:cubicBezTo>
                  <a:pt x="6766103" y="434394"/>
                  <a:pt x="7119043" y="727252"/>
                  <a:pt x="7460414" y="1010512"/>
                </a:cubicBezTo>
                <a:cubicBezTo>
                  <a:pt x="7621133" y="1143766"/>
                  <a:pt x="7772639" y="1269681"/>
                  <a:pt x="7937860" y="1390700"/>
                </a:cubicBezTo>
                <a:cubicBezTo>
                  <a:pt x="8294872" y="1652504"/>
                  <a:pt x="8680816" y="1856714"/>
                  <a:pt x="9216977" y="1962303"/>
                </a:cubicBezTo>
                <a:cubicBezTo>
                  <a:pt x="9140259" y="1947246"/>
                  <a:pt x="9065901" y="1930118"/>
                  <a:pt x="8993682" y="1910732"/>
                </a:cubicBezTo>
                <a:cubicBezTo>
                  <a:pt x="8786889" y="1855396"/>
                  <a:pt x="8596597" y="1782560"/>
                  <a:pt x="8411877" y="1688266"/>
                </a:cubicBezTo>
                <a:cubicBezTo>
                  <a:pt x="8254157" y="1607711"/>
                  <a:pt x="8103294" y="1513605"/>
                  <a:pt x="7937003" y="1391641"/>
                </a:cubicBezTo>
                <a:cubicBezTo>
                  <a:pt x="7771782" y="1270434"/>
                  <a:pt x="7620062" y="1144519"/>
                  <a:pt x="7459343" y="1011264"/>
                </a:cubicBezTo>
                <a:cubicBezTo>
                  <a:pt x="7118186" y="728193"/>
                  <a:pt x="6765246" y="435335"/>
                  <a:pt x="6247727" y="162615"/>
                </a:cubicBezTo>
                <a:cubicBezTo>
                  <a:pt x="5766209" y="-91282"/>
                  <a:pt x="5212047" y="2259"/>
                  <a:pt x="4831889" y="125538"/>
                </a:cubicBezTo>
                <a:cubicBezTo>
                  <a:pt x="4461376" y="245617"/>
                  <a:pt x="4112934" y="433454"/>
                  <a:pt x="3850639" y="654791"/>
                </a:cubicBezTo>
                <a:cubicBezTo>
                  <a:pt x="3618561" y="829828"/>
                  <a:pt x="3423339" y="998656"/>
                  <a:pt x="3251261" y="1147720"/>
                </a:cubicBezTo>
                <a:cubicBezTo>
                  <a:pt x="2964537" y="1395970"/>
                  <a:pt x="2717027" y="1610157"/>
                  <a:pt x="2406301" y="1763738"/>
                </a:cubicBezTo>
                <a:cubicBezTo>
                  <a:pt x="2242367" y="1844669"/>
                  <a:pt x="2069431" y="1904709"/>
                  <a:pt x="1877641" y="1947246"/>
                </a:cubicBezTo>
                <a:cubicBezTo>
                  <a:pt x="1668918" y="1993545"/>
                  <a:pt x="1437267" y="2019330"/>
                  <a:pt x="1169399" y="2026483"/>
                </a:cubicBezTo>
                <a:cubicBezTo>
                  <a:pt x="1098467" y="2028364"/>
                  <a:pt x="1017252" y="2029870"/>
                  <a:pt x="926178" y="2029870"/>
                </a:cubicBezTo>
                <a:close/>
              </a:path>
            </a:pathLst>
          </a:custGeom>
          <a:gradFill rotWithShape="1" flip="none">
            <a:gsLst>
              <a:gs pos="0">
                <a:srgbClr val="DFEAF9">
                  <a:alpha val="12000"/>
                </a:srgbClr>
              </a:gs>
              <a:gs pos="8000">
                <a:srgbClr val="DFEAF9">
                  <a:alpha val="12000"/>
                </a:srgbClr>
              </a:gs>
              <a:gs pos="43000">
                <a:srgbClr val="E5EEFB">
                  <a:alpha val="67000"/>
                </a:srgbClr>
              </a:gs>
              <a:gs pos="71000">
                <a:srgbClr val="CCE0FF">
                  <a:alpha val="50000"/>
                </a:srgbClr>
              </a:gs>
              <a:gs pos="100000">
                <a:srgbClr val="DFEAF9">
                  <a:alpha val="0"/>
                </a:srgbClr>
              </a:gs>
            </a:gsLst>
            <a:lin ang="0" scaled="1"/>
          </a:gradFill>
          <a:ln/>
        </p:spPr>
      </p:sp>
      <p:sp>
        <p:nvSpPr>
          <p:cNvPr id="26" name="Shape 22"/>
          <p:cNvSpPr/>
          <p:nvPr/>
        </p:nvSpPr>
        <p:spPr>
          <a:xfrm>
            <a:off x="891921" y="3602355"/>
            <a:ext cx="13250037" cy="2530094"/>
          </a:xfrm>
          <a:custGeom>
            <a:avLst/>
            <a:gdLst/>
            <a:ahLst/>
            <a:cxnLst/>
            <a:rect l="l" t="t" r="r" b="b"/>
            <a:pathLst>
              <a:path w="13250037" h="2530094">
                <a:moveTo>
                  <a:pt x="0" y="2530094"/>
                </a:moveTo>
                <a:cubicBezTo>
                  <a:pt x="696275" y="1997191"/>
                  <a:pt x="1924017" y="1066963"/>
                  <a:pt x="2795072" y="993589"/>
                </a:cubicBezTo>
                <a:cubicBezTo>
                  <a:pt x="3666126" y="920214"/>
                  <a:pt x="4407348" y="2077666"/>
                  <a:pt x="5226329" y="2089847"/>
                </a:cubicBezTo>
                <a:cubicBezTo>
                  <a:pt x="6045310" y="2102027"/>
                  <a:pt x="6870047" y="1062409"/>
                  <a:pt x="7708952" y="1066673"/>
                </a:cubicBezTo>
                <a:cubicBezTo>
                  <a:pt x="8547858" y="1070937"/>
                  <a:pt x="9311320" y="2400406"/>
                  <a:pt x="10259763" y="2115429"/>
                </a:cubicBezTo>
                <a:cubicBezTo>
                  <a:pt x="11208206" y="1830453"/>
                  <a:pt x="12802662" y="674806"/>
                  <a:pt x="13250037" y="0"/>
                </a:cubicBezTo>
              </a:path>
            </a:pathLst>
          </a:custGeom>
          <a:noFill/>
          <a:ln w="12700">
            <a:solidFill>
              <a:srgbClr val="FFFFFF"/>
            </a:solidFill>
            <a:prstDash val="solid"/>
          </a:ln>
        </p:spPr>
      </p:sp>
      <p:sp>
        <p:nvSpPr>
          <p:cNvPr id="27" name="Shape 23"/>
          <p:cNvSpPr/>
          <p:nvPr/>
        </p:nvSpPr>
        <p:spPr>
          <a:xfrm rot="18545400">
            <a:off x="14027785" y="3356610"/>
            <a:ext cx="359283" cy="232410"/>
          </a:xfrm>
          <a:prstGeom prst="triangle">
            <a:avLst>
              <a:gd name="adj" fmla="val 0"/>
            </a:avLst>
          </a:prstGeom>
          <a:solidFill>
            <a:srgbClr val="005C8F"/>
          </a:solidFill>
          <a:ln/>
        </p:spPr>
      </p:sp>
      <p:sp>
        <p:nvSpPr>
          <p:cNvPr id="28" name="Shape 24"/>
          <p:cNvSpPr/>
          <p:nvPr/>
        </p:nvSpPr>
        <p:spPr>
          <a:xfrm rot="18545400">
            <a:off x="14151864" y="3600831"/>
            <a:ext cx="380365" cy="248412"/>
          </a:xfrm>
          <a:prstGeom prst="triangle">
            <a:avLst>
              <a:gd name="adj" fmla="val 0"/>
            </a:avLst>
          </a:prstGeom>
          <a:solidFill>
            <a:srgbClr val="16458C">
              <a:alpha val="467"/>
            </a:srgbClr>
          </a:solidFill>
          <a:ln/>
        </p:spPr>
      </p:sp>
      <p:sp>
        <p:nvSpPr>
          <p:cNvPr id="29" name="Text 25"/>
          <p:cNvSpPr/>
          <p:nvPr/>
        </p:nvSpPr>
        <p:spPr>
          <a:xfrm>
            <a:off x="2801366" y="5632577"/>
            <a:ext cx="2831846" cy="1206500"/>
          </a:xfrm>
          <a:prstGeom prst="rect">
            <a:avLst/>
          </a:prstGeom>
          <a:noFill/>
          <a:ln/>
        </p:spPr>
        <p:txBody>
          <a:bodyPr wrap="square" lIns="0" tIns="0" rIns="0" bIns="0" rtlCol="0" anchor="t"/>
          <a:lstStyle/>
          <a:p>
            <a:pPr algn="l" marL="296863" indent="-296863">
              <a:lnSpc>
                <a:spcPct val="130000"/>
              </a:lnSpc>
              <a:spcBef>
                <a:spcPts val="10"/>
              </a:spcBef>
              <a:buSzPct val="100000"/>
              <a:buChar char="•"/>
            </a:pPr>
            <a:r>
              <a:rPr lang="en-US" sz="1870" dirty="0">
                <a:solidFill>
                  <a:srgbClr val="3F3F3F"/>
                </a:solidFill>
                <a:latin typeface="Arial" pitchFamily="34" charset="0"/>
                <a:ea typeface="Arial" pitchFamily="34" charset="-122"/>
                <a:cs typeface="Arial" pitchFamily="34" charset="-120"/>
              </a:rPr>
              <a:t>路由复杂</a:t>
            </a:r>
            <a:endParaRPr lang="en-US" sz="1870" dirty="0"/>
          </a:p>
          <a:p>
            <a:pPr algn="l" marL="296863" indent="-296863">
              <a:lnSpc>
                <a:spcPct val="130000"/>
              </a:lnSpc>
              <a:spcBef>
                <a:spcPts val="10"/>
              </a:spcBef>
              <a:buSzPct val="100000"/>
              <a:buChar char="•"/>
            </a:pPr>
            <a:r>
              <a:rPr lang="en-US" sz="1870" dirty="0">
                <a:solidFill>
                  <a:srgbClr val="3F3F3F"/>
                </a:solidFill>
                <a:latin typeface="Arial" pitchFamily="34" charset="0"/>
                <a:ea typeface="Arial" pitchFamily="34" charset="-122"/>
                <a:cs typeface="Arial" pitchFamily="34" charset="-120"/>
              </a:rPr>
              <a:t>路径抵押成本高</a:t>
            </a:r>
            <a:endParaRPr lang="en-US" sz="1870" dirty="0"/>
          </a:p>
          <a:p>
            <a:pPr algn="l" marL="296863" indent="-296863">
              <a:lnSpc>
                <a:spcPct val="130000"/>
              </a:lnSpc>
              <a:spcBef>
                <a:spcPts val="10"/>
              </a:spcBef>
              <a:buSzPct val="100000"/>
              <a:buChar char="•"/>
            </a:pPr>
            <a:r>
              <a:rPr lang="en-US" sz="1870" dirty="0">
                <a:solidFill>
                  <a:srgbClr val="3F3F3F"/>
                </a:solidFill>
                <a:latin typeface="Arial" pitchFamily="34" charset="0"/>
                <a:ea typeface="Arial" pitchFamily="34" charset="-122"/>
                <a:cs typeface="Arial" pitchFamily="34" charset="-120"/>
              </a:rPr>
              <a:t>信道再平衡问题</a:t>
            </a:r>
            <a:endParaRPr lang="en-US" sz="1870" dirty="0"/>
          </a:p>
        </p:txBody>
      </p:sp>
      <p:sp>
        <p:nvSpPr>
          <p:cNvPr id="30" name="Text 26"/>
          <p:cNvSpPr/>
          <p:nvPr/>
        </p:nvSpPr>
        <p:spPr>
          <a:xfrm>
            <a:off x="2801366" y="5118481"/>
            <a:ext cx="2109216" cy="492506"/>
          </a:xfrm>
          <a:prstGeom prst="rect">
            <a:avLst/>
          </a:prstGeom>
          <a:noFill/>
          <a:ln/>
        </p:spPr>
        <p:txBody>
          <a:bodyPr wrap="square" lIns="0" tIns="0" rIns="0" bIns="0" rtlCol="0" anchor="t"/>
          <a:lstStyle/>
          <a:p>
            <a:pPr algn="l">
              <a:lnSpc>
                <a:spcPct val="120000"/>
              </a:lnSpc>
            </a:pPr>
            <a:r>
              <a:rPr lang="en-US" sz="2400" b="1" dirty="0">
                <a:gradFill rotWithShape="1" flip="none">
                  <a:gsLst>
                    <a:gs pos="0">
                      <a:srgbClr val="58B6E5"/>
                    </a:gs>
                    <a:gs pos="7000">
                      <a:srgbClr val="58B6E5"/>
                    </a:gs>
                    <a:gs pos="100000">
                      <a:srgbClr val="005C8F"/>
                    </a:gs>
                  </a:gsLst>
                  <a:lin ang="2700000" scaled="1"/>
                </a:gradFill>
                <a:latin typeface="Arial" pitchFamily="34" charset="0"/>
                <a:ea typeface="Arial" pitchFamily="34" charset="-122"/>
                <a:cs typeface="Arial" pitchFamily="34" charset="-120"/>
              </a:rPr>
              <a:t>闪电网络</a:t>
            </a:r>
            <a:endParaRPr lang="en-US" sz="2400" dirty="0"/>
          </a:p>
        </p:txBody>
      </p:sp>
      <p:sp>
        <p:nvSpPr>
          <p:cNvPr id="31" name="Shape 27"/>
          <p:cNvSpPr/>
          <p:nvPr/>
        </p:nvSpPr>
        <p:spPr>
          <a:xfrm>
            <a:off x="2538476" y="4877689"/>
            <a:ext cx="260223" cy="260223"/>
          </a:xfrm>
          <a:prstGeom prst="ellipse">
            <a:avLst/>
          </a:prstGeom>
          <a:gradFill rotWithShape="1" flip="none">
            <a:gsLst>
              <a:gs pos="0">
                <a:srgbClr val="005C8F"/>
              </a:gs>
              <a:gs pos="8000">
                <a:srgbClr val="005C8F"/>
              </a:gs>
              <a:gs pos="69000">
                <a:srgbClr val="58B6E5"/>
              </a:gs>
              <a:gs pos="100000">
                <a:srgbClr val="58B6E5"/>
              </a:gs>
            </a:gsLst>
            <a:path path="circle"/>
          </a:gradFill>
          <a:ln w="12700">
            <a:solidFill>
              <a:srgbClr val="FFFFFF"/>
            </a:solidFill>
            <a:prstDash val="solid"/>
          </a:ln>
          <a:effectLst>
            <a:outerShdw sx="100000" sy="100000" kx="0" ky="0" algn="bl" rotWithShape="0" blurRad="50800" dist="26924" dir="2700000">
              <a:srgbClr val="000000">
                <a:alpha val="20000"/>
              </a:srgbClr>
            </a:outerShdw>
          </a:effectLst>
        </p:spPr>
      </p:sp>
      <p:sp>
        <p:nvSpPr>
          <p:cNvPr id="32" name="Shape 28"/>
          <p:cNvSpPr/>
          <p:nvPr/>
        </p:nvSpPr>
        <p:spPr>
          <a:xfrm>
            <a:off x="2668524" y="5204079"/>
            <a:ext cx="0" cy="1969389"/>
          </a:xfrm>
          <a:prstGeom prst="line">
            <a:avLst/>
          </a:prstGeom>
          <a:noFill/>
          <a:ln w="9525">
            <a:solidFill>
              <a:srgbClr val="BFBFBF"/>
            </a:solidFill>
            <a:prstDash val="dash"/>
            <a:headEnd type="none"/>
            <a:tailEnd type="none"/>
          </a:ln>
        </p:spPr>
      </p:sp>
      <p:sp>
        <p:nvSpPr>
          <p:cNvPr id="33" name="Text 29"/>
          <p:cNvSpPr/>
          <p:nvPr/>
        </p:nvSpPr>
        <p:spPr>
          <a:xfrm>
            <a:off x="7552055" y="5721604"/>
            <a:ext cx="2831846" cy="1206500"/>
          </a:xfrm>
          <a:prstGeom prst="rect">
            <a:avLst/>
          </a:prstGeom>
          <a:noFill/>
          <a:ln/>
        </p:spPr>
        <p:txBody>
          <a:bodyPr wrap="square" lIns="0" tIns="0" rIns="0" bIns="0" rtlCol="0" anchor="t"/>
          <a:lstStyle/>
          <a:p>
            <a:pPr algn="l" marL="296863" indent="-296863">
              <a:lnSpc>
                <a:spcPct val="130000"/>
              </a:lnSpc>
              <a:spcBef>
                <a:spcPts val="10"/>
              </a:spcBef>
              <a:buSzPct val="100000"/>
              <a:buChar char="•"/>
            </a:pPr>
            <a:r>
              <a:rPr lang="en-US" sz="1870" dirty="0">
                <a:solidFill>
                  <a:srgbClr val="3F3F3F"/>
                </a:solidFill>
                <a:latin typeface="Arial" pitchFamily="34" charset="0"/>
                <a:ea typeface="Arial" pitchFamily="34" charset="-122"/>
                <a:cs typeface="Arial" pitchFamily="34" charset="-120"/>
              </a:rPr>
              <a:t>LVPC (SP'21)</a:t>
            </a:r>
            <a:endParaRPr lang="en-US" sz="1870" dirty="0"/>
          </a:p>
          <a:p>
            <a:pPr algn="l" marL="296863" indent="-296863">
              <a:lnSpc>
                <a:spcPct val="130000"/>
              </a:lnSpc>
              <a:spcBef>
                <a:spcPts val="10"/>
              </a:spcBef>
              <a:buSzPct val="100000"/>
              <a:buChar char="•"/>
            </a:pPr>
            <a:r>
              <a:rPr lang="en-US" sz="1870" dirty="0">
                <a:solidFill>
                  <a:srgbClr val="3F3F3F"/>
                </a:solidFill>
                <a:latin typeface="Arial" pitchFamily="34" charset="0"/>
                <a:ea typeface="Arial" pitchFamily="34" charset="-122"/>
                <a:cs typeface="Arial" pitchFamily="34" charset="-120"/>
              </a:rPr>
              <a:t>Blitz (Usenix'21)</a:t>
            </a:r>
            <a:endParaRPr lang="en-US" sz="1870" dirty="0"/>
          </a:p>
          <a:p>
            <a:pPr algn="l" marL="296863" indent="-296863">
              <a:lnSpc>
                <a:spcPct val="130000"/>
              </a:lnSpc>
              <a:spcBef>
                <a:spcPts val="10"/>
              </a:spcBef>
              <a:buSzPct val="100000"/>
              <a:buChar char="•"/>
            </a:pPr>
            <a:r>
              <a:rPr lang="en-US" sz="1870" dirty="0">
                <a:solidFill>
                  <a:srgbClr val="3F3F3F"/>
                </a:solidFill>
                <a:latin typeface="Arial" pitchFamily="34" charset="0"/>
                <a:ea typeface="Arial" pitchFamily="34" charset="-122"/>
                <a:cs typeface="Arial" pitchFamily="34" charset="-120"/>
              </a:rPr>
              <a:t>Donner (NDSS'23)</a:t>
            </a:r>
            <a:endParaRPr lang="en-US" sz="1870" dirty="0"/>
          </a:p>
        </p:txBody>
      </p:sp>
      <p:sp>
        <p:nvSpPr>
          <p:cNvPr id="34" name="Text 30"/>
          <p:cNvSpPr/>
          <p:nvPr/>
        </p:nvSpPr>
        <p:spPr>
          <a:xfrm>
            <a:off x="7597521" y="5024374"/>
            <a:ext cx="2421763" cy="861822"/>
          </a:xfrm>
          <a:prstGeom prst="rect">
            <a:avLst/>
          </a:prstGeom>
          <a:noFill/>
          <a:ln/>
        </p:spPr>
        <p:txBody>
          <a:bodyPr wrap="square" lIns="0" tIns="0" rIns="0" bIns="0" rtlCol="0" anchor="t"/>
          <a:lstStyle/>
          <a:p>
            <a:pPr algn="l">
              <a:lnSpc>
                <a:spcPct val="120000"/>
              </a:lnSpc>
            </a:pPr>
            <a:r>
              <a:rPr lang="en-US" sz="2400" b="1" dirty="0">
                <a:gradFill rotWithShape="1" flip="none">
                  <a:gsLst>
                    <a:gs pos="0">
                      <a:srgbClr val="58B6E5"/>
                    </a:gs>
                    <a:gs pos="7000">
                      <a:srgbClr val="58B6E5"/>
                    </a:gs>
                    <a:gs pos="100000">
                      <a:srgbClr val="005C8F"/>
                    </a:gs>
                  </a:gsLst>
                  <a:lin ang="2700000" scaled="1"/>
                </a:gradFill>
                <a:latin typeface="Arial" pitchFamily="34" charset="0"/>
                <a:ea typeface="Arial" pitchFamily="34" charset="-122"/>
                <a:cs typeface="Arial" pitchFamily="34" charset="-120"/>
              </a:rPr>
              <a:t>AMCU</a:t>
            </a:r>
            <a:endParaRPr lang="en-US" sz="2400" dirty="0"/>
          </a:p>
          <a:p>
            <a:pPr algn="l">
              <a:lnSpc>
                <a:spcPct val="120000"/>
              </a:lnSpc>
            </a:pPr>
            <a:r>
              <a:rPr lang="en-US" sz="2400" b="1" dirty="0">
                <a:gradFill rotWithShape="1" flip="none">
                  <a:gsLst>
                    <a:gs pos="0">
                      <a:srgbClr val="58B6E5"/>
                    </a:gs>
                    <a:gs pos="7000">
                      <a:srgbClr val="58B6E5"/>
                    </a:gs>
                    <a:gs pos="100000">
                      <a:srgbClr val="005C8F"/>
                    </a:gs>
                  </a:gsLst>
                  <a:lin ang="2700000" scaled="1"/>
                </a:gradFill>
                <a:latin typeface="Arial" pitchFamily="34" charset="0"/>
                <a:ea typeface="Arial" pitchFamily="34" charset="-122"/>
                <a:cs typeface="Arial" pitchFamily="34" charset="-120"/>
              </a:rPr>
              <a:t>(CCS</a:t>
            </a:r>
            <a:pPr algn="l">
              <a:lnSpc>
                <a:spcPct val="120000"/>
              </a:lnSpc>
            </a:pPr>
            <a:r>
              <a:rPr lang="en-US" sz="2400" b="1" dirty="0">
                <a:gradFill rotWithShape="1" flip="none">
                  <a:gsLst>
                    <a:gs pos="0">
                      <a:srgbClr val="58B6E5"/>
                    </a:gs>
                    <a:gs pos="7000">
                      <a:srgbClr val="58B6E5"/>
                    </a:gs>
                    <a:gs pos="100000">
                      <a:srgbClr val="005C8F"/>
                    </a:gs>
                  </a:gsLst>
                  <a:lin ang="2700000" scaled="1"/>
                </a:gradFill>
                <a:latin typeface="Arial" pitchFamily="34" charset="0"/>
                <a:ea typeface="Arial" pitchFamily="34" charset="-122"/>
                <a:cs typeface="Arial" pitchFamily="34" charset="-120"/>
              </a:rPr>
              <a:t>'</a:t>
            </a:r>
            <a:pPr algn="l">
              <a:lnSpc>
                <a:spcPct val="120000"/>
              </a:lnSpc>
            </a:pPr>
            <a:r>
              <a:rPr lang="en-US" sz="2400" b="1" dirty="0">
                <a:gradFill rotWithShape="1" flip="none">
                  <a:gsLst>
                    <a:gs pos="0">
                      <a:srgbClr val="58B6E5"/>
                    </a:gs>
                    <a:gs pos="7000">
                      <a:srgbClr val="58B6E5"/>
                    </a:gs>
                    <a:gs pos="100000">
                      <a:srgbClr val="005C8F"/>
                    </a:gs>
                  </a:gsLst>
                  <a:lin ang="2700000" scaled="1"/>
                </a:gradFill>
                <a:latin typeface="Arial" pitchFamily="34" charset="0"/>
                <a:ea typeface="Arial" pitchFamily="34" charset="-122"/>
                <a:cs typeface="Arial" pitchFamily="34" charset="-120"/>
              </a:rPr>
              <a:t>19)</a:t>
            </a:r>
            <a:endParaRPr lang="en-US" sz="2400" dirty="0"/>
          </a:p>
        </p:txBody>
      </p:sp>
      <p:sp>
        <p:nvSpPr>
          <p:cNvPr id="35" name="Shape 31"/>
          <p:cNvSpPr/>
          <p:nvPr/>
        </p:nvSpPr>
        <p:spPr>
          <a:xfrm>
            <a:off x="7392543" y="4961128"/>
            <a:ext cx="260223" cy="260223"/>
          </a:xfrm>
          <a:prstGeom prst="ellipse">
            <a:avLst/>
          </a:prstGeom>
          <a:gradFill rotWithShape="1" flip="none">
            <a:gsLst>
              <a:gs pos="0">
                <a:srgbClr val="005C8F"/>
              </a:gs>
              <a:gs pos="8000">
                <a:srgbClr val="005C8F"/>
              </a:gs>
              <a:gs pos="69000">
                <a:srgbClr val="58B6E5"/>
              </a:gs>
              <a:gs pos="100000">
                <a:srgbClr val="58B6E5"/>
              </a:gs>
            </a:gsLst>
            <a:path path="circle"/>
          </a:gradFill>
          <a:ln w="12700">
            <a:solidFill>
              <a:srgbClr val="FFFFFF"/>
            </a:solidFill>
            <a:prstDash val="solid"/>
          </a:ln>
          <a:effectLst>
            <a:outerShdw sx="100000" sy="100000" kx="0" ky="0" algn="bl" rotWithShape="0" blurRad="50800" dist="26924" dir="2700000">
              <a:srgbClr val="000000">
                <a:alpha val="20000"/>
              </a:srgbClr>
            </a:outerShdw>
          </a:effectLst>
        </p:spPr>
      </p:sp>
      <p:sp>
        <p:nvSpPr>
          <p:cNvPr id="36" name="Shape 32"/>
          <p:cNvSpPr/>
          <p:nvPr/>
        </p:nvSpPr>
        <p:spPr>
          <a:xfrm>
            <a:off x="7522591" y="5287518"/>
            <a:ext cx="0" cy="1969389"/>
          </a:xfrm>
          <a:prstGeom prst="line">
            <a:avLst/>
          </a:prstGeom>
          <a:noFill/>
          <a:ln w="9525">
            <a:solidFill>
              <a:srgbClr val="BFBFBF"/>
            </a:solidFill>
            <a:prstDash val="dash"/>
            <a:headEnd type="none"/>
            <a:tailEnd type="none"/>
          </a:ln>
        </p:spPr>
      </p:sp>
      <p:sp>
        <p:nvSpPr>
          <p:cNvPr id="37" name="Text 33"/>
          <p:cNvSpPr/>
          <p:nvPr/>
        </p:nvSpPr>
        <p:spPr>
          <a:xfrm>
            <a:off x="10263251" y="3548761"/>
            <a:ext cx="3050794" cy="1207008"/>
          </a:xfrm>
          <a:prstGeom prst="rect">
            <a:avLst/>
          </a:prstGeom>
          <a:noFill/>
          <a:ln/>
        </p:spPr>
        <p:txBody>
          <a:bodyPr wrap="square" lIns="0" tIns="0" rIns="0" bIns="0" rtlCol="0" anchor="t"/>
          <a:lstStyle/>
          <a:p>
            <a:pPr algn="l" marL="296863" indent="-296863">
              <a:lnSpc>
                <a:spcPct val="130000"/>
              </a:lnSpc>
              <a:spcBef>
                <a:spcPts val="10"/>
              </a:spcBef>
              <a:buSzPct val="100000"/>
              <a:buChar char="•"/>
            </a:pPr>
            <a:r>
              <a:rPr lang="en-US" sz="1870" dirty="0">
                <a:solidFill>
                  <a:srgbClr val="3F3F3F"/>
                </a:solidFill>
                <a:latin typeface="Arial" pitchFamily="34" charset="0"/>
                <a:ea typeface="Arial" pitchFamily="34" charset="-122"/>
                <a:cs typeface="Arial" pitchFamily="34" charset="-120"/>
              </a:rPr>
              <a:t>Wiser (AFT'23)</a:t>
            </a:r>
            <a:endParaRPr lang="en-US" sz="1870" dirty="0"/>
          </a:p>
          <a:p>
            <a:pPr algn="l" marL="296863" indent="-296863">
              <a:lnSpc>
                <a:spcPct val="130000"/>
              </a:lnSpc>
              <a:spcBef>
                <a:spcPts val="10"/>
              </a:spcBef>
              <a:buSzPct val="100000"/>
              <a:buChar char="•"/>
            </a:pPr>
            <a:r>
              <a:rPr lang="en-US" sz="1870" dirty="0">
                <a:solidFill>
                  <a:srgbClr val="3F3F3F"/>
                </a:solidFill>
                <a:latin typeface="Arial" pitchFamily="34" charset="0"/>
                <a:ea typeface="Arial" pitchFamily="34" charset="-122"/>
                <a:cs typeface="Arial" pitchFamily="34" charset="-120"/>
              </a:rPr>
              <a:t>Thora (CCS'22)</a:t>
            </a:r>
            <a:endParaRPr lang="en-US" sz="1870" dirty="0"/>
          </a:p>
          <a:p>
            <a:pPr algn="l" marL="296863" indent="-296863">
              <a:lnSpc>
                <a:spcPct val="130000"/>
              </a:lnSpc>
              <a:spcBef>
                <a:spcPts val="10"/>
              </a:spcBef>
              <a:buSzPct val="100000"/>
              <a:buChar char="•"/>
            </a:pPr>
            <a:r>
              <a:rPr lang="en-US" sz="1870" dirty="0">
                <a:solidFill>
                  <a:srgbClr val="3F3F3F"/>
                </a:solidFill>
                <a:latin typeface="Arial" pitchFamily="34" charset="0"/>
                <a:ea typeface="Arial" pitchFamily="34" charset="-122"/>
                <a:cs typeface="Arial" pitchFamily="34" charset="-120"/>
              </a:rPr>
              <a:t>Shaduf (NDSS'22)</a:t>
            </a:r>
            <a:endParaRPr lang="en-US" sz="1870" dirty="0"/>
          </a:p>
        </p:txBody>
      </p:sp>
      <p:sp>
        <p:nvSpPr>
          <p:cNvPr id="38" name="Text 34"/>
          <p:cNvSpPr/>
          <p:nvPr/>
        </p:nvSpPr>
        <p:spPr>
          <a:xfrm>
            <a:off x="10298684" y="4673346"/>
            <a:ext cx="2109216" cy="861822"/>
          </a:xfrm>
          <a:prstGeom prst="rect">
            <a:avLst/>
          </a:prstGeom>
          <a:noFill/>
          <a:ln/>
        </p:spPr>
        <p:txBody>
          <a:bodyPr wrap="square" lIns="0" tIns="0" rIns="0" bIns="0" rtlCol="0" anchor="t"/>
          <a:lstStyle/>
          <a:p>
            <a:pPr algn="l">
              <a:lnSpc>
                <a:spcPct val="120000"/>
              </a:lnSpc>
            </a:pPr>
            <a:r>
              <a:rPr lang="en-US" sz="2400" b="1" dirty="0">
                <a:gradFill rotWithShape="1" flip="none">
                  <a:gsLst>
                    <a:gs pos="0">
                      <a:srgbClr val="58B6E5"/>
                    </a:gs>
                    <a:gs pos="7000">
                      <a:srgbClr val="58B6E5"/>
                    </a:gs>
                    <a:gs pos="100000">
                      <a:srgbClr val="005C8F"/>
                    </a:gs>
                  </a:gsLst>
                  <a:lin ang="2700000" scaled="1"/>
                </a:gradFill>
                <a:latin typeface="Arial" pitchFamily="34" charset="0"/>
                <a:ea typeface="Arial" pitchFamily="34" charset="-122"/>
                <a:cs typeface="Arial" pitchFamily="34" charset="-120"/>
              </a:rPr>
              <a:t>Revive (CCS</a:t>
            </a:r>
            <a:pPr algn="l">
              <a:lnSpc>
                <a:spcPct val="120000"/>
              </a:lnSpc>
            </a:pPr>
            <a:r>
              <a:rPr lang="en-US" sz="2400" b="1" dirty="0">
                <a:gradFill rotWithShape="1" flip="none">
                  <a:gsLst>
                    <a:gs pos="0">
                      <a:srgbClr val="58B6E5"/>
                    </a:gs>
                    <a:gs pos="7000">
                      <a:srgbClr val="58B6E5"/>
                    </a:gs>
                    <a:gs pos="100000">
                      <a:srgbClr val="005C8F"/>
                    </a:gs>
                  </a:gsLst>
                  <a:lin ang="2700000" scaled="1"/>
                </a:gradFill>
                <a:latin typeface="Arial" pitchFamily="34" charset="0"/>
                <a:ea typeface="Arial" pitchFamily="34" charset="-122"/>
                <a:cs typeface="Arial" pitchFamily="34" charset="-120"/>
              </a:rPr>
              <a:t>'17</a:t>
            </a:r>
            <a:pPr algn="l">
              <a:lnSpc>
                <a:spcPct val="120000"/>
              </a:lnSpc>
            </a:pPr>
            <a:r>
              <a:rPr lang="en-US" sz="2400" b="1" dirty="0">
                <a:gradFill rotWithShape="1" flip="none">
                  <a:gsLst>
                    <a:gs pos="0">
                      <a:srgbClr val="58B6E5"/>
                    </a:gs>
                    <a:gs pos="7000">
                      <a:srgbClr val="58B6E5"/>
                    </a:gs>
                    <a:gs pos="100000">
                      <a:srgbClr val="005C8F"/>
                    </a:gs>
                  </a:gsLst>
                  <a:lin ang="2700000" scaled="1"/>
                </a:gradFill>
                <a:latin typeface="Arial" pitchFamily="34" charset="0"/>
                <a:ea typeface="Arial" pitchFamily="34" charset="-122"/>
                <a:cs typeface="Arial" pitchFamily="34" charset="-120"/>
              </a:rPr>
              <a:t>)</a:t>
            </a:r>
            <a:endParaRPr lang="en-US" sz="2400" dirty="0"/>
          </a:p>
        </p:txBody>
      </p:sp>
      <p:sp>
        <p:nvSpPr>
          <p:cNvPr id="39" name="Shape 35"/>
          <p:cNvSpPr/>
          <p:nvPr/>
        </p:nvSpPr>
        <p:spPr>
          <a:xfrm flipV="1">
            <a:off x="10139680" y="5408168"/>
            <a:ext cx="260223" cy="260223"/>
          </a:xfrm>
          <a:prstGeom prst="ellipse">
            <a:avLst/>
          </a:prstGeom>
          <a:gradFill rotWithShape="1" flip="none">
            <a:gsLst>
              <a:gs pos="0">
                <a:srgbClr val="005C8F"/>
              </a:gs>
              <a:gs pos="8000">
                <a:srgbClr val="005C8F"/>
              </a:gs>
              <a:gs pos="69000">
                <a:srgbClr val="58B6E5"/>
              </a:gs>
              <a:gs pos="100000">
                <a:srgbClr val="58B6E5"/>
              </a:gs>
            </a:gsLst>
            <a:path path="circle"/>
          </a:gradFill>
          <a:ln w="12700">
            <a:solidFill>
              <a:srgbClr val="FFFFFF"/>
            </a:solidFill>
            <a:prstDash val="solid"/>
          </a:ln>
          <a:effectLst>
            <a:outerShdw sx="100000" sy="100000" kx="0" ky="0" algn="bl" rotWithShape="0" blurRad="50800" dist="26924" dir="2700000">
              <a:srgbClr val="000000">
                <a:alpha val="20000"/>
              </a:srgbClr>
            </a:outerShdw>
          </a:effectLst>
        </p:spPr>
      </p:sp>
      <p:sp>
        <p:nvSpPr>
          <p:cNvPr id="40" name="Shape 36"/>
          <p:cNvSpPr/>
          <p:nvPr/>
        </p:nvSpPr>
        <p:spPr>
          <a:xfrm flipV="1">
            <a:off x="10269855" y="3090545"/>
            <a:ext cx="0" cy="2317623"/>
          </a:xfrm>
          <a:prstGeom prst="line">
            <a:avLst/>
          </a:prstGeom>
          <a:noFill/>
          <a:ln w="9525">
            <a:solidFill>
              <a:srgbClr val="BFBFBF"/>
            </a:solidFill>
            <a:prstDash val="dash"/>
            <a:headEnd type="none"/>
            <a:tailEnd type="none"/>
          </a:ln>
        </p:spPr>
      </p:sp>
      <p:sp>
        <p:nvSpPr>
          <p:cNvPr id="41" name="Text 37"/>
          <p:cNvSpPr/>
          <p:nvPr/>
        </p:nvSpPr>
        <p:spPr>
          <a:xfrm>
            <a:off x="5089144" y="4504817"/>
            <a:ext cx="1756537" cy="861822"/>
          </a:xfrm>
          <a:prstGeom prst="rect">
            <a:avLst/>
          </a:prstGeom>
          <a:noFill/>
          <a:ln/>
        </p:spPr>
        <p:txBody>
          <a:bodyPr wrap="square" lIns="0" tIns="0" rIns="0" bIns="0" rtlCol="0" anchor="t"/>
          <a:lstStyle/>
          <a:p>
            <a:pPr algn="l">
              <a:lnSpc>
                <a:spcPct val="120000"/>
              </a:lnSpc>
            </a:pPr>
            <a:r>
              <a:rPr lang="en-US" sz="2400" b="1" dirty="0">
                <a:gradFill rotWithShape="1" flip="none">
                  <a:gsLst>
                    <a:gs pos="0">
                      <a:srgbClr val="58B6E5"/>
                    </a:gs>
                    <a:gs pos="7000">
                      <a:srgbClr val="58B6E5"/>
                    </a:gs>
                    <a:gs pos="100000">
                      <a:srgbClr val="005C8F"/>
                    </a:gs>
                  </a:gsLst>
                  <a:lin ang="2700000" scaled="1"/>
                </a:gradFill>
                <a:latin typeface="Arial" pitchFamily="34" charset="0"/>
                <a:ea typeface="Arial" pitchFamily="34" charset="-122"/>
                <a:cs typeface="Arial" pitchFamily="34" charset="-120"/>
              </a:rPr>
              <a:t>Tumbit</a:t>
            </a:r>
            <a:pPr algn="l">
              <a:lnSpc>
                <a:spcPct val="120000"/>
              </a:lnSpc>
            </a:pPr>
            <a:r>
              <a:rPr lang="en-US" sz="2400" b="1" dirty="0">
                <a:gradFill rotWithShape="1" flip="none">
                  <a:gsLst>
                    <a:gs pos="0">
                      <a:srgbClr val="58B6E5"/>
                    </a:gs>
                    <a:gs pos="7000">
                      <a:srgbClr val="58B6E5"/>
                    </a:gs>
                    <a:gs pos="100000">
                      <a:srgbClr val="005C8F"/>
                    </a:gs>
                  </a:gsLst>
                  <a:lin ang="2700000" scaled="1"/>
                </a:gradFill>
                <a:latin typeface="Arial" pitchFamily="34" charset="0"/>
                <a:ea typeface="Arial" pitchFamily="34" charset="-122"/>
                <a:cs typeface="Arial" pitchFamily="34" charset="-120"/>
              </a:rPr>
              <a:t> (NDSS</a:t>
            </a:r>
            <a:pPr algn="l">
              <a:lnSpc>
                <a:spcPct val="120000"/>
              </a:lnSpc>
            </a:pPr>
            <a:r>
              <a:rPr lang="en-US" sz="2400" b="1" dirty="0">
                <a:gradFill rotWithShape="1" flip="none">
                  <a:gsLst>
                    <a:gs pos="0">
                      <a:srgbClr val="58B6E5"/>
                    </a:gs>
                    <a:gs pos="7000">
                      <a:srgbClr val="58B6E5"/>
                    </a:gs>
                    <a:gs pos="100000">
                      <a:srgbClr val="005C8F"/>
                    </a:gs>
                  </a:gsLst>
                  <a:lin ang="2700000" scaled="1"/>
                </a:gradFill>
                <a:latin typeface="Arial" pitchFamily="34" charset="0"/>
                <a:ea typeface="Arial" pitchFamily="34" charset="-122"/>
                <a:cs typeface="Arial" pitchFamily="34" charset="-120"/>
              </a:rPr>
              <a:t>'</a:t>
            </a:r>
            <a:pPr algn="l">
              <a:lnSpc>
                <a:spcPct val="120000"/>
              </a:lnSpc>
            </a:pPr>
            <a:r>
              <a:rPr lang="en-US" sz="2400" b="1" dirty="0">
                <a:gradFill rotWithShape="1" flip="none">
                  <a:gsLst>
                    <a:gs pos="0">
                      <a:srgbClr val="58B6E5"/>
                    </a:gs>
                    <a:gs pos="7000">
                      <a:srgbClr val="58B6E5"/>
                    </a:gs>
                    <a:gs pos="100000">
                      <a:srgbClr val="005C8F"/>
                    </a:gs>
                  </a:gsLst>
                  <a:lin ang="2700000" scaled="1"/>
                </a:gradFill>
                <a:latin typeface="Arial" pitchFamily="34" charset="0"/>
                <a:ea typeface="Arial" pitchFamily="34" charset="-122"/>
                <a:cs typeface="Arial" pitchFamily="34" charset="-120"/>
              </a:rPr>
              <a:t>17)</a:t>
            </a:r>
            <a:endParaRPr lang="en-US" sz="2400" dirty="0"/>
          </a:p>
        </p:txBody>
      </p:sp>
      <p:sp>
        <p:nvSpPr>
          <p:cNvPr id="42" name="Shape 38"/>
          <p:cNvSpPr/>
          <p:nvPr/>
        </p:nvSpPr>
        <p:spPr>
          <a:xfrm flipV="1">
            <a:off x="4828921" y="5041646"/>
            <a:ext cx="260223" cy="260223"/>
          </a:xfrm>
          <a:prstGeom prst="ellipse">
            <a:avLst/>
          </a:prstGeom>
          <a:gradFill rotWithShape="1" flip="none">
            <a:gsLst>
              <a:gs pos="0">
                <a:srgbClr val="005C8F"/>
              </a:gs>
              <a:gs pos="8000">
                <a:srgbClr val="005C8F"/>
              </a:gs>
              <a:gs pos="69000">
                <a:srgbClr val="58B6E5"/>
              </a:gs>
              <a:gs pos="100000">
                <a:srgbClr val="58B6E5"/>
              </a:gs>
            </a:gsLst>
            <a:path path="circle"/>
          </a:gradFill>
          <a:ln w="12700">
            <a:solidFill>
              <a:srgbClr val="FFFFFF"/>
            </a:solidFill>
            <a:prstDash val="solid"/>
          </a:ln>
          <a:effectLst>
            <a:outerShdw sx="100000" sy="100000" kx="0" ky="0" algn="bl" rotWithShape="0" blurRad="50800" dist="26924" dir="2700000">
              <a:srgbClr val="000000">
                <a:alpha val="20000"/>
              </a:srgbClr>
            </a:outerShdw>
          </a:effectLst>
        </p:spPr>
      </p:sp>
      <p:sp>
        <p:nvSpPr>
          <p:cNvPr id="43" name="Shape 39"/>
          <p:cNvSpPr/>
          <p:nvPr/>
        </p:nvSpPr>
        <p:spPr>
          <a:xfrm flipV="1">
            <a:off x="4959096" y="3006090"/>
            <a:ext cx="0" cy="1969389"/>
          </a:xfrm>
          <a:prstGeom prst="line">
            <a:avLst/>
          </a:prstGeom>
          <a:noFill/>
          <a:ln w="9525">
            <a:solidFill>
              <a:srgbClr val="BFBFBF"/>
            </a:solidFill>
            <a:prstDash val="dash"/>
            <a:headEnd type="none"/>
            <a:tailEnd type="none"/>
          </a:ln>
        </p:spPr>
      </p:sp>
      <p:sp>
        <p:nvSpPr>
          <p:cNvPr id="44" name="Text 40"/>
          <p:cNvSpPr/>
          <p:nvPr/>
        </p:nvSpPr>
        <p:spPr>
          <a:xfrm>
            <a:off x="15649067" y="8666353"/>
            <a:ext cx="606933" cy="492506"/>
          </a:xfrm>
          <a:prstGeom prst="rect">
            <a:avLst/>
          </a:prstGeom>
          <a:noFill/>
          <a:ln/>
        </p:spPr>
        <p:txBody>
          <a:bodyPr wrap="square" lIns="0" tIns="0" rIns="0" bIns="0" rtlCol="0" anchor="t"/>
          <a:lstStyle/>
          <a:p>
            <a:pPr algn="ctr">
              <a:lnSpc>
                <a:spcPct val="120000"/>
              </a:lnSpc>
            </a:pPr>
            <a:r>
              <a:rPr lang="en-US" sz="2400" dirty="0">
                <a:solidFill>
                  <a:srgbClr val="000000"/>
                </a:solidFill>
                <a:latin typeface="Arial" pitchFamily="34" charset="0"/>
                <a:ea typeface="Arial" pitchFamily="34" charset="-122"/>
                <a:cs typeface="Arial" pitchFamily="34" charset="-120"/>
              </a:rPr>
              <a:t>19</a:t>
            </a:r>
            <a:endParaRPr lang="en-US" sz="2400" dirty="0"/>
          </a:p>
        </p:txBody>
      </p:sp>
    </p:spTree>
  </p:cSld>
  <p:clrMapOvr>
    <a:masterClrMapping/>
  </p:clrMapOvr>
  <p:transition>
    <p:fade/>
    <p:spd val="med"/>
  </p:transition>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5162169" y="-889"/>
            <a:ext cx="2590800" cy="962660"/>
          </a:xfrm>
          <a:prstGeom prst="rect">
            <a:avLst/>
          </a:prstGeom>
          <a:solidFill>
            <a:srgbClr val="F2F2F2"/>
          </a:solidFill>
          <a:ln w="12700">
            <a:solidFill>
              <a:srgbClr val="F2F2F2"/>
            </a:solidFill>
            <a:prstDash val="solid"/>
          </a:ln>
        </p:spPr>
      </p:sp>
      <p:sp>
        <p:nvSpPr>
          <p:cNvPr id="4" name="Shape 1"/>
          <p:cNvSpPr/>
          <p:nvPr/>
        </p:nvSpPr>
        <p:spPr>
          <a:xfrm>
            <a:off x="5162169" y="-889"/>
            <a:ext cx="2590800" cy="962660"/>
          </a:xfrm>
          <a:prstGeom prst="rect">
            <a:avLst/>
          </a:prstGeom>
          <a:solidFill>
            <a:srgbClr val="04579A"/>
          </a:solidFill>
          <a:ln w="12700">
            <a:solidFill>
              <a:srgbClr val="04579A"/>
            </a:solidFill>
            <a:prstDash val="solid"/>
          </a:ln>
        </p:spPr>
      </p:sp>
      <p:sp>
        <p:nvSpPr>
          <p:cNvPr id="5" name="Shape 2"/>
          <p:cNvSpPr/>
          <p:nvPr/>
        </p:nvSpPr>
        <p:spPr>
          <a:xfrm>
            <a:off x="7816469" y="-889"/>
            <a:ext cx="4114800" cy="962660"/>
          </a:xfrm>
          <a:prstGeom prst="rect">
            <a:avLst/>
          </a:prstGeom>
          <a:solidFill>
            <a:srgbClr val="F2F2F2"/>
          </a:solidFill>
          <a:ln/>
        </p:spPr>
      </p:sp>
      <p:sp>
        <p:nvSpPr>
          <p:cNvPr id="6" name="Shape 3"/>
          <p:cNvSpPr/>
          <p:nvPr/>
        </p:nvSpPr>
        <p:spPr>
          <a:xfrm>
            <a:off x="11971020" y="0"/>
            <a:ext cx="4284980" cy="961771"/>
          </a:xfrm>
          <a:prstGeom prst="rect">
            <a:avLst/>
          </a:prstGeom>
          <a:solidFill>
            <a:srgbClr val="F2F2F2"/>
          </a:solidFill>
          <a:ln/>
        </p:spPr>
      </p:sp>
      <p:sp>
        <p:nvSpPr>
          <p:cNvPr id="7" name="Shape 4"/>
          <p:cNvSpPr/>
          <p:nvPr/>
        </p:nvSpPr>
        <p:spPr>
          <a:xfrm>
            <a:off x="2219960" y="-889"/>
            <a:ext cx="2895600" cy="962660"/>
          </a:xfrm>
          <a:prstGeom prst="rect">
            <a:avLst/>
          </a:prstGeom>
          <a:solidFill>
            <a:srgbClr val="F2F2F2"/>
          </a:solidFill>
          <a:ln w="12700">
            <a:solidFill>
              <a:srgbClr val="F2F2F2"/>
            </a:solidFill>
            <a:prstDash val="solid"/>
          </a:ln>
        </p:spPr>
      </p:sp>
      <p:sp>
        <p:nvSpPr>
          <p:cNvPr id="8" name="Text 5"/>
          <p:cNvSpPr/>
          <p:nvPr/>
        </p:nvSpPr>
        <p:spPr>
          <a:xfrm>
            <a:off x="2283460" y="203200"/>
            <a:ext cx="27686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选题背景及意义</a:t>
            </a:r>
            <a:endParaRPr lang="en-US" sz="2000" dirty="0"/>
          </a:p>
        </p:txBody>
      </p:sp>
      <p:sp>
        <p:nvSpPr>
          <p:cNvPr id="9" name="Text 6"/>
          <p:cNvSpPr/>
          <p:nvPr/>
        </p:nvSpPr>
        <p:spPr>
          <a:xfrm>
            <a:off x="5225669" y="203200"/>
            <a:ext cx="2463800" cy="508000"/>
          </a:xfrm>
          <a:prstGeom prst="rect">
            <a:avLst/>
          </a:prstGeom>
          <a:noFill/>
          <a:ln/>
        </p:spPr>
        <p:txBody>
          <a:bodyPr wrap="none" lIns="0" tIns="0" rIns="0" bIns="0" rtlCol="0" anchor="ctr"/>
          <a:lstStyle/>
          <a:p>
            <a:pPr algn="ctr">
              <a:lnSpc>
                <a:spcPct val="120000"/>
              </a:lnSpc>
            </a:pPr>
            <a:r>
              <a:rPr lang="en-US" sz="2000" dirty="0">
                <a:solidFill>
                  <a:srgbClr val="FFFFFF"/>
                </a:solidFill>
                <a:latin typeface="Arial" pitchFamily="34" charset="0"/>
                <a:ea typeface="Arial" pitchFamily="34" charset="-122"/>
                <a:cs typeface="Arial" pitchFamily="34" charset="-120"/>
              </a:rPr>
              <a:t>国内外研究现状</a:t>
            </a:r>
            <a:endParaRPr lang="en-US" sz="2000" dirty="0"/>
          </a:p>
        </p:txBody>
      </p:sp>
      <p:sp>
        <p:nvSpPr>
          <p:cNvPr id="10" name="Text 7"/>
          <p:cNvSpPr/>
          <p:nvPr/>
        </p:nvSpPr>
        <p:spPr>
          <a:xfrm>
            <a:off x="7879969" y="203200"/>
            <a:ext cx="39878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主要研究内容及预期目标</a:t>
            </a:r>
            <a:endParaRPr lang="en-US" sz="2000" dirty="0"/>
          </a:p>
        </p:txBody>
      </p:sp>
      <p:sp>
        <p:nvSpPr>
          <p:cNvPr id="11" name="Text 8"/>
          <p:cNvSpPr/>
          <p:nvPr/>
        </p:nvSpPr>
        <p:spPr>
          <a:xfrm>
            <a:off x="12034520" y="203200"/>
            <a:ext cx="415798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工作计划与进度安排</a:t>
            </a:r>
            <a:endParaRPr lang="en-US" sz="2000" dirty="0"/>
          </a:p>
        </p:txBody>
      </p:sp>
      <p:pic>
        <p:nvPicPr>
          <p:cNvPr id="12" name="Image 0" descr="https://kimi-img.moonshot.cn/pub/slides/okc/flfuysioo4gzm/mnt/agents/output/yuan_pptd/images/image_2.jpg">    </p:cNvPr>
          <p:cNvPicPr>
            <a:picLocks noChangeAspect="1"/>
          </p:cNvPicPr>
          <p:nvPr/>
        </p:nvPicPr>
        <p:blipFill>
          <a:blip r:embed="rId1"/>
          <a:srcRect l="5060" r="29000" t="0" b="0"/>
          <a:stretch/>
        </p:blipFill>
        <p:spPr>
          <a:xfrm>
            <a:off x="544449" y="140589"/>
            <a:ext cx="1273429" cy="745871"/>
          </a:xfrm>
          <a:prstGeom prst="rect">
            <a:avLst/>
          </a:prstGeom>
        </p:spPr>
      </p:pic>
      <p:sp>
        <p:nvSpPr>
          <p:cNvPr id="13" name="Shape 9"/>
          <p:cNvSpPr/>
          <p:nvPr/>
        </p:nvSpPr>
        <p:spPr>
          <a:xfrm rot="10800000">
            <a:off x="6121400" y="961771"/>
            <a:ext cx="389509" cy="304800"/>
          </a:xfrm>
          <a:prstGeom prst="triangle">
            <a:avLst>
              <a:gd name="adj" fmla="val 50000"/>
            </a:avLst>
          </a:prstGeom>
          <a:solidFill>
            <a:srgbClr val="04579A"/>
          </a:solidFill>
          <a:ln/>
        </p:spPr>
      </p:sp>
      <p:sp>
        <p:nvSpPr>
          <p:cNvPr id="14" name="Text 10"/>
          <p:cNvSpPr/>
          <p:nvPr/>
        </p:nvSpPr>
        <p:spPr>
          <a:xfrm>
            <a:off x="544449" y="1266571"/>
            <a:ext cx="8431911" cy="613791"/>
          </a:xfrm>
          <a:prstGeom prst="rect">
            <a:avLst/>
          </a:prstGeom>
          <a:noFill/>
          <a:ln/>
        </p:spPr>
        <p:txBody>
          <a:bodyPr wrap="square" lIns="0" tIns="0" rIns="0" bIns="0" rtlCol="0" anchor="t"/>
          <a:lstStyle/>
          <a:p>
            <a:pPr algn="l" marL="508000" indent="-508000">
              <a:lnSpc>
                <a:spcPct val="120000"/>
              </a:lnSpc>
              <a:spcBef>
                <a:spcPts val="10"/>
              </a:spcBef>
              <a:buSzPct val="100000"/>
              <a:buFont typeface="+mj-lt"/>
              <a:buAutoNum type="arabicPeriod" startAt="1"/>
            </a:pPr>
            <a:r>
              <a:rPr lang="en-US" sz="3200" b="1" dirty="0">
                <a:solidFill>
                  <a:srgbClr val="262626"/>
                </a:solidFill>
                <a:latin typeface="MiSans" pitchFamily="34" charset="0"/>
                <a:ea typeface="MiSans" pitchFamily="34" charset="-122"/>
                <a:cs typeface="MiSans" pitchFamily="34" charset="-120"/>
              </a:rPr>
              <a:t>跨链数字资产交易协议证明机制</a:t>
            </a:r>
            <a:endParaRPr lang="en-US" sz="3200" dirty="0"/>
          </a:p>
        </p:txBody>
      </p:sp>
      <p:sp>
        <p:nvSpPr>
          <p:cNvPr id="15" name="Shape 11"/>
          <p:cNvSpPr/>
          <p:nvPr/>
        </p:nvSpPr>
        <p:spPr>
          <a:xfrm>
            <a:off x="951611" y="3401949"/>
            <a:ext cx="1866011" cy="577469"/>
          </a:xfrm>
          <a:prstGeom prst="rect">
            <a:avLst/>
          </a:prstGeom>
          <a:solidFill>
            <a:srgbClr val="FFFFFF"/>
          </a:solidFill>
          <a:ln w="12700">
            <a:solidFill>
              <a:srgbClr val="304B73"/>
            </a:solidFill>
            <a:prstDash val="solid"/>
          </a:ln>
        </p:spPr>
      </p:sp>
      <p:sp>
        <p:nvSpPr>
          <p:cNvPr id="16" name="Text 12"/>
          <p:cNvSpPr/>
          <p:nvPr/>
        </p:nvSpPr>
        <p:spPr>
          <a:xfrm>
            <a:off x="951611" y="3401949"/>
            <a:ext cx="1866011" cy="577469"/>
          </a:xfrm>
          <a:prstGeom prst="rect">
            <a:avLst/>
          </a:prstGeom>
          <a:noFill/>
          <a:ln/>
        </p:spPr>
        <p:txBody>
          <a:bodyPr wrap="square" lIns="0" tIns="0" rIns="0" bIns="0" rtlCol="0" anchor="ctr"/>
          <a:lstStyle/>
          <a:p>
            <a:pPr algn="ctr">
              <a:lnSpc>
                <a:spcPct val="120000"/>
              </a:lnSpc>
            </a:pPr>
            <a:r>
              <a:rPr lang="en-US" sz="2400" dirty="0">
                <a:solidFill>
                  <a:srgbClr val="04579A"/>
                </a:solidFill>
                <a:latin typeface="Arial" pitchFamily="34" charset="0"/>
                <a:ea typeface="Arial" pitchFamily="34" charset="-122"/>
                <a:cs typeface="Arial" pitchFamily="34" charset="-120"/>
              </a:rPr>
              <a:t>最长链证明</a:t>
            </a:r>
            <a:endParaRPr lang="en-US" sz="2400" dirty="0"/>
          </a:p>
        </p:txBody>
      </p:sp>
      <p:sp>
        <p:nvSpPr>
          <p:cNvPr id="17" name="Shape 13"/>
          <p:cNvSpPr/>
          <p:nvPr/>
        </p:nvSpPr>
        <p:spPr>
          <a:xfrm>
            <a:off x="951611" y="4148709"/>
            <a:ext cx="1866011" cy="762127"/>
          </a:xfrm>
          <a:prstGeom prst="rect">
            <a:avLst/>
          </a:prstGeom>
          <a:solidFill>
            <a:srgbClr val="FFFFFF"/>
          </a:solidFill>
          <a:ln w="12700">
            <a:solidFill>
              <a:srgbClr val="304B73"/>
            </a:solidFill>
            <a:prstDash val="solid"/>
          </a:ln>
        </p:spPr>
      </p:sp>
      <p:sp>
        <p:nvSpPr>
          <p:cNvPr id="18" name="Text 14"/>
          <p:cNvSpPr/>
          <p:nvPr/>
        </p:nvSpPr>
        <p:spPr>
          <a:xfrm>
            <a:off x="951611" y="4148709"/>
            <a:ext cx="1866011" cy="762127"/>
          </a:xfrm>
          <a:prstGeom prst="rect">
            <a:avLst/>
          </a:prstGeom>
          <a:noFill/>
          <a:ln/>
        </p:spPr>
        <p:txBody>
          <a:bodyPr wrap="square" lIns="0" tIns="0" rIns="0" bIns="0" rtlCol="0" anchor="ctr"/>
          <a:lstStyle/>
          <a:p>
            <a:pPr algn="ctr">
              <a:lnSpc>
                <a:spcPct val="120000"/>
              </a:lnSpc>
            </a:pPr>
            <a:r>
              <a:rPr lang="en-US" sz="2400" dirty="0">
                <a:solidFill>
                  <a:srgbClr val="04579A"/>
                </a:solidFill>
                <a:latin typeface="Arial" pitchFamily="34" charset="0"/>
                <a:ea typeface="Arial" pitchFamily="34" charset="-122"/>
                <a:cs typeface="Arial" pitchFamily="34" charset="-120"/>
              </a:rPr>
              <a:t>有效区块</a:t>
            </a:r>
            <a:endParaRPr lang="en-US" sz="2400" dirty="0"/>
          </a:p>
          <a:p>
            <a:pPr algn="ctr">
              <a:lnSpc>
                <a:spcPct val="120000"/>
              </a:lnSpc>
            </a:pPr>
            <a:r>
              <a:rPr lang="en-US" sz="2400" dirty="0">
                <a:solidFill>
                  <a:srgbClr val="04579A"/>
                </a:solidFill>
                <a:latin typeface="Arial" pitchFamily="34" charset="0"/>
                <a:ea typeface="Arial" pitchFamily="34" charset="-122"/>
                <a:cs typeface="Arial" pitchFamily="34" charset="-120"/>
              </a:rPr>
              <a:t>证明</a:t>
            </a:r>
            <a:endParaRPr lang="en-US" sz="2400" dirty="0"/>
          </a:p>
        </p:txBody>
      </p:sp>
      <p:sp>
        <p:nvSpPr>
          <p:cNvPr id="19" name="Shape 15"/>
          <p:cNvSpPr/>
          <p:nvPr/>
        </p:nvSpPr>
        <p:spPr>
          <a:xfrm>
            <a:off x="951611" y="6067679"/>
            <a:ext cx="1866011" cy="762127"/>
          </a:xfrm>
          <a:prstGeom prst="rect">
            <a:avLst/>
          </a:prstGeom>
          <a:solidFill>
            <a:srgbClr val="FFFFFF"/>
          </a:solidFill>
          <a:ln w="12700">
            <a:solidFill>
              <a:srgbClr val="304B73"/>
            </a:solidFill>
            <a:prstDash val="solid"/>
          </a:ln>
        </p:spPr>
      </p:sp>
      <p:sp>
        <p:nvSpPr>
          <p:cNvPr id="20" name="Text 16"/>
          <p:cNvSpPr/>
          <p:nvPr/>
        </p:nvSpPr>
        <p:spPr>
          <a:xfrm>
            <a:off x="951611" y="6067679"/>
            <a:ext cx="1866011" cy="762127"/>
          </a:xfrm>
          <a:prstGeom prst="rect">
            <a:avLst/>
          </a:prstGeom>
          <a:noFill/>
          <a:ln/>
        </p:spPr>
        <p:txBody>
          <a:bodyPr wrap="square" lIns="0" tIns="0" rIns="0" bIns="0" rtlCol="0" anchor="ctr"/>
          <a:lstStyle/>
          <a:p>
            <a:pPr algn="ctr">
              <a:lnSpc>
                <a:spcPct val="120000"/>
              </a:lnSpc>
            </a:pPr>
            <a:r>
              <a:rPr lang="en-US" sz="2400" dirty="0">
                <a:solidFill>
                  <a:srgbClr val="04579A"/>
                </a:solidFill>
                <a:latin typeface="Arial" pitchFamily="34" charset="0"/>
                <a:ea typeface="Arial" pitchFamily="34" charset="-122"/>
                <a:cs typeface="Arial" pitchFamily="34" charset="-120"/>
              </a:rPr>
              <a:t>交易内数据</a:t>
            </a:r>
            <a:endParaRPr lang="en-US" sz="2400" dirty="0"/>
          </a:p>
          <a:p>
            <a:pPr algn="ctr">
              <a:lnSpc>
                <a:spcPct val="120000"/>
              </a:lnSpc>
            </a:pPr>
            <a:r>
              <a:rPr lang="en-US" sz="2400" dirty="0">
                <a:solidFill>
                  <a:srgbClr val="04579A"/>
                </a:solidFill>
                <a:latin typeface="Arial" pitchFamily="34" charset="0"/>
                <a:ea typeface="Arial" pitchFamily="34" charset="-122"/>
                <a:cs typeface="Arial" pitchFamily="34" charset="-120"/>
              </a:rPr>
              <a:t>正确性证明</a:t>
            </a:r>
            <a:endParaRPr lang="en-US" sz="2400" dirty="0"/>
          </a:p>
        </p:txBody>
      </p:sp>
      <p:sp>
        <p:nvSpPr>
          <p:cNvPr id="21" name="Shape 17"/>
          <p:cNvSpPr/>
          <p:nvPr/>
        </p:nvSpPr>
        <p:spPr>
          <a:xfrm>
            <a:off x="3035300" y="3401949"/>
            <a:ext cx="1866900" cy="3427857"/>
          </a:xfrm>
          <a:prstGeom prst="rect">
            <a:avLst/>
          </a:prstGeom>
          <a:solidFill>
            <a:srgbClr val="04579A"/>
          </a:solidFill>
          <a:ln/>
        </p:spPr>
      </p:sp>
      <p:sp>
        <p:nvSpPr>
          <p:cNvPr id="22" name="Text 18"/>
          <p:cNvSpPr/>
          <p:nvPr/>
        </p:nvSpPr>
        <p:spPr>
          <a:xfrm>
            <a:off x="3035300" y="3401949"/>
            <a:ext cx="1866900" cy="3427857"/>
          </a:xfrm>
          <a:prstGeom prst="rect">
            <a:avLst/>
          </a:prstGeom>
          <a:noFill/>
          <a:ln/>
        </p:spPr>
        <p:txBody>
          <a:bodyPr wrap="square" lIns="0" tIns="0" rIns="0" bIns="0" rtlCol="0" anchor="ctr"/>
          <a:lstStyle/>
          <a:p>
            <a:pPr algn="ctr">
              <a:lnSpc>
                <a:spcPct val="120000"/>
              </a:lnSpc>
            </a:pPr>
            <a:r>
              <a:rPr lang="en-US" sz="2670" b="1" dirty="0">
                <a:solidFill>
                  <a:srgbClr val="FFFFFF"/>
                </a:solidFill>
                <a:latin typeface="Arial" pitchFamily="34" charset="0"/>
                <a:ea typeface="Arial" pitchFamily="34" charset="-122"/>
                <a:cs typeface="Arial" pitchFamily="34" charset="-120"/>
              </a:rPr>
              <a:t>跨链证明</a:t>
            </a:r>
            <a:endParaRPr lang="en-US" sz="2670" dirty="0"/>
          </a:p>
        </p:txBody>
      </p:sp>
      <p:sp>
        <p:nvSpPr>
          <p:cNvPr id="23" name="Text 19"/>
          <p:cNvSpPr/>
          <p:nvPr/>
        </p:nvSpPr>
        <p:spPr>
          <a:xfrm>
            <a:off x="5616067" y="3220212"/>
            <a:ext cx="9890760" cy="4337050"/>
          </a:xfrm>
          <a:prstGeom prst="rect">
            <a:avLst/>
          </a:prstGeom>
          <a:noFill/>
          <a:ln/>
        </p:spPr>
        <p:txBody>
          <a:bodyPr wrap="square" lIns="0" tIns="0" rIns="0" bIns="0" rtlCol="0" anchor="t"/>
          <a:lstStyle/>
          <a:p>
            <a:pPr algn="l" marL="508000" indent="-508000">
              <a:lnSpc>
                <a:spcPct val="120000"/>
              </a:lnSpc>
              <a:spcBef>
                <a:spcPts val="10"/>
              </a:spcBef>
              <a:buSzPct val="100000"/>
              <a:buChar char="•"/>
            </a:pPr>
            <a:r>
              <a:rPr lang="en-US" sz="3200" b="1" dirty="0">
                <a:solidFill>
                  <a:srgbClr val="000000"/>
                </a:solidFill>
                <a:latin typeface="Arial" pitchFamily="34" charset="0"/>
                <a:ea typeface="Arial" pitchFamily="34" charset="-122"/>
                <a:cs typeface="Arial" pitchFamily="34" charset="-120"/>
              </a:rPr>
              <a:t>基于</a:t>
            </a:r>
            <a:pPr algn="l">
              <a:lnSpc>
                <a:spcPct val="120000"/>
              </a:lnSpc>
              <a:spcBef>
                <a:spcPts val="10"/>
              </a:spcBef>
            </a:pPr>
            <a:r>
              <a:rPr lang="en-US" sz="3200" b="1" dirty="0">
                <a:solidFill>
                  <a:srgbClr val="000000"/>
                </a:solidFill>
                <a:latin typeface="Arial" pitchFamily="34" charset="0"/>
                <a:ea typeface="Arial" pitchFamily="34" charset="-122"/>
                <a:cs typeface="Arial" pitchFamily="34" charset="-120"/>
              </a:rPr>
              <a:t>SPV</a:t>
            </a:r>
            <a:pPr algn="l">
              <a:lnSpc>
                <a:spcPct val="120000"/>
              </a:lnSpc>
              <a:spcBef>
                <a:spcPts val="10"/>
              </a:spcBef>
            </a:pPr>
            <a:r>
              <a:rPr lang="en-US" sz="3200" b="1" dirty="0">
                <a:solidFill>
                  <a:srgbClr val="000000"/>
                </a:solidFill>
                <a:latin typeface="Arial" pitchFamily="34" charset="0"/>
                <a:ea typeface="Arial" pitchFamily="34" charset="-122"/>
                <a:cs typeface="Arial" pitchFamily="34" charset="-120"/>
              </a:rPr>
              <a:t>和轻客户端</a:t>
            </a:r>
            <a:endParaRPr lang="en-US" sz="3200" dirty="0"/>
          </a:p>
          <a:p>
            <a:pPr algn="l">
              <a:lnSpc>
                <a:spcPct val="120000"/>
              </a:lnSpc>
            </a:pPr>
            <a:r>
              <a:rPr lang="en-US" sz="3200" dirty="0">
                <a:solidFill>
                  <a:srgbClr val="000000"/>
                </a:solidFill>
                <a:latin typeface="MiSans" pitchFamily="34" charset="0"/>
                <a:ea typeface="MiSans" pitchFamily="34" charset="-122"/>
                <a:cs typeface="MiSans" pitchFamily="34" charset="-120"/>
              </a:rPr>
              <a:t>轻客户端在链上仅存储和验证区块头，跨链验证时：</a:t>
            </a:r>
            <a:endParaRPr lang="en-US" sz="3200" dirty="0"/>
          </a:p>
          <a:p>
            <a:pPr algn="l" marL="508000" indent="-508000">
              <a:lnSpc>
                <a:spcPct val="120000"/>
              </a:lnSpc>
              <a:spcBef>
                <a:spcPts val="10"/>
              </a:spcBef>
              <a:buSzPct val="100000"/>
              <a:buChar char="•"/>
            </a:pPr>
            <a:r>
              <a:rPr lang="en-US" sz="3200" dirty="0">
                <a:solidFill>
                  <a:srgbClr val="000000"/>
                </a:solidFill>
                <a:latin typeface="MiSans" pitchFamily="34" charset="0"/>
                <a:ea typeface="MiSans" pitchFamily="34" charset="-122"/>
                <a:cs typeface="MiSans" pitchFamily="34" charset="-120"/>
              </a:rPr>
              <a:t>基于</a:t>
            </a:r>
            <a:pPr algn="l">
              <a:lnSpc>
                <a:spcPct val="120000"/>
              </a:lnSpc>
              <a:spcBef>
                <a:spcPts val="10"/>
              </a:spcBef>
            </a:pPr>
            <a:r>
              <a:rPr lang="en-US" sz="3200" dirty="0">
                <a:solidFill>
                  <a:srgbClr val="000000"/>
                </a:solidFill>
                <a:latin typeface="MiSans" pitchFamily="34" charset="0"/>
                <a:ea typeface="MiSans" pitchFamily="34" charset="-122"/>
                <a:cs typeface="MiSans" pitchFamily="34" charset="-120"/>
              </a:rPr>
              <a:t>PoW</a:t>
            </a:r>
            <a:pPr algn="l">
              <a:lnSpc>
                <a:spcPct val="120000"/>
              </a:lnSpc>
              <a:spcBef>
                <a:spcPts val="10"/>
              </a:spcBef>
            </a:pPr>
            <a:r>
              <a:rPr lang="en-US" sz="3200" dirty="0">
                <a:solidFill>
                  <a:srgbClr val="000000"/>
                </a:solidFill>
                <a:latin typeface="MiSans" pitchFamily="34" charset="0"/>
                <a:ea typeface="MiSans" pitchFamily="34" charset="-122"/>
                <a:cs typeface="MiSans" pitchFamily="34" charset="-120"/>
              </a:rPr>
              <a:t>机制的最长链证明（和链长线性相关）</a:t>
            </a:r>
            <a:endParaRPr lang="en-US" sz="3200" dirty="0"/>
          </a:p>
          <a:p>
            <a:pPr algn="l" marL="508000" indent="-508000">
              <a:lnSpc>
                <a:spcPct val="120000"/>
              </a:lnSpc>
              <a:spcBef>
                <a:spcPts val="10"/>
              </a:spcBef>
              <a:buSzPct val="100000"/>
              <a:buChar char="•"/>
            </a:pPr>
            <a:r>
              <a:rPr lang="en-US" sz="3200" dirty="0">
                <a:solidFill>
                  <a:srgbClr val="000000"/>
                </a:solidFill>
                <a:latin typeface="MiSans" pitchFamily="34" charset="0"/>
                <a:ea typeface="MiSans" pitchFamily="34" charset="-122"/>
                <a:cs typeface="MiSans" pitchFamily="34" charset="-120"/>
              </a:rPr>
              <a:t>交易所在区块的</a:t>
            </a:r>
            <a:pPr algn="l">
              <a:lnSpc>
                <a:spcPct val="120000"/>
              </a:lnSpc>
              <a:spcBef>
                <a:spcPts val="10"/>
              </a:spcBef>
            </a:pPr>
            <a:r>
              <a:rPr lang="en-US" sz="3200" dirty="0">
                <a:solidFill>
                  <a:srgbClr val="000000"/>
                </a:solidFill>
                <a:latin typeface="MiSans" pitchFamily="34" charset="0"/>
                <a:ea typeface="MiSans" pitchFamily="34" charset="-122"/>
                <a:cs typeface="MiSans" pitchFamily="34" charset="-120"/>
              </a:rPr>
              <a:t>Merkle Tree</a:t>
            </a:r>
            <a:pPr algn="l">
              <a:lnSpc>
                <a:spcPct val="120000"/>
              </a:lnSpc>
              <a:spcBef>
                <a:spcPts val="10"/>
              </a:spcBef>
            </a:pPr>
            <a:r>
              <a:rPr lang="en-US" sz="3200" dirty="0">
                <a:solidFill>
                  <a:srgbClr val="000000"/>
                </a:solidFill>
                <a:latin typeface="MiSans" pitchFamily="34" charset="0"/>
                <a:ea typeface="MiSans" pitchFamily="34" charset="-122"/>
                <a:cs typeface="MiSans" pitchFamily="34" charset="-120"/>
              </a:rPr>
              <a:t>证明</a:t>
            </a:r>
            <a:endParaRPr lang="en-US" sz="3200" dirty="0"/>
          </a:p>
          <a:p>
            <a:pPr algn="l">
              <a:lnSpc>
                <a:spcPct val="120000"/>
              </a:lnSpc>
              <a:spcBef>
                <a:spcPts val="800"/>
              </a:spcBef>
            </a:pPr>
            <a:r>
              <a:rPr lang="en-US" sz="3200" dirty="0">
                <a:solidFill>
                  <a:srgbClr val="000000"/>
                </a:solidFill>
                <a:latin typeface="Arial" pitchFamily="34" charset="0"/>
                <a:ea typeface="Arial" pitchFamily="34" charset="-122"/>
                <a:cs typeface="Arial" pitchFamily="34" charset="-120"/>
              </a:rPr>
              <a:t> </a:t>
            </a:r>
            <a:endParaRPr lang="en-US" sz="3200" dirty="0"/>
          </a:p>
          <a:p>
            <a:pPr algn="l" marL="508000" indent="-508000">
              <a:lnSpc>
                <a:spcPct val="120000"/>
              </a:lnSpc>
              <a:spcBef>
                <a:spcPts val="10"/>
              </a:spcBef>
              <a:buSzPct val="100000"/>
              <a:buChar char="•"/>
            </a:pPr>
            <a:r>
              <a:rPr lang="en-US" sz="3200" b="1" dirty="0">
                <a:solidFill>
                  <a:srgbClr val="000000"/>
                </a:solidFill>
                <a:latin typeface="MiSans" pitchFamily="34" charset="0"/>
                <a:ea typeface="MiSans" pitchFamily="34" charset="-122"/>
                <a:cs typeface="MiSans" pitchFamily="34" charset="-120"/>
              </a:rPr>
              <a:t>基于零知识证明</a:t>
            </a:r>
            <a:endParaRPr lang="en-US" sz="3200" dirty="0"/>
          </a:p>
          <a:p>
            <a:pPr algn="l">
              <a:lnSpc>
                <a:spcPct val="120000"/>
              </a:lnSpc>
            </a:pPr>
            <a:r>
              <a:rPr lang="en-US" sz="3200" dirty="0">
                <a:solidFill>
                  <a:srgbClr val="000000"/>
                </a:solidFill>
                <a:latin typeface="MiSans" pitchFamily="34" charset="0"/>
                <a:ea typeface="MiSans" pitchFamily="34" charset="-122"/>
                <a:cs typeface="MiSans" pitchFamily="34" charset="-120"/>
              </a:rPr>
              <a:t>       </a:t>
            </a:r>
            <a:pPr algn="l">
              <a:lnSpc>
                <a:spcPct val="120000"/>
              </a:lnSpc>
            </a:pPr>
            <a:r>
              <a:rPr lang="en-US" sz="3200" dirty="0">
                <a:solidFill>
                  <a:srgbClr val="000000"/>
                </a:solidFill>
                <a:latin typeface="MiSans" pitchFamily="34" charset="0"/>
                <a:ea typeface="MiSans" pitchFamily="34" charset="-122"/>
                <a:cs typeface="MiSans" pitchFamily="34" charset="-120"/>
              </a:rPr>
              <a:t>针对特定区块链结构设计零知识证明方案，跨链验证时：</a:t>
            </a:r>
            <a:endParaRPr lang="en-US" sz="3200" dirty="0"/>
          </a:p>
          <a:p>
            <a:pPr algn="l">
              <a:lnSpc>
                <a:spcPct val="120000"/>
              </a:lnSpc>
            </a:pPr>
            <a:r>
              <a:rPr lang="en-US" sz="3200" dirty="0">
                <a:solidFill>
                  <a:srgbClr val="000000"/>
                </a:solidFill>
                <a:latin typeface="MiSans" pitchFamily="34" charset="0"/>
                <a:ea typeface="MiSans" pitchFamily="34" charset="-122"/>
                <a:cs typeface="MiSans" pitchFamily="34" charset="-120"/>
              </a:rPr>
              <a:t>       </a:t>
            </a:r>
            <a:pPr algn="l">
              <a:lnSpc>
                <a:spcPct val="120000"/>
              </a:lnSpc>
            </a:pPr>
            <a:r>
              <a:rPr lang="en-US" sz="3200" dirty="0">
                <a:solidFill>
                  <a:srgbClr val="000000"/>
                </a:solidFill>
                <a:latin typeface="MiSans" pitchFamily="34" charset="0"/>
                <a:ea typeface="MiSans" pitchFamily="34" charset="-122"/>
                <a:cs typeface="MiSans" pitchFamily="34" charset="-120"/>
              </a:rPr>
              <a:t>在链下计算得到零知识证明</a:t>
            </a:r>
            <a:endParaRPr lang="en-US" sz="3200" dirty="0"/>
          </a:p>
        </p:txBody>
      </p:sp>
      <p:sp>
        <p:nvSpPr>
          <p:cNvPr id="24" name="Shape 20"/>
          <p:cNvSpPr/>
          <p:nvPr/>
        </p:nvSpPr>
        <p:spPr>
          <a:xfrm>
            <a:off x="951611" y="5122545"/>
            <a:ext cx="1866011" cy="762127"/>
          </a:xfrm>
          <a:prstGeom prst="rect">
            <a:avLst/>
          </a:prstGeom>
          <a:solidFill>
            <a:srgbClr val="FFFFFF"/>
          </a:solidFill>
          <a:ln w="12700">
            <a:solidFill>
              <a:srgbClr val="304B73"/>
            </a:solidFill>
            <a:prstDash val="solid"/>
          </a:ln>
        </p:spPr>
      </p:sp>
      <p:sp>
        <p:nvSpPr>
          <p:cNvPr id="25" name="Text 21"/>
          <p:cNvSpPr/>
          <p:nvPr/>
        </p:nvSpPr>
        <p:spPr>
          <a:xfrm>
            <a:off x="951611" y="5122545"/>
            <a:ext cx="1866011" cy="762127"/>
          </a:xfrm>
          <a:prstGeom prst="rect">
            <a:avLst/>
          </a:prstGeom>
          <a:noFill/>
          <a:ln/>
        </p:spPr>
        <p:txBody>
          <a:bodyPr wrap="square" lIns="0" tIns="0" rIns="0" bIns="0" rtlCol="0" anchor="ctr"/>
          <a:lstStyle/>
          <a:p>
            <a:pPr algn="ctr">
              <a:lnSpc>
                <a:spcPct val="120000"/>
              </a:lnSpc>
            </a:pPr>
            <a:r>
              <a:rPr lang="en-US" sz="2400" dirty="0">
                <a:solidFill>
                  <a:srgbClr val="04579A"/>
                </a:solidFill>
                <a:latin typeface="Arial" pitchFamily="34" charset="0"/>
                <a:ea typeface="Arial" pitchFamily="34" charset="-122"/>
                <a:cs typeface="Arial" pitchFamily="34" charset="-120"/>
              </a:rPr>
              <a:t>交易有效性证明</a:t>
            </a:r>
            <a:endParaRPr lang="en-US" sz="2400" dirty="0"/>
          </a:p>
        </p:txBody>
      </p:sp>
      <p:sp>
        <p:nvSpPr>
          <p:cNvPr id="26" name="Text 22"/>
          <p:cNvSpPr/>
          <p:nvPr/>
        </p:nvSpPr>
        <p:spPr>
          <a:xfrm>
            <a:off x="15649067" y="8666353"/>
            <a:ext cx="606933" cy="492506"/>
          </a:xfrm>
          <a:prstGeom prst="rect">
            <a:avLst/>
          </a:prstGeom>
          <a:noFill/>
          <a:ln/>
        </p:spPr>
        <p:txBody>
          <a:bodyPr wrap="square" lIns="0" tIns="0" rIns="0" bIns="0" rtlCol="0" anchor="t"/>
          <a:lstStyle/>
          <a:p>
            <a:pPr algn="ctr">
              <a:lnSpc>
                <a:spcPct val="120000"/>
              </a:lnSpc>
            </a:pPr>
            <a:r>
              <a:rPr lang="en-US" sz="2400" dirty="0">
                <a:solidFill>
                  <a:srgbClr val="000000"/>
                </a:solidFill>
                <a:latin typeface="Arial" pitchFamily="34" charset="0"/>
                <a:ea typeface="Arial" pitchFamily="34" charset="-122"/>
                <a:cs typeface="Arial" pitchFamily="34" charset="-120"/>
              </a:rPr>
              <a:t>20</a:t>
            </a:r>
            <a:endParaRPr lang="en-US" sz="2400" dirty="0"/>
          </a:p>
        </p:txBody>
      </p:sp>
    </p:spTree>
  </p:cSld>
  <p:clrMapOvr>
    <a:masterClrMapping/>
  </p:clrMapOvr>
  <p:transition>
    <p:fade/>
    <p:spd val="med"/>
  </p:transition>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7919720" y="2530729"/>
            <a:ext cx="1878711" cy="492506"/>
          </a:xfrm>
          <a:prstGeom prst="rect">
            <a:avLst/>
          </a:prstGeom>
          <a:noFill/>
          <a:ln/>
        </p:spPr>
        <p:txBody>
          <a:bodyPr wrap="square" lIns="0" tIns="0" rIns="0" bIns="0" rtlCol="0" anchor="t"/>
          <a:lstStyle/>
          <a:p>
            <a:pPr algn="ctr">
              <a:lnSpc>
                <a:spcPct val="120000"/>
              </a:lnSpc>
            </a:pPr>
            <a:r>
              <a:rPr lang="en-US" sz="2400" dirty="0">
                <a:solidFill>
                  <a:srgbClr val="000000"/>
                </a:solidFill>
                <a:latin typeface="Arial" pitchFamily="34" charset="0"/>
                <a:ea typeface="Arial" pitchFamily="34" charset="-122"/>
                <a:cs typeface="Arial" pitchFamily="34" charset="-120"/>
              </a:rPr>
              <a:t>基于零知识</a:t>
            </a:r>
            <a:endParaRPr lang="en-US" sz="2400" dirty="0"/>
          </a:p>
        </p:txBody>
      </p:sp>
      <p:sp>
        <p:nvSpPr>
          <p:cNvPr id="4" name="Text 1"/>
          <p:cNvSpPr/>
          <p:nvPr/>
        </p:nvSpPr>
        <p:spPr>
          <a:xfrm>
            <a:off x="6041009" y="2523109"/>
            <a:ext cx="1878711" cy="491109"/>
          </a:xfrm>
          <a:prstGeom prst="rect">
            <a:avLst/>
          </a:prstGeom>
          <a:noFill/>
          <a:ln/>
        </p:spPr>
        <p:txBody>
          <a:bodyPr wrap="square" lIns="0" tIns="0" rIns="0" bIns="0" rtlCol="0" anchor="t"/>
          <a:lstStyle/>
          <a:p>
            <a:pPr algn="ctr">
              <a:lnSpc>
                <a:spcPct val="120000"/>
              </a:lnSpc>
            </a:pPr>
            <a:r>
              <a:rPr lang="en-US" sz="2400" dirty="0">
                <a:solidFill>
                  <a:srgbClr val="000000"/>
                </a:solidFill>
                <a:latin typeface="Arial" pitchFamily="34" charset="0"/>
                <a:ea typeface="Arial" pitchFamily="34" charset="-122"/>
                <a:cs typeface="Arial" pitchFamily="34" charset="-120"/>
              </a:rPr>
              <a:t>基于SPV</a:t>
            </a:r>
            <a:endParaRPr lang="en-US" sz="2400" dirty="0"/>
          </a:p>
        </p:txBody>
      </p:sp>
      <p:sp>
        <p:nvSpPr>
          <p:cNvPr id="5" name="Shape 2"/>
          <p:cNvSpPr/>
          <p:nvPr/>
        </p:nvSpPr>
        <p:spPr>
          <a:xfrm>
            <a:off x="5162169" y="-889"/>
            <a:ext cx="2590800" cy="962660"/>
          </a:xfrm>
          <a:prstGeom prst="rect">
            <a:avLst/>
          </a:prstGeom>
          <a:solidFill>
            <a:srgbClr val="F2F2F2"/>
          </a:solidFill>
          <a:ln w="12700">
            <a:solidFill>
              <a:srgbClr val="F2F2F2"/>
            </a:solidFill>
            <a:prstDash val="solid"/>
          </a:ln>
        </p:spPr>
      </p:sp>
      <p:sp>
        <p:nvSpPr>
          <p:cNvPr id="6" name="Shape 3"/>
          <p:cNvSpPr/>
          <p:nvPr/>
        </p:nvSpPr>
        <p:spPr>
          <a:xfrm>
            <a:off x="5162169" y="-889"/>
            <a:ext cx="2590800" cy="962660"/>
          </a:xfrm>
          <a:prstGeom prst="rect">
            <a:avLst/>
          </a:prstGeom>
          <a:solidFill>
            <a:srgbClr val="04579A"/>
          </a:solidFill>
          <a:ln w="12700">
            <a:solidFill>
              <a:srgbClr val="04579A"/>
            </a:solidFill>
            <a:prstDash val="solid"/>
          </a:ln>
        </p:spPr>
      </p:sp>
      <p:sp>
        <p:nvSpPr>
          <p:cNvPr id="7" name="Shape 4"/>
          <p:cNvSpPr/>
          <p:nvPr/>
        </p:nvSpPr>
        <p:spPr>
          <a:xfrm>
            <a:off x="7816469" y="-889"/>
            <a:ext cx="4114800" cy="962660"/>
          </a:xfrm>
          <a:prstGeom prst="rect">
            <a:avLst/>
          </a:prstGeom>
          <a:solidFill>
            <a:srgbClr val="F2F2F2"/>
          </a:solidFill>
          <a:ln/>
        </p:spPr>
      </p:sp>
      <p:sp>
        <p:nvSpPr>
          <p:cNvPr id="8" name="Shape 5"/>
          <p:cNvSpPr/>
          <p:nvPr/>
        </p:nvSpPr>
        <p:spPr>
          <a:xfrm>
            <a:off x="11971020" y="0"/>
            <a:ext cx="4284980" cy="961771"/>
          </a:xfrm>
          <a:prstGeom prst="rect">
            <a:avLst/>
          </a:prstGeom>
          <a:solidFill>
            <a:srgbClr val="F2F2F2"/>
          </a:solidFill>
          <a:ln/>
        </p:spPr>
      </p:sp>
      <p:sp>
        <p:nvSpPr>
          <p:cNvPr id="9" name="Shape 6"/>
          <p:cNvSpPr/>
          <p:nvPr/>
        </p:nvSpPr>
        <p:spPr>
          <a:xfrm>
            <a:off x="2219960" y="-889"/>
            <a:ext cx="2895600" cy="962660"/>
          </a:xfrm>
          <a:prstGeom prst="rect">
            <a:avLst/>
          </a:prstGeom>
          <a:solidFill>
            <a:srgbClr val="F2F2F2"/>
          </a:solidFill>
          <a:ln w="12700">
            <a:solidFill>
              <a:srgbClr val="F2F2F2"/>
            </a:solidFill>
            <a:prstDash val="solid"/>
          </a:ln>
        </p:spPr>
      </p:sp>
      <p:sp>
        <p:nvSpPr>
          <p:cNvPr id="10" name="Text 7"/>
          <p:cNvSpPr/>
          <p:nvPr/>
        </p:nvSpPr>
        <p:spPr>
          <a:xfrm>
            <a:off x="2283460" y="203200"/>
            <a:ext cx="27686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选题背景及意义</a:t>
            </a:r>
            <a:endParaRPr lang="en-US" sz="2000" dirty="0"/>
          </a:p>
        </p:txBody>
      </p:sp>
      <p:sp>
        <p:nvSpPr>
          <p:cNvPr id="11" name="Text 8"/>
          <p:cNvSpPr/>
          <p:nvPr/>
        </p:nvSpPr>
        <p:spPr>
          <a:xfrm>
            <a:off x="5225669" y="203200"/>
            <a:ext cx="2463800" cy="508000"/>
          </a:xfrm>
          <a:prstGeom prst="rect">
            <a:avLst/>
          </a:prstGeom>
          <a:noFill/>
          <a:ln/>
        </p:spPr>
        <p:txBody>
          <a:bodyPr wrap="none" lIns="0" tIns="0" rIns="0" bIns="0" rtlCol="0" anchor="ctr"/>
          <a:lstStyle/>
          <a:p>
            <a:pPr algn="ctr">
              <a:lnSpc>
                <a:spcPct val="120000"/>
              </a:lnSpc>
            </a:pPr>
            <a:r>
              <a:rPr lang="en-US" sz="2000" dirty="0">
                <a:solidFill>
                  <a:srgbClr val="FFFFFF"/>
                </a:solidFill>
                <a:latin typeface="Arial" pitchFamily="34" charset="0"/>
                <a:ea typeface="Arial" pitchFamily="34" charset="-122"/>
                <a:cs typeface="Arial" pitchFamily="34" charset="-120"/>
              </a:rPr>
              <a:t>国内外研究现状</a:t>
            </a:r>
            <a:endParaRPr lang="en-US" sz="2000" dirty="0"/>
          </a:p>
        </p:txBody>
      </p:sp>
      <p:sp>
        <p:nvSpPr>
          <p:cNvPr id="12" name="Text 9"/>
          <p:cNvSpPr/>
          <p:nvPr/>
        </p:nvSpPr>
        <p:spPr>
          <a:xfrm>
            <a:off x="7879969" y="203200"/>
            <a:ext cx="39878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主要研究内容及预期目标</a:t>
            </a:r>
            <a:endParaRPr lang="en-US" sz="2000" dirty="0"/>
          </a:p>
        </p:txBody>
      </p:sp>
      <p:sp>
        <p:nvSpPr>
          <p:cNvPr id="13" name="Text 10"/>
          <p:cNvSpPr/>
          <p:nvPr/>
        </p:nvSpPr>
        <p:spPr>
          <a:xfrm>
            <a:off x="12034520" y="203200"/>
            <a:ext cx="415798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工作计划与进度安排</a:t>
            </a:r>
            <a:endParaRPr lang="en-US" sz="2000" dirty="0"/>
          </a:p>
        </p:txBody>
      </p:sp>
      <p:pic>
        <p:nvPicPr>
          <p:cNvPr id="14" name="Image 0" descr="https://kimi-img.moonshot.cn/pub/slides/okc/flfuysioo4gzm/mnt/agents/output/yuan_pptd/images/image_2.jpg">    </p:cNvPr>
          <p:cNvPicPr>
            <a:picLocks noChangeAspect="1"/>
          </p:cNvPicPr>
          <p:nvPr/>
        </p:nvPicPr>
        <p:blipFill>
          <a:blip r:embed="rId1"/>
          <a:srcRect l="5060" r="29000" t="0" b="0"/>
          <a:stretch/>
        </p:blipFill>
        <p:spPr>
          <a:xfrm>
            <a:off x="544449" y="140589"/>
            <a:ext cx="1273429" cy="745871"/>
          </a:xfrm>
          <a:prstGeom prst="rect">
            <a:avLst/>
          </a:prstGeom>
        </p:spPr>
      </p:pic>
      <p:sp>
        <p:nvSpPr>
          <p:cNvPr id="15" name="Shape 11"/>
          <p:cNvSpPr/>
          <p:nvPr/>
        </p:nvSpPr>
        <p:spPr>
          <a:xfrm rot="10800000">
            <a:off x="6121400" y="961771"/>
            <a:ext cx="389509" cy="304800"/>
          </a:xfrm>
          <a:prstGeom prst="triangle">
            <a:avLst>
              <a:gd name="adj" fmla="val 50000"/>
            </a:avLst>
          </a:prstGeom>
          <a:solidFill>
            <a:srgbClr val="04579A"/>
          </a:solidFill>
          <a:ln/>
        </p:spPr>
      </p:sp>
      <p:sp>
        <p:nvSpPr>
          <p:cNvPr id="16" name="Shape 12"/>
          <p:cNvSpPr/>
          <p:nvPr/>
        </p:nvSpPr>
        <p:spPr>
          <a:xfrm>
            <a:off x="7919720" y="2112391"/>
            <a:ext cx="0" cy="6022340"/>
          </a:xfrm>
          <a:prstGeom prst="line">
            <a:avLst/>
          </a:prstGeom>
          <a:noFill/>
          <a:ln w="63500">
            <a:solidFill>
              <a:srgbClr val="7F7F7F"/>
            </a:solidFill>
            <a:prstDash val="solid"/>
            <a:headEnd type="none"/>
            <a:tailEnd type="none"/>
          </a:ln>
        </p:spPr>
      </p:sp>
      <p:sp>
        <p:nvSpPr>
          <p:cNvPr id="17" name="Text 13"/>
          <p:cNvSpPr/>
          <p:nvPr/>
        </p:nvSpPr>
        <p:spPr>
          <a:xfrm>
            <a:off x="1874520" y="3402711"/>
            <a:ext cx="5418709" cy="531749"/>
          </a:xfrm>
          <a:prstGeom prst="rect">
            <a:avLst/>
          </a:prstGeom>
          <a:noFill/>
          <a:ln/>
        </p:spPr>
        <p:txBody>
          <a:bodyPr wrap="square" lIns="0" tIns="0" rIns="0" bIns="0" rtlCol="0" anchor="t"/>
          <a:lstStyle/>
          <a:p>
            <a:pPr algn="l">
              <a:lnSpc>
                <a:spcPct val="120000"/>
              </a:lnSpc>
            </a:pPr>
            <a:r>
              <a:rPr lang="en-US" sz="2670" b="1" dirty="0">
                <a:solidFill>
                  <a:srgbClr val="04579A"/>
                </a:solidFill>
                <a:latin typeface="MiSans" pitchFamily="34" charset="0"/>
                <a:ea typeface="MiSans" pitchFamily="34" charset="-122"/>
                <a:cs typeface="MiSans" pitchFamily="34" charset="-120"/>
              </a:rPr>
              <a:t>Flyclient</a:t>
            </a:r>
            <a:pPr algn="l">
              <a:lnSpc>
                <a:spcPct val="120000"/>
              </a:lnSpc>
            </a:pPr>
            <a:r>
              <a:rPr lang="en-US" sz="2670" b="1" dirty="0">
                <a:solidFill>
                  <a:srgbClr val="04579A"/>
                </a:solidFill>
                <a:latin typeface="MiSans" pitchFamily="34" charset="0"/>
                <a:ea typeface="MiSans" pitchFamily="34" charset="-122"/>
                <a:cs typeface="MiSans" pitchFamily="34" charset="-120"/>
              </a:rPr>
              <a:t> SP</a:t>
            </a:r>
            <a:pPr algn="l">
              <a:lnSpc>
                <a:spcPct val="120000"/>
              </a:lnSpc>
            </a:pPr>
            <a:r>
              <a:rPr lang="en-US" sz="2670" b="1" dirty="0">
                <a:solidFill>
                  <a:srgbClr val="04579A"/>
                </a:solidFill>
                <a:latin typeface="MiSans" pitchFamily="34" charset="0"/>
                <a:ea typeface="MiSans" pitchFamily="34" charset="-122"/>
                <a:cs typeface="MiSans" pitchFamily="34" charset="-120"/>
              </a:rPr>
              <a:t>'</a:t>
            </a:r>
            <a:pPr algn="l">
              <a:lnSpc>
                <a:spcPct val="120000"/>
              </a:lnSpc>
            </a:pPr>
            <a:r>
              <a:rPr lang="en-US" sz="2670" b="1" dirty="0">
                <a:solidFill>
                  <a:srgbClr val="04579A"/>
                </a:solidFill>
                <a:latin typeface="MiSans" pitchFamily="34" charset="0"/>
                <a:ea typeface="MiSans" pitchFamily="34" charset="-122"/>
                <a:cs typeface="MiSans" pitchFamily="34" charset="-120"/>
              </a:rPr>
              <a:t>20</a:t>
            </a:r>
            <a:endParaRPr lang="en-US" sz="2670" dirty="0"/>
          </a:p>
        </p:txBody>
      </p:sp>
      <p:sp>
        <p:nvSpPr>
          <p:cNvPr id="18" name="Text 14"/>
          <p:cNvSpPr/>
          <p:nvPr/>
        </p:nvSpPr>
        <p:spPr>
          <a:xfrm>
            <a:off x="11231880" y="4753229"/>
            <a:ext cx="3610229" cy="531749"/>
          </a:xfrm>
          <a:prstGeom prst="rect">
            <a:avLst/>
          </a:prstGeom>
          <a:noFill/>
          <a:ln/>
        </p:spPr>
        <p:txBody>
          <a:bodyPr wrap="square" lIns="0" tIns="0" rIns="0" bIns="0" rtlCol="0" anchor="t"/>
          <a:lstStyle/>
          <a:p>
            <a:pPr algn="l">
              <a:lnSpc>
                <a:spcPct val="120000"/>
              </a:lnSpc>
            </a:pPr>
            <a:r>
              <a:rPr lang="en-US" sz="2670" b="1" dirty="0">
                <a:solidFill>
                  <a:srgbClr val="33A470"/>
                </a:solidFill>
                <a:latin typeface="MiSans" pitchFamily="34" charset="0"/>
                <a:ea typeface="MiSans" pitchFamily="34" charset="-122"/>
                <a:cs typeface="MiSans" pitchFamily="34" charset="-120"/>
              </a:rPr>
              <a:t>Zk</a:t>
            </a:r>
            <a:pPr algn="l">
              <a:lnSpc>
                <a:spcPct val="120000"/>
              </a:lnSpc>
            </a:pPr>
            <a:r>
              <a:rPr lang="en-US" sz="2670" b="1" dirty="0">
                <a:solidFill>
                  <a:srgbClr val="33A470"/>
                </a:solidFill>
                <a:latin typeface="MiSans" pitchFamily="34" charset="0"/>
                <a:ea typeface="MiSans" pitchFamily="34" charset="-122"/>
                <a:cs typeface="MiSans" pitchFamily="34" charset="-120"/>
              </a:rPr>
              <a:t>-bridge CCS</a:t>
            </a:r>
            <a:pPr algn="l">
              <a:lnSpc>
                <a:spcPct val="120000"/>
              </a:lnSpc>
            </a:pPr>
            <a:r>
              <a:rPr lang="en-US" sz="2670" b="1" dirty="0">
                <a:solidFill>
                  <a:srgbClr val="33A470"/>
                </a:solidFill>
                <a:latin typeface="MiSans" pitchFamily="34" charset="0"/>
                <a:ea typeface="MiSans" pitchFamily="34" charset="-122"/>
                <a:cs typeface="MiSans" pitchFamily="34" charset="-120"/>
              </a:rPr>
              <a:t>'</a:t>
            </a:r>
            <a:pPr algn="l">
              <a:lnSpc>
                <a:spcPct val="120000"/>
              </a:lnSpc>
            </a:pPr>
            <a:r>
              <a:rPr lang="en-US" sz="2670" b="1" dirty="0">
                <a:solidFill>
                  <a:srgbClr val="33A470"/>
                </a:solidFill>
                <a:latin typeface="MiSans" pitchFamily="34" charset="0"/>
                <a:ea typeface="MiSans" pitchFamily="34" charset="-122"/>
                <a:cs typeface="MiSans" pitchFamily="34" charset="-120"/>
              </a:rPr>
              <a:t>22</a:t>
            </a:r>
            <a:endParaRPr lang="en-US" sz="2670" dirty="0"/>
          </a:p>
        </p:txBody>
      </p:sp>
      <p:sp>
        <p:nvSpPr>
          <p:cNvPr id="19" name="Text 15"/>
          <p:cNvSpPr/>
          <p:nvPr/>
        </p:nvSpPr>
        <p:spPr>
          <a:xfrm>
            <a:off x="1477772" y="6184011"/>
            <a:ext cx="5815330" cy="531749"/>
          </a:xfrm>
          <a:prstGeom prst="rect">
            <a:avLst/>
          </a:prstGeom>
          <a:noFill/>
          <a:ln/>
        </p:spPr>
        <p:txBody>
          <a:bodyPr wrap="square" lIns="0" tIns="0" rIns="0" bIns="0" rtlCol="0" anchor="t"/>
          <a:lstStyle/>
          <a:p>
            <a:pPr algn="l">
              <a:lnSpc>
                <a:spcPct val="120000"/>
              </a:lnSpc>
            </a:pPr>
            <a:r>
              <a:rPr lang="en-US" sz="2670" b="1" dirty="0">
                <a:solidFill>
                  <a:srgbClr val="04579A"/>
                </a:solidFill>
                <a:latin typeface="MiSans" pitchFamily="34" charset="0"/>
                <a:ea typeface="MiSans" pitchFamily="34" charset="-122"/>
                <a:cs typeface="MiSans" pitchFamily="34" charset="-120"/>
              </a:rPr>
              <a:t>Glimpse Usenix</a:t>
            </a:r>
            <a:pPr algn="l">
              <a:lnSpc>
                <a:spcPct val="120000"/>
              </a:lnSpc>
            </a:pPr>
            <a:r>
              <a:rPr lang="en-US" sz="2670" b="1" dirty="0">
                <a:solidFill>
                  <a:srgbClr val="04579A"/>
                </a:solidFill>
                <a:latin typeface="MiSans" pitchFamily="34" charset="0"/>
                <a:ea typeface="MiSans" pitchFamily="34" charset="-122"/>
                <a:cs typeface="MiSans" pitchFamily="34" charset="-120"/>
              </a:rPr>
              <a:t>'</a:t>
            </a:r>
            <a:pPr algn="l">
              <a:lnSpc>
                <a:spcPct val="120000"/>
              </a:lnSpc>
            </a:pPr>
            <a:r>
              <a:rPr lang="en-US" sz="2670" b="1" dirty="0">
                <a:solidFill>
                  <a:srgbClr val="04579A"/>
                </a:solidFill>
                <a:latin typeface="MiSans" pitchFamily="34" charset="0"/>
                <a:ea typeface="MiSans" pitchFamily="34" charset="-122"/>
                <a:cs typeface="MiSans" pitchFamily="34" charset="-120"/>
              </a:rPr>
              <a:t>23</a:t>
            </a:r>
            <a:endParaRPr lang="en-US" sz="2670" dirty="0"/>
          </a:p>
        </p:txBody>
      </p:sp>
      <p:sp>
        <p:nvSpPr>
          <p:cNvPr id="20" name="Shape 16"/>
          <p:cNvSpPr/>
          <p:nvPr/>
        </p:nvSpPr>
        <p:spPr>
          <a:xfrm>
            <a:off x="7513320" y="3402711"/>
            <a:ext cx="750189" cy="750189"/>
          </a:xfrm>
          <a:prstGeom prst="ellipse">
            <a:avLst/>
          </a:prstGeom>
          <a:solidFill>
            <a:srgbClr val="FFFFFF"/>
          </a:solidFill>
          <a:ln w="12700">
            <a:solidFill>
              <a:srgbClr val="04579A"/>
            </a:solidFill>
            <a:prstDash val="solid"/>
          </a:ln>
          <a:effectLst>
            <a:outerShdw sx="100000" sy="100000" kx="0" ky="0" algn="bl" rotWithShape="0" blurRad="50800" dist="26924" dir="2700000">
              <a:srgbClr val="000000">
                <a:alpha val="40000"/>
              </a:srgbClr>
            </a:outerShdw>
          </a:effectLst>
        </p:spPr>
      </p:sp>
      <p:sp>
        <p:nvSpPr>
          <p:cNvPr id="21" name="Text 17"/>
          <p:cNvSpPr/>
          <p:nvPr/>
        </p:nvSpPr>
        <p:spPr>
          <a:xfrm>
            <a:off x="7513320" y="3402711"/>
            <a:ext cx="750189" cy="750189"/>
          </a:xfrm>
          <a:prstGeom prst="rect">
            <a:avLst/>
          </a:prstGeom>
          <a:noFill/>
          <a:ln/>
          <a:effectLst>
            <a:outerShdw sx="100000" sy="100000" kx="0" ky="0" algn="bl" rotWithShape="0" blurRad="38100" dist="26924" dir="2700000">
              <a:srgbClr val="000000">
                <a:alpha val="42745"/>
              </a:srgbClr>
            </a:outerShdw>
          </a:effectLst>
        </p:spPr>
        <p:txBody>
          <a:bodyPr wrap="square" lIns="0" tIns="0" rIns="0" bIns="0" rtlCol="0" anchor="ctr"/>
          <a:lstStyle/>
          <a:p>
            <a:pPr algn="ctr">
              <a:lnSpc>
                <a:spcPct val="120000"/>
              </a:lnSpc>
            </a:pPr>
            <a:r>
              <a:rPr lang="en-US" sz="3730" b="1" dirty="0">
                <a:solidFill>
                  <a:srgbClr val="04579A"/>
                </a:solidFill>
                <a:latin typeface="Arial" pitchFamily="34" charset="0"/>
                <a:ea typeface="Arial" pitchFamily="34" charset="-122"/>
                <a:cs typeface="Arial" pitchFamily="34" charset="-120"/>
              </a:rPr>
              <a:t>1</a:t>
            </a:r>
            <a:endParaRPr lang="en-US" sz="3730" dirty="0"/>
          </a:p>
        </p:txBody>
      </p:sp>
      <p:sp>
        <p:nvSpPr>
          <p:cNvPr id="22" name="Shape 18"/>
          <p:cNvSpPr/>
          <p:nvPr/>
        </p:nvSpPr>
        <p:spPr>
          <a:xfrm>
            <a:off x="7513320" y="6146800"/>
            <a:ext cx="750189" cy="750189"/>
          </a:xfrm>
          <a:prstGeom prst="ellipse">
            <a:avLst/>
          </a:prstGeom>
          <a:solidFill>
            <a:srgbClr val="FFFFFF"/>
          </a:solidFill>
          <a:ln w="12700">
            <a:solidFill>
              <a:srgbClr val="04579A"/>
            </a:solidFill>
            <a:prstDash val="solid"/>
          </a:ln>
          <a:effectLst>
            <a:outerShdw sx="100000" sy="100000" kx="0" ky="0" algn="bl" rotWithShape="0" blurRad="50800" dist="26924" dir="2700000">
              <a:srgbClr val="000000">
                <a:alpha val="40000"/>
              </a:srgbClr>
            </a:outerShdw>
          </a:effectLst>
        </p:spPr>
      </p:sp>
      <p:sp>
        <p:nvSpPr>
          <p:cNvPr id="23" name="Text 19"/>
          <p:cNvSpPr/>
          <p:nvPr/>
        </p:nvSpPr>
        <p:spPr>
          <a:xfrm>
            <a:off x="7513320" y="6146800"/>
            <a:ext cx="750189" cy="750189"/>
          </a:xfrm>
          <a:prstGeom prst="rect">
            <a:avLst/>
          </a:prstGeom>
          <a:noFill/>
          <a:ln/>
          <a:effectLst>
            <a:outerShdw sx="100000" sy="100000" kx="0" ky="0" algn="bl" rotWithShape="0" blurRad="38100" dist="26924" dir="2700000">
              <a:srgbClr val="000000">
                <a:alpha val="42745"/>
              </a:srgbClr>
            </a:outerShdw>
          </a:effectLst>
        </p:spPr>
        <p:txBody>
          <a:bodyPr wrap="square" lIns="0" tIns="0" rIns="0" bIns="0" rtlCol="0" anchor="ctr"/>
          <a:lstStyle/>
          <a:p>
            <a:pPr algn="ctr">
              <a:lnSpc>
                <a:spcPct val="120000"/>
              </a:lnSpc>
            </a:pPr>
            <a:r>
              <a:rPr lang="en-US" sz="3730" b="1" dirty="0">
                <a:solidFill>
                  <a:srgbClr val="04579A"/>
                </a:solidFill>
                <a:latin typeface="Arial" pitchFamily="34" charset="0"/>
                <a:ea typeface="Arial" pitchFamily="34" charset="-122"/>
                <a:cs typeface="Arial" pitchFamily="34" charset="-120"/>
              </a:rPr>
              <a:t>3</a:t>
            </a:r>
            <a:endParaRPr lang="en-US" sz="3730" dirty="0"/>
          </a:p>
        </p:txBody>
      </p:sp>
      <p:sp>
        <p:nvSpPr>
          <p:cNvPr id="24" name="Shape 20"/>
          <p:cNvSpPr/>
          <p:nvPr/>
        </p:nvSpPr>
        <p:spPr>
          <a:xfrm>
            <a:off x="7513320" y="4774311"/>
            <a:ext cx="750189" cy="750189"/>
          </a:xfrm>
          <a:prstGeom prst="ellipse">
            <a:avLst/>
          </a:prstGeom>
          <a:solidFill>
            <a:srgbClr val="FFFFFF"/>
          </a:solidFill>
          <a:ln w="12700">
            <a:solidFill>
              <a:srgbClr val="33A470"/>
            </a:solidFill>
            <a:prstDash val="solid"/>
          </a:ln>
          <a:effectLst>
            <a:outerShdw sx="100000" sy="100000" kx="0" ky="0" algn="bl" rotWithShape="0" blurRad="50800" dist="26924" dir="2700000">
              <a:srgbClr val="000000">
                <a:alpha val="40000"/>
              </a:srgbClr>
            </a:outerShdw>
          </a:effectLst>
        </p:spPr>
      </p:sp>
      <p:sp>
        <p:nvSpPr>
          <p:cNvPr id="25" name="Text 21"/>
          <p:cNvSpPr/>
          <p:nvPr/>
        </p:nvSpPr>
        <p:spPr>
          <a:xfrm>
            <a:off x="7513320" y="4774311"/>
            <a:ext cx="750189" cy="750189"/>
          </a:xfrm>
          <a:prstGeom prst="rect">
            <a:avLst/>
          </a:prstGeom>
          <a:noFill/>
          <a:ln/>
          <a:effectLst>
            <a:outerShdw sx="100000" sy="100000" kx="0" ky="0" algn="bl" rotWithShape="0" blurRad="38100" dist="26924" dir="2700000">
              <a:srgbClr val="000000">
                <a:alpha val="42745"/>
              </a:srgbClr>
            </a:outerShdw>
          </a:effectLst>
        </p:spPr>
        <p:txBody>
          <a:bodyPr wrap="square" lIns="0" tIns="0" rIns="0" bIns="0" rtlCol="0" anchor="ctr"/>
          <a:lstStyle/>
          <a:p>
            <a:pPr algn="ctr">
              <a:lnSpc>
                <a:spcPct val="120000"/>
              </a:lnSpc>
            </a:pPr>
            <a:r>
              <a:rPr lang="en-US" sz="3730" b="1" dirty="0">
                <a:solidFill>
                  <a:srgbClr val="33A470"/>
                </a:solidFill>
                <a:latin typeface="Arial" pitchFamily="34" charset="0"/>
                <a:ea typeface="Arial" pitchFamily="34" charset="-122"/>
                <a:cs typeface="Arial" pitchFamily="34" charset="-120"/>
              </a:rPr>
              <a:t>2</a:t>
            </a:r>
            <a:endParaRPr lang="en-US" sz="3730" dirty="0"/>
          </a:p>
        </p:txBody>
      </p:sp>
      <p:sp>
        <p:nvSpPr>
          <p:cNvPr id="26" name="Shape 22"/>
          <p:cNvSpPr/>
          <p:nvPr/>
        </p:nvSpPr>
        <p:spPr>
          <a:xfrm>
            <a:off x="4936871" y="3656711"/>
            <a:ext cx="2356231" cy="11811"/>
          </a:xfrm>
          <a:prstGeom prst="line">
            <a:avLst/>
          </a:prstGeom>
          <a:noFill/>
          <a:ln w="15875">
            <a:solidFill>
              <a:srgbClr val="7F7F7F"/>
            </a:solidFill>
            <a:prstDash val="dash"/>
            <a:headEnd type="none"/>
            <a:tailEnd type="none"/>
          </a:ln>
        </p:spPr>
      </p:sp>
      <p:sp>
        <p:nvSpPr>
          <p:cNvPr id="27" name="Shape 23"/>
          <p:cNvSpPr/>
          <p:nvPr/>
        </p:nvSpPr>
        <p:spPr>
          <a:xfrm>
            <a:off x="8647049" y="5013071"/>
            <a:ext cx="2356231" cy="11811"/>
          </a:xfrm>
          <a:prstGeom prst="line">
            <a:avLst/>
          </a:prstGeom>
          <a:noFill/>
          <a:ln w="15875">
            <a:solidFill>
              <a:srgbClr val="7F7F7F"/>
            </a:solidFill>
            <a:prstDash val="dash"/>
            <a:headEnd type="none"/>
            <a:tailEnd type="none"/>
          </a:ln>
        </p:spPr>
      </p:sp>
      <p:sp>
        <p:nvSpPr>
          <p:cNvPr id="28" name="Shape 24"/>
          <p:cNvSpPr/>
          <p:nvPr/>
        </p:nvSpPr>
        <p:spPr>
          <a:xfrm>
            <a:off x="4936871" y="6443980"/>
            <a:ext cx="2356231" cy="11811"/>
          </a:xfrm>
          <a:prstGeom prst="line">
            <a:avLst/>
          </a:prstGeom>
          <a:noFill/>
          <a:ln w="15875">
            <a:solidFill>
              <a:srgbClr val="7F7F7F"/>
            </a:solidFill>
            <a:prstDash val="dash"/>
            <a:headEnd type="none"/>
            <a:tailEnd type="none"/>
          </a:ln>
        </p:spPr>
      </p:sp>
      <p:sp>
        <p:nvSpPr>
          <p:cNvPr id="29" name="Text 25"/>
          <p:cNvSpPr/>
          <p:nvPr/>
        </p:nvSpPr>
        <p:spPr>
          <a:xfrm>
            <a:off x="1873631" y="3934460"/>
            <a:ext cx="5639689" cy="1271651"/>
          </a:xfrm>
          <a:prstGeom prst="rect">
            <a:avLst/>
          </a:prstGeom>
          <a:noFill/>
          <a:ln/>
        </p:spPr>
        <p:txBody>
          <a:bodyPr wrap="square" lIns="0" tIns="0" rIns="0" bIns="0" rtlCol="0" anchor="t"/>
          <a:lstStyle/>
          <a:p>
            <a:pPr algn="l" marL="338138" indent="-338138">
              <a:lnSpc>
                <a:spcPct val="120000"/>
              </a:lnSpc>
              <a:spcBef>
                <a:spcPts val="10"/>
              </a:spcBef>
              <a:buSzPct val="100000"/>
              <a:buChar char="•"/>
            </a:pPr>
            <a:r>
              <a:rPr lang="en-US" sz="2130" dirty="0">
                <a:solidFill>
                  <a:srgbClr val="262626"/>
                </a:solidFill>
                <a:latin typeface="MiSans" pitchFamily="34" charset="0"/>
                <a:ea typeface="MiSans" pitchFamily="34" charset="-122"/>
                <a:cs typeface="MiSans" pitchFamily="34" charset="-120"/>
              </a:rPr>
              <a:t>以非交互的抽样分布进行证明</a:t>
            </a:r>
            <a:endParaRPr lang="en-US" sz="2130" dirty="0"/>
          </a:p>
          <a:p>
            <a:pPr algn="l" marL="338138" indent="-338138">
              <a:lnSpc>
                <a:spcPct val="120000"/>
              </a:lnSpc>
              <a:spcBef>
                <a:spcPts val="10"/>
              </a:spcBef>
              <a:buSzPct val="100000"/>
              <a:buChar char="•"/>
            </a:pPr>
            <a:r>
              <a:rPr lang="en-US" sz="2130" dirty="0">
                <a:solidFill>
                  <a:srgbClr val="262626"/>
                </a:solidFill>
                <a:latin typeface="MiSans" pitchFamily="34" charset="0"/>
                <a:ea typeface="MiSans" pitchFamily="34" charset="-122"/>
                <a:cs typeface="MiSans" pitchFamily="34" charset="-120"/>
              </a:rPr>
              <a:t>对数级储存复杂度</a:t>
            </a:r>
            <a:endParaRPr lang="en-US" sz="2130" dirty="0"/>
          </a:p>
          <a:p>
            <a:pPr algn="l" marL="338138" indent="-338138">
              <a:lnSpc>
                <a:spcPct val="120000"/>
              </a:lnSpc>
              <a:spcBef>
                <a:spcPts val="10"/>
              </a:spcBef>
              <a:buSzPct val="100000"/>
              <a:buChar char="•"/>
            </a:pPr>
            <a:r>
              <a:rPr lang="en-US" sz="2130" b="1" dirty="0">
                <a:solidFill>
                  <a:srgbClr val="262626"/>
                </a:solidFill>
                <a:latin typeface="MiSans" pitchFamily="34" charset="0"/>
                <a:ea typeface="MiSans" pitchFamily="34" charset="-122"/>
                <a:cs typeface="MiSans" pitchFamily="34" charset="-120"/>
              </a:rPr>
              <a:t>缺乏后向兼容性</a:t>
            </a:r>
            <a:endParaRPr lang="en-US" sz="2130" dirty="0"/>
          </a:p>
        </p:txBody>
      </p:sp>
      <p:sp>
        <p:nvSpPr>
          <p:cNvPr id="30" name="Text 26"/>
          <p:cNvSpPr/>
          <p:nvPr/>
        </p:nvSpPr>
        <p:spPr>
          <a:xfrm>
            <a:off x="8647049" y="5288280"/>
            <a:ext cx="6849491" cy="1107948"/>
          </a:xfrm>
          <a:prstGeom prst="rect">
            <a:avLst/>
          </a:prstGeom>
          <a:noFill/>
          <a:ln/>
        </p:spPr>
        <p:txBody>
          <a:bodyPr wrap="square" lIns="0" tIns="0" rIns="0" bIns="0" rtlCol="0" anchor="t"/>
          <a:lstStyle/>
          <a:p>
            <a:pPr algn="l" marL="338138" indent="-338138">
              <a:lnSpc>
                <a:spcPct val="120000"/>
              </a:lnSpc>
              <a:spcBef>
                <a:spcPts val="10"/>
              </a:spcBef>
              <a:buSzPct val="100000"/>
              <a:buChar char="•"/>
            </a:pPr>
            <a:r>
              <a:rPr lang="en-US" sz="2130" dirty="0">
                <a:solidFill>
                  <a:srgbClr val="262626"/>
                </a:solidFill>
                <a:latin typeface="Arial" pitchFamily="34" charset="0"/>
                <a:ea typeface="Arial" pitchFamily="34" charset="-122"/>
                <a:cs typeface="Arial" pitchFamily="34" charset="-120"/>
              </a:rPr>
              <a:t>模块化设计支持消息传递/资产跨链/跨链状态计算</a:t>
            </a:r>
            <a:endParaRPr lang="en-US" sz="2130" dirty="0"/>
          </a:p>
          <a:p>
            <a:pPr algn="l" marL="338138" indent="-338138">
              <a:lnSpc>
                <a:spcPct val="120000"/>
              </a:lnSpc>
              <a:spcBef>
                <a:spcPts val="10"/>
              </a:spcBef>
              <a:buSzPct val="100000"/>
              <a:buChar char="•"/>
            </a:pPr>
            <a:r>
              <a:rPr lang="en-US" sz="2130" dirty="0">
                <a:solidFill>
                  <a:srgbClr val="262626"/>
                </a:solidFill>
                <a:latin typeface="MiSans" pitchFamily="34" charset="0"/>
                <a:ea typeface="MiSans" pitchFamily="34" charset="-122"/>
                <a:cs typeface="MiSans" pitchFamily="34" charset="-120"/>
              </a:rPr>
              <a:t>恒定储存复杂度</a:t>
            </a:r>
            <a:endParaRPr lang="en-US" sz="2130" dirty="0"/>
          </a:p>
          <a:p>
            <a:pPr algn="l" marL="338138" indent="-338138">
              <a:lnSpc>
                <a:spcPct val="120000"/>
              </a:lnSpc>
              <a:spcBef>
                <a:spcPts val="10"/>
              </a:spcBef>
              <a:buSzPct val="100000"/>
              <a:buChar char="•"/>
            </a:pPr>
            <a:r>
              <a:rPr lang="en-US" sz="2130" b="1" dirty="0">
                <a:solidFill>
                  <a:srgbClr val="262626"/>
                </a:solidFill>
                <a:latin typeface="Arial" pitchFamily="34" charset="0"/>
                <a:ea typeface="Arial" pitchFamily="34" charset="-122"/>
                <a:cs typeface="Arial" pitchFamily="34" charset="-120"/>
              </a:rPr>
              <a:t>零知识证明的生成和验证都需要大量计算资源</a:t>
            </a:r>
            <a:endParaRPr lang="en-US" sz="2130" dirty="0"/>
          </a:p>
        </p:txBody>
      </p:sp>
      <p:sp>
        <p:nvSpPr>
          <p:cNvPr id="31" name="Text 27"/>
          <p:cNvSpPr/>
          <p:nvPr/>
        </p:nvSpPr>
        <p:spPr>
          <a:xfrm>
            <a:off x="1874520" y="6758940"/>
            <a:ext cx="5638800" cy="1501902"/>
          </a:xfrm>
          <a:prstGeom prst="rect">
            <a:avLst/>
          </a:prstGeom>
          <a:noFill/>
          <a:ln/>
        </p:spPr>
        <p:txBody>
          <a:bodyPr wrap="square" lIns="0" tIns="0" rIns="0" bIns="0" rtlCol="0" anchor="t"/>
          <a:lstStyle/>
          <a:p>
            <a:pPr algn="l" marL="338138" indent="-338138">
              <a:lnSpc>
                <a:spcPct val="120000"/>
              </a:lnSpc>
              <a:spcBef>
                <a:spcPts val="10"/>
              </a:spcBef>
              <a:buSzPct val="100000"/>
              <a:buChar char="•"/>
            </a:pPr>
            <a:r>
              <a:rPr lang="en-US" sz="2130" dirty="0">
                <a:solidFill>
                  <a:srgbClr val="262626"/>
                </a:solidFill>
                <a:latin typeface="Arial" pitchFamily="34" charset="0"/>
                <a:ea typeface="Arial" pitchFamily="34" charset="-122"/>
                <a:cs typeface="Arial" pitchFamily="34" charset="-120"/>
              </a:rPr>
              <a:t>使用无状态SPV按需证明</a:t>
            </a:r>
            <a:endParaRPr lang="en-US" sz="2130" dirty="0"/>
          </a:p>
          <a:p>
            <a:pPr algn="l" marL="338138" indent="-338138">
              <a:lnSpc>
                <a:spcPct val="120000"/>
              </a:lnSpc>
              <a:spcBef>
                <a:spcPts val="10"/>
              </a:spcBef>
              <a:buSzPct val="100000"/>
              <a:buChar char="•"/>
            </a:pPr>
            <a:r>
              <a:rPr lang="en-US" sz="2130" dirty="0">
                <a:solidFill>
                  <a:srgbClr val="262626"/>
                </a:solidFill>
                <a:latin typeface="MiSans" pitchFamily="34" charset="0"/>
                <a:ea typeface="MiSans" pitchFamily="34" charset="-122"/>
                <a:cs typeface="MiSans" pitchFamily="34" charset="-120"/>
              </a:rPr>
              <a:t>恒定储存复杂度</a:t>
            </a:r>
            <a:endParaRPr lang="en-US" sz="2130" dirty="0"/>
          </a:p>
          <a:p>
            <a:pPr algn="l" marL="338138" indent="-338138">
              <a:lnSpc>
                <a:spcPct val="120000"/>
              </a:lnSpc>
              <a:spcBef>
                <a:spcPts val="10"/>
              </a:spcBef>
              <a:buSzPct val="100000"/>
              <a:buChar char="•"/>
            </a:pPr>
            <a:r>
              <a:rPr lang="en-US" sz="2130" b="1" dirty="0">
                <a:solidFill>
                  <a:srgbClr val="262626"/>
                </a:solidFill>
                <a:latin typeface="MiSans" pitchFamily="34" charset="0"/>
                <a:ea typeface="MiSans" pitchFamily="34" charset="-122"/>
                <a:cs typeface="MiSans" pitchFamily="34" charset="-120"/>
              </a:rPr>
              <a:t>需要特定脚本语言，不兼容于比特币</a:t>
            </a:r>
            <a:endParaRPr lang="en-US" sz="2130" dirty="0"/>
          </a:p>
          <a:p>
            <a:pPr algn="l">
              <a:lnSpc>
                <a:spcPct val="120000"/>
              </a:lnSpc>
            </a:pPr>
            <a:r>
              <a:rPr lang="en-US" sz="2130" dirty="0">
                <a:solidFill>
                  <a:srgbClr val="262626"/>
                </a:solidFill>
                <a:latin typeface="Arial" pitchFamily="34" charset="0"/>
                <a:ea typeface="Arial" pitchFamily="34" charset="-122"/>
                <a:cs typeface="Arial" pitchFamily="34" charset="-120"/>
              </a:rPr>
              <a:t> </a:t>
            </a:r>
            <a:endParaRPr lang="en-US" sz="2130" dirty="0"/>
          </a:p>
        </p:txBody>
      </p:sp>
      <p:sp>
        <p:nvSpPr>
          <p:cNvPr id="32" name="Text 28"/>
          <p:cNvSpPr/>
          <p:nvPr/>
        </p:nvSpPr>
        <p:spPr>
          <a:xfrm>
            <a:off x="544449" y="1266571"/>
            <a:ext cx="8431911" cy="613791"/>
          </a:xfrm>
          <a:prstGeom prst="rect">
            <a:avLst/>
          </a:prstGeom>
          <a:noFill/>
          <a:ln/>
        </p:spPr>
        <p:txBody>
          <a:bodyPr wrap="square" lIns="0" tIns="0" rIns="0" bIns="0" rtlCol="0" anchor="t"/>
          <a:lstStyle/>
          <a:p>
            <a:pPr algn="l" marL="508000" indent="-508000">
              <a:lnSpc>
                <a:spcPct val="120000"/>
              </a:lnSpc>
              <a:spcBef>
                <a:spcPts val="10"/>
              </a:spcBef>
              <a:buSzPct val="100000"/>
              <a:buFont typeface="+mj-lt"/>
              <a:buAutoNum type="arabicPeriod" startAt="1"/>
            </a:pPr>
            <a:r>
              <a:rPr lang="en-US" sz="3200" b="1" dirty="0">
                <a:solidFill>
                  <a:srgbClr val="262626"/>
                </a:solidFill>
                <a:latin typeface="MiSans" pitchFamily="34" charset="0"/>
                <a:ea typeface="MiSans" pitchFamily="34" charset="-122"/>
                <a:cs typeface="MiSans" pitchFamily="34" charset="-120"/>
              </a:rPr>
              <a:t>跨链数字资产交易协议证明机制</a:t>
            </a:r>
            <a:endParaRPr lang="en-US" sz="3200" dirty="0"/>
          </a:p>
        </p:txBody>
      </p:sp>
      <p:sp>
        <p:nvSpPr>
          <p:cNvPr id="33" name="Text 29"/>
          <p:cNvSpPr/>
          <p:nvPr/>
        </p:nvSpPr>
        <p:spPr>
          <a:xfrm>
            <a:off x="15649067" y="8666353"/>
            <a:ext cx="606933" cy="492506"/>
          </a:xfrm>
          <a:prstGeom prst="rect">
            <a:avLst/>
          </a:prstGeom>
          <a:noFill/>
          <a:ln/>
        </p:spPr>
        <p:txBody>
          <a:bodyPr wrap="square" lIns="0" tIns="0" rIns="0" bIns="0" rtlCol="0" anchor="t"/>
          <a:lstStyle/>
          <a:p>
            <a:pPr algn="ctr">
              <a:lnSpc>
                <a:spcPct val="120000"/>
              </a:lnSpc>
            </a:pPr>
            <a:r>
              <a:rPr lang="en-US" sz="2400" dirty="0">
                <a:solidFill>
                  <a:srgbClr val="000000"/>
                </a:solidFill>
                <a:latin typeface="Arial" pitchFamily="34" charset="0"/>
                <a:ea typeface="Arial" pitchFamily="34" charset="-122"/>
                <a:cs typeface="Arial" pitchFamily="34" charset="-120"/>
              </a:rPr>
              <a:t>21</a:t>
            </a:r>
            <a:endParaRPr lang="en-US" sz="2400" dirty="0"/>
          </a:p>
        </p:txBody>
      </p:sp>
    </p:spTree>
  </p:cSld>
  <p:clrMapOvr>
    <a:masterClrMapping/>
  </p:clrMapOvr>
  <p:transition>
    <p:fade/>
    <p:spd val="med"/>
  </p:transition>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7816469" y="-889"/>
            <a:ext cx="4114800" cy="962660"/>
          </a:xfrm>
          <a:prstGeom prst="rect">
            <a:avLst/>
          </a:prstGeom>
          <a:solidFill>
            <a:srgbClr val="F2F2F2"/>
          </a:solidFill>
          <a:ln w="12700">
            <a:solidFill>
              <a:srgbClr val="F2F2F2"/>
            </a:solidFill>
            <a:prstDash val="solid"/>
          </a:ln>
        </p:spPr>
      </p:sp>
      <p:sp>
        <p:nvSpPr>
          <p:cNvPr id="4" name="Shape 1"/>
          <p:cNvSpPr/>
          <p:nvPr/>
        </p:nvSpPr>
        <p:spPr>
          <a:xfrm>
            <a:off x="7816469" y="4191"/>
            <a:ext cx="4114800" cy="962660"/>
          </a:xfrm>
          <a:prstGeom prst="rect">
            <a:avLst/>
          </a:prstGeom>
          <a:solidFill>
            <a:srgbClr val="04579A"/>
          </a:solidFill>
          <a:ln w="12700">
            <a:solidFill>
              <a:srgbClr val="04579A"/>
            </a:solidFill>
            <a:prstDash val="solid"/>
          </a:ln>
        </p:spPr>
      </p:sp>
      <p:sp>
        <p:nvSpPr>
          <p:cNvPr id="5" name="Shape 2"/>
          <p:cNvSpPr/>
          <p:nvPr/>
        </p:nvSpPr>
        <p:spPr>
          <a:xfrm>
            <a:off x="5162169" y="-889"/>
            <a:ext cx="2590800" cy="962660"/>
          </a:xfrm>
          <a:prstGeom prst="rect">
            <a:avLst/>
          </a:prstGeom>
          <a:solidFill>
            <a:srgbClr val="F2F2F2"/>
          </a:solidFill>
          <a:ln w="12700">
            <a:solidFill>
              <a:srgbClr val="F2F2F2"/>
            </a:solidFill>
            <a:prstDash val="solid"/>
          </a:ln>
        </p:spPr>
      </p:sp>
      <p:sp>
        <p:nvSpPr>
          <p:cNvPr id="6" name="Shape 3"/>
          <p:cNvSpPr/>
          <p:nvPr/>
        </p:nvSpPr>
        <p:spPr>
          <a:xfrm>
            <a:off x="11971020" y="0"/>
            <a:ext cx="4284980" cy="961771"/>
          </a:xfrm>
          <a:prstGeom prst="rect">
            <a:avLst/>
          </a:prstGeom>
          <a:solidFill>
            <a:srgbClr val="F2F2F2"/>
          </a:solidFill>
          <a:ln/>
        </p:spPr>
      </p:sp>
      <p:sp>
        <p:nvSpPr>
          <p:cNvPr id="7" name="Shape 4"/>
          <p:cNvSpPr/>
          <p:nvPr/>
        </p:nvSpPr>
        <p:spPr>
          <a:xfrm>
            <a:off x="2219960" y="-889"/>
            <a:ext cx="2895600" cy="962660"/>
          </a:xfrm>
          <a:prstGeom prst="rect">
            <a:avLst/>
          </a:prstGeom>
          <a:solidFill>
            <a:srgbClr val="F2F2F2"/>
          </a:solidFill>
          <a:ln w="12700">
            <a:solidFill>
              <a:srgbClr val="F2F2F2"/>
            </a:solidFill>
            <a:prstDash val="solid"/>
          </a:ln>
        </p:spPr>
      </p:sp>
      <p:sp>
        <p:nvSpPr>
          <p:cNvPr id="8" name="Text 5"/>
          <p:cNvSpPr/>
          <p:nvPr/>
        </p:nvSpPr>
        <p:spPr>
          <a:xfrm>
            <a:off x="2283460" y="203200"/>
            <a:ext cx="27686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选题背景及意义</a:t>
            </a:r>
            <a:endParaRPr lang="en-US" sz="2000" dirty="0"/>
          </a:p>
        </p:txBody>
      </p:sp>
      <p:sp>
        <p:nvSpPr>
          <p:cNvPr id="9" name="Text 6"/>
          <p:cNvSpPr/>
          <p:nvPr/>
        </p:nvSpPr>
        <p:spPr>
          <a:xfrm>
            <a:off x="5225669" y="203200"/>
            <a:ext cx="24638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国内外研究现状</a:t>
            </a:r>
            <a:endParaRPr lang="en-US" sz="2000" dirty="0"/>
          </a:p>
        </p:txBody>
      </p:sp>
      <p:sp>
        <p:nvSpPr>
          <p:cNvPr id="10" name="Text 7"/>
          <p:cNvSpPr/>
          <p:nvPr/>
        </p:nvSpPr>
        <p:spPr>
          <a:xfrm>
            <a:off x="7879969" y="203200"/>
            <a:ext cx="3987800" cy="508000"/>
          </a:xfrm>
          <a:prstGeom prst="rect">
            <a:avLst/>
          </a:prstGeom>
          <a:noFill/>
          <a:ln/>
        </p:spPr>
        <p:txBody>
          <a:bodyPr wrap="none" lIns="0" tIns="0" rIns="0" bIns="0" rtlCol="0" anchor="ctr"/>
          <a:lstStyle/>
          <a:p>
            <a:pPr algn="ctr">
              <a:lnSpc>
                <a:spcPct val="120000"/>
              </a:lnSpc>
            </a:pPr>
            <a:r>
              <a:rPr lang="en-US" sz="2000" dirty="0">
                <a:solidFill>
                  <a:srgbClr val="FFFFFF"/>
                </a:solidFill>
                <a:latin typeface="Arial" pitchFamily="34" charset="0"/>
                <a:ea typeface="Arial" pitchFamily="34" charset="-122"/>
                <a:cs typeface="Arial" pitchFamily="34" charset="-120"/>
              </a:rPr>
              <a:t>主要研究内容及预期目标</a:t>
            </a:r>
            <a:endParaRPr lang="en-US" sz="2000" dirty="0"/>
          </a:p>
        </p:txBody>
      </p:sp>
      <p:sp>
        <p:nvSpPr>
          <p:cNvPr id="11" name="Text 8"/>
          <p:cNvSpPr/>
          <p:nvPr/>
        </p:nvSpPr>
        <p:spPr>
          <a:xfrm>
            <a:off x="12034520" y="203200"/>
            <a:ext cx="415798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工作计划与进度安排</a:t>
            </a:r>
            <a:endParaRPr lang="en-US" sz="2000" dirty="0"/>
          </a:p>
        </p:txBody>
      </p:sp>
      <p:pic>
        <p:nvPicPr>
          <p:cNvPr id="12" name="Image 0" descr="https://kimi-img.moonshot.cn/pub/slides/okc/flfuysioo4gzm/mnt/agents/output/yuan_pptd/images/image_2.jpg">    </p:cNvPr>
          <p:cNvPicPr>
            <a:picLocks noChangeAspect="1"/>
          </p:cNvPicPr>
          <p:nvPr/>
        </p:nvPicPr>
        <p:blipFill>
          <a:blip r:embed="rId1"/>
          <a:srcRect l="5060" r="29000" t="0" b="0"/>
          <a:stretch/>
        </p:blipFill>
        <p:spPr>
          <a:xfrm>
            <a:off x="544449" y="140589"/>
            <a:ext cx="1273429" cy="745871"/>
          </a:xfrm>
          <a:prstGeom prst="rect">
            <a:avLst/>
          </a:prstGeom>
        </p:spPr>
      </p:pic>
      <p:sp>
        <p:nvSpPr>
          <p:cNvPr id="13" name="Shape 9"/>
          <p:cNvSpPr/>
          <p:nvPr/>
        </p:nvSpPr>
        <p:spPr>
          <a:xfrm rot="10800000">
            <a:off x="9699371" y="961009"/>
            <a:ext cx="389509" cy="304800"/>
          </a:xfrm>
          <a:prstGeom prst="triangle">
            <a:avLst>
              <a:gd name="adj" fmla="val 50000"/>
            </a:avLst>
          </a:prstGeom>
          <a:solidFill>
            <a:srgbClr val="04579A"/>
          </a:solidFill>
          <a:ln/>
        </p:spPr>
      </p:sp>
      <p:sp>
        <p:nvSpPr>
          <p:cNvPr id="14" name="Shape 10"/>
          <p:cNvSpPr/>
          <p:nvPr/>
        </p:nvSpPr>
        <p:spPr>
          <a:xfrm>
            <a:off x="5586730" y="2680970"/>
            <a:ext cx="474091" cy="694309"/>
          </a:xfrm>
          <a:prstGeom prst="rightArrow">
            <a:avLst>
              <a:gd name="adj1" fmla="val 50000"/>
              <a:gd name="adj2" fmla="val 50000"/>
            </a:avLst>
          </a:prstGeom>
          <a:solidFill>
            <a:srgbClr val="FFFFFF"/>
          </a:solidFill>
          <a:ln w="12700">
            <a:solidFill>
              <a:srgbClr val="04579A"/>
            </a:solidFill>
            <a:prstDash val="solid"/>
          </a:ln>
        </p:spPr>
      </p:sp>
      <p:sp>
        <p:nvSpPr>
          <p:cNvPr id="15" name="Shape 11"/>
          <p:cNvSpPr/>
          <p:nvPr/>
        </p:nvSpPr>
        <p:spPr>
          <a:xfrm>
            <a:off x="5586730" y="4102481"/>
            <a:ext cx="474091" cy="694309"/>
          </a:xfrm>
          <a:prstGeom prst="rightArrow">
            <a:avLst>
              <a:gd name="adj1" fmla="val 50000"/>
              <a:gd name="adj2" fmla="val 50000"/>
            </a:avLst>
          </a:prstGeom>
          <a:solidFill>
            <a:srgbClr val="FFFFFF"/>
          </a:solidFill>
          <a:ln w="12700">
            <a:solidFill>
              <a:srgbClr val="04579A"/>
            </a:solidFill>
            <a:prstDash val="solid"/>
          </a:ln>
        </p:spPr>
      </p:sp>
      <p:sp>
        <p:nvSpPr>
          <p:cNvPr id="16" name="Shape 12"/>
          <p:cNvSpPr/>
          <p:nvPr/>
        </p:nvSpPr>
        <p:spPr>
          <a:xfrm>
            <a:off x="5586730" y="5412359"/>
            <a:ext cx="474091" cy="694309"/>
          </a:xfrm>
          <a:prstGeom prst="rightArrow">
            <a:avLst>
              <a:gd name="adj1" fmla="val 50000"/>
              <a:gd name="adj2" fmla="val 50000"/>
            </a:avLst>
          </a:prstGeom>
          <a:solidFill>
            <a:srgbClr val="FFFFFF"/>
          </a:solidFill>
          <a:ln w="12700">
            <a:solidFill>
              <a:srgbClr val="04579A"/>
            </a:solidFill>
            <a:prstDash val="solid"/>
          </a:ln>
        </p:spPr>
      </p:sp>
      <p:sp>
        <p:nvSpPr>
          <p:cNvPr id="17" name="Text 13"/>
          <p:cNvSpPr/>
          <p:nvPr/>
        </p:nvSpPr>
        <p:spPr>
          <a:xfrm>
            <a:off x="6592570" y="2761361"/>
            <a:ext cx="8409559" cy="533527"/>
          </a:xfrm>
          <a:prstGeom prst="rect">
            <a:avLst/>
          </a:prstGeom>
          <a:noFill/>
          <a:ln/>
        </p:spPr>
        <p:txBody>
          <a:bodyPr wrap="square" lIns="0" tIns="0" rIns="0" bIns="0" rtlCol="0" anchor="t"/>
          <a:lstStyle/>
          <a:p>
            <a:pPr algn="l">
              <a:lnSpc>
                <a:spcPct val="120000"/>
              </a:lnSpc>
            </a:pPr>
            <a:r>
              <a:rPr lang="en-US" sz="2670" b="1" dirty="0">
                <a:solidFill>
                  <a:srgbClr val="04579A"/>
                </a:solidFill>
                <a:latin typeface="Arial" pitchFamily="34" charset="0"/>
                <a:ea typeface="Arial" pitchFamily="34" charset="-122"/>
                <a:cs typeface="Arial" pitchFamily="34" charset="-120"/>
              </a:rPr>
              <a:t>恶意环境下分布式数字资产交易协议设计与分析</a:t>
            </a:r>
            <a:pPr algn="l">
              <a:lnSpc>
                <a:spcPct val="120000"/>
              </a:lnSpc>
            </a:pPr>
            <a:r>
              <a:rPr lang="en-US" sz="2670" b="1" dirty="0">
                <a:solidFill>
                  <a:srgbClr val="04579A"/>
                </a:solidFill>
                <a:latin typeface="MiSans" pitchFamily="34" charset="0"/>
                <a:ea typeface="MiSans" pitchFamily="34" charset="-122"/>
                <a:cs typeface="MiSans" pitchFamily="34" charset="-120"/>
              </a:rPr>
              <a:t>	</a:t>
            </a:r>
            <a:endParaRPr lang="en-US" sz="2670" dirty="0"/>
          </a:p>
        </p:txBody>
      </p:sp>
      <p:sp>
        <p:nvSpPr>
          <p:cNvPr id="18" name="Text 14"/>
          <p:cNvSpPr/>
          <p:nvPr/>
        </p:nvSpPr>
        <p:spPr>
          <a:xfrm>
            <a:off x="6592570" y="4217670"/>
            <a:ext cx="8741791" cy="943864"/>
          </a:xfrm>
          <a:prstGeom prst="rect">
            <a:avLst/>
          </a:prstGeom>
          <a:noFill/>
          <a:ln/>
        </p:spPr>
        <p:txBody>
          <a:bodyPr wrap="square" lIns="0" tIns="0" rIns="0" bIns="0" rtlCol="0" anchor="t"/>
          <a:lstStyle/>
          <a:p>
            <a:pPr algn="l">
              <a:lnSpc>
                <a:spcPct val="120000"/>
              </a:lnSpc>
            </a:pPr>
            <a:r>
              <a:rPr lang="en-US" sz="2670" b="1" dirty="0">
                <a:solidFill>
                  <a:srgbClr val="04579A"/>
                </a:solidFill>
                <a:latin typeface="Arial" pitchFamily="34" charset="0"/>
                <a:ea typeface="Arial" pitchFamily="34" charset="-122"/>
                <a:cs typeface="Arial" pitchFamily="34" charset="-120"/>
              </a:rPr>
              <a:t>大规模环境下可扩展分布式数字资产交易协议设计与分析</a:t>
            </a:r>
            <a:pPr algn="l">
              <a:lnSpc>
                <a:spcPct val="120000"/>
              </a:lnSpc>
            </a:pPr>
            <a:r>
              <a:rPr lang="en-US" sz="2670" b="1" dirty="0">
                <a:solidFill>
                  <a:srgbClr val="04579A"/>
                </a:solidFill>
                <a:latin typeface="MiSans" pitchFamily="34" charset="0"/>
                <a:ea typeface="MiSans" pitchFamily="34" charset="-122"/>
                <a:cs typeface="MiSans" pitchFamily="34" charset="-120"/>
              </a:rPr>
              <a:t>	</a:t>
            </a:r>
            <a:endParaRPr lang="en-US" sz="2670" dirty="0"/>
          </a:p>
        </p:txBody>
      </p:sp>
      <p:sp>
        <p:nvSpPr>
          <p:cNvPr id="19" name="Text 15"/>
          <p:cNvSpPr/>
          <p:nvPr/>
        </p:nvSpPr>
        <p:spPr>
          <a:xfrm>
            <a:off x="6592570" y="5513832"/>
            <a:ext cx="8921369" cy="531749"/>
          </a:xfrm>
          <a:prstGeom prst="rect">
            <a:avLst/>
          </a:prstGeom>
          <a:noFill/>
          <a:ln/>
        </p:spPr>
        <p:txBody>
          <a:bodyPr wrap="square" lIns="0" tIns="0" rIns="0" bIns="0" rtlCol="0" anchor="t"/>
          <a:lstStyle/>
          <a:p>
            <a:pPr algn="l">
              <a:lnSpc>
                <a:spcPct val="120000"/>
              </a:lnSpc>
            </a:pPr>
            <a:r>
              <a:rPr lang="en-US" sz="2670" b="1" dirty="0">
                <a:solidFill>
                  <a:srgbClr val="04579A"/>
                </a:solidFill>
                <a:latin typeface="Arial" pitchFamily="34" charset="0"/>
                <a:ea typeface="Arial" pitchFamily="34" charset="-122"/>
                <a:cs typeface="Arial" pitchFamily="34" charset="-120"/>
              </a:rPr>
              <a:t>多源异构环境下分布式数字资产跨链验证协议设计与分析</a:t>
            </a:r>
            <a:endParaRPr lang="en-US" sz="2670" dirty="0"/>
          </a:p>
        </p:txBody>
      </p:sp>
      <p:sp>
        <p:nvSpPr>
          <p:cNvPr id="20" name="Text 16"/>
          <p:cNvSpPr/>
          <p:nvPr/>
        </p:nvSpPr>
        <p:spPr>
          <a:xfrm>
            <a:off x="743839" y="2556129"/>
            <a:ext cx="4312920" cy="943864"/>
          </a:xfrm>
          <a:prstGeom prst="rect">
            <a:avLst/>
          </a:prstGeom>
          <a:noFill/>
          <a:ln/>
        </p:spPr>
        <p:txBody>
          <a:bodyPr wrap="square" lIns="0" tIns="0" rIns="0" bIns="0" rtlCol="0" anchor="t"/>
          <a:lstStyle/>
          <a:p>
            <a:pPr algn="ctr" marL="423863" indent="-423863">
              <a:lnSpc>
                <a:spcPct val="120000"/>
              </a:lnSpc>
              <a:spcBef>
                <a:spcPts val="10"/>
              </a:spcBef>
              <a:buSzPct val="100000"/>
              <a:buFont typeface="+mj-lt"/>
              <a:buAutoNum type="arabicPeriod" startAt="1"/>
            </a:pPr>
            <a:r>
              <a:rPr lang="en-US" sz="2670" b="1" dirty="0">
                <a:solidFill>
                  <a:srgbClr val="262626"/>
                </a:solidFill>
                <a:latin typeface="MiSans" pitchFamily="34" charset="0"/>
                <a:ea typeface="MiSans" pitchFamily="34" charset="-122"/>
                <a:cs typeface="MiSans" pitchFamily="34" charset="-120"/>
              </a:rPr>
              <a:t>恶意场景下分布式数字</a:t>
            </a:r>
            <a:endParaRPr lang="en-US" sz="2670" dirty="0"/>
          </a:p>
          <a:p>
            <a:pPr algn="ctr">
              <a:lnSpc>
                <a:spcPct val="120000"/>
              </a:lnSpc>
            </a:pPr>
            <a:r>
              <a:rPr lang="en-US" sz="2670" b="1" dirty="0">
                <a:solidFill>
                  <a:srgbClr val="262626"/>
                </a:solidFill>
                <a:latin typeface="MiSans" pitchFamily="34" charset="0"/>
                <a:ea typeface="MiSans" pitchFamily="34" charset="-122"/>
                <a:cs typeface="MiSans" pitchFamily="34" charset="-120"/>
              </a:rPr>
              <a:t>资产交易安全性</a:t>
            </a:r>
            <a:endParaRPr lang="en-US" sz="2670" dirty="0"/>
          </a:p>
        </p:txBody>
      </p:sp>
      <p:sp>
        <p:nvSpPr>
          <p:cNvPr id="21" name="Text 17"/>
          <p:cNvSpPr/>
          <p:nvPr/>
        </p:nvSpPr>
        <p:spPr>
          <a:xfrm>
            <a:off x="742061" y="3940937"/>
            <a:ext cx="4314571" cy="943864"/>
          </a:xfrm>
          <a:prstGeom prst="rect">
            <a:avLst/>
          </a:prstGeom>
          <a:noFill/>
          <a:ln/>
        </p:spPr>
        <p:txBody>
          <a:bodyPr wrap="square" lIns="0" tIns="0" rIns="0" bIns="0" rtlCol="0" anchor="t"/>
          <a:lstStyle/>
          <a:p>
            <a:pPr algn="ctr">
              <a:lnSpc>
                <a:spcPct val="120000"/>
              </a:lnSpc>
            </a:pPr>
            <a:r>
              <a:rPr lang="en-US" sz="2670" b="1" dirty="0">
                <a:solidFill>
                  <a:srgbClr val="262626"/>
                </a:solidFill>
                <a:latin typeface="MiSans" pitchFamily="34" charset="0"/>
                <a:ea typeface="MiSans" pitchFamily="34" charset="-122"/>
                <a:cs typeface="MiSans" pitchFamily="34" charset="-120"/>
              </a:rPr>
              <a:t>2.   </a:t>
            </a:r>
            <a:pPr algn="ctr">
              <a:lnSpc>
                <a:spcPct val="120000"/>
              </a:lnSpc>
            </a:pPr>
            <a:r>
              <a:rPr lang="en-US" sz="2670" b="1" dirty="0">
                <a:solidFill>
                  <a:srgbClr val="262626"/>
                </a:solidFill>
                <a:latin typeface="MiSans" pitchFamily="34" charset="0"/>
                <a:ea typeface="MiSans" pitchFamily="34" charset="-122"/>
                <a:cs typeface="MiSans" pitchFamily="34" charset="-120"/>
              </a:rPr>
              <a:t>链下数字资产交易协议性能</a:t>
            </a:r>
            <a:endParaRPr lang="en-US" sz="2670" dirty="0"/>
          </a:p>
        </p:txBody>
      </p:sp>
      <p:sp>
        <p:nvSpPr>
          <p:cNvPr id="22" name="Text 18"/>
          <p:cNvSpPr/>
          <p:nvPr/>
        </p:nvSpPr>
        <p:spPr>
          <a:xfrm>
            <a:off x="742061" y="5364861"/>
            <a:ext cx="4316349" cy="1354201"/>
          </a:xfrm>
          <a:prstGeom prst="rect">
            <a:avLst/>
          </a:prstGeom>
          <a:noFill/>
          <a:ln/>
        </p:spPr>
        <p:txBody>
          <a:bodyPr wrap="square" lIns="0" tIns="0" rIns="0" bIns="0" rtlCol="0" anchor="t"/>
          <a:lstStyle/>
          <a:p>
            <a:pPr algn="l">
              <a:lnSpc>
                <a:spcPct val="120000"/>
              </a:lnSpc>
            </a:pPr>
            <a:r>
              <a:rPr lang="en-US" sz="2670" b="1" dirty="0">
                <a:solidFill>
                  <a:srgbClr val="262626"/>
                </a:solidFill>
                <a:latin typeface="Arial" pitchFamily="34" charset="0"/>
                <a:ea typeface="Arial" pitchFamily="34" charset="-122"/>
                <a:cs typeface="Arial" pitchFamily="34" charset="-120"/>
              </a:rPr>
              <a:t>3.    </a:t>
            </a:r>
            <a:pPr algn="l">
              <a:lnSpc>
                <a:spcPct val="120000"/>
              </a:lnSpc>
            </a:pPr>
            <a:r>
              <a:rPr lang="en-US" sz="2670" b="1" dirty="0">
                <a:solidFill>
                  <a:srgbClr val="262626"/>
                </a:solidFill>
                <a:latin typeface="Arial" pitchFamily="34" charset="0"/>
                <a:ea typeface="Arial" pitchFamily="34" charset="-122"/>
                <a:cs typeface="Arial" pitchFamily="34" charset="-120"/>
              </a:rPr>
              <a:t>跨链数字资产交易协议</a:t>
            </a:r>
            <a:endParaRPr lang="en-US" sz="2670" dirty="0"/>
          </a:p>
          <a:p>
            <a:pPr algn="ctr">
              <a:lnSpc>
                <a:spcPct val="120000"/>
              </a:lnSpc>
            </a:pPr>
            <a:r>
              <a:rPr lang="en-US" sz="2670" b="1" dirty="0">
                <a:solidFill>
                  <a:srgbClr val="262626"/>
                </a:solidFill>
                <a:latin typeface="Arial" pitchFamily="34" charset="0"/>
                <a:ea typeface="Arial" pitchFamily="34" charset="-122"/>
                <a:cs typeface="Arial" pitchFamily="34" charset="-120"/>
              </a:rPr>
              <a:t>证明机制</a:t>
            </a:r>
            <a:endParaRPr lang="en-US" sz="2670" dirty="0"/>
          </a:p>
          <a:p>
            <a:pPr algn="ctr">
              <a:lnSpc>
                <a:spcPct val="120000"/>
              </a:lnSpc>
            </a:pPr>
            <a:r>
              <a:rPr lang="en-US" sz="2670" dirty="0">
                <a:solidFill>
                  <a:srgbClr val="262626"/>
                </a:solidFill>
                <a:latin typeface="Arial" pitchFamily="34" charset="0"/>
                <a:ea typeface="Arial" pitchFamily="34" charset="-122"/>
                <a:cs typeface="Arial" pitchFamily="34" charset="-120"/>
              </a:rPr>
              <a:t> </a:t>
            </a:r>
            <a:endParaRPr lang="en-US" sz="2670" dirty="0"/>
          </a:p>
        </p:txBody>
      </p:sp>
      <p:sp>
        <p:nvSpPr>
          <p:cNvPr id="23" name="Text 19"/>
          <p:cNvSpPr/>
          <p:nvPr/>
        </p:nvSpPr>
        <p:spPr>
          <a:xfrm>
            <a:off x="15649067" y="8666353"/>
            <a:ext cx="606933" cy="492506"/>
          </a:xfrm>
          <a:prstGeom prst="rect">
            <a:avLst/>
          </a:prstGeom>
          <a:noFill/>
          <a:ln/>
        </p:spPr>
        <p:txBody>
          <a:bodyPr wrap="square" lIns="0" tIns="0" rIns="0" bIns="0" rtlCol="0" anchor="t"/>
          <a:lstStyle/>
          <a:p>
            <a:pPr algn="ctr">
              <a:lnSpc>
                <a:spcPct val="120000"/>
              </a:lnSpc>
            </a:pPr>
            <a:r>
              <a:rPr lang="en-US" sz="2400" dirty="0">
                <a:solidFill>
                  <a:srgbClr val="000000"/>
                </a:solidFill>
                <a:latin typeface="Arial" pitchFamily="34" charset="0"/>
                <a:ea typeface="Arial" pitchFamily="34" charset="-122"/>
                <a:cs typeface="Arial" pitchFamily="34" charset="-120"/>
              </a:rPr>
              <a:t>22</a:t>
            </a:r>
            <a:endParaRPr lang="en-US" sz="2400" dirty="0"/>
          </a:p>
        </p:txBody>
      </p:sp>
    </p:spTree>
  </p:cSld>
  <p:clrMapOvr>
    <a:masterClrMapping/>
  </p:clrMapOvr>
  <p:transition>
    <p:fade/>
    <p:spd val="med"/>
  </p:transition>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7573772" y="3430651"/>
            <a:ext cx="3668141" cy="2586228"/>
          </a:xfrm>
          <a:prstGeom prst="roundRect">
            <a:avLst>
              <a:gd name="adj" fmla="val 16667"/>
            </a:avLst>
          </a:prstGeom>
          <a:noFill/>
          <a:ln w="12700">
            <a:solidFill>
              <a:srgbClr val="0070C0"/>
            </a:solidFill>
            <a:prstDash val="solid"/>
          </a:ln>
        </p:spPr>
      </p:sp>
      <p:sp>
        <p:nvSpPr>
          <p:cNvPr id="4" name="Shape 1"/>
          <p:cNvSpPr/>
          <p:nvPr/>
        </p:nvSpPr>
        <p:spPr>
          <a:xfrm>
            <a:off x="7816469" y="-889"/>
            <a:ext cx="4114800" cy="962660"/>
          </a:xfrm>
          <a:prstGeom prst="rect">
            <a:avLst/>
          </a:prstGeom>
          <a:solidFill>
            <a:srgbClr val="F2F2F2"/>
          </a:solidFill>
          <a:ln w="12700">
            <a:solidFill>
              <a:srgbClr val="F2F2F2"/>
            </a:solidFill>
            <a:prstDash val="solid"/>
          </a:ln>
        </p:spPr>
      </p:sp>
      <p:sp>
        <p:nvSpPr>
          <p:cNvPr id="5" name="Shape 2"/>
          <p:cNvSpPr/>
          <p:nvPr/>
        </p:nvSpPr>
        <p:spPr>
          <a:xfrm>
            <a:off x="7816469" y="4191"/>
            <a:ext cx="4114800" cy="962660"/>
          </a:xfrm>
          <a:prstGeom prst="rect">
            <a:avLst/>
          </a:prstGeom>
          <a:solidFill>
            <a:srgbClr val="04579A"/>
          </a:solidFill>
          <a:ln w="12700">
            <a:solidFill>
              <a:srgbClr val="04579A"/>
            </a:solidFill>
            <a:prstDash val="solid"/>
          </a:ln>
        </p:spPr>
      </p:sp>
      <p:sp>
        <p:nvSpPr>
          <p:cNvPr id="6" name="Shape 3"/>
          <p:cNvSpPr/>
          <p:nvPr/>
        </p:nvSpPr>
        <p:spPr>
          <a:xfrm>
            <a:off x="5162169" y="-889"/>
            <a:ext cx="2590800" cy="962660"/>
          </a:xfrm>
          <a:prstGeom prst="rect">
            <a:avLst/>
          </a:prstGeom>
          <a:solidFill>
            <a:srgbClr val="F2F2F2"/>
          </a:solidFill>
          <a:ln w="12700">
            <a:solidFill>
              <a:srgbClr val="F2F2F2"/>
            </a:solidFill>
            <a:prstDash val="solid"/>
          </a:ln>
        </p:spPr>
      </p:sp>
      <p:sp>
        <p:nvSpPr>
          <p:cNvPr id="7" name="Shape 4"/>
          <p:cNvSpPr/>
          <p:nvPr/>
        </p:nvSpPr>
        <p:spPr>
          <a:xfrm>
            <a:off x="11971020" y="0"/>
            <a:ext cx="4284980" cy="961771"/>
          </a:xfrm>
          <a:prstGeom prst="rect">
            <a:avLst/>
          </a:prstGeom>
          <a:solidFill>
            <a:srgbClr val="F2F2F2"/>
          </a:solidFill>
          <a:ln/>
        </p:spPr>
      </p:sp>
      <p:sp>
        <p:nvSpPr>
          <p:cNvPr id="8" name="Shape 5"/>
          <p:cNvSpPr/>
          <p:nvPr/>
        </p:nvSpPr>
        <p:spPr>
          <a:xfrm>
            <a:off x="2219960" y="-889"/>
            <a:ext cx="2895600" cy="962660"/>
          </a:xfrm>
          <a:prstGeom prst="rect">
            <a:avLst/>
          </a:prstGeom>
          <a:solidFill>
            <a:srgbClr val="F2F2F2"/>
          </a:solidFill>
          <a:ln w="12700">
            <a:solidFill>
              <a:srgbClr val="F2F2F2"/>
            </a:solidFill>
            <a:prstDash val="solid"/>
          </a:ln>
        </p:spPr>
      </p:sp>
      <p:sp>
        <p:nvSpPr>
          <p:cNvPr id="9" name="Text 6"/>
          <p:cNvSpPr/>
          <p:nvPr/>
        </p:nvSpPr>
        <p:spPr>
          <a:xfrm>
            <a:off x="2283460" y="203200"/>
            <a:ext cx="27686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选题背景及意义</a:t>
            </a:r>
            <a:endParaRPr lang="en-US" sz="2000" dirty="0"/>
          </a:p>
        </p:txBody>
      </p:sp>
      <p:sp>
        <p:nvSpPr>
          <p:cNvPr id="10" name="Text 7"/>
          <p:cNvSpPr/>
          <p:nvPr/>
        </p:nvSpPr>
        <p:spPr>
          <a:xfrm>
            <a:off x="5225669" y="203200"/>
            <a:ext cx="24638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国内外研究现状</a:t>
            </a:r>
            <a:endParaRPr lang="en-US" sz="2000" dirty="0"/>
          </a:p>
        </p:txBody>
      </p:sp>
      <p:sp>
        <p:nvSpPr>
          <p:cNvPr id="11" name="Text 8"/>
          <p:cNvSpPr/>
          <p:nvPr/>
        </p:nvSpPr>
        <p:spPr>
          <a:xfrm>
            <a:off x="7879969" y="203200"/>
            <a:ext cx="3987800" cy="508000"/>
          </a:xfrm>
          <a:prstGeom prst="rect">
            <a:avLst/>
          </a:prstGeom>
          <a:noFill/>
          <a:ln/>
        </p:spPr>
        <p:txBody>
          <a:bodyPr wrap="none" lIns="0" tIns="0" rIns="0" bIns="0" rtlCol="0" anchor="ctr"/>
          <a:lstStyle/>
          <a:p>
            <a:pPr algn="ctr">
              <a:lnSpc>
                <a:spcPct val="120000"/>
              </a:lnSpc>
            </a:pPr>
            <a:r>
              <a:rPr lang="en-US" sz="2000" dirty="0">
                <a:solidFill>
                  <a:srgbClr val="FFFFFF"/>
                </a:solidFill>
                <a:latin typeface="Arial" pitchFamily="34" charset="0"/>
                <a:ea typeface="Arial" pitchFamily="34" charset="-122"/>
                <a:cs typeface="Arial" pitchFamily="34" charset="-120"/>
              </a:rPr>
              <a:t>主要研究内容及预期目标</a:t>
            </a:r>
            <a:endParaRPr lang="en-US" sz="2000" dirty="0"/>
          </a:p>
        </p:txBody>
      </p:sp>
      <p:sp>
        <p:nvSpPr>
          <p:cNvPr id="12" name="Text 9"/>
          <p:cNvSpPr/>
          <p:nvPr/>
        </p:nvSpPr>
        <p:spPr>
          <a:xfrm>
            <a:off x="12034520" y="203200"/>
            <a:ext cx="415798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工作计划与进度安排</a:t>
            </a:r>
            <a:endParaRPr lang="en-US" sz="2000" dirty="0"/>
          </a:p>
        </p:txBody>
      </p:sp>
      <p:pic>
        <p:nvPicPr>
          <p:cNvPr id="13" name="Image 0" descr="https://kimi-img.moonshot.cn/pub/slides/okc/flfuysioo4gzm/mnt/agents/output/yuan_pptd/images/image_2.jpg">    </p:cNvPr>
          <p:cNvPicPr>
            <a:picLocks noChangeAspect="1"/>
          </p:cNvPicPr>
          <p:nvPr/>
        </p:nvPicPr>
        <p:blipFill>
          <a:blip r:embed="rId1"/>
          <a:srcRect l="5060" r="29000" t="0" b="0"/>
          <a:stretch/>
        </p:blipFill>
        <p:spPr>
          <a:xfrm>
            <a:off x="544449" y="140589"/>
            <a:ext cx="1273429" cy="745871"/>
          </a:xfrm>
          <a:prstGeom prst="rect">
            <a:avLst/>
          </a:prstGeom>
        </p:spPr>
      </p:pic>
      <p:sp>
        <p:nvSpPr>
          <p:cNvPr id="14" name="Shape 10"/>
          <p:cNvSpPr/>
          <p:nvPr/>
        </p:nvSpPr>
        <p:spPr>
          <a:xfrm rot="10800000">
            <a:off x="9699371" y="961009"/>
            <a:ext cx="389509" cy="304800"/>
          </a:xfrm>
          <a:prstGeom prst="triangle">
            <a:avLst>
              <a:gd name="adj" fmla="val 50000"/>
            </a:avLst>
          </a:prstGeom>
          <a:solidFill>
            <a:srgbClr val="04579A"/>
          </a:solidFill>
          <a:ln/>
        </p:spPr>
      </p:sp>
      <p:sp>
        <p:nvSpPr>
          <p:cNvPr id="15" name="Text 11"/>
          <p:cNvSpPr/>
          <p:nvPr/>
        </p:nvSpPr>
        <p:spPr>
          <a:xfrm>
            <a:off x="793369" y="1895729"/>
            <a:ext cx="14411960" cy="531749"/>
          </a:xfrm>
          <a:prstGeom prst="rect">
            <a:avLst/>
          </a:prstGeom>
          <a:noFill/>
          <a:ln/>
        </p:spPr>
        <p:txBody>
          <a:bodyPr wrap="square" lIns="0" tIns="0" rIns="0" bIns="0" rtlCol="0" anchor="t"/>
          <a:lstStyle/>
          <a:p>
            <a:pPr algn="l">
              <a:lnSpc>
                <a:spcPct val="120000"/>
              </a:lnSpc>
            </a:pPr>
            <a:r>
              <a:rPr lang="en-US" sz="2670" b="1" dirty="0">
                <a:solidFill>
                  <a:srgbClr val="04579A"/>
                </a:solidFill>
                <a:latin typeface="Arial" pitchFamily="34" charset="0"/>
                <a:ea typeface="Arial" pitchFamily="34" charset="-122"/>
                <a:cs typeface="Arial" pitchFamily="34" charset="-120"/>
              </a:rPr>
              <a:t>恶意环境下分布式数字资产交易协议设计与分析</a:t>
            </a:r>
            <a:pPr algn="l">
              <a:lnSpc>
                <a:spcPct val="120000"/>
              </a:lnSpc>
            </a:pPr>
            <a:r>
              <a:rPr lang="en-US" sz="2670" b="1" dirty="0">
                <a:solidFill>
                  <a:srgbClr val="04579A"/>
                </a:solidFill>
                <a:latin typeface="MiSans" pitchFamily="34" charset="0"/>
                <a:ea typeface="MiSans" pitchFamily="34" charset="-122"/>
                <a:cs typeface="MiSans" pitchFamily="34" charset="-120"/>
              </a:rPr>
              <a:t>	</a:t>
            </a:r>
            <a:endParaRPr lang="en-US" sz="2670" dirty="0"/>
          </a:p>
        </p:txBody>
      </p:sp>
      <p:sp>
        <p:nvSpPr>
          <p:cNvPr id="16" name="Shape 12"/>
          <p:cNvSpPr/>
          <p:nvPr/>
        </p:nvSpPr>
        <p:spPr>
          <a:xfrm>
            <a:off x="793369" y="2685669"/>
            <a:ext cx="2152269" cy="550291"/>
          </a:xfrm>
          <a:prstGeom prst="parallelogram">
            <a:avLst>
              <a:gd name="adj" fmla="val 25000"/>
            </a:avLst>
          </a:prstGeom>
          <a:solidFill>
            <a:srgbClr val="04579A"/>
          </a:solidFill>
          <a:ln w="12700">
            <a:solidFill>
              <a:srgbClr val="304B73"/>
            </a:solidFill>
            <a:prstDash val="solid"/>
          </a:ln>
        </p:spPr>
      </p:sp>
      <p:sp>
        <p:nvSpPr>
          <p:cNvPr id="17" name="Text 13"/>
          <p:cNvSpPr/>
          <p:nvPr/>
        </p:nvSpPr>
        <p:spPr>
          <a:xfrm>
            <a:off x="793369" y="2685669"/>
            <a:ext cx="2152269" cy="550291"/>
          </a:xfrm>
          <a:prstGeom prst="rect">
            <a:avLst/>
          </a:prstGeom>
          <a:noFill/>
          <a:ln/>
        </p:spPr>
        <p:txBody>
          <a:bodyPr wrap="square" lIns="0" tIns="0" rIns="0" bIns="0" rtlCol="0" anchor="ctr"/>
          <a:lstStyle/>
          <a:p>
            <a:pPr algn="ctr">
              <a:lnSpc>
                <a:spcPct val="120000"/>
              </a:lnSpc>
            </a:pPr>
            <a:r>
              <a:rPr lang="en-US" sz="2400" b="1" dirty="0">
                <a:solidFill>
                  <a:srgbClr val="FFFFFF"/>
                </a:solidFill>
                <a:latin typeface="Arial" pitchFamily="34" charset="0"/>
                <a:ea typeface="Arial" pitchFamily="34" charset="-122"/>
                <a:cs typeface="Arial" pitchFamily="34" charset="-120"/>
              </a:rPr>
              <a:t>研究内容</a:t>
            </a:r>
            <a:endParaRPr lang="en-US" sz="2400" dirty="0"/>
          </a:p>
        </p:txBody>
      </p:sp>
      <p:sp>
        <p:nvSpPr>
          <p:cNvPr id="18" name="Shape 14"/>
          <p:cNvSpPr/>
          <p:nvPr/>
        </p:nvSpPr>
        <p:spPr>
          <a:xfrm>
            <a:off x="793369" y="6864731"/>
            <a:ext cx="2152269" cy="550291"/>
          </a:xfrm>
          <a:prstGeom prst="parallelogram">
            <a:avLst>
              <a:gd name="adj" fmla="val 25000"/>
            </a:avLst>
          </a:prstGeom>
          <a:solidFill>
            <a:srgbClr val="04579A"/>
          </a:solidFill>
          <a:ln w="12700">
            <a:solidFill>
              <a:srgbClr val="304B73"/>
            </a:solidFill>
            <a:prstDash val="solid"/>
          </a:ln>
        </p:spPr>
      </p:sp>
      <p:sp>
        <p:nvSpPr>
          <p:cNvPr id="19" name="Text 15"/>
          <p:cNvSpPr/>
          <p:nvPr/>
        </p:nvSpPr>
        <p:spPr>
          <a:xfrm>
            <a:off x="793369" y="6864731"/>
            <a:ext cx="2152269" cy="550291"/>
          </a:xfrm>
          <a:prstGeom prst="rect">
            <a:avLst/>
          </a:prstGeom>
          <a:noFill/>
          <a:ln/>
        </p:spPr>
        <p:txBody>
          <a:bodyPr wrap="square" lIns="0" tIns="0" rIns="0" bIns="0" rtlCol="0" anchor="ctr"/>
          <a:lstStyle/>
          <a:p>
            <a:pPr algn="ctr">
              <a:lnSpc>
                <a:spcPct val="120000"/>
              </a:lnSpc>
            </a:pPr>
            <a:r>
              <a:rPr lang="en-US" sz="2400" b="1" dirty="0">
                <a:solidFill>
                  <a:srgbClr val="FFFFFF"/>
                </a:solidFill>
                <a:latin typeface="Arial" pitchFamily="34" charset="0"/>
                <a:ea typeface="Arial" pitchFamily="34" charset="-122"/>
                <a:cs typeface="Arial" pitchFamily="34" charset="-120"/>
              </a:rPr>
              <a:t>预期目标</a:t>
            </a:r>
            <a:endParaRPr lang="en-US" sz="2400" dirty="0"/>
          </a:p>
        </p:txBody>
      </p:sp>
      <p:sp>
        <p:nvSpPr>
          <p:cNvPr id="20" name="Text 16"/>
          <p:cNvSpPr/>
          <p:nvPr/>
        </p:nvSpPr>
        <p:spPr>
          <a:xfrm>
            <a:off x="1253871" y="7546340"/>
            <a:ext cx="13355320" cy="1440180"/>
          </a:xfrm>
          <a:prstGeom prst="rect">
            <a:avLst/>
          </a:prstGeom>
          <a:noFill/>
          <a:ln/>
        </p:spPr>
        <p:txBody>
          <a:bodyPr wrap="square" lIns="0" tIns="0" rIns="0" bIns="0" rtlCol="0" anchor="t"/>
          <a:lstStyle/>
          <a:p>
            <a:pPr algn="l">
              <a:lnSpc>
                <a:spcPct val="120000"/>
              </a:lnSpc>
              <a:spcBef>
                <a:spcPts val="800"/>
              </a:spcBef>
            </a:pPr>
            <a:r>
              <a:rPr lang="en-US" sz="2400" dirty="0">
                <a:solidFill>
                  <a:srgbClr val="000000"/>
                </a:solidFill>
                <a:latin typeface="MiSans" pitchFamily="34" charset="0"/>
                <a:ea typeface="MiSans" pitchFamily="34" charset="-122"/>
                <a:cs typeface="MiSans" pitchFamily="34" charset="-120"/>
              </a:rPr>
              <a:t>提出可证明安全的分布式数字资产交易协议</a:t>
            </a:r>
            <a:endParaRPr lang="en-US" sz="2400" dirty="0"/>
          </a:p>
        </p:txBody>
      </p:sp>
      <p:sp>
        <p:nvSpPr>
          <p:cNvPr id="21" name="Text 17"/>
          <p:cNvSpPr/>
          <p:nvPr/>
        </p:nvSpPr>
        <p:spPr>
          <a:xfrm>
            <a:off x="793369" y="3657600"/>
            <a:ext cx="6217920" cy="2744724"/>
          </a:xfrm>
          <a:prstGeom prst="rect">
            <a:avLst/>
          </a:prstGeom>
          <a:noFill/>
          <a:ln/>
        </p:spPr>
        <p:txBody>
          <a:bodyPr wrap="square" lIns="0" tIns="0" rIns="0" bIns="0" rtlCol="0" anchor="t"/>
          <a:lstStyle/>
          <a:p>
            <a:pPr algn="l" marL="381000" indent="-381000">
              <a:lnSpc>
                <a:spcPct val="120000"/>
              </a:lnSpc>
              <a:spcBef>
                <a:spcPts val="10"/>
              </a:spcBef>
              <a:buSzPct val="100000"/>
              <a:buChar char="•"/>
            </a:pPr>
            <a:r>
              <a:rPr lang="en-US" sz="2400" dirty="0">
                <a:solidFill>
                  <a:srgbClr val="000000"/>
                </a:solidFill>
                <a:latin typeface="MiSans" pitchFamily="34" charset="0"/>
                <a:ea typeface="MiSans" pitchFamily="34" charset="-122"/>
                <a:cs typeface="MiSans" pitchFamily="34" charset="-120"/>
              </a:rPr>
              <a:t>现有的分布式资产交易协议资产兑换机制依赖于诚实矿工假设，难以应对现实中恶意攻击</a:t>
            </a:r>
            <a:endParaRPr lang="en-US" sz="2400" dirty="0"/>
          </a:p>
          <a:p>
            <a:pPr algn="l" marL="381000" indent="-381000">
              <a:lnSpc>
                <a:spcPct val="120000"/>
              </a:lnSpc>
              <a:spcBef>
                <a:spcPts val="10"/>
              </a:spcBef>
              <a:buSzPct val="100000"/>
              <a:buChar char="•"/>
            </a:pPr>
            <a:r>
              <a:rPr lang="en-US" sz="2400" dirty="0">
                <a:solidFill>
                  <a:srgbClr val="000000"/>
                </a:solidFill>
                <a:latin typeface="MiSans" pitchFamily="34" charset="0"/>
                <a:ea typeface="MiSans" pitchFamily="34" charset="-122"/>
                <a:cs typeface="MiSans" pitchFamily="34" charset="-120"/>
              </a:rPr>
              <a:t>分析现有协议的安全漏洞及潜在攻击，重构现有资产兑换范式</a:t>
            </a:r>
            <a:endParaRPr lang="en-US" sz="2400" dirty="0"/>
          </a:p>
          <a:p>
            <a:pPr algn="l" marL="381000" indent="-381000">
              <a:lnSpc>
                <a:spcPct val="120000"/>
              </a:lnSpc>
              <a:spcBef>
                <a:spcPts val="10"/>
              </a:spcBef>
              <a:buSzPct val="100000"/>
              <a:buChar char="•"/>
            </a:pPr>
            <a:r>
              <a:rPr lang="en-US" sz="2400" dirty="0">
                <a:solidFill>
                  <a:srgbClr val="000000"/>
                </a:solidFill>
                <a:latin typeface="MiSans" pitchFamily="34" charset="0"/>
                <a:ea typeface="MiSans" pitchFamily="34" charset="-122"/>
                <a:cs typeface="MiSans" pitchFamily="34" charset="-120"/>
              </a:rPr>
              <a:t>完成安全性分析与证明</a:t>
            </a:r>
            <a:endParaRPr lang="en-US" sz="2400" dirty="0"/>
          </a:p>
        </p:txBody>
      </p:sp>
      <p:sp>
        <p:nvSpPr>
          <p:cNvPr id="22" name="Text 18"/>
          <p:cNvSpPr/>
          <p:nvPr/>
        </p:nvSpPr>
        <p:spPr>
          <a:xfrm>
            <a:off x="7471791" y="6328029"/>
            <a:ext cx="7641463" cy="997712"/>
          </a:xfrm>
          <a:prstGeom prst="rect">
            <a:avLst/>
          </a:prstGeom>
          <a:noFill/>
          <a:ln/>
        </p:spPr>
        <p:txBody>
          <a:bodyPr wrap="square" lIns="0" tIns="0" rIns="0" bIns="0" rtlCol="0" anchor="t"/>
          <a:lstStyle/>
          <a:p>
            <a:pPr algn="l">
              <a:lnSpc>
                <a:spcPct val="150000"/>
              </a:lnSpc>
            </a:pPr>
            <a:r>
              <a:rPr lang="en-US" sz="1870" dirty="0">
                <a:solidFill>
                  <a:srgbClr val="000000"/>
                </a:solidFill>
                <a:latin typeface="MiSans" pitchFamily="34" charset="0"/>
                <a:ea typeface="MiSans" pitchFamily="34" charset="-122"/>
                <a:cs typeface="MiSans" pitchFamily="34" charset="-120"/>
              </a:rPr>
              <a:t>分布式资产交易协议的基础构建范式HTLC范式通过时间锁定保证资产的合法兑换，但在贿赂矿工的前提下恶意用户抢先侵占诚实用户的资产</a:t>
            </a:r>
            <a:endParaRPr lang="en-US" sz="1870" dirty="0"/>
          </a:p>
        </p:txBody>
      </p:sp>
      <p:pic>
        <p:nvPicPr>
          <p:cNvPr id="23" name="Image 1" descr="https://kimi-img.moonshot.cn/pub/slides/okc/flfuysioo4gzm/mnt/agents/output/yuan_pptd/images/image_9.png">    </p:cNvPr>
          <p:cNvPicPr>
            <a:picLocks noChangeAspect="1"/>
          </p:cNvPicPr>
          <p:nvPr/>
        </p:nvPicPr>
        <p:blipFill>
          <a:blip r:embed="rId2"/>
          <a:stretch>
            <a:fillRect/>
          </a:stretch>
        </p:blipFill>
        <p:spPr>
          <a:xfrm>
            <a:off x="7653020" y="3523742"/>
            <a:ext cx="3645408" cy="2435479"/>
          </a:xfrm>
          <a:prstGeom prst="rect">
            <a:avLst/>
          </a:prstGeom>
        </p:spPr>
      </p:pic>
      <p:pic>
        <p:nvPicPr>
          <p:cNvPr id="24" name="Image 2" descr="https://kimi-img.moonshot.cn/pub/slides/okc/flfuysioo4gzm/mnt/agents/output/yuan_pptd/images/image_10.png">    </p:cNvPr>
          <p:cNvPicPr>
            <a:picLocks noChangeAspect="1"/>
          </p:cNvPicPr>
          <p:nvPr/>
        </p:nvPicPr>
        <p:blipFill>
          <a:blip r:embed="rId3"/>
          <a:stretch>
            <a:fillRect/>
          </a:stretch>
        </p:blipFill>
        <p:spPr>
          <a:xfrm>
            <a:off x="11605387" y="3542411"/>
            <a:ext cx="3455035" cy="2369185"/>
          </a:xfrm>
          <a:prstGeom prst="rect">
            <a:avLst/>
          </a:prstGeom>
        </p:spPr>
      </p:pic>
      <p:sp>
        <p:nvSpPr>
          <p:cNvPr id="25" name="Shape 19"/>
          <p:cNvSpPr/>
          <p:nvPr/>
        </p:nvSpPr>
        <p:spPr>
          <a:xfrm>
            <a:off x="11445113" y="3430651"/>
            <a:ext cx="3668141" cy="2586228"/>
          </a:xfrm>
          <a:prstGeom prst="roundRect">
            <a:avLst>
              <a:gd name="adj" fmla="val 16667"/>
            </a:avLst>
          </a:prstGeom>
          <a:noFill/>
          <a:ln w="12700">
            <a:solidFill>
              <a:srgbClr val="0070C0"/>
            </a:solidFill>
            <a:prstDash val="solid"/>
          </a:ln>
        </p:spPr>
      </p:sp>
      <p:sp>
        <p:nvSpPr>
          <p:cNvPr id="26" name="Text 20"/>
          <p:cNvSpPr/>
          <p:nvPr/>
        </p:nvSpPr>
        <p:spPr>
          <a:xfrm>
            <a:off x="15649067" y="8666353"/>
            <a:ext cx="606933" cy="492506"/>
          </a:xfrm>
          <a:prstGeom prst="rect">
            <a:avLst/>
          </a:prstGeom>
          <a:noFill/>
          <a:ln/>
        </p:spPr>
        <p:txBody>
          <a:bodyPr wrap="square" lIns="0" tIns="0" rIns="0" bIns="0" rtlCol="0" anchor="t"/>
          <a:lstStyle/>
          <a:p>
            <a:pPr algn="ctr">
              <a:lnSpc>
                <a:spcPct val="120000"/>
              </a:lnSpc>
            </a:pPr>
            <a:r>
              <a:rPr lang="en-US" sz="2400" dirty="0">
                <a:solidFill>
                  <a:srgbClr val="000000"/>
                </a:solidFill>
                <a:latin typeface="Arial" pitchFamily="34" charset="0"/>
                <a:ea typeface="Arial" pitchFamily="34" charset="-122"/>
                <a:cs typeface="Arial" pitchFamily="34" charset="-120"/>
              </a:rPr>
              <a:t>23</a:t>
            </a:r>
            <a:endParaRPr lang="en-US" sz="2400" dirty="0"/>
          </a:p>
        </p:txBody>
      </p:sp>
    </p:spTree>
  </p:cSld>
  <p:clrMapOvr>
    <a:masterClrMapping/>
  </p:clrMapOvr>
  <p:transition>
    <p:fade/>
    <p:spd val="med"/>
  </p:transition>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7816469" y="-889"/>
            <a:ext cx="4114800" cy="962660"/>
          </a:xfrm>
          <a:prstGeom prst="rect">
            <a:avLst/>
          </a:prstGeom>
          <a:solidFill>
            <a:srgbClr val="F2F2F2"/>
          </a:solidFill>
          <a:ln w="12700">
            <a:solidFill>
              <a:srgbClr val="F2F2F2"/>
            </a:solidFill>
            <a:prstDash val="solid"/>
          </a:ln>
        </p:spPr>
      </p:sp>
      <p:sp>
        <p:nvSpPr>
          <p:cNvPr id="4" name="Shape 1"/>
          <p:cNvSpPr/>
          <p:nvPr/>
        </p:nvSpPr>
        <p:spPr>
          <a:xfrm>
            <a:off x="7816469" y="4191"/>
            <a:ext cx="4114800" cy="962660"/>
          </a:xfrm>
          <a:prstGeom prst="rect">
            <a:avLst/>
          </a:prstGeom>
          <a:solidFill>
            <a:srgbClr val="04579A"/>
          </a:solidFill>
          <a:ln w="12700">
            <a:solidFill>
              <a:srgbClr val="04579A"/>
            </a:solidFill>
            <a:prstDash val="solid"/>
          </a:ln>
        </p:spPr>
      </p:sp>
      <p:sp>
        <p:nvSpPr>
          <p:cNvPr id="5" name="Shape 2"/>
          <p:cNvSpPr/>
          <p:nvPr/>
        </p:nvSpPr>
        <p:spPr>
          <a:xfrm>
            <a:off x="5162169" y="-889"/>
            <a:ext cx="2590800" cy="962660"/>
          </a:xfrm>
          <a:prstGeom prst="rect">
            <a:avLst/>
          </a:prstGeom>
          <a:solidFill>
            <a:srgbClr val="F2F2F2"/>
          </a:solidFill>
          <a:ln w="12700">
            <a:solidFill>
              <a:srgbClr val="F2F2F2"/>
            </a:solidFill>
            <a:prstDash val="solid"/>
          </a:ln>
        </p:spPr>
      </p:sp>
      <p:sp>
        <p:nvSpPr>
          <p:cNvPr id="6" name="Shape 3"/>
          <p:cNvSpPr/>
          <p:nvPr/>
        </p:nvSpPr>
        <p:spPr>
          <a:xfrm>
            <a:off x="11971020" y="0"/>
            <a:ext cx="4284980" cy="961771"/>
          </a:xfrm>
          <a:prstGeom prst="rect">
            <a:avLst/>
          </a:prstGeom>
          <a:solidFill>
            <a:srgbClr val="F2F2F2"/>
          </a:solidFill>
          <a:ln/>
        </p:spPr>
      </p:sp>
      <p:sp>
        <p:nvSpPr>
          <p:cNvPr id="7" name="Shape 4"/>
          <p:cNvSpPr/>
          <p:nvPr/>
        </p:nvSpPr>
        <p:spPr>
          <a:xfrm>
            <a:off x="2219960" y="-889"/>
            <a:ext cx="2895600" cy="962660"/>
          </a:xfrm>
          <a:prstGeom prst="rect">
            <a:avLst/>
          </a:prstGeom>
          <a:solidFill>
            <a:srgbClr val="F2F2F2"/>
          </a:solidFill>
          <a:ln w="12700">
            <a:solidFill>
              <a:srgbClr val="F2F2F2"/>
            </a:solidFill>
            <a:prstDash val="solid"/>
          </a:ln>
        </p:spPr>
      </p:sp>
      <p:sp>
        <p:nvSpPr>
          <p:cNvPr id="8" name="Text 5"/>
          <p:cNvSpPr/>
          <p:nvPr/>
        </p:nvSpPr>
        <p:spPr>
          <a:xfrm>
            <a:off x="2283460" y="203200"/>
            <a:ext cx="27686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选题背景及意义</a:t>
            </a:r>
            <a:endParaRPr lang="en-US" sz="2000" dirty="0"/>
          </a:p>
        </p:txBody>
      </p:sp>
      <p:sp>
        <p:nvSpPr>
          <p:cNvPr id="9" name="Text 6"/>
          <p:cNvSpPr/>
          <p:nvPr/>
        </p:nvSpPr>
        <p:spPr>
          <a:xfrm>
            <a:off x="5225669" y="203200"/>
            <a:ext cx="24638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国内外研究现状</a:t>
            </a:r>
            <a:endParaRPr lang="en-US" sz="2000" dirty="0"/>
          </a:p>
        </p:txBody>
      </p:sp>
      <p:sp>
        <p:nvSpPr>
          <p:cNvPr id="10" name="Text 7"/>
          <p:cNvSpPr/>
          <p:nvPr/>
        </p:nvSpPr>
        <p:spPr>
          <a:xfrm>
            <a:off x="7879969" y="203200"/>
            <a:ext cx="3987800" cy="508000"/>
          </a:xfrm>
          <a:prstGeom prst="rect">
            <a:avLst/>
          </a:prstGeom>
          <a:noFill/>
          <a:ln/>
        </p:spPr>
        <p:txBody>
          <a:bodyPr wrap="none" lIns="0" tIns="0" rIns="0" bIns="0" rtlCol="0" anchor="ctr"/>
          <a:lstStyle/>
          <a:p>
            <a:pPr algn="ctr">
              <a:lnSpc>
                <a:spcPct val="120000"/>
              </a:lnSpc>
            </a:pPr>
            <a:r>
              <a:rPr lang="en-US" sz="2000" dirty="0">
                <a:solidFill>
                  <a:srgbClr val="FFFFFF"/>
                </a:solidFill>
                <a:latin typeface="Arial" pitchFamily="34" charset="0"/>
                <a:ea typeface="Arial" pitchFamily="34" charset="-122"/>
                <a:cs typeface="Arial" pitchFamily="34" charset="-120"/>
              </a:rPr>
              <a:t>主要研究内容及预期目标</a:t>
            </a:r>
            <a:endParaRPr lang="en-US" sz="2000" dirty="0"/>
          </a:p>
        </p:txBody>
      </p:sp>
      <p:sp>
        <p:nvSpPr>
          <p:cNvPr id="11" name="Text 8"/>
          <p:cNvSpPr/>
          <p:nvPr/>
        </p:nvSpPr>
        <p:spPr>
          <a:xfrm>
            <a:off x="12034520" y="203200"/>
            <a:ext cx="415798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工作计划与进度安排</a:t>
            </a:r>
            <a:endParaRPr lang="en-US" sz="2000" dirty="0"/>
          </a:p>
        </p:txBody>
      </p:sp>
      <p:pic>
        <p:nvPicPr>
          <p:cNvPr id="12" name="Image 0" descr="https://kimi-img.moonshot.cn/pub/slides/okc/flfuysioo4gzm/mnt/agents/output/yuan_pptd/images/image_2.jpg">    </p:cNvPr>
          <p:cNvPicPr>
            <a:picLocks noChangeAspect="1"/>
          </p:cNvPicPr>
          <p:nvPr/>
        </p:nvPicPr>
        <p:blipFill>
          <a:blip r:embed="rId1"/>
          <a:srcRect l="5060" r="29000" t="0" b="0"/>
          <a:stretch/>
        </p:blipFill>
        <p:spPr>
          <a:xfrm>
            <a:off x="544449" y="140589"/>
            <a:ext cx="1273429" cy="745871"/>
          </a:xfrm>
          <a:prstGeom prst="rect">
            <a:avLst/>
          </a:prstGeom>
        </p:spPr>
      </p:pic>
      <p:sp>
        <p:nvSpPr>
          <p:cNvPr id="13" name="Shape 9"/>
          <p:cNvSpPr/>
          <p:nvPr/>
        </p:nvSpPr>
        <p:spPr>
          <a:xfrm rot="10800000">
            <a:off x="9699371" y="961009"/>
            <a:ext cx="389509" cy="304800"/>
          </a:xfrm>
          <a:prstGeom prst="triangle">
            <a:avLst>
              <a:gd name="adj" fmla="val 50000"/>
            </a:avLst>
          </a:prstGeom>
          <a:solidFill>
            <a:srgbClr val="04579A"/>
          </a:solidFill>
          <a:ln/>
        </p:spPr>
      </p:sp>
      <p:sp>
        <p:nvSpPr>
          <p:cNvPr id="14" name="Text 10"/>
          <p:cNvSpPr/>
          <p:nvPr/>
        </p:nvSpPr>
        <p:spPr>
          <a:xfrm>
            <a:off x="793369" y="1895729"/>
            <a:ext cx="14411960" cy="531749"/>
          </a:xfrm>
          <a:prstGeom prst="rect">
            <a:avLst/>
          </a:prstGeom>
          <a:noFill/>
          <a:ln/>
        </p:spPr>
        <p:txBody>
          <a:bodyPr wrap="square" lIns="0" tIns="0" rIns="0" bIns="0" rtlCol="0" anchor="t"/>
          <a:lstStyle/>
          <a:p>
            <a:pPr algn="l">
              <a:lnSpc>
                <a:spcPct val="120000"/>
              </a:lnSpc>
            </a:pPr>
            <a:r>
              <a:rPr lang="en-US" sz="2670" b="1" dirty="0">
                <a:solidFill>
                  <a:srgbClr val="04579A"/>
                </a:solidFill>
                <a:latin typeface="Arial" pitchFamily="34" charset="0"/>
                <a:ea typeface="Arial" pitchFamily="34" charset="-122"/>
                <a:cs typeface="Arial" pitchFamily="34" charset="-120"/>
              </a:rPr>
              <a:t>大规模环境下可扩展分布式数字资产交易协议设计与分析</a:t>
            </a:r>
            <a:endParaRPr lang="en-US" sz="2670" dirty="0"/>
          </a:p>
        </p:txBody>
      </p:sp>
      <p:sp>
        <p:nvSpPr>
          <p:cNvPr id="15" name="Text 11"/>
          <p:cNvSpPr/>
          <p:nvPr/>
        </p:nvSpPr>
        <p:spPr>
          <a:xfrm>
            <a:off x="1253871" y="7546340"/>
            <a:ext cx="13355320" cy="1440180"/>
          </a:xfrm>
          <a:prstGeom prst="rect">
            <a:avLst/>
          </a:prstGeom>
          <a:noFill/>
          <a:ln/>
        </p:spPr>
        <p:txBody>
          <a:bodyPr wrap="square" lIns="0" tIns="0" rIns="0" bIns="0" rtlCol="0" anchor="t"/>
          <a:lstStyle/>
          <a:p>
            <a:pPr algn="l" marL="381000" indent="-381000">
              <a:lnSpc>
                <a:spcPct val="120000"/>
              </a:lnSpc>
              <a:spcBef>
                <a:spcPts val="10"/>
              </a:spcBef>
              <a:buSzPct val="100000"/>
              <a:buChar char="•"/>
            </a:pPr>
            <a:r>
              <a:rPr lang="en-US" sz="2400" dirty="0">
                <a:solidFill>
                  <a:srgbClr val="000000"/>
                </a:solidFill>
                <a:latin typeface="Arial" pitchFamily="34" charset="0"/>
                <a:ea typeface="Arial" pitchFamily="34" charset="-122"/>
                <a:cs typeface="Arial" pitchFamily="34" charset="-120"/>
              </a:rPr>
              <a:t>提出强可靠的可扩展分布式数字资产交易协议</a:t>
            </a:r>
            <a:endParaRPr lang="en-US" sz="2400" dirty="0"/>
          </a:p>
        </p:txBody>
      </p:sp>
      <p:sp>
        <p:nvSpPr>
          <p:cNvPr id="16" name="Shape 12"/>
          <p:cNvSpPr/>
          <p:nvPr/>
        </p:nvSpPr>
        <p:spPr>
          <a:xfrm>
            <a:off x="793369" y="2685669"/>
            <a:ext cx="2152269" cy="550291"/>
          </a:xfrm>
          <a:prstGeom prst="parallelogram">
            <a:avLst>
              <a:gd name="adj" fmla="val 25000"/>
            </a:avLst>
          </a:prstGeom>
          <a:solidFill>
            <a:srgbClr val="04579A"/>
          </a:solidFill>
          <a:ln w="12700">
            <a:solidFill>
              <a:srgbClr val="304B73"/>
            </a:solidFill>
            <a:prstDash val="solid"/>
          </a:ln>
        </p:spPr>
      </p:sp>
      <p:sp>
        <p:nvSpPr>
          <p:cNvPr id="17" name="Text 13"/>
          <p:cNvSpPr/>
          <p:nvPr/>
        </p:nvSpPr>
        <p:spPr>
          <a:xfrm>
            <a:off x="793369" y="2685669"/>
            <a:ext cx="2152269" cy="550291"/>
          </a:xfrm>
          <a:prstGeom prst="rect">
            <a:avLst/>
          </a:prstGeom>
          <a:noFill/>
          <a:ln/>
        </p:spPr>
        <p:txBody>
          <a:bodyPr wrap="square" lIns="0" tIns="0" rIns="0" bIns="0" rtlCol="0" anchor="ctr"/>
          <a:lstStyle/>
          <a:p>
            <a:pPr algn="ctr">
              <a:lnSpc>
                <a:spcPct val="120000"/>
              </a:lnSpc>
            </a:pPr>
            <a:r>
              <a:rPr lang="en-US" sz="2400" b="1" dirty="0">
                <a:solidFill>
                  <a:srgbClr val="FFFFFF"/>
                </a:solidFill>
                <a:latin typeface="Arial" pitchFamily="34" charset="0"/>
                <a:ea typeface="Arial" pitchFamily="34" charset="-122"/>
                <a:cs typeface="Arial" pitchFamily="34" charset="-120"/>
              </a:rPr>
              <a:t>研究内容</a:t>
            </a:r>
            <a:endParaRPr lang="en-US" sz="2400" dirty="0"/>
          </a:p>
        </p:txBody>
      </p:sp>
      <p:sp>
        <p:nvSpPr>
          <p:cNvPr id="18" name="Shape 14"/>
          <p:cNvSpPr/>
          <p:nvPr/>
        </p:nvSpPr>
        <p:spPr>
          <a:xfrm>
            <a:off x="793369" y="6864731"/>
            <a:ext cx="2152269" cy="550291"/>
          </a:xfrm>
          <a:prstGeom prst="parallelogram">
            <a:avLst>
              <a:gd name="adj" fmla="val 25000"/>
            </a:avLst>
          </a:prstGeom>
          <a:solidFill>
            <a:srgbClr val="04579A"/>
          </a:solidFill>
          <a:ln w="12700">
            <a:solidFill>
              <a:srgbClr val="304B73"/>
            </a:solidFill>
            <a:prstDash val="solid"/>
          </a:ln>
        </p:spPr>
      </p:sp>
      <p:sp>
        <p:nvSpPr>
          <p:cNvPr id="19" name="Text 15"/>
          <p:cNvSpPr/>
          <p:nvPr/>
        </p:nvSpPr>
        <p:spPr>
          <a:xfrm>
            <a:off x="793369" y="6864731"/>
            <a:ext cx="2152269" cy="550291"/>
          </a:xfrm>
          <a:prstGeom prst="rect">
            <a:avLst/>
          </a:prstGeom>
          <a:noFill/>
          <a:ln/>
        </p:spPr>
        <p:txBody>
          <a:bodyPr wrap="square" lIns="0" tIns="0" rIns="0" bIns="0" rtlCol="0" anchor="ctr"/>
          <a:lstStyle/>
          <a:p>
            <a:pPr algn="ctr">
              <a:lnSpc>
                <a:spcPct val="120000"/>
              </a:lnSpc>
            </a:pPr>
            <a:r>
              <a:rPr lang="en-US" sz="2400" b="1" dirty="0">
                <a:solidFill>
                  <a:srgbClr val="FFFFFF"/>
                </a:solidFill>
                <a:latin typeface="Arial" pitchFamily="34" charset="0"/>
                <a:ea typeface="Arial" pitchFamily="34" charset="-122"/>
                <a:cs typeface="Arial" pitchFamily="34" charset="-120"/>
              </a:rPr>
              <a:t>预期目标</a:t>
            </a:r>
            <a:endParaRPr lang="en-US" sz="2400" dirty="0"/>
          </a:p>
        </p:txBody>
      </p:sp>
      <p:sp>
        <p:nvSpPr>
          <p:cNvPr id="20" name="Text 16"/>
          <p:cNvSpPr/>
          <p:nvPr/>
        </p:nvSpPr>
        <p:spPr>
          <a:xfrm>
            <a:off x="793369" y="3657600"/>
            <a:ext cx="5968111" cy="1858391"/>
          </a:xfrm>
          <a:prstGeom prst="rect">
            <a:avLst/>
          </a:prstGeom>
          <a:noFill/>
          <a:ln/>
        </p:spPr>
        <p:txBody>
          <a:bodyPr wrap="square" lIns="0" tIns="0" rIns="0" bIns="0" rtlCol="0" anchor="t"/>
          <a:lstStyle/>
          <a:p>
            <a:pPr algn="l" marL="381000" indent="-381000">
              <a:lnSpc>
                <a:spcPct val="120000"/>
              </a:lnSpc>
              <a:spcBef>
                <a:spcPts val="10"/>
              </a:spcBef>
              <a:buSzPct val="100000"/>
              <a:buChar char="•"/>
            </a:pPr>
            <a:r>
              <a:rPr lang="en-US" sz="2400" dirty="0">
                <a:solidFill>
                  <a:srgbClr val="000000"/>
                </a:solidFill>
                <a:latin typeface="MiSans" pitchFamily="34" charset="0"/>
                <a:ea typeface="MiSans" pitchFamily="34" charset="-122"/>
                <a:cs typeface="MiSans" pitchFamily="34" charset="-120"/>
              </a:rPr>
              <a:t>研究满足信道资产流动性的再平衡机制</a:t>
            </a:r>
            <a:endParaRPr lang="en-US" sz="2400" dirty="0"/>
          </a:p>
          <a:p>
            <a:pPr algn="l" marL="381000" indent="-381000">
              <a:lnSpc>
                <a:spcPct val="120000"/>
              </a:lnSpc>
              <a:spcBef>
                <a:spcPts val="10"/>
              </a:spcBef>
              <a:buSzPct val="100000"/>
              <a:buChar char="•"/>
            </a:pPr>
            <a:r>
              <a:rPr lang="en-US" sz="2400" dirty="0">
                <a:solidFill>
                  <a:srgbClr val="000000"/>
                </a:solidFill>
                <a:latin typeface="MiSans" pitchFamily="34" charset="0"/>
                <a:ea typeface="MiSans" pitchFamily="34" charset="-122"/>
                <a:cs typeface="MiSans" pitchFamily="34" charset="-120"/>
              </a:rPr>
              <a:t>设计高效虚拟信道协议</a:t>
            </a:r>
            <a:endParaRPr lang="en-US" sz="2400" dirty="0"/>
          </a:p>
          <a:p>
            <a:pPr algn="l" marL="381000" indent="-381000">
              <a:lnSpc>
                <a:spcPct val="120000"/>
              </a:lnSpc>
              <a:spcBef>
                <a:spcPts val="10"/>
              </a:spcBef>
              <a:buSzPct val="100000"/>
              <a:buChar char="•"/>
            </a:pPr>
            <a:r>
              <a:rPr lang="en-US" sz="2400" dirty="0">
                <a:solidFill>
                  <a:srgbClr val="000000"/>
                </a:solidFill>
                <a:latin typeface="MiSans" pitchFamily="34" charset="0"/>
                <a:ea typeface="MiSans" pitchFamily="34" charset="-122"/>
                <a:cs typeface="MiSans" pitchFamily="34" charset="-120"/>
              </a:rPr>
              <a:t>设计多方信道安全更新协议</a:t>
            </a:r>
            <a:endParaRPr lang="en-US" sz="2400" dirty="0"/>
          </a:p>
          <a:p>
            <a:pPr algn="l" marL="381000" indent="-381000">
              <a:lnSpc>
                <a:spcPct val="120000"/>
              </a:lnSpc>
              <a:spcBef>
                <a:spcPts val="10"/>
              </a:spcBef>
              <a:buSzPct val="100000"/>
              <a:buChar char="•"/>
            </a:pPr>
            <a:r>
              <a:rPr lang="en-US" sz="2400" dirty="0">
                <a:solidFill>
                  <a:srgbClr val="000000"/>
                </a:solidFill>
                <a:latin typeface="MiSans" pitchFamily="34" charset="0"/>
                <a:ea typeface="MiSans" pitchFamily="34" charset="-122"/>
                <a:cs typeface="MiSans" pitchFamily="34" charset="-120"/>
              </a:rPr>
              <a:t>完成实验并在真实网络中进行测试</a:t>
            </a:r>
            <a:endParaRPr lang="en-US" sz="2400" dirty="0"/>
          </a:p>
        </p:txBody>
      </p:sp>
      <p:pic>
        <p:nvPicPr>
          <p:cNvPr id="21" name="Image 1" descr="https://kimi-img.moonshot.cn/pub/slides/okc/flfuysioo4gzm/mnt/agents/output/yuan_pptd/images/image_11.png">    </p:cNvPr>
          <p:cNvPicPr>
            <a:picLocks noChangeAspect="1"/>
          </p:cNvPicPr>
          <p:nvPr/>
        </p:nvPicPr>
        <p:blipFill>
          <a:blip r:embed="rId2"/>
          <a:stretch>
            <a:fillRect/>
          </a:stretch>
        </p:blipFill>
        <p:spPr>
          <a:xfrm>
            <a:off x="8594217" y="3162554"/>
            <a:ext cx="5738876" cy="2918206"/>
          </a:xfrm>
          <a:prstGeom prst="rect">
            <a:avLst/>
          </a:prstGeom>
        </p:spPr>
      </p:pic>
      <p:sp>
        <p:nvSpPr>
          <p:cNvPr id="22" name="Text 17"/>
          <p:cNvSpPr/>
          <p:nvPr/>
        </p:nvSpPr>
        <p:spPr>
          <a:xfrm>
            <a:off x="8402701" y="6211951"/>
            <a:ext cx="6121908" cy="997712"/>
          </a:xfrm>
          <a:prstGeom prst="rect">
            <a:avLst/>
          </a:prstGeom>
          <a:noFill/>
          <a:ln/>
        </p:spPr>
        <p:txBody>
          <a:bodyPr wrap="square" lIns="0" tIns="0" rIns="0" bIns="0" rtlCol="0" anchor="t"/>
          <a:lstStyle/>
          <a:p>
            <a:pPr algn="l">
              <a:lnSpc>
                <a:spcPct val="150000"/>
              </a:lnSpc>
            </a:pPr>
            <a:r>
              <a:rPr lang="en-US" sz="1870" dirty="0">
                <a:solidFill>
                  <a:srgbClr val="000000"/>
                </a:solidFill>
                <a:latin typeface="MiSans" pitchFamily="34" charset="0"/>
                <a:ea typeface="MiSans" pitchFamily="34" charset="-122"/>
                <a:cs typeface="MiSans" pitchFamily="34" charset="-120"/>
              </a:rPr>
              <a:t>现有链下可扩展性方案对于多跳支付导致的方向性永久流量衰减只起到暂时的缓解作用，不能释放其理想性能</a:t>
            </a:r>
            <a:endParaRPr lang="en-US" sz="1870" dirty="0"/>
          </a:p>
        </p:txBody>
      </p:sp>
      <p:sp>
        <p:nvSpPr>
          <p:cNvPr id="23" name="Text 18"/>
          <p:cNvSpPr/>
          <p:nvPr/>
        </p:nvSpPr>
        <p:spPr>
          <a:xfrm>
            <a:off x="15649067" y="8666353"/>
            <a:ext cx="606933" cy="492506"/>
          </a:xfrm>
          <a:prstGeom prst="rect">
            <a:avLst/>
          </a:prstGeom>
          <a:noFill/>
          <a:ln/>
        </p:spPr>
        <p:txBody>
          <a:bodyPr wrap="square" lIns="0" tIns="0" rIns="0" bIns="0" rtlCol="0" anchor="t"/>
          <a:lstStyle/>
          <a:p>
            <a:pPr algn="ctr">
              <a:lnSpc>
                <a:spcPct val="120000"/>
              </a:lnSpc>
            </a:pPr>
            <a:r>
              <a:rPr lang="en-US" sz="2400" dirty="0">
                <a:solidFill>
                  <a:srgbClr val="000000"/>
                </a:solidFill>
                <a:latin typeface="Arial" pitchFamily="34" charset="0"/>
                <a:ea typeface="Arial" pitchFamily="34" charset="-122"/>
                <a:cs typeface="Arial" pitchFamily="34" charset="-120"/>
              </a:rPr>
              <a:t>24</a:t>
            </a:r>
            <a:endParaRPr lang="en-US" sz="2400" dirty="0"/>
          </a:p>
        </p:txBody>
      </p:sp>
    </p:spTree>
  </p:cSld>
  <p:clrMapOvr>
    <a:masterClrMapping/>
  </p:clrMapOvr>
  <p:transition>
    <p:fade/>
    <p:spd val="med"/>
  </p:transition>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7816469" y="-889"/>
            <a:ext cx="4114800" cy="962660"/>
          </a:xfrm>
          <a:prstGeom prst="rect">
            <a:avLst/>
          </a:prstGeom>
          <a:solidFill>
            <a:srgbClr val="F2F2F2"/>
          </a:solidFill>
          <a:ln w="12700">
            <a:solidFill>
              <a:srgbClr val="F2F2F2"/>
            </a:solidFill>
            <a:prstDash val="solid"/>
          </a:ln>
        </p:spPr>
      </p:sp>
      <p:sp>
        <p:nvSpPr>
          <p:cNvPr id="4" name="Shape 1"/>
          <p:cNvSpPr/>
          <p:nvPr/>
        </p:nvSpPr>
        <p:spPr>
          <a:xfrm>
            <a:off x="7816469" y="4191"/>
            <a:ext cx="4114800" cy="962660"/>
          </a:xfrm>
          <a:prstGeom prst="rect">
            <a:avLst/>
          </a:prstGeom>
          <a:solidFill>
            <a:srgbClr val="04579A"/>
          </a:solidFill>
          <a:ln w="12700">
            <a:solidFill>
              <a:srgbClr val="04579A"/>
            </a:solidFill>
            <a:prstDash val="solid"/>
          </a:ln>
        </p:spPr>
      </p:sp>
      <p:sp>
        <p:nvSpPr>
          <p:cNvPr id="5" name="Shape 2"/>
          <p:cNvSpPr/>
          <p:nvPr/>
        </p:nvSpPr>
        <p:spPr>
          <a:xfrm>
            <a:off x="5162169" y="-889"/>
            <a:ext cx="2590800" cy="962660"/>
          </a:xfrm>
          <a:prstGeom prst="rect">
            <a:avLst/>
          </a:prstGeom>
          <a:solidFill>
            <a:srgbClr val="F2F2F2"/>
          </a:solidFill>
          <a:ln w="12700">
            <a:solidFill>
              <a:srgbClr val="F2F2F2"/>
            </a:solidFill>
            <a:prstDash val="solid"/>
          </a:ln>
        </p:spPr>
      </p:sp>
      <p:sp>
        <p:nvSpPr>
          <p:cNvPr id="6" name="Shape 3"/>
          <p:cNvSpPr/>
          <p:nvPr/>
        </p:nvSpPr>
        <p:spPr>
          <a:xfrm>
            <a:off x="11971020" y="0"/>
            <a:ext cx="4284980" cy="961771"/>
          </a:xfrm>
          <a:prstGeom prst="rect">
            <a:avLst/>
          </a:prstGeom>
          <a:solidFill>
            <a:srgbClr val="F2F2F2"/>
          </a:solidFill>
          <a:ln/>
        </p:spPr>
      </p:sp>
      <p:sp>
        <p:nvSpPr>
          <p:cNvPr id="7" name="Shape 4"/>
          <p:cNvSpPr/>
          <p:nvPr/>
        </p:nvSpPr>
        <p:spPr>
          <a:xfrm>
            <a:off x="2219960" y="-889"/>
            <a:ext cx="2895600" cy="962660"/>
          </a:xfrm>
          <a:prstGeom prst="rect">
            <a:avLst/>
          </a:prstGeom>
          <a:solidFill>
            <a:srgbClr val="F2F2F2"/>
          </a:solidFill>
          <a:ln w="12700">
            <a:solidFill>
              <a:srgbClr val="F2F2F2"/>
            </a:solidFill>
            <a:prstDash val="solid"/>
          </a:ln>
        </p:spPr>
      </p:sp>
      <p:sp>
        <p:nvSpPr>
          <p:cNvPr id="8" name="Text 5"/>
          <p:cNvSpPr/>
          <p:nvPr/>
        </p:nvSpPr>
        <p:spPr>
          <a:xfrm>
            <a:off x="2283460" y="203200"/>
            <a:ext cx="27686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选题背景及意义</a:t>
            </a:r>
            <a:endParaRPr lang="en-US" sz="2000" dirty="0"/>
          </a:p>
        </p:txBody>
      </p:sp>
      <p:sp>
        <p:nvSpPr>
          <p:cNvPr id="9" name="Text 6"/>
          <p:cNvSpPr/>
          <p:nvPr/>
        </p:nvSpPr>
        <p:spPr>
          <a:xfrm>
            <a:off x="5225669" y="203200"/>
            <a:ext cx="24638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国内外研究现状</a:t>
            </a:r>
            <a:endParaRPr lang="en-US" sz="2000" dirty="0"/>
          </a:p>
        </p:txBody>
      </p:sp>
      <p:sp>
        <p:nvSpPr>
          <p:cNvPr id="10" name="Text 7"/>
          <p:cNvSpPr/>
          <p:nvPr/>
        </p:nvSpPr>
        <p:spPr>
          <a:xfrm>
            <a:off x="7879969" y="203200"/>
            <a:ext cx="3987800" cy="508000"/>
          </a:xfrm>
          <a:prstGeom prst="rect">
            <a:avLst/>
          </a:prstGeom>
          <a:noFill/>
          <a:ln/>
        </p:spPr>
        <p:txBody>
          <a:bodyPr wrap="none" lIns="0" tIns="0" rIns="0" bIns="0" rtlCol="0" anchor="ctr"/>
          <a:lstStyle/>
          <a:p>
            <a:pPr algn="ctr">
              <a:lnSpc>
                <a:spcPct val="120000"/>
              </a:lnSpc>
            </a:pPr>
            <a:r>
              <a:rPr lang="en-US" sz="2000" dirty="0">
                <a:solidFill>
                  <a:srgbClr val="FFFFFF"/>
                </a:solidFill>
                <a:latin typeface="Arial" pitchFamily="34" charset="0"/>
                <a:ea typeface="Arial" pitchFamily="34" charset="-122"/>
                <a:cs typeface="Arial" pitchFamily="34" charset="-120"/>
              </a:rPr>
              <a:t>主要研究内容及预期目标</a:t>
            </a:r>
            <a:endParaRPr lang="en-US" sz="2000" dirty="0"/>
          </a:p>
        </p:txBody>
      </p:sp>
      <p:sp>
        <p:nvSpPr>
          <p:cNvPr id="11" name="Text 8"/>
          <p:cNvSpPr/>
          <p:nvPr/>
        </p:nvSpPr>
        <p:spPr>
          <a:xfrm>
            <a:off x="12034520" y="203200"/>
            <a:ext cx="415798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工作计划与进度安排</a:t>
            </a:r>
            <a:endParaRPr lang="en-US" sz="2000" dirty="0"/>
          </a:p>
        </p:txBody>
      </p:sp>
      <p:pic>
        <p:nvPicPr>
          <p:cNvPr id="12" name="Image 0" descr="https://kimi-img.moonshot.cn/pub/slides/okc/flfuysioo4gzm/mnt/agents/output/yuan_pptd/images/image_2.jpg">    </p:cNvPr>
          <p:cNvPicPr>
            <a:picLocks noChangeAspect="1"/>
          </p:cNvPicPr>
          <p:nvPr/>
        </p:nvPicPr>
        <p:blipFill>
          <a:blip r:embed="rId1"/>
          <a:srcRect l="5060" r="29000" t="0" b="0"/>
          <a:stretch/>
        </p:blipFill>
        <p:spPr>
          <a:xfrm>
            <a:off x="544449" y="140589"/>
            <a:ext cx="1273429" cy="745871"/>
          </a:xfrm>
          <a:prstGeom prst="rect">
            <a:avLst/>
          </a:prstGeom>
        </p:spPr>
      </p:pic>
      <p:sp>
        <p:nvSpPr>
          <p:cNvPr id="13" name="Shape 9"/>
          <p:cNvSpPr/>
          <p:nvPr/>
        </p:nvSpPr>
        <p:spPr>
          <a:xfrm rot="10800000">
            <a:off x="9699371" y="961009"/>
            <a:ext cx="389509" cy="304800"/>
          </a:xfrm>
          <a:prstGeom prst="triangle">
            <a:avLst>
              <a:gd name="adj" fmla="val 50000"/>
            </a:avLst>
          </a:prstGeom>
          <a:solidFill>
            <a:srgbClr val="04579A"/>
          </a:solidFill>
          <a:ln/>
        </p:spPr>
      </p:sp>
      <p:sp>
        <p:nvSpPr>
          <p:cNvPr id="14" name="Text 10"/>
          <p:cNvSpPr/>
          <p:nvPr/>
        </p:nvSpPr>
        <p:spPr>
          <a:xfrm>
            <a:off x="793369" y="1895729"/>
            <a:ext cx="14411960" cy="533527"/>
          </a:xfrm>
          <a:prstGeom prst="rect">
            <a:avLst/>
          </a:prstGeom>
          <a:noFill/>
          <a:ln/>
        </p:spPr>
        <p:txBody>
          <a:bodyPr wrap="square" lIns="0" tIns="0" rIns="0" bIns="0" rtlCol="0" anchor="t"/>
          <a:lstStyle/>
          <a:p>
            <a:pPr algn="l">
              <a:lnSpc>
                <a:spcPct val="120000"/>
              </a:lnSpc>
            </a:pPr>
            <a:r>
              <a:rPr lang="en-US" sz="2670" b="1" dirty="0">
                <a:solidFill>
                  <a:srgbClr val="04579A"/>
                </a:solidFill>
                <a:latin typeface="Arial" pitchFamily="34" charset="0"/>
                <a:ea typeface="Arial" pitchFamily="34" charset="-122"/>
                <a:cs typeface="Arial" pitchFamily="34" charset="-120"/>
              </a:rPr>
              <a:t>多源异构环境下分布式数字资产跨链验证协议设计与分析</a:t>
            </a:r>
            <a:pPr algn="l">
              <a:lnSpc>
                <a:spcPct val="120000"/>
              </a:lnSpc>
            </a:pPr>
            <a:r>
              <a:rPr lang="en-US" sz="2670" b="1" dirty="0">
                <a:solidFill>
                  <a:srgbClr val="04579A"/>
                </a:solidFill>
                <a:latin typeface="MiSans" pitchFamily="34" charset="0"/>
                <a:ea typeface="MiSans" pitchFamily="34" charset="-122"/>
                <a:cs typeface="MiSans" pitchFamily="34" charset="-120"/>
              </a:rPr>
              <a:t>	</a:t>
            </a:r>
            <a:endParaRPr lang="en-US" sz="2670" dirty="0"/>
          </a:p>
        </p:txBody>
      </p:sp>
      <p:sp>
        <p:nvSpPr>
          <p:cNvPr id="15" name="Shape 11"/>
          <p:cNvSpPr/>
          <p:nvPr/>
        </p:nvSpPr>
        <p:spPr>
          <a:xfrm>
            <a:off x="793369" y="6864731"/>
            <a:ext cx="2152269" cy="550291"/>
          </a:xfrm>
          <a:prstGeom prst="parallelogram">
            <a:avLst>
              <a:gd name="adj" fmla="val 25000"/>
            </a:avLst>
          </a:prstGeom>
          <a:solidFill>
            <a:srgbClr val="04579A"/>
          </a:solidFill>
          <a:ln w="12700">
            <a:solidFill>
              <a:srgbClr val="304B73"/>
            </a:solidFill>
            <a:prstDash val="solid"/>
          </a:ln>
        </p:spPr>
      </p:sp>
      <p:sp>
        <p:nvSpPr>
          <p:cNvPr id="16" name="Text 12"/>
          <p:cNvSpPr/>
          <p:nvPr/>
        </p:nvSpPr>
        <p:spPr>
          <a:xfrm>
            <a:off x="793369" y="6864731"/>
            <a:ext cx="2152269" cy="550291"/>
          </a:xfrm>
          <a:prstGeom prst="rect">
            <a:avLst/>
          </a:prstGeom>
          <a:noFill/>
          <a:ln/>
        </p:spPr>
        <p:txBody>
          <a:bodyPr wrap="square" lIns="0" tIns="0" rIns="0" bIns="0" rtlCol="0" anchor="ctr"/>
          <a:lstStyle/>
          <a:p>
            <a:pPr algn="ctr">
              <a:lnSpc>
                <a:spcPct val="120000"/>
              </a:lnSpc>
            </a:pPr>
            <a:r>
              <a:rPr lang="en-US" sz="2400" b="1" dirty="0">
                <a:solidFill>
                  <a:srgbClr val="FFFFFF"/>
                </a:solidFill>
                <a:latin typeface="Arial" pitchFamily="34" charset="0"/>
                <a:ea typeface="Arial" pitchFamily="34" charset="-122"/>
                <a:cs typeface="Arial" pitchFamily="34" charset="-120"/>
              </a:rPr>
              <a:t>预期目标</a:t>
            </a:r>
            <a:endParaRPr lang="en-US" sz="2400" dirty="0"/>
          </a:p>
        </p:txBody>
      </p:sp>
      <p:sp>
        <p:nvSpPr>
          <p:cNvPr id="17" name="Text 13"/>
          <p:cNvSpPr/>
          <p:nvPr/>
        </p:nvSpPr>
        <p:spPr>
          <a:xfrm>
            <a:off x="1253871" y="7546340"/>
            <a:ext cx="13355320" cy="1440180"/>
          </a:xfrm>
          <a:prstGeom prst="rect">
            <a:avLst/>
          </a:prstGeom>
          <a:noFill/>
          <a:ln/>
        </p:spPr>
        <p:txBody>
          <a:bodyPr wrap="square" lIns="0" tIns="0" rIns="0" bIns="0" rtlCol="0" anchor="t"/>
          <a:lstStyle/>
          <a:p>
            <a:pPr algn="l" marL="381000" indent="-381000">
              <a:lnSpc>
                <a:spcPct val="120000"/>
              </a:lnSpc>
              <a:spcBef>
                <a:spcPts val="10"/>
              </a:spcBef>
              <a:buSzPct val="100000"/>
              <a:buChar char="•"/>
            </a:pPr>
            <a:r>
              <a:rPr lang="en-US" sz="2400" dirty="0">
                <a:solidFill>
                  <a:srgbClr val="000000"/>
                </a:solidFill>
                <a:latin typeface="Arial" pitchFamily="34" charset="0"/>
                <a:ea typeface="Arial" pitchFamily="34" charset="-122"/>
                <a:cs typeface="Arial" pitchFamily="34" charset="-120"/>
              </a:rPr>
              <a:t>设计互操作性增强的高效分布式数字资产交易协议</a:t>
            </a:r>
            <a:endParaRPr lang="en-US" sz="2400" dirty="0"/>
          </a:p>
        </p:txBody>
      </p:sp>
      <p:sp>
        <p:nvSpPr>
          <p:cNvPr id="18" name="Shape 14"/>
          <p:cNvSpPr/>
          <p:nvPr/>
        </p:nvSpPr>
        <p:spPr>
          <a:xfrm>
            <a:off x="793369" y="2685669"/>
            <a:ext cx="2152269" cy="550291"/>
          </a:xfrm>
          <a:prstGeom prst="parallelogram">
            <a:avLst>
              <a:gd name="adj" fmla="val 25000"/>
            </a:avLst>
          </a:prstGeom>
          <a:solidFill>
            <a:srgbClr val="04579A"/>
          </a:solidFill>
          <a:ln w="12700">
            <a:solidFill>
              <a:srgbClr val="304B73"/>
            </a:solidFill>
            <a:prstDash val="solid"/>
          </a:ln>
        </p:spPr>
      </p:sp>
      <p:sp>
        <p:nvSpPr>
          <p:cNvPr id="19" name="Text 15"/>
          <p:cNvSpPr/>
          <p:nvPr/>
        </p:nvSpPr>
        <p:spPr>
          <a:xfrm>
            <a:off x="793369" y="2685669"/>
            <a:ext cx="2152269" cy="550291"/>
          </a:xfrm>
          <a:prstGeom prst="rect">
            <a:avLst/>
          </a:prstGeom>
          <a:noFill/>
          <a:ln/>
        </p:spPr>
        <p:txBody>
          <a:bodyPr wrap="square" lIns="0" tIns="0" rIns="0" bIns="0" rtlCol="0" anchor="ctr"/>
          <a:lstStyle/>
          <a:p>
            <a:pPr algn="ctr">
              <a:lnSpc>
                <a:spcPct val="120000"/>
              </a:lnSpc>
            </a:pPr>
            <a:r>
              <a:rPr lang="en-US" sz="2400" b="1" dirty="0">
                <a:solidFill>
                  <a:srgbClr val="FFFFFF"/>
                </a:solidFill>
                <a:latin typeface="Arial" pitchFamily="34" charset="0"/>
                <a:ea typeface="Arial" pitchFamily="34" charset="-122"/>
                <a:cs typeface="Arial" pitchFamily="34" charset="-120"/>
              </a:rPr>
              <a:t>研究内容</a:t>
            </a:r>
            <a:endParaRPr lang="en-US" sz="2400" dirty="0"/>
          </a:p>
        </p:txBody>
      </p:sp>
      <p:sp>
        <p:nvSpPr>
          <p:cNvPr id="20" name="Text 16"/>
          <p:cNvSpPr/>
          <p:nvPr/>
        </p:nvSpPr>
        <p:spPr>
          <a:xfrm>
            <a:off x="793369" y="3657600"/>
            <a:ext cx="6474333" cy="2301621"/>
          </a:xfrm>
          <a:prstGeom prst="rect">
            <a:avLst/>
          </a:prstGeom>
          <a:noFill/>
          <a:ln/>
        </p:spPr>
        <p:txBody>
          <a:bodyPr wrap="square" lIns="0" tIns="0" rIns="0" bIns="0" rtlCol="0" anchor="t"/>
          <a:lstStyle/>
          <a:p>
            <a:pPr algn="l" marL="381000" indent="-381000">
              <a:lnSpc>
                <a:spcPct val="120000"/>
              </a:lnSpc>
              <a:spcBef>
                <a:spcPts val="10"/>
              </a:spcBef>
              <a:buSzPct val="100000"/>
              <a:buChar char="•"/>
            </a:pPr>
            <a:r>
              <a:rPr lang="en-US" sz="2400" dirty="0">
                <a:solidFill>
                  <a:srgbClr val="000000"/>
                </a:solidFill>
                <a:latin typeface="MiSans" pitchFamily="34" charset="0"/>
                <a:ea typeface="MiSans" pitchFamily="34" charset="-122"/>
                <a:cs typeface="MiSans" pitchFamily="34" charset="-120"/>
              </a:rPr>
              <a:t>研究异构区块链之间通用跨链交易验证机制</a:t>
            </a:r>
            <a:endParaRPr lang="en-US" sz="2400" dirty="0"/>
          </a:p>
          <a:p>
            <a:pPr algn="l" marL="381000" indent="-381000">
              <a:lnSpc>
                <a:spcPct val="120000"/>
              </a:lnSpc>
              <a:spcBef>
                <a:spcPts val="10"/>
              </a:spcBef>
              <a:buSzPct val="100000"/>
              <a:buChar char="•"/>
            </a:pPr>
            <a:r>
              <a:rPr lang="en-US" sz="2400" dirty="0">
                <a:solidFill>
                  <a:srgbClr val="000000"/>
                </a:solidFill>
                <a:latin typeface="MiSans" pitchFamily="34" charset="0"/>
                <a:ea typeface="MiSans" pitchFamily="34" charset="-122"/>
                <a:cs typeface="MiSans" pitchFamily="34" charset="-120"/>
              </a:rPr>
              <a:t>使用基础数字签名技术结合随机化承诺方案弱化目标链上条件支付的脚本语言需求</a:t>
            </a:r>
            <a:endParaRPr lang="en-US" sz="2400" dirty="0"/>
          </a:p>
          <a:p>
            <a:pPr algn="l" marL="381000" indent="-381000">
              <a:lnSpc>
                <a:spcPct val="120000"/>
              </a:lnSpc>
              <a:spcBef>
                <a:spcPts val="10"/>
              </a:spcBef>
              <a:buSzPct val="100000"/>
              <a:buChar char="•"/>
            </a:pPr>
            <a:r>
              <a:rPr lang="en-US" sz="2400" dirty="0">
                <a:solidFill>
                  <a:srgbClr val="000000"/>
                </a:solidFill>
                <a:latin typeface="MiSans" pitchFamily="34" charset="0"/>
                <a:ea typeface="MiSans" pitchFamily="34" charset="-122"/>
                <a:cs typeface="MiSans" pitchFamily="34" charset="-120"/>
              </a:rPr>
              <a:t>实现链下状态更新和条件支付之间的双向绑定机制</a:t>
            </a:r>
            <a:endParaRPr lang="en-US" sz="2400" dirty="0"/>
          </a:p>
        </p:txBody>
      </p:sp>
      <p:pic>
        <p:nvPicPr>
          <p:cNvPr id="21" name="Image 1" descr="https://kimi-img.moonshot.cn/pub/slides/okc/flfuysioo4gzm/mnt/agents/output/yuan_pptd/images/image_12.png">    </p:cNvPr>
          <p:cNvPicPr>
            <a:picLocks noChangeAspect="1"/>
          </p:cNvPicPr>
          <p:nvPr/>
        </p:nvPicPr>
        <p:blipFill>
          <a:blip r:embed="rId2"/>
          <a:stretch>
            <a:fillRect/>
          </a:stretch>
        </p:blipFill>
        <p:spPr>
          <a:xfrm>
            <a:off x="7891018" y="2852928"/>
            <a:ext cx="7630414" cy="3911727"/>
          </a:xfrm>
          <a:prstGeom prst="rect">
            <a:avLst/>
          </a:prstGeom>
        </p:spPr>
      </p:pic>
      <p:sp>
        <p:nvSpPr>
          <p:cNvPr id="22" name="Text 17"/>
          <p:cNvSpPr/>
          <p:nvPr/>
        </p:nvSpPr>
        <p:spPr>
          <a:xfrm>
            <a:off x="15649067" y="8666353"/>
            <a:ext cx="606933" cy="492506"/>
          </a:xfrm>
          <a:prstGeom prst="rect">
            <a:avLst/>
          </a:prstGeom>
          <a:noFill/>
          <a:ln/>
        </p:spPr>
        <p:txBody>
          <a:bodyPr wrap="square" lIns="0" tIns="0" rIns="0" bIns="0" rtlCol="0" anchor="t"/>
          <a:lstStyle/>
          <a:p>
            <a:pPr algn="ctr">
              <a:lnSpc>
                <a:spcPct val="120000"/>
              </a:lnSpc>
            </a:pPr>
            <a:r>
              <a:rPr lang="en-US" sz="2400" dirty="0">
                <a:solidFill>
                  <a:srgbClr val="000000"/>
                </a:solidFill>
                <a:latin typeface="Arial" pitchFamily="34" charset="0"/>
                <a:ea typeface="Arial" pitchFamily="34" charset="-122"/>
                <a:cs typeface="Arial" pitchFamily="34" charset="-120"/>
              </a:rPr>
              <a:t>25</a:t>
            </a:r>
            <a:endParaRPr lang="en-US" sz="2400" dirty="0"/>
          </a:p>
        </p:txBody>
      </p:sp>
    </p:spTree>
  </p:cSld>
  <p:clrMapOvr>
    <a:masterClrMapping/>
  </p:clrMapOvr>
  <p:transition>
    <p:fade/>
    <p:spd val="med"/>
  </p:transition>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11971020" y="0"/>
            <a:ext cx="4284980" cy="961771"/>
          </a:xfrm>
          <a:prstGeom prst="rect">
            <a:avLst/>
          </a:prstGeom>
          <a:solidFill>
            <a:srgbClr val="F2F2F2"/>
          </a:solidFill>
          <a:ln/>
        </p:spPr>
      </p:sp>
      <p:sp>
        <p:nvSpPr>
          <p:cNvPr id="4" name="Shape 1"/>
          <p:cNvSpPr/>
          <p:nvPr/>
        </p:nvSpPr>
        <p:spPr>
          <a:xfrm>
            <a:off x="11970131" y="4191"/>
            <a:ext cx="4284980" cy="962660"/>
          </a:xfrm>
          <a:prstGeom prst="rect">
            <a:avLst/>
          </a:prstGeom>
          <a:solidFill>
            <a:srgbClr val="04579A"/>
          </a:solidFill>
          <a:ln w="12700">
            <a:solidFill>
              <a:srgbClr val="04579A"/>
            </a:solidFill>
            <a:prstDash val="solid"/>
          </a:ln>
        </p:spPr>
      </p:sp>
      <p:sp>
        <p:nvSpPr>
          <p:cNvPr id="5" name="Shape 2"/>
          <p:cNvSpPr/>
          <p:nvPr/>
        </p:nvSpPr>
        <p:spPr>
          <a:xfrm>
            <a:off x="7816469" y="-889"/>
            <a:ext cx="4114800" cy="962660"/>
          </a:xfrm>
          <a:prstGeom prst="rect">
            <a:avLst/>
          </a:prstGeom>
          <a:solidFill>
            <a:srgbClr val="F2F2F2"/>
          </a:solidFill>
          <a:ln w="12700">
            <a:solidFill>
              <a:srgbClr val="F2F2F2"/>
            </a:solidFill>
            <a:prstDash val="solid"/>
          </a:ln>
        </p:spPr>
      </p:sp>
      <p:sp>
        <p:nvSpPr>
          <p:cNvPr id="6" name="Shape 3"/>
          <p:cNvSpPr/>
          <p:nvPr/>
        </p:nvSpPr>
        <p:spPr>
          <a:xfrm>
            <a:off x="5162169" y="-889"/>
            <a:ext cx="2590800" cy="962660"/>
          </a:xfrm>
          <a:prstGeom prst="rect">
            <a:avLst/>
          </a:prstGeom>
          <a:solidFill>
            <a:srgbClr val="F2F2F2"/>
          </a:solidFill>
          <a:ln w="12700">
            <a:solidFill>
              <a:srgbClr val="F2F2F2"/>
            </a:solidFill>
            <a:prstDash val="solid"/>
          </a:ln>
        </p:spPr>
      </p:sp>
      <p:sp>
        <p:nvSpPr>
          <p:cNvPr id="7" name="Shape 4"/>
          <p:cNvSpPr/>
          <p:nvPr/>
        </p:nvSpPr>
        <p:spPr>
          <a:xfrm>
            <a:off x="2219960" y="-889"/>
            <a:ext cx="2895600" cy="962660"/>
          </a:xfrm>
          <a:prstGeom prst="rect">
            <a:avLst/>
          </a:prstGeom>
          <a:solidFill>
            <a:srgbClr val="F2F2F2"/>
          </a:solidFill>
          <a:ln w="12700">
            <a:solidFill>
              <a:srgbClr val="F2F2F2"/>
            </a:solidFill>
            <a:prstDash val="solid"/>
          </a:ln>
        </p:spPr>
      </p:sp>
      <p:sp>
        <p:nvSpPr>
          <p:cNvPr id="8" name="Text 5"/>
          <p:cNvSpPr/>
          <p:nvPr/>
        </p:nvSpPr>
        <p:spPr>
          <a:xfrm>
            <a:off x="2283460" y="203200"/>
            <a:ext cx="27686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选题背景及意义</a:t>
            </a:r>
            <a:endParaRPr lang="en-US" sz="2000" dirty="0"/>
          </a:p>
        </p:txBody>
      </p:sp>
      <p:sp>
        <p:nvSpPr>
          <p:cNvPr id="9" name="Text 6"/>
          <p:cNvSpPr/>
          <p:nvPr/>
        </p:nvSpPr>
        <p:spPr>
          <a:xfrm>
            <a:off x="5225669" y="203200"/>
            <a:ext cx="24638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国内外研究现状</a:t>
            </a:r>
            <a:endParaRPr lang="en-US" sz="2000" dirty="0"/>
          </a:p>
        </p:txBody>
      </p:sp>
      <p:sp>
        <p:nvSpPr>
          <p:cNvPr id="10" name="Text 7"/>
          <p:cNvSpPr/>
          <p:nvPr/>
        </p:nvSpPr>
        <p:spPr>
          <a:xfrm>
            <a:off x="7879969" y="203200"/>
            <a:ext cx="39878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主要研究内容及预期目标</a:t>
            </a:r>
            <a:endParaRPr lang="en-US" sz="2000" dirty="0"/>
          </a:p>
        </p:txBody>
      </p:sp>
      <p:sp>
        <p:nvSpPr>
          <p:cNvPr id="11" name="Text 8"/>
          <p:cNvSpPr/>
          <p:nvPr/>
        </p:nvSpPr>
        <p:spPr>
          <a:xfrm>
            <a:off x="12034520" y="203200"/>
            <a:ext cx="4157980" cy="508000"/>
          </a:xfrm>
          <a:prstGeom prst="rect">
            <a:avLst/>
          </a:prstGeom>
          <a:noFill/>
          <a:ln/>
        </p:spPr>
        <p:txBody>
          <a:bodyPr wrap="none" lIns="0" tIns="0" rIns="0" bIns="0" rtlCol="0" anchor="ctr"/>
          <a:lstStyle/>
          <a:p>
            <a:pPr algn="ctr">
              <a:lnSpc>
                <a:spcPct val="120000"/>
              </a:lnSpc>
            </a:pPr>
            <a:r>
              <a:rPr lang="en-US" sz="2000" dirty="0">
                <a:solidFill>
                  <a:srgbClr val="FFFFFF"/>
                </a:solidFill>
                <a:latin typeface="Arial" pitchFamily="34" charset="0"/>
                <a:ea typeface="Arial" pitchFamily="34" charset="-122"/>
                <a:cs typeface="Arial" pitchFamily="34" charset="-120"/>
              </a:rPr>
              <a:t>工作计划与进度安排</a:t>
            </a:r>
            <a:endParaRPr lang="en-US" sz="2000" dirty="0"/>
          </a:p>
        </p:txBody>
      </p:sp>
      <p:pic>
        <p:nvPicPr>
          <p:cNvPr id="12" name="Image 0" descr="https://kimi-img.moonshot.cn/pub/slides/okc/flfuysioo4gzm/mnt/agents/output/yuan_pptd/images/image_2.jpg">    </p:cNvPr>
          <p:cNvPicPr>
            <a:picLocks noChangeAspect="1"/>
          </p:cNvPicPr>
          <p:nvPr/>
        </p:nvPicPr>
        <p:blipFill>
          <a:blip r:embed="rId1"/>
          <a:srcRect l="5060" r="29000" t="0" b="0"/>
          <a:stretch/>
        </p:blipFill>
        <p:spPr>
          <a:xfrm>
            <a:off x="544449" y="140589"/>
            <a:ext cx="1273429" cy="745871"/>
          </a:xfrm>
          <a:prstGeom prst="rect">
            <a:avLst/>
          </a:prstGeom>
        </p:spPr>
      </p:pic>
      <p:sp>
        <p:nvSpPr>
          <p:cNvPr id="13" name="Shape 9"/>
          <p:cNvSpPr/>
          <p:nvPr/>
        </p:nvSpPr>
        <p:spPr>
          <a:xfrm rot="10800000">
            <a:off x="14222349" y="961009"/>
            <a:ext cx="389509" cy="304800"/>
          </a:xfrm>
          <a:prstGeom prst="triangle">
            <a:avLst>
              <a:gd name="adj" fmla="val 50000"/>
            </a:avLst>
          </a:prstGeom>
          <a:solidFill>
            <a:srgbClr val="04579A"/>
          </a:solidFill>
          <a:ln/>
        </p:spPr>
      </p:sp>
      <p:sp>
        <p:nvSpPr>
          <p:cNvPr id="14" name="Text 10"/>
          <p:cNvSpPr/>
          <p:nvPr/>
        </p:nvSpPr>
        <p:spPr>
          <a:xfrm>
            <a:off x="545211" y="1636649"/>
            <a:ext cx="15306929" cy="2841117"/>
          </a:xfrm>
          <a:prstGeom prst="rect">
            <a:avLst/>
          </a:prstGeom>
          <a:noFill/>
          <a:ln/>
        </p:spPr>
        <p:txBody>
          <a:bodyPr wrap="square" lIns="0" tIns="0" rIns="0" bIns="0" rtlCol="0" anchor="t"/>
          <a:lstStyle/>
          <a:p>
            <a:pPr algn="l">
              <a:lnSpc>
                <a:spcPct val="120000"/>
              </a:lnSpc>
              <a:spcBef>
                <a:spcPts val="800"/>
              </a:spcBef>
            </a:pPr>
            <a:r>
              <a:rPr lang="en-US" sz="3200" b="1" dirty="0">
                <a:solidFill>
                  <a:srgbClr val="000000"/>
                </a:solidFill>
                <a:latin typeface="Arial" pitchFamily="34" charset="0"/>
                <a:ea typeface="Arial" pitchFamily="34" charset="-122"/>
                <a:cs typeface="Arial" pitchFamily="34" charset="-120"/>
              </a:rPr>
              <a:t>已有工作</a:t>
            </a:r>
            <a:pPr algn="l">
              <a:lnSpc>
                <a:spcPct val="120000"/>
              </a:lnSpc>
              <a:spcBef>
                <a:spcPts val="800"/>
              </a:spcBef>
            </a:pPr>
            <a:r>
              <a:rPr lang="en-US" sz="3200" dirty="0">
                <a:solidFill>
                  <a:srgbClr val="000000"/>
                </a:solidFill>
                <a:latin typeface="Arial" pitchFamily="34" charset="0"/>
                <a:ea typeface="Arial" pitchFamily="34" charset="-122"/>
                <a:cs typeface="Arial" pitchFamily="34" charset="-120"/>
              </a:rPr>
              <a:t> </a:t>
            </a:r>
            <a:endParaRPr lang="en-US" sz="3200" dirty="0"/>
          </a:p>
          <a:p>
            <a:pPr algn="l" marL="508000" indent="-508000">
              <a:lnSpc>
                <a:spcPct val="120000"/>
              </a:lnSpc>
              <a:spcBef>
                <a:spcPts val="10"/>
              </a:spcBef>
              <a:buSzPct val="100000"/>
              <a:buFont typeface="+mj-lt"/>
              <a:buAutoNum type="arabicPeriod" startAt="1"/>
            </a:pPr>
            <a:r>
              <a:rPr lang="en-US" sz="2130" dirty="0">
                <a:solidFill>
                  <a:srgbClr val="262626"/>
                </a:solidFill>
                <a:latin typeface="Arial" pitchFamily="34" charset="0"/>
                <a:ea typeface="Arial" pitchFamily="34" charset="-122"/>
                <a:cs typeface="Arial" pitchFamily="34" charset="-120"/>
              </a:rPr>
              <a:t>Tian A, Ni P, Gao Y, et al. Horcrux: Synthesize, Split, Shift and Stay Alive Preventing Channel Depletion via Universal and Enhanced Multi-hop Payments[J]. Cryptology </a:t>
            </a:r>
            <a:pPr algn="l">
              <a:lnSpc>
                <a:spcPct val="120000"/>
              </a:lnSpc>
              <a:spcBef>
                <a:spcPts val="10"/>
              </a:spcBef>
            </a:pPr>
            <a:r>
              <a:rPr lang="en-US" sz="2130" dirty="0">
                <a:solidFill>
                  <a:srgbClr val="262626"/>
                </a:solidFill>
                <a:latin typeface="Arial" pitchFamily="34" charset="0"/>
                <a:ea typeface="Arial" pitchFamily="34" charset="-122"/>
                <a:cs typeface="Arial" pitchFamily="34" charset="-120"/>
              </a:rPr>
              <a:t>ePrint</a:t>
            </a:r>
            <a:pPr algn="l">
              <a:lnSpc>
                <a:spcPct val="120000"/>
              </a:lnSpc>
              <a:spcBef>
                <a:spcPts val="10"/>
              </a:spcBef>
            </a:pPr>
            <a:r>
              <a:rPr lang="en-US" sz="2130" dirty="0">
                <a:solidFill>
                  <a:srgbClr val="262626"/>
                </a:solidFill>
                <a:latin typeface="Arial" pitchFamily="34" charset="0"/>
                <a:ea typeface="Arial" pitchFamily="34" charset="-122"/>
                <a:cs typeface="Arial" pitchFamily="34" charset="-120"/>
              </a:rPr>
              <a:t> Archive, 2024.</a:t>
            </a:r>
            <a:endParaRPr lang="en-US" sz="3200" dirty="0"/>
          </a:p>
          <a:p>
            <a:pPr algn="l">
              <a:lnSpc>
                <a:spcPct val="120000"/>
              </a:lnSpc>
              <a:spcBef>
                <a:spcPts val="800"/>
              </a:spcBef>
            </a:pPr>
            <a:r>
              <a:rPr lang="en-US" sz="3200" dirty="0">
                <a:solidFill>
                  <a:srgbClr val="04579A"/>
                </a:solidFill>
                <a:latin typeface="Arial" pitchFamily="34" charset="0"/>
                <a:ea typeface="Arial" pitchFamily="34" charset="-122"/>
                <a:cs typeface="Arial" pitchFamily="34" charset="-120"/>
              </a:rPr>
              <a:t>     </a:t>
            </a:r>
            <a:pPr algn="l">
              <a:lnSpc>
                <a:spcPct val="120000"/>
              </a:lnSpc>
              <a:spcBef>
                <a:spcPts val="800"/>
              </a:spcBef>
            </a:pPr>
            <a:r>
              <a:rPr lang="en-US" sz="3200" dirty="0">
                <a:solidFill>
                  <a:srgbClr val="04579A"/>
                </a:solidFill>
                <a:latin typeface="Arial" pitchFamily="34" charset="0"/>
                <a:ea typeface="Arial" pitchFamily="34" charset="-122"/>
                <a:cs typeface="Arial" pitchFamily="34" charset="-120"/>
              </a:rPr>
              <a:t>该工作设计了无额外信任假设的抗信道干涸的多方虚拟信道协议</a:t>
            </a:r>
            <a:endParaRPr lang="en-US" sz="3200" dirty="0"/>
          </a:p>
          <a:p>
            <a:pPr algn="l" marL="508000" indent="-508000">
              <a:lnSpc>
                <a:spcPct val="120000"/>
              </a:lnSpc>
              <a:spcBef>
                <a:spcPts val="10"/>
              </a:spcBef>
              <a:buSzPct val="100000"/>
              <a:buFont typeface="+mj-lt"/>
              <a:buAutoNum type="arabicPeriod" startAt="1"/>
            </a:pPr>
            <a:r>
              <a:rPr lang="en-US" sz="3200" dirty="0">
                <a:solidFill>
                  <a:srgbClr val="000000"/>
                </a:solidFill>
                <a:latin typeface="Arial" pitchFamily="34" charset="0"/>
                <a:ea typeface="Arial" pitchFamily="34" charset="-122"/>
                <a:cs typeface="Arial" pitchFamily="34" charset="-120"/>
              </a:rPr>
              <a:t> </a:t>
            </a:r>
            <a:endParaRPr lang="en-US" sz="3200" dirty="0"/>
          </a:p>
        </p:txBody>
      </p:sp>
      <p:pic>
        <p:nvPicPr>
          <p:cNvPr id="15" name="Image 1" descr="https://kimi-img.moonshot.cn/pub/slides/okc/flfuysioo4gzm/mnt/agents/output/yuan_pptd/images/image_35.png">    </p:cNvPr>
          <p:cNvPicPr>
            <a:picLocks noChangeAspect="1"/>
          </p:cNvPicPr>
          <p:nvPr/>
        </p:nvPicPr>
        <p:blipFill>
          <a:blip r:embed="rId2"/>
          <a:stretch>
            <a:fillRect/>
          </a:stretch>
        </p:blipFill>
        <p:spPr>
          <a:xfrm>
            <a:off x="1393317" y="4356354"/>
            <a:ext cx="13144119" cy="3667760"/>
          </a:xfrm>
          <a:prstGeom prst="rect">
            <a:avLst/>
          </a:prstGeom>
        </p:spPr>
      </p:pic>
      <p:sp>
        <p:nvSpPr>
          <p:cNvPr id="16" name="Shape 11"/>
          <p:cNvSpPr/>
          <p:nvPr/>
        </p:nvSpPr>
        <p:spPr>
          <a:xfrm>
            <a:off x="6617970" y="8024114"/>
            <a:ext cx="3161411" cy="408940"/>
          </a:xfrm>
          <a:prstGeom prst="rect">
            <a:avLst/>
          </a:prstGeom>
          <a:solidFill>
            <a:srgbClr val="04579A"/>
          </a:solidFill>
          <a:ln/>
          <a:effectLst>
            <a:outerShdw sx="100000" sy="100000" kx="0" ky="0" algn="bl" rotWithShape="0" blurRad="50800" dist="26924" dir="2700000">
              <a:srgbClr val="000000">
                <a:alpha val="40000"/>
              </a:srgbClr>
            </a:outerShdw>
          </a:effectLst>
        </p:spPr>
      </p:sp>
      <p:sp>
        <p:nvSpPr>
          <p:cNvPr id="17" name="Text 12"/>
          <p:cNvSpPr/>
          <p:nvPr/>
        </p:nvSpPr>
        <p:spPr>
          <a:xfrm>
            <a:off x="6617970" y="8024114"/>
            <a:ext cx="3161411" cy="408940"/>
          </a:xfrm>
          <a:prstGeom prst="rect">
            <a:avLst/>
          </a:prstGeom>
          <a:noFill/>
          <a:ln/>
        </p:spPr>
        <p:txBody>
          <a:bodyPr wrap="square" lIns="0" tIns="0" rIns="0" bIns="0" rtlCol="0" anchor="t"/>
          <a:lstStyle/>
          <a:p>
            <a:pPr algn="ctr">
              <a:lnSpc>
                <a:spcPct val="120000"/>
              </a:lnSpc>
            </a:pPr>
            <a:r>
              <a:rPr lang="en-US" sz="1870" dirty="0">
                <a:solidFill>
                  <a:srgbClr val="FFFFFF"/>
                </a:solidFill>
                <a:latin typeface="Arial" pitchFamily="34" charset="0"/>
                <a:ea typeface="Arial" pitchFamily="34" charset="-122"/>
                <a:cs typeface="Arial" pitchFamily="34" charset="-120"/>
              </a:rPr>
              <a:t>实测结果</a:t>
            </a:r>
            <a:endParaRPr lang="en-US" sz="1870" dirty="0"/>
          </a:p>
        </p:txBody>
      </p:sp>
      <p:sp>
        <p:nvSpPr>
          <p:cNvPr id="18" name="Text 13"/>
          <p:cNvSpPr/>
          <p:nvPr/>
        </p:nvSpPr>
        <p:spPr>
          <a:xfrm>
            <a:off x="15649067" y="8666353"/>
            <a:ext cx="606933" cy="492506"/>
          </a:xfrm>
          <a:prstGeom prst="rect">
            <a:avLst/>
          </a:prstGeom>
          <a:noFill/>
          <a:ln/>
        </p:spPr>
        <p:txBody>
          <a:bodyPr wrap="square" lIns="0" tIns="0" rIns="0" bIns="0" rtlCol="0" anchor="t"/>
          <a:lstStyle/>
          <a:p>
            <a:pPr algn="ctr">
              <a:lnSpc>
                <a:spcPct val="120000"/>
              </a:lnSpc>
            </a:pPr>
            <a:r>
              <a:rPr lang="en-US" sz="2400" dirty="0">
                <a:solidFill>
                  <a:srgbClr val="000000"/>
                </a:solidFill>
                <a:latin typeface="Arial" pitchFamily="34" charset="0"/>
                <a:ea typeface="Arial" pitchFamily="34" charset="-122"/>
                <a:cs typeface="Arial" pitchFamily="34" charset="-120"/>
              </a:rPr>
              <a:t>26</a:t>
            </a:r>
            <a:endParaRPr lang="en-US" sz="2400" dirty="0"/>
          </a:p>
        </p:txBody>
      </p:sp>
    </p:spTree>
  </p:cSld>
  <p:clrMapOvr>
    <a:masterClrMapping/>
  </p:clrMapOvr>
  <p:transition>
    <p:fade/>
    <p:spd val="med"/>
  </p:transition>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11971020" y="0"/>
            <a:ext cx="4284980" cy="961771"/>
          </a:xfrm>
          <a:prstGeom prst="rect">
            <a:avLst/>
          </a:prstGeom>
          <a:solidFill>
            <a:srgbClr val="F2F2F2"/>
          </a:solidFill>
          <a:ln/>
        </p:spPr>
      </p:sp>
      <p:sp>
        <p:nvSpPr>
          <p:cNvPr id="4" name="Shape 1"/>
          <p:cNvSpPr/>
          <p:nvPr/>
        </p:nvSpPr>
        <p:spPr>
          <a:xfrm>
            <a:off x="11970131" y="4191"/>
            <a:ext cx="4284980" cy="962660"/>
          </a:xfrm>
          <a:prstGeom prst="rect">
            <a:avLst/>
          </a:prstGeom>
          <a:solidFill>
            <a:srgbClr val="04579A"/>
          </a:solidFill>
          <a:ln w="12700">
            <a:solidFill>
              <a:srgbClr val="04579A"/>
            </a:solidFill>
            <a:prstDash val="solid"/>
          </a:ln>
        </p:spPr>
      </p:sp>
      <p:sp>
        <p:nvSpPr>
          <p:cNvPr id="5" name="Shape 2"/>
          <p:cNvSpPr/>
          <p:nvPr/>
        </p:nvSpPr>
        <p:spPr>
          <a:xfrm>
            <a:off x="7816469" y="-889"/>
            <a:ext cx="4114800" cy="962660"/>
          </a:xfrm>
          <a:prstGeom prst="rect">
            <a:avLst/>
          </a:prstGeom>
          <a:solidFill>
            <a:srgbClr val="F2F2F2"/>
          </a:solidFill>
          <a:ln w="12700">
            <a:solidFill>
              <a:srgbClr val="F2F2F2"/>
            </a:solidFill>
            <a:prstDash val="solid"/>
          </a:ln>
        </p:spPr>
      </p:sp>
      <p:sp>
        <p:nvSpPr>
          <p:cNvPr id="6" name="Shape 3"/>
          <p:cNvSpPr/>
          <p:nvPr/>
        </p:nvSpPr>
        <p:spPr>
          <a:xfrm>
            <a:off x="5162169" y="-889"/>
            <a:ext cx="2590800" cy="962660"/>
          </a:xfrm>
          <a:prstGeom prst="rect">
            <a:avLst/>
          </a:prstGeom>
          <a:solidFill>
            <a:srgbClr val="F2F2F2"/>
          </a:solidFill>
          <a:ln w="12700">
            <a:solidFill>
              <a:srgbClr val="F2F2F2"/>
            </a:solidFill>
            <a:prstDash val="solid"/>
          </a:ln>
        </p:spPr>
      </p:sp>
      <p:sp>
        <p:nvSpPr>
          <p:cNvPr id="7" name="Shape 4"/>
          <p:cNvSpPr/>
          <p:nvPr/>
        </p:nvSpPr>
        <p:spPr>
          <a:xfrm>
            <a:off x="2219960" y="-889"/>
            <a:ext cx="2895600" cy="962660"/>
          </a:xfrm>
          <a:prstGeom prst="rect">
            <a:avLst/>
          </a:prstGeom>
          <a:solidFill>
            <a:srgbClr val="F2F2F2"/>
          </a:solidFill>
          <a:ln w="12700">
            <a:solidFill>
              <a:srgbClr val="F2F2F2"/>
            </a:solidFill>
            <a:prstDash val="solid"/>
          </a:ln>
        </p:spPr>
      </p:sp>
      <p:sp>
        <p:nvSpPr>
          <p:cNvPr id="8" name="Text 5"/>
          <p:cNvSpPr/>
          <p:nvPr/>
        </p:nvSpPr>
        <p:spPr>
          <a:xfrm>
            <a:off x="2283460" y="203200"/>
            <a:ext cx="27686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选题背景及意义</a:t>
            </a:r>
            <a:endParaRPr lang="en-US" sz="2000" dirty="0"/>
          </a:p>
        </p:txBody>
      </p:sp>
      <p:sp>
        <p:nvSpPr>
          <p:cNvPr id="9" name="Text 6"/>
          <p:cNvSpPr/>
          <p:nvPr/>
        </p:nvSpPr>
        <p:spPr>
          <a:xfrm>
            <a:off x="5225669" y="203200"/>
            <a:ext cx="24638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国内外研究现状</a:t>
            </a:r>
            <a:endParaRPr lang="en-US" sz="2000" dirty="0"/>
          </a:p>
        </p:txBody>
      </p:sp>
      <p:sp>
        <p:nvSpPr>
          <p:cNvPr id="10" name="Text 7"/>
          <p:cNvSpPr/>
          <p:nvPr/>
        </p:nvSpPr>
        <p:spPr>
          <a:xfrm>
            <a:off x="7879969" y="203200"/>
            <a:ext cx="39878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主要研究内容及预期目标</a:t>
            </a:r>
            <a:endParaRPr lang="en-US" sz="2000" dirty="0"/>
          </a:p>
        </p:txBody>
      </p:sp>
      <p:sp>
        <p:nvSpPr>
          <p:cNvPr id="11" name="Text 8"/>
          <p:cNvSpPr/>
          <p:nvPr/>
        </p:nvSpPr>
        <p:spPr>
          <a:xfrm>
            <a:off x="12034520" y="203200"/>
            <a:ext cx="4157980" cy="508000"/>
          </a:xfrm>
          <a:prstGeom prst="rect">
            <a:avLst/>
          </a:prstGeom>
          <a:noFill/>
          <a:ln/>
        </p:spPr>
        <p:txBody>
          <a:bodyPr wrap="none" lIns="0" tIns="0" rIns="0" bIns="0" rtlCol="0" anchor="ctr"/>
          <a:lstStyle/>
          <a:p>
            <a:pPr algn="ctr">
              <a:lnSpc>
                <a:spcPct val="120000"/>
              </a:lnSpc>
            </a:pPr>
            <a:r>
              <a:rPr lang="en-US" sz="2000" dirty="0">
                <a:solidFill>
                  <a:srgbClr val="FFFFFF"/>
                </a:solidFill>
                <a:latin typeface="Arial" pitchFamily="34" charset="0"/>
                <a:ea typeface="Arial" pitchFamily="34" charset="-122"/>
                <a:cs typeface="Arial" pitchFamily="34" charset="-120"/>
              </a:rPr>
              <a:t>工作计划与进度安排</a:t>
            </a:r>
            <a:endParaRPr lang="en-US" sz="2000" dirty="0"/>
          </a:p>
        </p:txBody>
      </p:sp>
      <p:pic>
        <p:nvPicPr>
          <p:cNvPr id="12" name="Image 0" descr="https://kimi-img.moonshot.cn/pub/slides/okc/flfuysioo4gzm/mnt/agents/output/yuan_pptd/images/image_2.jpg">    </p:cNvPr>
          <p:cNvPicPr>
            <a:picLocks noChangeAspect="1"/>
          </p:cNvPicPr>
          <p:nvPr/>
        </p:nvPicPr>
        <p:blipFill>
          <a:blip r:embed="rId1"/>
          <a:srcRect l="5060" r="29000" t="0" b="0"/>
          <a:stretch/>
        </p:blipFill>
        <p:spPr>
          <a:xfrm>
            <a:off x="544449" y="140589"/>
            <a:ext cx="1273429" cy="745871"/>
          </a:xfrm>
          <a:prstGeom prst="rect">
            <a:avLst/>
          </a:prstGeom>
        </p:spPr>
      </p:pic>
      <p:sp>
        <p:nvSpPr>
          <p:cNvPr id="13" name="Shape 9"/>
          <p:cNvSpPr/>
          <p:nvPr/>
        </p:nvSpPr>
        <p:spPr>
          <a:xfrm rot="10800000">
            <a:off x="14222349" y="961009"/>
            <a:ext cx="389509" cy="304800"/>
          </a:xfrm>
          <a:prstGeom prst="triangle">
            <a:avLst>
              <a:gd name="adj" fmla="val 50000"/>
            </a:avLst>
          </a:prstGeom>
          <a:solidFill>
            <a:srgbClr val="04579A"/>
          </a:solidFill>
          <a:ln/>
        </p:spPr>
      </p:sp>
      <p:sp>
        <p:nvSpPr>
          <p:cNvPr id="14" name="Text 10"/>
          <p:cNvSpPr/>
          <p:nvPr/>
        </p:nvSpPr>
        <p:spPr>
          <a:xfrm>
            <a:off x="545211" y="1636649"/>
            <a:ext cx="15306929" cy="2782189"/>
          </a:xfrm>
          <a:prstGeom prst="rect">
            <a:avLst/>
          </a:prstGeom>
          <a:noFill/>
          <a:ln/>
        </p:spPr>
        <p:txBody>
          <a:bodyPr wrap="square" lIns="0" tIns="0" rIns="0" bIns="0" rtlCol="0" anchor="t"/>
          <a:lstStyle/>
          <a:p>
            <a:pPr algn="l">
              <a:lnSpc>
                <a:spcPct val="120000"/>
              </a:lnSpc>
              <a:spcBef>
                <a:spcPts val="800"/>
              </a:spcBef>
            </a:pPr>
            <a:r>
              <a:rPr lang="en-US" sz="3200" b="1" dirty="0">
                <a:solidFill>
                  <a:srgbClr val="000000"/>
                </a:solidFill>
                <a:latin typeface="Arial" pitchFamily="34" charset="0"/>
                <a:ea typeface="Arial" pitchFamily="34" charset="-122"/>
                <a:cs typeface="Arial" pitchFamily="34" charset="-120"/>
              </a:rPr>
              <a:t>已有工作</a:t>
            </a:r>
            <a:pPr algn="l">
              <a:lnSpc>
                <a:spcPct val="120000"/>
              </a:lnSpc>
              <a:spcBef>
                <a:spcPts val="800"/>
              </a:spcBef>
            </a:pPr>
            <a:r>
              <a:rPr lang="en-US" sz="3200" dirty="0">
                <a:solidFill>
                  <a:srgbClr val="000000"/>
                </a:solidFill>
                <a:latin typeface="Arial" pitchFamily="34" charset="0"/>
                <a:ea typeface="Arial" pitchFamily="34" charset="-122"/>
                <a:cs typeface="Arial" pitchFamily="34" charset="-120"/>
              </a:rPr>
              <a:t> </a:t>
            </a:r>
            <a:endParaRPr lang="en-US" sz="3200" dirty="0"/>
          </a:p>
          <a:p>
            <a:pPr algn="l" marL="508000" indent="-508000">
              <a:lnSpc>
                <a:spcPct val="120000"/>
              </a:lnSpc>
              <a:spcBef>
                <a:spcPts val="10"/>
              </a:spcBef>
              <a:buSzPct val="100000"/>
              <a:buFont typeface="+mj-lt"/>
              <a:buAutoNum type="arabicPeriod" startAt="1"/>
            </a:pPr>
            <a:r>
              <a:rPr lang="en-US" sz="2130" dirty="0">
                <a:solidFill>
                  <a:srgbClr val="262626"/>
                </a:solidFill>
                <a:latin typeface="Arial" pitchFamily="34" charset="0"/>
                <a:ea typeface="Arial" pitchFamily="34" charset="-122"/>
                <a:cs typeface="Arial" pitchFamily="34" charset="-120"/>
              </a:rPr>
              <a:t>Ni P, Tian A, Xu J. Warning! The Timeout T Cannot Protect You From Losing Coins: PipeSwap: Forcing the Timely Release of a Secret for Atomic Cross-Chain Swaps[C]//2025 IEEE Symposium on Security and Privacy (SP). IEEE, 2025: 1566-1583</a:t>
            </a:r>
            <a:pPr algn="l">
              <a:lnSpc>
                <a:spcPct val="120000"/>
              </a:lnSpc>
              <a:spcBef>
                <a:spcPts val="10"/>
              </a:spcBef>
            </a:pPr>
            <a:r>
              <a:rPr lang="en-US" sz="2130" dirty="0">
                <a:solidFill>
                  <a:srgbClr val="262626"/>
                </a:solidFill>
                <a:latin typeface="Arial" pitchFamily="34" charset="0"/>
                <a:ea typeface="Arial" pitchFamily="34" charset="-122"/>
                <a:cs typeface="Arial" pitchFamily="34" charset="-120"/>
              </a:rPr>
              <a:t>.</a:t>
            </a:r>
            <a:endParaRPr lang="en-US" sz="3200" dirty="0"/>
          </a:p>
          <a:p>
            <a:pPr algn="l">
              <a:lnSpc>
                <a:spcPct val="120000"/>
              </a:lnSpc>
              <a:spcBef>
                <a:spcPts val="800"/>
              </a:spcBef>
            </a:pPr>
            <a:r>
              <a:rPr lang="en-US" sz="3200" dirty="0">
                <a:solidFill>
                  <a:srgbClr val="04579A"/>
                </a:solidFill>
                <a:latin typeface="Arial" pitchFamily="34" charset="0"/>
                <a:ea typeface="Arial" pitchFamily="34" charset="-122"/>
                <a:cs typeface="Arial" pitchFamily="34" charset="-120"/>
              </a:rPr>
              <a:t>该工作设计了抗</a:t>
            </a:r>
            <a:pPr algn="l">
              <a:lnSpc>
                <a:spcPct val="120000"/>
              </a:lnSpc>
              <a:spcBef>
                <a:spcPts val="800"/>
              </a:spcBef>
            </a:pPr>
            <a:r>
              <a:rPr lang="en-US" sz="3200" dirty="0">
                <a:solidFill>
                  <a:srgbClr val="04579A"/>
                </a:solidFill>
                <a:latin typeface="Arial" pitchFamily="34" charset="0"/>
                <a:ea typeface="Arial" pitchFamily="34" charset="-122"/>
                <a:cs typeface="Arial" pitchFamily="34" charset="-120"/>
              </a:rPr>
              <a:t>double-claiming</a:t>
            </a:r>
            <a:pPr algn="l">
              <a:lnSpc>
                <a:spcPct val="120000"/>
              </a:lnSpc>
              <a:spcBef>
                <a:spcPts val="800"/>
              </a:spcBef>
            </a:pPr>
            <a:r>
              <a:rPr lang="en-US" sz="3200" dirty="0">
                <a:solidFill>
                  <a:srgbClr val="04579A"/>
                </a:solidFill>
                <a:latin typeface="Arial" pitchFamily="34" charset="0"/>
                <a:ea typeface="Arial" pitchFamily="34" charset="-122"/>
                <a:cs typeface="Arial" pitchFamily="34" charset="-120"/>
              </a:rPr>
              <a:t>攻击的通用跨链原子交换协议。</a:t>
            </a:r>
            <a:endParaRPr lang="en-US" sz="3200" dirty="0"/>
          </a:p>
        </p:txBody>
      </p:sp>
      <p:pic>
        <p:nvPicPr>
          <p:cNvPr id="15" name="Image 1" descr="https://kimi-img.moonshot.cn/pub/slides/okc/flfuysioo4gzm/mnt/agents/output/yuan_pptd/images/image_36.png">    </p:cNvPr>
          <p:cNvPicPr>
            <a:picLocks noChangeAspect="1"/>
          </p:cNvPicPr>
          <p:nvPr/>
        </p:nvPicPr>
        <p:blipFill>
          <a:blip r:embed="rId2"/>
          <a:stretch>
            <a:fillRect/>
          </a:stretch>
        </p:blipFill>
        <p:spPr>
          <a:xfrm>
            <a:off x="4426585" y="5168900"/>
            <a:ext cx="7402957" cy="2115185"/>
          </a:xfrm>
          <a:prstGeom prst="rect">
            <a:avLst/>
          </a:prstGeom>
        </p:spPr>
      </p:pic>
      <p:sp>
        <p:nvSpPr>
          <p:cNvPr id="16" name="Text 11"/>
          <p:cNvSpPr/>
          <p:nvPr/>
        </p:nvSpPr>
        <p:spPr>
          <a:xfrm>
            <a:off x="4009517" y="7507351"/>
            <a:ext cx="8237093" cy="492506"/>
          </a:xfrm>
          <a:prstGeom prst="rect">
            <a:avLst/>
          </a:prstGeom>
          <a:noFill/>
          <a:ln/>
        </p:spPr>
        <p:txBody>
          <a:bodyPr wrap="square" lIns="0" tIns="0" rIns="0" bIns="0" rtlCol="0" anchor="t"/>
          <a:lstStyle/>
          <a:p>
            <a:pPr algn="ctr">
              <a:lnSpc>
                <a:spcPct val="120000"/>
              </a:lnSpc>
            </a:pPr>
            <a:r>
              <a:rPr lang="en-US" sz="2400" dirty="0">
                <a:solidFill>
                  <a:srgbClr val="000000"/>
                </a:solidFill>
                <a:latin typeface="Arial" pitchFamily="34" charset="0"/>
                <a:ea typeface="Arial" pitchFamily="34" charset="-122"/>
                <a:cs typeface="Arial" pitchFamily="34" charset="-120"/>
              </a:rPr>
              <a:t>两阶段交易架构+可验证时间离散对数方案+两方适配器签名</a:t>
            </a:r>
            <a:endParaRPr lang="en-US" sz="2400" dirty="0"/>
          </a:p>
        </p:txBody>
      </p:sp>
      <p:sp>
        <p:nvSpPr>
          <p:cNvPr id="17" name="Text 12"/>
          <p:cNvSpPr/>
          <p:nvPr/>
        </p:nvSpPr>
        <p:spPr>
          <a:xfrm>
            <a:off x="15649067" y="8666353"/>
            <a:ext cx="606933" cy="492506"/>
          </a:xfrm>
          <a:prstGeom prst="rect">
            <a:avLst/>
          </a:prstGeom>
          <a:noFill/>
          <a:ln/>
        </p:spPr>
        <p:txBody>
          <a:bodyPr wrap="square" lIns="0" tIns="0" rIns="0" bIns="0" rtlCol="0" anchor="t"/>
          <a:lstStyle/>
          <a:p>
            <a:pPr algn="ctr">
              <a:lnSpc>
                <a:spcPct val="120000"/>
              </a:lnSpc>
            </a:pPr>
            <a:r>
              <a:rPr lang="en-US" sz="2400" dirty="0">
                <a:solidFill>
                  <a:srgbClr val="000000"/>
                </a:solidFill>
                <a:latin typeface="Arial" pitchFamily="34" charset="0"/>
                <a:ea typeface="Arial" pitchFamily="34" charset="-122"/>
                <a:cs typeface="Arial" pitchFamily="34" charset="-120"/>
              </a:rPr>
              <a:t>27</a:t>
            </a:r>
            <a:endParaRPr lang="en-US" sz="2400" dirty="0"/>
          </a:p>
        </p:txBody>
      </p:sp>
    </p:spTree>
  </p:cSld>
  <p:clrMapOvr>
    <a:masterClrMapping/>
  </p:clrMapOvr>
  <p:transition>
    <p:fade/>
    <p:spd val="med"/>
  </p:transition>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11971020" y="0"/>
            <a:ext cx="4284980" cy="961771"/>
          </a:xfrm>
          <a:prstGeom prst="rect">
            <a:avLst/>
          </a:prstGeom>
          <a:solidFill>
            <a:srgbClr val="F2F2F2"/>
          </a:solidFill>
          <a:ln/>
        </p:spPr>
      </p:sp>
      <p:sp>
        <p:nvSpPr>
          <p:cNvPr id="4" name="Shape 1"/>
          <p:cNvSpPr/>
          <p:nvPr/>
        </p:nvSpPr>
        <p:spPr>
          <a:xfrm>
            <a:off x="11970131" y="4191"/>
            <a:ext cx="4284980" cy="962660"/>
          </a:xfrm>
          <a:prstGeom prst="rect">
            <a:avLst/>
          </a:prstGeom>
          <a:solidFill>
            <a:srgbClr val="04579A"/>
          </a:solidFill>
          <a:ln w="12700">
            <a:solidFill>
              <a:srgbClr val="04579A"/>
            </a:solidFill>
            <a:prstDash val="solid"/>
          </a:ln>
        </p:spPr>
      </p:sp>
      <p:sp>
        <p:nvSpPr>
          <p:cNvPr id="5" name="Shape 2"/>
          <p:cNvSpPr/>
          <p:nvPr/>
        </p:nvSpPr>
        <p:spPr>
          <a:xfrm>
            <a:off x="7816469" y="-889"/>
            <a:ext cx="4114800" cy="962660"/>
          </a:xfrm>
          <a:prstGeom prst="rect">
            <a:avLst/>
          </a:prstGeom>
          <a:solidFill>
            <a:srgbClr val="F2F2F2"/>
          </a:solidFill>
          <a:ln w="12700">
            <a:solidFill>
              <a:srgbClr val="F2F2F2"/>
            </a:solidFill>
            <a:prstDash val="solid"/>
          </a:ln>
        </p:spPr>
      </p:sp>
      <p:sp>
        <p:nvSpPr>
          <p:cNvPr id="6" name="Shape 3"/>
          <p:cNvSpPr/>
          <p:nvPr/>
        </p:nvSpPr>
        <p:spPr>
          <a:xfrm>
            <a:off x="5162169" y="-889"/>
            <a:ext cx="2590800" cy="962660"/>
          </a:xfrm>
          <a:prstGeom prst="rect">
            <a:avLst/>
          </a:prstGeom>
          <a:solidFill>
            <a:srgbClr val="F2F2F2"/>
          </a:solidFill>
          <a:ln w="12700">
            <a:solidFill>
              <a:srgbClr val="F2F2F2"/>
            </a:solidFill>
            <a:prstDash val="solid"/>
          </a:ln>
        </p:spPr>
      </p:sp>
      <p:sp>
        <p:nvSpPr>
          <p:cNvPr id="7" name="Shape 4"/>
          <p:cNvSpPr/>
          <p:nvPr/>
        </p:nvSpPr>
        <p:spPr>
          <a:xfrm>
            <a:off x="2219960" y="-889"/>
            <a:ext cx="2895600" cy="962660"/>
          </a:xfrm>
          <a:prstGeom prst="rect">
            <a:avLst/>
          </a:prstGeom>
          <a:solidFill>
            <a:srgbClr val="F2F2F2"/>
          </a:solidFill>
          <a:ln w="12700">
            <a:solidFill>
              <a:srgbClr val="F2F2F2"/>
            </a:solidFill>
            <a:prstDash val="solid"/>
          </a:ln>
        </p:spPr>
      </p:sp>
      <p:sp>
        <p:nvSpPr>
          <p:cNvPr id="8" name="Text 5"/>
          <p:cNvSpPr/>
          <p:nvPr/>
        </p:nvSpPr>
        <p:spPr>
          <a:xfrm>
            <a:off x="2283460" y="203200"/>
            <a:ext cx="27686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选题背景及意义</a:t>
            </a:r>
            <a:endParaRPr lang="en-US" sz="2000" dirty="0"/>
          </a:p>
        </p:txBody>
      </p:sp>
      <p:sp>
        <p:nvSpPr>
          <p:cNvPr id="9" name="Text 6"/>
          <p:cNvSpPr/>
          <p:nvPr/>
        </p:nvSpPr>
        <p:spPr>
          <a:xfrm>
            <a:off x="5225669" y="203200"/>
            <a:ext cx="24638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国内外研究现状</a:t>
            </a:r>
            <a:endParaRPr lang="en-US" sz="2000" dirty="0"/>
          </a:p>
        </p:txBody>
      </p:sp>
      <p:sp>
        <p:nvSpPr>
          <p:cNvPr id="10" name="Text 7"/>
          <p:cNvSpPr/>
          <p:nvPr/>
        </p:nvSpPr>
        <p:spPr>
          <a:xfrm>
            <a:off x="7879969" y="203200"/>
            <a:ext cx="3987800" cy="508000"/>
          </a:xfrm>
          <a:prstGeom prst="rect">
            <a:avLst/>
          </a:prstGeom>
          <a:noFill/>
          <a:ln/>
        </p:spPr>
        <p:txBody>
          <a:bodyPr wrap="none" lIns="0" tIns="0" rIns="0" bIns="0" rtlCol="0" anchor="ctr"/>
          <a:lstStyle/>
          <a:p>
            <a:pPr algn="ctr">
              <a:lnSpc>
                <a:spcPct val="120000"/>
              </a:lnSpc>
            </a:pPr>
            <a:r>
              <a:rPr lang="en-US" sz="2000" dirty="0">
                <a:solidFill>
                  <a:srgbClr val="333333"/>
                </a:solidFill>
                <a:latin typeface="Arial" pitchFamily="34" charset="0"/>
                <a:ea typeface="Arial" pitchFamily="34" charset="-122"/>
                <a:cs typeface="Arial" pitchFamily="34" charset="-120"/>
              </a:rPr>
              <a:t>主要研究内容及预期目标</a:t>
            </a:r>
            <a:endParaRPr lang="en-US" sz="2000" dirty="0"/>
          </a:p>
        </p:txBody>
      </p:sp>
      <p:sp>
        <p:nvSpPr>
          <p:cNvPr id="11" name="Text 8"/>
          <p:cNvSpPr/>
          <p:nvPr/>
        </p:nvSpPr>
        <p:spPr>
          <a:xfrm>
            <a:off x="12034520" y="203200"/>
            <a:ext cx="4157980" cy="508000"/>
          </a:xfrm>
          <a:prstGeom prst="rect">
            <a:avLst/>
          </a:prstGeom>
          <a:noFill/>
          <a:ln/>
        </p:spPr>
        <p:txBody>
          <a:bodyPr wrap="none" lIns="0" tIns="0" rIns="0" bIns="0" rtlCol="0" anchor="ctr"/>
          <a:lstStyle/>
          <a:p>
            <a:pPr algn="ctr">
              <a:lnSpc>
                <a:spcPct val="120000"/>
              </a:lnSpc>
            </a:pPr>
            <a:r>
              <a:rPr lang="en-US" sz="2000" dirty="0">
                <a:solidFill>
                  <a:srgbClr val="FFFFFF"/>
                </a:solidFill>
                <a:latin typeface="Arial" pitchFamily="34" charset="0"/>
                <a:ea typeface="Arial" pitchFamily="34" charset="-122"/>
                <a:cs typeface="Arial" pitchFamily="34" charset="-120"/>
              </a:rPr>
              <a:t>工作计划与进度安排</a:t>
            </a:r>
            <a:endParaRPr lang="en-US" sz="2000" dirty="0"/>
          </a:p>
        </p:txBody>
      </p:sp>
      <p:pic>
        <p:nvPicPr>
          <p:cNvPr id="12" name="Image 0" descr="https://kimi-img.moonshot.cn/pub/slides/okc/flfuysioo4gzm/mnt/agents/output/yuan_pptd/images/image_2.jpg">    </p:cNvPr>
          <p:cNvPicPr>
            <a:picLocks noChangeAspect="1"/>
          </p:cNvPicPr>
          <p:nvPr/>
        </p:nvPicPr>
        <p:blipFill>
          <a:blip r:embed="rId1"/>
          <a:srcRect l="5060" r="29000" t="0" b="0"/>
          <a:stretch/>
        </p:blipFill>
        <p:spPr>
          <a:xfrm>
            <a:off x="544449" y="140589"/>
            <a:ext cx="1273429" cy="745871"/>
          </a:xfrm>
          <a:prstGeom prst="rect">
            <a:avLst/>
          </a:prstGeom>
        </p:spPr>
      </p:pic>
      <p:sp>
        <p:nvSpPr>
          <p:cNvPr id="13" name="Shape 9"/>
          <p:cNvSpPr/>
          <p:nvPr/>
        </p:nvSpPr>
        <p:spPr>
          <a:xfrm rot="10800000">
            <a:off x="14222349" y="961009"/>
            <a:ext cx="389509" cy="304800"/>
          </a:xfrm>
          <a:prstGeom prst="triangle">
            <a:avLst>
              <a:gd name="adj" fmla="val 50000"/>
            </a:avLst>
          </a:prstGeom>
          <a:solidFill>
            <a:srgbClr val="04579A"/>
          </a:solidFill>
          <a:ln/>
        </p:spPr>
      </p:sp>
      <p:sp>
        <p:nvSpPr>
          <p:cNvPr id="14" name="Text 10"/>
          <p:cNvSpPr/>
          <p:nvPr/>
        </p:nvSpPr>
        <p:spPr>
          <a:xfrm>
            <a:off x="4593971" y="7057771"/>
            <a:ext cx="8128000" cy="564769"/>
          </a:xfrm>
          <a:prstGeom prst="rect">
            <a:avLst/>
          </a:prstGeom>
          <a:noFill/>
          <a:ln/>
        </p:spPr>
        <p:txBody>
          <a:bodyPr wrap="square" lIns="0" tIns="0" rIns="0" bIns="0" rtlCol="0" anchor="t"/>
          <a:lstStyle/>
          <a:p>
            <a:pPr algn="l">
              <a:lnSpc>
                <a:spcPct val="120000"/>
              </a:lnSpc>
            </a:pPr>
            <a:r>
              <a:rPr lang="en-US" sz="2400" dirty="0">
                <a:solidFill>
                  <a:srgbClr val="000000"/>
                </a:solidFill>
                <a:latin typeface="Arial" pitchFamily="34" charset="0"/>
                <a:ea typeface="Arial" pitchFamily="34" charset="-122"/>
                <a:cs typeface="Arial" pitchFamily="34" charset="-120"/>
              </a:rPr>
              <a:t>撰写硕士论文，准备毕业答辩</a:t>
            </a:r>
            <a:endParaRPr lang="en-US" sz="2400" dirty="0"/>
          </a:p>
        </p:txBody>
      </p:sp>
      <p:sp>
        <p:nvSpPr>
          <p:cNvPr id="15" name="Shape 11"/>
          <p:cNvSpPr/>
          <p:nvPr/>
        </p:nvSpPr>
        <p:spPr>
          <a:xfrm>
            <a:off x="3628771" y="2262251"/>
            <a:ext cx="0" cy="6096000"/>
          </a:xfrm>
          <a:prstGeom prst="line">
            <a:avLst/>
          </a:prstGeom>
          <a:noFill/>
          <a:ln w="12700">
            <a:solidFill>
              <a:srgbClr val="7F7F7F"/>
            </a:solidFill>
            <a:prstDash val="solid"/>
            <a:headEnd type="none"/>
            <a:tailEnd type="none"/>
          </a:ln>
        </p:spPr>
      </p:sp>
      <p:sp>
        <p:nvSpPr>
          <p:cNvPr id="16" name="Text 12"/>
          <p:cNvSpPr/>
          <p:nvPr/>
        </p:nvSpPr>
        <p:spPr>
          <a:xfrm>
            <a:off x="4555109" y="2727071"/>
            <a:ext cx="9686671" cy="564769"/>
          </a:xfrm>
          <a:prstGeom prst="rect">
            <a:avLst/>
          </a:prstGeom>
          <a:noFill/>
          <a:ln/>
        </p:spPr>
        <p:txBody>
          <a:bodyPr wrap="square" lIns="0" tIns="0" rIns="0" bIns="0" rtlCol="0" anchor="t"/>
          <a:lstStyle/>
          <a:p>
            <a:pPr algn="l">
              <a:lnSpc>
                <a:spcPct val="120000"/>
              </a:lnSpc>
            </a:pPr>
            <a:r>
              <a:rPr lang="en-US" sz="2400" dirty="0">
                <a:solidFill>
                  <a:srgbClr val="000000"/>
                </a:solidFill>
                <a:latin typeface="Arial" pitchFamily="34" charset="0"/>
                <a:ea typeface="Arial" pitchFamily="34" charset="-122"/>
                <a:cs typeface="Arial" pitchFamily="34" charset="-120"/>
              </a:rPr>
              <a:t>完成面向操作参数约束需求的智能体授权协议的设计</a:t>
            </a:r>
            <a:endParaRPr lang="en-US" sz="2400" dirty="0"/>
          </a:p>
        </p:txBody>
      </p:sp>
      <p:sp>
        <p:nvSpPr>
          <p:cNvPr id="17" name="Text 13"/>
          <p:cNvSpPr/>
          <p:nvPr/>
        </p:nvSpPr>
        <p:spPr>
          <a:xfrm>
            <a:off x="4555109" y="4170680"/>
            <a:ext cx="10530840" cy="564769"/>
          </a:xfrm>
          <a:prstGeom prst="rect">
            <a:avLst/>
          </a:prstGeom>
          <a:noFill/>
          <a:ln/>
        </p:spPr>
        <p:txBody>
          <a:bodyPr wrap="square" lIns="0" tIns="0" rIns="0" bIns="0" rtlCol="0" anchor="t"/>
          <a:lstStyle/>
          <a:p>
            <a:pPr algn="l">
              <a:lnSpc>
                <a:spcPct val="120000"/>
              </a:lnSpc>
            </a:pPr>
            <a:r>
              <a:rPr lang="en-US" sz="2400" dirty="0">
                <a:solidFill>
                  <a:srgbClr val="000000"/>
                </a:solidFill>
                <a:latin typeface="Arial" pitchFamily="34" charset="0"/>
                <a:ea typeface="Arial" pitchFamily="34" charset="-122"/>
                <a:cs typeface="Arial" pitchFamily="34" charset="-120"/>
              </a:rPr>
              <a:t>完成面向任务执行顺序约束需求的智能体授权协议协议设计。</a:t>
            </a:r>
            <a:endParaRPr lang="en-US" sz="2400" dirty="0"/>
          </a:p>
        </p:txBody>
      </p:sp>
      <p:sp>
        <p:nvSpPr>
          <p:cNvPr id="18" name="Text 14"/>
          <p:cNvSpPr/>
          <p:nvPr/>
        </p:nvSpPr>
        <p:spPr>
          <a:xfrm>
            <a:off x="4555109" y="5614289"/>
            <a:ext cx="10531729" cy="1007491"/>
          </a:xfrm>
          <a:prstGeom prst="rect">
            <a:avLst/>
          </a:prstGeom>
          <a:noFill/>
          <a:ln/>
        </p:spPr>
        <p:txBody>
          <a:bodyPr wrap="square" lIns="0" tIns="0" rIns="0" bIns="0" rtlCol="0" anchor="t"/>
          <a:lstStyle/>
          <a:p>
            <a:pPr algn="l">
              <a:lnSpc>
                <a:spcPct val="120000"/>
              </a:lnSpc>
            </a:pPr>
            <a:r>
              <a:rPr lang="en-US" sz="2400" dirty="0">
                <a:solidFill>
                  <a:srgbClr val="000000"/>
                </a:solidFill>
                <a:latin typeface="Arial" pitchFamily="34" charset="0"/>
                <a:ea typeface="Arial" pitchFamily="34" charset="-122"/>
                <a:cs typeface="Arial" pitchFamily="34" charset="-120"/>
              </a:rPr>
              <a:t>完成上述两项协议的代码实现并且集成到搭建的智能体中，进行安全测试，并测试开销。</a:t>
            </a:r>
            <a:endParaRPr lang="en-US" sz="2400" dirty="0"/>
          </a:p>
        </p:txBody>
      </p:sp>
      <p:sp>
        <p:nvSpPr>
          <p:cNvPr id="19" name="Shape 15"/>
          <p:cNvSpPr/>
          <p:nvPr/>
        </p:nvSpPr>
        <p:spPr>
          <a:xfrm>
            <a:off x="3527171" y="2881249"/>
            <a:ext cx="186309" cy="186309"/>
          </a:xfrm>
          <a:prstGeom prst="ellipse">
            <a:avLst/>
          </a:prstGeom>
          <a:solidFill>
            <a:srgbClr val="04579A"/>
          </a:solidFill>
          <a:ln/>
        </p:spPr>
      </p:sp>
      <p:sp>
        <p:nvSpPr>
          <p:cNvPr id="20" name="Shape 16"/>
          <p:cNvSpPr/>
          <p:nvPr/>
        </p:nvSpPr>
        <p:spPr>
          <a:xfrm>
            <a:off x="3527171" y="4337431"/>
            <a:ext cx="186309" cy="186309"/>
          </a:xfrm>
          <a:prstGeom prst="ellipse">
            <a:avLst/>
          </a:prstGeom>
          <a:solidFill>
            <a:srgbClr val="04579A"/>
          </a:solidFill>
          <a:ln/>
        </p:spPr>
      </p:sp>
      <p:sp>
        <p:nvSpPr>
          <p:cNvPr id="21" name="Shape 17"/>
          <p:cNvSpPr/>
          <p:nvPr/>
        </p:nvSpPr>
        <p:spPr>
          <a:xfrm>
            <a:off x="3527171" y="5793740"/>
            <a:ext cx="186309" cy="186309"/>
          </a:xfrm>
          <a:prstGeom prst="ellipse">
            <a:avLst/>
          </a:prstGeom>
          <a:solidFill>
            <a:srgbClr val="04579A"/>
          </a:solidFill>
          <a:ln/>
        </p:spPr>
      </p:sp>
      <p:sp>
        <p:nvSpPr>
          <p:cNvPr id="22" name="Shape 18"/>
          <p:cNvSpPr/>
          <p:nvPr/>
        </p:nvSpPr>
        <p:spPr>
          <a:xfrm>
            <a:off x="3527171" y="7250049"/>
            <a:ext cx="186309" cy="186309"/>
          </a:xfrm>
          <a:prstGeom prst="ellipse">
            <a:avLst/>
          </a:prstGeom>
          <a:solidFill>
            <a:srgbClr val="04579A"/>
          </a:solidFill>
          <a:ln/>
        </p:spPr>
      </p:sp>
      <p:sp>
        <p:nvSpPr>
          <p:cNvPr id="23" name="Shape 19"/>
          <p:cNvSpPr/>
          <p:nvPr/>
        </p:nvSpPr>
        <p:spPr>
          <a:xfrm>
            <a:off x="3713480" y="2974340"/>
            <a:ext cx="652780" cy="0"/>
          </a:xfrm>
          <a:prstGeom prst="line">
            <a:avLst/>
          </a:prstGeom>
          <a:noFill/>
          <a:ln w="12700">
            <a:solidFill>
              <a:srgbClr val="7F7F7F"/>
            </a:solidFill>
            <a:prstDash val="dash"/>
            <a:headEnd type="none"/>
            <a:tailEnd type="none"/>
          </a:ln>
        </p:spPr>
      </p:sp>
      <p:sp>
        <p:nvSpPr>
          <p:cNvPr id="24" name="Shape 20"/>
          <p:cNvSpPr/>
          <p:nvPr/>
        </p:nvSpPr>
        <p:spPr>
          <a:xfrm>
            <a:off x="3713480" y="4433189"/>
            <a:ext cx="737489" cy="0"/>
          </a:xfrm>
          <a:prstGeom prst="line">
            <a:avLst/>
          </a:prstGeom>
          <a:noFill/>
          <a:ln w="12700">
            <a:solidFill>
              <a:srgbClr val="7F7F7F"/>
            </a:solidFill>
            <a:prstDash val="dash"/>
            <a:headEnd type="none"/>
            <a:tailEnd type="none"/>
          </a:ln>
        </p:spPr>
      </p:sp>
      <p:sp>
        <p:nvSpPr>
          <p:cNvPr id="25" name="Shape 21"/>
          <p:cNvSpPr/>
          <p:nvPr/>
        </p:nvSpPr>
        <p:spPr>
          <a:xfrm>
            <a:off x="3713480" y="5891911"/>
            <a:ext cx="686689" cy="0"/>
          </a:xfrm>
          <a:prstGeom prst="line">
            <a:avLst/>
          </a:prstGeom>
          <a:noFill/>
          <a:ln w="12700">
            <a:solidFill>
              <a:srgbClr val="7F7F7F"/>
            </a:solidFill>
            <a:prstDash val="dash"/>
            <a:headEnd type="none"/>
            <a:tailEnd type="none"/>
          </a:ln>
        </p:spPr>
      </p:sp>
      <p:sp>
        <p:nvSpPr>
          <p:cNvPr id="26" name="Text 22"/>
          <p:cNvSpPr/>
          <p:nvPr/>
        </p:nvSpPr>
        <p:spPr>
          <a:xfrm>
            <a:off x="694309" y="2638171"/>
            <a:ext cx="2832100" cy="613791"/>
          </a:xfrm>
          <a:prstGeom prst="rect">
            <a:avLst/>
          </a:prstGeom>
          <a:noFill/>
          <a:ln/>
        </p:spPr>
        <p:txBody>
          <a:bodyPr wrap="square" lIns="0" tIns="0" rIns="0" bIns="0" rtlCol="0" anchor="t"/>
          <a:lstStyle/>
          <a:p>
            <a:pPr algn="l">
              <a:lnSpc>
                <a:spcPct val="120000"/>
              </a:lnSpc>
            </a:pPr>
            <a:r>
              <a:rPr lang="en-US" sz="2670" b="1" dirty="0">
                <a:solidFill>
                  <a:srgbClr val="04579A"/>
                </a:solidFill>
                <a:latin typeface="Arial" pitchFamily="34" charset="0"/>
                <a:ea typeface="Arial" pitchFamily="34" charset="-122"/>
                <a:cs typeface="Arial" pitchFamily="34" charset="-120"/>
              </a:rPr>
              <a:t>202</a:t>
            </a:r>
            <a:pPr algn="l">
              <a:lnSpc>
                <a:spcPct val="120000"/>
              </a:lnSpc>
            </a:pPr>
            <a:r>
              <a:rPr lang="en-US" sz="2670" b="1" dirty="0">
                <a:solidFill>
                  <a:srgbClr val="04579A"/>
                </a:solidFill>
                <a:latin typeface="Arial" pitchFamily="34" charset="0"/>
                <a:ea typeface="Arial" pitchFamily="34" charset="-122"/>
                <a:cs typeface="Arial" pitchFamily="34" charset="-120"/>
              </a:rPr>
              <a:t>6</a:t>
            </a:r>
            <a:pPr algn="l">
              <a:lnSpc>
                <a:spcPct val="120000"/>
              </a:lnSpc>
            </a:pPr>
            <a:r>
              <a:rPr lang="en-US" sz="2670" b="1" dirty="0">
                <a:solidFill>
                  <a:srgbClr val="04579A"/>
                </a:solidFill>
                <a:latin typeface="Arial" pitchFamily="34" charset="0"/>
                <a:ea typeface="Arial" pitchFamily="34" charset="-122"/>
                <a:cs typeface="Arial" pitchFamily="34" charset="-120"/>
              </a:rPr>
              <a:t>/</a:t>
            </a:r>
            <a:pPr algn="l">
              <a:lnSpc>
                <a:spcPct val="120000"/>
              </a:lnSpc>
            </a:pPr>
            <a:r>
              <a:rPr lang="en-US" sz="2670" b="1" dirty="0">
                <a:solidFill>
                  <a:srgbClr val="04579A"/>
                </a:solidFill>
                <a:latin typeface="Arial" pitchFamily="34" charset="0"/>
                <a:ea typeface="Arial" pitchFamily="34" charset="-122"/>
                <a:cs typeface="Arial" pitchFamily="34" charset="-120"/>
              </a:rPr>
              <a:t>0</a:t>
            </a:r>
            <a:pPr algn="l">
              <a:lnSpc>
                <a:spcPct val="120000"/>
              </a:lnSpc>
            </a:pPr>
            <a:r>
              <a:rPr lang="en-US" sz="2670" b="1" dirty="0">
                <a:solidFill>
                  <a:srgbClr val="04579A"/>
                </a:solidFill>
                <a:latin typeface="Arial" pitchFamily="34" charset="0"/>
                <a:ea typeface="Arial" pitchFamily="34" charset="-122"/>
                <a:cs typeface="Arial" pitchFamily="34" charset="-120"/>
              </a:rPr>
              <a:t>6-202</a:t>
            </a:r>
            <a:pPr algn="l">
              <a:lnSpc>
                <a:spcPct val="120000"/>
              </a:lnSpc>
            </a:pPr>
            <a:r>
              <a:rPr lang="en-US" sz="2670" b="1" dirty="0">
                <a:solidFill>
                  <a:srgbClr val="04579A"/>
                </a:solidFill>
                <a:latin typeface="Arial" pitchFamily="34" charset="0"/>
                <a:ea typeface="Arial" pitchFamily="34" charset="-122"/>
                <a:cs typeface="Arial" pitchFamily="34" charset="-120"/>
              </a:rPr>
              <a:t>6</a:t>
            </a:r>
            <a:pPr algn="l">
              <a:lnSpc>
                <a:spcPct val="120000"/>
              </a:lnSpc>
            </a:pPr>
            <a:r>
              <a:rPr lang="en-US" sz="2670" b="1" dirty="0">
                <a:solidFill>
                  <a:srgbClr val="04579A"/>
                </a:solidFill>
                <a:latin typeface="Arial" pitchFamily="34" charset="0"/>
                <a:ea typeface="Arial" pitchFamily="34" charset="-122"/>
                <a:cs typeface="Arial" pitchFamily="34" charset="-120"/>
              </a:rPr>
              <a:t>/</a:t>
            </a:r>
            <a:pPr algn="l">
              <a:lnSpc>
                <a:spcPct val="120000"/>
              </a:lnSpc>
            </a:pPr>
            <a:r>
              <a:rPr lang="en-US" sz="2670" b="1" dirty="0">
                <a:solidFill>
                  <a:srgbClr val="04579A"/>
                </a:solidFill>
                <a:latin typeface="Arial" pitchFamily="34" charset="0"/>
                <a:ea typeface="Arial" pitchFamily="34" charset="-122"/>
                <a:cs typeface="Arial" pitchFamily="34" charset="-120"/>
              </a:rPr>
              <a:t>08</a:t>
            </a:r>
            <a:endParaRPr lang="en-US" sz="2670" dirty="0"/>
          </a:p>
        </p:txBody>
      </p:sp>
      <p:sp>
        <p:nvSpPr>
          <p:cNvPr id="27" name="Text 23"/>
          <p:cNvSpPr/>
          <p:nvPr/>
        </p:nvSpPr>
        <p:spPr>
          <a:xfrm>
            <a:off x="694309" y="4076700"/>
            <a:ext cx="8128000" cy="613791"/>
          </a:xfrm>
          <a:prstGeom prst="rect">
            <a:avLst/>
          </a:prstGeom>
          <a:noFill/>
          <a:ln/>
        </p:spPr>
        <p:txBody>
          <a:bodyPr wrap="square" lIns="0" tIns="0" rIns="0" bIns="0" rtlCol="0" anchor="t"/>
          <a:lstStyle/>
          <a:p>
            <a:pPr algn="l">
              <a:lnSpc>
                <a:spcPct val="120000"/>
              </a:lnSpc>
            </a:pPr>
            <a:r>
              <a:rPr lang="en-US" sz="2670" b="1" dirty="0">
                <a:solidFill>
                  <a:srgbClr val="04579A"/>
                </a:solidFill>
                <a:latin typeface="Arial" pitchFamily="34" charset="0"/>
                <a:ea typeface="Arial" pitchFamily="34" charset="-122"/>
                <a:cs typeface="Arial" pitchFamily="34" charset="-120"/>
              </a:rPr>
              <a:t>202</a:t>
            </a:r>
            <a:pPr algn="l">
              <a:lnSpc>
                <a:spcPct val="120000"/>
              </a:lnSpc>
            </a:pPr>
            <a:r>
              <a:rPr lang="en-US" sz="2670" b="1" dirty="0">
                <a:solidFill>
                  <a:srgbClr val="04579A"/>
                </a:solidFill>
                <a:latin typeface="Arial" pitchFamily="34" charset="0"/>
                <a:ea typeface="Arial" pitchFamily="34" charset="-122"/>
                <a:cs typeface="Arial" pitchFamily="34" charset="-120"/>
              </a:rPr>
              <a:t>6</a:t>
            </a:r>
            <a:pPr algn="l">
              <a:lnSpc>
                <a:spcPct val="120000"/>
              </a:lnSpc>
            </a:pPr>
            <a:r>
              <a:rPr lang="en-US" sz="2670" b="1" dirty="0">
                <a:solidFill>
                  <a:srgbClr val="04579A"/>
                </a:solidFill>
                <a:latin typeface="Arial" pitchFamily="34" charset="0"/>
                <a:ea typeface="Arial" pitchFamily="34" charset="-122"/>
                <a:cs typeface="Arial" pitchFamily="34" charset="-120"/>
              </a:rPr>
              <a:t>/</a:t>
            </a:r>
            <a:pPr algn="l">
              <a:lnSpc>
                <a:spcPct val="120000"/>
              </a:lnSpc>
            </a:pPr>
            <a:r>
              <a:rPr lang="en-US" sz="2670" b="1" dirty="0">
                <a:solidFill>
                  <a:srgbClr val="04579A"/>
                </a:solidFill>
                <a:latin typeface="Arial" pitchFamily="34" charset="0"/>
                <a:ea typeface="Arial" pitchFamily="34" charset="-122"/>
                <a:cs typeface="Arial" pitchFamily="34" charset="-120"/>
              </a:rPr>
              <a:t>09</a:t>
            </a:r>
            <a:pPr algn="l">
              <a:lnSpc>
                <a:spcPct val="120000"/>
              </a:lnSpc>
            </a:pPr>
            <a:r>
              <a:rPr lang="en-US" sz="2670" b="1" dirty="0">
                <a:solidFill>
                  <a:srgbClr val="04579A"/>
                </a:solidFill>
                <a:latin typeface="Arial" pitchFamily="34" charset="0"/>
                <a:ea typeface="Arial" pitchFamily="34" charset="-122"/>
                <a:cs typeface="Arial" pitchFamily="34" charset="-120"/>
              </a:rPr>
              <a:t>-202</a:t>
            </a:r>
            <a:pPr algn="l">
              <a:lnSpc>
                <a:spcPct val="120000"/>
              </a:lnSpc>
            </a:pPr>
            <a:r>
              <a:rPr lang="en-US" sz="2670" b="1" dirty="0">
                <a:solidFill>
                  <a:srgbClr val="04579A"/>
                </a:solidFill>
                <a:latin typeface="Arial" pitchFamily="34" charset="0"/>
                <a:ea typeface="Arial" pitchFamily="34" charset="-122"/>
                <a:cs typeface="Arial" pitchFamily="34" charset="-120"/>
              </a:rPr>
              <a:t>6</a:t>
            </a:r>
            <a:pPr algn="l">
              <a:lnSpc>
                <a:spcPct val="120000"/>
              </a:lnSpc>
            </a:pPr>
            <a:r>
              <a:rPr lang="en-US" sz="2670" b="1" dirty="0">
                <a:solidFill>
                  <a:srgbClr val="04579A"/>
                </a:solidFill>
                <a:latin typeface="Arial" pitchFamily="34" charset="0"/>
                <a:ea typeface="Arial" pitchFamily="34" charset="-122"/>
                <a:cs typeface="Arial" pitchFamily="34" charset="-120"/>
              </a:rPr>
              <a:t>/</a:t>
            </a:r>
            <a:pPr algn="l">
              <a:lnSpc>
                <a:spcPct val="120000"/>
              </a:lnSpc>
            </a:pPr>
            <a:r>
              <a:rPr lang="en-US" sz="2670" b="1" dirty="0">
                <a:solidFill>
                  <a:srgbClr val="04579A"/>
                </a:solidFill>
                <a:latin typeface="Arial" pitchFamily="34" charset="0"/>
                <a:ea typeface="Arial" pitchFamily="34" charset="-122"/>
                <a:cs typeface="Arial" pitchFamily="34" charset="-120"/>
              </a:rPr>
              <a:t>10</a:t>
            </a:r>
            <a:endParaRPr lang="en-US" sz="2670" dirty="0"/>
          </a:p>
        </p:txBody>
      </p:sp>
      <p:sp>
        <p:nvSpPr>
          <p:cNvPr id="28" name="Text 24"/>
          <p:cNvSpPr/>
          <p:nvPr/>
        </p:nvSpPr>
        <p:spPr>
          <a:xfrm>
            <a:off x="694309" y="5534660"/>
            <a:ext cx="3020060" cy="613791"/>
          </a:xfrm>
          <a:prstGeom prst="rect">
            <a:avLst/>
          </a:prstGeom>
          <a:noFill/>
          <a:ln/>
        </p:spPr>
        <p:txBody>
          <a:bodyPr wrap="square" lIns="0" tIns="0" rIns="0" bIns="0" rtlCol="0" anchor="t"/>
          <a:lstStyle/>
          <a:p>
            <a:pPr algn="l">
              <a:lnSpc>
                <a:spcPct val="120000"/>
              </a:lnSpc>
            </a:pPr>
            <a:r>
              <a:rPr lang="en-US" sz="2670" b="1" dirty="0">
                <a:solidFill>
                  <a:srgbClr val="04579A"/>
                </a:solidFill>
                <a:latin typeface="Arial" pitchFamily="34" charset="0"/>
                <a:ea typeface="Arial" pitchFamily="34" charset="-122"/>
                <a:cs typeface="Arial" pitchFamily="34" charset="-120"/>
              </a:rPr>
              <a:t>202</a:t>
            </a:r>
            <a:pPr algn="l">
              <a:lnSpc>
                <a:spcPct val="120000"/>
              </a:lnSpc>
            </a:pPr>
            <a:r>
              <a:rPr lang="en-US" sz="2670" b="1" dirty="0">
                <a:solidFill>
                  <a:srgbClr val="04579A"/>
                </a:solidFill>
                <a:latin typeface="Arial" pitchFamily="34" charset="0"/>
                <a:ea typeface="Arial" pitchFamily="34" charset="-122"/>
                <a:cs typeface="Arial" pitchFamily="34" charset="-120"/>
              </a:rPr>
              <a:t>6</a:t>
            </a:r>
            <a:pPr algn="l">
              <a:lnSpc>
                <a:spcPct val="120000"/>
              </a:lnSpc>
            </a:pPr>
            <a:r>
              <a:rPr lang="en-US" sz="2670" b="1" dirty="0">
                <a:solidFill>
                  <a:srgbClr val="04579A"/>
                </a:solidFill>
                <a:latin typeface="Arial" pitchFamily="34" charset="0"/>
                <a:ea typeface="Arial" pitchFamily="34" charset="-122"/>
                <a:cs typeface="Arial" pitchFamily="34" charset="-120"/>
              </a:rPr>
              <a:t>/</a:t>
            </a:r>
            <a:pPr algn="l">
              <a:lnSpc>
                <a:spcPct val="120000"/>
              </a:lnSpc>
            </a:pPr>
            <a:r>
              <a:rPr lang="en-US" sz="2670" b="1" dirty="0">
                <a:solidFill>
                  <a:srgbClr val="04579A"/>
                </a:solidFill>
                <a:latin typeface="Arial" pitchFamily="34" charset="0"/>
                <a:ea typeface="Arial" pitchFamily="34" charset="-122"/>
                <a:cs typeface="Arial" pitchFamily="34" charset="-120"/>
              </a:rPr>
              <a:t>11</a:t>
            </a:r>
            <a:pPr algn="l">
              <a:lnSpc>
                <a:spcPct val="120000"/>
              </a:lnSpc>
            </a:pPr>
            <a:r>
              <a:rPr lang="en-US" sz="2670" b="1" dirty="0">
                <a:solidFill>
                  <a:srgbClr val="04579A"/>
                </a:solidFill>
                <a:latin typeface="Arial" pitchFamily="34" charset="0"/>
                <a:ea typeface="Arial" pitchFamily="34" charset="-122"/>
                <a:cs typeface="Arial" pitchFamily="34" charset="-120"/>
              </a:rPr>
              <a:t>-202</a:t>
            </a:r>
            <a:pPr algn="l">
              <a:lnSpc>
                <a:spcPct val="120000"/>
              </a:lnSpc>
            </a:pPr>
            <a:r>
              <a:rPr lang="en-US" sz="2670" b="1" dirty="0">
                <a:solidFill>
                  <a:srgbClr val="04579A"/>
                </a:solidFill>
                <a:latin typeface="Arial" pitchFamily="34" charset="0"/>
                <a:ea typeface="Arial" pitchFamily="34" charset="-122"/>
                <a:cs typeface="Arial" pitchFamily="34" charset="-120"/>
              </a:rPr>
              <a:t>6</a:t>
            </a:r>
            <a:pPr algn="l">
              <a:lnSpc>
                <a:spcPct val="120000"/>
              </a:lnSpc>
            </a:pPr>
            <a:r>
              <a:rPr lang="en-US" sz="2670" b="1" dirty="0">
                <a:solidFill>
                  <a:srgbClr val="04579A"/>
                </a:solidFill>
                <a:latin typeface="Arial" pitchFamily="34" charset="0"/>
                <a:ea typeface="Arial" pitchFamily="34" charset="-122"/>
                <a:cs typeface="Arial" pitchFamily="34" charset="-120"/>
              </a:rPr>
              <a:t>/1</a:t>
            </a:r>
            <a:pPr algn="l">
              <a:lnSpc>
                <a:spcPct val="120000"/>
              </a:lnSpc>
            </a:pPr>
            <a:r>
              <a:rPr lang="en-US" sz="2670" b="1" dirty="0">
                <a:solidFill>
                  <a:srgbClr val="04579A"/>
                </a:solidFill>
                <a:latin typeface="Arial" pitchFamily="34" charset="0"/>
                <a:ea typeface="Arial" pitchFamily="34" charset="-122"/>
                <a:cs typeface="Arial" pitchFamily="34" charset="-120"/>
              </a:rPr>
              <a:t>2</a:t>
            </a:r>
            <a:endParaRPr lang="en-US" sz="2670" dirty="0"/>
          </a:p>
        </p:txBody>
      </p:sp>
      <p:sp>
        <p:nvSpPr>
          <p:cNvPr id="29" name="Text 25"/>
          <p:cNvSpPr/>
          <p:nvPr/>
        </p:nvSpPr>
        <p:spPr>
          <a:xfrm>
            <a:off x="694309" y="6992620"/>
            <a:ext cx="2833751" cy="613791"/>
          </a:xfrm>
          <a:prstGeom prst="rect">
            <a:avLst/>
          </a:prstGeom>
          <a:noFill/>
          <a:ln/>
        </p:spPr>
        <p:txBody>
          <a:bodyPr wrap="square" lIns="0" tIns="0" rIns="0" bIns="0" rtlCol="0" anchor="t"/>
          <a:lstStyle/>
          <a:p>
            <a:pPr algn="l">
              <a:lnSpc>
                <a:spcPct val="120000"/>
              </a:lnSpc>
            </a:pPr>
            <a:r>
              <a:rPr lang="en-US" sz="2670" b="1" dirty="0">
                <a:solidFill>
                  <a:srgbClr val="04579A"/>
                </a:solidFill>
                <a:latin typeface="Arial" pitchFamily="34" charset="0"/>
                <a:ea typeface="Arial" pitchFamily="34" charset="-122"/>
                <a:cs typeface="Arial" pitchFamily="34" charset="-120"/>
              </a:rPr>
              <a:t>202</a:t>
            </a:r>
            <a:pPr algn="l">
              <a:lnSpc>
                <a:spcPct val="120000"/>
              </a:lnSpc>
            </a:pPr>
            <a:r>
              <a:rPr lang="en-US" sz="2670" b="1" dirty="0">
                <a:solidFill>
                  <a:srgbClr val="04579A"/>
                </a:solidFill>
                <a:latin typeface="Arial" pitchFamily="34" charset="0"/>
                <a:ea typeface="Arial" pitchFamily="34" charset="-122"/>
                <a:cs typeface="Arial" pitchFamily="34" charset="-120"/>
              </a:rPr>
              <a:t>7</a:t>
            </a:r>
            <a:pPr algn="l">
              <a:lnSpc>
                <a:spcPct val="120000"/>
              </a:lnSpc>
            </a:pPr>
            <a:r>
              <a:rPr lang="en-US" sz="2670" b="1" dirty="0">
                <a:solidFill>
                  <a:srgbClr val="04579A"/>
                </a:solidFill>
                <a:latin typeface="Arial" pitchFamily="34" charset="0"/>
                <a:ea typeface="Arial" pitchFamily="34" charset="-122"/>
                <a:cs typeface="Arial" pitchFamily="34" charset="-120"/>
              </a:rPr>
              <a:t>/</a:t>
            </a:r>
            <a:pPr algn="l">
              <a:lnSpc>
                <a:spcPct val="120000"/>
              </a:lnSpc>
            </a:pPr>
            <a:r>
              <a:rPr lang="en-US" sz="2670" b="1" dirty="0">
                <a:solidFill>
                  <a:srgbClr val="04579A"/>
                </a:solidFill>
                <a:latin typeface="Arial" pitchFamily="34" charset="0"/>
                <a:ea typeface="Arial" pitchFamily="34" charset="-122"/>
                <a:cs typeface="Arial" pitchFamily="34" charset="-120"/>
              </a:rPr>
              <a:t>0</a:t>
            </a:r>
            <a:pPr algn="l">
              <a:lnSpc>
                <a:spcPct val="120000"/>
              </a:lnSpc>
            </a:pPr>
            <a:r>
              <a:rPr lang="en-US" sz="2670" b="1" dirty="0">
                <a:solidFill>
                  <a:srgbClr val="04579A"/>
                </a:solidFill>
                <a:latin typeface="Arial" pitchFamily="34" charset="0"/>
                <a:ea typeface="Arial" pitchFamily="34" charset="-122"/>
                <a:cs typeface="Arial" pitchFamily="34" charset="-120"/>
              </a:rPr>
              <a:t>1-202</a:t>
            </a:r>
            <a:pPr algn="l">
              <a:lnSpc>
                <a:spcPct val="120000"/>
              </a:lnSpc>
            </a:pPr>
            <a:r>
              <a:rPr lang="en-US" sz="2670" b="1" dirty="0">
                <a:solidFill>
                  <a:srgbClr val="04579A"/>
                </a:solidFill>
                <a:latin typeface="Arial" pitchFamily="34" charset="0"/>
                <a:ea typeface="Arial" pitchFamily="34" charset="-122"/>
                <a:cs typeface="Arial" pitchFamily="34" charset="-120"/>
              </a:rPr>
              <a:t>7</a:t>
            </a:r>
            <a:pPr algn="l">
              <a:lnSpc>
                <a:spcPct val="120000"/>
              </a:lnSpc>
            </a:pPr>
            <a:r>
              <a:rPr lang="en-US" sz="2670" b="1" dirty="0">
                <a:solidFill>
                  <a:srgbClr val="04579A"/>
                </a:solidFill>
                <a:latin typeface="Arial" pitchFamily="34" charset="0"/>
                <a:ea typeface="Arial" pitchFamily="34" charset="-122"/>
                <a:cs typeface="Arial" pitchFamily="34" charset="-120"/>
              </a:rPr>
              <a:t>/0</a:t>
            </a:r>
            <a:pPr algn="l">
              <a:lnSpc>
                <a:spcPct val="120000"/>
              </a:lnSpc>
            </a:pPr>
            <a:r>
              <a:rPr lang="en-US" sz="2670" b="1" dirty="0">
                <a:solidFill>
                  <a:srgbClr val="04579A"/>
                </a:solidFill>
                <a:latin typeface="Arial" pitchFamily="34" charset="0"/>
                <a:ea typeface="Arial" pitchFamily="34" charset="-122"/>
                <a:cs typeface="Arial" pitchFamily="34" charset="-120"/>
              </a:rPr>
              <a:t>4</a:t>
            </a:r>
            <a:endParaRPr lang="en-US" sz="2670" dirty="0"/>
          </a:p>
        </p:txBody>
      </p:sp>
      <p:sp>
        <p:nvSpPr>
          <p:cNvPr id="30" name="Shape 26"/>
          <p:cNvSpPr/>
          <p:nvPr/>
        </p:nvSpPr>
        <p:spPr>
          <a:xfrm>
            <a:off x="3729609" y="7333869"/>
            <a:ext cx="686689" cy="0"/>
          </a:xfrm>
          <a:prstGeom prst="line">
            <a:avLst/>
          </a:prstGeom>
          <a:noFill/>
          <a:ln w="12700">
            <a:solidFill>
              <a:srgbClr val="7F7F7F"/>
            </a:solidFill>
            <a:prstDash val="dash"/>
            <a:headEnd type="none"/>
            <a:tailEnd type="none"/>
          </a:ln>
        </p:spPr>
      </p:sp>
      <p:sp>
        <p:nvSpPr>
          <p:cNvPr id="31" name="Text 27"/>
          <p:cNvSpPr/>
          <p:nvPr/>
        </p:nvSpPr>
        <p:spPr>
          <a:xfrm>
            <a:off x="694309" y="1486789"/>
            <a:ext cx="8128000" cy="613791"/>
          </a:xfrm>
          <a:prstGeom prst="rect">
            <a:avLst/>
          </a:prstGeom>
          <a:noFill/>
          <a:ln/>
        </p:spPr>
        <p:txBody>
          <a:bodyPr wrap="square" lIns="0" tIns="0" rIns="0" bIns="0" rtlCol="0" anchor="t"/>
          <a:lstStyle/>
          <a:p>
            <a:pPr algn="l">
              <a:lnSpc>
                <a:spcPct val="120000"/>
              </a:lnSpc>
            </a:pPr>
            <a:r>
              <a:rPr lang="en-US" sz="3200" b="1" dirty="0">
                <a:solidFill>
                  <a:srgbClr val="000000"/>
                </a:solidFill>
                <a:latin typeface="Arial" pitchFamily="34" charset="0"/>
                <a:ea typeface="Arial" pitchFamily="34" charset="-122"/>
                <a:cs typeface="Arial" pitchFamily="34" charset="-120"/>
              </a:rPr>
              <a:t>未来进度安排</a:t>
            </a:r>
            <a:endParaRPr lang="en-US" sz="3200" dirty="0"/>
          </a:p>
        </p:txBody>
      </p:sp>
      <p:sp>
        <p:nvSpPr>
          <p:cNvPr id="32" name="Text 28"/>
          <p:cNvSpPr/>
          <p:nvPr/>
        </p:nvSpPr>
        <p:spPr>
          <a:xfrm>
            <a:off x="15649067" y="8666353"/>
            <a:ext cx="606933" cy="492506"/>
          </a:xfrm>
          <a:prstGeom prst="rect">
            <a:avLst/>
          </a:prstGeom>
          <a:noFill/>
          <a:ln/>
        </p:spPr>
        <p:txBody>
          <a:bodyPr wrap="square" lIns="0" tIns="0" rIns="0" bIns="0" rtlCol="0" anchor="t"/>
          <a:lstStyle/>
          <a:p>
            <a:pPr algn="ctr">
              <a:lnSpc>
                <a:spcPct val="120000"/>
              </a:lnSpc>
            </a:pPr>
            <a:r>
              <a:rPr lang="en-US" sz="2400" dirty="0">
                <a:solidFill>
                  <a:srgbClr val="000000"/>
                </a:solidFill>
                <a:latin typeface="Arial" pitchFamily="34" charset="0"/>
                <a:ea typeface="Arial" pitchFamily="34" charset="-122"/>
                <a:cs typeface="Arial" pitchFamily="34" charset="-120"/>
              </a:rPr>
              <a:t>28</a:t>
            </a:r>
            <a:endParaRPr lang="en-US" sz="2400" dirty="0"/>
          </a:p>
        </p:txBody>
      </p:sp>
    </p:spTree>
  </p:cSld>
  <p:clrMapOvr>
    <a:masterClrMapping/>
  </p:clrMapOvr>
  <p:transition>
    <p:fade/>
    <p:spd val="med"/>
  </p:transition>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pic>
        <p:nvPicPr>
          <p:cNvPr id="3" name="Image 0" descr="https://kimi-img.moonshot.cn/pub/slides/okc/flfuysioo4gzm/mnt/agents/output/yuan_pptd/images/image_2.jpg">    </p:cNvPr>
          <p:cNvPicPr>
            <a:picLocks noChangeAspect="1"/>
          </p:cNvPicPr>
          <p:nvPr/>
        </p:nvPicPr>
        <p:blipFill>
          <a:blip r:embed="rId1"/>
          <a:srcRect l="5060" r="29000" t="0" b="0"/>
          <a:stretch/>
        </p:blipFill>
        <p:spPr>
          <a:xfrm>
            <a:off x="544449" y="140589"/>
            <a:ext cx="1273429" cy="745871"/>
          </a:xfrm>
          <a:prstGeom prst="rect">
            <a:avLst/>
          </a:prstGeom>
        </p:spPr>
      </p:pic>
      <p:sp>
        <p:nvSpPr>
          <p:cNvPr id="4" name="Text 0"/>
          <p:cNvSpPr/>
          <p:nvPr/>
        </p:nvSpPr>
        <p:spPr>
          <a:xfrm>
            <a:off x="4311269" y="3496691"/>
            <a:ext cx="7634351" cy="778129"/>
          </a:xfrm>
          <a:prstGeom prst="rect">
            <a:avLst/>
          </a:prstGeom>
          <a:noFill/>
          <a:ln/>
        </p:spPr>
        <p:txBody>
          <a:bodyPr wrap="square" lIns="0" tIns="0" rIns="0" bIns="0" rtlCol="0" anchor="t"/>
          <a:lstStyle/>
          <a:p>
            <a:pPr algn="ctr">
              <a:lnSpc>
                <a:spcPct val="120000"/>
              </a:lnSpc>
            </a:pPr>
            <a:r>
              <a:rPr lang="en-US" sz="4270" b="1" dirty="0">
                <a:solidFill>
                  <a:srgbClr val="04579A"/>
                </a:solidFill>
                <a:latin typeface="Arial" pitchFamily="34" charset="0"/>
                <a:ea typeface="Arial" pitchFamily="34" charset="-122"/>
                <a:cs typeface="Arial" pitchFamily="34" charset="-120"/>
              </a:rPr>
              <a:t>恳请各位老师批评指正</a:t>
            </a:r>
            <a:endParaRPr lang="en-US" sz="4270" dirty="0"/>
          </a:p>
        </p:txBody>
      </p:sp>
      <p:sp>
        <p:nvSpPr>
          <p:cNvPr id="5" name="Shape 1"/>
          <p:cNvSpPr/>
          <p:nvPr/>
        </p:nvSpPr>
        <p:spPr>
          <a:xfrm>
            <a:off x="0" y="8559800"/>
            <a:ext cx="16255111" cy="584200"/>
          </a:xfrm>
          <a:prstGeom prst="rect">
            <a:avLst/>
          </a:prstGeom>
          <a:solidFill>
            <a:srgbClr val="04579A"/>
          </a:solidFill>
          <a:ln w="12700">
            <a:solidFill>
              <a:srgbClr val="304B73"/>
            </a:solidFill>
            <a:prstDash val="solid"/>
          </a:ln>
        </p:spPr>
      </p:sp>
      <p:sp>
        <p:nvSpPr>
          <p:cNvPr id="6" name="Text 2"/>
          <p:cNvSpPr/>
          <p:nvPr/>
        </p:nvSpPr>
        <p:spPr>
          <a:xfrm>
            <a:off x="5578729" y="5114671"/>
            <a:ext cx="5096891" cy="695960"/>
          </a:xfrm>
          <a:prstGeom prst="rect">
            <a:avLst/>
          </a:prstGeom>
          <a:noFill/>
          <a:ln/>
        </p:spPr>
        <p:txBody>
          <a:bodyPr wrap="square" lIns="0" tIns="0" rIns="0" bIns="0" rtlCol="0" anchor="t"/>
          <a:lstStyle/>
          <a:p>
            <a:pPr algn="ctr">
              <a:lnSpc>
                <a:spcPct val="120000"/>
              </a:lnSpc>
            </a:pPr>
            <a:r>
              <a:rPr lang="en-US" sz="3730" b="1" dirty="0">
                <a:solidFill>
                  <a:srgbClr val="3F3F3F"/>
                </a:solidFill>
                <a:latin typeface="Arial" pitchFamily="34" charset="0"/>
                <a:ea typeface="Arial" pitchFamily="34" charset="-122"/>
                <a:cs typeface="Arial" pitchFamily="34" charset="-120"/>
              </a:rPr>
              <a:t>  </a:t>
            </a:r>
            <a:pPr algn="ctr">
              <a:lnSpc>
                <a:spcPct val="120000"/>
              </a:lnSpc>
            </a:pPr>
            <a:r>
              <a:rPr lang="en-US" sz="3730" b="1" dirty="0">
                <a:solidFill>
                  <a:srgbClr val="3F3F3F"/>
                </a:solidFill>
                <a:latin typeface="Arial" pitchFamily="34" charset="0"/>
                <a:ea typeface="Arial" pitchFamily="34" charset="-122"/>
                <a:cs typeface="Arial" pitchFamily="34" charset="-120"/>
              </a:rPr>
              <a:t>谢谢！</a:t>
            </a:r>
            <a:endParaRPr lang="en-US" sz="3730" dirty="0"/>
          </a:p>
        </p:txBody>
      </p:sp>
    </p:spTree>
  </p:cSld>
  <p:clrMapOvr>
    <a:masterClrMapping/>
  </p:clrMapOvr>
  <p:transition>
    <p:fade/>
    <p:spd val="med"/>
  </p:transition>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58</Slides>
  <Notes>58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58</vt:i4>
      </vt:variant>
    </vt:vector>
  </HeadingPairs>
  <TitlesOfParts>
    <vt:vector size="6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未命名演示文稿</dc:title>
  <dc:subject>未命名演示文稿</dc:subject>
  <dc:creator>Kimi</dc:creator>
  <cp:lastModifiedBy>Kimi</cp:lastModifiedBy>
  <cp:revision>1</cp:revision>
  <dcterms:created xsi:type="dcterms:W3CDTF">2026-06-25T10:12:09Z</dcterms:created>
  <dcterms:modified xsi:type="dcterms:W3CDTF">2026-06-25T10:12:09Z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4" name="AIGC">
    <vt:lpwstr>{"Label":"未命名演示文稿","ContentProducer":"001191110108MACG2KBH8F10000","ProduceID":"19efdb21-0c12-804e-8000-0000ab19942c","ReservedCode1":"","ContentPropagator":"001191110108MACG2KBH8F20000","PropagateID":"19ee528b-5122-8cdd-8000-091226114ca8","ReservedCode2":""}</vt:lpwstr>
  </property>
</Properties>
</file>