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notesMasterIdLst>
    <p:notesMasterId r:id="rId8"/>
  </p:notesMasterIdLst>
  <p:sldSz cx="16259175" cy="9144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shape0"/>
          <p:cNvSpPr/>
          <p:nvPr/>
        </p:nvSpPr>
        <p:spPr>
          <a:xfrm>
            <a:off x="2219515" y="857"/>
            <a:ext cx="2895028" cy="962501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shape1"/>
          <p:cNvSpPr/>
          <p:nvPr/>
        </p:nvSpPr>
        <p:spPr>
          <a:xfrm>
            <a:off x="5161121" y="0"/>
            <a:ext cx="2590323" cy="962501"/>
          </a:xfrm>
          <a:prstGeom prst="rect">
            <a:avLst/>
          </a:prstGeom>
          <a:solidFill>
            <a:srgbClr val="04579A"/>
          </a:solidFill>
          <a:ln w="12700">
            <a:solidFill>
              <a:srgbClr val="04579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shape2"/>
          <p:cNvSpPr/>
          <p:nvPr/>
        </p:nvSpPr>
        <p:spPr>
          <a:xfrm>
            <a:off x="7814976" y="0"/>
            <a:ext cx="4114038" cy="96250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shape3"/>
          <p:cNvSpPr/>
          <p:nvPr/>
        </p:nvSpPr>
        <p:spPr>
          <a:xfrm>
            <a:off x="11968638" y="857"/>
            <a:ext cx="4284154" cy="9615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shape4"/>
          <p:cNvSpPr/>
          <p:nvPr/>
        </p:nvSpPr>
        <p:spPr>
          <a:xfrm>
            <a:off x="2378202" y="204025"/>
            <a:ext cx="2577560" cy="5078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shape5"/>
          <p:cNvSpPr/>
          <p:nvPr/>
        </p:nvSpPr>
        <p:spPr>
          <a:xfrm>
            <a:off x="2304002" y="143065"/>
            <a:ext cx="2726150" cy="62979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hape6"/>
          <p:cNvSpPr/>
          <p:nvPr/>
        </p:nvSpPr>
        <p:spPr>
          <a:xfrm>
            <a:off x="2231612" y="97345"/>
            <a:ext cx="2870835" cy="7212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text7"/>
          <p:cNvSpPr txBox="1"/>
          <p:nvPr/>
        </p:nvSpPr>
        <p:spPr>
          <a:xfrm>
            <a:off x="2219515" y="51625"/>
            <a:ext cx="2895028" cy="81267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333333"/>
                </a:solidFill>
                <a:latin typeface="Arial"/>
                <a:ea typeface="Arial"/>
              </a:rPr>
              <a:t>选题背景及意义</a:t>
            </a:r>
          </a:p>
        </p:txBody>
      </p:sp>
      <p:sp>
        <p:nvSpPr>
          <p:cNvPr id="10" name="dsl:shape8"/>
          <p:cNvSpPr/>
          <p:nvPr/>
        </p:nvSpPr>
        <p:spPr>
          <a:xfrm>
            <a:off x="5291328" y="204025"/>
            <a:ext cx="2330005" cy="5078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hape9"/>
          <p:cNvSpPr/>
          <p:nvPr/>
        </p:nvSpPr>
        <p:spPr>
          <a:xfrm>
            <a:off x="5226653" y="143065"/>
            <a:ext cx="2459450" cy="62979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shape10"/>
          <p:cNvSpPr/>
          <p:nvPr/>
        </p:nvSpPr>
        <p:spPr>
          <a:xfrm>
            <a:off x="5161121" y="97345"/>
            <a:ext cx="2590323" cy="7212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text11"/>
          <p:cNvSpPr txBox="1"/>
          <p:nvPr/>
        </p:nvSpPr>
        <p:spPr>
          <a:xfrm>
            <a:off x="5161121" y="51625"/>
            <a:ext cx="2590323" cy="81267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FFFFFF"/>
                </a:solidFill>
                <a:latin typeface="Arial"/>
                <a:ea typeface="Arial"/>
              </a:rPr>
              <a:t>国内外研究现状</a:t>
            </a:r>
          </a:p>
        </p:txBody>
      </p:sp>
      <p:sp>
        <p:nvSpPr>
          <p:cNvPr id="14" name="dsl:shape12"/>
          <p:cNvSpPr/>
          <p:nvPr/>
        </p:nvSpPr>
        <p:spPr>
          <a:xfrm>
            <a:off x="7964138" y="204025"/>
            <a:ext cx="3815619" cy="5078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shape13"/>
          <p:cNvSpPr/>
          <p:nvPr/>
        </p:nvSpPr>
        <p:spPr>
          <a:xfrm>
            <a:off x="7889843" y="143065"/>
            <a:ext cx="3964114" cy="62979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shape14"/>
          <p:cNvSpPr/>
          <p:nvPr/>
        </p:nvSpPr>
        <p:spPr>
          <a:xfrm>
            <a:off x="7814976" y="97345"/>
            <a:ext cx="4114038" cy="7212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text15"/>
          <p:cNvSpPr txBox="1"/>
          <p:nvPr/>
        </p:nvSpPr>
        <p:spPr>
          <a:xfrm>
            <a:off x="7814976" y="51625"/>
            <a:ext cx="4114038" cy="81267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333333"/>
                </a:solidFill>
                <a:latin typeface="Arial"/>
                <a:ea typeface="Arial"/>
              </a:rPr>
              <a:t>主要研究内容及预期目标</a:t>
            </a:r>
          </a:p>
        </p:txBody>
      </p:sp>
      <p:sp>
        <p:nvSpPr>
          <p:cNvPr id="18" name="dsl:shape16"/>
          <p:cNvSpPr/>
          <p:nvPr/>
        </p:nvSpPr>
        <p:spPr>
          <a:xfrm>
            <a:off x="12117895" y="204025"/>
            <a:ext cx="3987069" cy="5078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shape17"/>
          <p:cNvSpPr/>
          <p:nvPr/>
        </p:nvSpPr>
        <p:spPr>
          <a:xfrm>
            <a:off x="12043695" y="143065"/>
            <a:ext cx="4135564" cy="62979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hape18"/>
          <p:cNvSpPr/>
          <p:nvPr/>
        </p:nvSpPr>
        <p:spPr>
          <a:xfrm>
            <a:off x="11968638" y="97345"/>
            <a:ext cx="4284154" cy="7212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xt19"/>
          <p:cNvSpPr txBox="1"/>
          <p:nvPr/>
        </p:nvSpPr>
        <p:spPr>
          <a:xfrm>
            <a:off x="11968638" y="51625"/>
            <a:ext cx="4284154" cy="81267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333333"/>
                </a:solidFill>
                <a:latin typeface="Arial"/>
                <a:ea typeface="Arial"/>
              </a:rPr>
              <a:t>工作计划与进度安排</a:t>
            </a:r>
          </a:p>
        </p:txBody>
      </p:sp>
      <p:pic>
        <p:nvPicPr>
          <p:cNvPr id="22" name="dsl:image20" descr="/mnt/agents/output/temp5_pptd/images/image_1.jpg"/>
          <p:cNvPicPr>
            <a:picLocks noChangeAspect="1"/>
          </p:cNvPicPr>
          <p:nvPr/>
        </p:nvPicPr>
        <p:blipFill>
          <a:blip r:embed="rId2"/>
          <a:srcRect l="5060" r="28999"/>
          <a:stretch>
            <a:fillRect/>
          </a:stretch>
        </p:blipFill>
        <p:spPr>
          <a:xfrm>
            <a:off x="544353" y="141446"/>
            <a:ext cx="1273111" cy="7457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" name="dsl:shape21"/>
          <p:cNvSpPr/>
          <p:nvPr/>
        </p:nvSpPr>
        <p:spPr>
          <a:xfrm rot="10800000">
            <a:off x="6378321" y="962406"/>
            <a:ext cx="389382" cy="304704"/>
          </a:xfrm>
          <a:prstGeom prst="triangle">
            <a:avLst>
              <a:gd name="adj" fmla="val 50000"/>
            </a:avLst>
          </a:prstGeom>
          <a:solidFill>
            <a:srgbClr val="04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title"/>
          <p:cNvSpPr txBox="1"/>
          <p:nvPr/>
        </p:nvSpPr>
        <p:spPr>
          <a:xfrm>
            <a:off x="571500" y="1143000"/>
            <a:ext cx="57150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2700" noProof="1">
                <a:solidFill>
                  <a:srgbClr val="04579A"/>
                </a:solidFill>
                <a:latin typeface="Arial"/>
                <a:ea typeface="Arial"/>
              </a:rPr>
              <a:t>现有研究不足总结</a:t>
            </a:r>
          </a:p>
        </p:txBody>
      </p:sp>
      <p:sp>
        <p:nvSpPr>
          <p:cNvPr id="25" name="dsl:left-area-bg"/>
          <p:cNvSpPr/>
          <p:nvPr/>
        </p:nvSpPr>
        <p:spPr>
          <a:xfrm>
            <a:off x="571500" y="1857375"/>
            <a:ext cx="7429500" cy="3143250"/>
          </a:xfrm>
          <a:prstGeom prst="roundRect">
            <a:avLst>
              <a:gd name="adj" fmla="val 2000"/>
            </a:avLst>
          </a:prstGeom>
          <a:solidFill>
            <a:srgbClr val="E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sl:left-header"/>
          <p:cNvSpPr/>
          <p:nvPr/>
        </p:nvSpPr>
        <p:spPr>
          <a:xfrm>
            <a:off x="571500" y="1857375"/>
            <a:ext cx="7429500" cy="523875"/>
          </a:xfrm>
          <a:prstGeom prst="roundRect">
            <a:avLst>
              <a:gd name="adj" fmla="val 2000"/>
            </a:avLst>
          </a:prstGeom>
          <a:solidFill>
            <a:srgbClr val="04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left-title"/>
          <p:cNvSpPr txBox="1"/>
          <p:nvPr/>
        </p:nvSpPr>
        <p:spPr>
          <a:xfrm>
            <a:off x="762000" y="1857375"/>
            <a:ext cx="70485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800" noProof="1">
                <a:solidFill>
                  <a:srgbClr val="FFFFFF"/>
                </a:solidFill>
                <a:latin typeface="Arial"/>
                <a:ea typeface="Arial"/>
              </a:rPr>
              <a:t>传统授权领域</a:t>
            </a:r>
          </a:p>
        </p:txBody>
      </p:sp>
      <p:sp>
        <p:nvSpPr>
          <p:cNvPr id="28" name="dsl:left-item1-bg"/>
          <p:cNvSpPr/>
          <p:nvPr/>
        </p:nvSpPr>
        <p:spPr>
          <a:xfrm>
            <a:off x="952500" y="2619375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sl:left-item1"/>
          <p:cNvSpPr txBox="1"/>
          <p:nvPr/>
        </p:nvSpPr>
        <p:spPr>
          <a:xfrm>
            <a:off x="1143000" y="2619375"/>
            <a:ext cx="3429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▸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 动态令牌权限衰减</a:t>
            </a:r>
          </a:p>
        </p:txBody>
      </p:sp>
      <p:sp>
        <p:nvSpPr>
          <p:cNvPr id="30" name="dsl:left-item2-bg"/>
          <p:cNvSpPr/>
          <p:nvPr/>
        </p:nvSpPr>
        <p:spPr>
          <a:xfrm>
            <a:off x="952500" y="3762375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dsl:left-item2"/>
          <p:cNvSpPr txBox="1"/>
          <p:nvPr/>
        </p:nvSpPr>
        <p:spPr>
          <a:xfrm>
            <a:off x="1143000" y="3762375"/>
            <a:ext cx="3429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lnSpc>
                <a:spcPct val="140000"/>
              </a:lnSpc>
            </a:pP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▸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 去中心化传递委托</a:t>
            </a:r>
          </a:p>
        </p:txBody>
      </p:sp>
      <p:sp>
        <p:nvSpPr>
          <p:cNvPr id="32" name="dsl:right-area-bg"/>
          <p:cNvSpPr/>
          <p:nvPr/>
        </p:nvSpPr>
        <p:spPr>
          <a:xfrm>
            <a:off x="8258175" y="1857375"/>
            <a:ext cx="7429500" cy="3143250"/>
          </a:xfrm>
          <a:prstGeom prst="roundRect">
            <a:avLst>
              <a:gd name="adj" fmla="val 2000"/>
            </a:avLst>
          </a:prstGeom>
          <a:solidFill>
            <a:srgbClr val="E3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dsl:right-header"/>
          <p:cNvSpPr/>
          <p:nvPr/>
        </p:nvSpPr>
        <p:spPr>
          <a:xfrm>
            <a:off x="8258175" y="1857375"/>
            <a:ext cx="7429500" cy="523875"/>
          </a:xfrm>
          <a:prstGeom prst="roundRect">
            <a:avLst>
              <a:gd name="adj" fmla="val 2000"/>
            </a:avLst>
          </a:prstGeom>
          <a:solidFill>
            <a:srgbClr val="04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dsl:right-title"/>
          <p:cNvSpPr txBox="1"/>
          <p:nvPr/>
        </p:nvSpPr>
        <p:spPr>
          <a:xfrm>
            <a:off x="8448675" y="1857375"/>
            <a:ext cx="7048500" cy="52387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b="1" sz="1800" noProof="1">
                <a:solidFill>
                  <a:srgbClr val="FFFFFF"/>
                </a:solidFill>
                <a:latin typeface="Arial"/>
                <a:ea typeface="Arial"/>
              </a:rPr>
              <a:t>智能体授权领域</a:t>
            </a:r>
          </a:p>
        </p:txBody>
      </p:sp>
      <p:sp>
        <p:nvSpPr>
          <p:cNvPr id="35" name="dsl:right-item1-bg"/>
          <p:cNvSpPr/>
          <p:nvPr/>
        </p:nvSpPr>
        <p:spPr>
          <a:xfrm>
            <a:off x="8639175" y="2619375"/>
            <a:ext cx="38100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dsl:right-item1"/>
          <p:cNvSpPr txBox="1"/>
          <p:nvPr/>
        </p:nvSpPr>
        <p:spPr>
          <a:xfrm>
            <a:off x="8829675" y="2619375"/>
            <a:ext cx="3429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▸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 自动权限预测</a:t>
            </a:r>
          </a:p>
        </p:txBody>
      </p:sp>
      <p:sp>
        <p:nvSpPr>
          <p:cNvPr id="37" name="dsl:right-item2-bg"/>
          <p:cNvSpPr/>
          <p:nvPr/>
        </p:nvSpPr>
        <p:spPr>
          <a:xfrm>
            <a:off x="8639175" y="3476625"/>
            <a:ext cx="38100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dsl:right-item2"/>
          <p:cNvSpPr txBox="1"/>
          <p:nvPr/>
        </p:nvSpPr>
        <p:spPr>
          <a:xfrm>
            <a:off x="8829675" y="3476625"/>
            <a:ext cx="3429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▸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 多智能体委托授权</a:t>
            </a:r>
          </a:p>
        </p:txBody>
      </p:sp>
      <p:sp>
        <p:nvSpPr>
          <p:cNvPr id="39" name="dsl:right-item3-bg"/>
          <p:cNvSpPr/>
          <p:nvPr/>
        </p:nvSpPr>
        <p:spPr>
          <a:xfrm>
            <a:off x="8639175" y="4333875"/>
            <a:ext cx="3810000" cy="5715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dsl:right-item3"/>
          <p:cNvSpPr txBox="1"/>
          <p:nvPr/>
        </p:nvSpPr>
        <p:spPr>
          <a:xfrm>
            <a:off x="8829675" y="4333875"/>
            <a:ext cx="3429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▸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 工具调用前确定性授权</a:t>
            </a:r>
          </a:p>
        </p:txBody>
      </p:sp>
      <p:sp>
        <p:nvSpPr>
          <p:cNvPr id="41" name="dsl:v-arrow-left"/>
          <p:cNvSpPr/>
          <p:nvPr/>
        </p:nvSpPr>
        <p:spPr>
          <a:xfrm rot="660000">
            <a:off x="4286250" y="4924425"/>
            <a:ext cx="3924300" cy="5715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dsl:v-arrow-right"/>
          <p:cNvSpPr/>
          <p:nvPr/>
        </p:nvSpPr>
        <p:spPr>
          <a:xfrm rot="10140000">
            <a:off x="8134350" y="4924425"/>
            <a:ext cx="3914775" cy="5715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sl:v-arrow-down"/>
          <p:cNvSpPr/>
          <p:nvPr/>
        </p:nvSpPr>
        <p:spPr>
          <a:xfrm>
            <a:off x="8115300" y="5715000"/>
            <a:ext cx="38100" cy="28575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dsl:v-arrow-tip"/>
          <p:cNvSpPr/>
          <p:nvPr/>
        </p:nvSpPr>
        <p:spPr>
          <a:xfrm>
            <a:off x="8039100" y="6000750"/>
            <a:ext cx="190500" cy="190500"/>
          </a:xfrm>
          <a:prstGeom prst="triangle">
            <a:avLst>
              <a:gd name="adj" fmla="val 50000"/>
            </a:avLst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dsl:core-bg"/>
          <p:cNvSpPr/>
          <p:nvPr/>
        </p:nvSpPr>
        <p:spPr>
          <a:xfrm>
            <a:off x="571500" y="6191250"/>
            <a:ext cx="15116175" cy="1619250"/>
          </a:xfrm>
          <a:prstGeom prst="roundRect">
            <a:avLst>
              <a:gd name="adj" fmla="val 1500"/>
            </a:avLst>
          </a:prstGeom>
          <a:solidFill>
            <a:srgbClr val="FFF3E0"/>
          </a:solidFill>
          <a:ln w="38100">
            <a:solidFill>
              <a:srgbClr val="E65100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sl:core-title"/>
          <p:cNvSpPr txBox="1"/>
          <p:nvPr/>
        </p:nvSpPr>
        <p:spPr>
          <a:xfrm>
            <a:off x="762000" y="6286500"/>
            <a:ext cx="381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b="1" sz="1800" noProof="1">
                <a:solidFill>
                  <a:srgbClr val="E65100"/>
                </a:solidFill>
                <a:latin typeface="Arial"/>
                <a:ea typeface="Arial"/>
              </a:rPr>
              <a:t>▾ 核心不足</a:t>
            </a:r>
          </a:p>
        </p:txBody>
      </p:sp>
      <p:sp>
        <p:nvSpPr>
          <p:cNvPr id="47" name="dsl:core-body"/>
          <p:cNvSpPr txBox="1"/>
          <p:nvPr/>
        </p:nvSpPr>
        <p:spPr>
          <a:xfrm>
            <a:off x="762000" y="6715125"/>
            <a:ext cx="14735175" cy="952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1.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 未有完整的</a:t>
            </a: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细粒度授权框架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方案    </a:t>
            </a: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2.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 未解决</a:t>
            </a: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操作参数级约束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问题    </a:t>
            </a: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3.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 缺乏</a:t>
            </a:r>
            <a:r>
              <a:rPr b="1" sz="1650" noProof="1">
                <a:solidFill>
                  <a:srgbClr val="333333"/>
                </a:solidFill>
                <a:latin typeface="Arial"/>
                <a:ea typeface="Arial"/>
              </a:rPr>
              <a:t>有序任务顺序授权</a:t>
            </a:r>
            <a:r>
              <a:rPr sz="1650" noProof="1">
                <a:solidFill>
                  <a:srgbClr val="333333"/>
                </a:solidFill>
                <a:latin typeface="Arial"/>
                <a:ea typeface="Arial"/>
              </a:rPr>
              <a:t>研究</a:t>
            </a:r>
          </a:p>
        </p:txBody>
      </p:sp>
      <p:sp>
        <p:nvSpPr>
          <p:cNvPr id="48" name="dsl:page-num"/>
          <p:cNvSpPr txBox="1"/>
          <p:nvPr/>
        </p:nvSpPr>
        <p:spPr>
          <a:xfrm>
            <a:off x="15240000" y="8667750"/>
            <a:ext cx="762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/>
            <a:r>
              <a:rPr sz="2100" noProof="1">
                <a:solidFill>
                  <a:srgbClr val="666666"/>
                </a:solidFill>
                <a:latin typeface="Arial"/>
                <a:ea typeface="Arial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4472C4"/>
    <Color name="secondary" value="#ED7D31"/>
    <Color name="dark" value="#000000"/>
    <Color name="light" value="#FFFFFF"/>
    <Color name="accent3" value="#A5A5A5"/>
    <Color name="accent4" value="#FFC000"/>
    <Color name="accent5" value="#5B9BD5"/>
    <Color name="accent6" value="#70AD47"/>
  </Colors>
</DslMetadata>
</file>

<file path=customXml/itemProps1.xml><?xml version="1.0" encoding="utf-8"?>
<ns0:datastoreItem xmlns:ns0="http://schemas.openxmlformats.org/officeDocument/2006/customXml" ns0:itemID="{598A410F-2F4C-490F-AFEC-848C90A5E981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