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notesMasterIdLst>
    <p:notesMasterId r:id="rId9"/>
  </p:notesMasterIdLst>
  <p:sldSz cx="16259175" cy="9144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customXml" Target="../customXml/item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恶意环境下分布式数字资产交易协议设计与分析</a:t>
            </a:r>
          </a:p>
          <a:p>
            <a:r>
              <a:t>现有分布式资产交易协议通常依赖于底层区块链的诚实矿工假设，难以应对现实环境中日益复杂的恶意攻击场景。</a:t>
            </a:r>
          </a:p>
          <a:p>
            <a:r>
              <a:t>基于已有工作对理性矿工和拜占庭节点的安全模型，需系统分析现有协议的安全漏洞及潜在攻击，重构现有资产兑换范式，</a:t>
            </a:r>
          </a:p>
          <a:p/>
          <a:p>
            <a:r>
              <a:t>预期目标是设计可证明安全的分布式数字资产交易协议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sl:shape0"/>
          <p:cNvSpPr/>
          <p:nvPr/>
        </p:nvSpPr>
        <p:spPr>
          <a:xfrm>
            <a:off x="2219515" y="857"/>
            <a:ext cx="2895028" cy="962501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shape1"/>
          <p:cNvSpPr/>
          <p:nvPr/>
        </p:nvSpPr>
        <p:spPr>
          <a:xfrm>
            <a:off x="5161121" y="0"/>
            <a:ext cx="2590323" cy="962501"/>
          </a:xfrm>
          <a:prstGeom prst="rect">
            <a:avLst/>
          </a:prstGeom>
          <a:solidFill>
            <a:srgbClr val="04579A"/>
          </a:solidFill>
          <a:ln w="12700">
            <a:solidFill>
              <a:srgbClr val="04579A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shape2"/>
          <p:cNvSpPr/>
          <p:nvPr/>
        </p:nvSpPr>
        <p:spPr>
          <a:xfrm>
            <a:off x="7814976" y="0"/>
            <a:ext cx="4114038" cy="962501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shape3"/>
          <p:cNvSpPr/>
          <p:nvPr/>
        </p:nvSpPr>
        <p:spPr>
          <a:xfrm>
            <a:off x="11968638" y="857"/>
            <a:ext cx="4284154" cy="96154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shape4"/>
          <p:cNvSpPr/>
          <p:nvPr/>
        </p:nvSpPr>
        <p:spPr>
          <a:xfrm>
            <a:off x="2282952" y="204025"/>
            <a:ext cx="2768060" cy="50787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shape5"/>
          <p:cNvSpPr/>
          <p:nvPr/>
        </p:nvSpPr>
        <p:spPr>
          <a:xfrm>
            <a:off x="2161127" y="143065"/>
            <a:ext cx="3011900" cy="62979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shape6"/>
          <p:cNvSpPr/>
          <p:nvPr/>
        </p:nvSpPr>
        <p:spPr>
          <a:xfrm>
            <a:off x="2069687" y="97345"/>
            <a:ext cx="3194685" cy="72123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l:text7"/>
          <p:cNvSpPr txBox="1"/>
          <p:nvPr/>
        </p:nvSpPr>
        <p:spPr>
          <a:xfrm>
            <a:off x="1978247" y="51625"/>
            <a:ext cx="3377565" cy="812672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002" noProof="1">
                <a:solidFill>
                  <a:srgbClr val="333333"/>
                </a:solidFill>
                <a:latin typeface="Arial"/>
                <a:ea typeface="Arial"/>
              </a:rPr>
              <a:t>选题背景及意义</a:t>
            </a:r>
          </a:p>
        </p:txBody>
      </p:sp>
      <p:sp>
        <p:nvSpPr>
          <p:cNvPr id="10" name="dsl:shape8"/>
          <p:cNvSpPr/>
          <p:nvPr/>
        </p:nvSpPr>
        <p:spPr>
          <a:xfrm>
            <a:off x="5224653" y="204025"/>
            <a:ext cx="2463355" cy="50787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shape9"/>
          <p:cNvSpPr/>
          <p:nvPr/>
        </p:nvSpPr>
        <p:spPr>
          <a:xfrm>
            <a:off x="5102828" y="143065"/>
            <a:ext cx="2707100" cy="62979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l:shape10"/>
          <p:cNvSpPr/>
          <p:nvPr/>
        </p:nvSpPr>
        <p:spPr>
          <a:xfrm>
            <a:off x="5011388" y="97345"/>
            <a:ext cx="2889980" cy="72123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sl:text11"/>
          <p:cNvSpPr txBox="1"/>
          <p:nvPr/>
        </p:nvSpPr>
        <p:spPr>
          <a:xfrm>
            <a:off x="4919948" y="51625"/>
            <a:ext cx="3072860" cy="812672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002" noProof="1">
                <a:solidFill>
                  <a:srgbClr val="FFFFFF"/>
                </a:solidFill>
                <a:latin typeface="Arial"/>
                <a:ea typeface="Arial"/>
              </a:rPr>
              <a:t>国内外研究现状</a:t>
            </a:r>
          </a:p>
        </p:txBody>
      </p:sp>
      <p:sp>
        <p:nvSpPr>
          <p:cNvPr id="14" name="dsl:shape12"/>
          <p:cNvSpPr/>
          <p:nvPr/>
        </p:nvSpPr>
        <p:spPr>
          <a:xfrm>
            <a:off x="7878413" y="204025"/>
            <a:ext cx="3987069" cy="50787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sl:shape13"/>
          <p:cNvSpPr/>
          <p:nvPr/>
        </p:nvSpPr>
        <p:spPr>
          <a:xfrm>
            <a:off x="7756493" y="143065"/>
            <a:ext cx="4230814" cy="62979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l:shape14"/>
          <p:cNvSpPr/>
          <p:nvPr/>
        </p:nvSpPr>
        <p:spPr>
          <a:xfrm>
            <a:off x="7665053" y="97345"/>
            <a:ext cx="4413694" cy="72123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sl:text15"/>
          <p:cNvSpPr txBox="1"/>
          <p:nvPr/>
        </p:nvSpPr>
        <p:spPr>
          <a:xfrm>
            <a:off x="7573613" y="51625"/>
            <a:ext cx="4596574" cy="812672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002" noProof="1">
                <a:solidFill>
                  <a:srgbClr val="333333"/>
                </a:solidFill>
                <a:latin typeface="Arial"/>
                <a:ea typeface="Arial"/>
              </a:rPr>
              <a:t>主要研究内容及预期目标</a:t>
            </a:r>
          </a:p>
        </p:txBody>
      </p:sp>
      <p:sp>
        <p:nvSpPr>
          <p:cNvPr id="18" name="dsl:shape16"/>
          <p:cNvSpPr/>
          <p:nvPr/>
        </p:nvSpPr>
        <p:spPr>
          <a:xfrm>
            <a:off x="12032170" y="204025"/>
            <a:ext cx="4157091" cy="50787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l:shape17"/>
          <p:cNvSpPr/>
          <p:nvPr/>
        </p:nvSpPr>
        <p:spPr>
          <a:xfrm>
            <a:off x="11910345" y="143065"/>
            <a:ext cx="4400931" cy="62979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sl:shape18"/>
          <p:cNvSpPr/>
          <p:nvPr/>
        </p:nvSpPr>
        <p:spPr>
          <a:xfrm>
            <a:off x="11818905" y="97345"/>
            <a:ext cx="4583811" cy="721233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sl:text19"/>
          <p:cNvSpPr txBox="1"/>
          <p:nvPr/>
        </p:nvSpPr>
        <p:spPr>
          <a:xfrm>
            <a:off x="11727465" y="51625"/>
            <a:ext cx="4766691" cy="812672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002" noProof="1">
                <a:solidFill>
                  <a:srgbClr val="333333"/>
                </a:solidFill>
                <a:latin typeface="Arial"/>
                <a:ea typeface="Arial"/>
              </a:rPr>
              <a:t>工作计划与进度安排</a:t>
            </a:r>
          </a:p>
        </p:txBody>
      </p:sp>
      <p:pic>
        <p:nvPicPr>
          <p:cNvPr id="22" name="dsl:image20" descr="/mnt/agents/output/temp6_pptd/images/image_1.jpg"/>
          <p:cNvPicPr>
            <a:picLocks noChangeAspect="1"/>
          </p:cNvPicPr>
          <p:nvPr/>
        </p:nvPicPr>
        <p:blipFill>
          <a:blip r:embed="rId2"/>
          <a:srcRect l="5060" r="28999"/>
          <a:stretch>
            <a:fillRect/>
          </a:stretch>
        </p:blipFill>
        <p:spPr>
          <a:xfrm>
            <a:off x="544353" y="141446"/>
            <a:ext cx="1273111" cy="745712"/>
          </a:xfrm>
          <a:prstGeom prst="rect">
            <a:avLst/>
          </a:prstGeom>
          <a:ln>
            <a:noFill/>
          </a:ln>
          <a:effectLst/>
        </p:spPr>
      </p:pic>
      <p:sp>
        <p:nvSpPr>
          <p:cNvPr id="23" name="dsl:shape21"/>
          <p:cNvSpPr/>
          <p:nvPr/>
        </p:nvSpPr>
        <p:spPr>
          <a:xfrm rot="10800000">
            <a:off x="6378321" y="962406"/>
            <a:ext cx="389382" cy="304704"/>
          </a:xfrm>
          <a:prstGeom prst="triangle">
            <a:avLst>
              <a:gd name="adj" fmla="val 50000"/>
            </a:avLst>
          </a:prstGeom>
          <a:solidFill>
            <a:srgbClr val="045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sl:shape22"/>
          <p:cNvSpPr/>
          <p:nvPr/>
        </p:nvSpPr>
        <p:spPr>
          <a:xfrm>
            <a:off x="571404" y="1191291"/>
            <a:ext cx="9523095" cy="61902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sl:text23"/>
          <p:cNvSpPr txBox="1"/>
          <p:nvPr/>
        </p:nvSpPr>
        <p:spPr>
          <a:xfrm>
            <a:off x="479964" y="1145571"/>
            <a:ext cx="9705975" cy="710469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b="1" sz="3150" noProof="1">
                <a:solidFill>
                  <a:srgbClr val="04579A"/>
                </a:solidFill>
                <a:latin typeface="Arial"/>
                <a:ea typeface="Arial"/>
              </a:rPr>
              <a:t>现有研究不足总结</a:t>
            </a:r>
          </a:p>
        </p:txBody>
      </p:sp>
      <p:sp>
        <p:nvSpPr>
          <p:cNvPr id="26" name="dsl:shape24"/>
          <p:cNvSpPr/>
          <p:nvPr/>
        </p:nvSpPr>
        <p:spPr>
          <a:xfrm>
            <a:off x="857059" y="7667053"/>
            <a:ext cx="14541817" cy="1047559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sl:shape25"/>
          <p:cNvSpPr/>
          <p:nvPr/>
        </p:nvSpPr>
        <p:spPr>
          <a:xfrm>
            <a:off x="15237047" y="8666988"/>
            <a:ext cx="761809" cy="380904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sl:text26"/>
          <p:cNvSpPr txBox="1"/>
          <p:nvPr/>
        </p:nvSpPr>
        <p:spPr>
          <a:xfrm>
            <a:off x="15145607" y="8621268"/>
            <a:ext cx="944689" cy="472344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r">
              <a:lnSpc>
                <a:spcPct val="120000"/>
              </a:lnSpc>
            </a:pPr>
            <a:r>
              <a:rPr sz="2100" noProof="1">
                <a:solidFill>
                  <a:srgbClr val="666666"/>
                </a:solidFill>
                <a:latin typeface="Arial"/>
                <a:ea typeface="Arial"/>
              </a:rPr>
              <a:t>13</a:t>
            </a:r>
          </a:p>
        </p:txBody>
      </p:sp>
      <p:sp>
        <p:nvSpPr>
          <p:cNvPr id="29" name="dsl:text27"/>
          <p:cNvSpPr txBox="1"/>
          <p:nvPr/>
        </p:nvSpPr>
        <p:spPr>
          <a:xfrm>
            <a:off x="3691890" y="2632043"/>
            <a:ext cx="8935688" cy="9220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800" noProof="1">
                <a:solidFill>
                  <a:srgbClr val="000000"/>
                </a:solidFill>
                <a:latin typeface="Calibri"/>
                <a:ea typeface="Calibri"/>
              </a:rPr>
              <a:t>传统授领域致力于研究</a:t>
            </a:r>
          </a:p>
          <a:p>
            <a:pPr algn="l"/>
            <a:r>
              <a:rPr sz="1800" noProof="1">
                <a:solidFill>
                  <a:srgbClr val="000000"/>
                </a:solidFill>
                <a:latin typeface="Calibri"/>
                <a:ea typeface="Calibri"/>
              </a:rPr>
              <a:t>动态衰减令牌的权限，以便满足最小权限原则：Macroons、Stateful Least Auth</a:t>
            </a:r>
          </a:p>
          <a:p>
            <a:pPr algn="l"/>
            <a:r>
              <a:rPr sz="1800" noProof="1">
                <a:solidFill>
                  <a:srgbClr val="000000"/>
                </a:solidFill>
                <a:latin typeface="Calibri"/>
                <a:ea typeface="Calibri"/>
              </a:rPr>
              <a:t>去中心化授权，离线验证凭证：WAVE</a:t>
            </a:r>
          </a:p>
        </p:txBody>
      </p:sp>
      <p:sp>
        <p:nvSpPr>
          <p:cNvPr id="30" name="dsl:text28"/>
          <p:cNvSpPr txBox="1"/>
          <p:nvPr/>
        </p:nvSpPr>
        <p:spPr>
          <a:xfrm>
            <a:off x="3771233" y="3909726"/>
            <a:ext cx="9077991" cy="158619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800" noProof="1">
                <a:solidFill>
                  <a:srgbClr val="000000"/>
                </a:solidFill>
                <a:latin typeface="Calibri"/>
                <a:ea typeface="Calibri"/>
              </a:rPr>
              <a:t>现有智能体授权领域致力于研究</a:t>
            </a:r>
          </a:p>
          <a:p>
            <a:pPr algn="l"/>
            <a:r>
              <a:rPr sz="1800" noProof="1">
                <a:solidFill>
                  <a:srgbClr val="000000"/>
                </a:solidFill>
                <a:latin typeface="Calibri"/>
                <a:ea typeface="Calibri"/>
              </a:rPr>
              <a:t>自动授权，解放人类监督任务 : Automating Permissions</a:t>
            </a:r>
          </a:p>
          <a:p>
            <a:pPr algn="l"/>
            <a:r>
              <a:rPr sz="1800" noProof="1">
                <a:solidFill>
                  <a:srgbClr val="000000"/>
                </a:solidFill>
                <a:latin typeface="Calibri"/>
                <a:ea typeface="Calibri"/>
              </a:rPr>
              <a:t>委托授权，适配多智能体系统的授权需求：Authenticated Delegation for AI Agents</a:t>
            </a:r>
          </a:p>
          <a:p>
            <a:pPr algn="l"/>
            <a:r>
              <a:rPr sz="1800" noProof="1">
                <a:solidFill>
                  <a:srgbClr val="000000"/>
                </a:solidFill>
                <a:latin typeface="Calibri"/>
                <a:ea typeface="Calibri"/>
              </a:rPr>
              <a:t>收紧授权，保证最小权限原则：Deterministic Pre-Action Auth</a:t>
            </a:r>
          </a:p>
        </p:txBody>
      </p:sp>
      <p:sp>
        <p:nvSpPr>
          <p:cNvPr id="31" name="dsl:text29"/>
          <p:cNvSpPr txBox="1"/>
          <p:nvPr/>
        </p:nvSpPr>
        <p:spPr>
          <a:xfrm>
            <a:off x="3763613" y="5537168"/>
            <a:ext cx="5715000" cy="9220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800" noProof="1">
                <a:solidFill>
                  <a:srgbClr val="000000"/>
                </a:solidFill>
                <a:latin typeface="Calibri"/>
                <a:ea typeface="Calibri"/>
              </a:rPr>
              <a:t>传统授权聚焦动态衰减令牌权限</a:t>
            </a:r>
          </a:p>
          <a:p>
            <a:pPr algn="l"/>
            <a:r>
              <a:rPr sz="1800" noProof="1">
                <a:solidFill>
                  <a:srgbClr val="000000"/>
                </a:solidFill>
                <a:latin typeface="Calibri"/>
                <a:ea typeface="Calibri"/>
              </a:rPr>
              <a:t>现有智能体授权致力于研究自动授权、委托授权，收紧授权，</a:t>
            </a:r>
          </a:p>
        </p:txBody>
      </p:sp>
      <p:sp>
        <p:nvSpPr>
          <p:cNvPr id="32" name="dsl:text30"/>
          <p:cNvSpPr txBox="1"/>
          <p:nvPr/>
        </p:nvSpPr>
        <p:spPr>
          <a:xfrm>
            <a:off x="10772775" y="5378481"/>
            <a:ext cx="3262026" cy="87820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800" noProof="1">
                <a:solidFill>
                  <a:srgbClr val="000000"/>
                </a:solidFill>
                <a:latin typeface="Calibri"/>
                <a:ea typeface="Calibri"/>
              </a:rPr>
              <a:t>尽管OAuth is not enough提出目前需要细粒度的授权框架，但未有完整方案出现</a:t>
            </a:r>
          </a:p>
          <a:p>
            <a:pPr algn="l"/>
            <a:r>
              <a:rPr sz="1800" noProof="1">
                <a:solidFill>
                  <a:srgbClr val="000000"/>
                </a:solidFill>
                <a:latin typeface="Calibri"/>
                <a:ea typeface="Calibri"/>
              </a:rPr>
              <a:t> </a:t>
            </a:r>
          </a:p>
        </p:txBody>
      </p:sp>
      <p:sp>
        <p:nvSpPr>
          <p:cNvPr id="33" name="dsl:text31"/>
          <p:cNvSpPr txBox="1"/>
          <p:nvPr/>
        </p:nvSpPr>
        <p:spPr>
          <a:xfrm>
            <a:off x="10875645" y="6640163"/>
            <a:ext cx="3159156" cy="64512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sz="1800" noProof="1">
                <a:solidFill>
                  <a:srgbClr val="000000"/>
                </a:solidFill>
                <a:latin typeface="Calibri"/>
                <a:ea typeface="Calibri"/>
              </a:rPr>
              <a:t>并且没有针对保证有序任务中顺序授权的研究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sl:frame-bg"/>
          <p:cNvSpPr/>
          <p:nvPr/>
        </p:nvSpPr>
        <p:spPr>
          <a:xfrm>
            <a:off x="571500" y="2381250"/>
            <a:ext cx="15144750" cy="2667000"/>
          </a:xfrm>
          <a:prstGeom prst="roundRect">
            <a:avLst>
              <a:gd name="adj" fmla="val 1500"/>
            </a:avLst>
          </a:prstGeom>
          <a:solidFill>
            <a:srgbClr val="E8F4FD"/>
          </a:solidFill>
          <a:ln w="25400">
            <a:solidFill>
              <a:srgbClr val="04579A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frame-arrow-line"/>
          <p:cNvSpPr/>
          <p:nvPr/>
        </p:nvSpPr>
        <p:spPr>
          <a:xfrm>
            <a:off x="8124825" y="5048250"/>
            <a:ext cx="38100" cy="247650"/>
          </a:xfrm>
          <a:prstGeom prst="rect">
            <a:avLst/>
          </a:prstGeom>
          <a:solidFill>
            <a:srgbClr val="045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sl:frame-arrow-tip"/>
          <p:cNvSpPr/>
          <p:nvPr/>
        </p:nvSpPr>
        <p:spPr>
          <a:xfrm>
            <a:off x="8048625" y="5295900"/>
            <a:ext cx="190500" cy="190500"/>
          </a:xfrm>
          <a:prstGeom prst="triangle">
            <a:avLst>
              <a:gd name="adj" fmla="val 50000"/>
            </a:avLst>
          </a:prstGeom>
          <a:solidFill>
            <a:srgbClr val="045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sl:shape0"/>
          <p:cNvSpPr/>
          <p:nvPr/>
        </p:nvSpPr>
        <p:spPr>
          <a:xfrm>
            <a:off x="2219991" y="0"/>
            <a:ext cx="2895600" cy="96516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sl:shape1"/>
          <p:cNvSpPr/>
          <p:nvPr/>
        </p:nvSpPr>
        <p:spPr>
          <a:xfrm>
            <a:off x="5162169" y="0"/>
            <a:ext cx="2590800" cy="96516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shape2"/>
          <p:cNvSpPr/>
          <p:nvPr/>
        </p:nvSpPr>
        <p:spPr>
          <a:xfrm>
            <a:off x="11971020" y="0"/>
            <a:ext cx="4285011" cy="96516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sl:shape3"/>
          <p:cNvSpPr/>
          <p:nvPr/>
        </p:nvSpPr>
        <p:spPr>
          <a:xfrm>
            <a:off x="7816500" y="0"/>
            <a:ext cx="4114800" cy="965168"/>
          </a:xfrm>
          <a:prstGeom prst="rect">
            <a:avLst/>
          </a:prstGeom>
          <a:solidFill>
            <a:srgbClr val="045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sl:shape4"/>
          <p:cNvSpPr/>
          <p:nvPr/>
        </p:nvSpPr>
        <p:spPr>
          <a:xfrm>
            <a:off x="2283428" y="203168"/>
            <a:ext cx="2768631" cy="5079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text5"/>
          <p:cNvSpPr txBox="1"/>
          <p:nvPr/>
        </p:nvSpPr>
        <p:spPr>
          <a:xfrm>
            <a:off x="2191988" y="157448"/>
            <a:ext cx="2951511" cy="599408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002" noProof="1">
                <a:solidFill>
                  <a:srgbClr val="333333"/>
                </a:solidFill>
                <a:latin typeface="Arial"/>
                <a:ea typeface="Arial"/>
              </a:rPr>
              <a:t>选题背景及意义</a:t>
            </a:r>
          </a:p>
        </p:txBody>
      </p:sp>
      <p:sp>
        <p:nvSpPr>
          <p:cNvPr id="11" name="dsl:shape6"/>
          <p:cNvSpPr/>
          <p:nvPr/>
        </p:nvSpPr>
        <p:spPr>
          <a:xfrm>
            <a:off x="5225700" y="203168"/>
            <a:ext cx="2463831" cy="5079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sl:text7"/>
          <p:cNvSpPr txBox="1"/>
          <p:nvPr/>
        </p:nvSpPr>
        <p:spPr>
          <a:xfrm>
            <a:off x="5134260" y="157448"/>
            <a:ext cx="2646711" cy="599408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002" noProof="1">
                <a:solidFill>
                  <a:srgbClr val="333333"/>
                </a:solidFill>
                <a:latin typeface="Arial"/>
                <a:ea typeface="Arial"/>
              </a:rPr>
              <a:t>国内外研究现状</a:t>
            </a:r>
          </a:p>
        </p:txBody>
      </p:sp>
      <p:sp>
        <p:nvSpPr>
          <p:cNvPr id="13" name="dsl:shape8"/>
          <p:cNvSpPr/>
          <p:nvPr/>
        </p:nvSpPr>
        <p:spPr>
          <a:xfrm>
            <a:off x="7879937" y="203168"/>
            <a:ext cx="3987831" cy="5079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sl:text9"/>
          <p:cNvSpPr txBox="1"/>
          <p:nvPr/>
        </p:nvSpPr>
        <p:spPr>
          <a:xfrm>
            <a:off x="7788497" y="157448"/>
            <a:ext cx="4170711" cy="599408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002" noProof="1">
                <a:solidFill>
                  <a:srgbClr val="FFFFFF"/>
                </a:solidFill>
                <a:latin typeface="Arial"/>
                <a:ea typeface="Arial"/>
              </a:rPr>
              <a:t>主要研究内容及预期目标</a:t>
            </a:r>
          </a:p>
        </p:txBody>
      </p:sp>
      <p:sp>
        <p:nvSpPr>
          <p:cNvPr id="15" name="dsl:shape10"/>
          <p:cNvSpPr/>
          <p:nvPr/>
        </p:nvSpPr>
        <p:spPr>
          <a:xfrm>
            <a:off x="12034551" y="203168"/>
            <a:ext cx="4157948" cy="50796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sl:text11"/>
          <p:cNvSpPr txBox="1"/>
          <p:nvPr/>
        </p:nvSpPr>
        <p:spPr>
          <a:xfrm>
            <a:off x="11943111" y="157448"/>
            <a:ext cx="4340828" cy="599408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002" noProof="1">
                <a:solidFill>
                  <a:srgbClr val="333333"/>
                </a:solidFill>
                <a:latin typeface="Arial"/>
                <a:ea typeface="Arial"/>
              </a:rPr>
              <a:t>工作计划与进度安排</a:t>
            </a:r>
          </a:p>
        </p:txBody>
      </p:sp>
      <p:sp>
        <p:nvSpPr>
          <p:cNvPr id="17" name="dsl:shape12"/>
          <p:cNvSpPr/>
          <p:nvPr/>
        </p:nvSpPr>
        <p:spPr>
          <a:xfrm rot="10800000">
            <a:off x="9683400" y="965168"/>
            <a:ext cx="381000" cy="304800"/>
          </a:xfrm>
          <a:prstGeom prst="triangle">
            <a:avLst>
              <a:gd name="adj" fmla="val 50000"/>
            </a:avLst>
          </a:prstGeom>
          <a:solidFill>
            <a:srgbClr val="0457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dsl:image13" descr="/mnt/agents/output/temp6_pptd/images/image_1.jpg"/>
          <p:cNvPicPr>
            <a:picLocks noChangeAspect="1"/>
          </p:cNvPicPr>
          <p:nvPr/>
        </p:nvPicPr>
        <p:blipFill>
          <a:blip r:embed="rId2"/>
          <a:srcRect l="5060" r="28999"/>
          <a:stretch>
            <a:fillRect/>
          </a:stretch>
        </p:blipFill>
        <p:spPr>
          <a:xfrm>
            <a:off x="544449" y="140589"/>
            <a:ext cx="1273397" cy="745902"/>
          </a:xfrm>
          <a:prstGeom prst="rect">
            <a:avLst/>
          </a:prstGeom>
          <a:ln>
            <a:noFill/>
          </a:ln>
          <a:effectLst/>
        </p:spPr>
      </p:pic>
      <p:sp>
        <p:nvSpPr>
          <p:cNvPr id="19" name="dsl:shape14"/>
          <p:cNvSpPr/>
          <p:nvPr/>
        </p:nvSpPr>
        <p:spPr>
          <a:xfrm>
            <a:off x="15649098" y="8666321"/>
            <a:ext cx="606933" cy="49253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sl:text15"/>
          <p:cNvSpPr txBox="1"/>
          <p:nvPr/>
        </p:nvSpPr>
        <p:spPr>
          <a:xfrm>
            <a:off x="15557658" y="8620601"/>
            <a:ext cx="789813" cy="583977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noProof="1">
                <a:solidFill>
                  <a:srgbClr val="000000"/>
                </a:solidFill>
                <a:latin typeface="Arial"/>
                <a:ea typeface="Arial"/>
              </a:rPr>
              <a:t>23</a:t>
            </a:r>
          </a:p>
        </p:txBody>
      </p:sp>
      <p:sp>
        <p:nvSpPr>
          <p:cNvPr id="21" name="dsl:shape16"/>
          <p:cNvSpPr/>
          <p:nvPr/>
        </p:nvSpPr>
        <p:spPr>
          <a:xfrm>
            <a:off x="5586698" y="2681001"/>
            <a:ext cx="474154" cy="694277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04579A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sl:shape17"/>
          <p:cNvSpPr/>
          <p:nvPr/>
        </p:nvSpPr>
        <p:spPr>
          <a:xfrm>
            <a:off x="5586698" y="4102512"/>
            <a:ext cx="474154" cy="694277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04579A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sl:text19"/>
          <p:cNvSpPr txBox="1"/>
          <p:nvPr/>
        </p:nvSpPr>
        <p:spPr>
          <a:xfrm>
            <a:off x="6592538" y="2761392"/>
            <a:ext cx="8409622" cy="501681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b="1" sz="2662" noProof="1">
                <a:solidFill>
                  <a:srgbClr val="04579A"/>
                </a:solidFill>
                <a:latin typeface="Calibri"/>
                <a:ea typeface="Calibri"/>
              </a:rPr>
              <a:t>基于操作参数约束需求的智能体授权协议设计</a:t>
            </a:r>
            <a:r>
              <a:rPr b="1" sz="2662" noProof="1">
                <a:solidFill>
                  <a:srgbClr val="04579A"/>
                </a:solidFill>
                <a:latin typeface="微软雅黑"/>
                <a:ea typeface="微软雅黑"/>
              </a:rPr>
              <a:t>	</a:t>
            </a:r>
          </a:p>
        </p:txBody>
      </p:sp>
      <p:sp>
        <p:nvSpPr>
          <p:cNvPr id="24" name="dsl:text20"/>
          <p:cNvSpPr txBox="1"/>
          <p:nvPr/>
        </p:nvSpPr>
        <p:spPr>
          <a:xfrm>
            <a:off x="6592538" y="4217670"/>
            <a:ext cx="8741854" cy="501681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b="1" sz="2662" noProof="1">
                <a:solidFill>
                  <a:srgbClr val="04579A"/>
                </a:solidFill>
                <a:latin typeface="Calibri"/>
                <a:ea typeface="Calibri"/>
              </a:rPr>
              <a:t>基于顺序执行约束需求的智能体授权协议设计</a:t>
            </a:r>
          </a:p>
        </p:txBody>
      </p:sp>
      <p:sp>
        <p:nvSpPr>
          <p:cNvPr id="25" name="dsl:text21"/>
          <p:cNvSpPr txBox="1"/>
          <p:nvPr/>
        </p:nvSpPr>
        <p:spPr>
          <a:xfrm>
            <a:off x="6592538" y="5513927"/>
            <a:ext cx="8921305" cy="501681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/>
            <a:r>
              <a:rPr b="1" sz="2662" noProof="1">
                <a:solidFill>
                  <a:srgbClr val="04579A"/>
                </a:solidFill>
                <a:latin typeface="Calibri"/>
                <a:ea typeface="Calibri"/>
              </a:rPr>
              <a:t>基于复杂任务授权需求的智能体授权协议应用实现</a:t>
            </a:r>
          </a:p>
        </p:txBody>
      </p:sp>
      <p:sp>
        <p:nvSpPr>
          <p:cNvPr id="26" name="dsl:text22"/>
          <p:cNvSpPr txBox="1"/>
          <p:nvPr/>
        </p:nvSpPr>
        <p:spPr>
          <a:xfrm>
            <a:off x="743807" y="2556224"/>
            <a:ext cx="4312920" cy="91182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 lvl="0" indent="-405765" marL="507206">
              <a:buAutoNum type="arabicPeriod"/>
            </a:pPr>
            <a:r>
              <a:rPr b="1" sz="2662" noProof="1">
                <a:solidFill>
                  <a:srgbClr val="262626"/>
                </a:solidFill>
                <a:latin typeface="微软雅黑"/>
                <a:ea typeface="微软雅黑"/>
              </a:rPr>
              <a:t>自主智能体场景下授权</a:t>
            </a:r>
            <a:r>
              <a:rPr b="1" sz="2662" noProof="1">
                <a:solidFill>
                  <a:srgbClr val="262626"/>
                </a:solidFill>
                <a:latin typeface="微软雅黑"/>
                <a:ea typeface="微软雅黑"/>
              </a:rPr>
              <a:t>宽泛</a:t>
            </a:r>
          </a:p>
        </p:txBody>
      </p:sp>
      <p:sp>
        <p:nvSpPr>
          <p:cNvPr id="27" name="dsl:text23"/>
          <p:cNvSpPr txBox="1"/>
          <p:nvPr/>
        </p:nvSpPr>
        <p:spPr>
          <a:xfrm>
            <a:off x="742092" y="3940873"/>
            <a:ext cx="4314634" cy="91182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/>
            <a:r>
              <a:rPr b="1" sz="2662" noProof="1">
                <a:solidFill>
                  <a:srgbClr val="262626"/>
                </a:solidFill>
                <a:latin typeface="微软雅黑"/>
                <a:ea typeface="微软雅黑"/>
              </a:rPr>
              <a:t>2.   </a:t>
            </a:r>
            <a:r>
              <a:rPr b="1" sz="2662" noProof="1">
                <a:solidFill>
                  <a:srgbClr val="262626"/>
                </a:solidFill>
                <a:latin typeface="微软雅黑"/>
                <a:ea typeface="微软雅黑"/>
              </a:rPr>
              <a:t>有序任务下无法保证顺序</a:t>
            </a:r>
            <a:r>
              <a:rPr b="1" sz="2662" noProof="1">
                <a:solidFill>
                  <a:srgbClr val="262626"/>
                </a:solidFill>
                <a:latin typeface="微软雅黑"/>
                <a:ea typeface="微软雅黑"/>
              </a:rPr>
              <a:t>授权</a:t>
            </a:r>
          </a:p>
        </p:txBody>
      </p:sp>
      <p:sp>
        <p:nvSpPr>
          <p:cNvPr id="28" name="dsl:text24"/>
          <p:cNvSpPr txBox="1"/>
          <p:nvPr/>
        </p:nvSpPr>
        <p:spPr>
          <a:xfrm>
            <a:off x="742092" y="5364861"/>
            <a:ext cx="4316349" cy="501681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defRPr sz="1800">
                <a:latin typeface="Calibri"/>
                <a:ea typeface="Calibri"/>
              </a:defRPr>
            </a:pPr>
            <a:r>
              <a:rPr sz="1800">
                <a:latin typeface="Calibri"/>
                <a:ea typeface="Calibri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DslMetadata>
  <Colors>
    <Color name="primary" value="#4472C4"/>
    <Color name="secondary" value="#ED7D31"/>
    <Color name="dark" value="#000000"/>
    <Color name="light" value="#FFFFFF"/>
    <Color name="accent3" value="#A5A5A5"/>
    <Color name="accent4" value="#FFC000"/>
    <Color name="accent5" value="#5B9BD5"/>
    <Color name="accent6" value="#70AD47"/>
  </Colors>
</DslMetadata>
</file>

<file path=customXml/itemProps1.xml><?xml version="1.0" encoding="utf-8"?>
<ns0:datastoreItem xmlns:ns0="http://schemas.openxmlformats.org/officeDocument/2006/customXml" ns0:itemID="{7B1FCBD6-9474-441F-AD56-C347A7FAFD8B}">
  <ns0:schemaRefs/>
</ns0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