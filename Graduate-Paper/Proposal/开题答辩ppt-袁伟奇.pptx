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8" r:id="rId3"/>
    <p:sldId id="280" r:id="rId5"/>
    <p:sldId id="419" r:id="rId6"/>
    <p:sldId id="422" r:id="rId7"/>
    <p:sldId id="423" r:id="rId8"/>
    <p:sldId id="431" r:id="rId9"/>
    <p:sldId id="432" r:id="rId10"/>
    <p:sldId id="420" r:id="rId11"/>
    <p:sldId id="428" r:id="rId12"/>
    <p:sldId id="424" r:id="rId13"/>
    <p:sldId id="427" r:id="rId14"/>
    <p:sldId id="429" r:id="rId15"/>
    <p:sldId id="430" r:id="rId16"/>
    <p:sldId id="433" r:id="rId17"/>
    <p:sldId id="434" r:id="rId18"/>
    <p:sldId id="435" r:id="rId19"/>
    <p:sldId id="436" r:id="rId20"/>
    <p:sldId id="418" r:id="rId21"/>
    <p:sldId id="416" r:id="rId22"/>
    <p:sldId id="417" r:id="rId23"/>
    <p:sldId id="437" r:id="rId24"/>
    <p:sldId id="438" r:id="rId25"/>
    <p:sldId id="439" r:id="rId26"/>
    <p:sldId id="440" r:id="rId27"/>
    <p:sldId id="421" r:id="rId28"/>
    <p:sldId id="281" r:id="rId29"/>
    <p:sldId id="260" r:id="rId30"/>
    <p:sldId id="410" r:id="rId31"/>
    <p:sldId id="314" r:id="rId32"/>
    <p:sldId id="413" r:id="rId33"/>
    <p:sldId id="288" r:id="rId34"/>
    <p:sldId id="409" r:id="rId35"/>
    <p:sldId id="411" r:id="rId36"/>
    <p:sldId id="379" r:id="rId37"/>
    <p:sldId id="412" r:id="rId38"/>
    <p:sldId id="315" r:id="rId39"/>
    <p:sldId id="287" r:id="rId40"/>
    <p:sldId id="291" r:id="rId41"/>
    <p:sldId id="292" r:id="rId42"/>
    <p:sldId id="294" r:id="rId43"/>
    <p:sldId id="343" r:id="rId44"/>
    <p:sldId id="304" r:id="rId45"/>
    <p:sldId id="296" r:id="rId46"/>
    <p:sldId id="415" r:id="rId47"/>
    <p:sldId id="298" r:id="rId48"/>
    <p:sldId id="408" r:id="rId49"/>
    <p:sldId id="309" r:id="rId50"/>
    <p:sldId id="316" r:id="rId51"/>
    <p:sldId id="317" r:id="rId52"/>
    <p:sldId id="318" r:id="rId53"/>
    <p:sldId id="310" r:id="rId54"/>
    <p:sldId id="361" r:id="rId55"/>
    <p:sldId id="311" r:id="rId56"/>
    <p:sldId id="312" r:id="rId57"/>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9" userDrawn="1">
          <p15:clr>
            <a:srgbClr val="A4A3A4"/>
          </p15:clr>
        </p15:guide>
        <p15:guide id="2" pos="36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579A"/>
    <a:srgbClr val="FFFFFF"/>
    <a:srgbClr val="404040"/>
    <a:srgbClr val="4D4D4D"/>
    <a:srgbClr val="46ACFB"/>
    <a:srgbClr val="057DD9"/>
    <a:srgbClr val="F2F2F2"/>
    <a:srgbClr val="D22910"/>
    <a:srgbClr val="D12910"/>
    <a:srgbClr val="325A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8" autoAdjust="0"/>
    <p:restoredTop sz="68445" autoAdjust="0"/>
  </p:normalViewPr>
  <p:slideViewPr>
    <p:cSldViewPr snapToGrid="0" showGuides="1">
      <p:cViewPr varScale="1">
        <p:scale>
          <a:sx n="110" d="100"/>
          <a:sy n="110" d="100"/>
        </p:scale>
        <p:origin x="2152" y="56"/>
      </p:cViewPr>
      <p:guideLst>
        <p:guide orient="horz" pos="2329"/>
        <p:guide pos="369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1" Type="http://schemas.openxmlformats.org/officeDocument/2006/relationships/tags" Target="tags/tag868.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各位老师好，我是</a:t>
            </a:r>
            <a:r>
              <a:rPr lang="en-US" altLang="zh-CN" dirty="0">
                <a:sym typeface="+mn-ea"/>
              </a:rPr>
              <a:t>23</a:t>
            </a:r>
            <a:r>
              <a:rPr lang="zh-CN" altLang="en-US" dirty="0">
                <a:sym typeface="+mn-ea"/>
              </a:rPr>
              <a:t>级博士生田安琪，我的开题报告题为分布式数字资产协议设计与分析，导师是徐静老师。</a:t>
            </a:r>
            <a:endParaRPr lang="zh-CN" altLang="en-US" dirty="0"/>
          </a:p>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我将分四个部分进行汇报</a:t>
            </a:r>
            <a:endParaRPr lang="zh-CN" altLang="en-US" dirty="0"/>
          </a:p>
          <a:p>
            <a:r>
              <a:rPr lang="zh-CN" altLang="en-US" dirty="0"/>
              <a:t>首先是第一部分，选题背景及意义</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相比于中心化架构，分布式架构能够不间断地提供高可用性、强可靠性服务，有效解决中心化架构中单点失效的安全隐患</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用户规模与交易需求指数级增长的数字资产市场带来了新的技术需求。</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u="none" strike="noStrike" kern="1200" baseline="0" dirty="0">
                <a:solidFill>
                  <a:schemeClr val="tx1"/>
                </a:solidFill>
                <a:latin typeface="+mn-lt"/>
                <a:ea typeface="+mn-ea"/>
                <a:cs typeface="+mn-cs"/>
              </a:rPr>
              <a:t>首先是</a:t>
            </a:r>
            <a:r>
              <a:rPr lang="zh-CN" altLang="en-US" sz="1200" dirty="0">
                <a:solidFill>
                  <a:schemeClr val="tx1">
                    <a:lumMod val="85000"/>
                    <a:lumOff val="15000"/>
                  </a:schemeClr>
                </a:solidFill>
                <a:sym typeface="+mn-ea"/>
              </a:rPr>
              <a:t>现实网络环境对分布式数字资产交易协议的安全性和健壮性提出了更高的要求。</a:t>
            </a:r>
            <a:endParaRPr lang="zh-CN" altLang="en-US" sz="1200" dirty="0">
              <a:solidFill>
                <a:schemeClr val="tx1">
                  <a:lumMod val="85000"/>
                  <a:lumOff val="15000"/>
                </a:schemeClr>
              </a:solidFill>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尽管区块链对传统的网络攻击具有良好的抵抗性，但是现代网络犯罪分子对区块链及其应用系统的恶意攻击从未停止，数字资产交易协议安全性破坏将导致用户的直接经济损失</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第二，</a:t>
            </a:r>
            <a:r>
              <a:rPr lang="zh-CN" altLang="en-US" sz="1200" dirty="0">
                <a:solidFill>
                  <a:schemeClr val="tx1">
                    <a:lumMod val="85000"/>
                    <a:lumOff val="15000"/>
                  </a:schemeClr>
                </a:solidFill>
                <a:sym typeface="+mn-ea"/>
              </a:rPr>
              <a:t>大规模、高并发的交易场景要求分布式数字资产交易协议具有可扩展性</a:t>
            </a:r>
            <a:endParaRPr lang="zh-CN" altLang="en-US" sz="1200" dirty="0">
              <a:sym typeface="+mn-ea"/>
            </a:endParaRP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最后，</a:t>
            </a:r>
            <a:r>
              <a:rPr lang="zh-CN" altLang="en-US" sz="1200" dirty="0">
                <a:sym typeface="+mn-ea"/>
              </a:rPr>
              <a:t>异构区块链系统间的互联互通要求分布式数字资产交易协议具有互操作性</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分三部分介绍分布式数字资产交易协议的国内外研究现状</a:t>
            </a:r>
            <a:endParaRPr lang="zh-CN" altLang="en-US" dirty="0"/>
          </a:p>
          <a:p>
            <a:r>
              <a:rPr lang="zh-CN" altLang="en-US" dirty="0"/>
              <a:t>（点击）</a:t>
            </a:r>
            <a:endParaRPr lang="zh-CN" altLang="en-US" dirty="0"/>
          </a:p>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a:t>
            </a:r>
            <a:r>
              <a:rPr lang="en-US" altLang="zh-CN" dirty="0"/>
              <a:t>2019</a:t>
            </a:r>
            <a:r>
              <a:rPr lang="zh-CN" altLang="en-US" dirty="0"/>
              <a:t>年，</a:t>
            </a:r>
            <a:r>
              <a:rPr lang="en-US" altLang="zh-CN" sz="1200" b="0" i="0" u="none" strike="noStrike" kern="1200" baseline="0" dirty="0">
                <a:solidFill>
                  <a:schemeClr val="tx1"/>
                </a:solidFill>
                <a:latin typeface="+mn-lt"/>
                <a:ea typeface="+mn-ea"/>
                <a:cs typeface="+mn-cs"/>
              </a:rPr>
              <a:t>Winzer</a:t>
            </a:r>
            <a:r>
              <a:rPr lang="zh-CN" altLang="en-US" sz="1200" b="0" i="0" u="none" strike="noStrike" kern="1200" baseline="0" dirty="0">
                <a:solidFill>
                  <a:schemeClr val="tx1"/>
                </a:solidFill>
                <a:latin typeface="+mn-lt"/>
                <a:ea typeface="+mn-ea"/>
                <a:cs typeface="+mn-cs"/>
              </a:rPr>
              <a:t>首次提出理性矿工模型下的贿赂攻击</a:t>
            </a:r>
            <a:endParaRPr lang="en-US" altLang="zh-CN" sz="1200" b="0" i="0" u="none" strike="noStrike" kern="1200" baseline="0" dirty="0">
              <a:solidFill>
                <a:schemeClr val="tx1"/>
              </a:solidFill>
              <a:latin typeface="+mn-lt"/>
              <a:ea typeface="+mn-ea"/>
              <a:cs typeface="+mn-cs"/>
            </a:endParaRPr>
          </a:p>
          <a:p>
            <a:endParaRPr lang="zh-CN" altLang="en-US" dirty="0"/>
          </a:p>
          <a:p>
            <a:r>
              <a:rPr lang="zh-CN" altLang="en-US" dirty="0"/>
              <a:t>20</a:t>
            </a:r>
            <a:r>
              <a:rPr lang="en-US" altLang="zh-CN" dirty="0"/>
              <a:t>21</a:t>
            </a:r>
            <a:r>
              <a:rPr lang="zh-CN" altLang="en-US" dirty="0"/>
              <a:t> 年，</a:t>
            </a:r>
            <a:r>
              <a:rPr lang="en-US" altLang="zh-CN" dirty="0"/>
              <a:t>MAD-HTLC</a:t>
            </a:r>
            <a:r>
              <a:rPr lang="zh-CN" altLang="en-US" dirty="0"/>
              <a:t>团队对广泛作为基础组件使用的哈希时间锁范式进行改良，给出了抗贿赂攻击的资产兑换组件</a:t>
            </a:r>
            <a:endParaRPr lang="en-US" altLang="zh-CN" dirty="0"/>
          </a:p>
          <a:p>
            <a:endParaRPr lang="zh-CN" altLang="en-US" dirty="0">
              <a:sym typeface="+mn-ea"/>
            </a:endParaRPr>
          </a:p>
          <a:p>
            <a:r>
              <a:rPr lang="en-US" altLang="zh-CN" dirty="0"/>
              <a:t>2023</a:t>
            </a:r>
            <a:r>
              <a:rPr lang="zh-CN" altLang="en-US" dirty="0"/>
              <a:t>年，</a:t>
            </a:r>
            <a:r>
              <a:rPr lang="en-US" altLang="zh-CN" dirty="0"/>
              <a:t> He-HTLC</a:t>
            </a:r>
            <a:r>
              <a:rPr lang="zh-CN" altLang="en-US" dirty="0"/>
              <a:t>团队在此基础上建模了主动理性矿工和被动理性矿工，并进一步给出了抗反向贿赂攻击的轻量级哈希时间锁范式</a:t>
            </a:r>
            <a:endParaRPr lang="en-US" altLang="zh-CN" dirty="0"/>
          </a:p>
          <a:p>
            <a:endParaRPr lang="en-US" altLang="zh-CN" dirty="0"/>
          </a:p>
          <a:p>
            <a:r>
              <a:rPr lang="en-US" altLang="zh-CN" dirty="0"/>
              <a:t>Aumayr</a:t>
            </a:r>
            <a:r>
              <a:rPr lang="zh-CN" altLang="en-US" dirty="0"/>
              <a:t>等人分别在</a:t>
            </a:r>
            <a:r>
              <a:rPr lang="en-US" altLang="zh-CN" dirty="0"/>
              <a:t>23</a:t>
            </a:r>
            <a:r>
              <a:rPr lang="zh-CN" altLang="en-US" dirty="0"/>
              <a:t>年和</a:t>
            </a:r>
            <a:r>
              <a:rPr lang="en-US" altLang="zh-CN" dirty="0"/>
              <a:t>24</a:t>
            </a:r>
            <a:r>
              <a:rPr lang="zh-CN" altLang="en-US" dirty="0"/>
              <a:t>年对理性矿工假设下的分布式资产交易协议进行大胆尝试，给出了首个容忍拜占庭节点的链下资产交易协议</a:t>
            </a:r>
            <a:endParaRPr lang="en-US" altLang="zh-CN" dirty="0"/>
          </a:p>
          <a:p>
            <a:endParaRPr lang="en-US" altLang="zh-CN" dirty="0"/>
          </a:p>
          <a:p>
            <a:r>
              <a:rPr lang="zh-CN" altLang="en-US" dirty="0"/>
              <a:t>同年</a:t>
            </a:r>
            <a:r>
              <a:rPr lang="en-US" altLang="zh-CN" sz="1200" b="0" i="0" u="none" strike="noStrike" kern="1200" baseline="0" dirty="0">
                <a:solidFill>
                  <a:schemeClr val="tx1"/>
                </a:solidFill>
                <a:latin typeface="+mn-lt"/>
                <a:ea typeface="+mn-ea"/>
                <a:cs typeface="+mn-cs"/>
              </a:rPr>
              <a:t>Karakostas</a:t>
            </a:r>
            <a:r>
              <a:rPr lang="zh-CN" altLang="en-US" sz="1200" b="0" i="0" u="none" strike="noStrike" kern="1200" baseline="0" dirty="0">
                <a:solidFill>
                  <a:schemeClr val="tx1"/>
                </a:solidFill>
                <a:latin typeface="+mn-lt"/>
                <a:ea typeface="+mn-ea"/>
                <a:cs typeface="+mn-cs"/>
              </a:rPr>
              <a:t>等人发布了对贿赂攻击对</a:t>
            </a:r>
            <a:r>
              <a:rPr lang="en-US" altLang="zh-CN" sz="1200" b="0" i="0" u="none" strike="noStrike" kern="1200" baseline="0" dirty="0" err="1">
                <a:solidFill>
                  <a:schemeClr val="tx1"/>
                </a:solidFill>
                <a:latin typeface="+mn-lt"/>
                <a:ea typeface="+mn-ea"/>
                <a:cs typeface="+mn-cs"/>
              </a:rPr>
              <a:t>PoS</a:t>
            </a:r>
            <a:r>
              <a:rPr lang="zh-CN" altLang="en-US" sz="1200" b="0" i="0" u="none" strike="noStrike" kern="1200" baseline="0" dirty="0">
                <a:solidFill>
                  <a:schemeClr val="tx1"/>
                </a:solidFill>
                <a:latin typeface="+mn-lt"/>
                <a:ea typeface="+mn-ea"/>
                <a:cs typeface="+mn-cs"/>
              </a:rPr>
              <a:t>链的危害分析，为后续工作提供了可行的指南</a:t>
            </a:r>
            <a:endParaRPr lang="en-US" altLang="zh-CN" sz="1200" b="0" i="0" u="none" strike="noStrike" kern="1200" baseline="0" dirty="0">
              <a:solidFill>
                <a:schemeClr val="tx1"/>
              </a:solidFill>
              <a:latin typeface="+mn-lt"/>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下面我将简要介绍我的三项对应的研究内容</a:t>
            </a:r>
            <a:endParaRPr lang="zh-CN" altLang="en-US" dirty="0"/>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sz="1200" b="1" i="0" u="none" strike="noStrike" kern="1200" baseline="0" dirty="0">
                <a:solidFill>
                  <a:schemeClr val="tx1"/>
                </a:solidFill>
                <a:latin typeface="+mn-lt"/>
                <a:ea typeface="+mn-ea"/>
                <a:cs typeface="+mn-cs"/>
              </a:rPr>
              <a:t>恶意环境下分布式数字资产交易协议设计与分析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dirty="0"/>
              <a:t>现有分布式资产交易协议通常依赖于底层区块链的诚实矿工假设，难以应对现实环境中日益复杂的恶意攻击场景。</a:t>
            </a:r>
            <a:endParaRPr lang="en-US" altLang="zh-CN" dirty="0"/>
          </a:p>
          <a:p>
            <a:r>
              <a:rPr lang="zh-CN" altLang="en-US" dirty="0"/>
              <a:t>基于已有工作对理性矿工和拜占庭节点的安全模型，需系统分析现有协议的安全漏洞及潜在攻击，</a:t>
            </a:r>
            <a:r>
              <a:rPr lang="zh-CN" altLang="en-US" dirty="0">
                <a:latin typeface="微软雅黑" panose="020B0503020204020204" charset="-122"/>
                <a:ea typeface="微软雅黑" panose="020B0503020204020204" charset="-122"/>
                <a:cs typeface="微软雅黑" panose="020B0503020204020204" charset="-122"/>
                <a:sym typeface="+mn-ea"/>
              </a:rPr>
              <a:t>重构现有资产兑换范式，</a:t>
            </a:r>
            <a:endParaRPr lang="en-US" altLang="zh-CN" dirty="0">
              <a:latin typeface="微软雅黑" panose="020B0503020204020204" charset="-122"/>
              <a:ea typeface="微软雅黑" panose="020B0503020204020204" charset="-122"/>
              <a:cs typeface="微软雅黑" panose="020B0503020204020204" charset="-122"/>
              <a:sym typeface="+mn-ea"/>
            </a:endParaRPr>
          </a:p>
          <a:p>
            <a:endParaRPr lang="en-US" altLang="zh-CN" dirty="0"/>
          </a:p>
          <a:p>
            <a:r>
              <a:rPr lang="zh-CN" altLang="en-US" dirty="0"/>
              <a:t>预期目标是</a:t>
            </a:r>
            <a:r>
              <a:rPr lang="zh-CN" altLang="en-US" dirty="0">
                <a:latin typeface="微软雅黑" panose="020B0503020204020204" charset="-122"/>
                <a:ea typeface="微软雅黑" panose="020B0503020204020204" charset="-122"/>
                <a:cs typeface="微软雅黑" panose="020B0503020204020204" charset="-122"/>
                <a:sym typeface="+mn-ea"/>
              </a:rPr>
              <a:t>设计</a:t>
            </a:r>
            <a:r>
              <a:rPr lang="zh-CN" altLang="en-US" b="1" dirty="0">
                <a:latin typeface="微软雅黑" panose="020B0503020204020204" charset="-122"/>
                <a:ea typeface="微软雅黑" panose="020B0503020204020204" charset="-122"/>
                <a:cs typeface="微软雅黑" panose="020B0503020204020204" charset="-122"/>
                <a:sym typeface="+mn-ea"/>
              </a:rPr>
              <a:t>可证明安全的分布式数字资产交易协议</a:t>
            </a:r>
            <a:endParaRPr lang="zh-CN" altLang="en-US" b="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 </a:t>
            </a:r>
            <a:r>
              <a:rPr lang="zh-CN" altLang="en-US" sz="1200" b="1" i="0" u="none" strike="noStrike" kern="1200" baseline="0" dirty="0">
                <a:solidFill>
                  <a:schemeClr val="tx1"/>
                </a:solidFill>
                <a:latin typeface="+mn-lt"/>
                <a:ea typeface="+mn-ea"/>
                <a:cs typeface="+mn-cs"/>
              </a:rPr>
              <a:t>大规模环境下可扩展分布式数字资产交易协议设计与分析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当前链下交易协议通过链下支付信道、多跳路由及虚拟信道等技术已取得显著进展，但由于支付路径选择复杂、多跳支付成功率受限等因素，达不到理想性能</a:t>
            </a:r>
            <a:endParaRPr lang="en-US" altLang="zh-CN" sz="1200" b="0" i="0" u="none" strike="noStrike" kern="1200" baseline="0" dirty="0">
              <a:solidFill>
                <a:schemeClr val="tx1"/>
              </a:solidFill>
              <a:latin typeface="+mn-lt"/>
              <a:ea typeface="+mn-ea"/>
              <a:cs typeface="+mn-cs"/>
            </a:endParaRPr>
          </a:p>
          <a:p>
            <a:r>
              <a:rPr lang="zh-CN" altLang="en-US" dirty="0">
                <a:latin typeface="微软雅黑" panose="020B0503020204020204" charset="-122"/>
                <a:ea typeface="微软雅黑" panose="020B0503020204020204" charset="-122"/>
                <a:cs typeface="微软雅黑" panose="020B0503020204020204" charset="-122"/>
                <a:sym typeface="+mn-ea"/>
              </a:rPr>
              <a:t>因此探索支付信道资产流动性优化机制以延长信道生命周期，优化现有多跳支付结构，设计多方信道安全更新机制并完成实验测试。</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20000"/>
              </a:lnSpc>
            </a:pP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ym typeface="+mn-ea"/>
              </a:rPr>
              <a:t>预期目标是提出强可靠的可扩展分布式数字资产交易协议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dirty="0"/>
              <a:t>3 </a:t>
            </a:r>
            <a:r>
              <a:rPr lang="zh-CN" altLang="en-US" b="1" dirty="0">
                <a:solidFill>
                  <a:srgbClr val="04579A"/>
                </a:solidFill>
                <a:sym typeface="+mn-ea"/>
              </a:rPr>
              <a:t>多源异构环境下分布式数字资产跨链验证协议设计与分析</a:t>
            </a:r>
            <a:endParaRPr lang="zh-CN" altLang="en-US" b="1" dirty="0">
              <a:solidFill>
                <a:srgbClr val="04579A"/>
              </a:solidFill>
              <a:sym typeface="+mn-ea"/>
            </a:endParaRPr>
          </a:p>
          <a:p>
            <a:r>
              <a:rPr lang="zh-CN" altLang="en-US" dirty="0">
                <a:latin typeface="微软雅黑" panose="020B0503020204020204" charset="-122"/>
                <a:ea typeface="微软雅黑" panose="020B0503020204020204" charset="-122"/>
                <a:cs typeface="微软雅黑" panose="020B0503020204020204" charset="-122"/>
                <a:sym typeface="+mn-ea"/>
              </a:rPr>
              <a:t>现有跨链验证机制在证明生成与验证过程中仍面临较高的计算与存储开销，且面临异构区块链系统间的验证协议适配挑战，</a:t>
            </a:r>
            <a:endParaRPr lang="zh-CN" altLang="en-US" dirty="0">
              <a:latin typeface="微软雅黑" panose="020B0503020204020204" charset="-122"/>
              <a:ea typeface="微软雅黑" panose="020B0503020204020204" charset="-122"/>
              <a:cs typeface="微软雅黑" panose="020B0503020204020204" charset="-122"/>
              <a:sym typeface="+mn-ea"/>
            </a:endParaRPr>
          </a:p>
          <a:p>
            <a:r>
              <a:rPr lang="zh-CN" altLang="en-US" dirty="0"/>
              <a:t>此项研究基于基础数字签名技术和随机化承诺方案等密码学组件，优化跨链证明的生成和验证算法，实现恒定链下计算、低链上存储的跨链桥结构。</a:t>
            </a:r>
            <a:endParaRPr lang="zh-CN" altLang="en-US" dirty="0"/>
          </a:p>
          <a:p>
            <a:endParaRPr lang="zh-CN" altLang="en-US" dirty="0"/>
          </a:p>
          <a:p>
            <a:r>
              <a:rPr lang="zh-CN" altLang="en-US" dirty="0"/>
              <a:t>目标是</a:t>
            </a:r>
            <a:r>
              <a:rPr lang="zh-CN" altLang="en-US" sz="1200" b="0" i="0" u="none" strike="noStrike" kern="1200" baseline="0" dirty="0">
                <a:solidFill>
                  <a:schemeClr val="tx1"/>
                </a:solidFill>
                <a:latin typeface="+mn-lt"/>
                <a:ea typeface="+mn-ea"/>
                <a:cs typeface="+mn-cs"/>
              </a:rPr>
              <a:t>互操作性增强的高效分布式数字资产交易协议</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进度安排</a:t>
            </a:r>
            <a:endParaRPr lang="zh-CN" altLang="en-US" dirty="0"/>
          </a:p>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尽管区块链对传统的网络攻击具有良好的抵抗性，但是现代网络犯罪分子对区块链及其应用系统的恶意攻击从未停止，数字资产交易协议安全性破坏将导致用户的直接经济损失</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相比于中心化架构，分布式架构能够不间断地提供高可用性、强可靠性服务，有效解决中心化架构中单点失效的安全隐患</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2008</a:t>
            </a:r>
            <a:r>
              <a:rPr lang="zh-CN" altLang="en-US" dirty="0"/>
              <a:t>年，由中本聪设计的区块链结构和加密货币系统比特币在全球范围内获得成功</a:t>
            </a:r>
            <a:endParaRPr lang="zh-CN" altLang="en-US" dirty="0"/>
          </a:p>
          <a:p>
            <a:r>
              <a:rPr lang="zh-CN" altLang="en-US" dirty="0"/>
              <a:t>比特币以去中心化的方式维护了一个线性排序且能持续增长的交易日志，允许互联网中的任何节点随时自由地加入系统。（点击）</a:t>
            </a:r>
            <a:endParaRPr lang="zh-CN" altLang="en-US" dirty="0"/>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区块链以公开可验证、不可篡改以及去中心化的良好性质为数据确权提供了良好的基础设施</a:t>
            </a:r>
            <a:r>
              <a:rPr lang="zh-CN" altLang="en-US" dirty="0"/>
              <a:t>（点击）</a:t>
            </a:r>
            <a:endParaRPr lang="zh-CN" altLang="en-US" dirty="0">
              <a:sym typeface="+mn-ea"/>
            </a:endParaRPr>
          </a:p>
          <a:p>
            <a:endParaRPr lang="zh-CN" altLang="en-US" b="1" dirty="0"/>
          </a:p>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在数据流通方面，比特币提供了链上点对点数字资产交易方案，允许用户在去中心化的、互不信任的环境中安全支付</a:t>
            </a:r>
            <a:endParaRPr lang="en-US" altLang="zh-CN" dirty="0">
              <a:sym typeface="+mn-ea"/>
            </a:endParaRPr>
          </a:p>
          <a:p>
            <a:endParaRPr lang="en-US" altLang="zh-CN" dirty="0">
              <a:sym typeface="+mn-ea"/>
            </a:endParaRPr>
          </a:p>
          <a:p>
            <a:r>
              <a:rPr lang="zh-CN" altLang="en-US" dirty="0">
                <a:sym typeface="+mn-ea"/>
              </a:rPr>
              <a:t>截止目前基于区块链的加密货币系统已超过</a:t>
            </a:r>
            <a:r>
              <a:rPr lang="en-US" altLang="zh-CN" dirty="0">
                <a:sym typeface="+mn-ea"/>
              </a:rPr>
              <a:t>200</a:t>
            </a:r>
            <a:r>
              <a:rPr lang="zh-CN" altLang="en-US" dirty="0">
                <a:sym typeface="+mn-ea"/>
              </a:rPr>
              <a:t>种</a:t>
            </a:r>
            <a:endParaRPr lang="zh-CN" altLang="en-US" dirty="0"/>
          </a:p>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用户规模与交易需求指数级增长的数字资产市场带来了新的技术需求。</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u="none" strike="noStrike" kern="1200" baseline="0" dirty="0">
                <a:solidFill>
                  <a:schemeClr val="tx1"/>
                </a:solidFill>
                <a:latin typeface="+mn-lt"/>
                <a:ea typeface="+mn-ea"/>
                <a:cs typeface="+mn-cs"/>
              </a:rPr>
              <a:t>首先是</a:t>
            </a:r>
            <a:r>
              <a:rPr lang="zh-CN" altLang="en-US" sz="1200" dirty="0">
                <a:solidFill>
                  <a:schemeClr val="tx1">
                    <a:lumMod val="85000"/>
                    <a:lumOff val="15000"/>
                  </a:schemeClr>
                </a:solidFill>
                <a:sym typeface="+mn-ea"/>
              </a:rPr>
              <a:t>现实网络环境对分布式数字资产交易协议的安全性和健壮性提出了更高的要求。</a:t>
            </a:r>
            <a:endParaRPr lang="zh-CN" altLang="en-US" sz="1200" dirty="0">
              <a:solidFill>
                <a:schemeClr val="tx1">
                  <a:lumMod val="85000"/>
                  <a:lumOff val="15000"/>
                </a:schemeClr>
              </a:solidFill>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尽管区块链对传统的网络攻击具有良好的抵抗性，但是现代网络犯罪分子对区块链及其应用系统的恶意攻击从未停止，数字资产交易协议安全性破坏将导致用户的直接经济损失</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资产兑换协议是分布式数字资产交易协议的核心组件</a:t>
            </a:r>
            <a:endParaRPr lang="en-US" altLang="zh-CN" dirty="0"/>
          </a:p>
          <a:p>
            <a:r>
              <a:rPr lang="zh-CN" altLang="en-US" dirty="0"/>
              <a:t>现有的区块链协议中：资产兑换交易决定了托管资产的归属问题，用于保证诚实用户始终能得到合法财产。（点击）</a:t>
            </a:r>
            <a:endParaRPr lang="zh-CN" altLang="en-US" dirty="0"/>
          </a:p>
          <a:p>
            <a:endParaRPr lang="zh-CN" altLang="en-US" dirty="0"/>
          </a:p>
          <a:p>
            <a:r>
              <a:rPr lang="zh-CN" altLang="en-US" dirty="0"/>
              <a:t>然而现有资产兑换协议依赖于额外的可信假设，削弱了协议本身的安全性</a:t>
            </a:r>
            <a:r>
              <a:rPr lang="en-US" altLang="zh-CN" dirty="0"/>
              <a:t>(</a:t>
            </a:r>
            <a:r>
              <a:rPr lang="zh-CN" altLang="en-US" dirty="0"/>
              <a:t>点击）</a:t>
            </a:r>
            <a:endParaRPr lang="en-US" altLang="zh-CN" dirty="0"/>
          </a:p>
          <a:p>
            <a:endParaRPr lang="zh-CN" altLang="en-US" dirty="0"/>
          </a:p>
          <a:p>
            <a:r>
              <a:rPr lang="zh-CN" altLang="en-US" dirty="0"/>
              <a:t>因此，分布式数字资产交易协议需要去除可信假设并建立更贴合实际的安全模型。</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第二，</a:t>
            </a:r>
            <a:r>
              <a:rPr lang="zh-CN" altLang="en-US" sz="1200" dirty="0">
                <a:solidFill>
                  <a:schemeClr val="tx1">
                    <a:lumMod val="85000"/>
                    <a:lumOff val="15000"/>
                  </a:schemeClr>
                </a:solidFill>
                <a:sym typeface="+mn-ea"/>
              </a:rPr>
              <a:t>大规模、高并发的交易场景要求分布式数字资产交易协议具有可扩展性</a:t>
            </a:r>
            <a:endParaRPr lang="zh-CN" altLang="en-US" sz="1200" dirty="0">
              <a:sym typeface="+mn-ea"/>
            </a:endParaRPr>
          </a:p>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和传统金融机构相比，基于区块链的密码货币系统的性能堪忧</a:t>
            </a:r>
            <a:endParaRPr lang="en-US" altLang="zh-CN" dirty="0"/>
          </a:p>
          <a:p>
            <a:r>
              <a:rPr lang="zh-CN" altLang="en-US" dirty="0"/>
              <a:t>这是由区块链的共识机制和密码学结构决定的，一个非常直觉的思路是优化共识方案</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然而根据以太坊创始人所提出的区块链可扩展性三元悖论，即没有任何区块链系统能同时满足去中心化、可扩展性和安全性</a:t>
            </a:r>
            <a:endParaRPr lang="en-US" altLang="zh-CN" dirty="0"/>
          </a:p>
          <a:p>
            <a:r>
              <a:rPr lang="zh-CN" altLang="en-US" dirty="0"/>
              <a:t>在保证安全性的前提下，吞吐量和去中心化晨读相互制约 （点击）</a:t>
            </a:r>
            <a:endParaRPr lang="en-US" altLang="zh-CN" dirty="0"/>
          </a:p>
          <a:p>
            <a:r>
              <a:rPr lang="zh-CN" altLang="en-US" dirty="0"/>
              <a:t>现有共识机制优化方案只能做到有限的性能提升</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相比难以普及部署硬件层和网络层的性能优化方案（点击）和性能提升有限的区块链层方案（点击），</a:t>
            </a:r>
            <a:endParaRPr lang="en-US" altLang="zh-CN" dirty="0"/>
          </a:p>
          <a:p>
            <a:endParaRPr lang="en-US" altLang="zh-CN" dirty="0"/>
          </a:p>
          <a:p>
            <a:r>
              <a:rPr lang="zh-CN" altLang="en-US" dirty="0"/>
              <a:t>链下层方案允许用户之间通过一个经过认证的私下信道进行交易，只在链上记录初始交易和结束交易，展现出的性能提升和良好的向后兼容性。</a:t>
            </a:r>
            <a:endParaRPr lang="en-US" altLang="zh-CN" dirty="0"/>
          </a:p>
          <a:p>
            <a:endParaRPr lang="en-US" altLang="zh-CN" dirty="0"/>
          </a:p>
          <a:p>
            <a:r>
              <a:rPr lang="zh-CN" altLang="en-US" dirty="0"/>
              <a:t>因此分布式数字资产交易协议需要高性能的链下方案构造满足大规模场景下的高吞吐量、低延迟交易要求。</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最后，</a:t>
            </a:r>
            <a:r>
              <a:rPr lang="zh-CN" altLang="en-US" sz="1200" dirty="0">
                <a:sym typeface="+mn-ea"/>
              </a:rPr>
              <a:t>异构区块链系统间的互联互通要求分布式数字资产交易协议具有互操作性</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跨区块链协议可以按照操作模式分为数据传输、资产交换和资产转移三种。（点击）</a:t>
            </a:r>
            <a:endParaRPr lang="en-US" altLang="zh-CN" dirty="0"/>
          </a:p>
          <a:p>
            <a:endParaRPr lang="en-US" altLang="zh-CN" dirty="0"/>
          </a:p>
          <a:p>
            <a:r>
              <a:rPr lang="zh-CN" altLang="en-US" dirty="0"/>
              <a:t>跨链分布式资产交易协议的协议流程主要分为资产托管、证明生成、证明验证和条件交易四部分（点击）</a:t>
            </a:r>
            <a:endParaRPr lang="en-US" altLang="zh-CN" dirty="0"/>
          </a:p>
          <a:p>
            <a:endParaRPr lang="en-US" altLang="zh-CN" dirty="0"/>
          </a:p>
          <a:p>
            <a:r>
              <a:rPr lang="zh-CN" altLang="en-US" dirty="0"/>
              <a:t>其中跨链证明的生成和验证机制是核心，决定了跨链资产交易协议的性能表现</a:t>
            </a:r>
            <a:endParaRPr lang="en-US" altLang="zh-CN" dirty="0"/>
          </a:p>
          <a:p>
            <a:endParaRPr lang="en-US" altLang="zh-CN" dirty="0"/>
          </a:p>
          <a:p>
            <a:r>
              <a:rPr lang="zh-CN" altLang="en-US" dirty="0"/>
              <a:t>跨链资产交易协议需要高效通用的跨链证明机制，满足异构区块链系统间互联互通的需求</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以上三点，说明传统的分布式数字资产交易协议尚不足以支撑支撑大规模、高并发、异构化的区块链交易场景</a:t>
            </a:r>
            <a:endParaRPr lang="en-US" altLang="zh-CN" dirty="0"/>
          </a:p>
          <a:p>
            <a:endParaRPr lang="zh-CN" altLang="en-US" dirty="0"/>
          </a:p>
          <a:p>
            <a:r>
              <a:rPr lang="zh-CN" altLang="en-US" b="1" dirty="0">
                <a:sym typeface="+mn-ea"/>
              </a:rPr>
              <a:t>应对新场景下特有的技术挑战，需要构建兼具安全性与高性能的分布式数字资产交易协议体系</a:t>
            </a:r>
            <a:endParaRPr lang="en-US" altLang="zh-CN" b="1" dirty="0">
              <a:sym typeface="+mn-ea"/>
            </a:endParaRPr>
          </a:p>
          <a:p>
            <a:endParaRPr lang="zh-CN" altLang="en-US" b="1" dirty="0"/>
          </a:p>
          <a:p>
            <a:r>
              <a:rPr lang="zh-CN" altLang="en-US" dirty="0"/>
              <a:t>接下来，我将针对上述三点，（切下一页）</a:t>
            </a:r>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分三部分介绍分布式数字资产交易协议的国内外研究现状</a:t>
            </a:r>
            <a:endParaRPr lang="zh-CN" altLang="en-US" dirty="0"/>
          </a:p>
          <a:p>
            <a:r>
              <a:rPr lang="zh-CN" altLang="en-US" dirty="0"/>
              <a:t>（点击）</a:t>
            </a:r>
            <a:endParaRPr lang="zh-CN" altLang="en-US" dirty="0"/>
          </a:p>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区块链允许共识节点，也称为矿工，获取区块内交易的小费来激励矿工提出区块（点击）</a:t>
            </a:r>
            <a:endParaRPr lang="en-US" altLang="zh-CN" dirty="0"/>
          </a:p>
          <a:p>
            <a:r>
              <a:rPr lang="zh-CN" altLang="en-US" dirty="0"/>
              <a:t>在现实中比特币和以太坊的矿工均优先打包小费金额高的交易上链 </a:t>
            </a:r>
            <a:endParaRPr lang="en-US" altLang="zh-CN" dirty="0"/>
          </a:p>
          <a:p>
            <a:endParaRPr lang="en-US" altLang="zh-CN" dirty="0"/>
          </a:p>
          <a:p>
            <a:r>
              <a:rPr lang="zh-CN" altLang="en-US" dirty="0"/>
              <a:t>与传统方案里资产兑换协议依赖的诚实矿工假设矛盾（点击）</a:t>
            </a:r>
            <a:endParaRPr lang="en-US" altLang="zh-CN" dirty="0"/>
          </a:p>
          <a:p>
            <a:endParaRPr lang="zh-CN" altLang="en-US" dirty="0"/>
          </a:p>
          <a:p>
            <a:r>
              <a:rPr lang="zh-CN" altLang="en-US" dirty="0"/>
              <a:t>在现实中恶意节点可以通过贿赂矿工延迟诚实用户的交易，抢先兑换其资产，破坏了传统资产交易方案的安全性</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a:t>
            </a:r>
            <a:r>
              <a:rPr lang="en-US" altLang="zh-CN" dirty="0"/>
              <a:t>2019</a:t>
            </a:r>
            <a:r>
              <a:rPr lang="zh-CN" altLang="en-US" dirty="0"/>
              <a:t>年，</a:t>
            </a:r>
            <a:r>
              <a:rPr lang="en-US" altLang="zh-CN" sz="1200" b="0" i="0" u="none" strike="noStrike" kern="1200" baseline="0" dirty="0">
                <a:solidFill>
                  <a:schemeClr val="tx1"/>
                </a:solidFill>
                <a:latin typeface="+mn-lt"/>
                <a:ea typeface="+mn-ea"/>
                <a:cs typeface="+mn-cs"/>
              </a:rPr>
              <a:t>Winzer</a:t>
            </a:r>
            <a:r>
              <a:rPr lang="zh-CN" altLang="en-US" sz="1200" b="0" i="0" u="none" strike="noStrike" kern="1200" baseline="0" dirty="0">
                <a:solidFill>
                  <a:schemeClr val="tx1"/>
                </a:solidFill>
                <a:latin typeface="+mn-lt"/>
                <a:ea typeface="+mn-ea"/>
                <a:cs typeface="+mn-cs"/>
              </a:rPr>
              <a:t>首次提出理性矿工模型下的贿赂攻击</a:t>
            </a:r>
            <a:endParaRPr lang="en-US" altLang="zh-CN" sz="1200" b="0" i="0" u="none" strike="noStrike" kern="1200" baseline="0" dirty="0">
              <a:solidFill>
                <a:schemeClr val="tx1"/>
              </a:solidFill>
              <a:latin typeface="+mn-lt"/>
              <a:ea typeface="+mn-ea"/>
              <a:cs typeface="+mn-cs"/>
            </a:endParaRPr>
          </a:p>
          <a:p>
            <a:endParaRPr lang="zh-CN" altLang="en-US" dirty="0"/>
          </a:p>
          <a:p>
            <a:r>
              <a:rPr lang="zh-CN" altLang="en-US" dirty="0"/>
              <a:t>20</a:t>
            </a:r>
            <a:r>
              <a:rPr lang="en-US" altLang="zh-CN" dirty="0"/>
              <a:t>21</a:t>
            </a:r>
            <a:r>
              <a:rPr lang="zh-CN" altLang="en-US" dirty="0"/>
              <a:t> 年，</a:t>
            </a:r>
            <a:r>
              <a:rPr lang="en-US" altLang="zh-CN" dirty="0"/>
              <a:t>MAD-HTLC</a:t>
            </a:r>
            <a:r>
              <a:rPr lang="zh-CN" altLang="en-US" dirty="0"/>
              <a:t>团队对广泛作为基础组件使用的哈希时间锁范式进行改良，给出了抗贿赂攻击的资产兑换组件</a:t>
            </a:r>
            <a:endParaRPr lang="en-US" altLang="zh-CN" dirty="0"/>
          </a:p>
          <a:p>
            <a:endParaRPr lang="zh-CN" altLang="en-US" dirty="0">
              <a:sym typeface="+mn-ea"/>
            </a:endParaRPr>
          </a:p>
          <a:p>
            <a:r>
              <a:rPr lang="en-US" altLang="zh-CN" dirty="0"/>
              <a:t>2023</a:t>
            </a:r>
            <a:r>
              <a:rPr lang="zh-CN" altLang="en-US" dirty="0"/>
              <a:t>年，</a:t>
            </a:r>
            <a:r>
              <a:rPr lang="en-US" altLang="zh-CN" dirty="0"/>
              <a:t> He-HTLC</a:t>
            </a:r>
            <a:r>
              <a:rPr lang="zh-CN" altLang="en-US" dirty="0"/>
              <a:t>团队在此基础上建模了主动理性矿工和被动理性矿工，并进一步给出了抗反向贿赂攻击的轻量级哈希时间锁范式</a:t>
            </a:r>
            <a:endParaRPr lang="en-US" altLang="zh-CN" dirty="0"/>
          </a:p>
          <a:p>
            <a:endParaRPr lang="en-US" altLang="zh-CN" dirty="0"/>
          </a:p>
          <a:p>
            <a:r>
              <a:rPr lang="en-US" altLang="zh-CN" dirty="0"/>
              <a:t>Aumayr</a:t>
            </a:r>
            <a:r>
              <a:rPr lang="zh-CN" altLang="en-US" dirty="0"/>
              <a:t>等人分别在</a:t>
            </a:r>
            <a:r>
              <a:rPr lang="en-US" altLang="zh-CN" dirty="0"/>
              <a:t>23</a:t>
            </a:r>
            <a:r>
              <a:rPr lang="zh-CN" altLang="en-US" dirty="0"/>
              <a:t>年和</a:t>
            </a:r>
            <a:r>
              <a:rPr lang="en-US" altLang="zh-CN" dirty="0"/>
              <a:t>24</a:t>
            </a:r>
            <a:r>
              <a:rPr lang="zh-CN" altLang="en-US" dirty="0"/>
              <a:t>年对理性矿工假设下的分布式资产交易协议进行大胆尝试，给出了首个容忍拜占庭节点的链下资产交易协议</a:t>
            </a:r>
            <a:endParaRPr lang="en-US" altLang="zh-CN" dirty="0"/>
          </a:p>
          <a:p>
            <a:endParaRPr lang="en-US" altLang="zh-CN" dirty="0"/>
          </a:p>
          <a:p>
            <a:r>
              <a:rPr lang="zh-CN" altLang="en-US" dirty="0"/>
              <a:t>同年</a:t>
            </a:r>
            <a:r>
              <a:rPr lang="en-US" altLang="zh-CN" sz="1200" b="0" i="0" u="none" strike="noStrike" kern="1200" baseline="0" dirty="0">
                <a:solidFill>
                  <a:schemeClr val="tx1"/>
                </a:solidFill>
                <a:latin typeface="+mn-lt"/>
                <a:ea typeface="+mn-ea"/>
                <a:cs typeface="+mn-cs"/>
              </a:rPr>
              <a:t>Karakostas</a:t>
            </a:r>
            <a:r>
              <a:rPr lang="zh-CN" altLang="en-US" sz="1200" b="0" i="0" u="none" strike="noStrike" kern="1200" baseline="0" dirty="0">
                <a:solidFill>
                  <a:schemeClr val="tx1"/>
                </a:solidFill>
                <a:latin typeface="+mn-lt"/>
                <a:ea typeface="+mn-ea"/>
                <a:cs typeface="+mn-cs"/>
              </a:rPr>
              <a:t>等人发布了对贿赂攻击对</a:t>
            </a:r>
            <a:r>
              <a:rPr lang="en-US" altLang="zh-CN" sz="1200" b="0" i="0" u="none" strike="noStrike" kern="1200" baseline="0" dirty="0" err="1">
                <a:solidFill>
                  <a:schemeClr val="tx1"/>
                </a:solidFill>
                <a:latin typeface="+mn-lt"/>
                <a:ea typeface="+mn-ea"/>
                <a:cs typeface="+mn-cs"/>
              </a:rPr>
              <a:t>PoS</a:t>
            </a:r>
            <a:r>
              <a:rPr lang="zh-CN" altLang="en-US" sz="1200" b="0" i="0" u="none" strike="noStrike" kern="1200" baseline="0" dirty="0">
                <a:solidFill>
                  <a:schemeClr val="tx1"/>
                </a:solidFill>
                <a:latin typeface="+mn-lt"/>
                <a:ea typeface="+mn-ea"/>
                <a:cs typeface="+mn-cs"/>
              </a:rPr>
              <a:t>链的危害分析，为后续工作提供了可行的指南</a:t>
            </a:r>
            <a:endParaRPr lang="en-US" altLang="zh-CN" sz="1200" b="0" i="0" u="none" strike="noStrike" kern="1200" baseline="0" dirty="0">
              <a:solidFill>
                <a:schemeClr val="tx1"/>
              </a:solidFill>
              <a:latin typeface="+mn-lt"/>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此外，现有工作在理性矿工模型下通过矿工激励机制优化事务处理逻辑</a:t>
            </a:r>
            <a:endParaRPr lang="en-US" altLang="zh-CN" dirty="0"/>
          </a:p>
          <a:p>
            <a:r>
              <a:rPr lang="zh-CN" altLang="en-US" dirty="0"/>
              <a:t>去除了部分传统方案依赖的可信假设，如节点实时在线假设，因此方案的可靠性和性能也得到了提升。</a:t>
            </a:r>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支付信道是目前最流行的链下方案，以两个链上交易的代价允许用户间进行多次免交易费、低延迟的链下交易。</a:t>
            </a:r>
            <a:endParaRPr lang="en-US" altLang="zh-CN" dirty="0"/>
          </a:p>
          <a:p>
            <a:endParaRPr lang="en-US" altLang="zh-CN" dirty="0"/>
          </a:p>
          <a:p>
            <a:r>
              <a:rPr lang="zh-CN" altLang="en-US" dirty="0"/>
              <a:t>在此基础上支付信道网络方案使用多跳支付技术，允许两个节点利用其他节点作为中介进行链下支付，进一步减少了链上负载</a:t>
            </a:r>
            <a:endParaRPr lang="en-US" altLang="zh-CN" dirty="0"/>
          </a:p>
          <a:p>
            <a:endParaRPr lang="en-US" altLang="zh-CN" dirty="0"/>
          </a:p>
          <a:p>
            <a:r>
              <a:rPr lang="zh-CN" altLang="en-US" dirty="0"/>
              <a:t>闪电网络是目前最大的支付信道网络，被多个密码学货币系统使用</a:t>
            </a:r>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然而</a:t>
            </a:r>
            <a:endParaRPr lang="en-US" altLang="zh-CN" dirty="0"/>
          </a:p>
          <a:p>
            <a:r>
              <a:rPr lang="en-US" altLang="zh-CN" dirty="0"/>
              <a:t>1. </a:t>
            </a:r>
            <a:r>
              <a:rPr lang="zh-CN" altLang="en-US" dirty="0"/>
              <a:t>多跳支付技术具有路由复杂以及中介抵押成本高的问题</a:t>
            </a:r>
            <a:endParaRPr lang="en-US" altLang="zh-CN" dirty="0"/>
          </a:p>
          <a:p>
            <a:r>
              <a:rPr lang="en-US" altLang="zh-CN" dirty="0"/>
              <a:t>2. </a:t>
            </a:r>
            <a:r>
              <a:rPr lang="zh-CN" altLang="en-US" dirty="0"/>
              <a:t>信道资金流动性的分布直接影响支付信道网络的整体支付能力</a:t>
            </a:r>
            <a:endParaRPr lang="en-US" altLang="zh-CN" dirty="0"/>
          </a:p>
          <a:p>
            <a:r>
              <a:rPr lang="zh-CN" altLang="en-US" dirty="0"/>
              <a:t>这两个核心问题制约了</a:t>
            </a:r>
            <a:r>
              <a:rPr lang="zh-CN" altLang="en-US" sz="1200" b="0" i="0" u="none" strike="noStrike" kern="1200" baseline="0" dirty="0">
                <a:solidFill>
                  <a:schemeClr val="tx1"/>
                </a:solidFill>
                <a:latin typeface="+mn-lt"/>
                <a:ea typeface="+mn-ea"/>
                <a:cs typeface="+mn-cs"/>
              </a:rPr>
              <a:t>支付信道网络的性能表现</a:t>
            </a:r>
            <a:endParaRPr lang="en-US" altLang="zh-CN" dirty="0"/>
          </a:p>
          <a:p>
            <a:endParaRPr lang="en-US" altLang="zh-CN" dirty="0"/>
          </a:p>
          <a:p>
            <a:r>
              <a:rPr lang="zh-CN" altLang="en-US" dirty="0"/>
              <a:t>目前的解决思路主要有</a:t>
            </a:r>
            <a:r>
              <a:rPr lang="en-US" altLang="zh-CN" dirty="0"/>
              <a:t>3</a:t>
            </a:r>
            <a:r>
              <a:rPr lang="zh-CN" altLang="en-US" dirty="0"/>
              <a:t>种：</a:t>
            </a:r>
            <a:endParaRPr lang="en-US" altLang="zh-CN" dirty="0"/>
          </a:p>
          <a:p>
            <a:r>
              <a:rPr lang="zh-CN" altLang="en-US" dirty="0"/>
              <a:t>首先是降低去中心化程度以缩短路由长度的支付信道枢纽方案：通过在网络中设置多个大型枢纽节点作为支付中介方便路由，由于中心化结构，该方向的工作致力于提升方案的隐私性，</a:t>
            </a:r>
            <a:endParaRPr lang="en-US" altLang="zh-CN" dirty="0"/>
          </a:p>
          <a:p>
            <a:r>
              <a:rPr lang="zh-CN" altLang="en-US" dirty="0"/>
              <a:t>目前最先进的工作是</a:t>
            </a:r>
            <a:r>
              <a:rPr lang="en-US" altLang="zh-CN" dirty="0"/>
              <a:t>23</a:t>
            </a:r>
            <a:r>
              <a:rPr lang="zh-CN" altLang="en-US" dirty="0"/>
              <a:t>年提出的</a:t>
            </a:r>
            <a:r>
              <a:rPr lang="en-US" altLang="zh-CN" dirty="0" err="1"/>
              <a:t>BlindHub</a:t>
            </a:r>
            <a:r>
              <a:rPr lang="zh-CN" altLang="en-US" dirty="0"/>
              <a:t>，利用非交互式零知识证明构建匿名资产凭证，实现了兼容大部分区块链的强隐私性可变额度的支付信道枢纽协议</a:t>
            </a:r>
            <a:endParaRPr lang="en-US" altLang="zh-CN" dirty="0"/>
          </a:p>
          <a:p>
            <a:endParaRPr lang="en-US" altLang="zh-CN" dirty="0"/>
          </a:p>
          <a:p>
            <a:r>
              <a:rPr lang="zh-CN" altLang="en-US" dirty="0"/>
              <a:t>其次是</a:t>
            </a:r>
            <a:r>
              <a:rPr lang="zh-CN" altLang="en-US" sz="1200" b="0" i="0" u="none" strike="noStrike" kern="1200" baseline="0" dirty="0">
                <a:solidFill>
                  <a:schemeClr val="tx1"/>
                </a:solidFill>
                <a:latin typeface="+mn-lt"/>
                <a:ea typeface="+mn-ea"/>
                <a:cs typeface="+mn-cs"/>
              </a:rPr>
              <a:t>将多跳支付多个中间节点抽象为仅在支付信道关闭时介入的中介的虚拟信道方案，由于减少了与中间节点的交互，方案的可靠性和抵押资产减少，</a:t>
            </a:r>
            <a:r>
              <a:rPr lang="zh-CN" altLang="en-US" dirty="0"/>
              <a:t>该方向的工作致力于实现多信道原子更新，</a:t>
            </a:r>
            <a:endParaRPr lang="en-US" altLang="zh-CN" dirty="0"/>
          </a:p>
          <a:p>
            <a:r>
              <a:rPr lang="zh-CN" altLang="en-US" dirty="0"/>
              <a:t>目前最先进的工作是</a:t>
            </a:r>
            <a:r>
              <a:rPr lang="en-US" altLang="zh-CN" dirty="0"/>
              <a:t>23</a:t>
            </a:r>
            <a:r>
              <a:rPr lang="zh-CN" altLang="en-US" dirty="0"/>
              <a:t>年提出的</a:t>
            </a:r>
            <a:r>
              <a:rPr lang="en-US" altLang="zh-CN" dirty="0"/>
              <a:t>Donner</a:t>
            </a:r>
            <a:r>
              <a:rPr lang="zh-CN" altLang="en-US" dirty="0"/>
              <a:t>，提出了首个非递归结构的虚拟信道，降低了方案复杂度，但目前的虚拟信道方案仍然没有解决多米诺攻击</a:t>
            </a:r>
            <a:endParaRPr lang="en-US" altLang="zh-CN" dirty="0"/>
          </a:p>
          <a:p>
            <a:endParaRPr lang="en-US" altLang="zh-CN" dirty="0"/>
          </a:p>
          <a:p>
            <a:r>
              <a:rPr lang="zh-CN" altLang="en-US" dirty="0"/>
              <a:t>最后是以</a:t>
            </a:r>
            <a:r>
              <a:rPr lang="en-US" altLang="zh-CN" dirty="0"/>
              <a:t>Revive</a:t>
            </a:r>
            <a:r>
              <a:rPr lang="zh-CN" altLang="en-US" dirty="0"/>
              <a:t>为代表的信道再平衡方案，通过组织环形的信道路径进行资产转移，从而使信道资产流动性提升，优化支付信道网络性能，该方向的工作致力于消除可信假设，</a:t>
            </a:r>
            <a:endParaRPr lang="en-US" altLang="zh-CN" dirty="0"/>
          </a:p>
          <a:p>
            <a:r>
              <a:rPr lang="zh-CN" altLang="en-US" dirty="0"/>
              <a:t>目前最先进的工作为</a:t>
            </a:r>
            <a:r>
              <a:rPr lang="en-US" altLang="zh-CN" dirty="0"/>
              <a:t>22</a:t>
            </a:r>
            <a:r>
              <a:rPr lang="zh-CN" altLang="en-US" dirty="0"/>
              <a:t>年提出的</a:t>
            </a:r>
            <a:r>
              <a:rPr lang="en-US" altLang="zh-CN" dirty="0"/>
              <a:t>Shaduf</a:t>
            </a:r>
            <a:r>
              <a:rPr lang="zh-CN" altLang="en-US" dirty="0"/>
              <a:t>，提出首个非环形结构的再平衡协议，但由于依赖于智能合约，该工作的安全性和通用性仍需优化</a:t>
            </a:r>
            <a:endParaRPr lang="en-US"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跨链数字资产交易协议的跨链证明主要包括：最长链证明、区块有效性证明、交易有效性证明以及交易内数据正确性证明。</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其难点在于前两项证明需要节点参与共识机制，这在跨链场景下是不可能的</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目前的解决思路主要有两种：基于</a:t>
            </a:r>
            <a:r>
              <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SPV</a:t>
            </a:r>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和轻客户端的方案和基于零知识证明的方案</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基于轻客户端的方案优点在于计算和验证简单，但需要和链长线性相关的储存资源同时只限定与</a:t>
            </a:r>
            <a:r>
              <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PoW</a:t>
            </a:r>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r>
              <a:rPr lang="zh-CN" altLang="en-US"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基于零知识证明的方面优点在于可以为特殊的区块链定制零知识证明，但代价是昂贵的零知识证明计算和验证</a:t>
            </a:r>
            <a:endParaRPr lang="en-US" altLang="zh-CN" sz="12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chemeClr val="tx1">
                    <a:lumMod val="85000"/>
                    <a:lumOff val="15000"/>
                  </a:schemeClr>
                </a:solidFill>
                <a:sym typeface="+mn-ea"/>
              </a:rPr>
              <a:t>2020</a:t>
            </a:r>
            <a:r>
              <a:rPr lang="zh-CN" altLang="en-US" dirty="0">
                <a:solidFill>
                  <a:schemeClr val="tx1">
                    <a:lumMod val="85000"/>
                    <a:lumOff val="15000"/>
                  </a:schemeClr>
                </a:solidFill>
                <a:sym typeface="+mn-ea"/>
              </a:rPr>
              <a:t>年的</a:t>
            </a:r>
            <a:r>
              <a:rPr lang="en-US" altLang="zh-CN" dirty="0" err="1">
                <a:solidFill>
                  <a:schemeClr val="tx1">
                    <a:lumMod val="85000"/>
                    <a:lumOff val="15000"/>
                  </a:schemeClr>
                </a:solidFill>
                <a:sym typeface="+mn-ea"/>
              </a:rPr>
              <a:t>Flyclient</a:t>
            </a:r>
            <a:r>
              <a:rPr lang="zh-CN" altLang="en-US" dirty="0">
                <a:solidFill>
                  <a:schemeClr val="tx1">
                    <a:lumMod val="85000"/>
                    <a:lumOff val="15000"/>
                  </a:schemeClr>
                </a:solidFill>
                <a:sym typeface="+mn-ea"/>
              </a:rPr>
              <a:t>利用</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以非交互的抽样分布生成证明</a:t>
            </a:r>
            <a:r>
              <a:rPr lang="zh-CN" altLang="en-US" dirty="0">
                <a:solidFill>
                  <a:schemeClr val="tx1">
                    <a:lumMod val="85000"/>
                    <a:lumOff val="15000"/>
                  </a:schemeClr>
                </a:solidFill>
                <a:sym typeface="+mn-ea"/>
              </a:rPr>
              <a:t>将</a:t>
            </a:r>
            <a:r>
              <a:rPr lang="en-US" altLang="zh-CN" dirty="0">
                <a:solidFill>
                  <a:schemeClr val="tx1">
                    <a:lumMod val="85000"/>
                    <a:lumOff val="15000"/>
                  </a:schemeClr>
                </a:solidFill>
                <a:sym typeface="+mn-ea"/>
              </a:rPr>
              <a:t>SPV</a:t>
            </a:r>
            <a:r>
              <a:rPr lang="zh-CN" altLang="en-US" dirty="0">
                <a:solidFill>
                  <a:schemeClr val="tx1">
                    <a:lumMod val="85000"/>
                    <a:lumOff val="15000"/>
                  </a:schemeClr>
                </a:solidFill>
                <a:sym typeface="+mn-ea"/>
              </a:rPr>
              <a:t>所需的储存复杂度降到对数级，但和区块链底层结构紧密相关，缺乏后向</a:t>
            </a:r>
            <a:r>
              <a:rPr lang="zh-CN" altLang="en-US"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兼容性</a:t>
            </a:r>
            <a:endParaRPr lang="en-US" altLang="zh-CN"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en-US" altLang="zh-CN" sz="1200" b="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chemeClr val="tx1">
                    <a:lumMod val="85000"/>
                    <a:lumOff val="15000"/>
                  </a:schemeClr>
                </a:solidFill>
                <a:sym typeface="+mn-ea"/>
              </a:rPr>
              <a:t>2022</a:t>
            </a:r>
            <a:r>
              <a:rPr lang="zh-CN" altLang="en-US" dirty="0">
                <a:solidFill>
                  <a:schemeClr val="tx1">
                    <a:lumMod val="85000"/>
                    <a:lumOff val="15000"/>
                  </a:schemeClr>
                </a:solidFill>
                <a:sym typeface="+mn-ea"/>
              </a:rPr>
              <a:t>年的</a:t>
            </a:r>
            <a:r>
              <a:rPr lang="en-US" altLang="zh-CN" dirty="0" err="1">
                <a:solidFill>
                  <a:schemeClr val="tx1">
                    <a:lumMod val="85000"/>
                    <a:lumOff val="15000"/>
                  </a:schemeClr>
                </a:solidFill>
                <a:sym typeface="+mn-ea"/>
              </a:rPr>
              <a:t>zk</a:t>
            </a:r>
            <a:r>
              <a:rPr lang="en-US" altLang="zh-CN" dirty="0">
                <a:solidFill>
                  <a:schemeClr val="tx1">
                    <a:lumMod val="85000"/>
                    <a:lumOff val="15000"/>
                  </a:schemeClr>
                </a:solidFill>
                <a:sym typeface="+mn-ea"/>
              </a:rPr>
              <a:t>-bridge</a:t>
            </a:r>
            <a:r>
              <a:rPr lang="zh-CN" altLang="en-US" dirty="0">
                <a:solidFill>
                  <a:schemeClr val="tx1">
                    <a:lumMod val="85000"/>
                    <a:lumOff val="15000"/>
                  </a:schemeClr>
                </a:solidFill>
                <a:sym typeface="+mn-ea"/>
              </a:rPr>
              <a:t>是基于零知识证明的跨链桥协议的代表性工作，</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恒定储存复杂度，且支持不同应用事务的证明生成，但受限于昂贵的部署成本</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23</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年的</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Glimpse</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使用无状态</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SPV</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按需证明机制，实现了恒定链上存储，但由于特殊脚本语言需要，难以兼容到现有主流区块链系统上</a:t>
            </a: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下面我将简要介绍我的三项对应的研究内容</a:t>
            </a:r>
            <a:endParaRPr lang="zh-CN" altLang="en-US" dirty="0"/>
          </a:p>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sz="1200" b="1" i="0" u="none" strike="noStrike" kern="1200" baseline="0" dirty="0">
                <a:solidFill>
                  <a:schemeClr val="tx1"/>
                </a:solidFill>
                <a:latin typeface="+mn-lt"/>
                <a:ea typeface="+mn-ea"/>
                <a:cs typeface="+mn-cs"/>
              </a:rPr>
              <a:t>恶意环境下分布式数字资产交易协议设计与分析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dirty="0"/>
              <a:t>现有分布式资产交易协议通常依赖于底层区块链的诚实矿工假设，难以应对现实环境中日益复杂的恶意攻击场景。</a:t>
            </a:r>
            <a:endParaRPr lang="en-US" altLang="zh-CN" dirty="0"/>
          </a:p>
          <a:p>
            <a:r>
              <a:rPr lang="zh-CN" altLang="en-US" dirty="0"/>
              <a:t>基于已有工作对理性矿工和拜占庭节点的安全模型，需系统分析现有协议的安全漏洞及潜在攻击，</a:t>
            </a:r>
            <a:r>
              <a:rPr lang="zh-CN" altLang="en-US" dirty="0">
                <a:latin typeface="微软雅黑" panose="020B0503020204020204" charset="-122"/>
                <a:ea typeface="微软雅黑" panose="020B0503020204020204" charset="-122"/>
                <a:cs typeface="微软雅黑" panose="020B0503020204020204" charset="-122"/>
                <a:sym typeface="+mn-ea"/>
              </a:rPr>
              <a:t>重构现有资产兑换范式，</a:t>
            </a:r>
            <a:endParaRPr lang="en-US" altLang="zh-CN" dirty="0">
              <a:latin typeface="微软雅黑" panose="020B0503020204020204" charset="-122"/>
              <a:ea typeface="微软雅黑" panose="020B0503020204020204" charset="-122"/>
              <a:cs typeface="微软雅黑" panose="020B0503020204020204" charset="-122"/>
              <a:sym typeface="+mn-ea"/>
            </a:endParaRPr>
          </a:p>
          <a:p>
            <a:endParaRPr lang="en-US" altLang="zh-CN" dirty="0"/>
          </a:p>
          <a:p>
            <a:r>
              <a:rPr lang="zh-CN" altLang="en-US" dirty="0"/>
              <a:t>预期目标是</a:t>
            </a:r>
            <a:r>
              <a:rPr lang="zh-CN" altLang="en-US" dirty="0">
                <a:latin typeface="微软雅黑" panose="020B0503020204020204" charset="-122"/>
                <a:ea typeface="微软雅黑" panose="020B0503020204020204" charset="-122"/>
                <a:cs typeface="微软雅黑" panose="020B0503020204020204" charset="-122"/>
                <a:sym typeface="+mn-ea"/>
              </a:rPr>
              <a:t>设计</a:t>
            </a:r>
            <a:r>
              <a:rPr lang="zh-CN" altLang="en-US" b="1" dirty="0">
                <a:latin typeface="微软雅黑" panose="020B0503020204020204" charset="-122"/>
                <a:ea typeface="微软雅黑" panose="020B0503020204020204" charset="-122"/>
                <a:cs typeface="微软雅黑" panose="020B0503020204020204" charset="-122"/>
                <a:sym typeface="+mn-ea"/>
              </a:rPr>
              <a:t>可证明安全的分布式数字资产交易协议</a:t>
            </a:r>
            <a:endParaRPr lang="zh-CN" altLang="en-US" b="1"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 </a:t>
            </a:r>
            <a:r>
              <a:rPr lang="zh-CN" altLang="en-US" sz="1200" b="1" i="0" u="none" strike="noStrike" kern="1200" baseline="0" dirty="0">
                <a:solidFill>
                  <a:schemeClr val="tx1"/>
                </a:solidFill>
                <a:latin typeface="+mn-lt"/>
                <a:ea typeface="+mn-ea"/>
                <a:cs typeface="+mn-cs"/>
              </a:rPr>
              <a:t>大规模环境下可扩展分布式数字资产交易协议设计与分析</a:t>
            </a:r>
            <a:endParaRPr lang="en-US" altLang="zh-CN" sz="1200" b="1"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当前链下交易协议通过链下支付信道、多跳路由及虚拟信道等技术已取得显著进展，但由于支付路径选择复杂、多跳支付成功率受限等因素，达不到理想性能</a:t>
            </a:r>
            <a:endParaRPr lang="en-US" altLang="zh-CN" sz="1200" b="0" i="0" u="none" strike="noStrike" kern="1200" baseline="0" dirty="0">
              <a:solidFill>
                <a:schemeClr val="tx1"/>
              </a:solidFill>
              <a:latin typeface="+mn-lt"/>
              <a:ea typeface="+mn-ea"/>
              <a:cs typeface="+mn-cs"/>
            </a:endParaRPr>
          </a:p>
          <a:p>
            <a:r>
              <a:rPr lang="zh-CN" altLang="en-US" dirty="0">
                <a:latin typeface="微软雅黑" panose="020B0503020204020204" charset="-122"/>
                <a:ea typeface="微软雅黑" panose="020B0503020204020204" charset="-122"/>
                <a:cs typeface="微软雅黑" panose="020B0503020204020204" charset="-122"/>
                <a:sym typeface="+mn-ea"/>
              </a:rPr>
              <a:t>因此探索支付信道资产流动性优化机制以延长信道生命周期，优化现有多跳支付结构，设计多方信道安全更新机制并完成实验测试。</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indent="0" fontAlgn="auto">
              <a:lnSpc>
                <a:spcPct val="120000"/>
              </a:lnSpc>
            </a:pP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ym typeface="+mn-ea"/>
              </a:rPr>
              <a:t>预期目标是提出强可靠的可扩展分布式数字资产交易协议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dirty="0"/>
              <a:t>3 </a:t>
            </a:r>
            <a:r>
              <a:rPr lang="zh-CN" altLang="en-US" b="1" dirty="0">
                <a:solidFill>
                  <a:srgbClr val="04579A"/>
                </a:solidFill>
                <a:sym typeface="+mn-ea"/>
              </a:rPr>
              <a:t>多源异构环境下分布式数字资产跨链验证协议设计与分析</a:t>
            </a:r>
            <a:endParaRPr lang="zh-CN" altLang="en-US" b="1" dirty="0">
              <a:solidFill>
                <a:srgbClr val="04579A"/>
              </a:solidFill>
              <a:sym typeface="+mn-ea"/>
            </a:endParaRPr>
          </a:p>
          <a:p>
            <a:r>
              <a:rPr lang="zh-CN" altLang="en-US" dirty="0">
                <a:latin typeface="微软雅黑" panose="020B0503020204020204" charset="-122"/>
                <a:ea typeface="微软雅黑" panose="020B0503020204020204" charset="-122"/>
                <a:cs typeface="微软雅黑" panose="020B0503020204020204" charset="-122"/>
                <a:sym typeface="+mn-ea"/>
              </a:rPr>
              <a:t>现有跨链验证机制在证明生成与验证过程中仍面临较高的计算与存储开销，且面临异构区块链系统间的验证协议适配挑战，</a:t>
            </a:r>
            <a:endParaRPr lang="zh-CN" altLang="en-US" dirty="0">
              <a:latin typeface="微软雅黑" panose="020B0503020204020204" charset="-122"/>
              <a:ea typeface="微软雅黑" panose="020B0503020204020204" charset="-122"/>
              <a:cs typeface="微软雅黑" panose="020B0503020204020204" charset="-122"/>
              <a:sym typeface="+mn-ea"/>
            </a:endParaRPr>
          </a:p>
          <a:p>
            <a:r>
              <a:rPr lang="zh-CN" altLang="en-US" dirty="0"/>
              <a:t>此项研究基于基础数字签名技术和随机化承诺方案等密码学组件，优化跨链证明的生成和验证算法，实现恒定链下计算、低链上存储的跨链桥结构。</a:t>
            </a:r>
            <a:endParaRPr lang="zh-CN" altLang="en-US" dirty="0"/>
          </a:p>
          <a:p>
            <a:endParaRPr lang="zh-CN" altLang="en-US" dirty="0"/>
          </a:p>
          <a:p>
            <a:r>
              <a:rPr lang="zh-CN" altLang="en-US" dirty="0"/>
              <a:t>目标是</a:t>
            </a:r>
            <a:r>
              <a:rPr lang="zh-CN" altLang="en-US" sz="1200" b="0" i="0" u="none" strike="noStrike" kern="1200" baseline="0" dirty="0">
                <a:solidFill>
                  <a:schemeClr val="tx1"/>
                </a:solidFill>
                <a:latin typeface="+mn-lt"/>
                <a:ea typeface="+mn-ea"/>
                <a:cs typeface="+mn-cs"/>
              </a:rPr>
              <a:t>互操作性增强的高效分布式数字资产交易协议</a:t>
            </a:r>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已有工作两篇</a:t>
            </a:r>
            <a:endParaRPr lang="zh-CN" altLang="en-US" dirty="0"/>
          </a:p>
          <a:p>
            <a:r>
              <a:rPr lang="en-US" altLang="zh-CN" dirty="0"/>
              <a:t>1</a:t>
            </a:r>
            <a:r>
              <a:rPr lang="zh-CN" altLang="en-US" dirty="0"/>
              <a:t> 、 无额外信任假设的抗信道干涸的多方虚拟信道协议</a:t>
            </a:r>
            <a:endParaRPr lang="zh-CN" altLang="en-US" dirty="0">
              <a:solidFill>
                <a:srgbClr val="04579A"/>
              </a:solidFill>
              <a:sym typeface="+mn-ea"/>
            </a:endParaRPr>
          </a:p>
          <a:p>
            <a:r>
              <a:rPr lang="zh-CN" altLang="en-US" dirty="0">
                <a:solidFill>
                  <a:srgbClr val="04579A"/>
                </a:solidFill>
                <a:sym typeface="+mn-ea"/>
              </a:rPr>
              <a:t>通过设计高效的信道再平衡子协议以及时间切片技术，实现了高性能高可靠性的链下数字资产交易协议</a:t>
            </a:r>
            <a:endParaRPr lang="en-US" altLang="zh-CN" dirty="0">
              <a:solidFill>
                <a:srgbClr val="04579A"/>
              </a:solidFill>
              <a:sym typeface="+mn-ea"/>
            </a:endParaRPr>
          </a:p>
          <a:p>
            <a:r>
              <a:rPr lang="zh-CN" altLang="en-US" dirty="0">
                <a:solidFill>
                  <a:srgbClr val="04579A"/>
                </a:solidFill>
                <a:sym typeface="+mn-ea"/>
              </a:rPr>
              <a:t>目前该工作已被</a:t>
            </a:r>
            <a:r>
              <a:rPr lang="en-US" altLang="zh-CN" dirty="0">
                <a:solidFill>
                  <a:srgbClr val="04579A"/>
                </a:solidFill>
                <a:sym typeface="+mn-ea"/>
              </a:rPr>
              <a:t>NDSS</a:t>
            </a:r>
            <a:r>
              <a:rPr lang="zh-CN" altLang="en-US" dirty="0">
                <a:solidFill>
                  <a:srgbClr val="04579A"/>
                </a:solidFill>
                <a:sym typeface="+mn-ea"/>
              </a:rPr>
              <a:t>接收</a:t>
            </a:r>
            <a:endParaRPr lang="zh-CN" altLang="en-US" dirty="0">
              <a:solidFill>
                <a:srgbClr val="04579A"/>
              </a:solidFill>
              <a:sym typeface="+mn-ea"/>
            </a:endParaRPr>
          </a:p>
          <a:p>
            <a:endParaRPr lang="en-US" dirty="0">
              <a:solidFill>
                <a:srgbClr val="04579A"/>
              </a:solidFill>
              <a:sym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4579A"/>
                </a:solidFill>
                <a:sym typeface="+mn-ea"/>
              </a:rPr>
              <a:t>2</a:t>
            </a:r>
            <a:r>
              <a:rPr lang="zh-CN" altLang="en-US" dirty="0">
                <a:solidFill>
                  <a:srgbClr val="04579A"/>
                </a:solidFill>
                <a:sym typeface="+mn-ea"/>
              </a:rPr>
              <a:t>、是</a:t>
            </a:r>
            <a:r>
              <a:rPr lang="zh-CN" altLang="en-US" dirty="0">
                <a:solidFill>
                  <a:srgbClr val="04579A"/>
                </a:solidFill>
              </a:rPr>
              <a:t>抗</a:t>
            </a:r>
            <a:r>
              <a:rPr lang="en-US" altLang="zh-CN" dirty="0">
                <a:solidFill>
                  <a:srgbClr val="04579A"/>
                </a:solidFill>
              </a:rPr>
              <a:t>double-claiming</a:t>
            </a:r>
            <a:r>
              <a:rPr lang="zh-CN" altLang="en-US" dirty="0">
                <a:solidFill>
                  <a:srgbClr val="04579A"/>
                </a:solidFill>
              </a:rPr>
              <a:t>攻击的通用跨链原子交换协议</a:t>
            </a:r>
            <a:r>
              <a:rPr lang="zh-CN" altLang="en-US" dirty="0">
                <a:solidFill>
                  <a:srgbClr val="04579A"/>
                </a:solidFill>
                <a:sym typeface="+mn-ea"/>
              </a:rPr>
              <a:t>，</a:t>
            </a:r>
            <a:endParaRPr lang="zh-CN" altLang="en-US" dirty="0">
              <a:solidFill>
                <a:srgbClr val="04579A"/>
              </a:solidFill>
              <a:sym typeface="+mn-ea"/>
            </a:endParaRPr>
          </a:p>
          <a:p>
            <a:r>
              <a:rPr lang="zh-CN" altLang="en-US" dirty="0">
                <a:solidFill>
                  <a:srgbClr val="04579A"/>
                </a:solidFill>
                <a:sym typeface="+mn-ea"/>
              </a:rPr>
              <a:t>在这个工作中，通过两阶段交易架构与可验证时间离散对数方案等密码学组件，实现了可证明安全的分布式数字资产交易协议</a:t>
            </a:r>
            <a:endParaRPr lang="en-US" altLang="zh-CN" dirty="0">
              <a:solidFill>
                <a:srgbClr val="04579A"/>
              </a:solidFill>
              <a:sym typeface="+mn-ea"/>
            </a:endParaRPr>
          </a:p>
          <a:p>
            <a:r>
              <a:rPr lang="zh-CN" altLang="en-US" dirty="0">
                <a:solidFill>
                  <a:srgbClr val="04579A"/>
                </a:solidFill>
                <a:sym typeface="+mn-ea"/>
              </a:rPr>
              <a:t>该工作目前已被</a:t>
            </a:r>
            <a:r>
              <a:rPr lang="en-US" altLang="zh-CN" dirty="0">
                <a:solidFill>
                  <a:srgbClr val="04579A"/>
                </a:solidFill>
                <a:sym typeface="+mn-ea"/>
              </a:rPr>
              <a:t>SP</a:t>
            </a:r>
            <a:r>
              <a:rPr lang="zh-CN" altLang="en-US" dirty="0">
                <a:solidFill>
                  <a:srgbClr val="04579A"/>
                </a:solidFill>
                <a:sym typeface="+mn-ea"/>
              </a:rPr>
              <a:t>接受</a:t>
            </a:r>
            <a:endParaRPr lang="zh-CN" altLang="en-US" dirty="0">
              <a:solidFill>
                <a:srgbClr val="04579A"/>
              </a:solidFill>
              <a:sym typeface="+mn-ea"/>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进度安排</a:t>
            </a:r>
            <a:endParaRPr lang="zh-CN" altLang="en-US" dirty="0"/>
          </a:p>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以上是我的开题报告内容，恳请各位老师批评指正，谢谢！</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93CBA602-00DB-4BC5-AF0E-E8CF46ADAD71}" type="datetime1">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BB783FCE-1867-4ABE-9182-AA1F5203A584}"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EBA70044-349B-4CB0-AEA1-32C388F900BD}"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3F859AD3-2F77-4B31-B819-8A82CE118AFC}" type="datetime1">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BB6EE335-526E-4A49-8DAF-5D2F4503B09E}" type="datetime1">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A21A5958-F07F-4C6E-8FE0-934E1BC4E0F3}" type="datetime1">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B3920A6A-99DC-4AD7-8503-E811CFB592AE}" type="datetime1">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31B1ED0E-FC92-4454-B589-9F9E6DF99D52}" type="datetime1">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C133A4C3-CEB2-48E7-A856-561358AA4111}" type="datetime1">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F535A735-B8E7-4566-B381-B2BA9A9A557A}" type="datetime1">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64C1EBFE-CC89-49A4-8EE2-00A08F47CF7E}" type="datetime1">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A57E0BB9-C111-40D4-BD59-529F54B5EA2B}" type="datetime1">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8.xml"/><Relationship Id="rId7" Type="http://schemas.openxmlformats.org/officeDocument/2006/relationships/image" Target="../media/image2.jpeg"/><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1.png"/><Relationship Id="rId10" Type="http://schemas.openxmlformats.org/officeDocument/2006/relationships/notesSlide" Target="../notesSlides/notesSlide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1" Type="http://schemas.openxmlformats.org/officeDocument/2006/relationships/notesSlide" Target="../notesSlides/notesSlide2.xml"/><Relationship Id="rId20" Type="http://schemas.openxmlformats.org/officeDocument/2006/relationships/slideLayout" Target="../slideLayouts/slideLayout7.xml"/><Relationship Id="rId2" Type="http://schemas.openxmlformats.org/officeDocument/2006/relationships/tags" Target="../tags/tag70.xml"/><Relationship Id="rId19" Type="http://schemas.openxmlformats.org/officeDocument/2006/relationships/tags" Target="../tags/tag86.xml"/><Relationship Id="rId18" Type="http://schemas.openxmlformats.org/officeDocument/2006/relationships/image" Target="../media/image2.jpeg"/><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tags" Target="../tags/tag69.xml"/></Relationships>
</file>

<file path=ppt/slides/_rels/slide3.xml.rels><?xml version="1.0" encoding="UTF-8" standalone="yes"?>
<Relationships xmlns="http://schemas.openxmlformats.org/package/2006/relationships"><Relationship Id="rId9" Type="http://schemas.openxmlformats.org/officeDocument/2006/relationships/image" Target="../media/image4.jpeg"/><Relationship Id="rId8" Type="http://schemas.openxmlformats.org/officeDocument/2006/relationships/image" Target="../media/image3.png"/><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image" Target="../media/image2.jpeg"/><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5" Type="http://schemas.openxmlformats.org/officeDocument/2006/relationships/notesSlide" Target="../notesSlides/notesSlide3.xml"/><Relationship Id="rId14" Type="http://schemas.openxmlformats.org/officeDocument/2006/relationships/slideLayout" Target="../slideLayouts/slideLayout1.xml"/><Relationship Id="rId13" Type="http://schemas.openxmlformats.org/officeDocument/2006/relationships/tags" Target="../tags/tag93.xml"/><Relationship Id="rId12" Type="http://schemas.openxmlformats.org/officeDocument/2006/relationships/image" Target="../media/image7.png"/><Relationship Id="rId11" Type="http://schemas.openxmlformats.org/officeDocument/2006/relationships/image" Target="../media/image6.png"/><Relationship Id="rId10" Type="http://schemas.openxmlformats.org/officeDocument/2006/relationships/image" Target="../media/image5.png"/><Relationship Id="rId1" Type="http://schemas.openxmlformats.org/officeDocument/2006/relationships/tags" Target="../tags/tag87.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image" Target="../media/image2.jpeg"/><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0" Type="http://schemas.openxmlformats.org/officeDocument/2006/relationships/notesSlide" Target="../notesSlides/notesSlide4.xml"/><Relationship Id="rId1" Type="http://schemas.openxmlformats.org/officeDocument/2006/relationships/tags" Target="../tags/tag94.xml"/></Relationships>
</file>

<file path=ppt/slides/_rels/slide5.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image" Target="../media/image8.png"/><Relationship Id="rId6" Type="http://schemas.openxmlformats.org/officeDocument/2006/relationships/tags" Target="../tags/tag105.xml"/><Relationship Id="rId5" Type="http://schemas.openxmlformats.org/officeDocument/2006/relationships/image" Target="../media/image2.jpeg"/><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1" Type="http://schemas.openxmlformats.org/officeDocument/2006/relationships/notesSlide" Target="../notesSlides/notesSlide5.xml"/><Relationship Id="rId10" Type="http://schemas.openxmlformats.org/officeDocument/2006/relationships/slideLayout" Target="../slideLayouts/slideLayout1.xml"/><Relationship Id="rId1" Type="http://schemas.openxmlformats.org/officeDocument/2006/relationships/tags" Target="../tags/tag101.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image" Target="../media/image2.jpeg"/><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image" Target="../media/image2.jpeg"/><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5" Type="http://schemas.openxmlformats.org/officeDocument/2006/relationships/notesSlide" Target="../notesSlides/notesSlide8.xml"/><Relationship Id="rId14" Type="http://schemas.openxmlformats.org/officeDocument/2006/relationships/slideLayout" Target="../slideLayouts/slideLayout1.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tags" Target="../tags/tag120.xml"/></Relationships>
</file>

<file path=ppt/slides/_rels/slide9.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3" Type="http://schemas.openxmlformats.org/officeDocument/2006/relationships/notesSlide" Target="../notesSlides/notesSlide9.xml"/><Relationship Id="rId12" Type="http://schemas.openxmlformats.org/officeDocument/2006/relationships/slideLayout" Target="../slideLayouts/slideLayout1.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2.xml"/></Relationships>
</file>

<file path=ppt/slides/_rels/slide10.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2.xml"/></Relationships>
</file>

<file path=ppt/slides/_rels/slide11.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8" Type="http://schemas.openxmlformats.org/officeDocument/2006/relationships/notesSlide" Target="../notesSlides/notesSlide11.xml"/><Relationship Id="rId17" Type="http://schemas.openxmlformats.org/officeDocument/2006/relationships/slideLayout" Target="../slideLayouts/slideLayout1.xml"/><Relationship Id="rId16" Type="http://schemas.openxmlformats.org/officeDocument/2006/relationships/tags" Target="../tags/tag168.xml"/><Relationship Id="rId15" Type="http://schemas.openxmlformats.org/officeDocument/2006/relationships/tags" Target="../tags/tag167.xml"/><Relationship Id="rId14" Type="http://schemas.openxmlformats.org/officeDocument/2006/relationships/tags" Target="../tags/tag166.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4.xml"/></Relationships>
</file>

<file path=ppt/slides/_rels/slide1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image" Target="../media/image2.jpeg"/><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4" Type="http://schemas.openxmlformats.org/officeDocument/2006/relationships/notesSlide" Target="../notesSlides/notesSlide12.xml"/><Relationship Id="rId13" Type="http://schemas.openxmlformats.org/officeDocument/2006/relationships/slideLayout" Target="../slideLayouts/slideLayout1.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tags" Target="../tags/tag169.xml"/></Relationships>
</file>

<file path=ppt/slides/_rels/slide13.xml.rels><?xml version="1.0" encoding="UTF-8" standalone="yes"?>
<Relationships xmlns="http://schemas.openxmlformats.org/package/2006/relationships"><Relationship Id="rId98" Type="http://schemas.openxmlformats.org/officeDocument/2006/relationships/notesSlide" Target="../notesSlides/notesSlide13.xml"/><Relationship Id="rId97" Type="http://schemas.openxmlformats.org/officeDocument/2006/relationships/slideLayout" Target="../slideLayouts/slideLayout1.xml"/><Relationship Id="rId96" Type="http://schemas.openxmlformats.org/officeDocument/2006/relationships/tags" Target="../tags/tag274.xml"/><Relationship Id="rId95" Type="http://schemas.openxmlformats.org/officeDocument/2006/relationships/tags" Target="../tags/tag273.xml"/><Relationship Id="rId94" Type="http://schemas.openxmlformats.org/officeDocument/2006/relationships/tags" Target="../tags/tag272.xml"/><Relationship Id="rId93" Type="http://schemas.openxmlformats.org/officeDocument/2006/relationships/tags" Target="../tags/tag271.xml"/><Relationship Id="rId92" Type="http://schemas.openxmlformats.org/officeDocument/2006/relationships/tags" Target="../tags/tag270.xml"/><Relationship Id="rId91" Type="http://schemas.openxmlformats.org/officeDocument/2006/relationships/tags" Target="../tags/tag269.xml"/><Relationship Id="rId90" Type="http://schemas.openxmlformats.org/officeDocument/2006/relationships/tags" Target="../tags/tag268.xml"/><Relationship Id="rId9" Type="http://schemas.openxmlformats.org/officeDocument/2006/relationships/tags" Target="../tags/tag188.xml"/><Relationship Id="rId89" Type="http://schemas.openxmlformats.org/officeDocument/2006/relationships/tags" Target="../tags/tag267.xml"/><Relationship Id="rId88" Type="http://schemas.openxmlformats.org/officeDocument/2006/relationships/tags" Target="../tags/tag266.xml"/><Relationship Id="rId87" Type="http://schemas.openxmlformats.org/officeDocument/2006/relationships/tags" Target="../tags/tag265.xml"/><Relationship Id="rId86" Type="http://schemas.openxmlformats.org/officeDocument/2006/relationships/tags" Target="../tags/tag264.xml"/><Relationship Id="rId85" Type="http://schemas.openxmlformats.org/officeDocument/2006/relationships/tags" Target="../tags/tag263.xml"/><Relationship Id="rId84" Type="http://schemas.openxmlformats.org/officeDocument/2006/relationships/tags" Target="../tags/tag262.xml"/><Relationship Id="rId83" Type="http://schemas.openxmlformats.org/officeDocument/2006/relationships/image" Target="../media/image2.jpeg"/><Relationship Id="rId82" Type="http://schemas.openxmlformats.org/officeDocument/2006/relationships/tags" Target="../tags/tag261.xml"/><Relationship Id="rId81" Type="http://schemas.openxmlformats.org/officeDocument/2006/relationships/tags" Target="../tags/tag260.xml"/><Relationship Id="rId80" Type="http://schemas.openxmlformats.org/officeDocument/2006/relationships/tags" Target="../tags/tag259.xml"/><Relationship Id="rId8" Type="http://schemas.openxmlformats.org/officeDocument/2006/relationships/tags" Target="../tags/tag187.xml"/><Relationship Id="rId79" Type="http://schemas.openxmlformats.org/officeDocument/2006/relationships/tags" Target="../tags/tag258.xml"/><Relationship Id="rId78" Type="http://schemas.openxmlformats.org/officeDocument/2006/relationships/tags" Target="../tags/tag257.xml"/><Relationship Id="rId77" Type="http://schemas.openxmlformats.org/officeDocument/2006/relationships/tags" Target="../tags/tag256.xml"/><Relationship Id="rId76" Type="http://schemas.openxmlformats.org/officeDocument/2006/relationships/tags" Target="../tags/tag255.xml"/><Relationship Id="rId75" Type="http://schemas.openxmlformats.org/officeDocument/2006/relationships/tags" Target="../tags/tag254.xml"/><Relationship Id="rId74" Type="http://schemas.openxmlformats.org/officeDocument/2006/relationships/tags" Target="../tags/tag253.xml"/><Relationship Id="rId73" Type="http://schemas.openxmlformats.org/officeDocument/2006/relationships/tags" Target="../tags/tag252.xml"/><Relationship Id="rId72" Type="http://schemas.openxmlformats.org/officeDocument/2006/relationships/tags" Target="../tags/tag251.xml"/><Relationship Id="rId71" Type="http://schemas.openxmlformats.org/officeDocument/2006/relationships/tags" Target="../tags/tag250.xml"/><Relationship Id="rId70" Type="http://schemas.openxmlformats.org/officeDocument/2006/relationships/tags" Target="../tags/tag249.xml"/><Relationship Id="rId7" Type="http://schemas.openxmlformats.org/officeDocument/2006/relationships/tags" Target="../tags/tag186.xml"/><Relationship Id="rId69" Type="http://schemas.openxmlformats.org/officeDocument/2006/relationships/tags" Target="../tags/tag248.xml"/><Relationship Id="rId68" Type="http://schemas.openxmlformats.org/officeDocument/2006/relationships/tags" Target="../tags/tag247.xml"/><Relationship Id="rId67" Type="http://schemas.openxmlformats.org/officeDocument/2006/relationships/tags" Target="../tags/tag246.xml"/><Relationship Id="rId66" Type="http://schemas.openxmlformats.org/officeDocument/2006/relationships/tags" Target="../tags/tag245.xml"/><Relationship Id="rId65" Type="http://schemas.openxmlformats.org/officeDocument/2006/relationships/tags" Target="../tags/tag244.xml"/><Relationship Id="rId64" Type="http://schemas.openxmlformats.org/officeDocument/2006/relationships/tags" Target="../tags/tag243.xml"/><Relationship Id="rId63" Type="http://schemas.openxmlformats.org/officeDocument/2006/relationships/tags" Target="../tags/tag242.xml"/><Relationship Id="rId62" Type="http://schemas.openxmlformats.org/officeDocument/2006/relationships/tags" Target="../tags/tag241.xml"/><Relationship Id="rId61" Type="http://schemas.openxmlformats.org/officeDocument/2006/relationships/tags" Target="../tags/tag240.xml"/><Relationship Id="rId60" Type="http://schemas.openxmlformats.org/officeDocument/2006/relationships/tags" Target="../tags/tag239.xml"/><Relationship Id="rId6" Type="http://schemas.openxmlformats.org/officeDocument/2006/relationships/tags" Target="../tags/tag185.xml"/><Relationship Id="rId59" Type="http://schemas.openxmlformats.org/officeDocument/2006/relationships/tags" Target="../tags/tag238.xml"/><Relationship Id="rId58" Type="http://schemas.openxmlformats.org/officeDocument/2006/relationships/tags" Target="../tags/tag237.xml"/><Relationship Id="rId57" Type="http://schemas.openxmlformats.org/officeDocument/2006/relationships/tags" Target="../tags/tag236.xml"/><Relationship Id="rId56" Type="http://schemas.openxmlformats.org/officeDocument/2006/relationships/tags" Target="../tags/tag235.xml"/><Relationship Id="rId55" Type="http://schemas.openxmlformats.org/officeDocument/2006/relationships/tags" Target="../tags/tag234.xml"/><Relationship Id="rId54" Type="http://schemas.openxmlformats.org/officeDocument/2006/relationships/tags" Target="../tags/tag233.xml"/><Relationship Id="rId53" Type="http://schemas.openxmlformats.org/officeDocument/2006/relationships/tags" Target="../tags/tag232.xml"/><Relationship Id="rId52" Type="http://schemas.openxmlformats.org/officeDocument/2006/relationships/tags" Target="../tags/tag231.xml"/><Relationship Id="rId51" Type="http://schemas.openxmlformats.org/officeDocument/2006/relationships/tags" Target="../tags/tag230.xml"/><Relationship Id="rId50" Type="http://schemas.openxmlformats.org/officeDocument/2006/relationships/tags" Target="../tags/tag229.xml"/><Relationship Id="rId5" Type="http://schemas.openxmlformats.org/officeDocument/2006/relationships/tags" Target="../tags/tag184.xml"/><Relationship Id="rId49" Type="http://schemas.openxmlformats.org/officeDocument/2006/relationships/tags" Target="../tags/tag228.xml"/><Relationship Id="rId48" Type="http://schemas.openxmlformats.org/officeDocument/2006/relationships/tags" Target="../tags/tag227.xml"/><Relationship Id="rId47" Type="http://schemas.openxmlformats.org/officeDocument/2006/relationships/tags" Target="../tags/tag226.xml"/><Relationship Id="rId46" Type="http://schemas.openxmlformats.org/officeDocument/2006/relationships/tags" Target="../tags/tag225.xml"/><Relationship Id="rId45" Type="http://schemas.openxmlformats.org/officeDocument/2006/relationships/tags" Target="../tags/tag224.xml"/><Relationship Id="rId44" Type="http://schemas.openxmlformats.org/officeDocument/2006/relationships/tags" Target="../tags/tag223.xml"/><Relationship Id="rId43" Type="http://schemas.openxmlformats.org/officeDocument/2006/relationships/tags" Target="../tags/tag222.xml"/><Relationship Id="rId42" Type="http://schemas.openxmlformats.org/officeDocument/2006/relationships/tags" Target="../tags/tag221.xml"/><Relationship Id="rId41" Type="http://schemas.openxmlformats.org/officeDocument/2006/relationships/tags" Target="../tags/tag220.xml"/><Relationship Id="rId40" Type="http://schemas.openxmlformats.org/officeDocument/2006/relationships/tags" Target="../tags/tag219.xml"/><Relationship Id="rId4" Type="http://schemas.openxmlformats.org/officeDocument/2006/relationships/tags" Target="../tags/tag183.xml"/><Relationship Id="rId39" Type="http://schemas.openxmlformats.org/officeDocument/2006/relationships/tags" Target="../tags/tag218.xml"/><Relationship Id="rId38" Type="http://schemas.openxmlformats.org/officeDocument/2006/relationships/tags" Target="../tags/tag217.xml"/><Relationship Id="rId37" Type="http://schemas.openxmlformats.org/officeDocument/2006/relationships/tags" Target="../tags/tag216.xml"/><Relationship Id="rId36" Type="http://schemas.openxmlformats.org/officeDocument/2006/relationships/tags" Target="../tags/tag215.xml"/><Relationship Id="rId35" Type="http://schemas.openxmlformats.org/officeDocument/2006/relationships/tags" Target="../tags/tag214.xml"/><Relationship Id="rId34" Type="http://schemas.openxmlformats.org/officeDocument/2006/relationships/tags" Target="../tags/tag213.xml"/><Relationship Id="rId33" Type="http://schemas.openxmlformats.org/officeDocument/2006/relationships/tags" Target="../tags/tag212.xml"/><Relationship Id="rId32" Type="http://schemas.openxmlformats.org/officeDocument/2006/relationships/tags" Target="../tags/tag211.xml"/><Relationship Id="rId31" Type="http://schemas.openxmlformats.org/officeDocument/2006/relationships/tags" Target="../tags/tag210.xml"/><Relationship Id="rId30" Type="http://schemas.openxmlformats.org/officeDocument/2006/relationships/tags" Target="../tags/tag209.xml"/><Relationship Id="rId3" Type="http://schemas.openxmlformats.org/officeDocument/2006/relationships/tags" Target="../tags/tag182.xml"/><Relationship Id="rId29" Type="http://schemas.openxmlformats.org/officeDocument/2006/relationships/tags" Target="../tags/tag208.xml"/><Relationship Id="rId28" Type="http://schemas.openxmlformats.org/officeDocument/2006/relationships/tags" Target="../tags/tag207.xml"/><Relationship Id="rId27" Type="http://schemas.openxmlformats.org/officeDocument/2006/relationships/tags" Target="../tags/tag206.xml"/><Relationship Id="rId26" Type="http://schemas.openxmlformats.org/officeDocument/2006/relationships/tags" Target="../tags/tag205.xml"/><Relationship Id="rId25" Type="http://schemas.openxmlformats.org/officeDocument/2006/relationships/tags" Target="../tags/tag204.xml"/><Relationship Id="rId24" Type="http://schemas.openxmlformats.org/officeDocument/2006/relationships/tags" Target="../tags/tag203.xml"/><Relationship Id="rId23" Type="http://schemas.openxmlformats.org/officeDocument/2006/relationships/tags" Target="../tags/tag202.xml"/><Relationship Id="rId22" Type="http://schemas.openxmlformats.org/officeDocument/2006/relationships/tags" Target="../tags/tag201.xml"/><Relationship Id="rId21" Type="http://schemas.openxmlformats.org/officeDocument/2006/relationships/tags" Target="../tags/tag200.xml"/><Relationship Id="rId20" Type="http://schemas.openxmlformats.org/officeDocument/2006/relationships/tags" Target="../tags/tag199.xml"/><Relationship Id="rId2" Type="http://schemas.openxmlformats.org/officeDocument/2006/relationships/tags" Target="../tags/tag181.xml"/><Relationship Id="rId19" Type="http://schemas.openxmlformats.org/officeDocument/2006/relationships/tags" Target="../tags/tag198.xml"/><Relationship Id="rId18" Type="http://schemas.openxmlformats.org/officeDocument/2006/relationships/tags" Target="../tags/tag197.xml"/><Relationship Id="rId17" Type="http://schemas.openxmlformats.org/officeDocument/2006/relationships/tags" Target="../tags/tag196.xml"/><Relationship Id="rId16" Type="http://schemas.openxmlformats.org/officeDocument/2006/relationships/tags" Target="../tags/tag195.xml"/><Relationship Id="rId15" Type="http://schemas.openxmlformats.org/officeDocument/2006/relationships/tags" Target="../tags/tag194.xml"/><Relationship Id="rId14" Type="http://schemas.openxmlformats.org/officeDocument/2006/relationships/tags" Target="../tags/tag193.xml"/><Relationship Id="rId13" Type="http://schemas.openxmlformats.org/officeDocument/2006/relationships/tags" Target="../tags/tag192.xml"/><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tags" Target="../tags/tag180.xml"/></Relationships>
</file>

<file path=ppt/slides/_rels/slide14.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image" Target="../media/image2.jpeg"/><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0" Type="http://schemas.openxmlformats.org/officeDocument/2006/relationships/notesSlide" Target="../notesSlides/notesSlide14.xml"/><Relationship Id="rId2" Type="http://schemas.openxmlformats.org/officeDocument/2006/relationships/tags" Target="../tags/tag276.xml"/><Relationship Id="rId19" Type="http://schemas.openxmlformats.org/officeDocument/2006/relationships/slideLayout" Target="../slideLayouts/slideLayout1.xml"/><Relationship Id="rId18" Type="http://schemas.openxmlformats.org/officeDocument/2006/relationships/tags" Target="../tags/tag291.xml"/><Relationship Id="rId17" Type="http://schemas.openxmlformats.org/officeDocument/2006/relationships/tags" Target="../tags/tag290.xml"/><Relationship Id="rId16" Type="http://schemas.openxmlformats.org/officeDocument/2006/relationships/tags" Target="../tags/tag289.xml"/><Relationship Id="rId15" Type="http://schemas.openxmlformats.org/officeDocument/2006/relationships/tags" Target="../tags/tag288.xml"/><Relationship Id="rId14" Type="http://schemas.openxmlformats.org/officeDocument/2006/relationships/tags" Target="../tags/tag287.xml"/><Relationship Id="rId13" Type="http://schemas.openxmlformats.org/officeDocument/2006/relationships/tags" Target="../tags/tag286.xml"/><Relationship Id="rId12" Type="http://schemas.openxmlformats.org/officeDocument/2006/relationships/tags" Target="../tags/tag285.xml"/><Relationship Id="rId11" Type="http://schemas.openxmlformats.org/officeDocument/2006/relationships/tags" Target="../tags/tag284.xml"/><Relationship Id="rId10" Type="http://schemas.openxmlformats.org/officeDocument/2006/relationships/tags" Target="../tags/tag283.xml"/><Relationship Id="rId1" Type="http://schemas.openxmlformats.org/officeDocument/2006/relationships/tags" Target="../tags/tag275.xml"/></Relationships>
</file>

<file path=ppt/slides/_rels/slide15.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image" Target="../media/image2.jpeg"/><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8" Type="http://schemas.openxmlformats.org/officeDocument/2006/relationships/notesSlide" Target="../notesSlides/notesSlide15.xml"/><Relationship Id="rId17" Type="http://schemas.openxmlformats.org/officeDocument/2006/relationships/slideLayout" Target="../slideLayouts/slideLayout1.xml"/><Relationship Id="rId16" Type="http://schemas.openxmlformats.org/officeDocument/2006/relationships/tags" Target="../tags/tag304.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tags" Target="../tags/tag300.xml"/><Relationship Id="rId1" Type="http://schemas.openxmlformats.org/officeDocument/2006/relationships/tags" Target="../tags/tag292.xml"/></Relationships>
</file>

<file path=ppt/slides/_rels/slide16.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image" Target="../media/image2.jpeg"/><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 Type="http://schemas.openxmlformats.org/officeDocument/2006/relationships/tags" Target="../tags/tag306.xml"/><Relationship Id="rId17" Type="http://schemas.openxmlformats.org/officeDocument/2006/relationships/notesSlide" Target="../notesSlides/notesSlide16.xml"/><Relationship Id="rId16" Type="http://schemas.openxmlformats.org/officeDocument/2006/relationships/slideLayout" Target="../slideLayouts/slideLayout1.xml"/><Relationship Id="rId15" Type="http://schemas.openxmlformats.org/officeDocument/2006/relationships/tags" Target="../tags/tag317.xml"/><Relationship Id="rId14" Type="http://schemas.openxmlformats.org/officeDocument/2006/relationships/tags" Target="../tags/tag316.xml"/><Relationship Id="rId13" Type="http://schemas.openxmlformats.org/officeDocument/2006/relationships/image" Target="../media/image11.png"/><Relationship Id="rId12" Type="http://schemas.openxmlformats.org/officeDocument/2006/relationships/tags" Target="../tags/tag315.xml"/><Relationship Id="rId11" Type="http://schemas.openxmlformats.org/officeDocument/2006/relationships/tags" Target="../tags/tag314.xml"/><Relationship Id="rId10" Type="http://schemas.openxmlformats.org/officeDocument/2006/relationships/tags" Target="../tags/tag313.xml"/><Relationship Id="rId1" Type="http://schemas.openxmlformats.org/officeDocument/2006/relationships/tags" Target="../tags/tag305.xml"/></Relationships>
</file>

<file path=ppt/slides/_rels/slide17.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image" Target="../media/image2.jpeg"/><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4" Type="http://schemas.openxmlformats.org/officeDocument/2006/relationships/notesSlide" Target="../notesSlides/notesSlide17.xml"/><Relationship Id="rId13" Type="http://schemas.openxmlformats.org/officeDocument/2006/relationships/slideLayout" Target="../slideLayouts/slideLayout1.xml"/><Relationship Id="rId12" Type="http://schemas.openxmlformats.org/officeDocument/2006/relationships/tags" Target="../tags/tag327.xml"/><Relationship Id="rId11" Type="http://schemas.openxmlformats.org/officeDocument/2006/relationships/image" Target="../media/image12.png"/><Relationship Id="rId10" Type="http://schemas.openxmlformats.org/officeDocument/2006/relationships/tags" Target="../tags/tag326.xml"/><Relationship Id="rId1" Type="http://schemas.openxmlformats.org/officeDocument/2006/relationships/tags" Target="../tags/tag318.xml"/></Relationships>
</file>

<file path=ppt/slides/_rels/slide18.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image" Target="../media/image2.jpeg"/><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8" Type="http://schemas.openxmlformats.org/officeDocument/2006/relationships/notesSlide" Target="../notesSlides/notesSlide18.xml"/><Relationship Id="rId27" Type="http://schemas.openxmlformats.org/officeDocument/2006/relationships/slideLayout" Target="../slideLayouts/slideLayout1.xml"/><Relationship Id="rId26" Type="http://schemas.openxmlformats.org/officeDocument/2006/relationships/tags" Target="../tags/tag352.xml"/><Relationship Id="rId25" Type="http://schemas.openxmlformats.org/officeDocument/2006/relationships/tags" Target="../tags/tag351.xml"/><Relationship Id="rId24" Type="http://schemas.openxmlformats.org/officeDocument/2006/relationships/tags" Target="../tags/tag350.xml"/><Relationship Id="rId23" Type="http://schemas.openxmlformats.org/officeDocument/2006/relationships/tags" Target="../tags/tag349.xml"/><Relationship Id="rId22" Type="http://schemas.openxmlformats.org/officeDocument/2006/relationships/tags" Target="../tags/tag348.xml"/><Relationship Id="rId21" Type="http://schemas.openxmlformats.org/officeDocument/2006/relationships/tags" Target="../tags/tag347.xml"/><Relationship Id="rId20" Type="http://schemas.openxmlformats.org/officeDocument/2006/relationships/tags" Target="../tags/tag346.xml"/><Relationship Id="rId2" Type="http://schemas.openxmlformats.org/officeDocument/2006/relationships/tags" Target="../tags/tag329.xml"/><Relationship Id="rId19" Type="http://schemas.openxmlformats.org/officeDocument/2006/relationships/tags" Target="../tags/tag345.xml"/><Relationship Id="rId18" Type="http://schemas.openxmlformats.org/officeDocument/2006/relationships/tags" Target="../tags/tag344.xml"/><Relationship Id="rId17" Type="http://schemas.openxmlformats.org/officeDocument/2006/relationships/tags" Target="../tags/tag343.xml"/><Relationship Id="rId16" Type="http://schemas.openxmlformats.org/officeDocument/2006/relationships/tags" Target="../tags/tag342.xml"/><Relationship Id="rId15" Type="http://schemas.openxmlformats.org/officeDocument/2006/relationships/tags" Target="../tags/tag341.xml"/><Relationship Id="rId14" Type="http://schemas.openxmlformats.org/officeDocument/2006/relationships/tags" Target="../tags/tag340.xml"/><Relationship Id="rId13" Type="http://schemas.openxmlformats.org/officeDocument/2006/relationships/tags" Target="../tags/tag339.xml"/><Relationship Id="rId12" Type="http://schemas.openxmlformats.org/officeDocument/2006/relationships/tags" Target="../tags/tag338.xml"/><Relationship Id="rId11" Type="http://schemas.openxmlformats.org/officeDocument/2006/relationships/tags" Target="../tags/tag337.xml"/><Relationship Id="rId10" Type="http://schemas.openxmlformats.org/officeDocument/2006/relationships/tags" Target="../tags/tag336.xml"/><Relationship Id="rId1" Type="http://schemas.openxmlformats.org/officeDocument/2006/relationships/tags" Target="../tags/tag328.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tags" Target="../tags/tag36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tags" Target="../tags/tag365.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70.xml"/><Relationship Id="rId2" Type="http://schemas.openxmlformats.org/officeDocument/2006/relationships/tags" Target="../tags/tag369.xml"/><Relationship Id="rId1" Type="http://schemas.openxmlformats.org/officeDocument/2006/relationships/tags" Target="../tags/tag368.xml"/></Relationships>
</file>

<file path=ppt/slides/_rels/slide25.xml.rels><?xml version="1.0" encoding="UTF-8" standalone="yes"?>
<Relationships xmlns="http://schemas.openxmlformats.org/package/2006/relationships"><Relationship Id="rId9" Type="http://schemas.openxmlformats.org/officeDocument/2006/relationships/tags" Target="../tags/tag378.xml"/><Relationship Id="rId8" Type="http://schemas.openxmlformats.org/officeDocument/2006/relationships/image" Target="../media/image2.jpeg"/><Relationship Id="rId7" Type="http://schemas.openxmlformats.org/officeDocument/2006/relationships/tags" Target="../tags/tag377.xml"/><Relationship Id="rId6" Type="http://schemas.openxmlformats.org/officeDocument/2006/relationships/tags" Target="../tags/tag376.xml"/><Relationship Id="rId5" Type="http://schemas.openxmlformats.org/officeDocument/2006/relationships/tags" Target="../tags/tag375.xml"/><Relationship Id="rId4" Type="http://schemas.openxmlformats.org/officeDocument/2006/relationships/tags" Target="../tags/tag374.xml"/><Relationship Id="rId3" Type="http://schemas.openxmlformats.org/officeDocument/2006/relationships/tags" Target="../tags/tag373.xml"/><Relationship Id="rId2" Type="http://schemas.openxmlformats.org/officeDocument/2006/relationships/tags" Target="../tags/tag372.xml"/><Relationship Id="rId16" Type="http://schemas.openxmlformats.org/officeDocument/2006/relationships/notesSlide" Target="../notesSlides/notesSlide19.xml"/><Relationship Id="rId15" Type="http://schemas.openxmlformats.org/officeDocument/2006/relationships/slideLayout" Target="../slideLayouts/slideLayout1.xml"/><Relationship Id="rId14" Type="http://schemas.openxmlformats.org/officeDocument/2006/relationships/tags" Target="../tags/tag379.xml"/><Relationship Id="rId13" Type="http://schemas.openxmlformats.org/officeDocument/2006/relationships/image" Target="../media/image7.png"/><Relationship Id="rId12"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image" Target="../media/image4.jpeg"/><Relationship Id="rId1" Type="http://schemas.openxmlformats.org/officeDocument/2006/relationships/tags" Target="../tags/tag371.xml"/></Relationships>
</file>

<file path=ppt/slides/_rels/slide26.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image" Target="../media/image13.jpeg"/><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image" Target="../media/image2.jpeg"/><Relationship Id="rId4" Type="http://schemas.openxmlformats.org/officeDocument/2006/relationships/tags" Target="../tags/tag383.xml"/><Relationship Id="rId36" Type="http://schemas.openxmlformats.org/officeDocument/2006/relationships/notesSlide" Target="../notesSlides/notesSlide20.xml"/><Relationship Id="rId35" Type="http://schemas.openxmlformats.org/officeDocument/2006/relationships/slideLayout" Target="../slideLayouts/slideLayout1.xml"/><Relationship Id="rId34" Type="http://schemas.openxmlformats.org/officeDocument/2006/relationships/tags" Target="../tags/tag411.xml"/><Relationship Id="rId33" Type="http://schemas.openxmlformats.org/officeDocument/2006/relationships/tags" Target="../tags/tag410.xml"/><Relationship Id="rId32" Type="http://schemas.openxmlformats.org/officeDocument/2006/relationships/tags" Target="../tags/tag409.xml"/><Relationship Id="rId31" Type="http://schemas.openxmlformats.org/officeDocument/2006/relationships/tags" Target="../tags/tag408.xml"/><Relationship Id="rId30" Type="http://schemas.openxmlformats.org/officeDocument/2006/relationships/tags" Target="../tags/tag407.xml"/><Relationship Id="rId3" Type="http://schemas.openxmlformats.org/officeDocument/2006/relationships/tags" Target="../tags/tag382.xml"/><Relationship Id="rId29" Type="http://schemas.openxmlformats.org/officeDocument/2006/relationships/tags" Target="../tags/tag406.xml"/><Relationship Id="rId28" Type="http://schemas.openxmlformats.org/officeDocument/2006/relationships/tags" Target="../tags/tag405.xml"/><Relationship Id="rId27" Type="http://schemas.openxmlformats.org/officeDocument/2006/relationships/tags" Target="../tags/tag404.xml"/><Relationship Id="rId26" Type="http://schemas.openxmlformats.org/officeDocument/2006/relationships/tags" Target="../tags/tag403.xml"/><Relationship Id="rId25" Type="http://schemas.openxmlformats.org/officeDocument/2006/relationships/tags" Target="../tags/tag402.xml"/><Relationship Id="rId24" Type="http://schemas.openxmlformats.org/officeDocument/2006/relationships/tags" Target="../tags/tag401.xml"/><Relationship Id="rId23" Type="http://schemas.openxmlformats.org/officeDocument/2006/relationships/tags" Target="../tags/tag400.xml"/><Relationship Id="rId22" Type="http://schemas.openxmlformats.org/officeDocument/2006/relationships/tags" Target="../tags/tag399.xml"/><Relationship Id="rId21" Type="http://schemas.openxmlformats.org/officeDocument/2006/relationships/tags" Target="../tags/tag398.xml"/><Relationship Id="rId20" Type="http://schemas.openxmlformats.org/officeDocument/2006/relationships/tags" Target="../tags/tag397.xml"/><Relationship Id="rId2" Type="http://schemas.openxmlformats.org/officeDocument/2006/relationships/tags" Target="../tags/tag381.xml"/><Relationship Id="rId19" Type="http://schemas.openxmlformats.org/officeDocument/2006/relationships/tags" Target="../tags/tag396.xml"/><Relationship Id="rId18" Type="http://schemas.openxmlformats.org/officeDocument/2006/relationships/tags" Target="../tags/tag395.xml"/><Relationship Id="rId17" Type="http://schemas.openxmlformats.org/officeDocument/2006/relationships/tags" Target="../tags/tag394.xml"/><Relationship Id="rId16" Type="http://schemas.openxmlformats.org/officeDocument/2006/relationships/tags" Target="../tags/tag393.xml"/><Relationship Id="rId15" Type="http://schemas.openxmlformats.org/officeDocument/2006/relationships/tags" Target="../tags/tag392.xml"/><Relationship Id="rId14" Type="http://schemas.openxmlformats.org/officeDocument/2006/relationships/tags" Target="../tags/tag391.xml"/><Relationship Id="rId13" Type="http://schemas.openxmlformats.org/officeDocument/2006/relationships/tags" Target="../tags/tag390.xml"/><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tags" Target="../tags/tag387.xml"/><Relationship Id="rId1" Type="http://schemas.openxmlformats.org/officeDocument/2006/relationships/tags" Target="../tags/tag380.xml"/></Relationships>
</file>

<file path=ppt/slides/_rels/slide27.xml.rels><?xml version="1.0" encoding="UTF-8" standalone="yes"?>
<Relationships xmlns="http://schemas.openxmlformats.org/package/2006/relationships"><Relationship Id="rId9" Type="http://schemas.openxmlformats.org/officeDocument/2006/relationships/tags" Target="../tags/tag418.xml"/><Relationship Id="rId8" Type="http://schemas.openxmlformats.org/officeDocument/2006/relationships/tags" Target="../tags/tag417.xml"/><Relationship Id="rId7" Type="http://schemas.openxmlformats.org/officeDocument/2006/relationships/tags" Target="../tags/tag416.xml"/><Relationship Id="rId6" Type="http://schemas.openxmlformats.org/officeDocument/2006/relationships/image" Target="../media/image2.jpeg"/><Relationship Id="rId5" Type="http://schemas.openxmlformats.org/officeDocument/2006/relationships/tags" Target="../tags/tag415.xml"/><Relationship Id="rId4" Type="http://schemas.openxmlformats.org/officeDocument/2006/relationships/tags" Target="../tags/tag414.xml"/><Relationship Id="rId3" Type="http://schemas.openxmlformats.org/officeDocument/2006/relationships/tags" Target="../tags/tag413.xml"/><Relationship Id="rId23" Type="http://schemas.openxmlformats.org/officeDocument/2006/relationships/notesSlide" Target="../notesSlides/notesSlide21.xml"/><Relationship Id="rId22" Type="http://schemas.openxmlformats.org/officeDocument/2006/relationships/slideLayout" Target="../slideLayouts/slideLayout1.xml"/><Relationship Id="rId21" Type="http://schemas.openxmlformats.org/officeDocument/2006/relationships/tags" Target="../tags/tag430.xml"/><Relationship Id="rId20" Type="http://schemas.openxmlformats.org/officeDocument/2006/relationships/tags" Target="../tags/tag429.xml"/><Relationship Id="rId2" Type="http://schemas.openxmlformats.org/officeDocument/2006/relationships/tags" Target="../tags/tag412.xml"/><Relationship Id="rId19" Type="http://schemas.openxmlformats.org/officeDocument/2006/relationships/tags" Target="../tags/tag428.xml"/><Relationship Id="rId18" Type="http://schemas.openxmlformats.org/officeDocument/2006/relationships/tags" Target="../tags/tag427.xml"/><Relationship Id="rId17" Type="http://schemas.openxmlformats.org/officeDocument/2006/relationships/tags" Target="../tags/tag426.xml"/><Relationship Id="rId16" Type="http://schemas.openxmlformats.org/officeDocument/2006/relationships/tags" Target="../tags/tag425.xml"/><Relationship Id="rId15" Type="http://schemas.openxmlformats.org/officeDocument/2006/relationships/tags" Target="../tags/tag424.xml"/><Relationship Id="rId14" Type="http://schemas.openxmlformats.org/officeDocument/2006/relationships/tags" Target="../tags/tag423.xml"/><Relationship Id="rId13" Type="http://schemas.openxmlformats.org/officeDocument/2006/relationships/tags" Target="../tags/tag422.xml"/><Relationship Id="rId12" Type="http://schemas.openxmlformats.org/officeDocument/2006/relationships/tags" Target="../tags/tag421.xml"/><Relationship Id="rId11" Type="http://schemas.openxmlformats.org/officeDocument/2006/relationships/tags" Target="../tags/tag420.xml"/><Relationship Id="rId10" Type="http://schemas.openxmlformats.org/officeDocument/2006/relationships/tags" Target="../tags/tag419.xml"/><Relationship Id="rId1" Type="http://schemas.openxmlformats.org/officeDocument/2006/relationships/image" Target="../media/image14.jpeg"/></Relationships>
</file>

<file path=ppt/slides/_rels/slide28.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image" Target="../media/image16.png"/><Relationship Id="rId7" Type="http://schemas.openxmlformats.org/officeDocument/2006/relationships/tags" Target="../tags/tag435.xml"/><Relationship Id="rId6" Type="http://schemas.openxmlformats.org/officeDocument/2006/relationships/image" Target="../media/image2.jpeg"/><Relationship Id="rId5" Type="http://schemas.openxmlformats.org/officeDocument/2006/relationships/tags" Target="../tags/tag434.xml"/><Relationship Id="rId4" Type="http://schemas.openxmlformats.org/officeDocument/2006/relationships/tags" Target="../tags/tag433.xml"/><Relationship Id="rId3" Type="http://schemas.openxmlformats.org/officeDocument/2006/relationships/tags" Target="../tags/tag432.xml"/><Relationship Id="rId2" Type="http://schemas.openxmlformats.org/officeDocument/2006/relationships/tags" Target="../tags/tag431.xml"/><Relationship Id="rId11" Type="http://schemas.openxmlformats.org/officeDocument/2006/relationships/notesSlide" Target="../notesSlides/notesSlide22.xml"/><Relationship Id="rId10" Type="http://schemas.openxmlformats.org/officeDocument/2006/relationships/slideLayout" Target="../slideLayouts/slideLayout1.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5" Type="http://schemas.openxmlformats.org/officeDocument/2006/relationships/notesSlide" Target="../notesSlides/notesSlide23.xml"/><Relationship Id="rId14" Type="http://schemas.openxmlformats.org/officeDocument/2006/relationships/slideLayout" Target="../slideLayouts/slideLayout1.xml"/><Relationship Id="rId13" Type="http://schemas.openxmlformats.org/officeDocument/2006/relationships/tags" Target="../tags/tag448.xml"/><Relationship Id="rId12" Type="http://schemas.openxmlformats.org/officeDocument/2006/relationships/tags" Target="../tags/tag447.xml"/><Relationship Id="rId11" Type="http://schemas.openxmlformats.org/officeDocument/2006/relationships/tags" Target="../tags/tag446.xml"/><Relationship Id="rId10" Type="http://schemas.openxmlformats.org/officeDocument/2006/relationships/tags" Target="../tags/tag445.xml"/><Relationship Id="rId1" Type="http://schemas.openxmlformats.org/officeDocument/2006/relationships/tags" Target="../tags/tag437.xml"/></Relationships>
</file>

<file path=ppt/slides/_rels/slide30.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456.xml"/><Relationship Id="rId7" Type="http://schemas.openxmlformats.org/officeDocument/2006/relationships/tags" Target="../tags/tag455.xml"/><Relationship Id="rId6" Type="http://schemas.openxmlformats.org/officeDocument/2006/relationships/tags" Target="../tags/tag454.xml"/><Relationship Id="rId5" Type="http://schemas.openxmlformats.org/officeDocument/2006/relationships/tags" Target="../tags/tag453.xml"/><Relationship Id="rId4" Type="http://schemas.openxmlformats.org/officeDocument/2006/relationships/tags" Target="../tags/tag452.xml"/><Relationship Id="rId3" Type="http://schemas.openxmlformats.org/officeDocument/2006/relationships/tags" Target="../tags/tag451.xml"/><Relationship Id="rId2" Type="http://schemas.openxmlformats.org/officeDocument/2006/relationships/tags" Target="../tags/tag450.xml"/><Relationship Id="rId15" Type="http://schemas.openxmlformats.org/officeDocument/2006/relationships/notesSlide" Target="../notesSlides/notesSlide24.xml"/><Relationship Id="rId14" Type="http://schemas.openxmlformats.org/officeDocument/2006/relationships/slideLayout" Target="../slideLayouts/slideLayout1.xml"/><Relationship Id="rId13" Type="http://schemas.openxmlformats.org/officeDocument/2006/relationships/tags" Target="../tags/tag458.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tags" Target="../tags/tag457.xml"/><Relationship Id="rId1" Type="http://schemas.openxmlformats.org/officeDocument/2006/relationships/tags" Target="../tags/tag449.xml"/></Relationships>
</file>

<file path=ppt/slides/_rels/slide31.xml.rels><?xml version="1.0" encoding="UTF-8" standalone="yes"?>
<Relationships xmlns="http://schemas.openxmlformats.org/package/2006/relationships"><Relationship Id="rId9" Type="http://schemas.openxmlformats.org/officeDocument/2006/relationships/tags" Target="../tags/tag465.xml"/><Relationship Id="rId8" Type="http://schemas.openxmlformats.org/officeDocument/2006/relationships/tags" Target="../tags/tag464.xml"/><Relationship Id="rId7" Type="http://schemas.openxmlformats.org/officeDocument/2006/relationships/tags" Target="../tags/tag463.xml"/><Relationship Id="rId6" Type="http://schemas.openxmlformats.org/officeDocument/2006/relationships/tags" Target="../tags/tag462.xml"/><Relationship Id="rId5" Type="http://schemas.openxmlformats.org/officeDocument/2006/relationships/tags" Target="../tags/tag461.xml"/><Relationship Id="rId4" Type="http://schemas.openxmlformats.org/officeDocument/2006/relationships/image" Target="../media/image20.jpeg"/><Relationship Id="rId38" Type="http://schemas.openxmlformats.org/officeDocument/2006/relationships/notesSlide" Target="../notesSlides/notesSlide25.xml"/><Relationship Id="rId37" Type="http://schemas.openxmlformats.org/officeDocument/2006/relationships/slideLayout" Target="../slideLayouts/slideLayout1.xml"/><Relationship Id="rId36" Type="http://schemas.openxmlformats.org/officeDocument/2006/relationships/tags" Target="../tags/tag491.xml"/><Relationship Id="rId35" Type="http://schemas.openxmlformats.org/officeDocument/2006/relationships/tags" Target="../tags/tag490.xml"/><Relationship Id="rId34" Type="http://schemas.openxmlformats.org/officeDocument/2006/relationships/tags" Target="../tags/tag489.xml"/><Relationship Id="rId33" Type="http://schemas.openxmlformats.org/officeDocument/2006/relationships/image" Target="../media/image2.jpeg"/><Relationship Id="rId32" Type="http://schemas.openxmlformats.org/officeDocument/2006/relationships/tags" Target="../tags/tag488.xml"/><Relationship Id="rId31" Type="http://schemas.openxmlformats.org/officeDocument/2006/relationships/tags" Target="../tags/tag487.xml"/><Relationship Id="rId30" Type="http://schemas.openxmlformats.org/officeDocument/2006/relationships/tags" Target="../tags/tag486.xml"/><Relationship Id="rId3" Type="http://schemas.openxmlformats.org/officeDocument/2006/relationships/tags" Target="../tags/tag460.xml"/><Relationship Id="rId29" Type="http://schemas.openxmlformats.org/officeDocument/2006/relationships/tags" Target="../tags/tag485.xml"/><Relationship Id="rId28" Type="http://schemas.openxmlformats.org/officeDocument/2006/relationships/tags" Target="../tags/tag484.xml"/><Relationship Id="rId27" Type="http://schemas.openxmlformats.org/officeDocument/2006/relationships/tags" Target="../tags/tag483.xml"/><Relationship Id="rId26" Type="http://schemas.openxmlformats.org/officeDocument/2006/relationships/tags" Target="../tags/tag482.xml"/><Relationship Id="rId25" Type="http://schemas.openxmlformats.org/officeDocument/2006/relationships/tags" Target="../tags/tag481.xml"/><Relationship Id="rId24" Type="http://schemas.openxmlformats.org/officeDocument/2006/relationships/tags" Target="../tags/tag480.xml"/><Relationship Id="rId23" Type="http://schemas.openxmlformats.org/officeDocument/2006/relationships/tags" Target="../tags/tag479.xml"/><Relationship Id="rId22" Type="http://schemas.openxmlformats.org/officeDocument/2006/relationships/tags" Target="../tags/tag478.xml"/><Relationship Id="rId21" Type="http://schemas.openxmlformats.org/officeDocument/2006/relationships/tags" Target="../tags/tag477.xml"/><Relationship Id="rId20" Type="http://schemas.openxmlformats.org/officeDocument/2006/relationships/tags" Target="../tags/tag476.xml"/><Relationship Id="rId2" Type="http://schemas.openxmlformats.org/officeDocument/2006/relationships/image" Target="../media/image19.png"/><Relationship Id="rId19" Type="http://schemas.openxmlformats.org/officeDocument/2006/relationships/tags" Target="../tags/tag475.xml"/><Relationship Id="rId18" Type="http://schemas.openxmlformats.org/officeDocument/2006/relationships/tags" Target="../tags/tag474.xml"/><Relationship Id="rId17" Type="http://schemas.openxmlformats.org/officeDocument/2006/relationships/tags" Target="../tags/tag473.xml"/><Relationship Id="rId16" Type="http://schemas.openxmlformats.org/officeDocument/2006/relationships/tags" Target="../tags/tag472.xml"/><Relationship Id="rId15" Type="http://schemas.openxmlformats.org/officeDocument/2006/relationships/tags" Target="../tags/tag471.xml"/><Relationship Id="rId14" Type="http://schemas.openxmlformats.org/officeDocument/2006/relationships/tags" Target="../tags/tag470.xml"/><Relationship Id="rId13" Type="http://schemas.openxmlformats.org/officeDocument/2006/relationships/tags" Target="../tags/tag469.xml"/><Relationship Id="rId12" Type="http://schemas.openxmlformats.org/officeDocument/2006/relationships/tags" Target="../tags/tag468.xml"/><Relationship Id="rId11" Type="http://schemas.openxmlformats.org/officeDocument/2006/relationships/tags" Target="../tags/tag467.xml"/><Relationship Id="rId10" Type="http://schemas.openxmlformats.org/officeDocument/2006/relationships/tags" Target="../tags/tag466.xml"/><Relationship Id="rId1" Type="http://schemas.openxmlformats.org/officeDocument/2006/relationships/tags" Target="../tags/tag459.xml"/></Relationships>
</file>

<file path=ppt/slides/_rels/slide32.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499.xml"/><Relationship Id="rId7" Type="http://schemas.openxmlformats.org/officeDocument/2006/relationships/tags" Target="../tags/tag498.xml"/><Relationship Id="rId6" Type="http://schemas.openxmlformats.org/officeDocument/2006/relationships/tags" Target="../tags/tag497.xml"/><Relationship Id="rId5" Type="http://schemas.openxmlformats.org/officeDocument/2006/relationships/tags" Target="../tags/tag496.xml"/><Relationship Id="rId4" Type="http://schemas.openxmlformats.org/officeDocument/2006/relationships/tags" Target="../tags/tag495.xml"/><Relationship Id="rId3" Type="http://schemas.openxmlformats.org/officeDocument/2006/relationships/tags" Target="../tags/tag494.xml"/><Relationship Id="rId2" Type="http://schemas.openxmlformats.org/officeDocument/2006/relationships/tags" Target="../tags/tag493.xml"/><Relationship Id="rId15" Type="http://schemas.openxmlformats.org/officeDocument/2006/relationships/notesSlide" Target="../notesSlides/notesSlide26.xml"/><Relationship Id="rId14" Type="http://schemas.openxmlformats.org/officeDocument/2006/relationships/slideLayout" Target="../slideLayouts/slideLayout1.xml"/><Relationship Id="rId13" Type="http://schemas.openxmlformats.org/officeDocument/2006/relationships/tags" Target="../tags/tag503.xml"/><Relationship Id="rId12" Type="http://schemas.openxmlformats.org/officeDocument/2006/relationships/tags" Target="../tags/tag502.xml"/><Relationship Id="rId11" Type="http://schemas.openxmlformats.org/officeDocument/2006/relationships/tags" Target="../tags/tag501.xml"/><Relationship Id="rId10" Type="http://schemas.openxmlformats.org/officeDocument/2006/relationships/tags" Target="../tags/tag500.xml"/><Relationship Id="rId1" Type="http://schemas.openxmlformats.org/officeDocument/2006/relationships/tags" Target="../tags/tag492.xml"/></Relationships>
</file>

<file path=ppt/slides/_rels/slide33.xml.rels><?xml version="1.0" encoding="UTF-8" standalone="yes"?>
<Relationships xmlns="http://schemas.openxmlformats.org/package/2006/relationships"><Relationship Id="rId9" Type="http://schemas.openxmlformats.org/officeDocument/2006/relationships/image" Target="../media/image21.jpeg"/><Relationship Id="rId8" Type="http://schemas.openxmlformats.org/officeDocument/2006/relationships/tags" Target="../tags/tag511.xml"/><Relationship Id="rId7" Type="http://schemas.openxmlformats.org/officeDocument/2006/relationships/tags" Target="../tags/tag510.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3" Type="http://schemas.openxmlformats.org/officeDocument/2006/relationships/tags" Target="../tags/tag506.xml"/><Relationship Id="rId21" Type="http://schemas.openxmlformats.org/officeDocument/2006/relationships/notesSlide" Target="../notesSlides/notesSlide27.xml"/><Relationship Id="rId20" Type="http://schemas.openxmlformats.org/officeDocument/2006/relationships/slideLayout" Target="../slideLayouts/slideLayout2.xml"/><Relationship Id="rId2" Type="http://schemas.openxmlformats.org/officeDocument/2006/relationships/tags" Target="../tags/tag505.xml"/><Relationship Id="rId19" Type="http://schemas.openxmlformats.org/officeDocument/2006/relationships/tags" Target="../tags/tag519.xml"/><Relationship Id="rId18" Type="http://schemas.openxmlformats.org/officeDocument/2006/relationships/tags" Target="../tags/tag518.xml"/><Relationship Id="rId17" Type="http://schemas.openxmlformats.org/officeDocument/2006/relationships/tags" Target="../tags/tag517.xml"/><Relationship Id="rId16" Type="http://schemas.openxmlformats.org/officeDocument/2006/relationships/image" Target="../media/image23.png"/><Relationship Id="rId15" Type="http://schemas.openxmlformats.org/officeDocument/2006/relationships/tags" Target="../tags/tag516.xml"/><Relationship Id="rId14" Type="http://schemas.openxmlformats.org/officeDocument/2006/relationships/tags" Target="../tags/tag515.xml"/><Relationship Id="rId13" Type="http://schemas.openxmlformats.org/officeDocument/2006/relationships/tags" Target="../tags/tag514.xml"/><Relationship Id="rId12" Type="http://schemas.openxmlformats.org/officeDocument/2006/relationships/image" Target="../media/image22.png"/><Relationship Id="rId11" Type="http://schemas.openxmlformats.org/officeDocument/2006/relationships/tags" Target="../tags/tag513.xml"/><Relationship Id="rId10" Type="http://schemas.openxmlformats.org/officeDocument/2006/relationships/tags" Target="../tags/tag512.xml"/><Relationship Id="rId1" Type="http://schemas.openxmlformats.org/officeDocument/2006/relationships/tags" Target="../tags/tag504.xml"/></Relationships>
</file>

<file path=ppt/slides/_rels/slide34.xml.rels><?xml version="1.0" encoding="UTF-8" standalone="yes"?>
<Relationships xmlns="http://schemas.openxmlformats.org/package/2006/relationships"><Relationship Id="rId9" Type="http://schemas.openxmlformats.org/officeDocument/2006/relationships/tags" Target="../tags/tag527.xml"/><Relationship Id="rId8" Type="http://schemas.openxmlformats.org/officeDocument/2006/relationships/image" Target="../media/image21.jpeg"/><Relationship Id="rId7" Type="http://schemas.openxmlformats.org/officeDocument/2006/relationships/tags" Target="../tags/tag526.xml"/><Relationship Id="rId6" Type="http://schemas.openxmlformats.org/officeDocument/2006/relationships/tags" Target="../tags/tag525.xml"/><Relationship Id="rId5" Type="http://schemas.openxmlformats.org/officeDocument/2006/relationships/tags" Target="../tags/tag524.xml"/><Relationship Id="rId4" Type="http://schemas.openxmlformats.org/officeDocument/2006/relationships/tags" Target="../tags/tag523.xml"/><Relationship Id="rId3" Type="http://schemas.openxmlformats.org/officeDocument/2006/relationships/tags" Target="../tags/tag522.xml"/><Relationship Id="rId20" Type="http://schemas.openxmlformats.org/officeDocument/2006/relationships/notesSlide" Target="../notesSlides/notesSlide28.xml"/><Relationship Id="rId2" Type="http://schemas.openxmlformats.org/officeDocument/2006/relationships/tags" Target="../tags/tag521.xml"/><Relationship Id="rId19" Type="http://schemas.openxmlformats.org/officeDocument/2006/relationships/slideLayout" Target="../slideLayouts/slideLayout2.xml"/><Relationship Id="rId18" Type="http://schemas.openxmlformats.org/officeDocument/2006/relationships/tags" Target="../tags/tag535.xml"/><Relationship Id="rId17" Type="http://schemas.openxmlformats.org/officeDocument/2006/relationships/tags" Target="../tags/tag534.xml"/><Relationship Id="rId16" Type="http://schemas.openxmlformats.org/officeDocument/2006/relationships/tags" Target="../tags/tag533.xml"/><Relationship Id="rId15" Type="http://schemas.openxmlformats.org/officeDocument/2006/relationships/tags" Target="../tags/tag532.xml"/><Relationship Id="rId14" Type="http://schemas.openxmlformats.org/officeDocument/2006/relationships/tags" Target="../tags/tag531.xml"/><Relationship Id="rId13" Type="http://schemas.openxmlformats.org/officeDocument/2006/relationships/tags" Target="../tags/tag530.xml"/><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image" Target="../media/image24.png"/><Relationship Id="rId1" Type="http://schemas.openxmlformats.org/officeDocument/2006/relationships/tags" Target="../tags/tag520.xml"/></Relationships>
</file>

<file path=ppt/slides/_rels/slide35.xml.rels><?xml version="1.0" encoding="UTF-8" standalone="yes"?>
<Relationships xmlns="http://schemas.openxmlformats.org/package/2006/relationships"><Relationship Id="rId9" Type="http://schemas.openxmlformats.org/officeDocument/2006/relationships/tags" Target="../tags/tag544.xml"/><Relationship Id="rId8" Type="http://schemas.openxmlformats.org/officeDocument/2006/relationships/tags" Target="../tags/tag543.xml"/><Relationship Id="rId7" Type="http://schemas.openxmlformats.org/officeDocument/2006/relationships/tags" Target="../tags/tag542.xml"/><Relationship Id="rId6" Type="http://schemas.openxmlformats.org/officeDocument/2006/relationships/tags" Target="../tags/tag541.xml"/><Relationship Id="rId5" Type="http://schemas.openxmlformats.org/officeDocument/2006/relationships/tags" Target="../tags/tag540.xml"/><Relationship Id="rId4" Type="http://schemas.openxmlformats.org/officeDocument/2006/relationships/tags" Target="../tags/tag539.xml"/><Relationship Id="rId3" Type="http://schemas.openxmlformats.org/officeDocument/2006/relationships/tags" Target="../tags/tag538.xml"/><Relationship Id="rId2" Type="http://schemas.openxmlformats.org/officeDocument/2006/relationships/tags" Target="../tags/tag537.xml"/><Relationship Id="rId16" Type="http://schemas.openxmlformats.org/officeDocument/2006/relationships/notesSlide" Target="../notesSlides/notesSlide29.xml"/><Relationship Id="rId15" Type="http://schemas.openxmlformats.org/officeDocument/2006/relationships/slideLayout" Target="../slideLayouts/slideLayout2.xml"/><Relationship Id="rId14" Type="http://schemas.openxmlformats.org/officeDocument/2006/relationships/tags" Target="../tags/tag548.xml"/><Relationship Id="rId13" Type="http://schemas.openxmlformats.org/officeDocument/2006/relationships/tags" Target="../tags/tag547.xml"/><Relationship Id="rId12" Type="http://schemas.openxmlformats.org/officeDocument/2006/relationships/tags" Target="../tags/tag546.xml"/><Relationship Id="rId11" Type="http://schemas.openxmlformats.org/officeDocument/2006/relationships/image" Target="../media/image21.jpeg"/><Relationship Id="rId10" Type="http://schemas.openxmlformats.org/officeDocument/2006/relationships/tags" Target="../tags/tag545.xml"/><Relationship Id="rId1" Type="http://schemas.openxmlformats.org/officeDocument/2006/relationships/tags" Target="../tags/tag536.xml"/></Relationships>
</file>

<file path=ppt/slides/_rels/slide36.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556.xml"/><Relationship Id="rId7" Type="http://schemas.openxmlformats.org/officeDocument/2006/relationships/tags" Target="../tags/tag555.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 Id="rId3" Type="http://schemas.openxmlformats.org/officeDocument/2006/relationships/tags" Target="../tags/tag551.xml"/><Relationship Id="rId2" Type="http://schemas.openxmlformats.org/officeDocument/2006/relationships/tags" Target="../tags/tag550.xml"/><Relationship Id="rId18" Type="http://schemas.openxmlformats.org/officeDocument/2006/relationships/notesSlide" Target="../notesSlides/notesSlide30.xml"/><Relationship Id="rId17" Type="http://schemas.openxmlformats.org/officeDocument/2006/relationships/slideLayout" Target="../slideLayouts/slideLayout1.xml"/><Relationship Id="rId16" Type="http://schemas.openxmlformats.org/officeDocument/2006/relationships/tags" Target="../tags/tag563.xml"/><Relationship Id="rId15" Type="http://schemas.openxmlformats.org/officeDocument/2006/relationships/tags" Target="../tags/tag562.xml"/><Relationship Id="rId14" Type="http://schemas.openxmlformats.org/officeDocument/2006/relationships/tags" Target="../tags/tag561.xml"/><Relationship Id="rId13" Type="http://schemas.openxmlformats.org/officeDocument/2006/relationships/tags" Target="../tags/tag560.xml"/><Relationship Id="rId12" Type="http://schemas.openxmlformats.org/officeDocument/2006/relationships/tags" Target="../tags/tag559.xml"/><Relationship Id="rId11" Type="http://schemas.openxmlformats.org/officeDocument/2006/relationships/tags" Target="../tags/tag558.xml"/><Relationship Id="rId10" Type="http://schemas.openxmlformats.org/officeDocument/2006/relationships/tags" Target="../tags/tag557.xml"/><Relationship Id="rId1" Type="http://schemas.openxmlformats.org/officeDocument/2006/relationships/tags" Target="../tags/tag549.xml"/></Relationships>
</file>

<file path=ppt/slides/_rels/slide37.xml.rels><?xml version="1.0" encoding="UTF-8" standalone="yes"?>
<Relationships xmlns="http://schemas.openxmlformats.org/package/2006/relationships"><Relationship Id="rId9" Type="http://schemas.openxmlformats.org/officeDocument/2006/relationships/tags" Target="../tags/tag572.xml"/><Relationship Id="rId8" Type="http://schemas.openxmlformats.org/officeDocument/2006/relationships/tags" Target="../tags/tag571.xml"/><Relationship Id="rId7" Type="http://schemas.openxmlformats.org/officeDocument/2006/relationships/tags" Target="../tags/tag570.xml"/><Relationship Id="rId6" Type="http://schemas.openxmlformats.org/officeDocument/2006/relationships/tags" Target="../tags/tag569.xml"/><Relationship Id="rId5" Type="http://schemas.openxmlformats.org/officeDocument/2006/relationships/tags" Target="../tags/tag568.xml"/><Relationship Id="rId4" Type="http://schemas.openxmlformats.org/officeDocument/2006/relationships/tags" Target="../tags/tag567.xml"/><Relationship Id="rId3" Type="http://schemas.openxmlformats.org/officeDocument/2006/relationships/tags" Target="../tags/tag566.xml"/><Relationship Id="rId25" Type="http://schemas.openxmlformats.org/officeDocument/2006/relationships/notesSlide" Target="../notesSlides/notesSlide31.xml"/><Relationship Id="rId24" Type="http://schemas.openxmlformats.org/officeDocument/2006/relationships/slideLayout" Target="../slideLayouts/slideLayout1.xml"/><Relationship Id="rId23" Type="http://schemas.openxmlformats.org/officeDocument/2006/relationships/tags" Target="../tags/tag579.xml"/><Relationship Id="rId22" Type="http://schemas.openxmlformats.org/officeDocument/2006/relationships/image" Target="../media/image30.svg"/><Relationship Id="rId21" Type="http://schemas.openxmlformats.org/officeDocument/2006/relationships/image" Target="../media/image29.png"/><Relationship Id="rId20" Type="http://schemas.openxmlformats.org/officeDocument/2006/relationships/image" Target="../media/image28.svg"/><Relationship Id="rId2" Type="http://schemas.openxmlformats.org/officeDocument/2006/relationships/tags" Target="../tags/tag565.xml"/><Relationship Id="rId19" Type="http://schemas.openxmlformats.org/officeDocument/2006/relationships/image" Target="../media/image27.png"/><Relationship Id="rId18" Type="http://schemas.openxmlformats.org/officeDocument/2006/relationships/image" Target="../media/image26.svg"/><Relationship Id="rId17" Type="http://schemas.openxmlformats.org/officeDocument/2006/relationships/image" Target="../media/image25.png"/><Relationship Id="rId16" Type="http://schemas.openxmlformats.org/officeDocument/2006/relationships/tags" Target="../tags/tag578.xml"/><Relationship Id="rId15" Type="http://schemas.openxmlformats.org/officeDocument/2006/relationships/tags" Target="../tags/tag577.xml"/><Relationship Id="rId14" Type="http://schemas.openxmlformats.org/officeDocument/2006/relationships/image" Target="../media/image2.jpeg"/><Relationship Id="rId13" Type="http://schemas.openxmlformats.org/officeDocument/2006/relationships/tags" Target="../tags/tag576.xml"/><Relationship Id="rId12" Type="http://schemas.openxmlformats.org/officeDocument/2006/relationships/tags" Target="../tags/tag575.xml"/><Relationship Id="rId11" Type="http://schemas.openxmlformats.org/officeDocument/2006/relationships/tags" Target="../tags/tag574.xml"/><Relationship Id="rId10" Type="http://schemas.openxmlformats.org/officeDocument/2006/relationships/tags" Target="../tags/tag573.xml"/><Relationship Id="rId1" Type="http://schemas.openxmlformats.org/officeDocument/2006/relationships/tags" Target="../tags/tag564.xml"/></Relationships>
</file>

<file path=ppt/slides/_rels/slide38.xml.rels><?xml version="1.0" encoding="UTF-8" standalone="yes"?>
<Relationships xmlns="http://schemas.openxmlformats.org/package/2006/relationships"><Relationship Id="rId9" Type="http://schemas.openxmlformats.org/officeDocument/2006/relationships/tags" Target="../tags/tag587.xml"/><Relationship Id="rId8" Type="http://schemas.openxmlformats.org/officeDocument/2006/relationships/tags" Target="../tags/tag586.xml"/><Relationship Id="rId7" Type="http://schemas.openxmlformats.org/officeDocument/2006/relationships/tags" Target="../tags/tag585.xml"/><Relationship Id="rId6" Type="http://schemas.openxmlformats.org/officeDocument/2006/relationships/image" Target="../media/image2.jpeg"/><Relationship Id="rId5" Type="http://schemas.openxmlformats.org/officeDocument/2006/relationships/tags" Target="../tags/tag584.xml"/><Relationship Id="rId4" Type="http://schemas.openxmlformats.org/officeDocument/2006/relationships/tags" Target="../tags/tag583.xml"/><Relationship Id="rId3" Type="http://schemas.openxmlformats.org/officeDocument/2006/relationships/tags" Target="../tags/tag582.xml"/><Relationship Id="rId2" Type="http://schemas.openxmlformats.org/officeDocument/2006/relationships/tags" Target="../tags/tag581.xml"/><Relationship Id="rId19" Type="http://schemas.openxmlformats.org/officeDocument/2006/relationships/notesSlide" Target="../notesSlides/notesSlide32.xml"/><Relationship Id="rId18" Type="http://schemas.openxmlformats.org/officeDocument/2006/relationships/slideLayout" Target="../slideLayouts/slideLayout1.xml"/><Relationship Id="rId17" Type="http://schemas.openxmlformats.org/officeDocument/2006/relationships/tags" Target="../tags/tag595.xml"/><Relationship Id="rId16" Type="http://schemas.openxmlformats.org/officeDocument/2006/relationships/tags" Target="../tags/tag594.xml"/><Relationship Id="rId15" Type="http://schemas.openxmlformats.org/officeDocument/2006/relationships/tags" Target="../tags/tag593.xml"/><Relationship Id="rId14" Type="http://schemas.openxmlformats.org/officeDocument/2006/relationships/tags" Target="../tags/tag592.xml"/><Relationship Id="rId13" Type="http://schemas.openxmlformats.org/officeDocument/2006/relationships/tags" Target="../tags/tag591.xml"/><Relationship Id="rId12" Type="http://schemas.openxmlformats.org/officeDocument/2006/relationships/tags" Target="../tags/tag590.xml"/><Relationship Id="rId11" Type="http://schemas.openxmlformats.org/officeDocument/2006/relationships/tags" Target="../tags/tag589.xml"/><Relationship Id="rId10" Type="http://schemas.openxmlformats.org/officeDocument/2006/relationships/tags" Target="../tags/tag588.xml"/><Relationship Id="rId1" Type="http://schemas.openxmlformats.org/officeDocument/2006/relationships/tags" Target="../tags/tag580.xml"/></Relationships>
</file>

<file path=ppt/slides/_rels/slide39.xml.rels><?xml version="1.0" encoding="UTF-8" standalone="yes"?>
<Relationships xmlns="http://schemas.openxmlformats.org/package/2006/relationships"><Relationship Id="rId9" Type="http://schemas.openxmlformats.org/officeDocument/2006/relationships/tags" Target="../tags/tag603.xml"/><Relationship Id="rId8" Type="http://schemas.openxmlformats.org/officeDocument/2006/relationships/tags" Target="../tags/tag602.xml"/><Relationship Id="rId7" Type="http://schemas.openxmlformats.org/officeDocument/2006/relationships/tags" Target="../tags/tag601.xml"/><Relationship Id="rId6" Type="http://schemas.openxmlformats.org/officeDocument/2006/relationships/image" Target="../media/image2.jpeg"/><Relationship Id="rId5" Type="http://schemas.openxmlformats.org/officeDocument/2006/relationships/tags" Target="../tags/tag600.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4" Type="http://schemas.openxmlformats.org/officeDocument/2006/relationships/notesSlide" Target="../notesSlides/notesSlide33.xml"/><Relationship Id="rId13" Type="http://schemas.openxmlformats.org/officeDocument/2006/relationships/slideLayout" Target="../slideLayouts/slideLayout1.xml"/><Relationship Id="rId12" Type="http://schemas.openxmlformats.org/officeDocument/2006/relationships/tags" Target="../tags/tag606.xml"/><Relationship Id="rId11" Type="http://schemas.openxmlformats.org/officeDocument/2006/relationships/tags" Target="../tags/tag605.xml"/><Relationship Id="rId10" Type="http://schemas.openxmlformats.org/officeDocument/2006/relationships/tags" Target="../tags/tag604.xml"/><Relationship Id="rId1" Type="http://schemas.openxmlformats.org/officeDocument/2006/relationships/tags" Target="../tags/tag596.xml"/></Relationships>
</file>

<file path=ppt/slides/_rels/slide40.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tags" Target="../tags/tag613.xml"/><Relationship Id="rId7" Type="http://schemas.openxmlformats.org/officeDocument/2006/relationships/tags" Target="../tags/tag612.xml"/><Relationship Id="rId6" Type="http://schemas.openxmlformats.org/officeDocument/2006/relationships/image" Target="../media/image2.jpeg"/><Relationship Id="rId5" Type="http://schemas.openxmlformats.org/officeDocument/2006/relationships/tags" Target="../tags/tag611.xml"/><Relationship Id="rId4" Type="http://schemas.openxmlformats.org/officeDocument/2006/relationships/tags" Target="../tags/tag610.xml"/><Relationship Id="rId3" Type="http://schemas.openxmlformats.org/officeDocument/2006/relationships/tags" Target="../tags/tag609.xml"/><Relationship Id="rId26" Type="http://schemas.openxmlformats.org/officeDocument/2006/relationships/notesSlide" Target="../notesSlides/notesSlide34.xml"/><Relationship Id="rId25" Type="http://schemas.openxmlformats.org/officeDocument/2006/relationships/slideLayout" Target="../slideLayouts/slideLayout1.xml"/><Relationship Id="rId24" Type="http://schemas.openxmlformats.org/officeDocument/2006/relationships/tags" Target="../tags/tag621.xml"/><Relationship Id="rId23" Type="http://schemas.openxmlformats.org/officeDocument/2006/relationships/tags" Target="../tags/tag620.xml"/><Relationship Id="rId22" Type="http://schemas.openxmlformats.org/officeDocument/2006/relationships/image" Target="../media/image37.svg"/><Relationship Id="rId21" Type="http://schemas.openxmlformats.org/officeDocument/2006/relationships/image" Target="../media/image36.png"/><Relationship Id="rId20" Type="http://schemas.openxmlformats.org/officeDocument/2006/relationships/image" Target="../media/image35.svg"/><Relationship Id="rId2" Type="http://schemas.openxmlformats.org/officeDocument/2006/relationships/tags" Target="../tags/tag608.xml"/><Relationship Id="rId19" Type="http://schemas.openxmlformats.org/officeDocument/2006/relationships/image" Target="../media/image34.png"/><Relationship Id="rId18" Type="http://schemas.openxmlformats.org/officeDocument/2006/relationships/image" Target="../media/image33.svg"/><Relationship Id="rId17" Type="http://schemas.openxmlformats.org/officeDocument/2006/relationships/image" Target="../media/image32.png"/><Relationship Id="rId16" Type="http://schemas.openxmlformats.org/officeDocument/2006/relationships/tags" Target="../tags/tag619.xml"/><Relationship Id="rId15" Type="http://schemas.openxmlformats.org/officeDocument/2006/relationships/tags" Target="../tags/tag618.xml"/><Relationship Id="rId14" Type="http://schemas.openxmlformats.org/officeDocument/2006/relationships/tags" Target="../tags/tag617.xml"/><Relationship Id="rId13" Type="http://schemas.openxmlformats.org/officeDocument/2006/relationships/tags" Target="../tags/tag616.xml"/><Relationship Id="rId12" Type="http://schemas.openxmlformats.org/officeDocument/2006/relationships/tags" Target="../tags/tag615.xml"/><Relationship Id="rId11" Type="http://schemas.openxmlformats.org/officeDocument/2006/relationships/tags" Target="../tags/tag614.xml"/><Relationship Id="rId10" Type="http://schemas.openxmlformats.org/officeDocument/2006/relationships/image" Target="../media/image20.jpeg"/><Relationship Id="rId1" Type="http://schemas.openxmlformats.org/officeDocument/2006/relationships/tags" Target="../tags/tag607.xml"/></Relationships>
</file>

<file path=ppt/slides/_rels/slide41.xml.rels><?xml version="1.0" encoding="UTF-8" standalone="yes"?>
<Relationships xmlns="http://schemas.openxmlformats.org/package/2006/relationships"><Relationship Id="rId98" Type="http://schemas.openxmlformats.org/officeDocument/2006/relationships/notesSlide" Target="../notesSlides/notesSlide35.xml"/><Relationship Id="rId97" Type="http://schemas.openxmlformats.org/officeDocument/2006/relationships/slideLayout" Target="../slideLayouts/slideLayout1.xml"/><Relationship Id="rId96" Type="http://schemas.openxmlformats.org/officeDocument/2006/relationships/tags" Target="../tags/tag716.xml"/><Relationship Id="rId95" Type="http://schemas.openxmlformats.org/officeDocument/2006/relationships/tags" Target="../tags/tag715.xml"/><Relationship Id="rId94" Type="http://schemas.openxmlformats.org/officeDocument/2006/relationships/tags" Target="../tags/tag714.xml"/><Relationship Id="rId93" Type="http://schemas.openxmlformats.org/officeDocument/2006/relationships/tags" Target="../tags/tag713.xml"/><Relationship Id="rId92" Type="http://schemas.openxmlformats.org/officeDocument/2006/relationships/tags" Target="../tags/tag712.xml"/><Relationship Id="rId91" Type="http://schemas.openxmlformats.org/officeDocument/2006/relationships/tags" Target="../tags/tag711.xml"/><Relationship Id="rId90" Type="http://schemas.openxmlformats.org/officeDocument/2006/relationships/tags" Target="../tags/tag710.xml"/><Relationship Id="rId9" Type="http://schemas.openxmlformats.org/officeDocument/2006/relationships/tags" Target="../tags/tag630.xml"/><Relationship Id="rId89" Type="http://schemas.openxmlformats.org/officeDocument/2006/relationships/tags" Target="../tags/tag709.xml"/><Relationship Id="rId88" Type="http://schemas.openxmlformats.org/officeDocument/2006/relationships/tags" Target="../tags/tag708.xml"/><Relationship Id="rId87" Type="http://schemas.openxmlformats.org/officeDocument/2006/relationships/tags" Target="../tags/tag707.xml"/><Relationship Id="rId86" Type="http://schemas.openxmlformats.org/officeDocument/2006/relationships/tags" Target="../tags/tag706.xml"/><Relationship Id="rId85" Type="http://schemas.openxmlformats.org/officeDocument/2006/relationships/tags" Target="../tags/tag705.xml"/><Relationship Id="rId84" Type="http://schemas.openxmlformats.org/officeDocument/2006/relationships/tags" Target="../tags/tag704.xml"/><Relationship Id="rId83" Type="http://schemas.openxmlformats.org/officeDocument/2006/relationships/image" Target="../media/image2.jpeg"/><Relationship Id="rId82" Type="http://schemas.openxmlformats.org/officeDocument/2006/relationships/tags" Target="../tags/tag703.xml"/><Relationship Id="rId81" Type="http://schemas.openxmlformats.org/officeDocument/2006/relationships/tags" Target="../tags/tag702.xml"/><Relationship Id="rId80" Type="http://schemas.openxmlformats.org/officeDocument/2006/relationships/tags" Target="../tags/tag701.xml"/><Relationship Id="rId8" Type="http://schemas.openxmlformats.org/officeDocument/2006/relationships/tags" Target="../tags/tag629.xml"/><Relationship Id="rId79" Type="http://schemas.openxmlformats.org/officeDocument/2006/relationships/tags" Target="../tags/tag700.xml"/><Relationship Id="rId78" Type="http://schemas.openxmlformats.org/officeDocument/2006/relationships/tags" Target="../tags/tag699.xml"/><Relationship Id="rId77" Type="http://schemas.openxmlformats.org/officeDocument/2006/relationships/tags" Target="../tags/tag698.xml"/><Relationship Id="rId76" Type="http://schemas.openxmlformats.org/officeDocument/2006/relationships/tags" Target="../tags/tag697.xml"/><Relationship Id="rId75" Type="http://schemas.openxmlformats.org/officeDocument/2006/relationships/tags" Target="../tags/tag696.xml"/><Relationship Id="rId74" Type="http://schemas.openxmlformats.org/officeDocument/2006/relationships/tags" Target="../tags/tag695.xml"/><Relationship Id="rId73" Type="http://schemas.openxmlformats.org/officeDocument/2006/relationships/tags" Target="../tags/tag694.xml"/><Relationship Id="rId72" Type="http://schemas.openxmlformats.org/officeDocument/2006/relationships/tags" Target="../tags/tag693.xml"/><Relationship Id="rId71" Type="http://schemas.openxmlformats.org/officeDocument/2006/relationships/tags" Target="../tags/tag692.xml"/><Relationship Id="rId70" Type="http://schemas.openxmlformats.org/officeDocument/2006/relationships/tags" Target="../tags/tag691.xml"/><Relationship Id="rId7" Type="http://schemas.openxmlformats.org/officeDocument/2006/relationships/tags" Target="../tags/tag628.xml"/><Relationship Id="rId69" Type="http://schemas.openxmlformats.org/officeDocument/2006/relationships/tags" Target="../tags/tag690.xml"/><Relationship Id="rId68" Type="http://schemas.openxmlformats.org/officeDocument/2006/relationships/tags" Target="../tags/tag689.xml"/><Relationship Id="rId67" Type="http://schemas.openxmlformats.org/officeDocument/2006/relationships/tags" Target="../tags/tag688.xml"/><Relationship Id="rId66" Type="http://schemas.openxmlformats.org/officeDocument/2006/relationships/tags" Target="../tags/tag687.xml"/><Relationship Id="rId65" Type="http://schemas.openxmlformats.org/officeDocument/2006/relationships/tags" Target="../tags/tag686.xml"/><Relationship Id="rId64" Type="http://schemas.openxmlformats.org/officeDocument/2006/relationships/tags" Target="../tags/tag685.xml"/><Relationship Id="rId63" Type="http://schemas.openxmlformats.org/officeDocument/2006/relationships/tags" Target="../tags/tag684.xml"/><Relationship Id="rId62" Type="http://schemas.openxmlformats.org/officeDocument/2006/relationships/tags" Target="../tags/tag683.xml"/><Relationship Id="rId61" Type="http://schemas.openxmlformats.org/officeDocument/2006/relationships/tags" Target="../tags/tag682.xml"/><Relationship Id="rId60" Type="http://schemas.openxmlformats.org/officeDocument/2006/relationships/tags" Target="../tags/tag681.xml"/><Relationship Id="rId6" Type="http://schemas.openxmlformats.org/officeDocument/2006/relationships/tags" Target="../tags/tag627.xml"/><Relationship Id="rId59" Type="http://schemas.openxmlformats.org/officeDocument/2006/relationships/tags" Target="../tags/tag680.xml"/><Relationship Id="rId58" Type="http://schemas.openxmlformats.org/officeDocument/2006/relationships/tags" Target="../tags/tag679.xml"/><Relationship Id="rId57" Type="http://schemas.openxmlformats.org/officeDocument/2006/relationships/tags" Target="../tags/tag678.xml"/><Relationship Id="rId56" Type="http://schemas.openxmlformats.org/officeDocument/2006/relationships/tags" Target="../tags/tag677.xml"/><Relationship Id="rId55" Type="http://schemas.openxmlformats.org/officeDocument/2006/relationships/tags" Target="../tags/tag676.xml"/><Relationship Id="rId54" Type="http://schemas.openxmlformats.org/officeDocument/2006/relationships/tags" Target="../tags/tag675.xml"/><Relationship Id="rId53" Type="http://schemas.openxmlformats.org/officeDocument/2006/relationships/tags" Target="../tags/tag674.xml"/><Relationship Id="rId52" Type="http://schemas.openxmlformats.org/officeDocument/2006/relationships/tags" Target="../tags/tag673.xml"/><Relationship Id="rId51" Type="http://schemas.openxmlformats.org/officeDocument/2006/relationships/tags" Target="../tags/tag672.xml"/><Relationship Id="rId50" Type="http://schemas.openxmlformats.org/officeDocument/2006/relationships/tags" Target="../tags/tag671.xml"/><Relationship Id="rId5" Type="http://schemas.openxmlformats.org/officeDocument/2006/relationships/tags" Target="../tags/tag626.xml"/><Relationship Id="rId49" Type="http://schemas.openxmlformats.org/officeDocument/2006/relationships/tags" Target="../tags/tag670.xml"/><Relationship Id="rId48" Type="http://schemas.openxmlformats.org/officeDocument/2006/relationships/tags" Target="../tags/tag669.xml"/><Relationship Id="rId47" Type="http://schemas.openxmlformats.org/officeDocument/2006/relationships/tags" Target="../tags/tag668.xml"/><Relationship Id="rId46" Type="http://schemas.openxmlformats.org/officeDocument/2006/relationships/tags" Target="../tags/tag667.xml"/><Relationship Id="rId45" Type="http://schemas.openxmlformats.org/officeDocument/2006/relationships/tags" Target="../tags/tag666.xml"/><Relationship Id="rId44" Type="http://schemas.openxmlformats.org/officeDocument/2006/relationships/tags" Target="../tags/tag665.xml"/><Relationship Id="rId43" Type="http://schemas.openxmlformats.org/officeDocument/2006/relationships/tags" Target="../tags/tag664.xml"/><Relationship Id="rId42" Type="http://schemas.openxmlformats.org/officeDocument/2006/relationships/tags" Target="../tags/tag663.xml"/><Relationship Id="rId41" Type="http://schemas.openxmlformats.org/officeDocument/2006/relationships/tags" Target="../tags/tag662.xml"/><Relationship Id="rId40" Type="http://schemas.openxmlformats.org/officeDocument/2006/relationships/tags" Target="../tags/tag661.xml"/><Relationship Id="rId4" Type="http://schemas.openxmlformats.org/officeDocument/2006/relationships/tags" Target="../tags/tag625.xml"/><Relationship Id="rId39" Type="http://schemas.openxmlformats.org/officeDocument/2006/relationships/tags" Target="../tags/tag660.xml"/><Relationship Id="rId38" Type="http://schemas.openxmlformats.org/officeDocument/2006/relationships/tags" Target="../tags/tag659.xml"/><Relationship Id="rId37" Type="http://schemas.openxmlformats.org/officeDocument/2006/relationships/tags" Target="../tags/tag658.xml"/><Relationship Id="rId36" Type="http://schemas.openxmlformats.org/officeDocument/2006/relationships/tags" Target="../tags/tag657.xml"/><Relationship Id="rId35" Type="http://schemas.openxmlformats.org/officeDocument/2006/relationships/tags" Target="../tags/tag656.xml"/><Relationship Id="rId34" Type="http://schemas.openxmlformats.org/officeDocument/2006/relationships/tags" Target="../tags/tag655.xml"/><Relationship Id="rId33" Type="http://schemas.openxmlformats.org/officeDocument/2006/relationships/tags" Target="../tags/tag654.xml"/><Relationship Id="rId32" Type="http://schemas.openxmlformats.org/officeDocument/2006/relationships/tags" Target="../tags/tag653.xml"/><Relationship Id="rId31" Type="http://schemas.openxmlformats.org/officeDocument/2006/relationships/tags" Target="../tags/tag652.xml"/><Relationship Id="rId30" Type="http://schemas.openxmlformats.org/officeDocument/2006/relationships/tags" Target="../tags/tag651.xml"/><Relationship Id="rId3" Type="http://schemas.openxmlformats.org/officeDocument/2006/relationships/tags" Target="../tags/tag624.xml"/><Relationship Id="rId29" Type="http://schemas.openxmlformats.org/officeDocument/2006/relationships/tags" Target="../tags/tag650.xml"/><Relationship Id="rId28" Type="http://schemas.openxmlformats.org/officeDocument/2006/relationships/tags" Target="../tags/tag649.xml"/><Relationship Id="rId27" Type="http://schemas.openxmlformats.org/officeDocument/2006/relationships/tags" Target="../tags/tag648.xml"/><Relationship Id="rId26" Type="http://schemas.openxmlformats.org/officeDocument/2006/relationships/tags" Target="../tags/tag647.xml"/><Relationship Id="rId25" Type="http://schemas.openxmlformats.org/officeDocument/2006/relationships/tags" Target="../tags/tag646.xml"/><Relationship Id="rId24" Type="http://schemas.openxmlformats.org/officeDocument/2006/relationships/tags" Target="../tags/tag645.xml"/><Relationship Id="rId23" Type="http://schemas.openxmlformats.org/officeDocument/2006/relationships/tags" Target="../tags/tag644.xml"/><Relationship Id="rId22" Type="http://schemas.openxmlformats.org/officeDocument/2006/relationships/tags" Target="../tags/tag643.xml"/><Relationship Id="rId21" Type="http://schemas.openxmlformats.org/officeDocument/2006/relationships/tags" Target="../tags/tag642.xml"/><Relationship Id="rId20" Type="http://schemas.openxmlformats.org/officeDocument/2006/relationships/tags" Target="../tags/tag641.xml"/><Relationship Id="rId2" Type="http://schemas.openxmlformats.org/officeDocument/2006/relationships/tags" Target="../tags/tag623.xml"/><Relationship Id="rId19" Type="http://schemas.openxmlformats.org/officeDocument/2006/relationships/tags" Target="../tags/tag640.xml"/><Relationship Id="rId18" Type="http://schemas.openxmlformats.org/officeDocument/2006/relationships/tags" Target="../tags/tag639.xml"/><Relationship Id="rId17" Type="http://schemas.openxmlformats.org/officeDocument/2006/relationships/tags" Target="../tags/tag638.xml"/><Relationship Id="rId16" Type="http://schemas.openxmlformats.org/officeDocument/2006/relationships/tags" Target="../tags/tag637.xml"/><Relationship Id="rId15" Type="http://schemas.openxmlformats.org/officeDocument/2006/relationships/tags" Target="../tags/tag636.xml"/><Relationship Id="rId14" Type="http://schemas.openxmlformats.org/officeDocument/2006/relationships/tags" Target="../tags/tag635.xml"/><Relationship Id="rId13" Type="http://schemas.openxmlformats.org/officeDocument/2006/relationships/tags" Target="../tags/tag634.xml"/><Relationship Id="rId12" Type="http://schemas.openxmlformats.org/officeDocument/2006/relationships/tags" Target="../tags/tag633.xml"/><Relationship Id="rId11" Type="http://schemas.openxmlformats.org/officeDocument/2006/relationships/tags" Target="../tags/tag632.xml"/><Relationship Id="rId10" Type="http://schemas.openxmlformats.org/officeDocument/2006/relationships/tags" Target="../tags/tag631.xml"/><Relationship Id="rId1" Type="http://schemas.openxmlformats.org/officeDocument/2006/relationships/tags" Target="../tags/tag622.xml"/></Relationships>
</file>

<file path=ppt/slides/_rels/slide42.xml.rels><?xml version="1.0" encoding="UTF-8" standalone="yes"?>
<Relationships xmlns="http://schemas.openxmlformats.org/package/2006/relationships"><Relationship Id="rId9" Type="http://schemas.openxmlformats.org/officeDocument/2006/relationships/tags" Target="../tags/tag725.xml"/><Relationship Id="rId8" Type="http://schemas.openxmlformats.org/officeDocument/2006/relationships/tags" Target="../tags/tag724.xml"/><Relationship Id="rId7" Type="http://schemas.openxmlformats.org/officeDocument/2006/relationships/tags" Target="../tags/tag723.xml"/><Relationship Id="rId6" Type="http://schemas.openxmlformats.org/officeDocument/2006/relationships/tags" Target="../tags/tag722.xml"/><Relationship Id="rId5" Type="http://schemas.openxmlformats.org/officeDocument/2006/relationships/tags" Target="../tags/tag721.xml"/><Relationship Id="rId4" Type="http://schemas.openxmlformats.org/officeDocument/2006/relationships/tags" Target="../tags/tag720.xml"/><Relationship Id="rId3" Type="http://schemas.openxmlformats.org/officeDocument/2006/relationships/tags" Target="../tags/tag719.xml"/><Relationship Id="rId2" Type="http://schemas.openxmlformats.org/officeDocument/2006/relationships/tags" Target="../tags/tag718.xml"/><Relationship Id="rId17" Type="http://schemas.openxmlformats.org/officeDocument/2006/relationships/notesSlide" Target="../notesSlides/notesSlide36.xml"/><Relationship Id="rId16" Type="http://schemas.openxmlformats.org/officeDocument/2006/relationships/slideLayout" Target="../slideLayouts/slideLayout1.xml"/><Relationship Id="rId15" Type="http://schemas.openxmlformats.org/officeDocument/2006/relationships/tags" Target="../tags/tag729.xml"/><Relationship Id="rId14" Type="http://schemas.openxmlformats.org/officeDocument/2006/relationships/image" Target="../media/image38.png"/><Relationship Id="rId13" Type="http://schemas.openxmlformats.org/officeDocument/2006/relationships/tags" Target="../tags/tag728.xml"/><Relationship Id="rId12" Type="http://schemas.openxmlformats.org/officeDocument/2006/relationships/tags" Target="../tags/tag727.xml"/><Relationship Id="rId11" Type="http://schemas.openxmlformats.org/officeDocument/2006/relationships/image" Target="../media/image2.jpeg"/><Relationship Id="rId10" Type="http://schemas.openxmlformats.org/officeDocument/2006/relationships/tags" Target="../tags/tag726.xml"/><Relationship Id="rId1" Type="http://schemas.openxmlformats.org/officeDocument/2006/relationships/tags" Target="../tags/tag717.xml"/></Relationships>
</file>

<file path=ppt/slides/_rels/slide43.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tags" Target="../tags/tag736.xml"/><Relationship Id="rId7" Type="http://schemas.openxmlformats.org/officeDocument/2006/relationships/tags" Target="../tags/tag735.xml"/><Relationship Id="rId6" Type="http://schemas.openxmlformats.org/officeDocument/2006/relationships/image" Target="../media/image2.jpeg"/><Relationship Id="rId5" Type="http://schemas.openxmlformats.org/officeDocument/2006/relationships/tags" Target="../tags/tag734.xml"/><Relationship Id="rId4" Type="http://schemas.openxmlformats.org/officeDocument/2006/relationships/tags" Target="../tags/tag733.xml"/><Relationship Id="rId3" Type="http://schemas.openxmlformats.org/officeDocument/2006/relationships/tags" Target="../tags/tag732.xml"/><Relationship Id="rId2" Type="http://schemas.openxmlformats.org/officeDocument/2006/relationships/tags" Target="../tags/tag731.xml"/><Relationship Id="rId13" Type="http://schemas.openxmlformats.org/officeDocument/2006/relationships/notesSlide" Target="../notesSlides/notesSlide37.xml"/><Relationship Id="rId12" Type="http://schemas.openxmlformats.org/officeDocument/2006/relationships/slideLayout" Target="../slideLayouts/slideLayout1.xml"/><Relationship Id="rId11" Type="http://schemas.openxmlformats.org/officeDocument/2006/relationships/tags" Target="../tags/tag737.xml"/><Relationship Id="rId10" Type="http://schemas.openxmlformats.org/officeDocument/2006/relationships/image" Target="../media/image40.png"/><Relationship Id="rId1" Type="http://schemas.openxmlformats.org/officeDocument/2006/relationships/tags" Target="../tags/tag730.xml"/></Relationships>
</file>

<file path=ppt/slides/_rels/slide44.xml.rels><?xml version="1.0" encoding="UTF-8" standalone="yes"?>
<Relationships xmlns="http://schemas.openxmlformats.org/package/2006/relationships"><Relationship Id="rId9" Type="http://schemas.openxmlformats.org/officeDocument/2006/relationships/tags" Target="../tags/tag745.xml"/><Relationship Id="rId8" Type="http://schemas.openxmlformats.org/officeDocument/2006/relationships/tags" Target="../tags/tag744.xml"/><Relationship Id="rId7" Type="http://schemas.openxmlformats.org/officeDocument/2006/relationships/tags" Target="../tags/tag743.xml"/><Relationship Id="rId6" Type="http://schemas.openxmlformats.org/officeDocument/2006/relationships/image" Target="../media/image2.jpeg"/><Relationship Id="rId5" Type="http://schemas.openxmlformats.org/officeDocument/2006/relationships/tags" Target="../tags/tag742.xml"/><Relationship Id="rId4" Type="http://schemas.openxmlformats.org/officeDocument/2006/relationships/tags" Target="../tags/tag741.xml"/><Relationship Id="rId3" Type="http://schemas.openxmlformats.org/officeDocument/2006/relationships/tags" Target="../tags/tag740.xml"/><Relationship Id="rId22" Type="http://schemas.openxmlformats.org/officeDocument/2006/relationships/notesSlide" Target="../notesSlides/notesSlide38.xml"/><Relationship Id="rId21" Type="http://schemas.openxmlformats.org/officeDocument/2006/relationships/slideLayout" Target="../slideLayouts/slideLayout1.xml"/><Relationship Id="rId20" Type="http://schemas.openxmlformats.org/officeDocument/2006/relationships/tags" Target="../tags/tag755.xml"/><Relationship Id="rId2" Type="http://schemas.openxmlformats.org/officeDocument/2006/relationships/tags" Target="../tags/tag739.xml"/><Relationship Id="rId19" Type="http://schemas.openxmlformats.org/officeDocument/2006/relationships/tags" Target="../tags/tag754.xml"/><Relationship Id="rId18" Type="http://schemas.openxmlformats.org/officeDocument/2006/relationships/image" Target="../media/image41.png"/><Relationship Id="rId17" Type="http://schemas.openxmlformats.org/officeDocument/2006/relationships/tags" Target="../tags/tag753.xml"/><Relationship Id="rId16" Type="http://schemas.openxmlformats.org/officeDocument/2006/relationships/tags" Target="../tags/tag752.xml"/><Relationship Id="rId15" Type="http://schemas.openxmlformats.org/officeDocument/2006/relationships/tags" Target="../tags/tag751.xml"/><Relationship Id="rId14" Type="http://schemas.openxmlformats.org/officeDocument/2006/relationships/tags" Target="../tags/tag750.xml"/><Relationship Id="rId13" Type="http://schemas.openxmlformats.org/officeDocument/2006/relationships/tags" Target="../tags/tag749.xml"/><Relationship Id="rId12" Type="http://schemas.openxmlformats.org/officeDocument/2006/relationships/tags" Target="../tags/tag748.xml"/><Relationship Id="rId11" Type="http://schemas.openxmlformats.org/officeDocument/2006/relationships/tags" Target="../tags/tag747.xml"/><Relationship Id="rId10" Type="http://schemas.openxmlformats.org/officeDocument/2006/relationships/tags" Target="../tags/tag746.xml"/><Relationship Id="rId1" Type="http://schemas.openxmlformats.org/officeDocument/2006/relationships/tags" Target="../tags/tag738.xml"/></Relationships>
</file>

<file path=ppt/slides/_rels/slide45.xml.rels><?xml version="1.0" encoding="UTF-8" standalone="yes"?>
<Relationships xmlns="http://schemas.openxmlformats.org/package/2006/relationships"><Relationship Id="rId9" Type="http://schemas.openxmlformats.org/officeDocument/2006/relationships/tags" Target="../tags/tag763.xml"/><Relationship Id="rId8" Type="http://schemas.openxmlformats.org/officeDocument/2006/relationships/tags" Target="../tags/tag762.xml"/><Relationship Id="rId7" Type="http://schemas.openxmlformats.org/officeDocument/2006/relationships/tags" Target="../tags/tag761.xml"/><Relationship Id="rId6" Type="http://schemas.openxmlformats.org/officeDocument/2006/relationships/image" Target="../media/image2.jpeg"/><Relationship Id="rId5" Type="http://schemas.openxmlformats.org/officeDocument/2006/relationships/tags" Target="../tags/tag760.xml"/><Relationship Id="rId4" Type="http://schemas.openxmlformats.org/officeDocument/2006/relationships/tags" Target="../tags/tag759.xml"/><Relationship Id="rId3" Type="http://schemas.openxmlformats.org/officeDocument/2006/relationships/tags" Target="../tags/tag758.xml"/><Relationship Id="rId2" Type="http://schemas.openxmlformats.org/officeDocument/2006/relationships/tags" Target="../tags/tag757.xml"/><Relationship Id="rId15" Type="http://schemas.openxmlformats.org/officeDocument/2006/relationships/notesSlide" Target="../notesSlides/notesSlide39.xml"/><Relationship Id="rId14" Type="http://schemas.openxmlformats.org/officeDocument/2006/relationships/slideLayout" Target="../slideLayouts/slideLayout1.xml"/><Relationship Id="rId13" Type="http://schemas.openxmlformats.org/officeDocument/2006/relationships/tags" Target="../tags/tag767.xml"/><Relationship Id="rId12" Type="http://schemas.openxmlformats.org/officeDocument/2006/relationships/tags" Target="../tags/tag766.xml"/><Relationship Id="rId11" Type="http://schemas.openxmlformats.org/officeDocument/2006/relationships/tags" Target="../tags/tag765.xml"/><Relationship Id="rId10" Type="http://schemas.openxmlformats.org/officeDocument/2006/relationships/tags" Target="../tags/tag764.xml"/><Relationship Id="rId1" Type="http://schemas.openxmlformats.org/officeDocument/2006/relationships/tags" Target="../tags/tag756.xml"/></Relationships>
</file>

<file path=ppt/slides/_rels/slide46.xml.rels><?xml version="1.0" encoding="UTF-8" standalone="yes"?>
<Relationships xmlns="http://schemas.openxmlformats.org/package/2006/relationships"><Relationship Id="rId9" Type="http://schemas.openxmlformats.org/officeDocument/2006/relationships/tags" Target="../tags/tag775.xml"/><Relationship Id="rId8" Type="http://schemas.openxmlformats.org/officeDocument/2006/relationships/tags" Target="../tags/tag774.xml"/><Relationship Id="rId7" Type="http://schemas.openxmlformats.org/officeDocument/2006/relationships/tags" Target="../tags/tag773.xml"/><Relationship Id="rId6" Type="http://schemas.openxmlformats.org/officeDocument/2006/relationships/image" Target="../media/image2.jpeg"/><Relationship Id="rId5" Type="http://schemas.openxmlformats.org/officeDocument/2006/relationships/tags" Target="../tags/tag772.xml"/><Relationship Id="rId4" Type="http://schemas.openxmlformats.org/officeDocument/2006/relationships/tags" Target="../tags/tag771.xml"/><Relationship Id="rId3" Type="http://schemas.openxmlformats.org/officeDocument/2006/relationships/tags" Target="../tags/tag770.xml"/><Relationship Id="rId2" Type="http://schemas.openxmlformats.org/officeDocument/2006/relationships/tags" Target="../tags/tag769.xml"/><Relationship Id="rId11" Type="http://schemas.openxmlformats.org/officeDocument/2006/relationships/notesSlide" Target="../notesSlides/notesSlide40.xml"/><Relationship Id="rId10" Type="http://schemas.openxmlformats.org/officeDocument/2006/relationships/slideLayout" Target="../slideLayouts/slideLayout1.xml"/><Relationship Id="rId1" Type="http://schemas.openxmlformats.org/officeDocument/2006/relationships/tags" Target="../tags/tag768.xml"/></Relationships>
</file>

<file path=ppt/slides/_rels/slide47.xml.rels><?xml version="1.0" encoding="UTF-8" standalone="yes"?>
<Relationships xmlns="http://schemas.openxmlformats.org/package/2006/relationships"><Relationship Id="rId9" Type="http://schemas.openxmlformats.org/officeDocument/2006/relationships/tags" Target="../tags/tag783.xml"/><Relationship Id="rId8" Type="http://schemas.openxmlformats.org/officeDocument/2006/relationships/tags" Target="../tags/tag782.xml"/><Relationship Id="rId7" Type="http://schemas.openxmlformats.org/officeDocument/2006/relationships/tags" Target="../tags/tag781.xml"/><Relationship Id="rId6" Type="http://schemas.openxmlformats.org/officeDocument/2006/relationships/image" Target="../media/image2.jpeg"/><Relationship Id="rId5" Type="http://schemas.openxmlformats.org/officeDocument/2006/relationships/tags" Target="../tags/tag780.xml"/><Relationship Id="rId4" Type="http://schemas.openxmlformats.org/officeDocument/2006/relationships/tags" Target="../tags/tag779.xml"/><Relationship Id="rId3" Type="http://schemas.openxmlformats.org/officeDocument/2006/relationships/tags" Target="../tags/tag778.xml"/><Relationship Id="rId2" Type="http://schemas.openxmlformats.org/officeDocument/2006/relationships/tags" Target="../tags/tag777.xml"/><Relationship Id="rId16" Type="http://schemas.openxmlformats.org/officeDocument/2006/relationships/notesSlide" Target="../notesSlides/notesSlide41.xml"/><Relationship Id="rId15" Type="http://schemas.openxmlformats.org/officeDocument/2006/relationships/slideLayout" Target="../slideLayouts/slideLayout1.xml"/><Relationship Id="rId14" Type="http://schemas.openxmlformats.org/officeDocument/2006/relationships/tags" Target="../tags/tag788.xml"/><Relationship Id="rId13" Type="http://schemas.openxmlformats.org/officeDocument/2006/relationships/tags" Target="../tags/tag787.xml"/><Relationship Id="rId12" Type="http://schemas.openxmlformats.org/officeDocument/2006/relationships/tags" Target="../tags/tag786.xml"/><Relationship Id="rId11" Type="http://schemas.openxmlformats.org/officeDocument/2006/relationships/tags" Target="../tags/tag785.xml"/><Relationship Id="rId10" Type="http://schemas.openxmlformats.org/officeDocument/2006/relationships/tags" Target="../tags/tag784.xml"/><Relationship Id="rId1" Type="http://schemas.openxmlformats.org/officeDocument/2006/relationships/tags" Target="../tags/tag776.xml"/></Relationships>
</file>

<file path=ppt/slides/_rels/slide48.xml.rels><?xml version="1.0" encoding="UTF-8" standalone="yes"?>
<Relationships xmlns="http://schemas.openxmlformats.org/package/2006/relationships"><Relationship Id="rId9" Type="http://schemas.openxmlformats.org/officeDocument/2006/relationships/tags" Target="../tags/tag796.xml"/><Relationship Id="rId8" Type="http://schemas.openxmlformats.org/officeDocument/2006/relationships/tags" Target="../tags/tag795.xml"/><Relationship Id="rId7" Type="http://schemas.openxmlformats.org/officeDocument/2006/relationships/tags" Target="../tags/tag794.xml"/><Relationship Id="rId6" Type="http://schemas.openxmlformats.org/officeDocument/2006/relationships/image" Target="../media/image2.jpeg"/><Relationship Id="rId5" Type="http://schemas.openxmlformats.org/officeDocument/2006/relationships/tags" Target="../tags/tag793.xml"/><Relationship Id="rId4" Type="http://schemas.openxmlformats.org/officeDocument/2006/relationships/tags" Target="../tags/tag792.xml"/><Relationship Id="rId3" Type="http://schemas.openxmlformats.org/officeDocument/2006/relationships/tags" Target="../tags/tag791.xml"/><Relationship Id="rId2" Type="http://schemas.openxmlformats.org/officeDocument/2006/relationships/tags" Target="../tags/tag790.xml"/><Relationship Id="rId18" Type="http://schemas.openxmlformats.org/officeDocument/2006/relationships/notesSlide" Target="../notesSlides/notesSlide42.xml"/><Relationship Id="rId17" Type="http://schemas.openxmlformats.org/officeDocument/2006/relationships/slideLayout" Target="../slideLayouts/slideLayout1.xml"/><Relationship Id="rId16" Type="http://schemas.openxmlformats.org/officeDocument/2006/relationships/tags" Target="../tags/tag80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tags" Target="../tags/tag800.xml"/><Relationship Id="rId12" Type="http://schemas.openxmlformats.org/officeDocument/2006/relationships/tags" Target="../tags/tag799.xml"/><Relationship Id="rId11" Type="http://schemas.openxmlformats.org/officeDocument/2006/relationships/tags" Target="../tags/tag798.xml"/><Relationship Id="rId10" Type="http://schemas.openxmlformats.org/officeDocument/2006/relationships/tags" Target="../tags/tag797.xml"/><Relationship Id="rId1" Type="http://schemas.openxmlformats.org/officeDocument/2006/relationships/tags" Target="../tags/tag789.xml"/></Relationships>
</file>

<file path=ppt/slides/_rels/slide49.xml.rels><?xml version="1.0" encoding="UTF-8" standalone="yes"?>
<Relationships xmlns="http://schemas.openxmlformats.org/package/2006/relationships"><Relationship Id="rId9" Type="http://schemas.openxmlformats.org/officeDocument/2006/relationships/tags" Target="../tags/tag809.xml"/><Relationship Id="rId8" Type="http://schemas.openxmlformats.org/officeDocument/2006/relationships/tags" Target="../tags/tag808.xml"/><Relationship Id="rId7" Type="http://schemas.openxmlformats.org/officeDocument/2006/relationships/tags" Target="../tags/tag807.xml"/><Relationship Id="rId6" Type="http://schemas.openxmlformats.org/officeDocument/2006/relationships/image" Target="../media/image2.jpeg"/><Relationship Id="rId5" Type="http://schemas.openxmlformats.org/officeDocument/2006/relationships/tags" Target="../tags/tag806.xml"/><Relationship Id="rId4" Type="http://schemas.openxmlformats.org/officeDocument/2006/relationships/tags" Target="../tags/tag805.xml"/><Relationship Id="rId3" Type="http://schemas.openxmlformats.org/officeDocument/2006/relationships/tags" Target="../tags/tag804.xml"/><Relationship Id="rId2" Type="http://schemas.openxmlformats.org/officeDocument/2006/relationships/tags" Target="../tags/tag803.xml"/><Relationship Id="rId17" Type="http://schemas.openxmlformats.org/officeDocument/2006/relationships/notesSlide" Target="../notesSlides/notesSlide43.xml"/><Relationship Id="rId16" Type="http://schemas.openxmlformats.org/officeDocument/2006/relationships/slideLayout" Target="../slideLayouts/slideLayout1.xml"/><Relationship Id="rId15" Type="http://schemas.openxmlformats.org/officeDocument/2006/relationships/tags" Target="../tags/tag814.xml"/><Relationship Id="rId14" Type="http://schemas.openxmlformats.org/officeDocument/2006/relationships/tags" Target="../tags/tag813.xml"/><Relationship Id="rId13" Type="http://schemas.openxmlformats.org/officeDocument/2006/relationships/image" Target="../media/image11.png"/><Relationship Id="rId12" Type="http://schemas.openxmlformats.org/officeDocument/2006/relationships/tags" Target="../tags/tag812.xml"/><Relationship Id="rId11" Type="http://schemas.openxmlformats.org/officeDocument/2006/relationships/tags" Target="../tags/tag811.xml"/><Relationship Id="rId10" Type="http://schemas.openxmlformats.org/officeDocument/2006/relationships/tags" Target="../tags/tag810.xml"/><Relationship Id="rId1" Type="http://schemas.openxmlformats.org/officeDocument/2006/relationships/tags" Target="../tags/tag802.xml"/></Relationships>
</file>

<file path=ppt/slides/_rels/slide50.xml.rels><?xml version="1.0" encoding="UTF-8" standalone="yes"?>
<Relationships xmlns="http://schemas.openxmlformats.org/package/2006/relationships"><Relationship Id="rId9" Type="http://schemas.openxmlformats.org/officeDocument/2006/relationships/tags" Target="../tags/tag822.xml"/><Relationship Id="rId8" Type="http://schemas.openxmlformats.org/officeDocument/2006/relationships/tags" Target="../tags/tag821.xml"/><Relationship Id="rId7" Type="http://schemas.openxmlformats.org/officeDocument/2006/relationships/tags" Target="../tags/tag820.xml"/><Relationship Id="rId6" Type="http://schemas.openxmlformats.org/officeDocument/2006/relationships/image" Target="../media/image2.jpeg"/><Relationship Id="rId5" Type="http://schemas.openxmlformats.org/officeDocument/2006/relationships/tags" Target="../tags/tag819.xml"/><Relationship Id="rId4" Type="http://schemas.openxmlformats.org/officeDocument/2006/relationships/tags" Target="../tags/tag818.xml"/><Relationship Id="rId3" Type="http://schemas.openxmlformats.org/officeDocument/2006/relationships/tags" Target="../tags/tag817.xml"/><Relationship Id="rId2" Type="http://schemas.openxmlformats.org/officeDocument/2006/relationships/tags" Target="../tags/tag816.xml"/><Relationship Id="rId14" Type="http://schemas.openxmlformats.org/officeDocument/2006/relationships/notesSlide" Target="../notesSlides/notesSlide44.xml"/><Relationship Id="rId13" Type="http://schemas.openxmlformats.org/officeDocument/2006/relationships/slideLayout" Target="../slideLayouts/slideLayout1.xml"/><Relationship Id="rId12" Type="http://schemas.openxmlformats.org/officeDocument/2006/relationships/tags" Target="../tags/tag824.xml"/><Relationship Id="rId11" Type="http://schemas.openxmlformats.org/officeDocument/2006/relationships/image" Target="../media/image12.png"/><Relationship Id="rId10" Type="http://schemas.openxmlformats.org/officeDocument/2006/relationships/tags" Target="../tags/tag823.xml"/><Relationship Id="rId1" Type="http://schemas.openxmlformats.org/officeDocument/2006/relationships/tags" Target="../tags/tag815.xml"/></Relationships>
</file>

<file path=ppt/slides/_rels/slide51.xml.rels><?xml version="1.0" encoding="UTF-8" standalone="yes"?>
<Relationships xmlns="http://schemas.openxmlformats.org/package/2006/relationships"><Relationship Id="rId9" Type="http://schemas.openxmlformats.org/officeDocument/2006/relationships/tags" Target="../tags/tag831.xml"/><Relationship Id="rId8" Type="http://schemas.openxmlformats.org/officeDocument/2006/relationships/image" Target="../media/image42.png"/><Relationship Id="rId7" Type="http://schemas.openxmlformats.org/officeDocument/2006/relationships/tags" Target="../tags/tag830.xml"/><Relationship Id="rId6" Type="http://schemas.openxmlformats.org/officeDocument/2006/relationships/image" Target="../media/image2.jpeg"/><Relationship Id="rId5" Type="http://schemas.openxmlformats.org/officeDocument/2006/relationships/tags" Target="../tags/tag829.xml"/><Relationship Id="rId4" Type="http://schemas.openxmlformats.org/officeDocument/2006/relationships/tags" Target="../tags/tag828.xml"/><Relationship Id="rId3" Type="http://schemas.openxmlformats.org/officeDocument/2006/relationships/tags" Target="../tags/tag827.xml"/><Relationship Id="rId2" Type="http://schemas.openxmlformats.org/officeDocument/2006/relationships/tags" Target="../tags/tag826.xml"/><Relationship Id="rId12" Type="http://schemas.openxmlformats.org/officeDocument/2006/relationships/notesSlide" Target="../notesSlides/notesSlide45.xml"/><Relationship Id="rId11" Type="http://schemas.openxmlformats.org/officeDocument/2006/relationships/slideLayout" Target="../slideLayouts/slideLayout1.xml"/><Relationship Id="rId10" Type="http://schemas.openxmlformats.org/officeDocument/2006/relationships/tags" Target="../tags/tag832.xml"/><Relationship Id="rId1" Type="http://schemas.openxmlformats.org/officeDocument/2006/relationships/tags" Target="../tags/tag825.xml"/></Relationships>
</file>

<file path=ppt/slides/_rels/slide52.xml.rels><?xml version="1.0" encoding="UTF-8" standalone="yes"?>
<Relationships xmlns="http://schemas.openxmlformats.org/package/2006/relationships"><Relationship Id="rId9" Type="http://schemas.openxmlformats.org/officeDocument/2006/relationships/tags" Target="../tags/tag839.xml"/><Relationship Id="rId8" Type="http://schemas.openxmlformats.org/officeDocument/2006/relationships/image" Target="../media/image43.png"/><Relationship Id="rId7" Type="http://schemas.openxmlformats.org/officeDocument/2006/relationships/tags" Target="../tags/tag838.xml"/><Relationship Id="rId6" Type="http://schemas.openxmlformats.org/officeDocument/2006/relationships/image" Target="../media/image2.jpeg"/><Relationship Id="rId5" Type="http://schemas.openxmlformats.org/officeDocument/2006/relationships/tags" Target="../tags/tag837.xml"/><Relationship Id="rId4" Type="http://schemas.openxmlformats.org/officeDocument/2006/relationships/tags" Target="../tags/tag836.xml"/><Relationship Id="rId3" Type="http://schemas.openxmlformats.org/officeDocument/2006/relationships/tags" Target="../tags/tag835.xml"/><Relationship Id="rId2" Type="http://schemas.openxmlformats.org/officeDocument/2006/relationships/tags" Target="../tags/tag834.xml"/><Relationship Id="rId11" Type="http://schemas.openxmlformats.org/officeDocument/2006/relationships/notesSlide" Target="../notesSlides/notesSlide46.xml"/><Relationship Id="rId10" Type="http://schemas.openxmlformats.org/officeDocument/2006/relationships/slideLayout" Target="../slideLayouts/slideLayout1.xml"/><Relationship Id="rId1" Type="http://schemas.openxmlformats.org/officeDocument/2006/relationships/tags" Target="../tags/tag833.xml"/></Relationships>
</file>

<file path=ppt/slides/_rels/slide53.xml.rels><?xml version="1.0" encoding="UTF-8" standalone="yes"?>
<Relationships xmlns="http://schemas.openxmlformats.org/package/2006/relationships"><Relationship Id="rId9" Type="http://schemas.openxmlformats.org/officeDocument/2006/relationships/tags" Target="../tags/tag847.xml"/><Relationship Id="rId8" Type="http://schemas.openxmlformats.org/officeDocument/2006/relationships/tags" Target="../tags/tag846.xml"/><Relationship Id="rId7" Type="http://schemas.openxmlformats.org/officeDocument/2006/relationships/tags" Target="../tags/tag845.xml"/><Relationship Id="rId6" Type="http://schemas.openxmlformats.org/officeDocument/2006/relationships/image" Target="../media/image2.jpeg"/><Relationship Id="rId5" Type="http://schemas.openxmlformats.org/officeDocument/2006/relationships/tags" Target="../tags/tag844.xml"/><Relationship Id="rId4" Type="http://schemas.openxmlformats.org/officeDocument/2006/relationships/tags" Target="../tags/tag843.xml"/><Relationship Id="rId3" Type="http://schemas.openxmlformats.org/officeDocument/2006/relationships/tags" Target="../tags/tag842.xml"/><Relationship Id="rId28" Type="http://schemas.openxmlformats.org/officeDocument/2006/relationships/notesSlide" Target="../notesSlides/notesSlide47.xml"/><Relationship Id="rId27" Type="http://schemas.openxmlformats.org/officeDocument/2006/relationships/slideLayout" Target="../slideLayouts/slideLayout1.xml"/><Relationship Id="rId26" Type="http://schemas.openxmlformats.org/officeDocument/2006/relationships/tags" Target="../tags/tag864.xml"/><Relationship Id="rId25" Type="http://schemas.openxmlformats.org/officeDocument/2006/relationships/tags" Target="../tags/tag863.xml"/><Relationship Id="rId24" Type="http://schemas.openxmlformats.org/officeDocument/2006/relationships/tags" Target="../tags/tag862.xml"/><Relationship Id="rId23" Type="http://schemas.openxmlformats.org/officeDocument/2006/relationships/tags" Target="../tags/tag861.xml"/><Relationship Id="rId22" Type="http://schemas.openxmlformats.org/officeDocument/2006/relationships/tags" Target="../tags/tag860.xml"/><Relationship Id="rId21" Type="http://schemas.openxmlformats.org/officeDocument/2006/relationships/tags" Target="../tags/tag859.xml"/><Relationship Id="rId20" Type="http://schemas.openxmlformats.org/officeDocument/2006/relationships/tags" Target="../tags/tag858.xml"/><Relationship Id="rId2" Type="http://schemas.openxmlformats.org/officeDocument/2006/relationships/tags" Target="../tags/tag841.xml"/><Relationship Id="rId19" Type="http://schemas.openxmlformats.org/officeDocument/2006/relationships/tags" Target="../tags/tag857.xml"/><Relationship Id="rId18" Type="http://schemas.openxmlformats.org/officeDocument/2006/relationships/tags" Target="../tags/tag856.xml"/><Relationship Id="rId17" Type="http://schemas.openxmlformats.org/officeDocument/2006/relationships/tags" Target="../tags/tag855.xml"/><Relationship Id="rId16" Type="http://schemas.openxmlformats.org/officeDocument/2006/relationships/tags" Target="../tags/tag854.xml"/><Relationship Id="rId15" Type="http://schemas.openxmlformats.org/officeDocument/2006/relationships/tags" Target="../tags/tag853.xml"/><Relationship Id="rId14" Type="http://schemas.openxmlformats.org/officeDocument/2006/relationships/tags" Target="../tags/tag852.xml"/><Relationship Id="rId13" Type="http://schemas.openxmlformats.org/officeDocument/2006/relationships/tags" Target="../tags/tag851.xml"/><Relationship Id="rId12" Type="http://schemas.openxmlformats.org/officeDocument/2006/relationships/tags" Target="../tags/tag850.xml"/><Relationship Id="rId11" Type="http://schemas.openxmlformats.org/officeDocument/2006/relationships/tags" Target="../tags/tag849.xml"/><Relationship Id="rId10" Type="http://schemas.openxmlformats.org/officeDocument/2006/relationships/tags" Target="../tags/tag848.xml"/><Relationship Id="rId1" Type="http://schemas.openxmlformats.org/officeDocument/2006/relationships/tags" Target="../tags/tag840.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1.xml"/><Relationship Id="rId4" Type="http://schemas.openxmlformats.org/officeDocument/2006/relationships/tags" Target="../tags/tag867.xml"/><Relationship Id="rId3" Type="http://schemas.openxmlformats.org/officeDocument/2006/relationships/tags" Target="../tags/tag866.xml"/><Relationship Id="rId2" Type="http://schemas.openxmlformats.org/officeDocument/2006/relationships/image" Target="../media/image2.jpeg"/><Relationship Id="rId1" Type="http://schemas.openxmlformats.org/officeDocument/2006/relationships/tags" Target="../tags/tag86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圆角矩形 1"/>
          <p:cNvSpPr/>
          <p:nvPr>
            <p:custDataLst>
              <p:tags r:id="rId1"/>
            </p:custDataLst>
          </p:nvPr>
        </p:nvSpPr>
        <p:spPr>
          <a:xfrm>
            <a:off x="4021455" y="4084320"/>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chemeClr val="bg1"/>
                </a:solidFill>
                <a:uFillTx/>
                <a:latin typeface="微软雅黑" panose="020B0503020204020204" charset="-122"/>
                <a:ea typeface="微软雅黑" panose="020B0503020204020204" charset="-122"/>
                <a:cs typeface="微软雅黑" panose="020B0503020204020204" charset="-122"/>
                <a:sym typeface="+mn-ea"/>
              </a:rPr>
              <a:t>报告人</a:t>
            </a:r>
            <a:r>
              <a:rPr lang="en-US" altLang="zh-CN" dirty="0">
                <a:solidFill>
                  <a:schemeClr val="bg1"/>
                </a:solidFill>
                <a:uFillTx/>
                <a:latin typeface="微软雅黑" panose="020B0503020204020204" charset="-122"/>
                <a:ea typeface="微软雅黑" panose="020B0503020204020204" charset="-122"/>
                <a:cs typeface="微软雅黑" panose="020B0503020204020204" charset="-122"/>
                <a:sym typeface="+mn-ea"/>
              </a:rPr>
              <a:t>  </a:t>
            </a:r>
            <a:endParaRPr lang="zh-CN" altLang="en-US"/>
          </a:p>
        </p:txBody>
      </p:sp>
      <p:pic>
        <p:nvPicPr>
          <p:cNvPr id="4" name="图片 3" descr="iscaslogo"/>
          <p:cNvPicPr>
            <a:picLocks noChangeAspect="1"/>
          </p:cNvPicPr>
          <p:nvPr/>
        </p:nvPicPr>
        <p:blipFill>
          <a:blip r:embed="rId2"/>
          <a:stretch>
            <a:fillRect/>
          </a:stretch>
        </p:blipFill>
        <p:spPr>
          <a:xfrm>
            <a:off x="8731250" y="394970"/>
            <a:ext cx="3222625" cy="299085"/>
          </a:xfrm>
          <a:prstGeom prst="rect">
            <a:avLst/>
          </a:prstGeom>
        </p:spPr>
      </p:pic>
      <p:sp>
        <p:nvSpPr>
          <p:cNvPr id="7" name="文本框 6"/>
          <p:cNvSpPr txBox="1"/>
          <p:nvPr/>
        </p:nvSpPr>
        <p:spPr>
          <a:xfrm>
            <a:off x="976799" y="2472908"/>
            <a:ext cx="10238402" cy="706755"/>
          </a:xfrm>
          <a:prstGeom prst="rect">
            <a:avLst/>
          </a:prstGeom>
          <a:noFill/>
        </p:spPr>
        <p:txBody>
          <a:bodyPr wrap="square" rtlCol="0" anchor="t">
            <a:spAutoFit/>
          </a:bodyPr>
          <a:lstStyle/>
          <a:p>
            <a:pPr algn="ctr"/>
            <a:r>
              <a:rPr lang="zh-CN" altLang="en-US" sz="4000" b="1" spc="100" dirty="0">
                <a:solidFill>
                  <a:srgbClr val="04579A"/>
                </a:solidFill>
                <a:uFillTx/>
                <a:latin typeface="黑体" panose="02010609060101010101" pitchFamily="49" charset="-122"/>
                <a:ea typeface="黑体" panose="02010609060101010101" pitchFamily="49" charset="-122"/>
              </a:rPr>
              <a:t>面向双重约束智能体授权协议设计与实现</a:t>
            </a:r>
            <a:endParaRPr lang="zh-CN" altLang="en-US" sz="4000" b="1" spc="100" dirty="0">
              <a:solidFill>
                <a:srgbClr val="04579A"/>
              </a:solidFill>
              <a:uFillTx/>
              <a:latin typeface="黑体" panose="02010609060101010101" pitchFamily="49" charset="-122"/>
              <a:ea typeface="黑体" panose="02010609060101010101" pitchFamily="49" charset="-122"/>
            </a:endParaRPr>
          </a:p>
        </p:txBody>
      </p:sp>
      <p:sp>
        <p:nvSpPr>
          <p:cNvPr id="14" name="副标题 2"/>
          <p:cNvSpPr>
            <a:spLocks noGrp="1"/>
          </p:cNvSpPr>
          <p:nvPr>
            <p:ph type="subTitle" idx="1"/>
            <p:custDataLst>
              <p:tags r:id="rId3"/>
            </p:custDataLst>
          </p:nvPr>
        </p:nvSpPr>
        <p:spPr>
          <a:xfrm>
            <a:off x="5325110" y="3964305"/>
            <a:ext cx="3406140" cy="1330960"/>
          </a:xfrm>
        </p:spPr>
        <p:txBody>
          <a:bodyPr>
            <a:noAutofit/>
          </a:bodyPr>
          <a:lstStyle/>
          <a:p>
            <a:pPr algn="l">
              <a:lnSpc>
                <a:spcPct val="150000"/>
              </a:lnSpc>
              <a:spcAft>
                <a:spcPts val="0"/>
              </a:spcAft>
            </a:pPr>
            <a:r>
              <a:rPr lang="zh-CN" altLang="en-US"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袁伟奇</a:t>
            </a:r>
            <a:endParaRPr lang="en-US" altLang="zh-CN"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endParaRPr>
          </a:p>
          <a:p>
            <a:pPr algn="l">
              <a:lnSpc>
                <a:spcPct val="150000"/>
              </a:lnSpc>
              <a:spcAft>
                <a:spcPts val="0"/>
              </a:spcAft>
            </a:pPr>
            <a:r>
              <a:rPr lang="en-US" altLang="zh-CN"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202428015070001</a:t>
            </a:r>
            <a:endParaRPr lang="en-US" altLang="zh-CN"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endParaRPr>
          </a:p>
          <a:p>
            <a:pPr algn="l">
              <a:lnSpc>
                <a:spcPct val="150000"/>
              </a:lnSpc>
              <a:spcAft>
                <a:spcPts val="0"/>
              </a:spcAft>
            </a:pPr>
            <a:r>
              <a:rPr lang="zh-CN" altLang="en-US"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rPr>
              <a:t>徐静 研究员</a:t>
            </a:r>
            <a:endParaRPr lang="zh-CN" altLang="en-US" sz="1800" spc="0" dirty="0">
              <a:solidFill>
                <a:schemeClr val="tx2">
                  <a:lumMod val="50000"/>
                </a:schemeClr>
              </a:solidFill>
              <a:uFillTx/>
              <a:latin typeface="微软雅黑" panose="020B0503020204020204" charset="-122"/>
              <a:ea typeface="微软雅黑" panose="020B0503020204020204" charset="-122"/>
              <a:cs typeface="微软雅黑" panose="020B0503020204020204" charset="-122"/>
            </a:endParaRPr>
          </a:p>
        </p:txBody>
      </p:sp>
      <p:cxnSp>
        <p:nvCxnSpPr>
          <p:cNvPr id="8" name="直接连接符 7"/>
          <p:cNvCxnSpPr/>
          <p:nvPr/>
        </p:nvCxnSpPr>
        <p:spPr>
          <a:xfrm>
            <a:off x="1059815" y="3402965"/>
            <a:ext cx="998664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4164965" y="1588770"/>
            <a:ext cx="3656965" cy="444500"/>
            <a:chOff x="6723" y="2920"/>
            <a:chExt cx="5759" cy="700"/>
          </a:xfrm>
        </p:grpSpPr>
        <p:sp>
          <p:nvSpPr>
            <p:cNvPr id="11" name="圆角矩形 10"/>
            <p:cNvSpPr/>
            <p:nvPr/>
          </p:nvSpPr>
          <p:spPr>
            <a:xfrm>
              <a:off x="6723" y="2920"/>
              <a:ext cx="5759" cy="700"/>
            </a:xfrm>
            <a:prstGeom prst="roundRect">
              <a:avLst>
                <a:gd name="adj" fmla="val 50000"/>
              </a:avLst>
            </a:prstGeom>
            <a:gradFill>
              <a:gsLst>
                <a:gs pos="0">
                  <a:srgbClr val="02589B"/>
                </a:gs>
                <a:gs pos="100000">
                  <a:srgbClr val="024171"/>
                </a:gs>
              </a:gsLst>
              <a:lin ang="20580000" scaled="0"/>
            </a:gradFill>
            <a:ln>
              <a:noFill/>
            </a:ln>
            <a:effectLst>
              <a:outerShdw blurRad="50800" dist="762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6" name="文本框 5"/>
            <p:cNvSpPr txBox="1"/>
            <p:nvPr/>
          </p:nvSpPr>
          <p:spPr>
            <a:xfrm>
              <a:off x="7243" y="2988"/>
              <a:ext cx="5042" cy="580"/>
            </a:xfrm>
            <a:prstGeom prst="rect">
              <a:avLst/>
            </a:prstGeom>
            <a:noFill/>
          </p:spPr>
          <p:txBody>
            <a:bodyPr wrap="square" rtlCol="0">
              <a:spAutoFit/>
            </a:bodyPr>
            <a:lstStyle/>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硕士学位论文</a:t>
              </a:r>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cs typeface="微软雅黑" panose="020B0503020204020204" charset="-122"/>
                </a:rPr>
                <a:t>开题报告</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 name="等腰三角形 11"/>
            <p:cNvSpPr/>
            <p:nvPr/>
          </p:nvSpPr>
          <p:spPr>
            <a:xfrm rot="5400000">
              <a:off x="7383" y="3120"/>
              <a:ext cx="300" cy="3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圆角矩形 2"/>
          <p:cNvSpPr/>
          <p:nvPr>
            <p:custDataLst>
              <p:tags r:id="rId4"/>
            </p:custDataLst>
          </p:nvPr>
        </p:nvSpPr>
        <p:spPr>
          <a:xfrm>
            <a:off x="4021455" y="4511675"/>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t>学</a:t>
            </a:r>
            <a:r>
              <a:rPr lang="en-US" altLang="zh-CN"/>
              <a:t>  </a:t>
            </a:r>
            <a:r>
              <a:rPr lang="zh-CN" altLang="en-US"/>
              <a:t>号</a:t>
            </a:r>
            <a:endParaRPr lang="zh-CN" altLang="en-US"/>
          </a:p>
        </p:txBody>
      </p:sp>
      <p:sp>
        <p:nvSpPr>
          <p:cNvPr id="10" name="圆角矩形 9"/>
          <p:cNvSpPr/>
          <p:nvPr>
            <p:custDataLst>
              <p:tags r:id="rId5"/>
            </p:custDataLst>
          </p:nvPr>
        </p:nvSpPr>
        <p:spPr>
          <a:xfrm>
            <a:off x="4021455" y="4939030"/>
            <a:ext cx="1059180" cy="328295"/>
          </a:xfrm>
          <a:prstGeom prst="roundRect">
            <a:avLst>
              <a:gd name="adj" fmla="val 50000"/>
            </a:avLst>
          </a:prstGeom>
          <a:solidFill>
            <a:srgbClr val="03569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t>导</a:t>
            </a:r>
            <a:r>
              <a:rPr lang="en-US" altLang="zh-CN"/>
              <a:t>  </a:t>
            </a:r>
            <a:r>
              <a:rPr lang="zh-CN" altLang="en-US"/>
              <a:t>师</a:t>
            </a:r>
            <a:endParaRPr lang="zh-CN" altLang="en-US"/>
          </a:p>
        </p:txBody>
      </p:sp>
      <p:pic>
        <p:nvPicPr>
          <p:cNvPr id="18" name="Picture 2" descr="C:\Program Files\Apache Software Foundation\Tomcat 6.0\webapps\topo1\images\sklois1 (2).jpg"/>
          <p:cNvPicPr>
            <a:picLocks noChangeAspect="1" noChangeArrowheads="1"/>
          </p:cNvPicPr>
          <p:nvPr>
            <p:custDataLst>
              <p:tags r:id="rId6"/>
            </p:custDataLst>
          </p:nvPr>
        </p:nvPicPr>
        <p:blipFill>
          <a:blip r:embed="rId7"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8"/>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4799856" y="2309198"/>
            <a:ext cx="1440160" cy="360099"/>
          </a:xfrm>
          <a:prstGeom prst="rect">
            <a:avLst/>
          </a:prstGeom>
        </p:spPr>
        <p:txBody>
          <a:bodyPr lIns="90000" tIns="0" rIns="90000" bIns="0" anchor="ctr">
            <a:noAutofit/>
          </a:bodyPr>
          <a:lstStyle/>
          <a:p>
            <a:pPr>
              <a:lnSpc>
                <a:spcPct val="130000"/>
              </a:lnSpc>
            </a:pPr>
            <a:r>
              <a:rPr lang="en-US" altLang="ko-KR" sz="2400" b="1" dirty="0">
                <a:solidFill>
                  <a:srgbClr val="04579A"/>
                </a:solidFill>
                <a:effectLst>
                  <a:outerShdw blurRad="50800" dist="38100" dir="2700000" algn="tl" rotWithShape="0">
                    <a:prstClr val="black">
                      <a:alpha val="40000"/>
                    </a:prstClr>
                  </a:outerShdw>
                </a:effectLst>
              </a:rPr>
              <a:t>01</a:t>
            </a:r>
            <a:endParaRPr lang="en-US" altLang="ko-KR" sz="2400" b="1" dirty="0">
              <a:solidFill>
                <a:srgbClr val="04579A"/>
              </a:solidFill>
              <a:effectLst>
                <a:outerShdw blurRad="50800" dist="38100" dir="2700000" algn="tl" rotWithShape="0">
                  <a:prstClr val="black">
                    <a:alpha val="40000"/>
                  </a:prstClr>
                </a:outerShdw>
              </a:effectLst>
            </a:endParaRPr>
          </a:p>
        </p:txBody>
      </p:sp>
      <p:sp>
        <p:nvSpPr>
          <p:cNvPr id="4" name="文本框 3"/>
          <p:cNvSpPr txBox="1"/>
          <p:nvPr>
            <p:custDataLst>
              <p:tags r:id="rId2"/>
            </p:custDataLst>
          </p:nvPr>
        </p:nvSpPr>
        <p:spPr>
          <a:xfrm>
            <a:off x="4791710" y="2682240"/>
            <a:ext cx="3104515"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选题背景及意义</a:t>
            </a:r>
            <a:endParaRPr lang="zh-CN" altLang="en-US" b="0" dirty="0">
              <a:solidFill>
                <a:prstClr val="black"/>
              </a:solidFill>
              <a:latin typeface="Arial" panose="020B0604020202020204" pitchFamily="34" charset="0"/>
              <a:sym typeface="+mn-ea"/>
            </a:endParaRPr>
          </a:p>
        </p:txBody>
      </p:sp>
      <p:sp>
        <p:nvSpPr>
          <p:cNvPr id="5" name="文本框 4"/>
          <p:cNvSpPr txBox="1"/>
          <p:nvPr>
            <p:custDataLst>
              <p:tags r:id="rId3"/>
            </p:custDataLst>
          </p:nvPr>
        </p:nvSpPr>
        <p:spPr>
          <a:xfrm>
            <a:off x="4799856" y="3279022"/>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50800" dist="38100" dir="2700000" algn="tl" rotWithShape="0">
                    <a:prstClr val="black">
                      <a:alpha val="40000"/>
                    </a:prstClr>
                  </a:outerShdw>
                </a:effectLst>
              </a:rPr>
              <a:t>02</a:t>
            </a:r>
            <a:endParaRPr lang="en-US" altLang="ko-KR" sz="2400" b="1">
              <a:solidFill>
                <a:srgbClr val="04579A"/>
              </a:solidFill>
              <a:effectLst>
                <a:outerShdw blurRad="50800" dist="38100" dir="2700000" algn="tl" rotWithShape="0">
                  <a:prstClr val="black">
                    <a:alpha val="40000"/>
                  </a:prstClr>
                </a:outerShdw>
              </a:effectLst>
            </a:endParaRPr>
          </a:p>
        </p:txBody>
      </p:sp>
      <p:sp>
        <p:nvSpPr>
          <p:cNvPr id="7" name="文本框 6"/>
          <p:cNvSpPr txBox="1"/>
          <p:nvPr>
            <p:custDataLst>
              <p:tags r:id="rId4"/>
            </p:custDataLst>
          </p:nvPr>
        </p:nvSpPr>
        <p:spPr>
          <a:xfrm>
            <a:off x="4799856" y="4243887"/>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38100" dist="38100" dir="2700000" algn="tl">
                    <a:srgbClr val="000000">
                      <a:alpha val="43137"/>
                    </a:srgbClr>
                  </a:outerShdw>
                </a:effectLst>
              </a:rPr>
              <a:t>03</a:t>
            </a:r>
            <a:endParaRPr lang="en-US" altLang="ko-KR" sz="2400" b="1">
              <a:solidFill>
                <a:srgbClr val="04579A"/>
              </a:solidFill>
              <a:effectLst>
                <a:outerShdw blurRad="38100" dist="38100" dir="2700000" algn="tl">
                  <a:srgbClr val="000000">
                    <a:alpha val="43137"/>
                  </a:srgbClr>
                </a:outerShdw>
              </a:effectLst>
            </a:endParaRPr>
          </a:p>
        </p:txBody>
      </p:sp>
      <p:sp>
        <p:nvSpPr>
          <p:cNvPr id="9" name="文本框 8"/>
          <p:cNvSpPr txBox="1"/>
          <p:nvPr>
            <p:custDataLst>
              <p:tags r:id="rId5"/>
            </p:custDataLst>
          </p:nvPr>
        </p:nvSpPr>
        <p:spPr>
          <a:xfrm>
            <a:off x="4799856" y="5208750"/>
            <a:ext cx="1440160" cy="360099"/>
          </a:xfrm>
          <a:prstGeom prst="rect">
            <a:avLst/>
          </a:prstGeom>
        </p:spPr>
        <p:txBody>
          <a:bodyPr lIns="90000" tIns="0" rIns="90000" bIns="0" anchor="ctr">
            <a:noAutofit/>
          </a:bodyPr>
          <a:lstStyle/>
          <a:p>
            <a:pPr>
              <a:lnSpc>
                <a:spcPct val="130000"/>
              </a:lnSpc>
            </a:pPr>
            <a:r>
              <a:rPr lang="en-US" altLang="ko-KR" sz="2400" b="1">
                <a:solidFill>
                  <a:srgbClr val="04579A"/>
                </a:solidFill>
                <a:effectLst>
                  <a:outerShdw blurRad="38100" dist="38100" dir="2700000" algn="tl">
                    <a:srgbClr val="000000">
                      <a:alpha val="43137"/>
                    </a:srgbClr>
                  </a:outerShdw>
                </a:effectLst>
              </a:rPr>
              <a:t>04</a:t>
            </a:r>
            <a:endParaRPr lang="en-US" altLang="ko-KR" sz="2400" b="1">
              <a:solidFill>
                <a:srgbClr val="04579A"/>
              </a:solidFill>
              <a:effectLst>
                <a:outerShdw blurRad="38100" dist="38100" dir="2700000" algn="tl">
                  <a:srgbClr val="000000">
                    <a:alpha val="43137"/>
                  </a:srgbClr>
                </a:outerShdw>
              </a:effectLst>
            </a:endParaRPr>
          </a:p>
        </p:txBody>
      </p:sp>
      <p:sp>
        <p:nvSpPr>
          <p:cNvPr id="11" name="文本框 10"/>
          <p:cNvSpPr txBox="1"/>
          <p:nvPr>
            <p:custDataLst>
              <p:tags r:id="rId6"/>
            </p:custDataLst>
          </p:nvPr>
        </p:nvSpPr>
        <p:spPr>
          <a:xfrm>
            <a:off x="729087" y="1804710"/>
            <a:ext cx="2769267" cy="960263"/>
          </a:xfrm>
          <a:prstGeom prst="rect">
            <a:avLst/>
          </a:prstGeom>
        </p:spPr>
        <p:txBody>
          <a:bodyPr wrap="square" lIns="90000" tIns="0" rIns="90000" bIns="0" anchor="ctr" anchorCtr="0">
            <a:normAutofit/>
          </a:bodyPr>
          <a:lstStyle/>
          <a:p>
            <a:pPr marL="0" marR="0" lvl="0" indent="0" defTabSz="914400" rtl="0" eaLnBrk="1" fontAlgn="auto" latinLnBrk="1" hangingPunct="1">
              <a:lnSpc>
                <a:spcPct val="130000"/>
              </a:lnSpc>
              <a:buClrTx/>
              <a:buSzTx/>
              <a:buFontTx/>
              <a:buNone/>
              <a:defRPr/>
            </a:pPr>
            <a:r>
              <a:rPr lang="zh-CN" altLang="en-US" sz="2800" b="1" dirty="0">
                <a:solidFill>
                  <a:srgbClr val="04579A"/>
                </a:solidFill>
                <a:latin typeface="Arial" panose="020B0604020202020204" pitchFamily="34" charset="0"/>
                <a:ea typeface="微软雅黑" panose="020B0503020204020204" charset="-122"/>
                <a:cs typeface="+mn-ea"/>
              </a:rPr>
              <a:t>报告提纲</a:t>
            </a:r>
            <a:endParaRPr lang="zh-CN" altLang="en-US" sz="2800" b="1" dirty="0">
              <a:solidFill>
                <a:srgbClr val="04579A"/>
              </a:solidFill>
              <a:latin typeface="Arial" panose="020B0604020202020204" pitchFamily="34" charset="0"/>
              <a:ea typeface="微软雅黑" panose="020B0503020204020204" charset="-122"/>
              <a:cs typeface="+mn-ea"/>
            </a:endParaRPr>
          </a:p>
        </p:txBody>
      </p:sp>
      <p:cxnSp>
        <p:nvCxnSpPr>
          <p:cNvPr id="12" name="直接连接符 11"/>
          <p:cNvCxnSpPr/>
          <p:nvPr>
            <p:custDataLst>
              <p:tags r:id="rId7"/>
            </p:custDataLst>
          </p:nvPr>
        </p:nvCxnSpPr>
        <p:spPr>
          <a:xfrm>
            <a:off x="758627" y="1644739"/>
            <a:ext cx="2739727" cy="0"/>
          </a:xfrm>
          <a:prstGeom prst="line">
            <a:avLst/>
          </a:prstGeom>
          <a:noFill/>
          <a:ln w="22225" cap="flat" cmpd="sng" algn="ctr">
            <a:solidFill>
              <a:srgbClr val="2A2824"/>
            </a:solidFill>
            <a:prstDash val="solid"/>
            <a:miter lim="800000"/>
          </a:ln>
          <a:effectLst/>
        </p:spPr>
      </p:cxnSp>
      <p:sp>
        <p:nvSpPr>
          <p:cNvPr id="13" name="文本框 12"/>
          <p:cNvSpPr txBox="1"/>
          <p:nvPr>
            <p:custDataLst>
              <p:tags r:id="rId8"/>
            </p:custDataLst>
          </p:nvPr>
        </p:nvSpPr>
        <p:spPr>
          <a:xfrm>
            <a:off x="669925" y="1340768"/>
            <a:ext cx="2969021" cy="246221"/>
          </a:xfrm>
          <a:prstGeom prst="rect">
            <a:avLst/>
          </a:prstGeom>
          <a:noFill/>
          <a:effectLst>
            <a:innerShdw blurRad="63500" dist="50800">
              <a:sysClr val="windowText" lastClr="000000">
                <a:alpha val="50000"/>
              </a:sysClr>
            </a:innerShdw>
          </a:effectLst>
        </p:spPr>
        <p:txBody>
          <a:bodyPr wrap="square">
            <a:noAutofit/>
          </a:bodyPr>
          <a:lstStyle/>
          <a:p>
            <a:pPr marL="0" marR="0" lvl="0" indent="0" defTabSz="914400" eaLnBrk="1" fontAlgn="auto" latinLnBrk="1" hangingPunct="1">
              <a:lnSpc>
                <a:spcPct val="130000"/>
              </a:lnSpc>
              <a:buClrTx/>
              <a:buSzTx/>
              <a:buFontTx/>
              <a:buNone/>
              <a:defRPr/>
            </a:pPr>
            <a:r>
              <a:rPr kumimoji="0" lang="en-US" altLang="zh-CN" sz="1200" b="1" i="0" u="none" strike="noStrike" kern="0" cap="none" spc="0" normalizeH="0" baseline="0" noProof="0">
                <a:ln>
                  <a:noFill/>
                </a:ln>
                <a:solidFill>
                  <a:srgbClr val="04579A"/>
                </a:solidFill>
                <a:effectLst/>
                <a:uLnTx/>
                <a:uFillTx/>
              </a:rPr>
              <a:t>OUTLINE</a:t>
            </a:r>
            <a:endParaRPr kumimoji="0" lang="en-US" altLang="zh-CN" sz="1200" b="1" i="0" u="none" strike="noStrike" kern="0" cap="none" spc="0" normalizeH="0" baseline="0" noProof="0">
              <a:ln>
                <a:noFill/>
              </a:ln>
              <a:solidFill>
                <a:srgbClr val="04579A"/>
              </a:solidFill>
              <a:effectLst/>
              <a:uLnTx/>
              <a:uFillTx/>
            </a:endParaRPr>
          </a:p>
        </p:txBody>
      </p:sp>
      <p:cxnSp>
        <p:nvCxnSpPr>
          <p:cNvPr id="14" name="直接连接符 13"/>
          <p:cNvCxnSpPr/>
          <p:nvPr>
            <p:custDataLst>
              <p:tags r:id="rId9"/>
            </p:custDataLst>
          </p:nvPr>
        </p:nvCxnSpPr>
        <p:spPr>
          <a:xfrm>
            <a:off x="762051" y="2924944"/>
            <a:ext cx="2592288" cy="0"/>
          </a:xfrm>
          <a:prstGeom prst="line">
            <a:avLst/>
          </a:prstGeom>
          <a:noFill/>
          <a:ln w="31750" cap="flat" cmpd="sng" algn="ctr">
            <a:solidFill>
              <a:srgbClr val="2A2824"/>
            </a:solidFill>
            <a:prstDash val="solid"/>
            <a:miter lim="800000"/>
          </a:ln>
          <a:effectLst/>
        </p:spPr>
      </p:cxnSp>
      <p:sp>
        <p:nvSpPr>
          <p:cNvPr id="15" name="文本框 14"/>
          <p:cNvSpPr txBox="1"/>
          <p:nvPr>
            <p:custDataLst>
              <p:tags r:id="rId10"/>
            </p:custDataLst>
          </p:nvPr>
        </p:nvSpPr>
        <p:spPr>
          <a:xfrm>
            <a:off x="752527" y="3056058"/>
            <a:ext cx="2308324" cy="720197"/>
          </a:xfrm>
          <a:prstGeom prst="rect">
            <a:avLst/>
          </a:prstGeom>
          <a:noFill/>
          <a:effectLst>
            <a:innerShdw blurRad="63500" dist="50800">
              <a:sysClr val="windowText" lastClr="000000">
                <a:alpha val="50000"/>
              </a:sysClr>
            </a:innerShdw>
          </a:effectLst>
        </p:spPr>
        <p:txBody>
          <a:bodyPr wrap="square" lIns="90000" tIns="0" rIns="90000" bIns="0">
            <a:normAutofit/>
          </a:bodyPr>
          <a:lstStyle/>
          <a:p>
            <a:pPr marL="0" marR="0" lvl="0" indent="0" algn="ctr" defTabSz="914400" eaLnBrk="1" fontAlgn="auto" latinLnBrk="1" hangingPunct="1">
              <a:lnSpc>
                <a:spcPct val="130000"/>
              </a:lnSpc>
              <a:buClrTx/>
              <a:buSzTx/>
              <a:buFontTx/>
              <a:buNone/>
              <a:defRPr/>
            </a:pPr>
            <a:r>
              <a:rPr kumimoji="0" lang="zh-CN" altLang="en-US" sz="1100" b="0" i="0" u="none" strike="noStrike" kern="0" cap="none" spc="0" normalizeH="0" baseline="0" noProof="0" dirty="0">
                <a:ln>
                  <a:noFill/>
                </a:ln>
                <a:solidFill>
                  <a:prstClr val="black"/>
                </a:solidFill>
                <a:effectLst/>
                <a:uLnTx/>
                <a:uFillTx/>
              </a:rPr>
              <a:t>分布式数字资产协议</a:t>
            </a:r>
            <a:endParaRPr kumimoji="0" lang="en-US" altLang="zh-CN" sz="1100" b="0" i="0" u="none" strike="noStrike" kern="0" cap="none" spc="0" normalizeH="0" baseline="0" noProof="0" dirty="0">
              <a:ln>
                <a:noFill/>
              </a:ln>
              <a:solidFill>
                <a:prstClr val="black"/>
              </a:solidFill>
              <a:effectLst/>
              <a:uLnTx/>
              <a:uFillTx/>
            </a:endParaRPr>
          </a:p>
          <a:p>
            <a:pPr marL="0" marR="0" lvl="0" indent="0" algn="ctr" defTabSz="914400" eaLnBrk="1" fontAlgn="auto" latinLnBrk="1" hangingPunct="1">
              <a:lnSpc>
                <a:spcPct val="130000"/>
              </a:lnSpc>
              <a:buClrTx/>
              <a:buSzTx/>
              <a:buFontTx/>
              <a:buNone/>
              <a:defRPr/>
            </a:pPr>
            <a:r>
              <a:rPr kumimoji="0" lang="zh-CN" altLang="en-US" sz="1100" b="0" i="0" u="none" strike="noStrike" kern="0" cap="none" spc="0" normalizeH="0" baseline="0" noProof="0" dirty="0">
                <a:ln>
                  <a:noFill/>
                </a:ln>
                <a:solidFill>
                  <a:prstClr val="black"/>
                </a:solidFill>
                <a:effectLst/>
                <a:uLnTx/>
                <a:uFillTx/>
              </a:rPr>
              <a:t>设计与分析</a:t>
            </a:r>
            <a:endParaRPr kumimoji="0" lang="zh-CN" altLang="en-US" sz="1100" b="0" i="0" u="none" strike="noStrike" kern="0" cap="none" spc="0" normalizeH="0" baseline="0" noProof="0" dirty="0">
              <a:ln>
                <a:noFill/>
              </a:ln>
              <a:solidFill>
                <a:prstClr val="black"/>
              </a:solidFill>
              <a:effectLst/>
              <a:uLnTx/>
              <a:uFillTx/>
            </a:endParaRPr>
          </a:p>
        </p:txBody>
      </p:sp>
      <p:cxnSp>
        <p:nvCxnSpPr>
          <p:cNvPr id="17" name="直接连接符 16"/>
          <p:cNvCxnSpPr/>
          <p:nvPr>
            <p:custDataLst>
              <p:tags r:id="rId11"/>
            </p:custDataLst>
          </p:nvPr>
        </p:nvCxnSpPr>
        <p:spPr>
          <a:xfrm>
            <a:off x="4691844" y="3066129"/>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cxnSp>
        <p:nvCxnSpPr>
          <p:cNvPr id="18" name="直接连接符 17"/>
          <p:cNvCxnSpPr/>
          <p:nvPr>
            <p:custDataLst>
              <p:tags r:id="rId12"/>
            </p:custDataLst>
          </p:nvPr>
        </p:nvCxnSpPr>
        <p:spPr>
          <a:xfrm>
            <a:off x="4691844" y="4055943"/>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cxnSp>
        <p:nvCxnSpPr>
          <p:cNvPr id="19" name="直接连接符 18"/>
          <p:cNvCxnSpPr/>
          <p:nvPr>
            <p:custDataLst>
              <p:tags r:id="rId13"/>
            </p:custDataLst>
          </p:nvPr>
        </p:nvCxnSpPr>
        <p:spPr>
          <a:xfrm>
            <a:off x="4691844" y="5045757"/>
            <a:ext cx="5716426" cy="0"/>
          </a:xfrm>
          <a:prstGeom prst="line">
            <a:avLst/>
          </a:prstGeom>
          <a:ln>
            <a:solidFill>
              <a:srgbClr val="000000">
                <a:lumMod val="20000"/>
                <a:lumOff val="80000"/>
              </a:srgbClr>
            </a:solidFill>
          </a:ln>
        </p:spPr>
        <p:style>
          <a:lnRef idx="1">
            <a:srgbClr val="4276AA"/>
          </a:lnRef>
          <a:fillRef idx="0">
            <a:srgbClr val="4276AA"/>
          </a:fillRef>
          <a:effectRef idx="0">
            <a:srgbClr val="4276AA"/>
          </a:effectRef>
          <a:fontRef idx="minor">
            <a:srgbClr val="000000"/>
          </a:fontRef>
        </p:style>
      </p:cxnSp>
      <p:sp>
        <p:nvSpPr>
          <p:cNvPr id="2" name="文本框 1"/>
          <p:cNvSpPr txBox="1"/>
          <p:nvPr>
            <p:custDataLst>
              <p:tags r:id="rId14"/>
            </p:custDataLst>
          </p:nvPr>
        </p:nvSpPr>
        <p:spPr>
          <a:xfrm>
            <a:off x="4791710" y="3672840"/>
            <a:ext cx="3223260" cy="383540"/>
          </a:xfrm>
          <a:prstGeom prst="rect">
            <a:avLst/>
          </a:prstGeom>
        </p:spPr>
        <p:txBody>
          <a:bodyPr wrap="square" lIns="90000" tIns="0" rIns="90000" bIns="0" anchor="b" anchorCtr="0"/>
          <a:lstStyle/>
          <a:p>
            <a:pPr indent="0" fontAlgn="auto">
              <a:lnSpc>
                <a:spcPct val="100000"/>
              </a:lnSpc>
            </a:pPr>
            <a:r>
              <a:rPr lang="zh-CN" altLang="en-US" b="0" dirty="0">
                <a:solidFill>
                  <a:prstClr val="black"/>
                </a:solidFill>
                <a:latin typeface="Arial" panose="020B0604020202020204" pitchFamily="34" charset="0"/>
                <a:sym typeface="+mn-ea"/>
              </a:rPr>
              <a:t>国内外研究现状</a:t>
            </a:r>
            <a:endParaRPr lang="zh-CN" altLang="en-US" b="0" dirty="0">
              <a:solidFill>
                <a:prstClr val="black"/>
              </a:solidFill>
              <a:latin typeface="Arial" panose="020B0604020202020204" pitchFamily="34" charset="0"/>
              <a:sym typeface="+mn-ea"/>
            </a:endParaRPr>
          </a:p>
        </p:txBody>
      </p:sp>
      <p:sp>
        <p:nvSpPr>
          <p:cNvPr id="16" name="文本框 15"/>
          <p:cNvSpPr txBox="1"/>
          <p:nvPr>
            <p:custDataLst>
              <p:tags r:id="rId15"/>
            </p:custDataLst>
          </p:nvPr>
        </p:nvSpPr>
        <p:spPr>
          <a:xfrm>
            <a:off x="4799965" y="4664075"/>
            <a:ext cx="3223260"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研究内容及预期目标</a:t>
            </a:r>
            <a:endParaRPr lang="zh-CN" altLang="en-US" dirty="0">
              <a:solidFill>
                <a:prstClr val="black"/>
              </a:solidFill>
              <a:latin typeface="Arial" panose="020B0604020202020204" pitchFamily="34" charset="0"/>
              <a:sym typeface="+mn-ea"/>
            </a:endParaRPr>
          </a:p>
        </p:txBody>
      </p:sp>
      <p:sp>
        <p:nvSpPr>
          <p:cNvPr id="20" name="文本框 19"/>
          <p:cNvSpPr txBox="1"/>
          <p:nvPr>
            <p:custDataLst>
              <p:tags r:id="rId16"/>
            </p:custDataLst>
          </p:nvPr>
        </p:nvSpPr>
        <p:spPr>
          <a:xfrm>
            <a:off x="4799965" y="5561965"/>
            <a:ext cx="3223260" cy="383540"/>
          </a:xfrm>
          <a:prstGeom prst="rect">
            <a:avLst/>
          </a:prstGeom>
        </p:spPr>
        <p:txBody>
          <a:bodyPr wrap="square" lIns="90000" tIns="0" rIns="90000" bIns="0" anchor="b" anchorCtr="0"/>
          <a:lstStyle/>
          <a:p>
            <a:pPr indent="0" fontAlgn="auto">
              <a:lnSpc>
                <a:spcPct val="100000"/>
              </a:lnSpc>
            </a:pPr>
            <a:r>
              <a:rPr lang="zh-CN" altLang="en-US" dirty="0">
                <a:solidFill>
                  <a:prstClr val="black"/>
                </a:solidFill>
                <a:latin typeface="Arial" panose="020B0604020202020204" pitchFamily="34" charset="0"/>
                <a:sym typeface="+mn-ea"/>
              </a:rPr>
              <a:t>工作计划与进度安排</a:t>
            </a:r>
            <a:endParaRPr lang="zh-CN" altLang="en-US" b="0"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17"/>
            </p:custDataLst>
          </p:nvPr>
        </p:nvPicPr>
        <p:blipFill>
          <a:blip r:embed="rId18"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9"/>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custDataLst>
              <p:tags r:id="rId7"/>
            </p:custDataLst>
          </p:nvPr>
        </p:nvSpPr>
        <p:spPr>
          <a:xfrm flipV="1">
            <a:off x="2293620" y="1506220"/>
            <a:ext cx="76200" cy="7620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a:t>
            </a:r>
            <a:endParaRPr lang="zh-CN" altLang="en-US" dirty="0"/>
          </a:p>
        </p:txBody>
      </p:sp>
      <p:pic>
        <p:nvPicPr>
          <p:cNvPr id="10" name="图片 9"/>
          <p:cNvPicPr>
            <a:picLocks noChangeAspect="1"/>
          </p:cNvPicPr>
          <p:nvPr/>
        </p:nvPicPr>
        <p:blipFill>
          <a:blip r:embed="rId8"/>
          <a:stretch>
            <a:fillRect/>
          </a:stretch>
        </p:blipFill>
        <p:spPr>
          <a:xfrm>
            <a:off x="5755005" y="1247140"/>
            <a:ext cx="6127115" cy="2534285"/>
          </a:xfrm>
          <a:prstGeom prst="rect">
            <a:avLst/>
          </a:prstGeom>
        </p:spPr>
      </p:pic>
      <p:sp>
        <p:nvSpPr>
          <p:cNvPr id="14" name="文本框 13"/>
          <p:cNvSpPr txBox="1"/>
          <p:nvPr/>
        </p:nvSpPr>
        <p:spPr>
          <a:xfrm>
            <a:off x="1072515" y="1623060"/>
            <a:ext cx="4736465" cy="1051560"/>
          </a:xfrm>
          <a:prstGeom prst="rect">
            <a:avLst/>
          </a:prstGeom>
          <a:noFill/>
        </p:spPr>
        <p:txBody>
          <a:bodyPr wrap="square" rtlCol="0">
            <a:noAutofit/>
          </a:bodyPr>
          <a:p>
            <a:pPr>
              <a:lnSpc>
                <a:spcPct val="150000"/>
              </a:lnSpc>
            </a:pPr>
            <a:r>
              <a:rPr lang="en-US" altLang="zh-CN"/>
              <a:t>AI </a:t>
            </a:r>
            <a:r>
              <a:rPr lang="zh-CN" altLang="en-US"/>
              <a:t>智能体（</a:t>
            </a:r>
            <a:r>
              <a:rPr lang="en-US" altLang="zh-CN"/>
              <a:t>AI Agent）</a:t>
            </a:r>
            <a:r>
              <a:rPr lang="zh-CN" altLang="en-US"/>
              <a:t>是能够感知环境、自主决策并执行动作的智能化系统。</a:t>
            </a:r>
            <a:endParaRPr lang="zh-CN" altLang="en-US"/>
          </a:p>
        </p:txBody>
      </p:sp>
      <p:sp>
        <p:nvSpPr>
          <p:cNvPr id="23" name="文本框 22"/>
          <p:cNvSpPr txBox="1"/>
          <p:nvPr/>
        </p:nvSpPr>
        <p:spPr>
          <a:xfrm>
            <a:off x="1072515" y="3947795"/>
            <a:ext cx="4682490" cy="2453640"/>
          </a:xfrm>
          <a:prstGeom prst="rect">
            <a:avLst/>
          </a:prstGeom>
          <a:noFill/>
        </p:spPr>
        <p:txBody>
          <a:bodyPr wrap="square" rtlCol="0">
            <a:noAutofit/>
          </a:bodyPr>
          <a:p>
            <a:pPr>
              <a:lnSpc>
                <a:spcPct val="150000"/>
              </a:lnSpc>
            </a:pPr>
            <a:r>
              <a:rPr lang="zh-CN" altLang="en-US"/>
              <a:t>智能体已深度渗透至编程开发（</a:t>
            </a:r>
            <a:r>
              <a:rPr lang="en-US" altLang="zh-CN"/>
              <a:t>Claude)、</a:t>
            </a:r>
            <a:r>
              <a:rPr lang="zh-CN" altLang="en-US"/>
              <a:t>企业办公</a:t>
            </a:r>
            <a:r>
              <a:rPr lang="en-US" altLang="zh-CN"/>
              <a:t>(moveworks)、</a:t>
            </a:r>
            <a:r>
              <a:rPr lang="zh-CN" altLang="en-US"/>
              <a:t>客户服务</a:t>
            </a:r>
            <a:r>
              <a:rPr lang="en-US" altLang="zh-CN"/>
              <a:t>(Salsforce)、</a:t>
            </a:r>
            <a:r>
              <a:rPr lang="zh-CN" altLang="en-US"/>
              <a:t>商业决策</a:t>
            </a:r>
            <a:r>
              <a:rPr lang="en-US" altLang="zh-CN"/>
              <a:t>(deepMiner)</a:t>
            </a:r>
            <a:r>
              <a:rPr lang="zh-CN" altLang="en-US"/>
              <a:t>等领域，正从单一任务执行向跨系统、多步骤的复杂业务流程自动化演进。</a:t>
            </a:r>
            <a:endParaRPr lang="zh-CN" altLang="en-US"/>
          </a:p>
        </p:txBody>
      </p:sp>
      <p:pic>
        <p:nvPicPr>
          <p:cNvPr id="26" name="图片 25" descr="claude_code"/>
          <p:cNvPicPr>
            <a:picLocks noChangeAspect="1"/>
          </p:cNvPicPr>
          <p:nvPr/>
        </p:nvPicPr>
        <p:blipFill>
          <a:blip r:embed="rId9"/>
          <a:stretch>
            <a:fillRect/>
          </a:stretch>
        </p:blipFill>
        <p:spPr>
          <a:xfrm>
            <a:off x="6621145" y="3920490"/>
            <a:ext cx="1143635" cy="1143635"/>
          </a:xfrm>
          <a:prstGeom prst="rect">
            <a:avLst/>
          </a:prstGeom>
        </p:spPr>
      </p:pic>
      <p:pic>
        <p:nvPicPr>
          <p:cNvPr id="27" name="图片 26" descr="moveworks"/>
          <p:cNvPicPr>
            <a:picLocks noChangeAspect="1"/>
          </p:cNvPicPr>
          <p:nvPr/>
        </p:nvPicPr>
        <p:blipFill>
          <a:blip r:embed="rId10"/>
          <a:stretch>
            <a:fillRect/>
          </a:stretch>
        </p:blipFill>
        <p:spPr>
          <a:xfrm>
            <a:off x="6482715" y="5202555"/>
            <a:ext cx="1198880" cy="1198880"/>
          </a:xfrm>
          <a:prstGeom prst="rect">
            <a:avLst/>
          </a:prstGeom>
        </p:spPr>
      </p:pic>
      <p:pic>
        <p:nvPicPr>
          <p:cNvPr id="36" name="图片 35" descr="salesforce_agentforce"/>
          <p:cNvPicPr>
            <a:picLocks noChangeAspect="1"/>
          </p:cNvPicPr>
          <p:nvPr/>
        </p:nvPicPr>
        <p:blipFill>
          <a:blip r:embed="rId11"/>
          <a:stretch>
            <a:fillRect/>
          </a:stretch>
        </p:blipFill>
        <p:spPr>
          <a:xfrm>
            <a:off x="8512175" y="3829685"/>
            <a:ext cx="1277620" cy="1277620"/>
          </a:xfrm>
          <a:prstGeom prst="rect">
            <a:avLst/>
          </a:prstGeom>
        </p:spPr>
      </p:pic>
      <p:pic>
        <p:nvPicPr>
          <p:cNvPr id="48" name="图片 47" descr="deepminer"/>
          <p:cNvPicPr>
            <a:picLocks noChangeAspect="1"/>
          </p:cNvPicPr>
          <p:nvPr/>
        </p:nvPicPr>
        <p:blipFill>
          <a:blip r:embed="rId12"/>
          <a:stretch>
            <a:fillRect/>
          </a:stretch>
        </p:blipFill>
        <p:spPr>
          <a:xfrm>
            <a:off x="8085455" y="5452110"/>
            <a:ext cx="2361565" cy="599440"/>
          </a:xfrm>
          <a:prstGeom prst="rect">
            <a:avLst/>
          </a:prstGeom>
        </p:spPr>
      </p:pic>
      <p:cxnSp>
        <p:nvCxnSpPr>
          <p:cNvPr id="49" name="直接连接符 48"/>
          <p:cNvCxnSpPr/>
          <p:nvPr/>
        </p:nvCxnSpPr>
        <p:spPr>
          <a:xfrm>
            <a:off x="408305" y="3810635"/>
            <a:ext cx="11277600" cy="0"/>
          </a:xfrm>
          <a:prstGeom prst="line">
            <a:avLst/>
          </a:prstGeom>
          <a:ln>
            <a:solidFill>
              <a:schemeClr val="bg1">
                <a:lumMod val="50000"/>
                <a:alpha val="54000"/>
              </a:schemeClr>
            </a:solidFill>
            <a:tailEnd type="triangle"/>
          </a:ln>
        </p:spPr>
        <p:style>
          <a:lnRef idx="1">
            <a:schemeClr val="accent1"/>
          </a:lnRef>
          <a:fillRef idx="0">
            <a:schemeClr val="accent1"/>
          </a:fillRef>
          <a:effectRef idx="0">
            <a:schemeClr val="accent1"/>
          </a:effectRef>
          <a:fontRef idx="minor">
            <a:schemeClr val="tx1"/>
          </a:fontRef>
        </p:style>
      </p:cxnSp>
    </p:spTree>
    <p:custDataLst>
      <p:tags r:id="rId1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
        <p:nvSpPr>
          <p:cNvPr id="12" name="文本框 11"/>
          <p:cNvSpPr txBox="1"/>
          <p:nvPr/>
        </p:nvSpPr>
        <p:spPr>
          <a:xfrm>
            <a:off x="1410335" y="1308735"/>
            <a:ext cx="5010150" cy="2051050"/>
          </a:xfrm>
          <a:prstGeom prst="rect">
            <a:avLst/>
          </a:prstGeom>
          <a:noFill/>
        </p:spPr>
        <p:txBody>
          <a:bodyPr wrap="square" rtlCol="0">
            <a:noAutofit/>
          </a:bodyPr>
          <a:p>
            <a:pPr>
              <a:lnSpc>
                <a:spcPct val="150000"/>
              </a:lnSpc>
            </a:pPr>
            <a:r>
              <a:rPr lang="en-US" altLang="zh-CN"/>
              <a:t>ASE 2025</a:t>
            </a:r>
            <a:r>
              <a:rPr lang="zh-CN" altLang="en-US"/>
              <a:t>一项工作收集了 50 个热门的开源 </a:t>
            </a:r>
            <a:r>
              <a:rPr lang="en-US" altLang="zh-CN"/>
              <a:t>Agent </a:t>
            </a:r>
            <a:r>
              <a:rPr lang="zh-CN" altLang="en-US"/>
              <a:t>应用中的 221 个真实漏洞，并且统计分析了漏洞的严重程度和 </a:t>
            </a:r>
            <a:r>
              <a:rPr lang="en-US" altLang="zh-CN"/>
              <a:t>CVSS </a:t>
            </a:r>
            <a:r>
              <a:rPr lang="zh-CN" altLang="en-US"/>
              <a:t>分布，发现 </a:t>
            </a:r>
            <a:r>
              <a:rPr lang="en-US" altLang="zh-CN"/>
              <a:t>Agent </a:t>
            </a:r>
            <a:r>
              <a:rPr lang="zh-CN" altLang="en-US"/>
              <a:t>应用漏洞普遍高危：平均 </a:t>
            </a:r>
            <a:r>
              <a:rPr lang="en-US" altLang="zh-CN"/>
              <a:t>CVSS 7.89，74.1% </a:t>
            </a:r>
            <a:r>
              <a:rPr lang="zh-CN" altLang="en-US"/>
              <a:t>属于 </a:t>
            </a:r>
            <a:r>
              <a:rPr lang="en-US" altLang="zh-CN"/>
              <a:t>HIGH/CRITICAL </a:t>
            </a:r>
            <a:r>
              <a:rPr lang="zh-CN" altLang="en-US"/>
              <a:t>级别。</a:t>
            </a:r>
            <a:endParaRPr lang="zh-CN" altLang="en-US"/>
          </a:p>
          <a:p>
            <a:endParaRPr lang="zh-CN" altLang="en-US"/>
          </a:p>
        </p:txBody>
      </p:sp>
      <p:graphicFrame>
        <p:nvGraphicFramePr>
          <p:cNvPr id="17" name="表格 16"/>
          <p:cNvGraphicFramePr/>
          <p:nvPr>
            <p:custDataLst>
              <p:tags r:id="rId7"/>
            </p:custDataLst>
          </p:nvPr>
        </p:nvGraphicFramePr>
        <p:xfrm>
          <a:off x="7023100" y="1308735"/>
          <a:ext cx="3641090" cy="4587240"/>
        </p:xfrm>
        <a:graphic>
          <a:graphicData uri="http://schemas.openxmlformats.org/drawingml/2006/table">
            <a:tbl>
              <a:tblPr firstRow="1" bandRow="1">
                <a:tableStyleId>{5C22544A-7EE6-4342-B048-85BDC9FD1C3A}</a:tableStyleId>
              </a:tblPr>
              <a:tblGrid>
                <a:gridCol w="1820545"/>
                <a:gridCol w="1820545"/>
              </a:tblGrid>
              <a:tr h="655320">
                <a:tc>
                  <a:txBody>
                    <a:bodyPr/>
                    <a:p>
                      <a:pPr algn="ctr">
                        <a:buNone/>
                      </a:pPr>
                      <a:r>
                        <a:rPr lang="en-US" altLang="zh-CN"/>
                        <a:t>CVE</a:t>
                      </a:r>
                      <a:r>
                        <a:rPr lang="zh-CN" altLang="en-US"/>
                        <a:t>编号</a:t>
                      </a:r>
                      <a:endParaRPr lang="zh-CN" altLang="en-US"/>
                    </a:p>
                  </a:txBody>
                  <a:tcPr/>
                </a:tc>
                <a:tc>
                  <a:txBody>
                    <a:bodyPr/>
                    <a:p>
                      <a:pPr algn="ctr">
                        <a:buNone/>
                      </a:pPr>
                      <a:r>
                        <a:rPr lang="zh-CN" altLang="en-US"/>
                        <a:t>问题</a:t>
                      </a:r>
                      <a:r>
                        <a:rPr lang="zh-CN" altLang="en-US"/>
                        <a:t>类型</a:t>
                      </a:r>
                      <a:endParaRPr lang="zh-CN" altLang="en-US"/>
                    </a:p>
                  </a:txBody>
                  <a:tcPr/>
                </a:tc>
              </a:tr>
              <a:tr h="655320">
                <a:tc>
                  <a:txBody>
                    <a:bodyPr/>
                    <a:p>
                      <a:pPr algn="ctr">
                        <a:buNone/>
                      </a:pPr>
                      <a:r>
                        <a:rPr lang="en-US" altLang="zh-CN"/>
                        <a:t>CVE-2025-68145</a:t>
                      </a:r>
                      <a:endParaRPr lang="en-US" altLang="zh-CN"/>
                    </a:p>
                  </a:txBody>
                  <a:tcPr/>
                </a:tc>
                <a:tc>
                  <a:txBody>
                    <a:bodyPr/>
                    <a:p>
                      <a:pPr algn="ctr">
                        <a:buNone/>
                      </a:pPr>
                      <a:r>
                        <a:rPr lang="zh-CN" altLang="en-US"/>
                        <a:t>授权边界绕过</a:t>
                      </a:r>
                      <a:endParaRPr lang="zh-CN" altLang="en-US"/>
                    </a:p>
                  </a:txBody>
                  <a:tcPr/>
                </a:tc>
              </a:tr>
              <a:tr h="655320">
                <a:tc>
                  <a:txBody>
                    <a:bodyPr/>
                    <a:p>
                      <a:pPr algn="ctr">
                        <a:buNone/>
                      </a:pPr>
                      <a:r>
                        <a:rPr lang="en-US" altLang="zh-CN"/>
                        <a:t>CVE-2026-30624</a:t>
                      </a:r>
                      <a:endParaRPr lang="en-US" altLang="zh-CN"/>
                    </a:p>
                  </a:txBody>
                  <a:tcPr/>
                </a:tc>
                <a:tc>
                  <a:txBody>
                    <a:bodyPr/>
                    <a:p>
                      <a:pPr algn="ctr">
                        <a:buNone/>
                      </a:pPr>
                      <a:r>
                        <a:rPr lang="zh-CN" altLang="en-US"/>
                        <a:t>授权缺失</a:t>
                      </a:r>
                      <a:endParaRPr lang="zh-CN" altLang="en-US"/>
                    </a:p>
                  </a:txBody>
                  <a:tcPr/>
                </a:tc>
              </a:tr>
              <a:tr h="655320">
                <a:tc>
                  <a:txBody>
                    <a:bodyPr/>
                    <a:p>
                      <a:pPr algn="ctr">
                        <a:buNone/>
                      </a:pPr>
                      <a:r>
                        <a:rPr lang="en-US" altLang="zh-CN"/>
                        <a:t>CVE-2026-35568</a:t>
                      </a:r>
                      <a:endParaRPr lang="en-US" altLang="zh-CN"/>
                    </a:p>
                  </a:txBody>
                  <a:tcPr/>
                </a:tc>
                <a:tc>
                  <a:txBody>
                    <a:bodyPr/>
                    <a:p>
                      <a:pPr algn="ctr">
                        <a:buNone/>
                      </a:pPr>
                      <a:r>
                        <a:rPr lang="zh-CN" altLang="en-US"/>
                        <a:t>访问控制缺失</a:t>
                      </a:r>
                      <a:endParaRPr lang="zh-CN" altLang="en-US"/>
                    </a:p>
                  </a:txBody>
                  <a:tcPr/>
                </a:tc>
              </a:tr>
              <a:tr h="655320">
                <a:tc>
                  <a:txBody>
                    <a:bodyPr/>
                    <a:p>
                      <a:pPr algn="ctr">
                        <a:buNone/>
                      </a:pPr>
                      <a:r>
                        <a:rPr lang="en-US" altLang="zh-CN"/>
                        <a:t>CVE-2025-61260</a:t>
                      </a:r>
                      <a:endParaRPr lang="en-US" altLang="zh-CN"/>
                    </a:p>
                  </a:txBody>
                  <a:tcPr/>
                </a:tc>
                <a:tc>
                  <a:txBody>
                    <a:bodyPr/>
                    <a:p>
                      <a:pPr algn="ctr">
                        <a:buNone/>
                      </a:pPr>
                      <a:r>
                        <a:rPr lang="zh-CN" altLang="en-US"/>
                        <a:t>过度授权/信任传递</a:t>
                      </a:r>
                      <a:endParaRPr lang="zh-CN" altLang="en-US"/>
                    </a:p>
                  </a:txBody>
                  <a:tcPr/>
                </a:tc>
              </a:tr>
              <a:tr h="655320">
                <a:tc>
                  <a:txBody>
                    <a:bodyPr/>
                    <a:p>
                      <a:pPr algn="ctr">
                        <a:buNone/>
                      </a:pPr>
                      <a:r>
                        <a:rPr lang="en-US" altLang="zh-CN"/>
                        <a:t>CVE-2026-33068</a:t>
                      </a:r>
                      <a:endParaRPr lang="en-US" altLang="zh-CN"/>
                    </a:p>
                  </a:txBody>
                  <a:tcPr/>
                </a:tc>
                <a:tc>
                  <a:txBody>
                    <a:bodyPr/>
                    <a:p>
                      <a:pPr algn="ctr">
                        <a:buNone/>
                      </a:pPr>
                      <a:r>
                        <a:rPr lang="zh-CN" altLang="en-US"/>
                        <a:t>未授权操作</a:t>
                      </a:r>
                      <a:r>
                        <a:rPr lang="zh-CN" altLang="en-US"/>
                        <a:t>执行</a:t>
                      </a:r>
                      <a:endParaRPr lang="zh-CN" altLang="en-US"/>
                    </a:p>
                  </a:txBody>
                  <a:tcPr/>
                </a:tc>
              </a:tr>
              <a:tr h="655320">
                <a:tc>
                  <a:txBody>
                    <a:bodyPr/>
                    <a:p>
                      <a:pPr algn="ctr">
                        <a:buNone/>
                      </a:pPr>
                      <a:r>
                        <a:rPr lang="en-US" altLang="zh-CN"/>
                        <a:t>CVE-2025-54136</a:t>
                      </a:r>
                      <a:endParaRPr lang="en-US" altLang="zh-CN"/>
                    </a:p>
                  </a:txBody>
                  <a:tcPr/>
                </a:tc>
                <a:tc>
                  <a:txBody>
                    <a:bodyPr/>
                    <a:p>
                      <a:pPr algn="ctr">
                        <a:buNone/>
                      </a:pPr>
                      <a:r>
                        <a:rPr lang="zh-CN" altLang="en-US"/>
                        <a:t>授权重确认缺失</a:t>
                      </a:r>
                      <a:endParaRPr lang="zh-CN" altLang="en-US"/>
                    </a:p>
                  </a:txBody>
                  <a:tcPr/>
                </a:tc>
              </a:tr>
            </a:tbl>
          </a:graphicData>
        </a:graphic>
      </p:graphicFrame>
    </p:spTree>
    <p:custDataLst>
      <p:tags r:id="rId8"/>
    </p:custData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
        <p:nvSpPr>
          <p:cNvPr id="12" name="文本框 11"/>
          <p:cNvSpPr txBox="1"/>
          <p:nvPr/>
        </p:nvSpPr>
        <p:spPr>
          <a:xfrm>
            <a:off x="1410335" y="1308735"/>
            <a:ext cx="5010150" cy="2051050"/>
          </a:xfrm>
          <a:prstGeom prst="rect">
            <a:avLst/>
          </a:prstGeom>
          <a:noFill/>
        </p:spPr>
        <p:txBody>
          <a:bodyPr wrap="square" rtlCol="0">
            <a:noAutofit/>
          </a:bodyPr>
          <a:p>
            <a:endParaRPr lang="zh-CN" altLang="en-US"/>
          </a:p>
        </p:txBody>
      </p:sp>
      <p:sp>
        <p:nvSpPr>
          <p:cNvPr id="6" name="文本框 5"/>
          <p:cNvSpPr txBox="1"/>
          <p:nvPr/>
        </p:nvSpPr>
        <p:spPr>
          <a:xfrm>
            <a:off x="1410335" y="1308735"/>
            <a:ext cx="4162425" cy="1337945"/>
          </a:xfrm>
          <a:prstGeom prst="rect">
            <a:avLst/>
          </a:prstGeom>
          <a:noFill/>
        </p:spPr>
        <p:txBody>
          <a:bodyPr wrap="square" rtlCol="0">
            <a:spAutoFit/>
          </a:bodyPr>
          <a:p>
            <a:pPr>
              <a:lnSpc>
                <a:spcPct val="150000"/>
              </a:lnSpc>
            </a:pPr>
            <a:r>
              <a:rPr lang="zh-CN" altLang="en-US"/>
              <a:t>目前智能体访问外部资源或者服务时普遍采用简单的</a:t>
            </a:r>
            <a:r>
              <a:rPr lang="en-US" altLang="zh-CN"/>
              <a:t>API key</a:t>
            </a:r>
            <a:r>
              <a:rPr lang="zh-CN" altLang="en-US"/>
              <a:t>模式或者传统的</a:t>
            </a:r>
            <a:r>
              <a:rPr lang="en-US" altLang="zh-CN"/>
              <a:t>OAuth</a:t>
            </a:r>
            <a:endParaRPr lang="zh-CN" altLang="en-US"/>
          </a:p>
        </p:txBody>
      </p:sp>
      <p:pic>
        <p:nvPicPr>
          <p:cNvPr id="8" name="图片 7"/>
          <p:cNvPicPr>
            <a:picLocks noChangeAspect="1"/>
          </p:cNvPicPr>
          <p:nvPr/>
        </p:nvPicPr>
        <p:blipFill>
          <a:blip r:embed="rId7"/>
          <a:stretch>
            <a:fillRect/>
          </a:stretch>
        </p:blipFill>
        <p:spPr>
          <a:xfrm>
            <a:off x="6214745" y="1696720"/>
            <a:ext cx="5521960" cy="3636010"/>
          </a:xfrm>
          <a:prstGeom prst="rect">
            <a:avLst/>
          </a:prstGeom>
        </p:spPr>
      </p:pic>
      <p:sp>
        <p:nvSpPr>
          <p:cNvPr id="11" name="文本框 10"/>
          <p:cNvSpPr txBox="1"/>
          <p:nvPr/>
        </p:nvSpPr>
        <p:spPr>
          <a:xfrm>
            <a:off x="1497965" y="3329940"/>
            <a:ext cx="4170045" cy="368300"/>
          </a:xfrm>
          <a:prstGeom prst="rect">
            <a:avLst/>
          </a:prstGeom>
          <a:noFill/>
        </p:spPr>
        <p:txBody>
          <a:bodyPr wrap="square" rtlCol="0">
            <a:spAutoFit/>
          </a:bodyPr>
          <a:p>
            <a:r>
              <a:rPr lang="en-US" altLang="zh-CN"/>
              <a:t> </a:t>
            </a:r>
            <a:endParaRPr lang="en-US" altLang="zh-CN"/>
          </a:p>
        </p:txBody>
      </p:sp>
      <p:cxnSp>
        <p:nvCxnSpPr>
          <p:cNvPr id="14" name="直接连接符 13"/>
          <p:cNvCxnSpPr/>
          <p:nvPr>
            <p:custDataLst>
              <p:tags r:id="rId8"/>
            </p:custDataLst>
          </p:nvPr>
        </p:nvCxnSpPr>
        <p:spPr>
          <a:xfrm>
            <a:off x="6025515" y="821690"/>
            <a:ext cx="10160" cy="60363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
        <p:nvSpPr>
          <p:cNvPr id="12" name="文本框 11"/>
          <p:cNvSpPr txBox="1"/>
          <p:nvPr/>
        </p:nvSpPr>
        <p:spPr>
          <a:xfrm>
            <a:off x="1664970" y="6065520"/>
            <a:ext cx="8801735" cy="585470"/>
          </a:xfrm>
          <a:prstGeom prst="rect">
            <a:avLst/>
          </a:prstGeom>
          <a:noFill/>
        </p:spPr>
        <p:txBody>
          <a:bodyPr wrap="square" rtlCol="0">
            <a:noAutofit/>
          </a:bodyPr>
          <a:p>
            <a:r>
              <a:rPr lang="en-US" altLang="zh-CN" b="1"/>
              <a:t>OAuth Is Not Enough: Authorization Challenges for Autonomous AI Agents</a:t>
            </a:r>
            <a:endParaRPr lang="en-US" altLang="zh-CN" b="1"/>
          </a:p>
        </p:txBody>
      </p:sp>
      <p:sp>
        <p:nvSpPr>
          <p:cNvPr id="16" name="文本框 15"/>
          <p:cNvSpPr txBox="1"/>
          <p:nvPr/>
        </p:nvSpPr>
        <p:spPr>
          <a:xfrm>
            <a:off x="2295525" y="2139315"/>
            <a:ext cx="1751965" cy="469265"/>
          </a:xfrm>
          <a:prstGeom prst="rect">
            <a:avLst/>
          </a:prstGeom>
          <a:noFill/>
        </p:spPr>
        <p:txBody>
          <a:bodyPr wrap="square" rtlCol="0">
            <a:noAutofit/>
          </a:bodyPr>
          <a:p>
            <a:r>
              <a:rPr lang="zh-CN" altLang="en-US"/>
              <a:t>权限粒度</a:t>
            </a:r>
            <a:r>
              <a:rPr lang="zh-CN" altLang="en-US"/>
              <a:t>过大</a:t>
            </a:r>
            <a:endParaRPr lang="zh-CN" altLang="en-US"/>
          </a:p>
        </p:txBody>
      </p:sp>
      <p:sp>
        <p:nvSpPr>
          <p:cNvPr id="10" name="文本框 9"/>
          <p:cNvSpPr txBox="1"/>
          <p:nvPr/>
        </p:nvSpPr>
        <p:spPr>
          <a:xfrm>
            <a:off x="859155" y="1104265"/>
            <a:ext cx="3281045" cy="460375"/>
          </a:xfrm>
          <a:prstGeom prst="rect">
            <a:avLst/>
          </a:prstGeom>
          <a:noFill/>
        </p:spPr>
        <p:txBody>
          <a:bodyPr wrap="square" rtlCol="0">
            <a:spAutoFit/>
          </a:bodyPr>
          <a:p>
            <a:r>
              <a:rPr lang="en-US" altLang="zh-CN" sz="2400" b="1"/>
              <a:t>OAuth</a:t>
            </a:r>
            <a:r>
              <a:rPr lang="zh-CN" altLang="en-US" sz="2400" b="1"/>
              <a:t>局限性</a:t>
            </a:r>
            <a:endParaRPr lang="zh-CN" altLang="en-US" sz="2400" b="1"/>
          </a:p>
        </p:txBody>
      </p:sp>
      <p:sp>
        <p:nvSpPr>
          <p:cNvPr id="17" name="文本框 16"/>
          <p:cNvSpPr txBox="1"/>
          <p:nvPr/>
        </p:nvSpPr>
        <p:spPr>
          <a:xfrm>
            <a:off x="2065020" y="3630930"/>
            <a:ext cx="2043430" cy="368300"/>
          </a:xfrm>
          <a:prstGeom prst="rect">
            <a:avLst/>
          </a:prstGeom>
          <a:noFill/>
        </p:spPr>
        <p:txBody>
          <a:bodyPr wrap="square" rtlCol="0">
            <a:spAutoFit/>
          </a:bodyPr>
          <a:p>
            <a:r>
              <a:rPr lang="zh-CN" altLang="en-US"/>
              <a:t>权限不可动态</a:t>
            </a:r>
            <a:r>
              <a:rPr lang="zh-CN" altLang="en-US"/>
              <a:t>变化</a:t>
            </a:r>
            <a:endParaRPr lang="zh-CN" altLang="en-US"/>
          </a:p>
        </p:txBody>
      </p:sp>
      <p:sp>
        <p:nvSpPr>
          <p:cNvPr id="19" name="文本框 18"/>
          <p:cNvSpPr txBox="1"/>
          <p:nvPr/>
        </p:nvSpPr>
        <p:spPr>
          <a:xfrm>
            <a:off x="2148840" y="5020310"/>
            <a:ext cx="1874520" cy="368300"/>
          </a:xfrm>
          <a:prstGeom prst="rect">
            <a:avLst/>
          </a:prstGeom>
          <a:noFill/>
        </p:spPr>
        <p:txBody>
          <a:bodyPr wrap="square" rtlCol="0">
            <a:spAutoFit/>
          </a:bodyPr>
          <a:p>
            <a:r>
              <a:rPr lang="zh-CN" altLang="en-US"/>
              <a:t>需人类实时</a:t>
            </a:r>
            <a:r>
              <a:rPr lang="zh-CN" altLang="en-US"/>
              <a:t>参与</a:t>
            </a:r>
            <a:endParaRPr lang="zh-CN" altLang="en-US"/>
          </a:p>
        </p:txBody>
      </p:sp>
    </p:spTree>
    <p:custDataLst>
      <p:tags r:id="rId7"/>
    </p:custData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
        <p:nvSpPr>
          <p:cNvPr id="10" name="文本框 9"/>
          <p:cNvSpPr txBox="1"/>
          <p:nvPr/>
        </p:nvSpPr>
        <p:spPr>
          <a:xfrm>
            <a:off x="859155" y="1104265"/>
            <a:ext cx="3281045" cy="460375"/>
          </a:xfrm>
          <a:prstGeom prst="rect">
            <a:avLst/>
          </a:prstGeom>
          <a:noFill/>
        </p:spPr>
        <p:txBody>
          <a:bodyPr wrap="square" rtlCol="0">
            <a:spAutoFit/>
          </a:bodyPr>
          <a:p>
            <a:r>
              <a:rPr lang="en-US" altLang="zh-CN" sz="2400" b="1"/>
              <a:t>OAuth</a:t>
            </a:r>
            <a:r>
              <a:rPr lang="zh-CN" altLang="en-US" sz="2400" b="1"/>
              <a:t>局限性</a:t>
            </a:r>
            <a:endParaRPr lang="zh-CN" altLang="en-US" sz="2400" b="1"/>
          </a:p>
        </p:txBody>
      </p:sp>
      <p:sp>
        <p:nvSpPr>
          <p:cNvPr id="20" name="文本框 19"/>
          <p:cNvSpPr txBox="1"/>
          <p:nvPr/>
        </p:nvSpPr>
        <p:spPr>
          <a:xfrm>
            <a:off x="1049020" y="2482850"/>
            <a:ext cx="1770380" cy="645160"/>
          </a:xfrm>
          <a:prstGeom prst="rect">
            <a:avLst/>
          </a:prstGeom>
          <a:noFill/>
        </p:spPr>
        <p:txBody>
          <a:bodyPr wrap="square" rtlCol="0">
            <a:spAutoFit/>
          </a:bodyPr>
          <a:p>
            <a:r>
              <a:rPr lang="zh-CN" altLang="en-US"/>
              <a:t>缺乏单独的智能体</a:t>
            </a:r>
            <a:r>
              <a:rPr lang="zh-CN" altLang="en-US"/>
              <a:t>身份</a:t>
            </a:r>
            <a:endParaRPr lang="zh-CN" altLang="en-US"/>
          </a:p>
        </p:txBody>
      </p:sp>
      <p:sp>
        <p:nvSpPr>
          <p:cNvPr id="22" name="文本框 21"/>
          <p:cNvSpPr txBox="1"/>
          <p:nvPr/>
        </p:nvSpPr>
        <p:spPr>
          <a:xfrm>
            <a:off x="1006475" y="3430270"/>
            <a:ext cx="1614805" cy="922020"/>
          </a:xfrm>
          <a:prstGeom prst="rect">
            <a:avLst/>
          </a:prstGeom>
          <a:noFill/>
        </p:spPr>
        <p:txBody>
          <a:bodyPr wrap="square" rtlCol="0">
            <a:spAutoFit/>
          </a:bodyPr>
          <a:p>
            <a:r>
              <a:rPr lang="zh-CN" altLang="en-US"/>
              <a:t>缺乏权限委托，及多</a:t>
            </a:r>
            <a:r>
              <a:rPr lang="en-US" altLang="zh-CN"/>
              <a:t>agent</a:t>
            </a:r>
            <a:r>
              <a:rPr lang="zh-CN" altLang="en-US"/>
              <a:t>之间权限</a:t>
            </a:r>
            <a:r>
              <a:rPr lang="zh-CN" altLang="en-US"/>
              <a:t>衰减</a:t>
            </a:r>
            <a:endParaRPr lang="zh-CN" altLang="en-US"/>
          </a:p>
        </p:txBody>
      </p:sp>
      <p:sp>
        <p:nvSpPr>
          <p:cNvPr id="6" name="文本框 5"/>
          <p:cNvSpPr txBox="1"/>
          <p:nvPr/>
        </p:nvSpPr>
        <p:spPr>
          <a:xfrm>
            <a:off x="769620" y="5970905"/>
            <a:ext cx="4933315" cy="368300"/>
          </a:xfrm>
          <a:prstGeom prst="rect">
            <a:avLst/>
          </a:prstGeom>
          <a:noFill/>
        </p:spPr>
        <p:txBody>
          <a:bodyPr wrap="square" rtlCol="0">
            <a:spAutoFit/>
          </a:bodyPr>
          <a:p>
            <a:r>
              <a:rPr lang="en-US" altLang="zh-CN"/>
              <a:t>AI Agents Need Authenticated Delegation</a:t>
            </a:r>
            <a:endParaRPr lang="en-US" altLang="zh-CN"/>
          </a:p>
        </p:txBody>
      </p:sp>
    </p:spTree>
    <p:custDataLst>
      <p:tags r:id="rId7"/>
    </p:custData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 name="矩形 26"/>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燕尾形 3"/>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44614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智能体执行任务的自主性对智能体的授权粒度提出了更高的</a:t>
            </a:r>
            <a:r>
              <a:rPr lang="zh-CN" altLang="en-US" sz="2000" dirty="0">
                <a:solidFill>
                  <a:schemeClr val="tx1">
                    <a:lumMod val="85000"/>
                    <a:lumOff val="15000"/>
                  </a:schemeClr>
                </a:solidFill>
                <a:sym typeface="+mn-ea"/>
              </a:rPr>
              <a:t>要求</a:t>
            </a:r>
            <a:endParaRPr lang="zh-CN" altLang="en-US" sz="2000" dirty="0">
              <a:solidFill>
                <a:schemeClr val="tx1">
                  <a:lumMod val="85000"/>
                  <a:lumOff val="15000"/>
                </a:schemeClr>
              </a:solidFill>
              <a:sym typeface="+mn-ea"/>
            </a:endParaRPr>
          </a:p>
          <a:p>
            <a:pPr marL="457200" lvl="1" indent="457200" algn="l" fontAlgn="auto">
              <a:lnSpc>
                <a:spcPct val="150000"/>
              </a:lnSpc>
              <a:spcAft>
                <a:spcPts val="1200"/>
              </a:spcAft>
              <a:buClrTx/>
              <a:buSzTx/>
              <a:buFontTx/>
              <a:buNone/>
            </a:pPr>
            <a:r>
              <a:rPr lang="zh-CN" altLang="en-US" sz="2400" b="1" dirty="0">
                <a:solidFill>
                  <a:srgbClr val="04579A"/>
                </a:solidFill>
                <a:sym typeface="+mn-ea"/>
              </a:rPr>
              <a:t>智能体授权协议的授权粒度需要匹配具体任务</a:t>
            </a:r>
            <a:r>
              <a:rPr lang="zh-CN" altLang="en-US" sz="2400" b="1" dirty="0">
                <a:solidFill>
                  <a:srgbClr val="04579A"/>
                </a:solidFill>
                <a:sym typeface="+mn-ea"/>
              </a:rPr>
              <a:t>级语义</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区块链具有长期部署的需要</a:t>
            </a:r>
            <a:endParaRPr lang="zh-CN" altLang="en-US" sz="2000" dirty="0">
              <a:solidFill>
                <a:schemeClr val="bg1">
                  <a:lumMod val="95000"/>
                </a:schemeClr>
              </a:solidFill>
              <a:sym typeface="+mn-ea"/>
            </a:endParaRPr>
          </a:p>
          <a:p>
            <a:pPr lvl="1" indent="457200">
              <a:lnSpc>
                <a:spcPct val="150000"/>
              </a:lnSpc>
              <a:spcAft>
                <a:spcPts val="1200"/>
              </a:spcAft>
            </a:pPr>
            <a:r>
              <a:rPr lang="zh-CN" altLang="en-US" sz="2400" b="1" dirty="0">
                <a:solidFill>
                  <a:schemeClr val="bg1">
                    <a:lumMod val="95000"/>
                  </a:schemeClr>
                </a:solidFill>
                <a:sym typeface="+mn-ea"/>
              </a:rPr>
              <a:t>分布式数字资产交易协议需要高性能的链下方案构造</a:t>
            </a:r>
            <a:endParaRPr lang="zh-CN" altLang="en-US" sz="2400" b="1" dirty="0">
              <a:solidFill>
                <a:schemeClr val="bg1">
                  <a:lumMod val="95000"/>
                </a:schemeClr>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endParaRPr lang="zh-CN" altLang="en-US" sz="2000" dirty="0">
              <a:solidFill>
                <a:schemeClr val="bg1">
                  <a:lumMod val="95000"/>
                </a:schemeClr>
              </a:solidFill>
              <a:sym typeface="+mn-ea"/>
            </a:endParaRP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endParaRPr lang="zh-CN" altLang="en-US" sz="2400" b="1" dirty="0">
              <a:solidFill>
                <a:schemeClr val="bg1">
                  <a:lumMod val="95000"/>
                </a:schemeClr>
              </a:solidFill>
              <a:sym typeface="+mn-ea"/>
            </a:endParaRPr>
          </a:p>
        </p:txBody>
      </p:sp>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4</a:t>
            </a:r>
            <a:endParaRPr lang="zh-CN" altLang="en-US" dirty="0"/>
          </a:p>
        </p:txBody>
      </p:sp>
      <p:sp>
        <p:nvSpPr>
          <p:cNvPr id="6" name="矩形 5"/>
          <p:cNvSpPr/>
          <p:nvPr/>
        </p:nvSpPr>
        <p:spPr>
          <a:xfrm>
            <a:off x="490855" y="3950873"/>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3"/>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文本框 206"/>
          <p:cNvSpPr txBox="1"/>
          <p:nvPr>
            <p:custDataLst>
              <p:tags r:id="rId1"/>
            </p:custDataLst>
          </p:nvPr>
        </p:nvSpPr>
        <p:spPr>
          <a:xfrm>
            <a:off x="408305" y="949960"/>
            <a:ext cx="10727690" cy="553085"/>
          </a:xfrm>
          <a:prstGeom prst="rect">
            <a:avLst/>
          </a:prstGeom>
          <a:noFill/>
        </p:spPr>
        <p:txBody>
          <a:bodyPr wrap="square" rtlCol="0" anchor="t">
            <a:spAutoFit/>
          </a:bodyPr>
          <a:lstStyle/>
          <a:p>
            <a:pPr marL="457200" indent="-457200" fontAlgn="auto">
              <a:lnSpc>
                <a:spcPct val="150000"/>
              </a:lnSpc>
              <a:buFont typeface="+mj-lt"/>
              <a:buAutoNum type="arabicPeriod"/>
            </a:pPr>
            <a:r>
              <a:rPr lang="zh-CN" altLang="en-US" sz="2000" dirty="0">
                <a:solidFill>
                  <a:schemeClr val="tx1">
                    <a:lumMod val="85000"/>
                    <a:lumOff val="15000"/>
                  </a:schemeClr>
                </a:solidFill>
                <a:sym typeface="+mn-ea"/>
              </a:rPr>
              <a:t>智能体执行任务的自主性对智能体授权协议的授权粒度提出了更高的要求</a:t>
            </a:r>
            <a:endParaRPr lang="zh-CN" altLang="en-US" sz="2000" dirty="0">
              <a:solidFill>
                <a:schemeClr val="tx1">
                  <a:lumMod val="75000"/>
                  <a:lumOff val="25000"/>
                </a:schemeClr>
              </a:solidFill>
              <a:sym typeface="+mn-ea"/>
            </a:endParaRPr>
          </a:p>
        </p:txBody>
      </p:sp>
      <p:sp>
        <p:nvSpPr>
          <p:cNvPr id="269" name="矩形 268"/>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75"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1736779" y="6499761"/>
            <a:ext cx="455221" cy="369332"/>
          </a:xfrm>
          <a:prstGeom prst="rect">
            <a:avLst/>
          </a:prstGeom>
          <a:noFill/>
        </p:spPr>
        <p:txBody>
          <a:bodyPr wrap="square" rtlCol="0">
            <a:spAutoFit/>
          </a:bodyPr>
          <a:lstStyle/>
          <a:p>
            <a:pPr algn="ctr"/>
            <a:r>
              <a:rPr lang="en-US" altLang="zh-CN" dirty="0"/>
              <a:t>5</a:t>
            </a:r>
            <a:endParaRPr lang="zh-CN" altLang="en-US" dirty="0"/>
          </a:p>
        </p:txBody>
      </p:sp>
    </p:spTree>
    <p:custDataLst>
      <p:tags r:id="rId1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90855" y="3972190"/>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p:cNvSpPr/>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智能体执行任务的自主性对智能体授权协议的授权粒度提出了更高的要求</a:t>
            </a:r>
            <a:endParaRPr lang="zh-CN" altLang="en-US" sz="2000" dirty="0">
              <a:solidFill>
                <a:schemeClr val="tx1">
                  <a:lumMod val="85000"/>
                  <a:lumOff val="15000"/>
                </a:schemeClr>
              </a:solidFill>
              <a:sym typeface="+mn-ea"/>
            </a:endParaRPr>
          </a:p>
          <a:p>
            <a:pPr lvl="1" indent="457200">
              <a:lnSpc>
                <a:spcPct val="150000"/>
              </a:lnSpc>
              <a:spcAft>
                <a:spcPts val="1200"/>
              </a:spcAft>
            </a:pPr>
            <a:r>
              <a:rPr lang="zh-CN" altLang="en-US" sz="2400" b="1" dirty="0">
                <a:solidFill>
                  <a:srgbClr val="04579A"/>
                </a:solidFill>
                <a:sym typeface="+mn-ea"/>
              </a:rPr>
              <a:t>智能体授权协议的授权粒度需要匹配具体任务级语义</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ym typeface="+mn-ea"/>
              </a:rPr>
              <a:t>智能体执行任务的自主性要求</a:t>
            </a:r>
            <a:r>
              <a:rPr lang="zh-CN" altLang="en-US" sz="2000" dirty="0">
                <a:sym typeface="+mn-ea"/>
              </a:rPr>
              <a:t>更灵活的智能体授权</a:t>
            </a:r>
            <a:endParaRPr lang="zh-CN" altLang="en-US" sz="2000" dirty="0">
              <a:sym typeface="+mn-ea"/>
            </a:endParaRPr>
          </a:p>
          <a:p>
            <a:pPr marL="457200" lvl="1" indent="457200" fontAlgn="auto">
              <a:lnSpc>
                <a:spcPct val="150000"/>
              </a:lnSpc>
              <a:spcAft>
                <a:spcPts val="1200"/>
              </a:spcAft>
              <a:buNone/>
            </a:pPr>
            <a:r>
              <a:rPr lang="zh-CN" altLang="en-US" sz="2400" b="1" dirty="0">
                <a:solidFill>
                  <a:srgbClr val="04579A"/>
                </a:solidFill>
                <a:sym typeface="+mn-ea"/>
              </a:rPr>
              <a:t>对智能体的授权需要以</a:t>
            </a:r>
            <a:r>
              <a:rPr lang="zh-CN" altLang="en-US" sz="2400" b="1" dirty="0">
                <a:solidFill>
                  <a:srgbClr val="04579A"/>
                </a:solidFill>
                <a:sym typeface="+mn-ea"/>
              </a:rPr>
              <a:t>任务上下文为条件</a:t>
            </a:r>
            <a:endParaRPr lang="zh-CN" altLang="en-US" sz="2400" dirty="0">
              <a:solidFill>
                <a:srgbClr val="04579A"/>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endParaRPr lang="zh-CN" altLang="en-US" sz="2000" dirty="0">
              <a:solidFill>
                <a:schemeClr val="bg1">
                  <a:lumMod val="95000"/>
                </a:schemeClr>
              </a:solidFill>
              <a:sym typeface="+mn-ea"/>
            </a:endParaRP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endParaRPr lang="en-US" altLang="zh-CN" sz="2400" b="1" dirty="0">
              <a:solidFill>
                <a:schemeClr val="bg1">
                  <a:lumMod val="95000"/>
                </a:schemeClr>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4" name="燕尾形 3"/>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7</a:t>
            </a:r>
            <a:endParaRPr lang="zh-CN" altLang="en-US" dirty="0"/>
          </a:p>
        </p:txBody>
      </p:sp>
    </p:spTree>
    <p:custDataLst>
      <p:tags r:id="rId13"/>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 name="矩形 20"/>
          <p:cNvSpPr/>
          <p:nvPr/>
        </p:nvSpPr>
        <p:spPr>
          <a:xfrm>
            <a:off x="482600" y="3974147"/>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燕尾形 2"/>
          <p:cNvSpPr/>
          <p:nvPr>
            <p:custDataLst>
              <p:tags r:id="rId12"/>
            </p:custDataLst>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3"/>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智能体执行任务的自主性对智能体授权协议的授权粒度提出了更高的要求</a:t>
            </a:r>
            <a:endParaRPr lang="zh-CN" altLang="en-US" sz="2000" dirty="0">
              <a:solidFill>
                <a:schemeClr val="tx1">
                  <a:lumMod val="85000"/>
                  <a:lumOff val="15000"/>
                </a:schemeClr>
              </a:solidFill>
              <a:sym typeface="+mn-ea"/>
            </a:endParaRPr>
          </a:p>
          <a:p>
            <a:pPr lvl="1" indent="457200">
              <a:lnSpc>
                <a:spcPct val="150000"/>
              </a:lnSpc>
              <a:spcAft>
                <a:spcPts val="1200"/>
              </a:spcAft>
            </a:pPr>
            <a:r>
              <a:rPr lang="zh-CN" altLang="en-US" sz="2400" b="1" dirty="0">
                <a:solidFill>
                  <a:srgbClr val="04579A"/>
                </a:solidFill>
                <a:sym typeface="+mn-ea"/>
              </a:rPr>
              <a:t>智能体授权协议的授权粒度需要匹配具体任务级语义</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ym typeface="+mn-ea"/>
              </a:rPr>
              <a:t>智能体执行任务的自主性要求更灵活的智能体授权</a:t>
            </a:r>
            <a:endParaRPr lang="zh-CN" altLang="en-US" sz="2000" dirty="0">
              <a:sym typeface="+mn-ea"/>
            </a:endParaRPr>
          </a:p>
          <a:p>
            <a:pPr lvl="1" indent="457200">
              <a:lnSpc>
                <a:spcPct val="150000"/>
              </a:lnSpc>
              <a:spcAft>
                <a:spcPts val="1200"/>
              </a:spcAft>
            </a:pPr>
            <a:r>
              <a:rPr lang="zh-CN" altLang="en-US" sz="2400" b="1" dirty="0">
                <a:solidFill>
                  <a:srgbClr val="04579A"/>
                </a:solidFill>
                <a:sym typeface="+mn-ea"/>
              </a:rPr>
              <a:t>对智能体的授权需要以任务上下文为条件</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ym typeface="+mn-ea"/>
              </a:rPr>
              <a:t>异</a:t>
            </a:r>
            <a:endParaRPr lang="zh-CN" altLang="en-US" sz="2000" dirty="0">
              <a:sym typeface="+mn-ea"/>
            </a:endParaRPr>
          </a:p>
          <a:p>
            <a:pPr lvl="1" indent="457200">
              <a:lnSpc>
                <a:spcPct val="150000"/>
              </a:lnSpc>
            </a:pPr>
            <a:r>
              <a:rPr lang="zh-CN" altLang="en-US" sz="2400" b="1" dirty="0">
                <a:solidFill>
                  <a:srgbClr val="04579A"/>
                </a:solidFill>
                <a:sym typeface="+mn-ea"/>
              </a:rPr>
              <a:t>分</a:t>
            </a:r>
            <a:endParaRPr lang="zh-CN" altLang="en-US" sz="2400" b="1" dirty="0">
              <a:solidFill>
                <a:srgbClr val="04579A"/>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9" name="燕尾形 8"/>
          <p:cNvSpPr/>
          <p:nvPr>
            <p:custDataLst>
              <p:tags r:id="rId14"/>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11</a:t>
            </a:r>
            <a:endParaRPr lang="zh-CN" altLang="en-US" dirty="0"/>
          </a:p>
        </p:txBody>
      </p:sp>
      <p:sp>
        <p:nvSpPr>
          <p:cNvPr id="8" name="燕尾形 8"/>
          <p:cNvSpPr/>
          <p:nvPr>
            <p:custDataLst>
              <p:tags r:id="rId15"/>
            </p:custDataLst>
          </p:nvPr>
        </p:nvSpPr>
        <p:spPr>
          <a:xfrm>
            <a:off x="1019175" y="4656137"/>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6"/>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文本框 5"/>
          <p:cNvSpPr txBox="1"/>
          <p:nvPr/>
        </p:nvSpPr>
        <p:spPr>
          <a:xfrm>
            <a:off x="207010" y="1528445"/>
            <a:ext cx="11078845" cy="281495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1600" dirty="0">
                <a:solidFill>
                  <a:schemeClr val="bg1"/>
                </a:solidFill>
                <a:sym typeface="+mn-ea"/>
              </a:rPr>
              <a:t>广域网环境中延迟、丢包以及窃听等攻击对共识协议的健壮性提出了更高的要求</a:t>
            </a:r>
            <a:endParaRPr lang="zh-CN" altLang="en-US" sz="1600" dirty="0">
              <a:solidFill>
                <a:schemeClr val="bg1"/>
              </a:solidFill>
              <a:sym typeface="+mn-ea"/>
            </a:endParaRPr>
          </a:p>
          <a:p>
            <a:pPr marL="457200" lvl="1" indent="457200" fontAlgn="auto">
              <a:spcAft>
                <a:spcPts val="1200"/>
              </a:spcAft>
              <a:buNone/>
            </a:pPr>
            <a:r>
              <a:rPr lang="zh-CN" altLang="en-US" b="1" dirty="0">
                <a:solidFill>
                  <a:srgbClr val="04579A"/>
                </a:solidFill>
                <a:sym typeface="+mn-ea"/>
              </a:rPr>
              <a:t>智能体授权协议的授权粒度需要匹配</a:t>
            </a:r>
            <a:endParaRPr lang="zh-CN" altLang="en-US" b="1" dirty="0">
              <a:solidFill>
                <a:srgbClr val="04579A"/>
              </a:solidFill>
              <a:sym typeface="+mn-ea"/>
            </a:endParaRPr>
          </a:p>
          <a:p>
            <a:pPr marL="457200" lvl="1" indent="457200" fontAlgn="auto">
              <a:spcAft>
                <a:spcPts val="1200"/>
              </a:spcAft>
              <a:buNone/>
            </a:pPr>
            <a:r>
              <a:rPr lang="zh-CN" altLang="en-US" b="1" dirty="0">
                <a:solidFill>
                  <a:srgbClr val="04579A"/>
                </a:solidFill>
                <a:sym typeface="+mn-ea"/>
              </a:rPr>
              <a:t>具体任务级语义</a:t>
            </a:r>
            <a:r>
              <a:rPr lang="zh-CN" altLang="en-US" sz="1600" dirty="0">
                <a:solidFill>
                  <a:schemeClr val="bg1"/>
                </a:solidFill>
                <a:sym typeface="+mn-ea"/>
              </a:rPr>
              <a:t>有</a:t>
            </a:r>
            <a:endParaRPr lang="en-US" altLang="zh-CN" sz="1600" dirty="0">
              <a:solidFill>
                <a:schemeClr val="bg1"/>
              </a:solidFill>
              <a:sym typeface="+mn-ea"/>
            </a:endParaRPr>
          </a:p>
          <a:p>
            <a:pPr marL="457200" lvl="1" indent="457200" fontAlgn="auto">
              <a:spcAft>
                <a:spcPts val="1200"/>
              </a:spcAft>
              <a:buNone/>
            </a:pPr>
            <a:r>
              <a:rPr lang="zh-CN" altLang="en-US" sz="1600" dirty="0">
                <a:solidFill>
                  <a:schemeClr val="bg1"/>
                </a:solidFill>
                <a:sym typeface="+mn-ea"/>
              </a:rPr>
              <a:t>长期部署的需要</a:t>
            </a:r>
            <a:endParaRPr lang="zh-CN" altLang="en-US" sz="1600" dirty="0">
              <a:solidFill>
                <a:schemeClr val="bg1"/>
              </a:solidFill>
              <a:sym typeface="+mn-ea"/>
            </a:endParaRPr>
          </a:p>
          <a:p>
            <a:pPr marL="457200" lvl="1" indent="457200" fontAlgn="auto">
              <a:spcAft>
                <a:spcPts val="1200"/>
              </a:spcAft>
              <a:buNone/>
            </a:pPr>
            <a:r>
              <a:rPr lang="zh-CN" altLang="en-US" b="1" dirty="0">
                <a:solidFill>
                  <a:srgbClr val="04579A"/>
                </a:solidFill>
                <a:sym typeface="+mn-ea"/>
              </a:rPr>
              <a:t>对智能体的授权需要以任务上下文为条件</a:t>
            </a:r>
            <a:endParaRPr lang="en-US" altLang="zh-CN" b="1" dirty="0">
              <a:solidFill>
                <a:srgbClr val="04579A"/>
              </a:solidFill>
              <a:sym typeface="+mn-ea"/>
            </a:endParaRPr>
          </a:p>
          <a:p>
            <a:pPr marL="457200" lvl="1" indent="457200" fontAlgn="auto">
              <a:spcAft>
                <a:spcPts val="1200"/>
              </a:spcAft>
              <a:buNone/>
            </a:pPr>
            <a:r>
              <a:rPr lang="zh-CN" altLang="en-US" sz="100" dirty="0">
                <a:solidFill>
                  <a:schemeClr val="bg1"/>
                </a:solidFill>
                <a:sym typeface="+mn-ea"/>
              </a:rPr>
              <a:t>三方设置的门限密码系统减弱了区块链</a:t>
            </a:r>
            <a:r>
              <a:rPr lang="zh-CN" altLang="en-US" sz="600" dirty="0">
                <a:solidFill>
                  <a:schemeClr val="bg1"/>
                </a:solidFill>
                <a:sym typeface="+mn-ea"/>
              </a:rPr>
              <a:t>系统去中心化的特性</a:t>
            </a:r>
            <a:endParaRPr lang="zh-CN" altLang="en-US" sz="600" dirty="0">
              <a:solidFill>
                <a:schemeClr val="bg1"/>
              </a:solidFill>
              <a:sym typeface="+mn-ea"/>
            </a:endParaRPr>
          </a:p>
          <a:p>
            <a:pPr marL="457200" lvl="1" indent="457200" fontAlgn="auto">
              <a:lnSpc>
                <a:spcPct val="150000"/>
              </a:lnSpc>
              <a:buNone/>
            </a:pPr>
            <a:r>
              <a:rPr lang="zh-CN" altLang="en-US" b="1" dirty="0">
                <a:solidFill>
                  <a:srgbClr val="04579A"/>
                </a:solidFill>
                <a:sym typeface="+mn-ea"/>
              </a:rPr>
              <a:t>分</a:t>
            </a:r>
            <a:endParaRPr lang="zh-CN" altLang="en-US" b="1" dirty="0">
              <a:solidFill>
                <a:srgbClr val="04579A"/>
              </a:solidFill>
              <a:sym typeface="+mn-ea"/>
            </a:endParaRPr>
          </a:p>
        </p:txBody>
      </p:sp>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燕尾形 13"/>
          <p:cNvSpPr/>
          <p:nvPr>
            <p:custDataLst>
              <p:tags r:id="rId8"/>
            </p:custDataLst>
          </p:nvPr>
        </p:nvSpPr>
        <p:spPr>
          <a:xfrm>
            <a:off x="741680" y="2134870"/>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燕尾形 18"/>
          <p:cNvSpPr/>
          <p:nvPr>
            <p:custDataLst>
              <p:tags r:id="rId9"/>
            </p:custDataLst>
          </p:nvPr>
        </p:nvSpPr>
        <p:spPr>
          <a:xfrm>
            <a:off x="741362" y="3365262"/>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燕尾形 22"/>
          <p:cNvSpPr/>
          <p:nvPr>
            <p:custDataLst>
              <p:tags r:id="rId10"/>
            </p:custDataLst>
          </p:nvPr>
        </p:nvSpPr>
        <p:spPr>
          <a:xfrm>
            <a:off x="741361" y="4529045"/>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44359" y="1820765"/>
            <a:ext cx="4178861" cy="521970"/>
          </a:xfrm>
          <a:prstGeom prst="rect">
            <a:avLst/>
          </a:prstGeom>
          <a:noFill/>
        </p:spPr>
        <p:txBody>
          <a:bodyPr wrap="square" rtlCol="0">
            <a:spAutoFit/>
          </a:bodyPr>
          <a:lstStyle/>
          <a:p>
            <a:r>
              <a:rPr lang="en-US" altLang="zh-CN" sz="2800" b="1" dirty="0">
                <a:solidFill>
                  <a:schemeClr val="tx1">
                    <a:lumMod val="85000"/>
                    <a:lumOff val="15000"/>
                  </a:schemeClr>
                </a:solidFill>
              </a:rPr>
              <a:t>1.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智能体过度</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授权</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6994525" y="3140759"/>
            <a:ext cx="4178861" cy="521970"/>
          </a:xfrm>
          <a:prstGeom prst="rect">
            <a:avLst/>
          </a:prstGeom>
          <a:noFill/>
        </p:spPr>
        <p:txBody>
          <a:bodyPr wrap="square" rtlCol="0">
            <a:spAutoFit/>
          </a:bodyPr>
          <a:lstStyle/>
          <a:p>
            <a:r>
              <a:rPr lang="en-US" altLang="zh-CN" sz="2800" b="1" dirty="0">
                <a:solidFill>
                  <a:schemeClr val="tx1">
                    <a:lumMod val="85000"/>
                    <a:lumOff val="15000"/>
                  </a:schemeClr>
                </a:solidFill>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6994525" y="4327256"/>
            <a:ext cx="4456114" cy="521970"/>
          </a:xfrm>
          <a:prstGeom prst="rect">
            <a:avLst/>
          </a:prstGeom>
          <a:noFill/>
        </p:spPr>
        <p:txBody>
          <a:bodyPr wrap="square" rtlCol="0">
            <a:spAutoFit/>
          </a:bodyPr>
          <a:lstStyle/>
          <a:p>
            <a:r>
              <a:rPr lang="en-US" altLang="zh-CN" sz="2800" b="1" dirty="0">
                <a:solidFill>
                  <a:schemeClr val="tx1">
                    <a:lumMod val="85000"/>
                    <a:lumOff val="15000"/>
                  </a:schemeClr>
                </a:solidFill>
              </a:rPr>
              <a:t>3. </a:t>
            </a:r>
            <a:r>
              <a:rPr lang="zh-CN" altLang="en-US" sz="2000" b="1" dirty="0">
                <a:solidFill>
                  <a:schemeClr val="tx1">
                    <a:lumMod val="85000"/>
                    <a:lumOff val="15000"/>
                  </a:schemeClr>
                </a:solidFill>
              </a:rPr>
              <a:t>跨</a:t>
            </a:r>
            <a:endParaRPr lang="zh-CN" altLang="en-US" sz="2000" b="1" dirty="0">
              <a:solidFill>
                <a:schemeClr val="tx1">
                  <a:lumMod val="85000"/>
                  <a:lumOff val="15000"/>
                </a:schemeClr>
              </a:solidFill>
            </a:endParaRPr>
          </a:p>
        </p:txBody>
      </p:sp>
      <p:sp>
        <p:nvSpPr>
          <p:cNvPr id="22" name="虚尾箭头 21"/>
          <p:cNvSpPr/>
          <p:nvPr/>
        </p:nvSpPr>
        <p:spPr>
          <a:xfrm>
            <a:off x="6249034" y="2006282"/>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虚尾箭头 23"/>
          <p:cNvSpPr/>
          <p:nvPr/>
        </p:nvSpPr>
        <p:spPr>
          <a:xfrm>
            <a:off x="6249034" y="3202940"/>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虚尾箭头 24"/>
          <p:cNvSpPr/>
          <p:nvPr/>
        </p:nvSpPr>
        <p:spPr>
          <a:xfrm>
            <a:off x="6275643" y="4400457"/>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custDataLst>
              <p:tags r:id="rId11"/>
            </p:custDataLst>
          </p:nvPr>
        </p:nvSpPr>
        <p:spPr>
          <a:xfrm>
            <a:off x="758190" y="5840095"/>
            <a:ext cx="10528300" cy="398780"/>
          </a:xfrm>
          <a:prstGeom prst="rect">
            <a:avLst/>
          </a:prstGeom>
          <a:noFill/>
        </p:spPr>
        <p:txBody>
          <a:bodyPr wrap="square" rtlCol="0" anchor="t">
            <a:spAutoFit/>
          </a:bodyPr>
          <a:lstStyle/>
          <a:p>
            <a:pPr algn="ctr"/>
            <a:r>
              <a:rPr lang="zh-CN" altLang="en-US" sz="2000" b="1" dirty="0"/>
              <a:t>要应对新场景下特有的技术挑战，构建双重约束的智能体授权</a:t>
            </a:r>
            <a:r>
              <a:rPr lang="zh-CN" altLang="en-US" sz="2000" b="1" dirty="0"/>
              <a:t>协议</a:t>
            </a:r>
            <a:endParaRPr lang="zh-CN" altLang="en-US" sz="2000" b="1" dirty="0"/>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14</a:t>
            </a:r>
            <a:endParaRPr lang="zh-CN" altLang="en-US" dirty="0"/>
          </a:p>
        </p:txBody>
      </p:sp>
    </p:spTree>
    <p:custDataLst>
      <p:tags r:id="rId1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7" grpId="0"/>
      <p:bldP spid="22" grpId="0" bldLvl="0" animBg="1"/>
      <p:bldP spid="24" grpId="0" bldLvl="0" animBg="1"/>
      <p:bldP spid="2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梯形 145"/>
          <p:cNvSpPr/>
          <p:nvPr>
            <p:custDataLst>
              <p:tags r:id="rId1"/>
            </p:custDataLst>
          </p:nvPr>
        </p:nvSpPr>
        <p:spPr>
          <a:xfrm rot="16200000">
            <a:off x="5601335" y="-22225"/>
            <a:ext cx="2843530" cy="1033907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梯形 144"/>
          <p:cNvSpPr/>
          <p:nvPr>
            <p:custDataLst>
              <p:tags r:id="rId2"/>
            </p:custDataLst>
          </p:nvPr>
        </p:nvSpPr>
        <p:spPr>
          <a:xfrm rot="16200000">
            <a:off x="5372735" y="-3131185"/>
            <a:ext cx="2021205" cy="1169162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a:stCxn id="130" idx="6"/>
            <a:endCxn id="135" idx="2"/>
          </p:cNvCxnSpPr>
          <p:nvPr>
            <p:custDataLst>
              <p:tags r:id="rId3"/>
            </p:custDataLst>
          </p:nvPr>
        </p:nvCxnSpPr>
        <p:spPr>
          <a:xfrm flipV="1">
            <a:off x="8378839" y="3706178"/>
            <a:ext cx="2064371" cy="1936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custDataLst>
              <p:tags r:id="rId4"/>
            </p:custDataLst>
          </p:nvPr>
        </p:nvCxnSpPr>
        <p:spPr>
          <a:xfrm flipV="1">
            <a:off x="10528300" y="3702050"/>
            <a:ext cx="0" cy="194950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5"/>
            </p:custDataLst>
          </p:nvPr>
        </p:nvCxnSpPr>
        <p:spPr>
          <a:xfrm flipV="1">
            <a:off x="8293749" y="2085656"/>
            <a:ext cx="0" cy="164020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肘形连接符 127"/>
          <p:cNvCxnSpPr/>
          <p:nvPr>
            <p:custDataLst>
              <p:tags r:id="rId6"/>
            </p:custDataLst>
          </p:nvPr>
        </p:nvCxnSpPr>
        <p:spPr>
          <a:xfrm rot="16200000" flipH="1">
            <a:off x="6190864" y="4613342"/>
            <a:ext cx="1559700" cy="3"/>
          </a:xfrm>
          <a:prstGeom prst="bentConnector3">
            <a:avLst>
              <a:gd name="adj1" fmla="val 50000"/>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椭圆 9"/>
          <p:cNvSpPr/>
          <p:nvPr>
            <p:custDataLst>
              <p:tags r:id="rId7"/>
            </p:custDataLst>
          </p:nvPr>
        </p:nvSpPr>
        <p:spPr>
          <a:xfrm>
            <a:off x="0"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8"/>
            </p:custDataLst>
          </p:nvPr>
        </p:nvSpPr>
        <p:spPr>
          <a:xfrm>
            <a:off x="221615"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9"/>
            </p:custDataLst>
          </p:nvPr>
        </p:nvSpPr>
        <p:spPr>
          <a:xfrm>
            <a:off x="664845"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custDataLst>
              <p:tags r:id="rId10"/>
            </p:custDataLst>
          </p:nvPr>
        </p:nvSpPr>
        <p:spPr>
          <a:xfrm>
            <a:off x="939800"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1"/>
            </p:custDataLst>
          </p:nvPr>
        </p:nvSpPr>
        <p:spPr>
          <a:xfrm>
            <a:off x="1161415" y="366712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12"/>
            </p:custDataLst>
          </p:nvPr>
        </p:nvSpPr>
        <p:spPr>
          <a:xfrm>
            <a:off x="1383030" y="366776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3"/>
            </p:custDataLst>
          </p:nvPr>
        </p:nvSpPr>
        <p:spPr>
          <a:xfrm>
            <a:off x="1604645" y="366839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custDataLst>
              <p:tags r:id="rId14"/>
            </p:custDataLst>
          </p:nvPr>
        </p:nvSpPr>
        <p:spPr>
          <a:xfrm>
            <a:off x="18262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5"/>
            </p:custDataLst>
          </p:nvPr>
        </p:nvSpPr>
        <p:spPr>
          <a:xfrm>
            <a:off x="20478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6"/>
            </p:custDataLst>
          </p:nvPr>
        </p:nvSpPr>
        <p:spPr>
          <a:xfrm>
            <a:off x="22694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custDataLst>
              <p:tags r:id="rId17"/>
            </p:custDataLst>
          </p:nvPr>
        </p:nvSpPr>
        <p:spPr>
          <a:xfrm>
            <a:off x="24911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18"/>
            </p:custDataLst>
          </p:nvPr>
        </p:nvSpPr>
        <p:spPr>
          <a:xfrm>
            <a:off x="27127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9"/>
            </p:custDataLst>
          </p:nvPr>
        </p:nvSpPr>
        <p:spPr>
          <a:xfrm>
            <a:off x="29343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custDataLst>
              <p:tags r:id="rId20"/>
            </p:custDataLst>
          </p:nvPr>
        </p:nvSpPr>
        <p:spPr>
          <a:xfrm>
            <a:off x="31559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21"/>
            </p:custDataLst>
          </p:nvPr>
        </p:nvSpPr>
        <p:spPr>
          <a:xfrm>
            <a:off x="40424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22"/>
            </p:custDataLst>
          </p:nvPr>
        </p:nvSpPr>
        <p:spPr>
          <a:xfrm>
            <a:off x="42640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23"/>
            </p:custDataLst>
          </p:nvPr>
        </p:nvSpPr>
        <p:spPr>
          <a:xfrm>
            <a:off x="44856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24"/>
            </p:custDataLst>
          </p:nvPr>
        </p:nvSpPr>
        <p:spPr>
          <a:xfrm>
            <a:off x="47072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25"/>
            </p:custDataLst>
          </p:nvPr>
        </p:nvSpPr>
        <p:spPr>
          <a:xfrm>
            <a:off x="49288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custDataLst>
              <p:tags r:id="rId26"/>
            </p:custDataLst>
          </p:nvPr>
        </p:nvSpPr>
        <p:spPr>
          <a:xfrm>
            <a:off x="537210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custDataLst>
              <p:tags r:id="rId27"/>
            </p:custDataLst>
          </p:nvPr>
        </p:nvSpPr>
        <p:spPr>
          <a:xfrm>
            <a:off x="55937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28"/>
            </p:custDataLst>
          </p:nvPr>
        </p:nvSpPr>
        <p:spPr>
          <a:xfrm>
            <a:off x="58153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custDataLst>
              <p:tags r:id="rId29"/>
            </p:custDataLst>
          </p:nvPr>
        </p:nvSpPr>
        <p:spPr>
          <a:xfrm>
            <a:off x="62585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custDataLst>
              <p:tags r:id="rId30"/>
            </p:custDataLst>
          </p:nvPr>
        </p:nvSpPr>
        <p:spPr>
          <a:xfrm>
            <a:off x="64801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custDataLst>
              <p:tags r:id="rId31"/>
            </p:custDataLst>
          </p:nvPr>
        </p:nvSpPr>
        <p:spPr>
          <a:xfrm>
            <a:off x="67017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custDataLst>
              <p:tags r:id="rId32"/>
            </p:custDataLst>
          </p:nvPr>
        </p:nvSpPr>
        <p:spPr>
          <a:xfrm>
            <a:off x="71450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33"/>
            </p:custDataLst>
          </p:nvPr>
        </p:nvSpPr>
        <p:spPr>
          <a:xfrm>
            <a:off x="73666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34"/>
            </p:custDataLst>
          </p:nvPr>
        </p:nvSpPr>
        <p:spPr>
          <a:xfrm>
            <a:off x="75882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custDataLst>
              <p:tags r:id="rId35"/>
            </p:custDataLst>
          </p:nvPr>
        </p:nvSpPr>
        <p:spPr>
          <a:xfrm>
            <a:off x="780986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custDataLst>
              <p:tags r:id="rId36"/>
            </p:custDataLst>
          </p:nvPr>
        </p:nvSpPr>
        <p:spPr>
          <a:xfrm>
            <a:off x="803148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37"/>
            </p:custDataLst>
          </p:nvPr>
        </p:nvSpPr>
        <p:spPr>
          <a:xfrm>
            <a:off x="84747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38"/>
            </p:custDataLst>
          </p:nvPr>
        </p:nvSpPr>
        <p:spPr>
          <a:xfrm>
            <a:off x="86963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custDataLst>
              <p:tags r:id="rId39"/>
            </p:custDataLst>
          </p:nvPr>
        </p:nvSpPr>
        <p:spPr>
          <a:xfrm>
            <a:off x="89179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40"/>
            </p:custDataLst>
          </p:nvPr>
        </p:nvSpPr>
        <p:spPr>
          <a:xfrm>
            <a:off x="91395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41"/>
            </p:custDataLst>
          </p:nvPr>
        </p:nvSpPr>
        <p:spPr>
          <a:xfrm>
            <a:off x="93611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custDataLst>
              <p:tags r:id="rId42"/>
            </p:custDataLst>
          </p:nvPr>
        </p:nvSpPr>
        <p:spPr>
          <a:xfrm>
            <a:off x="958278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custDataLst>
              <p:tags r:id="rId43"/>
            </p:custDataLst>
          </p:nvPr>
        </p:nvSpPr>
        <p:spPr>
          <a:xfrm>
            <a:off x="8284224" y="3688396"/>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custDataLst>
              <p:tags r:id="rId44"/>
            </p:custDataLst>
          </p:nvPr>
        </p:nvSpPr>
        <p:spPr>
          <a:xfrm>
            <a:off x="100260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custDataLst>
              <p:tags r:id="rId45"/>
            </p:custDataLst>
          </p:nvPr>
        </p:nvSpPr>
        <p:spPr>
          <a:xfrm>
            <a:off x="102476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custDataLst>
              <p:tags r:id="rId46"/>
            </p:custDataLst>
          </p:nvPr>
        </p:nvSpPr>
        <p:spPr>
          <a:xfrm>
            <a:off x="1046924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custDataLst>
              <p:tags r:id="rId47"/>
            </p:custDataLst>
          </p:nvPr>
        </p:nvSpPr>
        <p:spPr>
          <a:xfrm>
            <a:off x="106908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custDataLst>
              <p:tags r:id="rId48"/>
            </p:custDataLst>
          </p:nvPr>
        </p:nvSpPr>
        <p:spPr>
          <a:xfrm>
            <a:off x="109124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custDataLst>
              <p:tags r:id="rId49"/>
            </p:custDataLst>
          </p:nvPr>
        </p:nvSpPr>
        <p:spPr>
          <a:xfrm>
            <a:off x="111340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custDataLst>
              <p:tags r:id="rId50"/>
            </p:custDataLst>
          </p:nvPr>
        </p:nvSpPr>
        <p:spPr>
          <a:xfrm>
            <a:off x="113557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custDataLst>
              <p:tags r:id="rId51"/>
            </p:custDataLst>
          </p:nvPr>
        </p:nvSpPr>
        <p:spPr>
          <a:xfrm>
            <a:off x="115773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custDataLst>
              <p:tags r:id="rId52"/>
            </p:custDataLst>
          </p:nvPr>
        </p:nvSpPr>
        <p:spPr>
          <a:xfrm>
            <a:off x="117989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custDataLst>
              <p:tags r:id="rId53"/>
            </p:custDataLst>
          </p:nvPr>
        </p:nvSpPr>
        <p:spPr>
          <a:xfrm>
            <a:off x="120205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8" name="直接连接符 97"/>
          <p:cNvCxnSpPr>
            <a:stCxn id="41" idx="0"/>
          </p:cNvCxnSpPr>
          <p:nvPr>
            <p:custDataLst>
              <p:tags r:id="rId54"/>
            </p:custDataLst>
          </p:nvPr>
        </p:nvCxnSpPr>
        <p:spPr>
          <a:xfrm flipV="1">
            <a:off x="506095" y="1845310"/>
            <a:ext cx="0" cy="178054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9" name="椭圆 98"/>
          <p:cNvSpPr/>
          <p:nvPr>
            <p:custDataLst>
              <p:tags r:id="rId55"/>
            </p:custDataLst>
          </p:nvPr>
        </p:nvSpPr>
        <p:spPr>
          <a:xfrm>
            <a:off x="456565" y="290766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custDataLst>
              <p:tags r:id="rId56"/>
            </p:custDataLst>
          </p:nvPr>
        </p:nvSpPr>
        <p:spPr>
          <a:xfrm>
            <a:off x="499110" y="1974101"/>
            <a:ext cx="1862453" cy="1276350"/>
          </a:xfrm>
          <a:prstGeom prst="rect">
            <a:avLst/>
          </a:prstGeom>
          <a:noFill/>
        </p:spPr>
        <p:txBody>
          <a:bodyPr wrap="square" rtlCol="0">
            <a:spAutoFit/>
          </a:bodyPr>
          <a:lstStyle/>
          <a:p>
            <a:pPr marL="171450" indent="-171450" fontAlgn="auto">
              <a:spcBef>
                <a:spcPts val="600"/>
              </a:spcBef>
              <a:spcAft>
                <a:spcPts val="600"/>
              </a:spcAft>
              <a:buFont typeface="Arial" panose="020B0604020202020204" pitchFamily="34" charset="0"/>
              <a:buChar char="•"/>
            </a:pPr>
            <a:r>
              <a:rPr lang="zh-CN" altLang="en-US" sz="1200" dirty="0">
                <a:solidFill>
                  <a:schemeClr val="tx1">
                    <a:lumMod val="65000"/>
                    <a:lumOff val="35000"/>
                  </a:schemeClr>
                </a:solidFill>
              </a:rPr>
              <a:t>揭露</a:t>
            </a:r>
            <a:r>
              <a:rPr lang="en-US" altLang="zh-CN" sz="1200" dirty="0">
                <a:solidFill>
                  <a:schemeClr val="tx1">
                    <a:lumMod val="65000"/>
                    <a:lumOff val="35000"/>
                  </a:schemeClr>
                </a:solidFill>
              </a:rPr>
              <a:t>OAuth</a:t>
            </a:r>
            <a:r>
              <a:rPr lang="zh-CN" altLang="en-US" sz="1200" dirty="0">
                <a:solidFill>
                  <a:schemeClr val="tx1">
                    <a:lumMod val="65000"/>
                    <a:lumOff val="35000"/>
                  </a:schemeClr>
                </a:solidFill>
              </a:rPr>
              <a:t>在智能体授权场景不足以完全表达授权需</a:t>
            </a:r>
            <a:r>
              <a:rPr lang="zh-CN" altLang="en-US" sz="1200" dirty="0">
                <a:solidFill>
                  <a:schemeClr val="tx1">
                    <a:lumMod val="65000"/>
                    <a:lumOff val="35000"/>
                  </a:schemeClr>
                </a:solidFill>
              </a:rPr>
              <a:t>要</a:t>
            </a:r>
            <a:endParaRPr lang="zh-CN" altLang="en-US" sz="1200" dirty="0">
              <a:solidFill>
                <a:schemeClr val="tx1">
                  <a:lumMod val="65000"/>
                  <a:lumOff val="35000"/>
                </a:schemeClr>
              </a:solidFill>
            </a:endParaRPr>
          </a:p>
          <a:p>
            <a:pPr indent="0">
              <a:buFont typeface="Arial" panose="020B0604020202020204" pitchFamily="34" charset="0"/>
              <a:buNone/>
            </a:pPr>
            <a:r>
              <a:rPr lang="zh-CN" altLang="en-US" b="1" dirty="0">
                <a:solidFill>
                  <a:schemeClr val="tx1">
                    <a:lumMod val="65000"/>
                    <a:lumOff val="35000"/>
                  </a:schemeClr>
                </a:solidFill>
              </a:rPr>
              <a:t>  </a:t>
            </a:r>
            <a:r>
              <a:rPr lang="en-US" altLang="zh-CN" b="1" dirty="0">
                <a:solidFill>
                  <a:schemeClr val="tx1">
                    <a:lumMod val="65000"/>
                    <a:lumOff val="35000"/>
                  </a:schemeClr>
                </a:solidFill>
              </a:rPr>
              <a:t>OAuth is not        enough</a:t>
            </a:r>
            <a:endParaRPr lang="en-US" altLang="zh-CN" b="1" dirty="0">
              <a:solidFill>
                <a:schemeClr val="tx1">
                  <a:lumMod val="65000"/>
                  <a:lumOff val="35000"/>
                </a:schemeClr>
              </a:solidFill>
            </a:endParaRPr>
          </a:p>
        </p:txBody>
      </p:sp>
      <p:cxnSp>
        <p:nvCxnSpPr>
          <p:cNvPr id="103" name="直接连接符 102"/>
          <p:cNvCxnSpPr/>
          <p:nvPr>
            <p:custDataLst>
              <p:tags r:id="rId57"/>
            </p:custDataLst>
          </p:nvPr>
        </p:nvCxnSpPr>
        <p:spPr>
          <a:xfrm flipH="1" flipV="1">
            <a:off x="1854200" y="3786505"/>
            <a:ext cx="19367" cy="2054225"/>
          </a:xfrm>
          <a:prstGeom prst="line">
            <a:avLst/>
          </a:prstGeom>
          <a:ln w="12700">
            <a:solidFill>
              <a:schemeClr val="bg1">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2" name="椭圆 101"/>
          <p:cNvSpPr/>
          <p:nvPr>
            <p:custDataLst>
              <p:tags r:id="rId58"/>
            </p:custDataLst>
          </p:nvPr>
        </p:nvSpPr>
        <p:spPr>
          <a:xfrm>
            <a:off x="1778000"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文本框 103"/>
          <p:cNvSpPr txBox="1"/>
          <p:nvPr>
            <p:custDataLst>
              <p:tags r:id="rId59"/>
            </p:custDataLst>
          </p:nvPr>
        </p:nvSpPr>
        <p:spPr>
          <a:xfrm>
            <a:off x="1853565" y="3872865"/>
            <a:ext cx="3169920" cy="706755"/>
          </a:xfrm>
          <a:prstGeom prst="rect">
            <a:avLst/>
          </a:prstGeom>
          <a:noFill/>
        </p:spPr>
        <p:txBody>
          <a:bodyPr wrap="square" rtlCol="0">
            <a:spAutoFit/>
          </a:bodyPr>
          <a:lstStyle/>
          <a:p>
            <a:r>
              <a:rPr lang="en-US" altLang="zh-CN" sz="2000" b="1" dirty="0">
                <a:solidFill>
                  <a:schemeClr val="tx1">
                    <a:lumMod val="65000"/>
                    <a:lumOff val="35000"/>
                  </a:schemeClr>
                </a:solidFill>
                <a:latin typeface="微软雅黑" panose="020B0503020204020204" charset="-122"/>
                <a:ea typeface="微软雅黑" panose="020B0503020204020204" charset="-122"/>
              </a:rPr>
              <a:t>Security and Privacy of LLM-Based Agents</a:t>
            </a:r>
            <a:endParaRPr lang="zh-CN" altLang="en-US" sz="2000" b="1" dirty="0">
              <a:solidFill>
                <a:schemeClr val="tx1">
                  <a:lumMod val="65000"/>
                  <a:lumOff val="35000"/>
                </a:schemeClr>
              </a:solidFill>
              <a:latin typeface="微软雅黑" panose="020B0503020204020204" charset="-122"/>
              <a:ea typeface="微软雅黑" panose="020B0503020204020204" charset="-122"/>
            </a:endParaRPr>
          </a:p>
        </p:txBody>
      </p:sp>
      <p:sp>
        <p:nvSpPr>
          <p:cNvPr id="105" name="文本框 104"/>
          <p:cNvSpPr txBox="1"/>
          <p:nvPr>
            <p:custDataLst>
              <p:tags r:id="rId60"/>
            </p:custDataLst>
          </p:nvPr>
        </p:nvSpPr>
        <p:spPr>
          <a:xfrm>
            <a:off x="1903730" y="4696460"/>
            <a:ext cx="2853052" cy="829945"/>
          </a:xfrm>
          <a:prstGeom prst="rect">
            <a:avLst/>
          </a:prstGeom>
          <a:noFill/>
        </p:spPr>
        <p:txBody>
          <a:bodyPr wrap="square" rtlCol="0">
            <a:spAutoFit/>
          </a:bodyPr>
          <a:lstStyle/>
          <a:p>
            <a:pPr marL="171450" indent="-171450" algn="l" fontAlgn="auto">
              <a:spcBef>
                <a:spcPts val="0"/>
              </a:spcBef>
              <a:spcAft>
                <a:spcPts val="600"/>
              </a:spcAft>
              <a:buClrTx/>
              <a:buSzTx/>
              <a:buFont typeface="Arial" panose="020B0604020202020204" pitchFamily="34" charset="0"/>
              <a:buChar char="•"/>
            </a:pPr>
            <a:r>
              <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将过度授权列</a:t>
            </a:r>
            <a:r>
              <a:rPr lang="en-US" altLang="zh-CN"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Agent</a:t>
            </a:r>
            <a:r>
              <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核心安全风险之一，指出当前</a:t>
            </a:r>
            <a:r>
              <a:rPr lang="en-US" altLang="zh-CN"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Agent</a:t>
            </a:r>
            <a:r>
              <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框架普遍将工具</a:t>
            </a:r>
            <a:r>
              <a:rPr lang="en-US" altLang="zh-CN"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API</a:t>
            </a:r>
            <a:r>
              <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密钥以宽泛权限配置给</a:t>
            </a:r>
            <a:r>
              <a:rPr lang="en-US" altLang="zh-CN"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Agent</a:t>
            </a:r>
            <a:r>
              <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，形成永久暴露面</a:t>
            </a:r>
            <a:endParaRPr lang="zh-CN" altLang="en-US" sz="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06" name="椭圆 105"/>
          <p:cNvSpPr/>
          <p:nvPr>
            <p:custDataLst>
              <p:tags r:id="rId61"/>
            </p:custDataLst>
          </p:nvPr>
        </p:nvSpPr>
        <p:spPr>
          <a:xfrm>
            <a:off x="1809115"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文本框 114"/>
          <p:cNvSpPr txBox="1"/>
          <p:nvPr>
            <p:custDataLst>
              <p:tags r:id="rId62"/>
            </p:custDataLst>
          </p:nvPr>
        </p:nvSpPr>
        <p:spPr>
          <a:xfrm>
            <a:off x="5206365" y="2596992"/>
            <a:ext cx="2476500" cy="368300"/>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H</a:t>
            </a:r>
            <a:endParaRPr lang="en-US" altLang="zh-CN" b="1" dirty="0">
              <a:solidFill>
                <a:schemeClr val="tx1">
                  <a:lumMod val="65000"/>
                  <a:lumOff val="35000"/>
                </a:schemeClr>
              </a:solidFill>
              <a:latin typeface="微软雅黑" panose="020B0503020204020204" charset="-122"/>
              <a:ea typeface="微软雅黑" panose="020B0503020204020204" charset="-122"/>
            </a:endParaRPr>
          </a:p>
        </p:txBody>
      </p:sp>
      <p:sp>
        <p:nvSpPr>
          <p:cNvPr id="116" name="文本框 115"/>
          <p:cNvSpPr txBox="1"/>
          <p:nvPr>
            <p:custDataLst>
              <p:tags r:id="rId63"/>
            </p:custDataLst>
          </p:nvPr>
        </p:nvSpPr>
        <p:spPr>
          <a:xfrm>
            <a:off x="5164137" y="1930139"/>
            <a:ext cx="2188845" cy="312420"/>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a:t>
            </a:r>
            <a:endParaRPr sz="1200" dirty="0">
              <a:solidFill>
                <a:schemeClr val="tx1">
                  <a:lumMod val="65000"/>
                  <a:lumOff val="35000"/>
                </a:schemeClr>
              </a:solidFill>
            </a:endParaRPr>
          </a:p>
        </p:txBody>
      </p:sp>
      <p:sp>
        <p:nvSpPr>
          <p:cNvPr id="119" name="文本框 118"/>
          <p:cNvSpPr txBox="1"/>
          <p:nvPr>
            <p:custDataLst>
              <p:tags r:id="rId64"/>
            </p:custDataLst>
          </p:nvPr>
        </p:nvSpPr>
        <p:spPr>
          <a:xfrm>
            <a:off x="10551969" y="3904142"/>
            <a:ext cx="1209030" cy="368300"/>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a:t>
            </a:r>
            <a:endParaRPr lang="en-US" altLang="zh-CN" b="1" dirty="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20" name="文本框 119"/>
          <p:cNvSpPr txBox="1"/>
          <p:nvPr>
            <p:custDataLst>
              <p:tags r:id="rId65"/>
            </p:custDataLst>
          </p:nvPr>
        </p:nvSpPr>
        <p:spPr>
          <a:xfrm>
            <a:off x="10531516" y="4528251"/>
            <a:ext cx="1660484" cy="312420"/>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a:t>
            </a:r>
            <a:endParaRPr lang="zh-CN" altLang="en-US" sz="1200" dirty="0">
              <a:solidFill>
                <a:schemeClr val="tx1">
                  <a:lumMod val="65000"/>
                  <a:lumOff val="35000"/>
                </a:schemeClr>
              </a:solidFill>
            </a:endParaRPr>
          </a:p>
        </p:txBody>
      </p:sp>
      <p:sp>
        <p:nvSpPr>
          <p:cNvPr id="130" name="椭圆 129"/>
          <p:cNvSpPr/>
          <p:nvPr>
            <p:custDataLst>
              <p:tags r:id="rId66"/>
            </p:custDataLst>
          </p:nvPr>
        </p:nvSpPr>
        <p:spPr>
          <a:xfrm>
            <a:off x="8218184" y="3645216"/>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custDataLst>
              <p:tags r:id="rId67"/>
            </p:custDataLst>
          </p:nvPr>
        </p:nvSpPr>
        <p:spPr>
          <a:xfrm>
            <a:off x="8394721" y="2408205"/>
            <a:ext cx="2080852" cy="368300"/>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B</a:t>
            </a:r>
            <a:endParaRPr lang="en-US" altLang="zh-CN" sz="2000" b="1" dirty="0">
              <a:solidFill>
                <a:schemeClr val="tx1">
                  <a:lumMod val="65000"/>
                  <a:lumOff val="35000"/>
                </a:schemeClr>
              </a:solidFill>
              <a:latin typeface="微软雅黑" panose="020B0503020204020204" charset="-122"/>
              <a:ea typeface="微软雅黑" panose="020B0503020204020204" charset="-122"/>
            </a:endParaRPr>
          </a:p>
        </p:txBody>
      </p:sp>
      <p:sp>
        <p:nvSpPr>
          <p:cNvPr id="133" name="文本框 132"/>
          <p:cNvSpPr txBox="1"/>
          <p:nvPr>
            <p:custDataLst>
              <p:tags r:id="rId68"/>
            </p:custDataLst>
          </p:nvPr>
        </p:nvSpPr>
        <p:spPr>
          <a:xfrm>
            <a:off x="8284224" y="1974532"/>
            <a:ext cx="1857375" cy="312420"/>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en-US" altLang="zh-CN" sz="1200" dirty="0" err="1">
                <a:solidFill>
                  <a:schemeClr val="tx1">
                    <a:lumMod val="65000"/>
                    <a:lumOff val="35000"/>
                  </a:schemeClr>
                </a:solidFill>
              </a:rPr>
              <a:t>P</a:t>
            </a:r>
            <a:endParaRPr lang="zh-CN" sz="1200" dirty="0">
              <a:solidFill>
                <a:schemeClr val="tx1">
                  <a:lumMod val="65000"/>
                  <a:lumOff val="35000"/>
                </a:schemeClr>
              </a:solidFill>
            </a:endParaRPr>
          </a:p>
        </p:txBody>
      </p:sp>
      <p:sp>
        <p:nvSpPr>
          <p:cNvPr id="134" name="椭圆 133"/>
          <p:cNvSpPr/>
          <p:nvPr>
            <p:custDataLst>
              <p:tags r:id="rId69"/>
            </p:custDataLst>
          </p:nvPr>
        </p:nvSpPr>
        <p:spPr>
          <a:xfrm>
            <a:off x="8246124" y="2775266"/>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70"/>
            </p:custDataLst>
          </p:nvPr>
        </p:nvSpPr>
        <p:spPr>
          <a:xfrm>
            <a:off x="1044321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71"/>
            </p:custDataLst>
          </p:nvPr>
        </p:nvSpPr>
        <p:spPr>
          <a:xfrm>
            <a:off x="10490200"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72"/>
            </p:custDataLst>
          </p:nvPr>
        </p:nvSpPr>
        <p:spPr>
          <a:xfrm>
            <a:off x="4432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73"/>
            </p:custDataLst>
          </p:nvPr>
        </p:nvSpPr>
        <p:spPr>
          <a:xfrm>
            <a:off x="42545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custDataLst>
              <p:tags r:id="rId74"/>
            </p:custDataLst>
          </p:nvPr>
        </p:nvCxnSpPr>
        <p:spPr>
          <a:xfrm>
            <a:off x="3383280" y="3716655"/>
            <a:ext cx="488950" cy="0"/>
          </a:xfrm>
          <a:prstGeom prst="line">
            <a:avLst/>
          </a:prstGeom>
          <a:ln w="412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8" name="文本框 47"/>
          <p:cNvSpPr txBox="1"/>
          <p:nvPr>
            <p:custDataLst>
              <p:tags r:id="rId75"/>
            </p:custDataLst>
          </p:nvPr>
        </p:nvSpPr>
        <p:spPr>
          <a:xfrm>
            <a:off x="408304" y="949960"/>
            <a:ext cx="7623175" cy="460375"/>
          </a:xfrm>
          <a:prstGeom prst="rect">
            <a:avLst/>
          </a:prstGeom>
          <a:noFill/>
        </p:spPr>
        <p:txBody>
          <a:bodyPr wrap="square" rtlCol="0">
            <a:spAutoFit/>
          </a:bodyPr>
          <a:lstStyle/>
          <a:p>
            <a:pPr marL="457200" indent="-457200">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智能体过度授权</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grpSp>
        <p:nvGrpSpPr>
          <p:cNvPr id="97" name="组合 96"/>
          <p:cNvGrpSpPr/>
          <p:nvPr/>
        </p:nvGrpSpPr>
        <p:grpSpPr>
          <a:xfrm>
            <a:off x="408305" y="-635"/>
            <a:ext cx="11783060" cy="950595"/>
            <a:chOff x="643" y="-1"/>
            <a:chExt cx="18556" cy="1497"/>
          </a:xfrm>
        </p:grpSpPr>
        <p:sp>
          <p:nvSpPr>
            <p:cNvPr id="107" name="矩形 106"/>
            <p:cNvSpPr/>
            <p:nvPr>
              <p:custDataLst>
                <p:tags r:id="rId76"/>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77"/>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78"/>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79"/>
              </p:custDataLst>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80"/>
              </p:custDataLst>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custDataLst>
                <p:tags r:id="rId81"/>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22" name="Picture 2" descr="C:\Program Files\Apache Software Foundation\Tomcat 6.0\webapps\topo1\images\sklois1 (2).jpg"/>
            <p:cNvPicPr>
              <a:picLocks noChangeAspect="1" noChangeArrowheads="1"/>
            </p:cNvPicPr>
            <p:nvPr>
              <p:custDataLst>
                <p:tags r:id="rId82"/>
              </p:custDataLst>
            </p:nvPr>
          </p:nvPicPr>
          <p:blipFill>
            <a:blip r:embed="rId83"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 name="等腰三角形 122"/>
            <p:cNvSpPr/>
            <p:nvPr>
              <p:custDataLst>
                <p:tags r:id="rId84"/>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p:custDataLst>
              <p:tags r:id="rId85"/>
            </p:custDataLst>
          </p:nvPr>
        </p:nvSpPr>
        <p:spPr>
          <a:xfrm>
            <a:off x="5126355" y="367157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custDataLst>
              <p:tags r:id="rId86"/>
            </p:custDataLst>
          </p:nvPr>
        </p:nvCxnSpPr>
        <p:spPr>
          <a:xfrm flipV="1">
            <a:off x="5182870" y="2002155"/>
            <a:ext cx="0" cy="162623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5" name="椭圆 94"/>
          <p:cNvSpPr/>
          <p:nvPr>
            <p:custDataLst>
              <p:tags r:id="rId87"/>
            </p:custDataLst>
          </p:nvPr>
        </p:nvSpPr>
        <p:spPr>
          <a:xfrm>
            <a:off x="5137785" y="275590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custDataLst>
              <p:tags r:id="rId88"/>
            </p:custDataLst>
          </p:nvPr>
        </p:nvSpPr>
        <p:spPr>
          <a:xfrm>
            <a:off x="5102225" y="362839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custDataLst>
              <p:tags r:id="rId89"/>
            </p:custDataLst>
          </p:nvPr>
        </p:nvSpPr>
        <p:spPr>
          <a:xfrm>
            <a:off x="6038297" y="3669607"/>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custDataLst>
              <p:tags r:id="rId90"/>
            </p:custDataLst>
          </p:nvPr>
        </p:nvSpPr>
        <p:spPr>
          <a:xfrm>
            <a:off x="6902132" y="367792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91"/>
            </p:custDataLst>
          </p:nvPr>
        </p:nvSpPr>
        <p:spPr>
          <a:xfrm>
            <a:off x="6884352"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92"/>
            </p:custDataLst>
          </p:nvPr>
        </p:nvSpPr>
        <p:spPr>
          <a:xfrm>
            <a:off x="6918336" y="4272657"/>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custDataLst>
              <p:tags r:id="rId93"/>
            </p:custDataLst>
          </p:nvPr>
        </p:nvSpPr>
        <p:spPr>
          <a:xfrm>
            <a:off x="9800590" y="3673158"/>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custDataLst>
              <p:tags r:id="rId94"/>
            </p:custDataLst>
          </p:nvPr>
        </p:nvSpPr>
        <p:spPr>
          <a:xfrm>
            <a:off x="6995829" y="4049865"/>
            <a:ext cx="1335702" cy="368300"/>
          </a:xfrm>
          <a:prstGeom prst="rect">
            <a:avLst/>
          </a:prstGeom>
          <a:noFill/>
        </p:spPr>
        <p:txBody>
          <a:bodyPr wrap="square" rtlCol="0" anchor="t">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U</a:t>
            </a:r>
            <a:endParaRPr lang="en-US" altLang="zh-CN" sz="1600" b="1" dirty="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6" name="文本框 5"/>
          <p:cNvSpPr txBox="1"/>
          <p:nvPr>
            <p:custDataLst>
              <p:tags r:id="rId95"/>
            </p:custDataLst>
          </p:nvPr>
        </p:nvSpPr>
        <p:spPr>
          <a:xfrm>
            <a:off x="6957377" y="4651002"/>
            <a:ext cx="1450975" cy="275590"/>
          </a:xfrm>
          <a:prstGeom prst="rect">
            <a:avLst/>
          </a:prstGeom>
          <a:noFill/>
        </p:spPr>
        <p:txBody>
          <a:bodyPr wrap="square" rtlCol="0">
            <a:spAutoFit/>
          </a:bodyPr>
          <a:lstStyle/>
          <a:p>
            <a:pPr marL="171450" indent="-171450" algn="l">
              <a:spcBef>
                <a:spcPts val="600"/>
              </a:spcBef>
              <a:spcAft>
                <a:spcPts val="600"/>
              </a:spcAft>
              <a:buClrTx/>
              <a:buSzTx/>
              <a:buFont typeface="Arial" panose="020B0604020202020204" pitchFamily="34" charset="0"/>
              <a:buChar char="•"/>
            </a:pPr>
            <a:r>
              <a:rPr lang="zh-CN" altLang="en-US" sz="1200" dirty="0">
                <a:solidFill>
                  <a:schemeClr val="tx1">
                    <a:lumMod val="65000"/>
                    <a:lumOff val="35000"/>
                  </a:schemeClr>
                </a:solidFill>
                <a:sym typeface="+mn-ea"/>
              </a:rPr>
              <a:t>以</a:t>
            </a:r>
            <a:endParaRPr lang="en-US" altLang="zh-CN" sz="1200" dirty="0">
              <a:solidFill>
                <a:schemeClr val="tx1">
                  <a:lumMod val="65000"/>
                  <a:lumOff val="35000"/>
                </a:schemeClr>
              </a:solidFill>
              <a:sym typeface="+mn-ea"/>
            </a:endParaRPr>
          </a:p>
        </p:txBody>
      </p:sp>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16</a:t>
            </a:r>
            <a:endParaRPr lang="zh-CN" altLang="en-US" dirty="0"/>
          </a:p>
        </p:txBody>
      </p:sp>
    </p:spTree>
    <p:custDataLst>
      <p:tags r:id="rId96"/>
    </p:custData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custDataLst>
              <p:tags r:id="rId8"/>
            </p:custDataLst>
          </p:nvPr>
        </p:nvGrpSpPr>
        <p:grpSpPr>
          <a:xfrm>
            <a:off x="556577" y="1917144"/>
            <a:ext cx="11078845" cy="2662803"/>
            <a:chOff x="519430" y="1909227"/>
            <a:chExt cx="11078845" cy="2662803"/>
          </a:xfrm>
        </p:grpSpPr>
        <p:sp>
          <p:nvSpPr>
            <p:cNvPr id="24" name="右箭头 23"/>
            <p:cNvSpPr/>
            <p:nvPr>
              <p:custDataLst>
                <p:tags r:id="rId9"/>
              </p:custDataLst>
            </p:nvPr>
          </p:nvSpPr>
          <p:spPr>
            <a:xfrm>
              <a:off x="4152900" y="200282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右箭头 25"/>
            <p:cNvSpPr/>
            <p:nvPr>
              <p:custDataLst>
                <p:tags r:id="rId10"/>
              </p:custDataLst>
            </p:nvPr>
          </p:nvSpPr>
          <p:spPr>
            <a:xfrm>
              <a:off x="4152900" y="3068985"/>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custDataLst>
                <p:tags r:id="rId11"/>
              </p:custDataLst>
            </p:nvPr>
          </p:nvSpPr>
          <p:spPr>
            <a:xfrm>
              <a:off x="4152900" y="405133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12"/>
              </p:custDataLst>
            </p:nvPr>
          </p:nvSpPr>
          <p:spPr>
            <a:xfrm>
              <a:off x="4907280" y="2063115"/>
              <a:ext cx="6307212" cy="398780"/>
            </a:xfrm>
            <a:prstGeom prst="rect">
              <a:avLst/>
            </a:prstGeom>
            <a:noFill/>
          </p:spPr>
          <p:txBody>
            <a:bodyPr wrap="square" rtlCol="0" anchor="t">
              <a:spAutoFit/>
            </a:bodyPr>
            <a:lstStyle/>
            <a:p>
              <a:r>
                <a:rPr lang="zh-CN" altLang="en-US" sz="2000" b="1" dirty="0">
                  <a:solidFill>
                    <a:srgbClr val="04579A"/>
                  </a:solidFill>
                  <a:sym typeface="+mn-ea"/>
                </a:rPr>
                <a:t>基于操作参数约束需求的智能体授权协议设计</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custDataLst>
                <p:tags r:id="rId13"/>
              </p:custDataLst>
            </p:nvPr>
          </p:nvSpPr>
          <p:spPr>
            <a:xfrm>
              <a:off x="4907279" y="3155315"/>
              <a:ext cx="6556375" cy="398780"/>
            </a:xfrm>
            <a:prstGeom prst="rect">
              <a:avLst/>
            </a:prstGeom>
            <a:noFill/>
          </p:spPr>
          <p:txBody>
            <a:bodyPr wrap="square" rtlCol="0" anchor="t">
              <a:spAutoFit/>
            </a:bodyPr>
            <a:lstStyle/>
            <a:p>
              <a:r>
                <a:rPr lang="zh-CN" altLang="en-US" sz="2000" b="1" dirty="0">
                  <a:solidFill>
                    <a:srgbClr val="04579A"/>
                  </a:solidFill>
                  <a:sym typeface="+mn-ea"/>
                </a:rPr>
                <a:t>基于顺序执行约束需求的智能体授权协议设计</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custDataLst>
                <p:tags r:id="rId14"/>
              </p:custDataLst>
            </p:nvPr>
          </p:nvSpPr>
          <p:spPr>
            <a:xfrm>
              <a:off x="4907280" y="4127500"/>
              <a:ext cx="6690995" cy="398780"/>
            </a:xfrm>
            <a:prstGeom prst="rect">
              <a:avLst/>
            </a:prstGeom>
            <a:noFill/>
          </p:spPr>
          <p:txBody>
            <a:bodyPr wrap="square" rtlCol="0" anchor="t">
              <a:spAutoFit/>
            </a:bodyPr>
            <a:lstStyle/>
            <a:p>
              <a:r>
                <a:rPr lang="zh-CN" altLang="en-US" sz="2000" b="1" dirty="0">
                  <a:solidFill>
                    <a:srgbClr val="04579A"/>
                  </a:solidFill>
                  <a:sym typeface="+mn-ea"/>
                </a:rPr>
                <a:t>基于复杂任务授权需求的智能体授权协议应用实现</a:t>
              </a:r>
              <a:endParaRPr lang="zh-CN" altLang="en-US" sz="2000" b="1" dirty="0">
                <a:solidFill>
                  <a:srgbClr val="04579A"/>
                </a:solidFill>
                <a:sym typeface="+mn-ea"/>
              </a:endParaRPr>
            </a:p>
          </p:txBody>
        </p:sp>
        <p:sp>
          <p:nvSpPr>
            <p:cNvPr id="7" name="文本框 6"/>
            <p:cNvSpPr txBox="1"/>
            <p:nvPr>
              <p:custDataLst>
                <p:tags r:id="rId15"/>
              </p:custDataLst>
            </p:nvPr>
          </p:nvSpPr>
          <p:spPr>
            <a:xfrm>
              <a:off x="520700" y="1909227"/>
              <a:ext cx="3234690" cy="706755"/>
            </a:xfrm>
            <a:prstGeom prst="rect">
              <a:avLst/>
            </a:prstGeom>
            <a:noFill/>
          </p:spPr>
          <p:txBody>
            <a:bodyPr wrap="square" rtlCol="0">
              <a:spAutoFit/>
            </a:bodyPr>
            <a:lstStyle/>
            <a:p>
              <a:pPr marL="457200" indent="-457200" algn="ctr">
                <a:buAutoNum type="arabicPeriod"/>
              </a:pP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复杂任务场景下的智能体授权</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粒度</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16"/>
              </p:custDataLst>
            </p:nvPr>
          </p:nvSpPr>
          <p:spPr>
            <a:xfrm>
              <a:off x="519430" y="2947749"/>
              <a:ext cx="3235960" cy="706755"/>
            </a:xfrm>
            <a:prstGeom prst="rect">
              <a:avLst/>
            </a:prstGeom>
            <a:noFill/>
          </p:spPr>
          <p:txBody>
            <a:bodyPr wrap="square" rtlCol="0">
              <a:spAutoFit/>
            </a:bodyPr>
            <a:lstStyle/>
            <a:p>
              <a:pPr algn="ctr"/>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复杂任务场景下的智能体上下文感知</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7"/>
              </p:custDataLst>
            </p:nvPr>
          </p:nvSpPr>
          <p:spPr>
            <a:xfrm>
              <a:off x="519430" y="4015740"/>
              <a:ext cx="3237230" cy="398780"/>
            </a:xfrm>
            <a:prstGeom prst="rect">
              <a:avLst/>
            </a:prstGeom>
            <a:noFill/>
          </p:spPr>
          <p:txBody>
            <a:bodyPr wrap="square" rtlCol="0">
              <a:spAutoFit/>
            </a:bodyPr>
            <a:lstStyle/>
            <a:p>
              <a:r>
                <a:rPr lang="en-US" altLang="zh-CN" sz="2000" b="1" dirty="0">
                  <a:solidFill>
                    <a:schemeClr val="tx1">
                      <a:lumMod val="85000"/>
                      <a:lumOff val="15000"/>
                    </a:schemeClr>
                  </a:solidFill>
                </a:rPr>
                <a:t>3.    </a:t>
              </a:r>
              <a:r>
                <a:rPr lang="zh-CN" altLang="en-US" sz="2000" b="1" dirty="0">
                  <a:solidFill>
                    <a:schemeClr val="tx1">
                      <a:lumMod val="85000"/>
                      <a:lumOff val="15000"/>
                    </a:schemeClr>
                  </a:solidFill>
                </a:rPr>
                <a:t>跨</a:t>
              </a:r>
              <a:endParaRPr lang="zh-CN" altLang="en-US" sz="2000" b="1" dirty="0">
                <a:solidFill>
                  <a:schemeClr val="tx1">
                    <a:lumMod val="85000"/>
                    <a:lumOff val="15000"/>
                  </a:schemeClr>
                </a:solidFill>
              </a:endParaRPr>
            </a:p>
          </p:txBody>
        </p:sp>
      </p:grpSp>
      <p:sp>
        <p:nvSpPr>
          <p:cNvPr id="10" name="文本框 9"/>
          <p:cNvSpPr txBox="1"/>
          <p:nvPr/>
        </p:nvSpPr>
        <p:spPr>
          <a:xfrm>
            <a:off x="11736779" y="6499761"/>
            <a:ext cx="455221" cy="369332"/>
          </a:xfrm>
          <a:prstGeom prst="rect">
            <a:avLst/>
          </a:prstGeom>
          <a:noFill/>
        </p:spPr>
        <p:txBody>
          <a:bodyPr wrap="square" rtlCol="0">
            <a:spAutoFit/>
          </a:bodyPr>
          <a:lstStyle/>
          <a:p>
            <a:pPr algn="ctr"/>
            <a:r>
              <a:rPr lang="en-US" altLang="zh-CN" dirty="0"/>
              <a:t>22</a:t>
            </a:r>
            <a:endParaRPr lang="zh-CN" altLang="en-US" dirty="0"/>
          </a:p>
        </p:txBody>
      </p:sp>
    </p:spTree>
    <p:custDataLst>
      <p:tags r:id="rId1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矩形: 圆角 12"/>
          <p:cNvSpPr/>
          <p:nvPr/>
        </p:nvSpPr>
        <p:spPr>
          <a:xfrm>
            <a:off x="5680364"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恶意环境下分布式数字资产交易协议设计与分析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4" name="平行四边形 3"/>
          <p:cNvSpPr/>
          <p:nvPr>
            <p:custDataLst>
              <p:tags r:id="rId9"/>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16" name="平行四边形 15"/>
          <p:cNvSpPr/>
          <p:nvPr>
            <p:custDataLst>
              <p:tags r:id="rId10"/>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6" name="文本框 5"/>
          <p:cNvSpPr txBox="1"/>
          <p:nvPr>
            <p:custDataLst>
              <p:tags r:id="rId11"/>
            </p:custDataLst>
          </p:nvPr>
        </p:nvSpPr>
        <p:spPr>
          <a:xfrm>
            <a:off x="940435" y="5659755"/>
            <a:ext cx="10016490" cy="1080135"/>
          </a:xfrm>
          <a:prstGeom prst="rect">
            <a:avLst/>
          </a:prstGeom>
          <a:noFill/>
        </p:spPr>
        <p:txBody>
          <a:bodyPr wrap="square" rtlCol="0" anchor="t">
            <a:noAutofit/>
          </a:bodyPr>
          <a:lstStyle/>
          <a:p>
            <a:pPr indent="0" fontAlgn="auto">
              <a:lnSpc>
                <a:spcPct val="120000"/>
              </a:lnSpc>
              <a:spcBef>
                <a:spcPts val="600"/>
              </a:spcBef>
              <a:buFont typeface="Arial" panose="020B0604020202020204" pitchFamily="34" charset="0"/>
              <a:buNone/>
            </a:pPr>
            <a:r>
              <a:rPr lang="zh-CN" altLang="en-US" dirty="0">
                <a:latin typeface="微软雅黑" panose="020B0503020204020204" charset="-122"/>
                <a:ea typeface="微软雅黑" panose="020B0503020204020204" charset="-122"/>
                <a:cs typeface="微软雅黑" panose="020B0503020204020204" charset="-122"/>
                <a:sym typeface="+mn-ea"/>
              </a:rPr>
              <a:t>提出可证明安全的分布式数字资产交易协议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93" name="文本框 392"/>
          <p:cNvSpPr txBox="1"/>
          <p:nvPr>
            <p:custDataLst>
              <p:tags r:id="rId12"/>
            </p:custDataLst>
          </p:nvPr>
        </p:nvSpPr>
        <p:spPr>
          <a:xfrm>
            <a:off x="594995" y="2743200"/>
            <a:ext cx="4663440" cy="2058577"/>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现有的分布式资产交易协议资产兑换机制依赖于诚实矿工假设，难以应对现实中恶意攻击</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分析现有协议的安全漏洞及潜在攻击，重构现有资产兑换范式</a:t>
            </a:r>
            <a:endParaRPr lang="zh-CN" altLang="en-US"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完成安全性分析与证明</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13"/>
            </p:custDataLst>
          </p:nvPr>
        </p:nvSpPr>
        <p:spPr>
          <a:xfrm>
            <a:off x="5603875" y="4745990"/>
            <a:ext cx="5731123"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分布式资产交易协议的基础构建范式</a:t>
            </a:r>
            <a:r>
              <a:rPr lang="en-US" altLang="zh-CN" sz="1400" dirty="0">
                <a:latin typeface="微软雅黑" panose="020B0503020204020204" charset="-122"/>
                <a:ea typeface="微软雅黑" panose="020B0503020204020204" charset="-122"/>
                <a:cs typeface="等线" panose="02010600030101010101" charset="-122"/>
                <a:sym typeface="+mn-ea"/>
              </a:rPr>
              <a:t>HTLC</a:t>
            </a:r>
            <a:r>
              <a:rPr lang="zh-CN" altLang="en-US" sz="1400" dirty="0">
                <a:latin typeface="微软雅黑" panose="020B0503020204020204" charset="-122"/>
                <a:ea typeface="微软雅黑" panose="020B0503020204020204" charset="-122"/>
                <a:cs typeface="等线" panose="02010600030101010101" charset="-122"/>
                <a:sym typeface="+mn-ea"/>
              </a:rPr>
              <a:t>范式通过时间锁定保证资产的合法兑换，但在贿赂矿工的前提下恶意用户抢先侵占诚实用户的资产</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grpSp>
        <p:nvGrpSpPr>
          <p:cNvPr id="12" name="组合 11"/>
          <p:cNvGrpSpPr/>
          <p:nvPr/>
        </p:nvGrpSpPr>
        <p:grpSpPr>
          <a:xfrm>
            <a:off x="5739738" y="2642772"/>
            <a:ext cx="5555599" cy="1826606"/>
            <a:chOff x="5768523" y="2579139"/>
            <a:chExt cx="6120582" cy="2020936"/>
          </a:xfrm>
        </p:grpSpPr>
        <p:pic>
          <p:nvPicPr>
            <p:cNvPr id="7" name="图片 6"/>
            <p:cNvPicPr>
              <a:picLocks noChangeAspect="1"/>
            </p:cNvPicPr>
            <p:nvPr/>
          </p:nvPicPr>
          <p:blipFill>
            <a:blip r:embed="rId14"/>
            <a:stretch>
              <a:fillRect/>
            </a:stretch>
          </p:blipFill>
          <p:spPr>
            <a:xfrm>
              <a:off x="5768523" y="2579139"/>
              <a:ext cx="3012073" cy="2020936"/>
            </a:xfrm>
            <a:prstGeom prst="rect">
              <a:avLst/>
            </a:prstGeom>
          </p:spPr>
        </p:pic>
        <p:pic>
          <p:nvPicPr>
            <p:cNvPr id="8" name="图片 7"/>
            <p:cNvPicPr>
              <a:picLocks noChangeAspect="1"/>
            </p:cNvPicPr>
            <p:nvPr/>
          </p:nvPicPr>
          <p:blipFill>
            <a:blip r:embed="rId15"/>
            <a:stretch>
              <a:fillRect/>
            </a:stretch>
          </p:blipFill>
          <p:spPr>
            <a:xfrm>
              <a:off x="9034296" y="2594683"/>
              <a:ext cx="2854809" cy="1965887"/>
            </a:xfrm>
            <a:prstGeom prst="rect">
              <a:avLst/>
            </a:prstGeom>
          </p:spPr>
        </p:pic>
      </p:grpSp>
      <p:sp>
        <p:nvSpPr>
          <p:cNvPr id="14" name="矩形: 圆角 13"/>
          <p:cNvSpPr/>
          <p:nvPr/>
        </p:nvSpPr>
        <p:spPr>
          <a:xfrm>
            <a:off x="8583881"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1736779" y="6499761"/>
            <a:ext cx="455221" cy="369332"/>
          </a:xfrm>
          <a:prstGeom prst="rect">
            <a:avLst/>
          </a:prstGeom>
          <a:noFill/>
        </p:spPr>
        <p:txBody>
          <a:bodyPr wrap="square" rtlCol="0">
            <a:spAutoFit/>
          </a:bodyPr>
          <a:lstStyle/>
          <a:p>
            <a:pPr algn="ctr"/>
            <a:r>
              <a:rPr lang="en-US" altLang="zh-CN" dirty="0"/>
              <a:t>23</a:t>
            </a:r>
            <a:endParaRPr lang="zh-CN" altLang="en-US" dirty="0"/>
          </a:p>
        </p:txBody>
      </p:sp>
    </p:spTree>
    <p:custDataLst>
      <p:tags r:id="rId16"/>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大规模环境下可扩展分布式数字资产交易协议设计与分析</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spcBef>
                <a:spcPts val="0"/>
              </a:spcBef>
              <a:buFont typeface="Arial" panose="020B0604020202020204" pitchFamily="34" charset="0"/>
              <a:buChar char="•"/>
            </a:pPr>
            <a:r>
              <a:rPr lang="zh-CN" altLang="en-US" dirty="0">
                <a:sym typeface="+mn-ea"/>
              </a:rPr>
              <a:t>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平行四边形 12"/>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16" name="平行四边形 15"/>
          <p:cNvSpPr/>
          <p:nvPr>
            <p:custDataLst>
              <p:tags r:id="rId11"/>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393" name="文本框 392"/>
          <p:cNvSpPr txBox="1"/>
          <p:nvPr>
            <p:custDataLst>
              <p:tags r:id="rId12"/>
            </p:custDataLst>
          </p:nvPr>
        </p:nvSpPr>
        <p:spPr>
          <a:xfrm>
            <a:off x="594995" y="2743200"/>
            <a:ext cx="4476115" cy="1393779"/>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研究满足信道资产流动性的再平衡机制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设计高效虚拟信道协议</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设计多方信道安全更新协议</a:t>
            </a:r>
            <a:endParaRPr lang="zh-CN" altLang="en-US"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完成实验并在真实网络中进行测试</a:t>
            </a:r>
            <a:endParaRPr lang="zh-CN" altLang="en-US"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6445660" y="2371916"/>
            <a:ext cx="4304149" cy="2188654"/>
          </a:xfrm>
          <a:prstGeom prst="rect">
            <a:avLst/>
          </a:prstGeom>
        </p:spPr>
      </p:pic>
      <p:sp>
        <p:nvSpPr>
          <p:cNvPr id="6" name="文本框 5"/>
          <p:cNvSpPr txBox="1"/>
          <p:nvPr>
            <p:custDataLst>
              <p:tags r:id="rId14"/>
            </p:custDataLst>
          </p:nvPr>
        </p:nvSpPr>
        <p:spPr>
          <a:xfrm>
            <a:off x="6302014" y="4658995"/>
            <a:ext cx="4591440"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现有链下可扩展性方案对于多跳支付导致的方向性永久流量衰减只起到暂时的缓解作用，不能释放其理想性能</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sp>
        <p:nvSpPr>
          <p:cNvPr id="8" name="文本框 7"/>
          <p:cNvSpPr txBox="1"/>
          <p:nvPr/>
        </p:nvSpPr>
        <p:spPr>
          <a:xfrm>
            <a:off x="11736779" y="6499761"/>
            <a:ext cx="455221" cy="369332"/>
          </a:xfrm>
          <a:prstGeom prst="rect">
            <a:avLst/>
          </a:prstGeom>
          <a:noFill/>
        </p:spPr>
        <p:txBody>
          <a:bodyPr wrap="square" rtlCol="0">
            <a:spAutoFit/>
          </a:bodyPr>
          <a:lstStyle/>
          <a:p>
            <a:pPr algn="ctr"/>
            <a:r>
              <a:rPr lang="en-US" altLang="zh-CN" dirty="0"/>
              <a:t>24</a:t>
            </a:r>
            <a:endParaRPr lang="zh-CN" altLang="en-US" dirty="0"/>
          </a:p>
        </p:txBody>
      </p:sp>
    </p:spTree>
    <p:custDataLst>
      <p:tags r:id="rId15"/>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94995" y="1421765"/>
            <a:ext cx="10808970" cy="400110"/>
          </a:xfrm>
          <a:prstGeom prst="rect">
            <a:avLst/>
          </a:prstGeom>
          <a:noFill/>
        </p:spPr>
        <p:txBody>
          <a:bodyPr wrap="square" rtlCol="0" anchor="t">
            <a:spAutoFit/>
          </a:bodyPr>
          <a:lstStyle/>
          <a:p>
            <a:r>
              <a:rPr lang="zh-CN" altLang="en-US" sz="2000" b="1" dirty="0">
                <a:solidFill>
                  <a:srgbClr val="04579A"/>
                </a:solidFill>
                <a:sym typeface="+mn-ea"/>
              </a:rPr>
              <a:t>多源异构环境下分布式数字资产跨链验证协议设计与分析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16" name="平行四边形 15"/>
          <p:cNvSpPr/>
          <p:nvPr>
            <p:custDataLst>
              <p:tags r:id="rId8"/>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buFont typeface="Arial" panose="020B0604020202020204" pitchFamily="34" charset="0"/>
              <a:buChar char="•"/>
            </a:pPr>
            <a:r>
              <a:rPr lang="zh-CN" altLang="en-US" dirty="0">
                <a:sym typeface="+mn-ea"/>
              </a:rPr>
              <a:t>设计互操作性增强的高效分布式数字资产交易协议</a:t>
            </a:r>
            <a:endParaRPr lang="zh-CN" altLang="en-US" b="1" dirty="0">
              <a:sym typeface="+mn-ea"/>
            </a:endParaRPr>
          </a:p>
        </p:txBody>
      </p:sp>
      <p:sp>
        <p:nvSpPr>
          <p:cNvPr id="17" name="平行四边形 16"/>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393" name="文本框 392"/>
          <p:cNvSpPr txBox="1"/>
          <p:nvPr/>
        </p:nvSpPr>
        <p:spPr>
          <a:xfrm>
            <a:off x="594995" y="2743200"/>
            <a:ext cx="4855779" cy="1726178"/>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研究异构区块链之间通用跨链交易验证机制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使用基础数字签名技术结合随机化承诺方案弱化目标链上条件支付的脚本语言需求</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实现链下状态更新和条件支付之间的双向绑定机制</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11"/>
          <a:stretch>
            <a:fillRect/>
          </a:stretch>
        </p:blipFill>
        <p:spPr>
          <a:xfrm>
            <a:off x="5918255" y="2139702"/>
            <a:ext cx="5722841" cy="2933832"/>
          </a:xfrm>
          <a:prstGeom prst="rect">
            <a:avLst/>
          </a:prstGeom>
        </p:spPr>
      </p:pic>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25</a:t>
            </a:r>
            <a:endParaRPr lang="zh-CN" altLang="en-US" dirty="0"/>
          </a:p>
        </p:txBody>
      </p:sp>
    </p:spTree>
    <p:custDataLst>
      <p:tags r:id="rId12"/>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endParaRPr lang="zh-CN" altLang="en-US" dirty="0">
              <a:solidFill>
                <a:schemeClr val="bg1"/>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custDataLst>
              <p:tags r:id="rId8"/>
            </p:custDataLst>
          </p:nvPr>
        </p:nvSpPr>
        <p:spPr>
          <a:xfrm>
            <a:off x="3445510" y="5293360"/>
            <a:ext cx="6096000" cy="423545"/>
          </a:xfrm>
          <a:prstGeom prst="rect">
            <a:avLst/>
          </a:prstGeom>
          <a:noFill/>
        </p:spPr>
        <p:txBody>
          <a:bodyPr wrap="square" rtlCol="0" anchor="t">
            <a:spAutoFit/>
          </a:bodyPr>
          <a:lstStyle/>
          <a:p>
            <a:pPr indent="0" fontAlgn="auto">
              <a:lnSpc>
                <a:spcPct val="120000"/>
              </a:lnSpc>
            </a:pPr>
            <a:r>
              <a:rPr lang="zh-CN" altLang="en-US"/>
              <a:t>撰写</a:t>
            </a:r>
            <a:r>
              <a:rPr lang="zh-CN" altLang="en-US"/>
              <a:t>硕士论文，准备毕业答辩</a:t>
            </a:r>
            <a:endParaRPr lang="zh-CN" altLang="en-US"/>
          </a:p>
        </p:txBody>
      </p:sp>
      <p:cxnSp>
        <p:nvCxnSpPr>
          <p:cNvPr id="13" name="直接连接符 12"/>
          <p:cNvCxnSpPr/>
          <p:nvPr>
            <p:custDataLst>
              <p:tags r:id="rId9"/>
            </p:custDataLst>
          </p:nvPr>
        </p:nvCxnSpPr>
        <p:spPr>
          <a:xfrm>
            <a:off x="2715895" y="1696720"/>
            <a:ext cx="0" cy="45720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0"/>
            </p:custDataLst>
          </p:nvPr>
        </p:nvSpPr>
        <p:spPr>
          <a:xfrm>
            <a:off x="3416300" y="2045335"/>
            <a:ext cx="7265035" cy="423545"/>
          </a:xfrm>
          <a:prstGeom prst="rect">
            <a:avLst/>
          </a:prstGeom>
          <a:noFill/>
        </p:spPr>
        <p:txBody>
          <a:bodyPr wrap="square" rtlCol="0" anchor="t">
            <a:spAutoFit/>
          </a:bodyPr>
          <a:lstStyle/>
          <a:p>
            <a:pPr indent="0" fontAlgn="auto">
              <a:lnSpc>
                <a:spcPct val="120000"/>
              </a:lnSpc>
            </a:pPr>
            <a:r>
              <a:rPr lang="zh-CN" altLang="en-US" dirty="0">
                <a:sym typeface="+mn-ea"/>
              </a:rPr>
              <a:t>完成面向操作参数约束需求的智能体授权协议的设计</a:t>
            </a:r>
            <a:endParaRPr lang="zh-CN" altLang="en-US" dirty="0">
              <a:sym typeface="+mn-ea"/>
            </a:endParaRPr>
          </a:p>
        </p:txBody>
      </p:sp>
      <p:sp>
        <p:nvSpPr>
          <p:cNvPr id="4" name="文本框 3"/>
          <p:cNvSpPr txBox="1"/>
          <p:nvPr>
            <p:custDataLst>
              <p:tags r:id="rId11"/>
            </p:custDataLst>
          </p:nvPr>
        </p:nvSpPr>
        <p:spPr>
          <a:xfrm>
            <a:off x="3416300" y="3128010"/>
            <a:ext cx="7898130" cy="423545"/>
          </a:xfrm>
          <a:prstGeom prst="rect">
            <a:avLst/>
          </a:prstGeom>
          <a:noFill/>
        </p:spPr>
        <p:txBody>
          <a:bodyPr wrap="square" rtlCol="0" anchor="t">
            <a:spAutoFit/>
          </a:bodyPr>
          <a:lstStyle/>
          <a:p>
            <a:pPr indent="0" fontAlgn="auto">
              <a:lnSpc>
                <a:spcPct val="120000"/>
              </a:lnSpc>
            </a:pPr>
            <a:r>
              <a:rPr lang="zh-CN" altLang="en-US" dirty="0">
                <a:sym typeface="+mn-ea"/>
              </a:rPr>
              <a:t>完成面向任务执行顺序约束需求的智能体授权协议协议设计。</a:t>
            </a:r>
            <a:endParaRPr lang="zh-CN" altLang="en-US" dirty="0">
              <a:sym typeface="+mn-ea"/>
            </a:endParaRPr>
          </a:p>
        </p:txBody>
      </p:sp>
      <p:sp>
        <p:nvSpPr>
          <p:cNvPr id="16" name="文本框 15"/>
          <p:cNvSpPr txBox="1"/>
          <p:nvPr>
            <p:custDataLst>
              <p:tags r:id="rId12"/>
            </p:custDataLst>
          </p:nvPr>
        </p:nvSpPr>
        <p:spPr>
          <a:xfrm>
            <a:off x="3416300" y="4210685"/>
            <a:ext cx="7898765" cy="755650"/>
          </a:xfrm>
          <a:prstGeom prst="rect">
            <a:avLst/>
          </a:prstGeom>
          <a:noFill/>
        </p:spPr>
        <p:txBody>
          <a:bodyPr wrap="square" rtlCol="0" anchor="t">
            <a:spAutoFit/>
          </a:bodyPr>
          <a:lstStyle/>
          <a:p>
            <a:pPr indent="0" fontAlgn="auto">
              <a:lnSpc>
                <a:spcPct val="120000"/>
              </a:lnSpc>
            </a:pPr>
            <a:r>
              <a:rPr lang="zh-CN" altLang="en-US" dirty="0">
                <a:sym typeface="+mn-ea"/>
              </a:rPr>
              <a:t>完成上述两项协议的代码实现并且集成到搭建的智能体中，进行安全测试，并测试开销。</a:t>
            </a:r>
            <a:endParaRPr lang="zh-CN" altLang="en-US" dirty="0">
              <a:sym typeface="+mn-ea"/>
            </a:endParaRPr>
          </a:p>
        </p:txBody>
      </p:sp>
      <p:sp>
        <p:nvSpPr>
          <p:cNvPr id="17" name="椭圆 16"/>
          <p:cNvSpPr/>
          <p:nvPr>
            <p:custDataLst>
              <p:tags r:id="rId13"/>
            </p:custDataLst>
          </p:nvPr>
        </p:nvSpPr>
        <p:spPr>
          <a:xfrm>
            <a:off x="2645410" y="21609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custDataLst>
              <p:tags r:id="rId14"/>
            </p:custDataLst>
          </p:nvPr>
        </p:nvSpPr>
        <p:spPr>
          <a:xfrm>
            <a:off x="2645410" y="32531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5"/>
            </p:custDataLst>
          </p:nvPr>
        </p:nvSpPr>
        <p:spPr>
          <a:xfrm>
            <a:off x="2645410" y="43453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6"/>
            </p:custDataLst>
          </p:nvPr>
        </p:nvSpPr>
        <p:spPr>
          <a:xfrm>
            <a:off x="2645410" y="54375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stCxn id="17" idx="6"/>
          </p:cNvCxnSpPr>
          <p:nvPr>
            <p:custDataLst>
              <p:tags r:id="rId17"/>
            </p:custDataLst>
          </p:nvPr>
        </p:nvCxnSpPr>
        <p:spPr>
          <a:xfrm>
            <a:off x="2785110" y="2230755"/>
            <a:ext cx="4895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18"/>
            </p:custDataLst>
          </p:nvPr>
        </p:nvCxnSpPr>
        <p:spPr>
          <a:xfrm>
            <a:off x="2785110" y="3324860"/>
            <a:ext cx="5530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9"/>
            </p:custDataLst>
          </p:nvPr>
        </p:nvCxnSpPr>
        <p:spPr>
          <a:xfrm>
            <a:off x="2785110" y="4418965"/>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0"/>
            </p:custDataLst>
          </p:nvPr>
        </p:nvSpPr>
        <p:spPr>
          <a:xfrm>
            <a:off x="520700" y="1978660"/>
            <a:ext cx="212407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a:t>
            </a:r>
            <a:r>
              <a:rPr lang="zh-CN" altLang="en-US" sz="2000" b="1" dirty="0">
                <a:solidFill>
                  <a:srgbClr val="04579A"/>
                </a:solidFill>
                <a:sym typeface="+mn-ea"/>
              </a:rPr>
              <a:t>6-202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08</a:t>
            </a:r>
            <a:endParaRPr lang="en-US" altLang="zh-CN" sz="2000" b="1" dirty="0">
              <a:solidFill>
                <a:srgbClr val="04579A"/>
              </a:solidFill>
              <a:sym typeface="+mn-ea"/>
            </a:endParaRPr>
          </a:p>
        </p:txBody>
      </p:sp>
      <p:sp>
        <p:nvSpPr>
          <p:cNvPr id="27" name="文本框 26"/>
          <p:cNvSpPr txBox="1"/>
          <p:nvPr>
            <p:custDataLst>
              <p:tags r:id="rId21"/>
            </p:custDataLst>
          </p:nvPr>
        </p:nvSpPr>
        <p:spPr>
          <a:xfrm>
            <a:off x="520700" y="3057525"/>
            <a:ext cx="6096000"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09</a:t>
            </a: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10</a:t>
            </a:r>
            <a:endParaRPr lang="en-US" altLang="zh-CN" sz="2000" b="1" dirty="0">
              <a:solidFill>
                <a:srgbClr val="04579A"/>
              </a:solidFill>
              <a:sym typeface="+mn-ea"/>
            </a:endParaRPr>
          </a:p>
        </p:txBody>
      </p:sp>
      <p:sp>
        <p:nvSpPr>
          <p:cNvPr id="29" name="文本框 28"/>
          <p:cNvSpPr txBox="1"/>
          <p:nvPr>
            <p:custDataLst>
              <p:tags r:id="rId22"/>
            </p:custDataLst>
          </p:nvPr>
        </p:nvSpPr>
        <p:spPr>
          <a:xfrm>
            <a:off x="520700" y="4150995"/>
            <a:ext cx="226504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11</a:t>
            </a: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/1</a:t>
            </a:r>
            <a:r>
              <a:rPr lang="en-US" altLang="zh-CN" sz="2000" b="1" dirty="0">
                <a:solidFill>
                  <a:srgbClr val="04579A"/>
                </a:solidFill>
                <a:sym typeface="+mn-ea"/>
              </a:rPr>
              <a:t>2</a:t>
            </a:r>
            <a:endParaRPr lang="en-US" altLang="zh-CN" sz="2000" b="1" dirty="0">
              <a:solidFill>
                <a:srgbClr val="04579A"/>
              </a:solidFill>
              <a:sym typeface="+mn-ea"/>
            </a:endParaRPr>
          </a:p>
        </p:txBody>
      </p:sp>
      <p:sp>
        <p:nvSpPr>
          <p:cNvPr id="31" name="文本框 30"/>
          <p:cNvSpPr txBox="1"/>
          <p:nvPr>
            <p:custDataLst>
              <p:tags r:id="rId23"/>
            </p:custDataLst>
          </p:nvPr>
        </p:nvSpPr>
        <p:spPr>
          <a:xfrm>
            <a:off x="520700" y="5244465"/>
            <a:ext cx="212534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7</a:t>
            </a:r>
            <a:r>
              <a:rPr lang="zh-CN" altLang="en-US" sz="2000" b="1" dirty="0">
                <a:solidFill>
                  <a:srgbClr val="04579A"/>
                </a:solidFill>
                <a:sym typeface="+mn-ea"/>
              </a:rPr>
              <a:t>/</a:t>
            </a:r>
            <a:r>
              <a:rPr lang="en-US" altLang="zh-CN" sz="2000" b="1" dirty="0">
                <a:solidFill>
                  <a:srgbClr val="04579A"/>
                </a:solidFill>
                <a:sym typeface="+mn-ea"/>
              </a:rPr>
              <a:t>0</a:t>
            </a:r>
            <a:r>
              <a:rPr lang="zh-CN" altLang="en-US" sz="2000" b="1" dirty="0">
                <a:solidFill>
                  <a:srgbClr val="04579A"/>
                </a:solidFill>
                <a:sym typeface="+mn-ea"/>
              </a:rPr>
              <a:t>1-202</a:t>
            </a:r>
            <a:r>
              <a:rPr lang="en-US" altLang="zh-CN" sz="2000" b="1" dirty="0">
                <a:solidFill>
                  <a:srgbClr val="04579A"/>
                </a:solidFill>
                <a:sym typeface="+mn-ea"/>
              </a:rPr>
              <a:t>7</a:t>
            </a:r>
            <a:r>
              <a:rPr lang="zh-CN" altLang="en-US" sz="2000" b="1" dirty="0">
                <a:solidFill>
                  <a:srgbClr val="04579A"/>
                </a:solidFill>
                <a:sym typeface="+mn-ea"/>
              </a:rPr>
              <a:t>/0</a:t>
            </a:r>
            <a:r>
              <a:rPr lang="en-US" altLang="zh-CN" sz="2000" b="1" dirty="0">
                <a:solidFill>
                  <a:srgbClr val="04579A"/>
                </a:solidFill>
                <a:sym typeface="+mn-ea"/>
              </a:rPr>
              <a:t>4</a:t>
            </a:r>
            <a:endParaRPr lang="en-US" altLang="zh-CN" sz="2000" b="1" dirty="0">
              <a:solidFill>
                <a:srgbClr val="04579A"/>
              </a:solidFill>
              <a:sym typeface="+mn-ea"/>
            </a:endParaRPr>
          </a:p>
        </p:txBody>
      </p:sp>
      <p:cxnSp>
        <p:nvCxnSpPr>
          <p:cNvPr id="32" name="直接连接符 31"/>
          <p:cNvCxnSpPr/>
          <p:nvPr>
            <p:custDataLst>
              <p:tags r:id="rId24"/>
            </p:custDataLst>
          </p:nvPr>
        </p:nvCxnSpPr>
        <p:spPr>
          <a:xfrm>
            <a:off x="2797175" y="5500370"/>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custDataLst>
              <p:tags r:id="rId25"/>
            </p:custDataLst>
          </p:nvPr>
        </p:nvSpPr>
        <p:spPr>
          <a:xfrm>
            <a:off x="520700" y="1115060"/>
            <a:ext cx="6096000" cy="460375"/>
          </a:xfrm>
          <a:prstGeom prst="rect">
            <a:avLst/>
          </a:prstGeom>
          <a:noFill/>
        </p:spPr>
        <p:txBody>
          <a:bodyPr wrap="square" rtlCol="0" anchor="t">
            <a:spAutoFit/>
          </a:bodyPr>
          <a:lstStyle/>
          <a:p>
            <a:r>
              <a:rPr lang="zh-CN" altLang="en-US" sz="2400" b="1">
                <a:sym typeface="+mn-ea"/>
              </a:rPr>
              <a:t>未来进度安排</a:t>
            </a:r>
            <a:endParaRPr lang="zh-CN" altLang="en-US" sz="2400" b="1">
              <a:sym typeface="+mn-ea"/>
            </a:endParaRPr>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28</a:t>
            </a:r>
            <a:endParaRPr lang="zh-CN" altLang="en-US" dirty="0"/>
          </a:p>
        </p:txBody>
      </p:sp>
    </p:spTree>
    <p:custDataLst>
      <p:tags r:id="rId26"/>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268"/>
          <p:cNvSpPr/>
          <p:nvPr>
            <p:custDataLst>
              <p:tags r:id="rId1"/>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custDataLst>
              <p:tags r:id="rId4"/>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custDataLst>
              <p:tags r:id="rId5"/>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custDataLst>
              <p:tags r:id="rId6"/>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75" name="Picture 2" descr="C:\Program Files\Apache Software Foundation\Tomcat 6.0\webapps\topo1\images\sklois1 (2).jpg"/>
          <p:cNvPicPr>
            <a:picLocks noChangeAspect="1" noChangeArrowheads="1"/>
          </p:cNvPicPr>
          <p:nvPr>
            <p:custDataLst>
              <p:tags r:id="rId7"/>
            </p:custDataLst>
          </p:nvPr>
        </p:nvPicPr>
        <p:blipFill>
          <a:blip r:embed="rId8"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p:cNvSpPr/>
          <p:nvPr>
            <p:custDataLst>
              <p:tags r:id="rId9"/>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1736779" y="6499761"/>
            <a:ext cx="455221" cy="369332"/>
          </a:xfrm>
          <a:prstGeom prst="rect">
            <a:avLst/>
          </a:prstGeom>
          <a:noFill/>
        </p:spPr>
        <p:txBody>
          <a:bodyPr wrap="square" rtlCol="0">
            <a:spAutoFit/>
          </a:bodyPr>
          <a:lstStyle/>
          <a:p>
            <a:pPr algn="ctr"/>
            <a:r>
              <a:rPr lang="en-US" altLang="zh-CN" dirty="0"/>
              <a:t>5</a:t>
            </a:r>
            <a:endParaRPr lang="zh-CN" altLang="en-US" dirty="0"/>
          </a:p>
        </p:txBody>
      </p:sp>
      <p:pic>
        <p:nvPicPr>
          <p:cNvPr id="7" name="图片 6" descr="claude_code"/>
          <p:cNvPicPr>
            <a:picLocks noChangeAspect="1"/>
          </p:cNvPicPr>
          <p:nvPr/>
        </p:nvPicPr>
        <p:blipFill>
          <a:blip r:embed="rId10"/>
          <a:stretch>
            <a:fillRect/>
          </a:stretch>
        </p:blipFill>
        <p:spPr>
          <a:xfrm>
            <a:off x="6806565" y="1815465"/>
            <a:ext cx="1143635" cy="1143635"/>
          </a:xfrm>
          <a:prstGeom prst="rect">
            <a:avLst/>
          </a:prstGeom>
        </p:spPr>
      </p:pic>
      <p:pic>
        <p:nvPicPr>
          <p:cNvPr id="8" name="图片 7" descr="moveworks"/>
          <p:cNvPicPr>
            <a:picLocks noChangeAspect="1"/>
          </p:cNvPicPr>
          <p:nvPr/>
        </p:nvPicPr>
        <p:blipFill>
          <a:blip r:embed="rId11"/>
          <a:stretch>
            <a:fillRect/>
          </a:stretch>
        </p:blipFill>
        <p:spPr>
          <a:xfrm>
            <a:off x="6806565" y="3980180"/>
            <a:ext cx="1198880" cy="1198880"/>
          </a:xfrm>
          <a:prstGeom prst="rect">
            <a:avLst/>
          </a:prstGeom>
        </p:spPr>
      </p:pic>
      <p:pic>
        <p:nvPicPr>
          <p:cNvPr id="9" name="图片 8" descr="salesforce_agentforce"/>
          <p:cNvPicPr>
            <a:picLocks noChangeAspect="1"/>
          </p:cNvPicPr>
          <p:nvPr/>
        </p:nvPicPr>
        <p:blipFill>
          <a:blip r:embed="rId12"/>
          <a:stretch>
            <a:fillRect/>
          </a:stretch>
        </p:blipFill>
        <p:spPr>
          <a:xfrm>
            <a:off x="9453880" y="1815465"/>
            <a:ext cx="1277620" cy="1277620"/>
          </a:xfrm>
          <a:prstGeom prst="rect">
            <a:avLst/>
          </a:prstGeom>
        </p:spPr>
      </p:pic>
      <p:pic>
        <p:nvPicPr>
          <p:cNvPr id="15" name="图片 14" descr="deepminer"/>
          <p:cNvPicPr>
            <a:picLocks noChangeAspect="1"/>
          </p:cNvPicPr>
          <p:nvPr/>
        </p:nvPicPr>
        <p:blipFill>
          <a:blip r:embed="rId13"/>
          <a:stretch>
            <a:fillRect/>
          </a:stretch>
        </p:blipFill>
        <p:spPr>
          <a:xfrm>
            <a:off x="8899525" y="4401185"/>
            <a:ext cx="2361565" cy="599440"/>
          </a:xfrm>
          <a:prstGeom prst="rect">
            <a:avLst/>
          </a:prstGeom>
        </p:spPr>
      </p:pic>
      <p:sp>
        <p:nvSpPr>
          <p:cNvPr id="24" name="矩形 23"/>
          <p:cNvSpPr/>
          <p:nvPr/>
        </p:nvSpPr>
        <p:spPr>
          <a:xfrm>
            <a:off x="2346960" y="2829560"/>
            <a:ext cx="2364740" cy="918210"/>
          </a:xfrm>
          <a:prstGeom prst="rect">
            <a:avLst/>
          </a:prstGeom>
          <a:noFill/>
          <a:ln>
            <a:noFill/>
          </a:ln>
        </p:spPr>
        <p:txBody>
          <a:bodyPr wrap="none" rtlCol="0" anchor="t">
            <a:noAutofit/>
          </a:bodyPr>
          <a:p>
            <a:pPr algn="ctr"/>
            <a:endParaRPr lang="zh-CN" altLang="en-US" sz="7200" b="1">
              <a:ln w="15875">
                <a:solidFill>
                  <a:schemeClr val="accent1"/>
                </a:solidFill>
              </a:ln>
              <a:noFill/>
              <a:effectLst/>
            </a:endParaRPr>
          </a:p>
        </p:txBody>
      </p:sp>
      <p:sp>
        <p:nvSpPr>
          <p:cNvPr id="31" name="文本框 30"/>
          <p:cNvSpPr txBox="1"/>
          <p:nvPr/>
        </p:nvSpPr>
        <p:spPr>
          <a:xfrm>
            <a:off x="1216025" y="1877695"/>
            <a:ext cx="4696460" cy="3074670"/>
          </a:xfrm>
          <a:prstGeom prst="rect">
            <a:avLst/>
          </a:prstGeom>
          <a:noFill/>
        </p:spPr>
        <p:txBody>
          <a:bodyPr wrap="square" rtlCol="0">
            <a:noAutofit/>
          </a:bodyPr>
          <a:p>
            <a:pPr>
              <a:lnSpc>
                <a:spcPct val="150000"/>
              </a:lnSpc>
            </a:pPr>
            <a:r>
              <a:rPr lang="zh-CN" altLang="en-US"/>
              <a:t>智能体已深度渗透至编程开发（</a:t>
            </a:r>
            <a:r>
              <a:rPr lang="en-US" altLang="zh-CN"/>
              <a:t>Claude)、</a:t>
            </a:r>
            <a:r>
              <a:rPr lang="zh-CN" altLang="en-US"/>
              <a:t>企业办公</a:t>
            </a:r>
            <a:r>
              <a:rPr lang="en-US" altLang="zh-CN"/>
              <a:t>(moveworks)、</a:t>
            </a:r>
            <a:r>
              <a:rPr lang="zh-CN" altLang="en-US"/>
              <a:t>客户服务</a:t>
            </a:r>
            <a:r>
              <a:rPr lang="en-US" altLang="zh-CN"/>
              <a:t>(Salsforce)、</a:t>
            </a:r>
            <a:r>
              <a:rPr lang="zh-CN" altLang="en-US"/>
              <a:t>商业决策</a:t>
            </a:r>
            <a:r>
              <a:rPr lang="en-US" altLang="zh-CN"/>
              <a:t>(deepMiner)</a:t>
            </a:r>
            <a:r>
              <a:rPr lang="zh-CN" altLang="en-US"/>
              <a:t>等领域，正从单一任务执行向跨系统、多步骤的复杂业务流程自动化演进。</a:t>
            </a:r>
            <a:endParaRPr lang="zh-CN" altLang="en-US"/>
          </a:p>
        </p:txBody>
      </p:sp>
    </p:spTree>
    <p:custDataLst>
      <p:tags r:id="rId14"/>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8" name="圆角矩形 57"/>
          <p:cNvSpPr/>
          <p:nvPr/>
        </p:nvSpPr>
        <p:spPr>
          <a:xfrm>
            <a:off x="382270" y="1819275"/>
            <a:ext cx="2379980" cy="3687445"/>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969000" y="353187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6"/>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 name="组合 45"/>
          <p:cNvGrpSpPr/>
          <p:nvPr/>
        </p:nvGrpSpPr>
        <p:grpSpPr>
          <a:xfrm>
            <a:off x="781050" y="2736215"/>
            <a:ext cx="1669415" cy="1316355"/>
            <a:chOff x="2868" y="3032"/>
            <a:chExt cx="3442" cy="2714"/>
          </a:xfrm>
        </p:grpSpPr>
        <p:sp>
          <p:nvSpPr>
            <p:cNvPr id="43" name="圆角矩形 42"/>
            <p:cNvSpPr/>
            <p:nvPr/>
          </p:nvSpPr>
          <p:spPr>
            <a:xfrm>
              <a:off x="3899" y="3824"/>
              <a:ext cx="1337" cy="1112"/>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868" y="3032"/>
              <a:ext cx="3443" cy="2715"/>
              <a:chOff x="2868" y="3032"/>
              <a:chExt cx="5223" cy="4118"/>
            </a:xfrm>
          </p:grpSpPr>
          <p:pic>
            <p:nvPicPr>
              <p:cNvPr id="16" name="图片 15" descr="whatisacomputer_pc"/>
              <p:cNvPicPr>
                <a:picLocks noChangeAspect="1"/>
              </p:cNvPicPr>
              <p:nvPr>
                <p:custDataLst>
                  <p:tags r:id="rId7"/>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2868" y="3032"/>
                <a:ext cx="1439" cy="1458"/>
              </a:xfrm>
              <a:prstGeom prst="rect">
                <a:avLst/>
              </a:prstGeom>
            </p:spPr>
          </p:pic>
          <p:pic>
            <p:nvPicPr>
              <p:cNvPr id="17" name="图片 16" descr="whatisacomputer_pc"/>
              <p:cNvPicPr>
                <a:picLocks noChangeAspect="1"/>
              </p:cNvPicPr>
              <p:nvPr>
                <p:custDataLst>
                  <p:tags r:id="rId9"/>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6653" y="3032"/>
                <a:ext cx="1439" cy="1458"/>
              </a:xfrm>
              <a:prstGeom prst="rect">
                <a:avLst/>
              </a:prstGeom>
            </p:spPr>
          </p:pic>
          <p:pic>
            <p:nvPicPr>
              <p:cNvPr id="18" name="图片 17" descr="whatisacomputer_pc"/>
              <p:cNvPicPr>
                <a:picLocks noChangeAspect="1"/>
              </p:cNvPicPr>
              <p:nvPr>
                <p:custDataLst>
                  <p:tags r:id="rId10"/>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2868" y="5692"/>
                <a:ext cx="1439" cy="1458"/>
              </a:xfrm>
              <a:prstGeom prst="rect">
                <a:avLst/>
              </a:prstGeom>
            </p:spPr>
          </p:pic>
          <p:pic>
            <p:nvPicPr>
              <p:cNvPr id="19" name="图片 18" descr="whatisacomputer_pc"/>
              <p:cNvPicPr>
                <a:picLocks noChangeAspect="1"/>
              </p:cNvPicPr>
              <p:nvPr>
                <p:custDataLst>
                  <p:tags r:id="rId11"/>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6653" y="5692"/>
                <a:ext cx="1439" cy="1458"/>
              </a:xfrm>
              <a:prstGeom prst="rect">
                <a:avLst/>
              </a:prstGeom>
            </p:spPr>
          </p:pic>
          <p:pic>
            <p:nvPicPr>
              <p:cNvPr id="20" name="图片 19" descr="whatisacomputer_pc"/>
              <p:cNvPicPr>
                <a:picLocks noChangeAspect="1"/>
              </p:cNvPicPr>
              <p:nvPr>
                <p:custDataLst>
                  <p:tags r:id="rId12"/>
                </p:custDataLst>
              </p:nvPr>
            </p:nvPicPr>
            <p:blipFill>
              <a:blip r:embed="rId8">
                <a:clrChange>
                  <a:clrFrom>
                    <a:srgbClr val="FFE3CB">
                      <a:alpha val="100000"/>
                    </a:srgbClr>
                  </a:clrFrom>
                  <a:clrTo>
                    <a:srgbClr val="FFE3CB">
                      <a:alpha val="100000"/>
                      <a:alpha val="0"/>
                    </a:srgbClr>
                  </a:clrTo>
                </a:clrChange>
              </a:blip>
              <a:srcRect l="49742" t="29547" r="17556" b="22236"/>
              <a:stretch>
                <a:fillRect/>
              </a:stretch>
            </p:blipFill>
            <p:spPr>
              <a:xfrm>
                <a:off x="4681" y="4367"/>
                <a:ext cx="1597" cy="1325"/>
              </a:xfrm>
              <a:prstGeom prst="rect">
                <a:avLst/>
              </a:prstGeom>
            </p:spPr>
          </p:pic>
          <p:cxnSp>
            <p:nvCxnSpPr>
              <p:cNvPr id="24" name="直接连接符 23"/>
              <p:cNvCxnSpPr>
                <a:stCxn id="19" idx="0"/>
                <a:endCxn id="17" idx="2"/>
              </p:cNvCxnSpPr>
              <p:nvPr>
                <p:custDataLst>
                  <p:tags r:id="rId13"/>
                </p:custDataLst>
              </p:nvPr>
            </p:nvCxnSpPr>
            <p:spPr>
              <a:xfrm flipV="1">
                <a:off x="7373"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8" idx="0"/>
                <a:endCxn id="16" idx="2"/>
              </p:cNvCxnSpPr>
              <p:nvPr>
                <p:custDataLst>
                  <p:tags r:id="rId14"/>
                </p:custDataLst>
              </p:nvPr>
            </p:nvCxnSpPr>
            <p:spPr>
              <a:xfrm flipV="1">
                <a:off x="3588"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0" idx="3"/>
              </p:cNvCxnSpPr>
              <p:nvPr>
                <p:custDataLst>
                  <p:tags r:id="rId15"/>
                </p:custDataLst>
              </p:nvPr>
            </p:nvCxnSpPr>
            <p:spPr>
              <a:xfrm>
                <a:off x="6278" y="5030"/>
                <a:ext cx="1096" cy="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16"/>
                </p:custDataLst>
              </p:nvPr>
            </p:nvCxnSpPr>
            <p:spPr>
              <a:xfrm>
                <a:off x="3588" y="5090"/>
                <a:ext cx="1096" cy="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grpSp>
      <p:sp>
        <p:nvSpPr>
          <p:cNvPr id="44" name="文本框 43"/>
          <p:cNvSpPr txBox="1"/>
          <p:nvPr/>
        </p:nvSpPr>
        <p:spPr>
          <a:xfrm>
            <a:off x="847090" y="4619625"/>
            <a:ext cx="1528445" cy="527050"/>
          </a:xfrm>
          <a:prstGeom prst="rect">
            <a:avLst/>
          </a:prstGeom>
          <a:noFill/>
        </p:spPr>
        <p:txBody>
          <a:bodyPr wrap="square" rtlCol="0">
            <a:noAutofit/>
          </a:bodyPr>
          <a:lstStyle/>
          <a:p>
            <a:pPr algn="ctr"/>
            <a:r>
              <a:rPr lang="zh-CN" altLang="en-US" sz="1600" b="1">
                <a:solidFill>
                  <a:schemeClr val="tx1">
                    <a:lumMod val="50000"/>
                    <a:lumOff val="50000"/>
                  </a:schemeClr>
                </a:solidFill>
              </a:rPr>
              <a:t>中心化网络</a:t>
            </a:r>
            <a:endParaRPr lang="zh-CN" altLang="en-US" sz="1600" b="1">
              <a:solidFill>
                <a:schemeClr val="tx1">
                  <a:lumMod val="50000"/>
                  <a:lumOff val="50000"/>
                </a:schemeClr>
              </a:solidFill>
            </a:endParaRPr>
          </a:p>
          <a:p>
            <a:pPr algn="ctr"/>
            <a:r>
              <a:rPr lang="zh-CN" altLang="en-US" sz="1600" b="1">
                <a:solidFill>
                  <a:schemeClr val="tx1">
                    <a:lumMod val="50000"/>
                    <a:lumOff val="50000"/>
                  </a:schemeClr>
                </a:solidFill>
              </a:rPr>
              <a:t>单点失效</a:t>
            </a:r>
            <a:endParaRPr lang="zh-CN" altLang="en-US" sz="1600" b="1">
              <a:solidFill>
                <a:schemeClr val="tx1">
                  <a:lumMod val="50000"/>
                  <a:lumOff val="50000"/>
                </a:schemeClr>
              </a:solidFill>
            </a:endParaRPr>
          </a:p>
        </p:txBody>
      </p:sp>
      <p:sp>
        <p:nvSpPr>
          <p:cNvPr id="50" name="文本框 49"/>
          <p:cNvSpPr txBox="1"/>
          <p:nvPr/>
        </p:nvSpPr>
        <p:spPr>
          <a:xfrm>
            <a:off x="5946140" y="2637790"/>
            <a:ext cx="6226175" cy="461665"/>
          </a:xfrm>
          <a:prstGeom prst="rect">
            <a:avLst/>
          </a:prstGeom>
          <a:noFill/>
        </p:spPr>
        <p:txBody>
          <a:bodyPr wrap="square" rtlCol="0" anchor="t">
            <a:spAutoFit/>
          </a:bodyPr>
          <a:lstStyle/>
          <a:p>
            <a:r>
              <a:rPr lang="zh-CN" altLang="en-US" sz="2400" b="1" dirty="0">
                <a:solidFill>
                  <a:srgbClr val="04579A"/>
                </a:solidFill>
              </a:rPr>
              <a:t>分布式架构 </a:t>
            </a:r>
            <a:r>
              <a:rPr lang="en-US" altLang="zh-CN" sz="2400" b="1" dirty="0">
                <a:solidFill>
                  <a:srgbClr val="04579A"/>
                </a:solidFill>
              </a:rPr>
              <a:t>vs </a:t>
            </a:r>
            <a:r>
              <a:rPr lang="zh-CN" altLang="en-US" sz="2400" b="1" dirty="0">
                <a:solidFill>
                  <a:srgbClr val="04579A"/>
                </a:solidFill>
              </a:rPr>
              <a:t>中心化架构：</a:t>
            </a:r>
            <a:endParaRPr lang="zh-CN" altLang="en-US" sz="2400" b="1" dirty="0">
              <a:solidFill>
                <a:srgbClr val="04579A"/>
              </a:solidFill>
            </a:endParaRPr>
          </a:p>
        </p:txBody>
      </p:sp>
      <p:sp>
        <p:nvSpPr>
          <p:cNvPr id="53" name="矩形 52"/>
          <p:cNvSpPr/>
          <p:nvPr>
            <p:custDataLst>
              <p:tags r:id="rId17"/>
            </p:custDataLst>
          </p:nvPr>
        </p:nvSpPr>
        <p:spPr>
          <a:xfrm>
            <a:off x="7742555" y="3531870"/>
            <a:ext cx="2635250" cy="40259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4" name="矩形 53"/>
          <p:cNvSpPr/>
          <p:nvPr>
            <p:custDataLst>
              <p:tags r:id="rId18"/>
            </p:custDataLst>
          </p:nvPr>
        </p:nvSpPr>
        <p:spPr>
          <a:xfrm>
            <a:off x="5969000" y="402336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custDataLst>
              <p:tags r:id="rId19"/>
            </p:custDataLst>
          </p:nvPr>
        </p:nvSpPr>
        <p:spPr>
          <a:xfrm>
            <a:off x="5969000" y="4514850"/>
            <a:ext cx="1772920" cy="402590"/>
          </a:xfrm>
          <a:prstGeom prst="rect">
            <a:avLst/>
          </a:prstGeom>
          <a:noFill/>
          <a:ln>
            <a:solidFill>
              <a:schemeClr val="accent1">
                <a:lumMod val="40000"/>
                <a:lumOff val="6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custDataLst>
              <p:tags r:id="rId20"/>
            </p:custDataLst>
          </p:nvPr>
        </p:nvSpPr>
        <p:spPr>
          <a:xfrm>
            <a:off x="7742555" y="4023360"/>
            <a:ext cx="2635250" cy="40259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7" name="矩形 56"/>
          <p:cNvSpPr/>
          <p:nvPr>
            <p:custDataLst>
              <p:tags r:id="rId21"/>
            </p:custDataLst>
          </p:nvPr>
        </p:nvSpPr>
        <p:spPr>
          <a:xfrm>
            <a:off x="7742555" y="4514850"/>
            <a:ext cx="2635250" cy="40259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1" name="文本框 50"/>
          <p:cNvSpPr txBox="1"/>
          <p:nvPr/>
        </p:nvSpPr>
        <p:spPr>
          <a:xfrm>
            <a:off x="6058852" y="3390027"/>
            <a:ext cx="4526280" cy="1495409"/>
          </a:xfrm>
          <a:prstGeom prst="rect">
            <a:avLst/>
          </a:prstGeom>
          <a:noFill/>
        </p:spPr>
        <p:txBody>
          <a:bodyPr wrap="square" rtlCol="0" anchor="t">
            <a:spAutoFit/>
          </a:bodyPr>
          <a:lstStyle/>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弹性扩容</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扩展节点灵活提升系统容量</a:t>
            </a:r>
            <a:endParaRPr lang="zh-CN" altLang="en-US" sz="1600" dirty="0">
              <a:latin typeface="微软雅黑" panose="020B0503020204020204" charset="-122"/>
              <a:ea typeface="微软雅黑" panose="020B0503020204020204" charset="-122"/>
              <a:cs typeface="微软雅黑" panose="020B0503020204020204" charset="-122"/>
            </a:endParaRPr>
          </a:p>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高容错性</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无单点失效隐患</a:t>
            </a:r>
            <a:endParaRPr lang="zh-CN" altLang="en-US" sz="1600" dirty="0">
              <a:latin typeface="微软雅黑" panose="020B0503020204020204" charset="-122"/>
              <a:ea typeface="微软雅黑" panose="020B0503020204020204" charset="-122"/>
              <a:cs typeface="微软雅黑" panose="020B0503020204020204" charset="-122"/>
            </a:endParaRPr>
          </a:p>
          <a:p>
            <a:pPr indent="0" fontAlgn="auto">
              <a:lnSpc>
                <a:spcPct val="200000"/>
              </a:lnSpc>
            </a:pPr>
            <a:r>
              <a:rPr lang="zh-CN" altLang="en-US" sz="1600" dirty="0">
                <a:latin typeface="微软雅黑" panose="020B0503020204020204" charset="-122"/>
                <a:ea typeface="微软雅黑" panose="020B0503020204020204" charset="-122"/>
                <a:cs typeface="微软雅黑" panose="020B0503020204020204" charset="-122"/>
              </a:rPr>
              <a:t>去中心化</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消除中心控制，防止垄断</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59" name="圆角矩形 58"/>
          <p:cNvSpPr/>
          <p:nvPr>
            <p:custDataLst>
              <p:tags r:id="rId22"/>
            </p:custDataLst>
          </p:nvPr>
        </p:nvSpPr>
        <p:spPr>
          <a:xfrm>
            <a:off x="2331085" y="1473835"/>
            <a:ext cx="3047365" cy="4378325"/>
          </a:xfrm>
          <a:prstGeom prst="roundRect">
            <a:avLst/>
          </a:prstGeom>
          <a:solidFill>
            <a:schemeClr val="bg1"/>
          </a:solidFill>
          <a:ln>
            <a:solidFill>
              <a:srgbClr val="0688EC"/>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2606040" y="2215515"/>
            <a:ext cx="2480945" cy="1955800"/>
            <a:chOff x="10538" y="3032"/>
            <a:chExt cx="4654" cy="3668"/>
          </a:xfrm>
        </p:grpSpPr>
        <p:grpSp>
          <p:nvGrpSpPr>
            <p:cNvPr id="31" name="组合 30"/>
            <p:cNvGrpSpPr/>
            <p:nvPr/>
          </p:nvGrpSpPr>
          <p:grpSpPr>
            <a:xfrm>
              <a:off x="10538" y="3032"/>
              <a:ext cx="4654" cy="3669"/>
              <a:chOff x="2868" y="3032"/>
              <a:chExt cx="5224" cy="4118"/>
            </a:xfrm>
          </p:grpSpPr>
          <p:pic>
            <p:nvPicPr>
              <p:cNvPr id="32" name="图片 31" descr="whatisacomputer_pc"/>
              <p:cNvPicPr>
                <a:picLocks noChangeAspect="1"/>
              </p:cNvPicPr>
              <p:nvPr>
                <p:custDataLst>
                  <p:tags r:id="rId23"/>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2868" y="3032"/>
                <a:ext cx="1439" cy="1458"/>
              </a:xfrm>
              <a:prstGeom prst="rect">
                <a:avLst/>
              </a:prstGeom>
            </p:spPr>
          </p:pic>
          <p:pic>
            <p:nvPicPr>
              <p:cNvPr id="33" name="图片 32" descr="whatisacomputer_pc"/>
              <p:cNvPicPr>
                <a:picLocks noChangeAspect="1"/>
              </p:cNvPicPr>
              <p:nvPr>
                <p:custDataLst>
                  <p:tags r:id="rId24"/>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6653" y="3032"/>
                <a:ext cx="1439" cy="1458"/>
              </a:xfrm>
              <a:prstGeom prst="rect">
                <a:avLst/>
              </a:prstGeom>
            </p:spPr>
          </p:pic>
          <p:pic>
            <p:nvPicPr>
              <p:cNvPr id="34" name="图片 33" descr="whatisacomputer_pc"/>
              <p:cNvPicPr>
                <a:picLocks noChangeAspect="1"/>
              </p:cNvPicPr>
              <p:nvPr>
                <p:custDataLst>
                  <p:tags r:id="rId25"/>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2868" y="5692"/>
                <a:ext cx="1439" cy="1458"/>
              </a:xfrm>
              <a:prstGeom prst="rect">
                <a:avLst/>
              </a:prstGeom>
            </p:spPr>
          </p:pic>
          <p:pic>
            <p:nvPicPr>
              <p:cNvPr id="35" name="图片 34" descr="whatisacomputer_pc"/>
              <p:cNvPicPr>
                <a:picLocks noChangeAspect="1"/>
              </p:cNvPicPr>
              <p:nvPr>
                <p:custDataLst>
                  <p:tags r:id="rId26"/>
                </p:custDataLst>
              </p:nvPr>
            </p:nvPicPr>
            <p:blipFill>
              <a:blip r:embed="rId8">
                <a:clrChange>
                  <a:clrFrom>
                    <a:srgbClr val="FFE3CB">
                      <a:alpha val="100000"/>
                    </a:srgbClr>
                  </a:clrFrom>
                  <a:clrTo>
                    <a:srgbClr val="FFE3CB">
                      <a:alpha val="100000"/>
                      <a:alpha val="0"/>
                    </a:srgbClr>
                  </a:clrTo>
                </a:clrChange>
              </a:blip>
              <a:srcRect l="20418" t="24707" r="50115" b="22236"/>
              <a:stretch>
                <a:fillRect/>
              </a:stretch>
            </p:blipFill>
            <p:spPr>
              <a:xfrm>
                <a:off x="6653" y="5692"/>
                <a:ext cx="1439" cy="1458"/>
              </a:xfrm>
              <a:prstGeom prst="rect">
                <a:avLst/>
              </a:prstGeom>
            </p:spPr>
          </p:pic>
          <p:cxnSp>
            <p:nvCxnSpPr>
              <p:cNvPr id="37" name="直接连接符 36"/>
              <p:cNvCxnSpPr>
                <a:stCxn id="35" idx="0"/>
                <a:endCxn id="33" idx="2"/>
              </p:cNvCxnSpPr>
              <p:nvPr>
                <p:custDataLst>
                  <p:tags r:id="rId27"/>
                </p:custDataLst>
              </p:nvPr>
            </p:nvCxnSpPr>
            <p:spPr>
              <a:xfrm flipV="1">
                <a:off x="7373"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4" idx="0"/>
                <a:endCxn id="32" idx="2"/>
              </p:cNvCxnSpPr>
              <p:nvPr>
                <p:custDataLst>
                  <p:tags r:id="rId28"/>
                </p:custDataLst>
              </p:nvPr>
            </p:nvCxnSpPr>
            <p:spPr>
              <a:xfrm flipV="1">
                <a:off x="3588" y="4490"/>
                <a:ext cx="0" cy="1202"/>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4" idx="3"/>
                <a:endCxn id="35" idx="1"/>
              </p:cNvCxnSpPr>
              <p:nvPr>
                <p:custDataLst>
                  <p:tags r:id="rId29"/>
                </p:custDataLst>
              </p:nvPr>
            </p:nvCxnSpPr>
            <p:spPr>
              <a:xfrm>
                <a:off x="4307" y="6420"/>
                <a:ext cx="2346" cy="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2" idx="3"/>
                <a:endCxn id="33" idx="1"/>
              </p:cNvCxnSpPr>
              <p:nvPr>
                <p:custDataLst>
                  <p:tags r:id="rId30"/>
                </p:custDataLst>
              </p:nvPr>
            </p:nvCxnSpPr>
            <p:spPr>
              <a:xfrm>
                <a:off x="4307" y="3761"/>
                <a:ext cx="2346" cy="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cxnSp>
          <p:nvCxnSpPr>
            <p:cNvPr id="41" name="直接连接符 40"/>
            <p:cNvCxnSpPr/>
            <p:nvPr>
              <p:custDataLst>
                <p:tags r:id="rId31"/>
              </p:custDataLst>
            </p:nvPr>
          </p:nvCxnSpPr>
          <p:spPr>
            <a:xfrm flipV="1">
              <a:off x="11850" y="4097"/>
              <a:ext cx="2115" cy="1380"/>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32"/>
              </p:custDataLst>
            </p:nvPr>
          </p:nvCxnSpPr>
          <p:spPr>
            <a:xfrm flipH="1" flipV="1">
              <a:off x="11820" y="4097"/>
              <a:ext cx="2085" cy="1365"/>
            </a:xfrm>
            <a:prstGeom prst="line">
              <a:avLst/>
            </a:prstGeom>
            <a:ln w="22225">
              <a:solidFill>
                <a:srgbClr val="04579A"/>
              </a:solidFill>
            </a:ln>
          </p:spPr>
          <p:style>
            <a:lnRef idx="1">
              <a:schemeClr val="accent1"/>
            </a:lnRef>
            <a:fillRef idx="0">
              <a:schemeClr val="accent1"/>
            </a:fillRef>
            <a:effectRef idx="0">
              <a:schemeClr val="accent1"/>
            </a:effectRef>
            <a:fontRef idx="minor">
              <a:schemeClr val="tx1"/>
            </a:fontRef>
          </p:style>
        </p:cxnSp>
      </p:grpSp>
      <p:sp>
        <p:nvSpPr>
          <p:cNvPr id="45" name="文本框 44"/>
          <p:cNvSpPr txBox="1"/>
          <p:nvPr>
            <p:custDataLst>
              <p:tags r:id="rId33"/>
            </p:custDataLst>
          </p:nvPr>
        </p:nvSpPr>
        <p:spPr>
          <a:xfrm>
            <a:off x="3107690" y="4812665"/>
            <a:ext cx="1530985" cy="360680"/>
          </a:xfrm>
          <a:prstGeom prst="rect">
            <a:avLst/>
          </a:prstGeom>
          <a:noFill/>
        </p:spPr>
        <p:txBody>
          <a:bodyPr wrap="square" rtlCol="0">
            <a:noAutofit/>
          </a:bodyPr>
          <a:lstStyle/>
          <a:p>
            <a:pPr algn="ctr"/>
            <a:r>
              <a:rPr lang="zh-CN" altLang="en-US" sz="2000" b="1">
                <a:solidFill>
                  <a:srgbClr val="04579A"/>
                </a:solidFill>
              </a:rPr>
              <a:t>分布式系统</a:t>
            </a:r>
            <a:endParaRPr lang="zh-CN" altLang="en-US" sz="2000" b="1">
              <a:solidFill>
                <a:srgbClr val="04579A"/>
              </a:solidFill>
            </a:endParaRPr>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a:t>
            </a:r>
            <a:endParaRPr lang="zh-CN" altLang="en-US" dirty="0"/>
          </a:p>
        </p:txBody>
      </p:sp>
    </p:spTree>
    <p:custDataLst>
      <p:tags r:id="rId34"/>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6" name="图片 55" descr="20190925003459"/>
          <p:cNvPicPr>
            <a:picLocks noChangeAspect="1"/>
          </p:cNvPicPr>
          <p:nvPr/>
        </p:nvPicPr>
        <p:blipFill>
          <a:blip r:embed="rId1"/>
          <a:srcRect b="1330"/>
          <a:stretch>
            <a:fillRect/>
          </a:stretch>
        </p:blipFill>
        <p:spPr>
          <a:xfrm>
            <a:off x="1270635" y="1303020"/>
            <a:ext cx="3202305" cy="2105660"/>
          </a:xfrm>
          <a:prstGeom prst="rect">
            <a:avLst/>
          </a:prstGeom>
          <a:effectLst>
            <a:outerShdw blurRad="50800" dist="38100" dir="2700000" algn="tl" rotWithShape="0">
              <a:prstClr val="black">
                <a:alpha val="40000"/>
              </a:prstClr>
            </a:outerShdw>
          </a:effectLst>
        </p:spPr>
      </p:pic>
      <p:sp>
        <p:nvSpPr>
          <p:cNvPr id="59" name="文本框 58"/>
          <p:cNvSpPr txBox="1"/>
          <p:nvPr/>
        </p:nvSpPr>
        <p:spPr>
          <a:xfrm>
            <a:off x="1972946" y="4275455"/>
            <a:ext cx="4349694" cy="2058128"/>
          </a:xfrm>
          <a:prstGeom prst="rect">
            <a:avLst/>
          </a:prstGeom>
          <a:noFill/>
        </p:spPr>
        <p:txBody>
          <a:bodyPr wrap="square" rtlCol="0" anchor="t">
            <a:spAutoFit/>
          </a:bodyPr>
          <a:lstStyle/>
          <a:p>
            <a:pPr indent="0" fontAlgn="auto">
              <a:lnSpc>
                <a:spcPct val="120000"/>
              </a:lnSpc>
            </a:pPr>
            <a:r>
              <a:rPr lang="zh-CN" altLang="en-US" b="1" dirty="0">
                <a:solidFill>
                  <a:srgbClr val="04579A"/>
                </a:solidFill>
              </a:rPr>
              <a:t>公开可验证</a:t>
            </a:r>
            <a:endParaRPr lang="en-US" altLang="zh-CN" b="1" dirty="0">
              <a:solidFill>
                <a:srgbClr val="04579A"/>
              </a:solidFill>
            </a:endParaRPr>
          </a:p>
          <a:p>
            <a:pPr indent="0" fontAlgn="auto">
              <a:lnSpc>
                <a:spcPct val="120000"/>
              </a:lnSpc>
            </a:pPr>
            <a:r>
              <a:rPr lang="zh-CN" altLang="en-US" dirty="0"/>
              <a:t>维护全局统一的线性有序交易记录</a:t>
            </a:r>
            <a:endParaRPr lang="en-US" altLang="zh-CN" dirty="0"/>
          </a:p>
          <a:p>
            <a:pPr indent="0" fontAlgn="auto">
              <a:lnSpc>
                <a:spcPct val="120000"/>
              </a:lnSpc>
            </a:pPr>
            <a:r>
              <a:rPr lang="zh-CN" altLang="en-US" b="1" dirty="0">
                <a:solidFill>
                  <a:srgbClr val="04579A"/>
                </a:solidFill>
              </a:rPr>
              <a:t>不可篡改</a:t>
            </a:r>
            <a:endParaRPr lang="en-US" altLang="zh-CN" b="1" dirty="0">
              <a:solidFill>
                <a:srgbClr val="04579A"/>
              </a:solidFill>
            </a:endParaRPr>
          </a:p>
          <a:p>
            <a:pPr indent="0" fontAlgn="auto">
              <a:lnSpc>
                <a:spcPct val="120000"/>
              </a:lnSpc>
            </a:pPr>
            <a:r>
              <a:rPr lang="zh-CN" altLang="en-US" dirty="0"/>
              <a:t>区块间存在链接结构，一旦篡改即失效</a:t>
            </a:r>
            <a:endParaRPr lang="en-US" altLang="zh-CN" dirty="0"/>
          </a:p>
          <a:p>
            <a:pPr>
              <a:lnSpc>
                <a:spcPct val="120000"/>
              </a:lnSpc>
            </a:pPr>
            <a:r>
              <a:rPr lang="zh-CN" altLang="en-US" b="1" dirty="0">
                <a:solidFill>
                  <a:srgbClr val="04579A"/>
                </a:solidFill>
              </a:rPr>
              <a:t>去中心化</a:t>
            </a:r>
            <a:endParaRPr lang="en-US" altLang="zh-CN" b="1" dirty="0">
              <a:solidFill>
                <a:srgbClr val="04579A"/>
              </a:solidFill>
            </a:endParaRPr>
          </a:p>
          <a:p>
            <a:pPr indent="0" fontAlgn="auto">
              <a:lnSpc>
                <a:spcPct val="120000"/>
              </a:lnSpc>
            </a:pPr>
            <a:r>
              <a:rPr lang="zh-CN" altLang="en-US" dirty="0"/>
              <a:t>独立验证节点构成的点对点网络共同维护</a:t>
            </a:r>
            <a:endParaRPr lang="zh-CN" altLang="en-US" dirty="0"/>
          </a:p>
        </p:txBody>
      </p:sp>
      <p:sp>
        <p:nvSpPr>
          <p:cNvPr id="4" name="矩形 3"/>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76165" y="1795145"/>
            <a:ext cx="6195695" cy="1753235"/>
          </a:xfrm>
          <a:prstGeom prst="rect">
            <a:avLst/>
          </a:prstGeom>
          <a:noFill/>
        </p:spPr>
        <p:txBody>
          <a:bodyPr wrap="square" rtlCol="0" anchor="t">
            <a:spAutoFit/>
          </a:bodyPr>
          <a:lstStyle/>
          <a:p>
            <a:pPr marL="285750" indent="-285750" fontAlgn="auto">
              <a:lnSpc>
                <a:spcPct val="150000"/>
              </a:lnSpc>
              <a:buFont typeface="Arial" panose="020B0604020202020204" pitchFamily="34" charset="0"/>
              <a:buChar char="•"/>
            </a:pPr>
            <a:r>
              <a:rPr lang="zh-CN" altLang="en-US" dirty="0"/>
              <a:t>持续增长，线性排序的交易日志</a:t>
            </a:r>
            <a:endParaRPr lang="zh-CN" altLang="en-US" dirty="0"/>
          </a:p>
          <a:p>
            <a:pPr marL="285750" indent="-285750" fontAlgn="auto">
              <a:lnSpc>
                <a:spcPct val="150000"/>
              </a:lnSpc>
              <a:buFont typeface="Arial" panose="020B0604020202020204" pitchFamily="34" charset="0"/>
              <a:buChar char="•"/>
            </a:pPr>
            <a:r>
              <a:rPr lang="zh-CN" altLang="en-US" dirty="0">
                <a:sym typeface="+mn-ea"/>
              </a:rPr>
              <a:t>基于工作量证明 (Proof</a:t>
            </a:r>
            <a:r>
              <a:rPr lang="en-US" altLang="zh-CN" dirty="0">
                <a:sym typeface="+mn-ea"/>
              </a:rPr>
              <a:t> </a:t>
            </a:r>
            <a:r>
              <a:rPr lang="zh-CN" altLang="en-US" dirty="0">
                <a:sym typeface="+mn-ea"/>
              </a:rPr>
              <a:t>of Work, PoW) 的共识机制</a:t>
            </a:r>
            <a:endParaRPr lang="zh-CN" altLang="en-US" dirty="0"/>
          </a:p>
          <a:p>
            <a:pPr marL="285750" indent="-285750" fontAlgn="auto">
              <a:lnSpc>
                <a:spcPct val="150000"/>
              </a:lnSpc>
              <a:buFont typeface="Arial" panose="020B0604020202020204" pitchFamily="34" charset="0"/>
              <a:buChar char="•"/>
            </a:pPr>
            <a:r>
              <a:rPr lang="zh-CN" altLang="en-US" dirty="0"/>
              <a:t>允许任何节点随时自由地加入系统</a:t>
            </a:r>
            <a:endParaRPr lang="zh-CN" altLang="en-US" dirty="0"/>
          </a:p>
          <a:p>
            <a:pPr marL="285750" indent="-285750" fontAlgn="auto">
              <a:lnSpc>
                <a:spcPct val="150000"/>
              </a:lnSpc>
              <a:buFont typeface="Arial" panose="020B0604020202020204" pitchFamily="34" charset="0"/>
              <a:buChar char="•"/>
            </a:pPr>
            <a:endParaRPr lang="zh-CN" altLang="en-US" dirty="0"/>
          </a:p>
        </p:txBody>
      </p:sp>
      <p:sp>
        <p:nvSpPr>
          <p:cNvPr id="11" name="文本框 10"/>
          <p:cNvSpPr txBox="1"/>
          <p:nvPr/>
        </p:nvSpPr>
        <p:spPr>
          <a:xfrm>
            <a:off x="4811395" y="1176020"/>
            <a:ext cx="5779135" cy="460375"/>
          </a:xfrm>
          <a:prstGeom prst="rect">
            <a:avLst/>
          </a:prstGeom>
          <a:noFill/>
        </p:spPr>
        <p:txBody>
          <a:bodyPr wrap="square" rtlCol="0" anchor="t">
            <a:spAutoFit/>
          </a:bodyPr>
          <a:lstStyle/>
          <a:p>
            <a:r>
              <a:rPr lang="zh-CN" altLang="en-US" sz="2400" b="1" dirty="0">
                <a:solidFill>
                  <a:srgbClr val="04579A"/>
                </a:solidFill>
              </a:rPr>
              <a:t>2008 年，比特币在全球范围内获得成功</a:t>
            </a:r>
            <a:endParaRPr lang="zh-CN" altLang="en-US" sz="2400" b="1" dirty="0">
              <a:solidFill>
                <a:srgbClr val="04579A"/>
              </a:solidFill>
            </a:endParaRPr>
          </a:p>
        </p:txBody>
      </p:sp>
      <p:grpSp>
        <p:nvGrpSpPr>
          <p:cNvPr id="50" name="组合 49"/>
          <p:cNvGrpSpPr/>
          <p:nvPr/>
        </p:nvGrpSpPr>
        <p:grpSpPr>
          <a:xfrm>
            <a:off x="7260563" y="4575862"/>
            <a:ext cx="3989742" cy="295761"/>
            <a:chOff x="2147" y="7509"/>
            <a:chExt cx="5937" cy="440"/>
          </a:xfrm>
        </p:grpSpPr>
        <p:sp>
          <p:nvSpPr>
            <p:cNvPr id="7" name="矩形 6"/>
            <p:cNvSpPr/>
            <p:nvPr>
              <p:custDataLst>
                <p:tags r:id="rId8"/>
              </p:custDataLst>
            </p:nvPr>
          </p:nvSpPr>
          <p:spPr>
            <a:xfrm>
              <a:off x="214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9"/>
              </p:custDataLst>
            </p:nvPr>
          </p:nvSpPr>
          <p:spPr>
            <a:xfrm>
              <a:off x="3015"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10"/>
              </p:custDataLst>
            </p:nvPr>
          </p:nvSpPr>
          <p:spPr>
            <a:xfrm>
              <a:off x="3882"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11"/>
              </p:custDataLst>
            </p:nvPr>
          </p:nvSpPr>
          <p:spPr>
            <a:xfrm>
              <a:off x="4750"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12"/>
              </p:custDataLst>
            </p:nvPr>
          </p:nvSpPr>
          <p:spPr>
            <a:xfrm>
              <a:off x="5618"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a:stCxn id="12" idx="1"/>
              <a:endCxn id="7" idx="3"/>
            </p:cNvCxnSpPr>
            <p:nvPr>
              <p:custDataLst>
                <p:tags r:id="rId13"/>
              </p:custDataLst>
            </p:nvPr>
          </p:nvCxnSpPr>
          <p:spPr>
            <a:xfrm flipH="1">
              <a:off x="2874" y="7729"/>
              <a:ext cx="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3" idx="1"/>
              <a:endCxn id="12" idx="3"/>
            </p:cNvCxnSpPr>
            <p:nvPr>
              <p:custDataLst>
                <p:tags r:id="rId14"/>
              </p:custDataLst>
            </p:nvPr>
          </p:nvCxnSpPr>
          <p:spPr>
            <a:xfrm flipH="1">
              <a:off x="3742" y="7729"/>
              <a:ext cx="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4" idx="1"/>
              <a:endCxn id="13" idx="3"/>
            </p:cNvCxnSpPr>
            <p:nvPr>
              <p:custDataLst>
                <p:tags r:id="rId15"/>
              </p:custDataLst>
            </p:nvPr>
          </p:nvCxnSpPr>
          <p:spPr>
            <a:xfrm flipH="1">
              <a:off x="4610" y="7729"/>
              <a:ext cx="1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6" idx="1"/>
              <a:endCxn id="14" idx="3"/>
            </p:cNvCxnSpPr>
            <p:nvPr>
              <p:custDataLst>
                <p:tags r:id="rId16"/>
              </p:custDataLst>
            </p:nvPr>
          </p:nvCxnSpPr>
          <p:spPr>
            <a:xfrm flipH="1">
              <a:off x="5478" y="7729"/>
              <a:ext cx="140"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矩形 43"/>
            <p:cNvSpPr/>
            <p:nvPr>
              <p:custDataLst>
                <p:tags r:id="rId17"/>
              </p:custDataLst>
            </p:nvPr>
          </p:nvSpPr>
          <p:spPr>
            <a:xfrm>
              <a:off x="648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p:cNvCxnSpPr>
              <a:stCxn id="44" idx="1"/>
            </p:cNvCxnSpPr>
            <p:nvPr>
              <p:custDataLst>
                <p:tags r:id="rId18"/>
              </p:custDataLst>
            </p:nvPr>
          </p:nvCxnSpPr>
          <p:spPr>
            <a:xfrm flipH="1">
              <a:off x="6347" y="7729"/>
              <a:ext cx="140"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矩形 45"/>
            <p:cNvSpPr/>
            <p:nvPr>
              <p:custDataLst>
                <p:tags r:id="rId19"/>
              </p:custDataLst>
            </p:nvPr>
          </p:nvSpPr>
          <p:spPr>
            <a:xfrm>
              <a:off x="7357" y="7509"/>
              <a:ext cx="727" cy="440"/>
            </a:xfrm>
            <a:prstGeom prst="rect">
              <a:avLst/>
            </a:prstGeom>
            <a:solidFill>
              <a:srgbClr val="04579A"/>
            </a:solidFill>
            <a:ln w="25400">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46"/>
            <p:cNvCxnSpPr>
              <a:stCxn id="46" idx="1"/>
            </p:cNvCxnSpPr>
            <p:nvPr>
              <p:custDataLst>
                <p:tags r:id="rId20"/>
              </p:custDataLst>
            </p:nvPr>
          </p:nvCxnSpPr>
          <p:spPr>
            <a:xfrm flipH="1">
              <a:off x="7217" y="7729"/>
              <a:ext cx="14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7" name="直接连接符 56"/>
          <p:cNvCxnSpPr/>
          <p:nvPr/>
        </p:nvCxnSpPr>
        <p:spPr>
          <a:xfrm>
            <a:off x="444500" y="3756025"/>
            <a:ext cx="11277600" cy="0"/>
          </a:xfrm>
          <a:prstGeom prst="line">
            <a:avLst/>
          </a:prstGeom>
          <a:ln>
            <a:solidFill>
              <a:schemeClr val="bg1">
                <a:lumMod val="50000"/>
                <a:alpha val="54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34340" y="4822825"/>
            <a:ext cx="1402715" cy="509905"/>
          </a:xfrm>
          <a:prstGeom prst="roundRect">
            <a:avLst/>
          </a:prstGeom>
          <a:solidFill>
            <a:srgbClr val="04579A"/>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2400" b="1" dirty="0">
                <a:solidFill>
                  <a:schemeClr val="bg1"/>
                </a:solidFill>
              </a:rPr>
              <a:t>性质</a:t>
            </a:r>
            <a:endParaRPr lang="zh-CN" altLang="en-US" sz="2400" b="1" dirty="0">
              <a:solidFill>
                <a:schemeClr val="bg1"/>
              </a:solidFill>
            </a:endParaRPr>
          </a:p>
        </p:txBody>
      </p:sp>
      <p:sp>
        <p:nvSpPr>
          <p:cNvPr id="55" name="右箭头 54"/>
          <p:cNvSpPr/>
          <p:nvPr/>
        </p:nvSpPr>
        <p:spPr>
          <a:xfrm>
            <a:off x="6436995" y="4792345"/>
            <a:ext cx="431800" cy="584200"/>
          </a:xfrm>
          <a:prstGeom prst="rightArrow">
            <a:avLst/>
          </a:prstGeom>
          <a:noFill/>
          <a:ln w="22225">
            <a:solidFill>
              <a:srgbClr val="04579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434340" y="4454525"/>
            <a:ext cx="1402715" cy="398780"/>
          </a:xfrm>
          <a:prstGeom prst="rect">
            <a:avLst/>
          </a:prstGeom>
          <a:noFill/>
        </p:spPr>
        <p:txBody>
          <a:bodyPr wrap="square" rtlCol="0" anchor="t">
            <a:spAutoFit/>
          </a:bodyPr>
          <a:lstStyle/>
          <a:p>
            <a:pPr algn="ctr"/>
            <a:r>
              <a:rPr lang="zh-CN" altLang="en-US" sz="2000" b="1">
                <a:solidFill>
                  <a:srgbClr val="04579A"/>
                </a:solidFill>
                <a:sym typeface="+mn-ea"/>
              </a:rPr>
              <a:t>区块链</a:t>
            </a:r>
            <a:endParaRPr lang="zh-CN" altLang="en-US" sz="2000" b="1">
              <a:solidFill>
                <a:srgbClr val="04579A"/>
              </a:solidFill>
              <a:sym typeface="+mn-ea"/>
            </a:endParaRPr>
          </a:p>
        </p:txBody>
      </p:sp>
      <p:cxnSp>
        <p:nvCxnSpPr>
          <p:cNvPr id="98" name="直接连接符 97"/>
          <p:cNvCxnSpPr/>
          <p:nvPr/>
        </p:nvCxnSpPr>
        <p:spPr>
          <a:xfrm flipV="1">
            <a:off x="1270635" y="1164590"/>
            <a:ext cx="5715" cy="251206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1189990" y="36766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14" idx="2"/>
          </p:cNvCxnSpPr>
          <p:nvPr/>
        </p:nvCxnSpPr>
        <p:spPr>
          <a:xfrm>
            <a:off x="9254090" y="4871623"/>
            <a:ext cx="0" cy="333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7245648" y="5167384"/>
            <a:ext cx="4057352" cy="1166199"/>
            <a:chOff x="7260578" y="4917926"/>
            <a:chExt cx="4057352" cy="1166199"/>
          </a:xfrm>
        </p:grpSpPr>
        <p:sp>
          <p:nvSpPr>
            <p:cNvPr id="24" name="矩形: 圆角 23"/>
            <p:cNvSpPr/>
            <p:nvPr/>
          </p:nvSpPr>
          <p:spPr>
            <a:xfrm>
              <a:off x="7764047" y="4955969"/>
              <a:ext cx="3050415" cy="1128156"/>
            </a:xfrm>
            <a:prstGeom prst="roundRect">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7260578" y="4917926"/>
              <a:ext cx="4057352" cy="1156407"/>
            </a:xfrm>
            <a:prstGeom prst="rect">
              <a:avLst/>
            </a:prstGeom>
            <a:noFill/>
          </p:spPr>
          <p:txBody>
            <a:bodyPr wrap="square" rtlCol="0">
              <a:spAutoFit/>
            </a:bodyPr>
            <a:lstStyle/>
            <a:p>
              <a:pPr algn="ctr">
                <a:lnSpc>
                  <a:spcPct val="150000"/>
                </a:lnSpc>
              </a:pPr>
              <a:r>
                <a:rPr lang="zh-CN" altLang="en-US" sz="1600" b="1" dirty="0">
                  <a:solidFill>
                    <a:schemeClr val="bg1"/>
                  </a:solidFill>
                </a:rPr>
                <a:t>数据所有权的透明性和可追溯性</a:t>
              </a:r>
              <a:endParaRPr lang="en-US" altLang="zh-CN" sz="1600" b="1" dirty="0">
                <a:solidFill>
                  <a:schemeClr val="bg1"/>
                </a:solidFill>
              </a:endParaRPr>
            </a:p>
            <a:p>
              <a:pPr algn="ctr">
                <a:lnSpc>
                  <a:spcPct val="150000"/>
                </a:lnSpc>
              </a:pPr>
              <a:r>
                <a:rPr lang="zh-CN" altLang="en-US" sz="1600" b="1" dirty="0">
                  <a:solidFill>
                    <a:schemeClr val="bg1"/>
                  </a:solidFill>
                </a:rPr>
                <a:t>数据的完整性和可用性</a:t>
              </a:r>
              <a:endParaRPr lang="en-US" altLang="zh-CN" sz="1600" b="1" dirty="0">
                <a:solidFill>
                  <a:schemeClr val="bg1"/>
                </a:solidFill>
              </a:endParaRPr>
            </a:p>
            <a:p>
              <a:pPr algn="ctr">
                <a:lnSpc>
                  <a:spcPct val="150000"/>
                </a:lnSpc>
              </a:pPr>
              <a:r>
                <a:rPr lang="zh-CN" altLang="en-US" sz="1600" b="1" dirty="0">
                  <a:solidFill>
                    <a:schemeClr val="bg1"/>
                  </a:solidFill>
                </a:rPr>
                <a:t>数据存储的鲁棒性</a:t>
              </a:r>
              <a:endParaRPr lang="zh-CN" altLang="en-US" sz="1600" b="1" dirty="0">
                <a:solidFill>
                  <a:schemeClr val="bg1"/>
                </a:solidFill>
              </a:endParaRPr>
            </a:p>
          </p:txBody>
        </p:sp>
      </p:grpSp>
      <p:sp>
        <p:nvSpPr>
          <p:cNvPr id="27" name="文本框 26"/>
          <p:cNvSpPr txBox="1"/>
          <p:nvPr/>
        </p:nvSpPr>
        <p:spPr>
          <a:xfrm>
            <a:off x="6364522" y="3854832"/>
            <a:ext cx="5779135" cy="460375"/>
          </a:xfrm>
          <a:prstGeom prst="rect">
            <a:avLst/>
          </a:prstGeom>
          <a:noFill/>
        </p:spPr>
        <p:txBody>
          <a:bodyPr wrap="square" rtlCol="0" anchor="t">
            <a:spAutoFit/>
          </a:bodyPr>
          <a:lstStyle/>
          <a:p>
            <a:pPr algn="ctr"/>
            <a:r>
              <a:rPr lang="zh-CN" altLang="en-US" sz="2400" b="1" dirty="0">
                <a:solidFill>
                  <a:srgbClr val="04579A"/>
                </a:solidFill>
              </a:rPr>
              <a:t>数据确权</a:t>
            </a:r>
            <a:endParaRPr lang="zh-CN" altLang="en-US" sz="2400" b="1" dirty="0">
              <a:solidFill>
                <a:srgbClr val="04579A"/>
              </a:solidFill>
            </a:endParaRPr>
          </a:p>
        </p:txBody>
      </p:sp>
      <p:sp>
        <p:nvSpPr>
          <p:cNvPr id="8" name="文本框 7"/>
          <p:cNvSpPr txBox="1"/>
          <p:nvPr/>
        </p:nvSpPr>
        <p:spPr>
          <a:xfrm>
            <a:off x="11736779" y="6499761"/>
            <a:ext cx="455221" cy="369332"/>
          </a:xfrm>
          <a:prstGeom prst="rect">
            <a:avLst/>
          </a:prstGeom>
          <a:noFill/>
        </p:spPr>
        <p:txBody>
          <a:bodyPr wrap="square" rtlCol="0">
            <a:spAutoFit/>
          </a:bodyPr>
          <a:lstStyle/>
          <a:p>
            <a:pPr algn="ctr"/>
            <a:r>
              <a:rPr lang="en-US" altLang="zh-CN" dirty="0"/>
              <a:t>2</a:t>
            </a:r>
            <a:endParaRPr lang="zh-CN" altLang="en-US" dirty="0"/>
          </a:p>
        </p:txBody>
      </p:sp>
    </p:spTree>
    <p:custDataLst>
      <p:tags r:id="rId2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par>
                          <p:cTn id="8" fill="hold">
                            <p:stCondLst>
                              <p:cond delay="500"/>
                            </p:stCondLst>
                            <p:childTnLst>
                              <p:par>
                                <p:cTn id="9" presetID="10" presetClass="entr" presetSubtype="0" fill="hold" grpId="2" nodeType="afterEffect">
                                  <p:stCondLst>
                                    <p:cond delay="0"/>
                                  </p:stCondLst>
                                  <p:childTnLst>
                                    <p:set>
                                      <p:cBhvr>
                                        <p:cTn id="10" dur="250"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250" fill="hold">
                                          <p:stCondLst>
                                            <p:cond delay="0"/>
                                          </p:stCondLst>
                                        </p:cTn>
                                        <p:tgtEl>
                                          <p:spTgt spid="98"/>
                                        </p:tgtEl>
                                        <p:attrNameLst>
                                          <p:attrName>style.visibility</p:attrName>
                                        </p:attrNameLst>
                                      </p:cBhvr>
                                      <p:to>
                                        <p:strVal val="visible"/>
                                      </p:to>
                                    </p:set>
                                    <p:animEffect transition="in" filter="wipe(down)">
                                      <p:cBhvr>
                                        <p:cTn id="15" dur="250"/>
                                        <p:tgtEl>
                                          <p:spTgt spid="9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250" fill="hold">
                                          <p:stCondLst>
                                            <p:cond delay="0"/>
                                          </p:stCondLst>
                                        </p:cTn>
                                        <p:tgtEl>
                                          <p:spTgt spid="56"/>
                                        </p:tgtEl>
                                        <p:attrNameLst>
                                          <p:attrName>style.visibility</p:attrName>
                                        </p:attrNameLst>
                                      </p:cBhvr>
                                      <p:to>
                                        <p:strVal val="visible"/>
                                      </p:to>
                                    </p:set>
                                    <p:animEffect transition="in" filter="wipe(left)">
                                      <p:cBhvr>
                                        <p:cTn id="19" dur="25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59"/>
                                        </p:tgtEl>
                                        <p:attrNameLst>
                                          <p:attrName>style.visibility</p:attrName>
                                        </p:attrNameLst>
                                      </p:cBhvr>
                                      <p:to>
                                        <p:strVal val="visible"/>
                                      </p:to>
                                    </p:set>
                                  </p:childTnLst>
                                </p:cTn>
                              </p:par>
                              <p:par>
                                <p:cTn id="24" presetID="1" presetClass="entr" presetSubtype="0" fill="hold" grpId="2" nodeType="withEffect">
                                  <p:stCondLst>
                                    <p:cond delay="0"/>
                                  </p:stCondLst>
                                  <p:childTnLst>
                                    <p:set>
                                      <p:cBhvr>
                                        <p:cTn id="25" dur="1" fill="hold">
                                          <p:stCondLst>
                                            <p:cond delay="0"/>
                                          </p:stCondLst>
                                        </p:cTn>
                                        <p:tgtEl>
                                          <p:spTgt spid="52"/>
                                        </p:tgtEl>
                                        <p:attrNameLst>
                                          <p:attrName>style.visibility</p:attrName>
                                        </p:attrNameLst>
                                      </p:cBhvr>
                                      <p:to>
                                        <p:strVal val="visible"/>
                                      </p:to>
                                    </p:set>
                                  </p:childTnLst>
                                </p:cTn>
                              </p:par>
                              <p:par>
                                <p:cTn id="26" presetID="1" presetClass="entr" presetSubtype="0" fill="hold" grpId="2" nodeType="withEffect">
                                  <p:stCondLst>
                                    <p:cond delay="0"/>
                                  </p:stCondLst>
                                  <p:childTnLst>
                                    <p:set>
                                      <p:cBhvr>
                                        <p:cTn id="27" dur="1" fill="hold">
                                          <p:stCondLst>
                                            <p:cond delay="0"/>
                                          </p:stCondLst>
                                        </p:cTn>
                                        <p:tgtEl>
                                          <p:spTgt spid="6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par>
                                <p:cTn id="32" presetID="1" presetClass="entr" presetSubtype="0" fill="hold" grpId="2" nodeType="with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1"/>
      <p:bldP spid="59" grpId="2"/>
      <p:bldP spid="52" grpId="1" animBg="1"/>
      <p:bldP spid="52" grpId="2" animBg="1"/>
      <p:bldP spid="55" grpId="1" animBg="1"/>
      <p:bldP spid="55" grpId="2" animBg="1"/>
      <p:bldP spid="60" grpId="1"/>
      <p:bldP spid="60" grpId="2"/>
      <p:bldP spid="6" grpId="1" animBg="1"/>
      <p:bldP spid="6" grpId="2" animBg="1"/>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extLst>
              <a:ext uri="{28A0092B-C50C-407E-A947-70E740481C1C}">
                <a14:useLocalDpi xmlns:a14="http://schemas.microsoft.com/office/drawing/2010/main" val="0"/>
              </a:ext>
            </a:extLst>
          </a:blip>
          <a:srcRect t="7064" b="7064"/>
          <a:stretch>
            <a:fillRect/>
          </a:stretch>
        </p:blipFill>
        <p:spPr>
          <a:xfrm>
            <a:off x="1270635" y="1303020"/>
            <a:ext cx="3202305" cy="2105660"/>
          </a:xfrm>
          <a:prstGeom prst="rect">
            <a:avLst/>
          </a:prstGeom>
          <a:effectLst>
            <a:outerShdw blurRad="50800" dist="38100" dir="2700000" algn="tl" rotWithShape="0">
              <a:prstClr val="black">
                <a:alpha val="40000"/>
              </a:prstClr>
            </a:outerShdw>
          </a:effectLst>
        </p:spPr>
      </p:pic>
      <p:sp>
        <p:nvSpPr>
          <p:cNvPr id="4" name="矩形 3"/>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92766" y="1596569"/>
            <a:ext cx="6650049" cy="1704954"/>
          </a:xfrm>
          <a:prstGeom prst="rect">
            <a:avLst/>
          </a:prstGeom>
          <a:noFill/>
        </p:spPr>
        <p:txBody>
          <a:bodyPr wrap="square" rtlCol="0" anchor="t">
            <a:spAutoFit/>
          </a:bodyPr>
          <a:lstStyle/>
          <a:p>
            <a:pPr fontAlgn="auto">
              <a:lnSpc>
                <a:spcPct val="150000"/>
              </a:lnSpc>
            </a:pPr>
            <a:r>
              <a:rPr lang="en-US" altLang="zh-CN" dirty="0"/>
              <a:t>2008</a:t>
            </a:r>
            <a:r>
              <a:rPr lang="zh-CN" altLang="en-US" dirty="0"/>
              <a:t>年，比特币首次实现</a:t>
            </a:r>
            <a:r>
              <a:rPr lang="zh-CN" altLang="zh-CN" dirty="0"/>
              <a:t>基于区块链的点对点数字资产交易方案</a:t>
            </a:r>
            <a:endParaRPr lang="en-US" altLang="zh-CN" dirty="0"/>
          </a:p>
          <a:p>
            <a:pPr fontAlgn="auto">
              <a:lnSpc>
                <a:spcPct val="150000"/>
              </a:lnSpc>
            </a:pPr>
            <a:r>
              <a:rPr lang="zh-CN" altLang="en-US" dirty="0"/>
              <a:t>允许用户在去中心化的、互不信任的环境中实现安全支付，目前：</a:t>
            </a:r>
            <a:endParaRPr lang="en-US" altLang="zh-CN" sz="900" dirty="0"/>
          </a:p>
          <a:p>
            <a:pPr marL="285750" indent="-285750" fontAlgn="auto">
              <a:lnSpc>
                <a:spcPct val="150000"/>
              </a:lnSpc>
              <a:buFont typeface="Arial" panose="020B0604020202020204" pitchFamily="34" charset="0"/>
              <a:buChar char="•"/>
            </a:pPr>
            <a:r>
              <a:rPr lang="zh-CN" altLang="en-US" dirty="0"/>
              <a:t>加密货币系统用户达到</a:t>
            </a:r>
            <a:r>
              <a:rPr lang="en-US" altLang="zh-CN" dirty="0"/>
              <a:t>5.8</a:t>
            </a:r>
            <a:r>
              <a:rPr lang="zh-CN" altLang="en-US" dirty="0"/>
              <a:t>亿，比特币日交易量超过</a:t>
            </a:r>
            <a:r>
              <a:rPr lang="en-US" altLang="zh-CN" dirty="0"/>
              <a:t>40</a:t>
            </a:r>
            <a:r>
              <a:rPr lang="zh-CN" altLang="en-US" dirty="0"/>
              <a:t>万笔</a:t>
            </a:r>
            <a:endParaRPr lang="en-US" altLang="zh-CN" dirty="0"/>
          </a:p>
          <a:p>
            <a:pPr marL="285750" indent="-285750" fontAlgn="auto">
              <a:lnSpc>
                <a:spcPct val="150000"/>
              </a:lnSpc>
              <a:buFont typeface="Arial" panose="020B0604020202020204" pitchFamily="34" charset="0"/>
              <a:buChar char="•"/>
            </a:pPr>
            <a:r>
              <a:rPr lang="zh-CN" altLang="en-US" dirty="0"/>
              <a:t>涌现出超</a:t>
            </a:r>
            <a:r>
              <a:rPr lang="en-US" altLang="zh-CN" dirty="0"/>
              <a:t>200</a:t>
            </a:r>
            <a:r>
              <a:rPr lang="zh-CN" altLang="en-US" dirty="0"/>
              <a:t>种不同技术特征区块链</a:t>
            </a:r>
            <a:endParaRPr lang="en-US" altLang="zh-CN" dirty="0"/>
          </a:p>
        </p:txBody>
      </p:sp>
      <p:sp>
        <p:nvSpPr>
          <p:cNvPr id="11" name="文本框 10"/>
          <p:cNvSpPr txBox="1"/>
          <p:nvPr/>
        </p:nvSpPr>
        <p:spPr>
          <a:xfrm>
            <a:off x="4811395" y="1176020"/>
            <a:ext cx="5779135" cy="460375"/>
          </a:xfrm>
          <a:prstGeom prst="rect">
            <a:avLst/>
          </a:prstGeom>
          <a:noFill/>
        </p:spPr>
        <p:txBody>
          <a:bodyPr wrap="square" rtlCol="0" anchor="t">
            <a:spAutoFit/>
          </a:bodyPr>
          <a:lstStyle/>
          <a:p>
            <a:r>
              <a:rPr lang="zh-CN" altLang="en-US" sz="2400" b="1" dirty="0">
                <a:solidFill>
                  <a:srgbClr val="04579A"/>
                </a:solidFill>
              </a:rPr>
              <a:t>数据流通</a:t>
            </a:r>
            <a:endParaRPr lang="zh-CN" altLang="en-US" sz="2400" b="1" dirty="0">
              <a:solidFill>
                <a:srgbClr val="04579A"/>
              </a:solidFill>
            </a:endParaRPr>
          </a:p>
        </p:txBody>
      </p:sp>
      <p:cxnSp>
        <p:nvCxnSpPr>
          <p:cNvPr id="57" name="直接连接符 56"/>
          <p:cNvCxnSpPr/>
          <p:nvPr/>
        </p:nvCxnSpPr>
        <p:spPr>
          <a:xfrm>
            <a:off x="444500" y="3756025"/>
            <a:ext cx="11277600" cy="0"/>
          </a:xfrm>
          <a:prstGeom prst="line">
            <a:avLst/>
          </a:prstGeom>
          <a:ln>
            <a:solidFill>
              <a:schemeClr val="bg1">
                <a:lumMod val="50000"/>
                <a:alpha val="54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1270635" y="1164590"/>
            <a:ext cx="5715" cy="251206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1189990" y="36766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8"/>
          <a:stretch>
            <a:fillRect/>
          </a:stretch>
        </p:blipFill>
        <p:spPr>
          <a:xfrm>
            <a:off x="2072244" y="3835401"/>
            <a:ext cx="8047512" cy="2519985"/>
          </a:xfrm>
          <a:prstGeom prst="rect">
            <a:avLst/>
          </a:prstGeom>
        </p:spPr>
      </p:pic>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3</a:t>
            </a:r>
            <a:endParaRPr lang="zh-CN" altLang="en-US" dirty="0"/>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par>
                          <p:cTn id="8" fill="hold">
                            <p:stCondLst>
                              <p:cond delay="500"/>
                            </p:stCondLst>
                            <p:childTnLst>
                              <p:par>
                                <p:cTn id="9" presetID="10" presetClass="entr" presetSubtype="0" fill="hold" grpId="1" nodeType="afterEffect">
                                  <p:stCondLst>
                                    <p:cond delay="0"/>
                                  </p:stCondLst>
                                  <p:childTnLst>
                                    <p:set>
                                      <p:cBhvr>
                                        <p:cTn id="10" dur="250"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250" fill="hold">
                                          <p:stCondLst>
                                            <p:cond delay="0"/>
                                          </p:stCondLst>
                                        </p:cTn>
                                        <p:tgtEl>
                                          <p:spTgt spid="98"/>
                                        </p:tgtEl>
                                        <p:attrNameLst>
                                          <p:attrName>style.visibility</p:attrName>
                                        </p:attrNameLst>
                                      </p:cBhvr>
                                      <p:to>
                                        <p:strVal val="visible"/>
                                      </p:to>
                                    </p:set>
                                    <p:animEffect transition="in" filter="wipe(down)">
                                      <p:cBhvr>
                                        <p:cTn id="15" dur="250"/>
                                        <p:tgtEl>
                                          <p:spTgt spid="9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250" fill="hold">
                                          <p:stCondLst>
                                            <p:cond delay="0"/>
                                          </p:stCondLst>
                                        </p:cTn>
                                        <p:tgtEl>
                                          <p:spTgt spid="56"/>
                                        </p:tgtEl>
                                        <p:attrNameLst>
                                          <p:attrName>style.visibility</p:attrName>
                                        </p:attrNameLst>
                                      </p:cBhvr>
                                      <p:to>
                                        <p:strVal val="visible"/>
                                      </p:to>
                                    </p:set>
                                    <p:animEffect transition="in" filter="wipe(left)">
                                      <p:cBhvr>
                                        <p:cTn id="19" dur="2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 name="矩形 26"/>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燕尾形 3"/>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381182"/>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endParaRPr lang="zh-CN" altLang="en-US" sz="2000" dirty="0">
              <a:solidFill>
                <a:schemeClr val="tx1">
                  <a:lumMod val="85000"/>
                  <a:lumOff val="15000"/>
                </a:schemeClr>
              </a:solidFill>
              <a:sym typeface="+mn-ea"/>
            </a:endParaRPr>
          </a:p>
          <a:p>
            <a:pPr marL="457200" lvl="1" indent="457200" algn="l" fontAlgn="auto">
              <a:lnSpc>
                <a:spcPct val="150000"/>
              </a:lnSpc>
              <a:spcAft>
                <a:spcPts val="1200"/>
              </a:spcAft>
              <a:buClrTx/>
              <a:buSzTx/>
              <a:buFontTx/>
              <a:buNone/>
            </a:pPr>
            <a:r>
              <a:rPr lang="zh-CN" altLang="en-US" sz="2400" b="1" dirty="0">
                <a:solidFill>
                  <a:srgbClr val="04579A"/>
                </a:solidFill>
                <a:sym typeface="+mn-ea"/>
              </a:rPr>
              <a:t>分布式数字资产交易协议需要去除可信假设，建立更强的安全模型</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区块链具有长期部署的需要</a:t>
            </a:r>
            <a:endParaRPr lang="zh-CN" altLang="en-US" sz="2000" dirty="0">
              <a:solidFill>
                <a:schemeClr val="bg1">
                  <a:lumMod val="95000"/>
                </a:schemeClr>
              </a:solidFill>
              <a:sym typeface="+mn-ea"/>
            </a:endParaRPr>
          </a:p>
          <a:p>
            <a:pPr lvl="1" indent="457200">
              <a:lnSpc>
                <a:spcPct val="150000"/>
              </a:lnSpc>
              <a:spcAft>
                <a:spcPts val="1200"/>
              </a:spcAft>
            </a:pPr>
            <a:r>
              <a:rPr lang="zh-CN" altLang="en-US" sz="2400" b="1" dirty="0">
                <a:solidFill>
                  <a:schemeClr val="bg1">
                    <a:lumMod val="95000"/>
                  </a:schemeClr>
                </a:solidFill>
                <a:sym typeface="+mn-ea"/>
              </a:rPr>
              <a:t>分布式数字资产交易协议需要高性能的链下方案构造</a:t>
            </a:r>
            <a:endParaRPr lang="zh-CN" altLang="en-US" sz="2400" b="1" dirty="0">
              <a:solidFill>
                <a:schemeClr val="bg1">
                  <a:lumMod val="95000"/>
                </a:schemeClr>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endParaRPr lang="zh-CN" altLang="en-US" sz="2000" dirty="0">
              <a:solidFill>
                <a:schemeClr val="bg1">
                  <a:lumMod val="95000"/>
                </a:schemeClr>
              </a:solidFill>
              <a:sym typeface="+mn-ea"/>
            </a:endParaRP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endParaRPr lang="zh-CN" altLang="en-US" sz="2400" b="1" dirty="0">
              <a:solidFill>
                <a:schemeClr val="bg1">
                  <a:lumMod val="95000"/>
                </a:schemeClr>
              </a:solidFill>
              <a:sym typeface="+mn-ea"/>
            </a:endParaRPr>
          </a:p>
        </p:txBody>
      </p:sp>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4</a:t>
            </a:r>
            <a:endParaRPr lang="zh-CN" altLang="en-US" dirty="0"/>
          </a:p>
        </p:txBody>
      </p:sp>
      <p:sp>
        <p:nvSpPr>
          <p:cNvPr id="6" name="矩形 5"/>
          <p:cNvSpPr/>
          <p:nvPr/>
        </p:nvSpPr>
        <p:spPr>
          <a:xfrm>
            <a:off x="490855" y="3950873"/>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3"/>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文本框 206"/>
          <p:cNvSpPr txBox="1"/>
          <p:nvPr>
            <p:custDataLst>
              <p:tags r:id="rId1"/>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a:pPr>
            <a:r>
              <a:rPr lang="zh-CN" altLang="en-US" sz="2000" dirty="0">
                <a:solidFill>
                  <a:schemeClr val="tx1">
                    <a:lumMod val="75000"/>
                    <a:lumOff val="25000"/>
                  </a:schemeClr>
                </a:solidFill>
                <a:sym typeface="+mn-ea"/>
              </a:rPr>
              <a:t>现实网络环境对分布式数字资产交易协议的安全性和健壮性提出了更高的要求</a:t>
            </a:r>
            <a:endParaRPr lang="zh-CN" altLang="en-US" sz="2000" dirty="0">
              <a:solidFill>
                <a:schemeClr val="tx1">
                  <a:lumMod val="75000"/>
                  <a:lumOff val="25000"/>
                </a:schemeClr>
              </a:solidFill>
              <a:sym typeface="+mn-ea"/>
            </a:endParaRPr>
          </a:p>
        </p:txBody>
      </p:sp>
      <p:sp>
        <p:nvSpPr>
          <p:cNvPr id="269" name="矩形 268"/>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75"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7508456" y="3429000"/>
            <a:ext cx="3697892" cy="2695010"/>
            <a:chOff x="7049277" y="2827725"/>
            <a:chExt cx="3697892" cy="2695010"/>
          </a:xfrm>
        </p:grpSpPr>
        <p:pic>
          <p:nvPicPr>
            <p:cNvPr id="3" name="图片 2"/>
            <p:cNvPicPr>
              <a:picLocks noChangeAspect="1"/>
            </p:cNvPicPr>
            <p:nvPr/>
          </p:nvPicPr>
          <p:blipFill>
            <a:blip r:embed="rId11"/>
            <a:stretch>
              <a:fillRect/>
            </a:stretch>
          </p:blipFill>
          <p:spPr>
            <a:xfrm>
              <a:off x="7049277" y="2827725"/>
              <a:ext cx="3697892" cy="2472965"/>
            </a:xfrm>
            <a:prstGeom prst="rect">
              <a:avLst/>
            </a:prstGeom>
            <a:ln>
              <a:solidFill>
                <a:schemeClr val="tx2">
                  <a:lumMod val="50000"/>
                  <a:lumOff val="50000"/>
                </a:schemeClr>
              </a:solidFill>
            </a:ln>
          </p:spPr>
        </p:pic>
        <p:sp>
          <p:nvSpPr>
            <p:cNvPr id="4" name="矩形 3"/>
            <p:cNvSpPr/>
            <p:nvPr/>
          </p:nvSpPr>
          <p:spPr>
            <a:xfrm>
              <a:off x="7049277" y="5220948"/>
              <a:ext cx="3697892" cy="301787"/>
            </a:xfrm>
            <a:prstGeom prst="rect">
              <a:avLst/>
            </a:prstGeom>
            <a:solidFill>
              <a:srgbClr val="04579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真实黑客攻击案例</a:t>
              </a:r>
              <a:endParaRPr lang="zh-CN" altLang="en-US" sz="1600" b="1" dirty="0"/>
            </a:p>
          </p:txBody>
        </p:sp>
      </p:grpSp>
      <p:sp>
        <p:nvSpPr>
          <p:cNvPr id="5" name="文本框 4"/>
          <p:cNvSpPr txBox="1"/>
          <p:nvPr/>
        </p:nvSpPr>
        <p:spPr>
          <a:xfrm>
            <a:off x="975360" y="4042655"/>
            <a:ext cx="5252720" cy="728982"/>
          </a:xfrm>
          <a:prstGeom prst="rect">
            <a:avLst/>
          </a:prstGeom>
          <a:noFill/>
        </p:spPr>
        <p:txBody>
          <a:bodyPr wrap="square" rtlCol="0" anchor="t">
            <a:spAutoFit/>
          </a:bodyPr>
          <a:lstStyle/>
          <a:p>
            <a:pPr indent="0"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2024</a:t>
            </a:r>
            <a:r>
              <a:rPr lang="zh-CN" altLang="en-US" dirty="0">
                <a:latin typeface="微软雅黑" panose="020B0503020204020204" charset="-122"/>
                <a:ea typeface="微软雅黑" panose="020B0503020204020204" charset="-122"/>
                <a:cs typeface="微软雅黑" panose="020B0503020204020204" charset="-122"/>
              </a:rPr>
              <a:t>年</a:t>
            </a:r>
            <a:r>
              <a:rPr lang="en-US" altLang="zh-CN" dirty="0">
                <a:latin typeface="微软雅黑" panose="020B0503020204020204" charset="-122"/>
                <a:ea typeface="微软雅黑" panose="020B0503020204020204" charset="-122"/>
                <a:cs typeface="微软雅黑" panose="020B0503020204020204" charset="-122"/>
              </a:rPr>
              <a:t>8</a:t>
            </a:r>
            <a:r>
              <a:rPr lang="zh-CN" altLang="en-US" dirty="0">
                <a:latin typeface="微软雅黑" panose="020B0503020204020204" charset="-122"/>
                <a:ea typeface="微软雅黑" panose="020B0503020204020204" charset="-122"/>
                <a:cs typeface="微软雅黑" panose="020B0503020204020204" charset="-122"/>
              </a:rPr>
              <a:t>月</a:t>
            </a:r>
            <a:r>
              <a:rPr lang="en-US" altLang="zh-CN" dirty="0">
                <a:latin typeface="微软雅黑" panose="020B0503020204020204" charset="-122"/>
                <a:ea typeface="微软雅黑" panose="020B0503020204020204" charset="-122"/>
                <a:cs typeface="微软雅黑" panose="020B0503020204020204" charset="-122"/>
              </a:rPr>
              <a:t>6</a:t>
            </a:r>
            <a:r>
              <a:rPr lang="zh-CN" altLang="en-US" dirty="0">
                <a:latin typeface="微软雅黑" panose="020B0503020204020204" charset="-122"/>
                <a:ea typeface="微软雅黑" panose="020B0503020204020204" charset="-122"/>
                <a:cs typeface="微软雅黑" panose="020B0503020204020204" charset="-122"/>
              </a:rPr>
              <a:t>日，</a:t>
            </a:r>
            <a:r>
              <a:rPr lang="en-US" altLang="zh-CN" dirty="0">
                <a:latin typeface="微软雅黑" panose="020B0503020204020204" charset="-122"/>
                <a:ea typeface="微软雅黑" panose="020B0503020204020204" charset="-122"/>
                <a:cs typeface="微软雅黑" panose="020B0503020204020204" charset="-122"/>
              </a:rPr>
              <a:t>Ronin Network</a:t>
            </a:r>
            <a:r>
              <a:rPr lang="zh-CN" altLang="en-US" dirty="0">
                <a:latin typeface="微软雅黑" panose="020B0503020204020204" charset="-122"/>
                <a:ea typeface="微软雅黑" panose="020B0503020204020204" charset="-122"/>
                <a:cs typeface="微软雅黑" panose="020B0503020204020204" charset="-122"/>
              </a:rPr>
              <a:t>跨链应用在升级智能合约代码时函数参数调用错误，引发攻击</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975360" y="4806560"/>
            <a:ext cx="4321035" cy="1323439"/>
          </a:xfrm>
          <a:prstGeom prst="rect">
            <a:avLst/>
          </a:prstGeom>
          <a:noFill/>
        </p:spPr>
        <p:txBody>
          <a:bodyPr wrap="square" rtlCol="0">
            <a:spAutoFit/>
          </a:bodyPr>
          <a:lstStyle/>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服务时长不足</a:t>
            </a:r>
            <a:r>
              <a:rPr lang="en-US" altLang="zh-CN" dirty="0">
                <a:latin typeface="微软雅黑" panose="020B0503020204020204" charset="-122"/>
                <a:ea typeface="微软雅黑" panose="020B0503020204020204" charset="-122"/>
                <a:cs typeface="微软雅黑" panose="020B0503020204020204" charset="-122"/>
              </a:rPr>
              <a:t> </a:t>
            </a:r>
            <a:r>
              <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rPr>
              <a:t>1h</a:t>
            </a:r>
            <a:endParaRPr lang="zh-CN" altLang="en-US" sz="2000" dirty="0">
              <a:latin typeface="微软雅黑" panose="020B0503020204020204" charset="-122"/>
              <a:ea typeface="微软雅黑" panose="020B0503020204020204" charset="-122"/>
              <a:cs typeface="微软雅黑" panose="020B0503020204020204" charset="-122"/>
            </a:endParaRPr>
          </a:p>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盗走密码货币价值</a:t>
            </a:r>
            <a:r>
              <a:rPr lang="en-US" altLang="zh-CN" dirty="0">
                <a:latin typeface="微软雅黑" panose="020B0503020204020204" charset="-122"/>
                <a:ea typeface="微软雅黑" panose="020B0503020204020204" charset="-122"/>
                <a:cs typeface="微软雅黑" panose="020B0503020204020204" charset="-122"/>
                <a:sym typeface="+mn-ea"/>
              </a:rPr>
              <a:t> </a:t>
            </a:r>
            <a:r>
              <a:rPr 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1200</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万美元</a:t>
            </a:r>
            <a:endParaRPr lang="zh-CN" altLang="en-US" sz="2000" dirty="0">
              <a:latin typeface="微软雅黑" panose="020B0503020204020204" charset="-122"/>
              <a:ea typeface="微软雅黑" panose="020B0503020204020204" charset="-122"/>
              <a:cs typeface="微软雅黑" panose="020B0503020204020204" charset="-122"/>
              <a:sym typeface="+mn-ea"/>
            </a:endParaRPr>
          </a:p>
          <a:p>
            <a:pPr marL="285750" indent="-285750" algn="l">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已被成功攻击次数</a:t>
            </a:r>
            <a:r>
              <a:rPr lang="en-US" altLang="zh-CN" sz="1600" dirty="0">
                <a:latin typeface="微软雅黑" panose="020B0503020204020204" charset="-122"/>
                <a:ea typeface="微软雅黑" panose="020B0503020204020204" charset="-122"/>
                <a:cs typeface="微软雅黑" panose="020B0503020204020204" charset="-122"/>
                <a:sym typeface="+mn-ea"/>
              </a:rPr>
              <a:t>  </a:t>
            </a:r>
            <a:r>
              <a:rPr 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3</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次</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损失金额总数高于 </a:t>
            </a:r>
            <a:r>
              <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rPr>
              <a:t>6.5</a:t>
            </a:r>
            <a:r>
              <a:rPr lang="zh-CN" altLang="en-US" sz="2000" b="1" dirty="0">
                <a:solidFill>
                  <a:srgbClr val="04579A"/>
                </a:solidFill>
                <a:latin typeface="微软雅黑" panose="020B0503020204020204" charset="-122"/>
                <a:ea typeface="微软雅黑" panose="020B0503020204020204" charset="-122"/>
                <a:cs typeface="微软雅黑" panose="020B0503020204020204" charset="-122"/>
                <a:sym typeface="+mn-ea"/>
              </a:rPr>
              <a:t>亿美元</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sym typeface="+mn-ea"/>
            </a:endParaRPr>
          </a:p>
        </p:txBody>
      </p:sp>
      <p:sp>
        <p:nvSpPr>
          <p:cNvPr id="13" name="文本框 12"/>
          <p:cNvSpPr txBox="1"/>
          <p:nvPr/>
        </p:nvSpPr>
        <p:spPr>
          <a:xfrm>
            <a:off x="7076704" y="2085340"/>
            <a:ext cx="4139936" cy="726609"/>
          </a:xfrm>
          <a:prstGeom prst="rect">
            <a:avLst/>
          </a:prstGeom>
          <a:noFill/>
        </p:spPr>
        <p:txBody>
          <a:bodyPr wrap="square">
            <a:spAutoFit/>
          </a:bodyPr>
          <a:lstStyle/>
          <a:p>
            <a:pPr indent="0" algn="ctr" fontAlgn="auto">
              <a:lnSpc>
                <a:spcPct val="120000"/>
              </a:lnSpc>
            </a:pPr>
            <a:r>
              <a:rPr lang="zh-CN" altLang="en-US" sz="1800" dirty="0"/>
              <a:t>当</a:t>
            </a:r>
            <a:r>
              <a:rPr lang="zh-CN" altLang="en-US" sz="1800" b="1" dirty="0">
                <a:solidFill>
                  <a:srgbClr val="04579A"/>
                </a:solidFill>
              </a:rPr>
              <a:t>恶意</a:t>
            </a:r>
            <a:r>
              <a:rPr lang="zh-CN" altLang="en-US" sz="1800" dirty="0"/>
              <a:t>节点主动攻击，协议</a:t>
            </a:r>
            <a:r>
              <a:rPr lang="zh-CN" altLang="en-US" b="1" dirty="0">
                <a:solidFill>
                  <a:srgbClr val="04579A"/>
                </a:solidFill>
              </a:rPr>
              <a:t>安全性被破坏</a:t>
            </a:r>
            <a:r>
              <a:rPr lang="zh-CN" altLang="en-US" sz="1800" dirty="0"/>
              <a:t>将导致用户</a:t>
            </a:r>
            <a:r>
              <a:rPr lang="zh-CN" altLang="en-US" dirty="0"/>
              <a:t>直接</a:t>
            </a:r>
            <a:r>
              <a:rPr lang="zh-CN" altLang="en-US" b="1" dirty="0">
                <a:solidFill>
                  <a:srgbClr val="04579A"/>
                </a:solidFill>
              </a:rPr>
              <a:t>财产损失</a:t>
            </a:r>
            <a:endParaRPr lang="zh-CN" altLang="en-US" b="1" dirty="0">
              <a:solidFill>
                <a:srgbClr val="04579A"/>
              </a:solidFill>
            </a:endParaRPr>
          </a:p>
        </p:txBody>
      </p:sp>
      <p:pic>
        <p:nvPicPr>
          <p:cNvPr id="17" name="图片 16"/>
          <p:cNvPicPr>
            <a:picLocks noChangeAspect="1"/>
          </p:cNvPicPr>
          <p:nvPr/>
        </p:nvPicPr>
        <p:blipFill>
          <a:blip r:embed="rId12"/>
          <a:stretch>
            <a:fillRect/>
          </a:stretch>
        </p:blipFill>
        <p:spPr>
          <a:xfrm>
            <a:off x="985652" y="1864728"/>
            <a:ext cx="5110348" cy="1730150"/>
          </a:xfrm>
          <a:prstGeom prst="rect">
            <a:avLst/>
          </a:prstGeom>
        </p:spPr>
      </p:pic>
      <p:sp>
        <p:nvSpPr>
          <p:cNvPr id="18" name="文本框 17"/>
          <p:cNvSpPr txBox="1"/>
          <p:nvPr/>
        </p:nvSpPr>
        <p:spPr>
          <a:xfrm>
            <a:off x="1052945" y="3139044"/>
            <a:ext cx="2014847" cy="307777"/>
          </a:xfrm>
          <a:prstGeom prst="rect">
            <a:avLst/>
          </a:prstGeom>
          <a:solidFill>
            <a:srgbClr val="FFFFFF"/>
          </a:solidFill>
        </p:spPr>
        <p:txBody>
          <a:bodyPr wrap="square" rtlCol="0">
            <a:spAutoFit/>
          </a:bodyPr>
          <a:lstStyle/>
          <a:p>
            <a:pPr algn="ctr"/>
            <a:r>
              <a:rPr lang="zh-CN" altLang="en-US" sz="1400" dirty="0"/>
              <a:t>涉案金额（百万美元）</a:t>
            </a:r>
            <a:endParaRPr lang="zh-CN" altLang="en-US" sz="1400" dirty="0"/>
          </a:p>
        </p:txBody>
      </p:sp>
      <p:sp>
        <p:nvSpPr>
          <p:cNvPr id="2" name="文本框 1"/>
          <p:cNvSpPr txBox="1"/>
          <p:nvPr/>
        </p:nvSpPr>
        <p:spPr>
          <a:xfrm>
            <a:off x="11736779" y="6499761"/>
            <a:ext cx="455221" cy="369332"/>
          </a:xfrm>
          <a:prstGeom prst="rect">
            <a:avLst/>
          </a:prstGeom>
          <a:noFill/>
        </p:spPr>
        <p:txBody>
          <a:bodyPr wrap="square" rtlCol="0">
            <a:spAutoFit/>
          </a:bodyPr>
          <a:lstStyle/>
          <a:p>
            <a:pPr algn="ctr"/>
            <a:r>
              <a:rPr lang="en-US" altLang="zh-CN" dirty="0"/>
              <a:t>5</a:t>
            </a:r>
            <a:endParaRPr lang="zh-CN" altLang="en-US" dirty="0"/>
          </a:p>
        </p:txBody>
      </p:sp>
    </p:spTree>
    <p:custDataLst>
      <p:tags r:id="rId13"/>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65" name="对角圆角矩形 264"/>
          <p:cNvSpPr/>
          <p:nvPr/>
        </p:nvSpPr>
        <p:spPr>
          <a:xfrm>
            <a:off x="2301240" y="221869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3" name="组合 222"/>
          <p:cNvGrpSpPr/>
          <p:nvPr/>
        </p:nvGrpSpPr>
        <p:grpSpPr>
          <a:xfrm>
            <a:off x="2145665" y="3644900"/>
            <a:ext cx="2781300" cy="1988185"/>
            <a:chOff x="3042" y="2727"/>
            <a:chExt cx="6475" cy="4627"/>
          </a:xfrm>
        </p:grpSpPr>
        <p:pic>
          <p:nvPicPr>
            <p:cNvPr id="211" name="图片 210" descr="how-certificate-authority-works-website"/>
            <p:cNvPicPr>
              <a:picLocks noChangeAspect="1"/>
            </p:cNvPicPr>
            <p:nvPr>
              <p:custDataLst>
                <p:tags r:id="rId1"/>
              </p:custDataLst>
            </p:nvPr>
          </p:nvPicPr>
          <p:blipFill>
            <a:blip r:embed="rId2">
              <a:clrChange>
                <a:clrFrom>
                  <a:srgbClr val="FFFFFF">
                    <a:alpha val="100000"/>
                  </a:srgbClr>
                </a:clrFrom>
                <a:clrTo>
                  <a:srgbClr val="FFFFFF">
                    <a:alpha val="100000"/>
                    <a:alpha val="0"/>
                  </a:srgbClr>
                </a:clrTo>
              </a:clrChange>
              <a:grayscl/>
              <a:lum bright="-6000" contrast="12000"/>
            </a:blip>
            <a:srcRect l="44181" t="13852" r="41595" b="75704"/>
            <a:stretch>
              <a:fillRect/>
            </a:stretch>
          </p:blipFill>
          <p:spPr>
            <a:xfrm>
              <a:off x="5500" y="4067"/>
              <a:ext cx="1560" cy="1333"/>
            </a:xfrm>
            <a:prstGeom prst="rect">
              <a:avLst/>
            </a:prstGeom>
          </p:spPr>
        </p:pic>
        <p:pic>
          <p:nvPicPr>
            <p:cNvPr id="212" name="图片 211" descr="src=http___pic.qiantucdn.com_58pic_28_67_85_01N58PICzK58PICMgcJf4frSf_PIC2018.jpg!_fw_1024_watermark_url_L2ltYWdlcy93YXRlcm1hcmsvZGF0dS5wbmc=_repeat_true_crop_0x1009a0a1009&amp;refer=http___pic.qiantucdn"/>
            <p:cNvPicPr>
              <a:picLocks noChangeAspect="1"/>
            </p:cNvPicPr>
            <p:nvPr>
              <p:custDataLst>
                <p:tags r:id="rId3"/>
              </p:custDataLst>
            </p:nvPr>
          </p:nvPicPr>
          <p:blipFill>
            <a:blip r:embed="rId4">
              <a:clrChange>
                <a:clrFrom>
                  <a:srgbClr val="F3EFEC">
                    <a:alpha val="100000"/>
                  </a:srgbClr>
                </a:clrFrom>
                <a:clrTo>
                  <a:srgbClr val="F3EFEC">
                    <a:alpha val="100000"/>
                    <a:alpha val="0"/>
                  </a:srgbClr>
                </a:clrTo>
              </a:clrChange>
            </a:blip>
            <a:srcRect r="49990"/>
            <a:stretch>
              <a:fillRect/>
            </a:stretch>
          </p:blipFill>
          <p:spPr>
            <a:xfrm>
              <a:off x="3042" y="2727"/>
              <a:ext cx="2458" cy="1954"/>
            </a:xfrm>
            <a:prstGeom prst="rect">
              <a:avLst/>
            </a:prstGeom>
          </p:spPr>
        </p:pic>
        <p:pic>
          <p:nvPicPr>
            <p:cNvPr id="213" name="图片 212" descr="src=http___pic.qiantucdn.com_58pic_28_67_85_01N58PICzK58PICMgcJf4frSf_PIC2018.jpg!_fw_1024_watermark_url_L2ltYWdlcy93YXRlcm1hcmsvZGF0dS5wbmc=_repeat_true_crop_0x1009a0a1009&amp;refer=http___pic.qiantucdn"/>
            <p:cNvPicPr>
              <a:picLocks noChangeAspect="1"/>
            </p:cNvPicPr>
            <p:nvPr>
              <p:custDataLst>
                <p:tags r:id="rId5"/>
              </p:custDataLst>
            </p:nvPr>
          </p:nvPicPr>
          <p:blipFill>
            <a:blip r:embed="rId4">
              <a:clrChange>
                <a:clrFrom>
                  <a:srgbClr val="F3EFEC">
                    <a:alpha val="100000"/>
                  </a:srgbClr>
                </a:clrFrom>
                <a:clrTo>
                  <a:srgbClr val="F3EFEC">
                    <a:alpha val="100000"/>
                    <a:alpha val="0"/>
                  </a:srgbClr>
                </a:clrTo>
              </a:clrChange>
            </a:blip>
            <a:srcRect l="50010"/>
            <a:stretch>
              <a:fillRect/>
            </a:stretch>
          </p:blipFill>
          <p:spPr>
            <a:xfrm>
              <a:off x="7060" y="2727"/>
              <a:ext cx="2457" cy="1954"/>
            </a:xfrm>
            <a:prstGeom prst="rect">
              <a:avLst/>
            </a:prstGeom>
          </p:spPr>
        </p:pic>
        <p:pic>
          <p:nvPicPr>
            <p:cNvPr id="215" name="图片 214" descr="src=http___pic.qiantucdn.com_58pic_28_67_85_01N58PICzK58PICMgcJf4frSf_PIC2018.jpg!_fw_1024_watermark_url_L2ltYWdlcy93YXRlcm1hcmsvZGF0dS5wbmc=_repeat_true_crop_0x1009a0a1009&amp;refer=http___pic.qiantucdn"/>
            <p:cNvPicPr>
              <a:picLocks noChangeAspect="1"/>
            </p:cNvPicPr>
            <p:nvPr>
              <p:custDataLst>
                <p:tags r:id="rId6"/>
              </p:custDataLst>
            </p:nvPr>
          </p:nvPicPr>
          <p:blipFill>
            <a:blip r:embed="rId4">
              <a:clrChange>
                <a:clrFrom>
                  <a:srgbClr val="F3EFEC">
                    <a:alpha val="100000"/>
                  </a:srgbClr>
                </a:clrFrom>
                <a:clrTo>
                  <a:srgbClr val="F3EFEC">
                    <a:alpha val="100000"/>
                    <a:alpha val="0"/>
                  </a:srgbClr>
                </a:clrTo>
              </a:clrChange>
            </a:blip>
            <a:srcRect l="50010"/>
            <a:stretch>
              <a:fillRect/>
            </a:stretch>
          </p:blipFill>
          <p:spPr>
            <a:xfrm>
              <a:off x="3043" y="5400"/>
              <a:ext cx="2457" cy="1954"/>
            </a:xfrm>
            <a:prstGeom prst="rect">
              <a:avLst/>
            </a:prstGeom>
          </p:spPr>
        </p:pic>
        <p:pic>
          <p:nvPicPr>
            <p:cNvPr id="217" name="图片 216" descr="src=http___pic.qiantucdn.com_58pic_28_67_85_01N58PICzK58PICMgcJf4frSf_PIC2018.jpg!_fw_1024_watermark_url_L2ltYWdlcy93YXRlcm1hcmsvZGF0dS5wbmc=_repeat_true_crop_0x1009a0a1009&amp;refer=http___pic.qiantucdn"/>
            <p:cNvPicPr>
              <a:picLocks noChangeAspect="1"/>
            </p:cNvPicPr>
            <p:nvPr>
              <p:custDataLst>
                <p:tags r:id="rId7"/>
              </p:custDataLst>
            </p:nvPr>
          </p:nvPicPr>
          <p:blipFill>
            <a:blip r:embed="rId4">
              <a:clrChange>
                <a:clrFrom>
                  <a:srgbClr val="F3EFEC">
                    <a:alpha val="100000"/>
                  </a:srgbClr>
                </a:clrFrom>
                <a:clrTo>
                  <a:srgbClr val="F3EFEC">
                    <a:alpha val="100000"/>
                    <a:alpha val="0"/>
                  </a:srgbClr>
                </a:clrTo>
              </a:clrChange>
            </a:blip>
            <a:srcRect r="49990"/>
            <a:stretch>
              <a:fillRect/>
            </a:stretch>
          </p:blipFill>
          <p:spPr>
            <a:xfrm>
              <a:off x="7059" y="5400"/>
              <a:ext cx="2458" cy="1954"/>
            </a:xfrm>
            <a:prstGeom prst="rect">
              <a:avLst/>
            </a:prstGeom>
          </p:spPr>
        </p:pic>
        <p:cxnSp>
          <p:nvCxnSpPr>
            <p:cNvPr id="218" name="直接连接符 217"/>
            <p:cNvCxnSpPr/>
            <p:nvPr/>
          </p:nvCxnSpPr>
          <p:spPr>
            <a:xfrm>
              <a:off x="4940" y="4084"/>
              <a:ext cx="520" cy="520"/>
            </a:xfrm>
            <a:prstGeom prst="line">
              <a:avLst/>
            </a:prstGeom>
            <a:ln w="12700">
              <a:solidFill>
                <a:srgbClr val="03569A"/>
              </a:solidFill>
              <a:headEnd type="triangle"/>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custDataLst>
                <p:tags r:id="rId8"/>
              </p:custDataLst>
            </p:nvPr>
          </p:nvCxnSpPr>
          <p:spPr>
            <a:xfrm flipH="1">
              <a:off x="7100" y="4084"/>
              <a:ext cx="520" cy="520"/>
            </a:xfrm>
            <a:prstGeom prst="line">
              <a:avLst/>
            </a:prstGeom>
            <a:ln w="12700">
              <a:solidFill>
                <a:srgbClr val="03569A"/>
              </a:solidFill>
              <a:headEnd type="triangle"/>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custDataLst>
                <p:tags r:id="rId9"/>
              </p:custDataLst>
            </p:nvPr>
          </p:nvCxnSpPr>
          <p:spPr>
            <a:xfrm>
              <a:off x="7100" y="5584"/>
              <a:ext cx="520" cy="520"/>
            </a:xfrm>
            <a:prstGeom prst="line">
              <a:avLst/>
            </a:prstGeom>
            <a:ln w="12700">
              <a:solidFill>
                <a:srgbClr val="03569A"/>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custDataLst>
                <p:tags r:id="rId10"/>
              </p:custDataLst>
            </p:nvPr>
          </p:nvCxnSpPr>
          <p:spPr>
            <a:xfrm flipH="1">
              <a:off x="4940" y="5584"/>
              <a:ext cx="520" cy="520"/>
            </a:xfrm>
            <a:prstGeom prst="line">
              <a:avLst/>
            </a:prstGeom>
            <a:ln w="12700">
              <a:solidFill>
                <a:srgbClr val="03569A"/>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42" name="组合 241"/>
          <p:cNvGrpSpPr/>
          <p:nvPr/>
        </p:nvGrpSpPr>
        <p:grpSpPr>
          <a:xfrm>
            <a:off x="6831965" y="3574415"/>
            <a:ext cx="2947670" cy="2106295"/>
            <a:chOff x="9517" y="4186"/>
            <a:chExt cx="5243" cy="3747"/>
          </a:xfrm>
        </p:grpSpPr>
        <p:pic>
          <p:nvPicPr>
            <p:cNvPr id="226" name="图片 225" descr="src=http___pic.qiantucdn.com_58pic_28_67_85_01N58PICzK58PICMgcJf4frSf_PIC2018.jpg!_fw_1024_watermark_url_L2ltYWdlcy93YXRlcm1hcmsvZGF0dS5wbmc=_repeat_true_crop_0x1009a0a1009&amp;refer=http___pic.qiantucdn"/>
            <p:cNvPicPr>
              <a:picLocks noChangeAspect="1"/>
            </p:cNvPicPr>
            <p:nvPr>
              <p:custDataLst>
                <p:tags r:id="rId11"/>
              </p:custDataLst>
            </p:nvPr>
          </p:nvPicPr>
          <p:blipFill>
            <a:blip r:embed="rId4">
              <a:clrChange>
                <a:clrFrom>
                  <a:srgbClr val="F3EFEC">
                    <a:alpha val="100000"/>
                  </a:srgbClr>
                </a:clrFrom>
                <a:clrTo>
                  <a:srgbClr val="F3EFEC">
                    <a:alpha val="100000"/>
                    <a:alpha val="0"/>
                  </a:srgbClr>
                </a:clrTo>
              </a:clrChange>
            </a:blip>
            <a:srcRect r="59736"/>
            <a:stretch>
              <a:fillRect/>
            </a:stretch>
          </p:blipFill>
          <p:spPr>
            <a:xfrm>
              <a:off x="9517" y="4186"/>
              <a:ext cx="1603" cy="1583"/>
            </a:xfrm>
            <a:prstGeom prst="rect">
              <a:avLst/>
            </a:prstGeom>
          </p:spPr>
        </p:pic>
        <p:pic>
          <p:nvPicPr>
            <p:cNvPr id="227" name="图片 226" descr="src=http___pic.qiantucdn.com_58pic_28_67_85_01N58PICzK58PICMgcJf4frSf_PIC2018.jpg!_fw_1024_watermark_url_L2ltYWdlcy93YXRlcm1hcmsvZGF0dS5wbmc=_repeat_true_crop_0x1009a0a1009&amp;refer=http___pic.qiantucdn"/>
            <p:cNvPicPr>
              <a:picLocks noChangeAspect="1"/>
            </p:cNvPicPr>
            <p:nvPr>
              <p:custDataLst>
                <p:tags r:id="rId12"/>
              </p:custDataLst>
            </p:nvPr>
          </p:nvPicPr>
          <p:blipFill>
            <a:blip r:embed="rId4">
              <a:clrChange>
                <a:clrFrom>
                  <a:srgbClr val="F3EFEC">
                    <a:alpha val="100000"/>
                  </a:srgbClr>
                </a:clrFrom>
                <a:clrTo>
                  <a:srgbClr val="F3EFEC">
                    <a:alpha val="100000"/>
                    <a:alpha val="0"/>
                  </a:srgbClr>
                </a:clrTo>
              </a:clrChange>
            </a:blip>
            <a:srcRect l="60284"/>
            <a:stretch>
              <a:fillRect/>
            </a:stretch>
          </p:blipFill>
          <p:spPr>
            <a:xfrm>
              <a:off x="13180" y="4186"/>
              <a:ext cx="1581" cy="1583"/>
            </a:xfrm>
            <a:prstGeom prst="rect">
              <a:avLst/>
            </a:prstGeom>
          </p:spPr>
        </p:pic>
        <p:pic>
          <p:nvPicPr>
            <p:cNvPr id="228" name="图片 227" descr="src=http___pic.qiantucdn.com_58pic_28_67_85_01N58PICzK58PICMgcJf4frSf_PIC2018.jpg!_fw_1024_watermark_url_L2ltYWdlcy93YXRlcm1hcmsvZGF0dS5wbmc=_repeat_true_crop_0x1009a0a1009&amp;refer=http___pic.qiantucdn"/>
            <p:cNvPicPr>
              <a:picLocks noChangeAspect="1"/>
            </p:cNvPicPr>
            <p:nvPr>
              <p:custDataLst>
                <p:tags r:id="rId13"/>
              </p:custDataLst>
            </p:nvPr>
          </p:nvPicPr>
          <p:blipFill>
            <a:blip r:embed="rId4">
              <a:clrChange>
                <a:clrFrom>
                  <a:srgbClr val="F3EFEC">
                    <a:alpha val="100000"/>
                  </a:srgbClr>
                </a:clrFrom>
                <a:clrTo>
                  <a:srgbClr val="F3EFEC">
                    <a:alpha val="100000"/>
                    <a:alpha val="0"/>
                  </a:srgbClr>
                </a:clrTo>
              </a:clrChange>
            </a:blip>
            <a:srcRect l="50010" r="9747"/>
            <a:stretch>
              <a:fillRect/>
            </a:stretch>
          </p:blipFill>
          <p:spPr>
            <a:xfrm>
              <a:off x="9518" y="6351"/>
              <a:ext cx="1602" cy="1583"/>
            </a:xfrm>
            <a:prstGeom prst="rect">
              <a:avLst/>
            </a:prstGeom>
          </p:spPr>
        </p:pic>
        <p:pic>
          <p:nvPicPr>
            <p:cNvPr id="229" name="图片 228" descr="src=http___pic.qiantucdn.com_58pic_28_67_85_01N58PICzK58PICMgcJf4frSf_PIC2018.jpg!_fw_1024_watermark_url_L2ltYWdlcy93YXRlcm1hcmsvZGF0dS5wbmc=_repeat_true_crop_0x1009a0a1009&amp;refer=http___pic.qiantucdn"/>
            <p:cNvPicPr>
              <a:picLocks noChangeAspect="1"/>
            </p:cNvPicPr>
            <p:nvPr>
              <p:custDataLst>
                <p:tags r:id="rId14"/>
              </p:custDataLst>
            </p:nvPr>
          </p:nvPicPr>
          <p:blipFill>
            <a:blip r:embed="rId4">
              <a:clrChange>
                <a:clrFrom>
                  <a:srgbClr val="F3EFEC">
                    <a:alpha val="100000"/>
                  </a:srgbClr>
                </a:clrFrom>
                <a:clrTo>
                  <a:srgbClr val="F3EFEC">
                    <a:alpha val="100000"/>
                    <a:alpha val="0"/>
                  </a:srgbClr>
                </a:clrTo>
              </a:clrChange>
            </a:blip>
            <a:srcRect l="10298" r="49990"/>
            <a:stretch>
              <a:fillRect/>
            </a:stretch>
          </p:blipFill>
          <p:spPr>
            <a:xfrm>
              <a:off x="13180" y="6351"/>
              <a:ext cx="1581" cy="1583"/>
            </a:xfrm>
            <a:prstGeom prst="rect">
              <a:avLst/>
            </a:prstGeom>
          </p:spPr>
        </p:pic>
        <p:cxnSp>
          <p:nvCxnSpPr>
            <p:cNvPr id="234" name="直接连接符 233"/>
            <p:cNvCxnSpPr>
              <a:stCxn id="226" idx="3"/>
              <a:endCxn id="228" idx="3"/>
            </p:cNvCxnSpPr>
            <p:nvPr>
              <p:custDataLst>
                <p:tags r:id="rId15"/>
              </p:custDataLst>
            </p:nvPr>
          </p:nvCxnSpPr>
          <p:spPr>
            <a:xfrm>
              <a:off x="11120" y="4978"/>
              <a:ext cx="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5" name="直接连接符 234"/>
            <p:cNvCxnSpPr>
              <a:stCxn id="226" idx="3"/>
              <a:endCxn id="229" idx="1"/>
            </p:cNvCxnSpPr>
            <p:nvPr>
              <p:custDataLst>
                <p:tags r:id="rId16"/>
              </p:custDataLst>
            </p:nvPr>
          </p:nvCxnSpPr>
          <p:spPr>
            <a:xfrm>
              <a:off x="11120" y="4978"/>
              <a:ext cx="206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6" name="直接连接符 235"/>
            <p:cNvCxnSpPr>
              <a:stCxn id="227" idx="1"/>
              <a:endCxn id="228" idx="3"/>
            </p:cNvCxnSpPr>
            <p:nvPr>
              <p:custDataLst>
                <p:tags r:id="rId17"/>
              </p:custDataLst>
            </p:nvPr>
          </p:nvCxnSpPr>
          <p:spPr>
            <a:xfrm flipH="1">
              <a:off x="11120" y="4978"/>
              <a:ext cx="206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7" name="直接连接符 236"/>
            <p:cNvCxnSpPr>
              <a:stCxn id="229" idx="1"/>
              <a:endCxn id="228" idx="3"/>
            </p:cNvCxnSpPr>
            <p:nvPr>
              <p:custDataLst>
                <p:tags r:id="rId18"/>
              </p:custDataLst>
            </p:nvPr>
          </p:nvCxnSpPr>
          <p:spPr>
            <a:xfrm flipH="1">
              <a:off x="11120" y="7143"/>
              <a:ext cx="2060" cy="0"/>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stCxn id="226" idx="3"/>
              <a:endCxn id="227" idx="1"/>
            </p:cNvCxnSpPr>
            <p:nvPr>
              <p:custDataLst>
                <p:tags r:id="rId19"/>
              </p:custDataLst>
            </p:nvPr>
          </p:nvCxnSpPr>
          <p:spPr>
            <a:xfrm>
              <a:off x="11120" y="4978"/>
              <a:ext cx="2060" cy="0"/>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a:stCxn id="227" idx="1"/>
              <a:endCxn id="229" idx="1"/>
            </p:cNvCxnSpPr>
            <p:nvPr>
              <p:custDataLst>
                <p:tags r:id="rId20"/>
              </p:custDataLst>
            </p:nvPr>
          </p:nvCxnSpPr>
          <p:spPr>
            <a:xfrm>
              <a:off x="13180" y="4978"/>
              <a:ext cx="0" cy="2165"/>
            </a:xfrm>
            <a:prstGeom prst="line">
              <a:avLst/>
            </a:prstGeom>
            <a:ln w="12700">
              <a:solidFill>
                <a:srgbClr val="03569A"/>
              </a:solidFill>
              <a:headEnd type="none"/>
            </a:ln>
          </p:spPr>
          <p:style>
            <a:lnRef idx="1">
              <a:schemeClr val="accent1"/>
            </a:lnRef>
            <a:fillRef idx="0">
              <a:schemeClr val="accent1"/>
            </a:fillRef>
            <a:effectRef idx="0">
              <a:schemeClr val="accent1"/>
            </a:effectRef>
            <a:fontRef idx="minor">
              <a:schemeClr val="tx1"/>
            </a:fontRef>
          </p:style>
        </p:cxnSp>
      </p:grpSp>
      <p:sp>
        <p:nvSpPr>
          <p:cNvPr id="240" name="文本框 239"/>
          <p:cNvSpPr txBox="1"/>
          <p:nvPr/>
        </p:nvSpPr>
        <p:spPr>
          <a:xfrm>
            <a:off x="1003300" y="5664355"/>
            <a:ext cx="5076825" cy="400110"/>
          </a:xfrm>
          <a:prstGeom prst="rect">
            <a:avLst/>
          </a:prstGeom>
          <a:noFill/>
        </p:spPr>
        <p:txBody>
          <a:bodyPr wrap="square" rtlCol="0" anchor="t">
            <a:spAutoFit/>
          </a:bodyPr>
          <a:lstStyle/>
          <a:p>
            <a:pPr algn="ctr"/>
            <a:r>
              <a:rPr lang="zh-CN" altLang="en-US" sz="2000" dirty="0">
                <a:solidFill>
                  <a:schemeClr val="tx1"/>
                </a:solidFill>
                <a:latin typeface="+mj-ea"/>
                <a:ea typeface="+mj-ea"/>
                <a:sym typeface="+mn-ea"/>
              </a:rPr>
              <a:t>可信假设</a:t>
            </a:r>
            <a:r>
              <a:rPr lang="zh-CN" altLang="en-US" sz="2000" dirty="0">
                <a:latin typeface="+mj-ea"/>
                <a:ea typeface="+mj-ea"/>
                <a:sym typeface="+mn-ea"/>
              </a:rPr>
              <a:t>减弱了协议的安全性</a:t>
            </a:r>
            <a:endParaRPr lang="zh-CN" altLang="en-US" sz="2000" dirty="0">
              <a:solidFill>
                <a:schemeClr val="tx1"/>
              </a:solidFill>
              <a:latin typeface="+mj-ea"/>
              <a:ea typeface="+mj-ea"/>
              <a:sym typeface="+mn-ea"/>
            </a:endParaRPr>
          </a:p>
        </p:txBody>
      </p:sp>
      <p:sp>
        <p:nvSpPr>
          <p:cNvPr id="241" name="文本框 240"/>
          <p:cNvSpPr txBox="1"/>
          <p:nvPr/>
        </p:nvSpPr>
        <p:spPr>
          <a:xfrm>
            <a:off x="6842892" y="5563788"/>
            <a:ext cx="3203013" cy="707886"/>
          </a:xfrm>
          <a:prstGeom prst="rect">
            <a:avLst/>
          </a:prstGeom>
          <a:noFill/>
        </p:spPr>
        <p:txBody>
          <a:bodyPr wrap="square" rtlCol="0" anchor="t">
            <a:spAutoFit/>
          </a:bodyPr>
          <a:lstStyle/>
          <a:p>
            <a:pPr algn="ctr"/>
            <a:r>
              <a:rPr lang="zh-CN" altLang="en-US" sz="2000" b="1" dirty="0">
                <a:solidFill>
                  <a:srgbClr val="04579A"/>
                </a:solidFill>
              </a:rPr>
              <a:t>需要去除可信假设，</a:t>
            </a:r>
            <a:endParaRPr lang="en-US" altLang="zh-CN" sz="2000" b="1" dirty="0">
              <a:solidFill>
                <a:srgbClr val="04579A"/>
              </a:solidFill>
            </a:endParaRPr>
          </a:p>
          <a:p>
            <a:pPr algn="ctr"/>
            <a:r>
              <a:rPr lang="zh-CN" altLang="en-US" sz="2000" b="1" dirty="0">
                <a:solidFill>
                  <a:srgbClr val="04579A"/>
                </a:solidFill>
              </a:rPr>
              <a:t>建立更实际的安全模型</a:t>
            </a:r>
            <a:endParaRPr lang="zh-CN" altLang="en-US" sz="2000" b="1" dirty="0">
              <a:solidFill>
                <a:srgbClr val="04579A"/>
              </a:solidFill>
            </a:endParaRPr>
          </a:p>
        </p:txBody>
      </p:sp>
      <p:sp>
        <p:nvSpPr>
          <p:cNvPr id="243" name="文本框 242"/>
          <p:cNvSpPr txBox="1"/>
          <p:nvPr/>
        </p:nvSpPr>
        <p:spPr>
          <a:xfrm>
            <a:off x="863600" y="1562735"/>
            <a:ext cx="6096000" cy="646331"/>
          </a:xfrm>
          <a:prstGeom prst="rect">
            <a:avLst/>
          </a:prstGeom>
          <a:noFill/>
        </p:spPr>
        <p:txBody>
          <a:bodyPr wrap="square" rtlCol="0" anchor="t">
            <a:spAutoFit/>
          </a:bodyPr>
          <a:lstStyle/>
          <a:p>
            <a:r>
              <a:rPr lang="zh-CN" altLang="en-US" dirty="0">
                <a:solidFill>
                  <a:schemeClr val="tx1">
                    <a:lumMod val="85000"/>
                    <a:lumOff val="15000"/>
                  </a:schemeClr>
                </a:solidFill>
              </a:rPr>
              <a:t>资产兑换协议是构建</a:t>
            </a:r>
            <a:r>
              <a:rPr lang="zh-CN" altLang="en-US" dirty="0">
                <a:solidFill>
                  <a:schemeClr val="tx1">
                    <a:lumMod val="75000"/>
                    <a:lumOff val="25000"/>
                  </a:schemeClr>
                </a:solidFill>
                <a:sym typeface="+mn-ea"/>
              </a:rPr>
              <a:t>分布式数字资产交易协议</a:t>
            </a:r>
            <a:r>
              <a:rPr lang="zh-CN" altLang="en-US" dirty="0">
                <a:solidFill>
                  <a:schemeClr val="tx1">
                    <a:lumMod val="85000"/>
                    <a:lumOff val="15000"/>
                  </a:schemeClr>
                </a:solidFill>
              </a:rPr>
              <a:t>的重要组件</a:t>
            </a:r>
            <a:r>
              <a:rPr lang="en-US" altLang="zh-CN" dirty="0">
                <a:solidFill>
                  <a:schemeClr val="tx1">
                    <a:lumMod val="85000"/>
                    <a:lumOff val="15000"/>
                  </a:schemeClr>
                </a:solidFill>
              </a:rPr>
              <a:t>:</a:t>
            </a:r>
            <a:endParaRPr lang="en-US" altLang="zh-CN" dirty="0">
              <a:solidFill>
                <a:schemeClr val="tx1">
                  <a:lumMod val="85000"/>
                  <a:lumOff val="15000"/>
                </a:schemeClr>
              </a:solidFill>
            </a:endParaRPr>
          </a:p>
          <a:p>
            <a:endParaRPr lang="en-US" altLang="zh-CN" dirty="0">
              <a:solidFill>
                <a:schemeClr val="tx1">
                  <a:lumMod val="85000"/>
                  <a:lumOff val="15000"/>
                </a:schemeClr>
              </a:solidFill>
            </a:endParaRPr>
          </a:p>
        </p:txBody>
      </p:sp>
      <p:sp>
        <p:nvSpPr>
          <p:cNvPr id="246" name="右箭头 245"/>
          <p:cNvSpPr/>
          <p:nvPr/>
        </p:nvSpPr>
        <p:spPr>
          <a:xfrm>
            <a:off x="5586730" y="4645660"/>
            <a:ext cx="431165" cy="843915"/>
          </a:xfrm>
          <a:prstGeom prst="rightArrow">
            <a:avLst/>
          </a:prstGeom>
          <a:noFill/>
          <a:ln w="19050">
            <a:solidFill>
              <a:srgbClr val="04579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标题 1"/>
          <p:cNvSpPr txBox="1"/>
          <p:nvPr>
            <p:custDataLst>
              <p:tags r:id="rId21"/>
            </p:custDataLst>
          </p:nvPr>
        </p:nvSpPr>
        <p:spPr>
          <a:xfrm>
            <a:off x="2609850" y="2367280"/>
            <a:ext cx="1680845" cy="762635"/>
          </a:xfrm>
          <a:prstGeom prst="rect">
            <a:avLst/>
          </a:prstGeom>
          <a:noFill/>
        </p:spPr>
        <p:txBody>
          <a:bodyPr wrap="square" rtlCol="0">
            <a:normAutofit fontScale="97500"/>
          </a:bodyPr>
          <a:lstStyle>
            <a:defPPr>
              <a:defRPr lang="zh-CN"/>
            </a:defPPr>
            <a:lvl1pPr>
              <a:lnSpc>
                <a:spcPct val="130000"/>
              </a:lnSpc>
              <a:defRPr sz="1200"/>
            </a:lvl1pPr>
          </a:lstStyle>
          <a:p>
            <a:pPr indent="0" algn="ctr" fontAlgn="auto">
              <a:lnSpc>
                <a:spcPct val="120000"/>
              </a:lnSpc>
            </a:pPr>
            <a:r>
              <a:rPr lang="zh-CN" altLang="en-US" sz="1555" dirty="0">
                <a:sym typeface="+mn-ea"/>
              </a:rPr>
              <a:t>资产安全性依赖</a:t>
            </a:r>
            <a:r>
              <a:rPr lang="zh-CN" altLang="en-US" sz="1555" b="1" dirty="0">
                <a:solidFill>
                  <a:schemeClr val="accent5">
                    <a:lumMod val="75000"/>
                  </a:schemeClr>
                </a:solidFill>
                <a:sym typeface="+mn-ea"/>
              </a:rPr>
              <a:t>智能合约</a:t>
            </a:r>
            <a:r>
              <a:rPr lang="zh-CN" altLang="en-US" sz="1555" dirty="0">
                <a:sym typeface="+mn-ea"/>
              </a:rPr>
              <a:t>托管</a:t>
            </a:r>
            <a:endParaRPr lang="zh-CN" altLang="en-US" sz="1555" dirty="0">
              <a:sym typeface="+mn-ea"/>
            </a:endParaRPr>
          </a:p>
        </p:txBody>
      </p:sp>
      <p:sp>
        <p:nvSpPr>
          <p:cNvPr id="266" name="对角圆角矩形 265"/>
          <p:cNvSpPr/>
          <p:nvPr>
            <p:custDataLst>
              <p:tags r:id="rId22"/>
            </p:custDataLst>
          </p:nvPr>
        </p:nvSpPr>
        <p:spPr>
          <a:xfrm>
            <a:off x="4937760" y="222758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对角圆角矩形 266"/>
          <p:cNvSpPr/>
          <p:nvPr>
            <p:custDataLst>
              <p:tags r:id="rId23"/>
            </p:custDataLst>
          </p:nvPr>
        </p:nvSpPr>
        <p:spPr>
          <a:xfrm>
            <a:off x="7574280" y="2190750"/>
            <a:ext cx="2325370" cy="939165"/>
          </a:xfrm>
          <a:prstGeom prst="round2Diag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1" name="标题 1"/>
          <p:cNvSpPr txBox="1"/>
          <p:nvPr>
            <p:custDataLst>
              <p:tags r:id="rId24"/>
            </p:custDataLst>
          </p:nvPr>
        </p:nvSpPr>
        <p:spPr>
          <a:xfrm>
            <a:off x="5266690" y="2350770"/>
            <a:ext cx="1668145" cy="701675"/>
          </a:xfrm>
          <a:prstGeom prst="rect">
            <a:avLst/>
          </a:prstGeom>
          <a:noFill/>
        </p:spPr>
        <p:txBody>
          <a:bodyPr wrap="square" rtlCol="0">
            <a:normAutofit/>
          </a:bodyPr>
          <a:lstStyle>
            <a:defPPr>
              <a:defRPr lang="zh-CN"/>
            </a:defPPr>
            <a:lvl1pPr>
              <a:lnSpc>
                <a:spcPct val="130000"/>
              </a:lnSpc>
              <a:defRPr sz="1200"/>
            </a:lvl1pPr>
          </a:lstStyle>
          <a:p>
            <a:pPr indent="0" algn="l" fontAlgn="auto">
              <a:lnSpc>
                <a:spcPct val="120000"/>
              </a:lnSpc>
              <a:buClrTx/>
              <a:buSzTx/>
              <a:buFontTx/>
            </a:pPr>
            <a:r>
              <a:rPr lang="zh-CN" altLang="en-US" sz="1400" dirty="0">
                <a:sym typeface="+mn-ea"/>
              </a:rPr>
              <a:t>兑换有效性依赖于</a:t>
            </a:r>
            <a:r>
              <a:rPr lang="zh-CN" altLang="en-US" sz="1400" b="1" dirty="0">
                <a:solidFill>
                  <a:schemeClr val="accent5">
                    <a:lumMod val="75000"/>
                  </a:schemeClr>
                </a:solidFill>
                <a:sym typeface="+mn-ea"/>
              </a:rPr>
              <a:t>诚实矿工交易排序</a:t>
            </a:r>
            <a:endParaRPr lang="zh-CN" altLang="en-US" sz="1400" b="1" dirty="0">
              <a:solidFill>
                <a:schemeClr val="accent5">
                  <a:lumMod val="75000"/>
                </a:schemeClr>
              </a:solidFill>
              <a:sym typeface="Arial" panose="020B0604020202020204" pitchFamily="34" charset="0"/>
            </a:endParaRPr>
          </a:p>
        </p:txBody>
      </p:sp>
      <p:sp>
        <p:nvSpPr>
          <p:cNvPr id="262" name="标题 1"/>
          <p:cNvSpPr txBox="1"/>
          <p:nvPr>
            <p:custDataLst>
              <p:tags r:id="rId25"/>
            </p:custDataLst>
          </p:nvPr>
        </p:nvSpPr>
        <p:spPr>
          <a:xfrm>
            <a:off x="7737157" y="2336313"/>
            <a:ext cx="1999615" cy="688340"/>
          </a:xfrm>
          <a:prstGeom prst="rect">
            <a:avLst/>
          </a:prstGeom>
          <a:noFill/>
        </p:spPr>
        <p:txBody>
          <a:bodyPr wrap="square" rtlCol="0">
            <a:normAutofit fontScale="92500" lnSpcReduction="20000"/>
          </a:bodyPr>
          <a:lstStyle>
            <a:defPPr>
              <a:defRPr lang="zh-CN"/>
            </a:defPPr>
            <a:lvl1pPr>
              <a:lnSpc>
                <a:spcPct val="130000"/>
              </a:lnSpc>
              <a:defRPr sz="1200"/>
            </a:lvl1pPr>
          </a:lstStyle>
          <a:p>
            <a:pPr>
              <a:lnSpc>
                <a:spcPct val="120000"/>
              </a:lnSpc>
            </a:pPr>
            <a:r>
              <a:rPr lang="zh-CN" altLang="en-US" sz="1400" spc="150" dirty="0">
                <a:latin typeface="Arial" panose="020B0604020202020204" pitchFamily="34" charset="0"/>
                <a:ea typeface="微软雅黑" panose="020B0503020204020204" charset="-122"/>
                <a:sym typeface="Arial" panose="020B0604020202020204" pitchFamily="34" charset="0"/>
              </a:rPr>
              <a:t>惩罚机制依赖于用户</a:t>
            </a:r>
            <a:r>
              <a:rPr lang="zh-CN" altLang="en-US" sz="1400" b="1" spc="150" dirty="0">
                <a:solidFill>
                  <a:schemeClr val="accent5">
                    <a:lumMod val="75000"/>
                  </a:schemeClr>
                </a:solidFill>
                <a:latin typeface="Arial" panose="020B0604020202020204" pitchFamily="34" charset="0"/>
                <a:ea typeface="微软雅黑" panose="020B0503020204020204" charset="-122"/>
                <a:sym typeface="Arial" panose="020B0604020202020204" pitchFamily="34" charset="0"/>
              </a:rPr>
              <a:t>实时在线</a:t>
            </a:r>
            <a:r>
              <a:rPr lang="zh-CN" altLang="en-US" sz="1400" spc="150" dirty="0">
                <a:latin typeface="Arial" panose="020B0604020202020204" pitchFamily="34" charset="0"/>
                <a:ea typeface="微软雅黑" panose="020B0503020204020204" charset="-122"/>
                <a:sym typeface="Arial" panose="020B0604020202020204" pitchFamily="34" charset="0"/>
              </a:rPr>
              <a:t>监控链上交易</a:t>
            </a:r>
            <a:endParaRPr lang="zh-CN" altLang="en-US" sz="1400" spc="150" dirty="0">
              <a:latin typeface="Arial" panose="020B0604020202020204" pitchFamily="34" charset="0"/>
              <a:ea typeface="微软雅黑" panose="020B0503020204020204" charset="-122"/>
              <a:sym typeface="Arial" panose="020B0604020202020204" pitchFamily="34" charset="0"/>
            </a:endParaRPr>
          </a:p>
        </p:txBody>
      </p:sp>
      <p:sp>
        <p:nvSpPr>
          <p:cNvPr id="269" name="矩形 268"/>
          <p:cNvSpPr/>
          <p:nvPr>
            <p:custDataLst>
              <p:tags r:id="rId26"/>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custDataLst>
              <p:tags r:id="rId27"/>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custDataLst>
              <p:tags r:id="rId28"/>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p:cNvSpPr/>
          <p:nvPr>
            <p:custDataLst>
              <p:tags r:id="rId29"/>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p:cNvSpPr/>
          <p:nvPr>
            <p:custDataLst>
              <p:tags r:id="rId30"/>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4" name="文本框 273"/>
          <p:cNvSpPr txBox="1"/>
          <p:nvPr>
            <p:custDataLst>
              <p:tags r:id="rId31"/>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75" name="Picture 2" descr="C:\Program Files\Apache Software Foundation\Tomcat 6.0\webapps\topo1\images\sklois1 (2).jpg"/>
          <p:cNvPicPr>
            <a:picLocks noChangeAspect="1" noChangeArrowheads="1"/>
          </p:cNvPicPr>
          <p:nvPr>
            <p:custDataLst>
              <p:tags r:id="rId32"/>
            </p:custDataLst>
          </p:nvPr>
        </p:nvPicPr>
        <p:blipFill>
          <a:blip r:embed="rId33"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 name="等腰三角形 275"/>
          <p:cNvSpPr/>
          <p:nvPr>
            <p:custDataLst>
              <p:tags r:id="rId34"/>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5"/>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a:pPr>
            <a:r>
              <a:rPr lang="zh-CN" altLang="en-US" sz="2000" dirty="0">
                <a:solidFill>
                  <a:schemeClr val="tx1">
                    <a:lumMod val="75000"/>
                    <a:lumOff val="25000"/>
                  </a:schemeClr>
                </a:solidFill>
                <a:sym typeface="+mn-ea"/>
              </a:rPr>
              <a:t>现实网络环境对分布式数字资产交易协议的安全性和健壮性提出了更高的要求</a:t>
            </a:r>
            <a:endParaRPr lang="zh-CN" altLang="en-US" sz="2000" dirty="0">
              <a:solidFill>
                <a:schemeClr val="tx1">
                  <a:lumMod val="75000"/>
                  <a:lumOff val="25000"/>
                </a:schemeClr>
              </a:solidFill>
              <a:sym typeface="+mn-ea"/>
            </a:endParaRPr>
          </a:p>
        </p:txBody>
      </p:sp>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6</a:t>
            </a:r>
            <a:endParaRPr lang="zh-CN" altLang="en-US" dirty="0"/>
          </a:p>
        </p:txBody>
      </p:sp>
    </p:spTree>
    <p:custDataLst>
      <p:tags r:id="rId3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p:bldP spid="240" grpId="1"/>
      <p:bldP spid="241" grpId="0"/>
      <p:bldP spid="241" grpId="1"/>
      <p:bldP spid="246" grpId="0" animBg="1"/>
      <p:bldP spid="246"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90855" y="3972190"/>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p:cNvSpPr/>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56895" y="1663700"/>
            <a:ext cx="11078845" cy="393261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endParaRPr lang="zh-CN" altLang="en-US" sz="2000" dirty="0">
              <a:solidFill>
                <a:schemeClr val="tx1">
                  <a:lumMod val="85000"/>
                  <a:lumOff val="15000"/>
                </a:schemeClr>
              </a:solidFill>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marL="457200" lvl="1" indent="457200" fontAlgn="auto">
              <a:lnSpc>
                <a:spcPct val="150000"/>
              </a:lnSpc>
              <a:spcAft>
                <a:spcPts val="1200"/>
              </a:spcAft>
              <a:buNone/>
            </a:pPr>
            <a:r>
              <a:rPr lang="zh-CN" altLang="en-US" sz="2400" b="1" dirty="0">
                <a:solidFill>
                  <a:srgbClr val="04579A"/>
                </a:solidFill>
                <a:sym typeface="+mn-ea"/>
              </a:rPr>
              <a:t>分布式数字资产交易协议需要高性能的链下方案构造</a:t>
            </a:r>
            <a:endParaRPr lang="zh-CN" altLang="en-US" sz="2400" dirty="0">
              <a:solidFill>
                <a:srgbClr val="04579A"/>
              </a:solidFill>
              <a:sym typeface="+mn-ea"/>
            </a:endParaRPr>
          </a:p>
          <a:p>
            <a:pPr marL="457200" lvl="0" indent="-457200" fontAlgn="auto">
              <a:lnSpc>
                <a:spcPct val="150000"/>
              </a:lnSpc>
              <a:buAutoNum type="arabicPeriod"/>
            </a:pPr>
            <a:r>
              <a:rPr lang="zh-CN" altLang="en-US" sz="2000" dirty="0">
                <a:solidFill>
                  <a:schemeClr val="bg1">
                    <a:lumMod val="95000"/>
                  </a:schemeClr>
                </a:solidFill>
                <a:sym typeface="+mn-ea"/>
              </a:rPr>
              <a:t>异构区块链系统间的互联互通要求分布式数字资产交易协议具有互操作性</a:t>
            </a:r>
            <a:endParaRPr lang="zh-CN" altLang="en-US" sz="2000" dirty="0">
              <a:solidFill>
                <a:schemeClr val="bg1">
                  <a:lumMod val="95000"/>
                </a:schemeClr>
              </a:solidFill>
              <a:sym typeface="+mn-ea"/>
            </a:endParaRPr>
          </a:p>
          <a:p>
            <a:pPr lvl="1" indent="457200">
              <a:lnSpc>
                <a:spcPct val="150000"/>
              </a:lnSpc>
            </a:pPr>
            <a:r>
              <a:rPr lang="zh-CN" altLang="en-US" sz="2400" b="1" dirty="0">
                <a:solidFill>
                  <a:schemeClr val="bg1">
                    <a:lumMod val="95000"/>
                  </a:schemeClr>
                </a:solidFill>
                <a:sym typeface="+mn-ea"/>
              </a:rPr>
              <a:t>分布式数字资产交易协议需要高效的跨链证明协议</a:t>
            </a:r>
            <a:endParaRPr lang="en-US" altLang="zh-CN" sz="2400" b="1" dirty="0">
              <a:solidFill>
                <a:schemeClr val="bg1">
                  <a:lumMod val="95000"/>
                </a:schemeClr>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4" name="燕尾形 3"/>
          <p:cNvSpPr/>
          <p:nvPr>
            <p:custDataLst>
              <p:tags r:id="rId12"/>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7</a:t>
            </a:r>
            <a:endParaRPr lang="zh-CN" altLang="en-US" dirty="0"/>
          </a:p>
        </p:txBody>
      </p:sp>
    </p:spTree>
    <p:custDataLst>
      <p:tags r:id="rId13"/>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custDataLst>
              <p:tags r:id="rId1"/>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endParaRPr lang="zh-CN" altLang="en-US" sz="2000" dirty="0">
              <a:solidFill>
                <a:schemeClr val="tx1">
                  <a:lumMod val="75000"/>
                  <a:lumOff val="25000"/>
                </a:schemeClr>
              </a:solidFill>
              <a:sym typeface="+mn-ea"/>
            </a:endParaRPr>
          </a:p>
        </p:txBody>
      </p:sp>
      <p:sp>
        <p:nvSpPr>
          <p:cNvPr id="41" name="矩形 4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endParaRPr lang="zh-CN" altLang="en-US" dirty="0">
              <a:solidFill>
                <a:schemeClr val="tx1"/>
              </a:solidFill>
              <a:latin typeface="Arial" panose="020B0604020202020204" pitchFamily="34" charset="0"/>
              <a:sym typeface="+mn-ea"/>
            </a:endParaRPr>
          </a:p>
        </p:txBody>
      </p:sp>
      <p:pic>
        <p:nvPicPr>
          <p:cNvPr id="47" name="Picture 2" descr="C:\Program Files\Apache Software Foundation\Tomcat 6.0\webapps\topo1\images\sklois1 (2).jpg"/>
          <p:cNvPicPr>
            <a:picLocks noChangeAspect="1" noChangeArrowheads="1"/>
          </p:cNvPicPr>
          <p:nvPr>
            <p:custDataLst>
              <p:tags r:id="rId8"/>
            </p:custDataLst>
          </p:nvPr>
        </p:nvPicPr>
        <p:blipFill>
          <a:blip r:embed="rId9"/>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814864" y="1980259"/>
            <a:ext cx="8562272" cy="3455061"/>
            <a:chOff x="1814865" y="1964557"/>
            <a:chExt cx="8562272" cy="3455061"/>
          </a:xfrm>
        </p:grpSpPr>
        <p:grpSp>
          <p:nvGrpSpPr>
            <p:cNvPr id="6" name="组合 5"/>
            <p:cNvGrpSpPr/>
            <p:nvPr/>
          </p:nvGrpSpPr>
          <p:grpSpPr>
            <a:xfrm>
              <a:off x="1814865" y="1964557"/>
              <a:ext cx="3458817" cy="3455061"/>
              <a:chOff x="2594093" y="1964557"/>
              <a:chExt cx="3458817" cy="3455061"/>
            </a:xfrm>
          </p:grpSpPr>
          <p:grpSp>
            <p:nvGrpSpPr>
              <p:cNvPr id="11" name="组合 10"/>
              <p:cNvGrpSpPr/>
              <p:nvPr/>
            </p:nvGrpSpPr>
            <p:grpSpPr>
              <a:xfrm>
                <a:off x="2917087" y="1964557"/>
                <a:ext cx="2812831" cy="2714627"/>
                <a:chOff x="660400" y="1130301"/>
                <a:chExt cx="3099935" cy="2991707"/>
              </a:xfrm>
            </p:grpSpPr>
            <p:pic>
              <p:nvPicPr>
                <p:cNvPr id="13" name="Image-1"/>
                <p:cNvPicPr/>
                <p:nvPr>
                  <p:custDataLst>
                    <p:tags r:id="rId11"/>
                  </p:custDataLst>
                </p:nvPr>
              </p:nvPicPr>
              <p:blipFill rotWithShape="1">
                <a:blip r:embed="rId12" cstate="print">
                  <a:extLst>
                    <a:ext uri="{28A0092B-C50C-407E-A947-70E740481C1C}">
                      <a14:useLocalDpi xmlns:a14="http://schemas.microsoft.com/office/drawing/2010/main" val="0"/>
                    </a:ext>
                  </a:extLst>
                </a:blip>
                <a:srcRect t="7001" b="7001"/>
                <a:stretch>
                  <a:fillRect/>
                </a:stretch>
              </p:blipFill>
              <p:spPr>
                <a:xfrm>
                  <a:off x="660400" y="1130301"/>
                  <a:ext cx="3099935" cy="2374912"/>
                </a:xfrm>
                <a:custGeom>
                  <a:avLst/>
                  <a:gdLst>
                    <a:gd name="connsiteX0" fmla="*/ 123495 w 3099935"/>
                    <a:gd name="connsiteY0" fmla="*/ 0 h 2374912"/>
                    <a:gd name="connsiteX1" fmla="*/ 2976440 w 3099935"/>
                    <a:gd name="connsiteY1" fmla="*/ 0 h 2374912"/>
                    <a:gd name="connsiteX2" fmla="*/ 3099935 w 3099935"/>
                    <a:gd name="connsiteY2" fmla="*/ 123495 h 2374912"/>
                    <a:gd name="connsiteX3" fmla="*/ 3099935 w 3099935"/>
                    <a:gd name="connsiteY3" fmla="*/ 2251417 h 2374912"/>
                    <a:gd name="connsiteX4" fmla="*/ 2976440 w 3099935"/>
                    <a:gd name="connsiteY4" fmla="*/ 2374912 h 2374912"/>
                    <a:gd name="connsiteX5" fmla="*/ 123495 w 3099935"/>
                    <a:gd name="connsiteY5" fmla="*/ 2374912 h 2374912"/>
                    <a:gd name="connsiteX6" fmla="*/ 0 w 3099935"/>
                    <a:gd name="connsiteY6" fmla="*/ 2251417 h 2374912"/>
                    <a:gd name="connsiteX7" fmla="*/ 0 w 3099935"/>
                    <a:gd name="connsiteY7" fmla="*/ 123495 h 2374912"/>
                    <a:gd name="connsiteX8" fmla="*/ 123495 w 3099935"/>
                    <a:gd name="connsiteY8" fmla="*/ 0 h 237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99935" h="2374912">
                      <a:moveTo>
                        <a:pt x="123495" y="0"/>
                      </a:moveTo>
                      <a:lnTo>
                        <a:pt x="2976440" y="0"/>
                      </a:lnTo>
                      <a:cubicBezTo>
                        <a:pt x="2976440" y="68204"/>
                        <a:pt x="3031731" y="123495"/>
                        <a:pt x="3099935" y="123495"/>
                      </a:cubicBezTo>
                      <a:lnTo>
                        <a:pt x="3099935" y="2251417"/>
                      </a:lnTo>
                      <a:cubicBezTo>
                        <a:pt x="3031731" y="2251417"/>
                        <a:pt x="2976440" y="2306708"/>
                        <a:pt x="2976440" y="2374912"/>
                      </a:cubicBezTo>
                      <a:lnTo>
                        <a:pt x="123495" y="2374912"/>
                      </a:lnTo>
                      <a:cubicBezTo>
                        <a:pt x="123495" y="2306708"/>
                        <a:pt x="68204" y="2251417"/>
                        <a:pt x="0" y="2251417"/>
                      </a:cubicBezTo>
                      <a:lnTo>
                        <a:pt x="0" y="123495"/>
                      </a:lnTo>
                      <a:cubicBezTo>
                        <a:pt x="68204" y="123495"/>
                        <a:pt x="123495" y="68204"/>
                        <a:pt x="123495" y="0"/>
                      </a:cubicBezTo>
                      <a:close/>
                    </a:path>
                  </a:pathLst>
                </a:custGeom>
              </p:spPr>
            </p:pic>
            <p:sp>
              <p:nvSpPr>
                <p:cNvPr id="14" name="Title-1"/>
                <p:cNvSpPr/>
                <p:nvPr>
                  <p:custDataLst>
                    <p:tags r:id="rId13"/>
                  </p:custDataLst>
                </p:nvPr>
              </p:nvSpPr>
              <p:spPr>
                <a:xfrm>
                  <a:off x="660400" y="3505213"/>
                  <a:ext cx="3099935" cy="616795"/>
                </a:xfrm>
                <a:prstGeom prst="plaque">
                  <a:avLst>
                    <a:gd name="adj" fmla="val 18633"/>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传统金融机构（</a:t>
                  </a:r>
                  <a:r>
                    <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rPr>
                    <a:t>Visa</a:t>
                  </a: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a:t>
                  </a:r>
                  <a:endPar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endParaRPr>
                </a:p>
              </p:txBody>
            </p:sp>
          </p:grpSp>
          <p:sp>
            <p:nvSpPr>
              <p:cNvPr id="12" name="Body-1"/>
              <p:cNvSpPr/>
              <p:nvPr>
                <p:custDataLst>
                  <p:tags r:id="rId14"/>
                </p:custDataLst>
              </p:nvPr>
            </p:nvSpPr>
            <p:spPr>
              <a:xfrm>
                <a:off x="2594093" y="4634388"/>
                <a:ext cx="3458817" cy="785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765" rtl="0" eaLnBrk="1" fontAlgn="auto" latinLnBrk="0" hangingPunct="1">
                  <a:lnSpc>
                    <a:spcPct val="130000"/>
                  </a:lnSpc>
                  <a:spcBef>
                    <a:spcPts val="0"/>
                  </a:spcBef>
                  <a:spcAft>
                    <a:spcPts val="0"/>
                  </a:spcAft>
                  <a:buClrTx/>
                  <a:buSzPct val="100000"/>
                  <a:buFontTx/>
                  <a:buNone/>
                  <a:defRPr/>
                </a:pP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每秒处理峰值超</a:t>
                </a:r>
                <a:r>
                  <a:rPr kumimoji="0" lang="en-US"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4</a:t>
                </a: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万笔交易</a:t>
                </a:r>
                <a:endParaRPr kumimoji="0" lang="en-US"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p>
                <a:pPr marL="0" marR="0" lvl="0" indent="0" algn="ctr" defTabSz="913765" rtl="0" eaLnBrk="1" fontAlgn="auto" latinLnBrk="0" hangingPunct="1">
                  <a:lnSpc>
                    <a:spcPct val="130000"/>
                  </a:lnSpc>
                  <a:spcBef>
                    <a:spcPts val="0"/>
                  </a:spcBef>
                  <a:spcAft>
                    <a:spcPts val="0"/>
                  </a:spcAft>
                  <a:buClrTx/>
                  <a:buSzPct val="100000"/>
                  <a:buFontTx/>
                  <a:buNone/>
                  <a:defRPr/>
                </a:pPr>
                <a:r>
                  <a:rPr lang="zh-CN" altLang="en-US" dirty="0">
                    <a:solidFill>
                      <a:schemeClr val="tx1"/>
                    </a:solidFill>
                    <a:latin typeface="Arial" panose="020B0604020202020204" pitchFamily="34" charset="0"/>
                    <a:cs typeface="Arial" panose="020B0604020202020204" pitchFamily="34" charset="0"/>
                  </a:rPr>
                  <a:t>每笔交易确认延时为毫秒级</a:t>
                </a:r>
                <a:endParaRPr kumimoji="0" lang="en-GB" altLang="zh-CN"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p:txBody>
          </p:sp>
        </p:grpSp>
        <p:grpSp>
          <p:nvGrpSpPr>
            <p:cNvPr id="7" name="组合 6"/>
            <p:cNvGrpSpPr/>
            <p:nvPr/>
          </p:nvGrpSpPr>
          <p:grpSpPr>
            <a:xfrm>
              <a:off x="6918320" y="1964557"/>
              <a:ext cx="3458817" cy="3455061"/>
              <a:chOff x="6918320" y="1964557"/>
              <a:chExt cx="3458817" cy="3455061"/>
            </a:xfrm>
          </p:grpSpPr>
          <p:pic>
            <p:nvPicPr>
              <p:cNvPr id="8" name="Image-1"/>
              <p:cNvPicPr/>
              <p:nvPr>
                <p:custDataLst>
                  <p:tags r:id="rId15"/>
                </p:custDataLst>
              </p:nvPr>
            </p:nvPicPr>
            <p:blipFill rotWithShape="1">
              <a:blip r:embed="rId16" cstate="print">
                <a:extLst>
                  <a:ext uri="{28A0092B-C50C-407E-A947-70E740481C1C}">
                    <a14:useLocalDpi xmlns:a14="http://schemas.microsoft.com/office/drawing/2010/main" val="0"/>
                  </a:ext>
                </a:extLst>
              </a:blip>
              <a:srcRect l="51" r="51"/>
              <a:stretch>
                <a:fillRect/>
              </a:stretch>
            </p:blipFill>
            <p:spPr>
              <a:xfrm>
                <a:off x="7241314" y="1964557"/>
                <a:ext cx="2812831" cy="2154957"/>
              </a:xfrm>
              <a:custGeom>
                <a:avLst/>
                <a:gdLst>
                  <a:gd name="connsiteX0" fmla="*/ 123495 w 3099935"/>
                  <a:gd name="connsiteY0" fmla="*/ 0 h 2374912"/>
                  <a:gd name="connsiteX1" fmla="*/ 2976440 w 3099935"/>
                  <a:gd name="connsiteY1" fmla="*/ 0 h 2374912"/>
                  <a:gd name="connsiteX2" fmla="*/ 3099935 w 3099935"/>
                  <a:gd name="connsiteY2" fmla="*/ 123495 h 2374912"/>
                  <a:gd name="connsiteX3" fmla="*/ 3099935 w 3099935"/>
                  <a:gd name="connsiteY3" fmla="*/ 2251417 h 2374912"/>
                  <a:gd name="connsiteX4" fmla="*/ 2976440 w 3099935"/>
                  <a:gd name="connsiteY4" fmla="*/ 2374912 h 2374912"/>
                  <a:gd name="connsiteX5" fmla="*/ 123495 w 3099935"/>
                  <a:gd name="connsiteY5" fmla="*/ 2374912 h 2374912"/>
                  <a:gd name="connsiteX6" fmla="*/ 0 w 3099935"/>
                  <a:gd name="connsiteY6" fmla="*/ 2251417 h 2374912"/>
                  <a:gd name="connsiteX7" fmla="*/ 0 w 3099935"/>
                  <a:gd name="connsiteY7" fmla="*/ 123495 h 2374912"/>
                  <a:gd name="connsiteX8" fmla="*/ 123495 w 3099935"/>
                  <a:gd name="connsiteY8" fmla="*/ 0 h 237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99935" h="2374912">
                    <a:moveTo>
                      <a:pt x="123495" y="0"/>
                    </a:moveTo>
                    <a:lnTo>
                      <a:pt x="2976440" y="0"/>
                    </a:lnTo>
                    <a:cubicBezTo>
                      <a:pt x="2976440" y="68204"/>
                      <a:pt x="3031731" y="123495"/>
                      <a:pt x="3099935" y="123495"/>
                    </a:cubicBezTo>
                    <a:lnTo>
                      <a:pt x="3099935" y="2251417"/>
                    </a:lnTo>
                    <a:cubicBezTo>
                      <a:pt x="3031731" y="2251417"/>
                      <a:pt x="2976440" y="2306708"/>
                      <a:pt x="2976440" y="2374912"/>
                    </a:cubicBezTo>
                    <a:lnTo>
                      <a:pt x="123495" y="2374912"/>
                    </a:lnTo>
                    <a:cubicBezTo>
                      <a:pt x="123495" y="2306708"/>
                      <a:pt x="68204" y="2251417"/>
                      <a:pt x="0" y="2251417"/>
                    </a:cubicBezTo>
                    <a:lnTo>
                      <a:pt x="0" y="123495"/>
                    </a:lnTo>
                    <a:cubicBezTo>
                      <a:pt x="68204" y="123495"/>
                      <a:pt x="123495" y="68204"/>
                      <a:pt x="123495" y="0"/>
                    </a:cubicBezTo>
                    <a:close/>
                  </a:path>
                </a:pathLst>
              </a:custGeom>
            </p:spPr>
          </p:pic>
          <p:sp>
            <p:nvSpPr>
              <p:cNvPr id="9" name="Title-1"/>
              <p:cNvSpPr/>
              <p:nvPr>
                <p:custDataLst>
                  <p:tags r:id="rId17"/>
                </p:custDataLst>
              </p:nvPr>
            </p:nvSpPr>
            <p:spPr>
              <a:xfrm>
                <a:off x="7241314" y="4119514"/>
                <a:ext cx="2812831" cy="559670"/>
              </a:xfrm>
              <a:prstGeom prst="plaque">
                <a:avLst>
                  <a:gd name="adj" fmla="val 18633"/>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bg1"/>
                    </a:solidFill>
                    <a:effectLst/>
                    <a:uLnTx/>
                    <a:uFillTx/>
                    <a:cs typeface="+mn-cs"/>
                    <a:sym typeface="Arial" panose="020B0604020202020204" pitchFamily="34" charset="0"/>
                  </a:rPr>
                  <a:t>区块链交易（比特币）</a:t>
                </a:r>
                <a:endParaRPr kumimoji="0" lang="en-US" altLang="zh-CN" sz="1800" b="1" i="0" u="none" strike="noStrike" kern="1200" cap="none" spc="0" normalizeH="0" baseline="0" noProof="0" dirty="0">
                  <a:ln>
                    <a:noFill/>
                  </a:ln>
                  <a:solidFill>
                    <a:schemeClr val="bg1"/>
                  </a:solidFill>
                  <a:effectLst/>
                  <a:uLnTx/>
                  <a:uFillTx/>
                  <a:cs typeface="+mn-cs"/>
                  <a:sym typeface="Arial" panose="020B0604020202020204" pitchFamily="34" charset="0"/>
                </a:endParaRPr>
              </a:p>
            </p:txBody>
          </p:sp>
          <p:sp>
            <p:nvSpPr>
              <p:cNvPr id="10" name="Body-1"/>
              <p:cNvSpPr/>
              <p:nvPr>
                <p:custDataLst>
                  <p:tags r:id="rId18"/>
                </p:custDataLst>
              </p:nvPr>
            </p:nvSpPr>
            <p:spPr>
              <a:xfrm>
                <a:off x="6918320" y="4634388"/>
                <a:ext cx="3458817" cy="785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913765">
                  <a:lnSpc>
                    <a:spcPct val="130000"/>
                  </a:lnSpc>
                  <a:buSzPct val="100000"/>
                  <a:defRPr/>
                </a:pPr>
                <a:r>
                  <a:rPr lang="zh-CN" altLang="en-US" dirty="0">
                    <a:solidFill>
                      <a:schemeClr val="tx1"/>
                    </a:solidFill>
                    <a:latin typeface="Arial" panose="020B0604020202020204" pitchFamily="34" charset="0"/>
                    <a:cs typeface="Arial" panose="020B0604020202020204" pitchFamily="34" charset="0"/>
                  </a:rPr>
                  <a:t>每秒处理峰值</a:t>
                </a:r>
                <a:r>
                  <a:rPr lang="en-US" altLang="zh-CN" dirty="0">
                    <a:solidFill>
                      <a:schemeClr val="tx1"/>
                    </a:solidFill>
                    <a:latin typeface="Arial" panose="020B0604020202020204" pitchFamily="34" charset="0"/>
                    <a:cs typeface="Arial" panose="020B0604020202020204" pitchFamily="34" charset="0"/>
                  </a:rPr>
                  <a:t>7-10</a:t>
                </a:r>
                <a:r>
                  <a:rPr lang="zh-CN" altLang="en-US" dirty="0">
                    <a:solidFill>
                      <a:schemeClr val="tx1"/>
                    </a:solidFill>
                    <a:latin typeface="Arial" panose="020B0604020202020204" pitchFamily="34" charset="0"/>
                    <a:cs typeface="Arial" panose="020B0604020202020204" pitchFamily="34" charset="0"/>
                  </a:rPr>
                  <a:t>笔交易</a:t>
                </a:r>
                <a:endParaRPr lang="en-US" altLang="zh-CN" dirty="0">
                  <a:solidFill>
                    <a:schemeClr val="tx1"/>
                  </a:solidFill>
                  <a:latin typeface="Arial" panose="020B0604020202020204" pitchFamily="34" charset="0"/>
                  <a:cs typeface="Arial" panose="020B0604020202020204" pitchFamily="34" charset="0"/>
                </a:endParaRPr>
              </a:p>
              <a:p>
                <a:pPr lvl="0" algn="ctr" defTabSz="913765">
                  <a:lnSpc>
                    <a:spcPct val="130000"/>
                  </a:lnSpc>
                  <a:buSzPct val="100000"/>
                  <a:defRPr/>
                </a:pPr>
                <a:r>
                  <a:rPr lang="zh-CN" altLang="en-US" dirty="0">
                    <a:solidFill>
                      <a:schemeClr val="tx1"/>
                    </a:solidFill>
                    <a:latin typeface="Arial" panose="020B0604020202020204" pitchFamily="34" charset="0"/>
                    <a:cs typeface="Arial" panose="020B0604020202020204" pitchFamily="34" charset="0"/>
                  </a:rPr>
                  <a:t>每笔交易确认延时约</a:t>
                </a:r>
                <a:r>
                  <a:rPr lang="en-US" altLang="zh-CN" dirty="0">
                    <a:solidFill>
                      <a:schemeClr val="tx1"/>
                    </a:solidFill>
                    <a:latin typeface="Arial" panose="020B0604020202020204" pitchFamily="34" charset="0"/>
                    <a:cs typeface="Arial" panose="020B0604020202020204" pitchFamily="34" charset="0"/>
                  </a:rPr>
                  <a:t>1</a:t>
                </a:r>
                <a:r>
                  <a:rPr lang="zh-CN" altLang="en-US" dirty="0">
                    <a:solidFill>
                      <a:schemeClr val="tx1"/>
                    </a:solidFill>
                    <a:latin typeface="Arial" panose="020B0604020202020204" pitchFamily="34" charset="0"/>
                    <a:cs typeface="Arial" panose="020B0604020202020204" pitchFamily="34" charset="0"/>
                  </a:rPr>
                  <a:t>小时</a:t>
                </a:r>
                <a:endParaRPr lang="en-GB" altLang="zh-CN" dirty="0">
                  <a:solidFill>
                    <a:schemeClr val="tx1"/>
                  </a:solidFill>
                  <a:latin typeface="Arial" panose="020B0604020202020204" pitchFamily="34" charset="0"/>
                  <a:cs typeface="Arial" panose="020B0604020202020204" pitchFamily="34" charset="0"/>
                </a:endParaRPr>
              </a:p>
            </p:txBody>
          </p:sp>
        </p:grpSp>
      </p:grpSp>
      <p:sp>
        <p:nvSpPr>
          <p:cNvPr id="4" name="文本框 3"/>
          <p:cNvSpPr txBox="1"/>
          <p:nvPr/>
        </p:nvSpPr>
        <p:spPr>
          <a:xfrm>
            <a:off x="11736779" y="6499761"/>
            <a:ext cx="455221" cy="369332"/>
          </a:xfrm>
          <a:prstGeom prst="rect">
            <a:avLst/>
          </a:prstGeom>
          <a:noFill/>
        </p:spPr>
        <p:txBody>
          <a:bodyPr wrap="square" rtlCol="0">
            <a:spAutoFit/>
          </a:bodyPr>
          <a:lstStyle/>
          <a:p>
            <a:pPr algn="ctr"/>
            <a:r>
              <a:rPr lang="en-US" altLang="zh-CN" dirty="0"/>
              <a:t>8</a:t>
            </a:r>
            <a:endParaRPr lang="zh-CN" altLang="en-US" dirty="0"/>
          </a:p>
        </p:txBody>
      </p:sp>
    </p:spTree>
    <p:custDataLst>
      <p:tags r:id="rId19"/>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custDataLst>
              <p:tags r:id="rId1"/>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custDataLst>
              <p:tags r:id="rId4"/>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custDataLst>
              <p:tags r:id="rId5"/>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6"/>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endParaRPr lang="zh-CN" altLang="en-US" dirty="0">
              <a:solidFill>
                <a:schemeClr val="tx1"/>
              </a:solidFill>
              <a:latin typeface="Arial" panose="020B0604020202020204" pitchFamily="34" charset="0"/>
              <a:sym typeface="+mn-ea"/>
            </a:endParaRPr>
          </a:p>
        </p:txBody>
      </p:sp>
      <p:pic>
        <p:nvPicPr>
          <p:cNvPr id="47" name="Picture 2" descr="C:\Program Files\Apache Software Foundation\Tomcat 6.0\webapps\topo1\images\sklois1 (2).jpg"/>
          <p:cNvPicPr>
            <a:picLocks noChangeAspect="1" noChangeArrowheads="1"/>
          </p:cNvPicPr>
          <p:nvPr>
            <p:custDataLst>
              <p:tags r:id="rId7"/>
            </p:custDataLst>
          </p:nvPr>
        </p:nvPicPr>
        <p:blipFill>
          <a:blip r:embed="rId8"/>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p:cNvSpPr/>
          <p:nvPr>
            <p:custDataLst>
              <p:tags r:id="rId9"/>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5560555" y="1841359"/>
            <a:ext cx="5894699" cy="4230976"/>
            <a:chOff x="5560555" y="2024590"/>
            <a:chExt cx="5894699" cy="4230976"/>
          </a:xfrm>
        </p:grpSpPr>
        <p:pic>
          <p:nvPicPr>
            <p:cNvPr id="34" name="图片 33"/>
            <p:cNvPicPr>
              <a:picLocks noChangeAspect="1"/>
            </p:cNvPicPr>
            <p:nvPr/>
          </p:nvPicPr>
          <p:blipFill>
            <a:blip r:embed="rId10"/>
            <a:stretch>
              <a:fillRect/>
            </a:stretch>
          </p:blipFill>
          <p:spPr>
            <a:xfrm>
              <a:off x="5913780" y="2024590"/>
              <a:ext cx="5116406" cy="4049180"/>
            </a:xfrm>
            <a:prstGeom prst="rect">
              <a:avLst/>
            </a:prstGeom>
          </p:spPr>
        </p:pic>
        <p:sp>
          <p:nvSpPr>
            <p:cNvPr id="35" name="文本框 34"/>
            <p:cNvSpPr txBox="1"/>
            <p:nvPr/>
          </p:nvSpPr>
          <p:spPr>
            <a:xfrm>
              <a:off x="5560555" y="2188948"/>
              <a:ext cx="706450" cy="461665"/>
            </a:xfrm>
            <a:prstGeom prst="rect">
              <a:avLst/>
            </a:prstGeom>
            <a:noFill/>
          </p:spPr>
          <p:txBody>
            <a:bodyPr wrap="square" rtlCol="0">
              <a:spAutoFit/>
            </a:bodyPr>
            <a:lstStyle/>
            <a:p>
              <a:pPr algn="ctr"/>
              <a:r>
                <a:rPr lang="zh-CN" altLang="en-US" sz="1200" dirty="0"/>
                <a:t>吞吐量</a:t>
              </a:r>
              <a:r>
                <a:rPr lang="en-US" altLang="zh-CN" sz="1200" dirty="0"/>
                <a:t>(</a:t>
              </a:r>
              <a:r>
                <a:rPr lang="en-US" altLang="zh-CN" sz="1200" dirty="0" err="1"/>
                <a:t>tx</a:t>
              </a:r>
              <a:r>
                <a:rPr lang="en-US" altLang="zh-CN" sz="1200" dirty="0"/>
                <a:t>/s)</a:t>
              </a:r>
              <a:endParaRPr lang="zh-CN" altLang="en-US" sz="1200" dirty="0"/>
            </a:p>
          </p:txBody>
        </p:sp>
        <p:sp>
          <p:nvSpPr>
            <p:cNvPr id="36" name="文本框 35"/>
            <p:cNvSpPr txBox="1"/>
            <p:nvPr/>
          </p:nvSpPr>
          <p:spPr>
            <a:xfrm>
              <a:off x="10081309" y="5978567"/>
              <a:ext cx="1373945" cy="276999"/>
            </a:xfrm>
            <a:prstGeom prst="rect">
              <a:avLst/>
            </a:prstGeom>
            <a:noFill/>
          </p:spPr>
          <p:txBody>
            <a:bodyPr wrap="square" rtlCol="0">
              <a:spAutoFit/>
            </a:bodyPr>
            <a:lstStyle/>
            <a:p>
              <a:pPr algn="ctr"/>
              <a:r>
                <a:rPr lang="zh-CN" altLang="en-US" sz="1200" dirty="0"/>
                <a:t>共识节点个数</a:t>
              </a:r>
              <a:r>
                <a:rPr lang="en-US" altLang="zh-CN" sz="1200" dirty="0"/>
                <a:t>/</a:t>
              </a:r>
              <a:r>
                <a:rPr lang="zh-CN" altLang="en-US" sz="1200" dirty="0"/>
                <a:t>个</a:t>
              </a:r>
              <a:endParaRPr lang="zh-CN" altLang="en-US" sz="1200" dirty="0"/>
            </a:p>
          </p:txBody>
        </p:sp>
      </p:grpSp>
      <p:grpSp>
        <p:nvGrpSpPr>
          <p:cNvPr id="52" name="组合 51"/>
          <p:cNvGrpSpPr/>
          <p:nvPr>
            <p:custDataLst>
              <p:tags r:id="rId11"/>
            </p:custDataLst>
          </p:nvPr>
        </p:nvGrpSpPr>
        <p:grpSpPr>
          <a:xfrm>
            <a:off x="565042" y="3625423"/>
            <a:ext cx="4317365" cy="1958340"/>
            <a:chOff x="687" y="7181"/>
            <a:chExt cx="6040" cy="3922"/>
          </a:xfrm>
        </p:grpSpPr>
        <p:sp>
          <p:nvSpPr>
            <p:cNvPr id="53" name="矩形 52"/>
            <p:cNvSpPr/>
            <p:nvPr>
              <p:custDataLst>
                <p:tags r:id="rId12"/>
              </p:custDataLst>
            </p:nvPr>
          </p:nvSpPr>
          <p:spPr>
            <a:xfrm>
              <a:off x="958" y="7181"/>
              <a:ext cx="5769" cy="3922"/>
            </a:xfrm>
            <a:prstGeom prst="rect">
              <a:avLst/>
            </a:prstGeom>
            <a:solidFill>
              <a:schemeClr val="lt1"/>
            </a:solidFill>
            <a:ln w="22225">
              <a:solidFill>
                <a:schemeClr val="dk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54" name="组合 53"/>
            <p:cNvGrpSpPr/>
            <p:nvPr>
              <p:custDataLst>
                <p:tags r:id="rId13"/>
              </p:custDataLst>
            </p:nvPr>
          </p:nvGrpSpPr>
          <p:grpSpPr>
            <a:xfrm>
              <a:off x="687" y="7711"/>
              <a:ext cx="599" cy="745"/>
              <a:chOff x="2665332" y="2559050"/>
              <a:chExt cx="380348" cy="473075"/>
            </a:xfrm>
          </p:grpSpPr>
          <p:sp>
            <p:nvSpPr>
              <p:cNvPr id="55" name="矩形 54"/>
              <p:cNvSpPr/>
              <p:nvPr>
                <p:custDataLst>
                  <p:tags r:id="rId14"/>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6" name="PA_ImportSvg_636983900241446251"/>
              <p:cNvSpPr/>
              <p:nvPr>
                <p:custDataLst>
                  <p:tags r:id="rId15"/>
                </p:custDataLst>
              </p:nvPr>
            </p:nvSpPr>
            <p:spPr>
              <a:xfrm rot="10800000">
                <a:off x="2665332" y="2559050"/>
                <a:ext cx="380342" cy="449803"/>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grpSp>
      </p:grpSp>
      <p:sp>
        <p:nvSpPr>
          <p:cNvPr id="57" name="Title 6"/>
          <p:cNvSpPr txBox="1"/>
          <p:nvPr>
            <p:custDataLst>
              <p:tags r:id="rId16"/>
            </p:custDataLst>
          </p:nvPr>
        </p:nvSpPr>
        <p:spPr>
          <a:xfrm>
            <a:off x="992397" y="3770203"/>
            <a:ext cx="3742055" cy="152019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6195" lvl="0" indent="0" algn="l" fontAlgn="auto">
              <a:lnSpc>
                <a:spcPct val="120000"/>
              </a:lnSpc>
              <a:spcBef>
                <a:spcPts val="800"/>
              </a:spcBef>
              <a:spcAft>
                <a:spcPts val="0"/>
              </a:spcAft>
              <a:buSzPct val="100000"/>
              <a:buFont typeface="+mj-lt"/>
            </a:pPr>
            <a:r>
              <a:rPr lang="en-US" altLang="zh-CN" sz="1400" spc="0" dirty="0">
                <a:ln w="3175">
                  <a:noFill/>
                  <a:prstDash val="dash"/>
                </a:ln>
                <a:solidFill>
                  <a:srgbClr val="000000"/>
                </a:solidFill>
                <a:latin typeface="微软雅黑" panose="020B0503020204020204" charset="-122"/>
                <a:ea typeface="微软雅黑" panose="020B0503020204020204" charset="-122"/>
                <a:cs typeface="微软雅黑" panose="020B0503020204020204" charset="-122"/>
                <a:sym typeface="+mn-ea"/>
              </a:rPr>
              <a:t>T</a:t>
            </a:r>
            <a:r>
              <a:rPr lang="en-US" altLang="zh-CN" sz="1400" spc="0" dirty="0">
                <a:ln w="3175">
                  <a:noFill/>
                  <a:prstDash val="dash"/>
                </a:ln>
                <a:solidFill>
                  <a:srgbClr val="000000"/>
                </a:solidFill>
                <a:uFillTx/>
                <a:latin typeface="微软雅黑" panose="020B0503020204020204" charset="-122"/>
                <a:ea typeface="微软雅黑" panose="020B0503020204020204" charset="-122"/>
                <a:cs typeface="微软雅黑" panose="020B0503020204020204" charset="-122"/>
                <a:sym typeface="+mn-ea"/>
              </a:rPr>
              <a:t>he blockchain scalability trilemma is a conjecture that states that </a:t>
            </a:r>
            <a:r>
              <a:rPr lang="en-US" altLang="zh-CN" sz="1400" b="1" spc="0" dirty="0">
                <a:ln w="3175">
                  <a:noFill/>
                  <a:prstDash val="dash"/>
                </a:ln>
                <a:solidFill>
                  <a:schemeClr val="tx2">
                    <a:lumMod val="50000"/>
                    <a:lumOff val="50000"/>
                  </a:schemeClr>
                </a:solidFill>
                <a:uFillTx/>
                <a:latin typeface="微软雅黑" panose="020B0503020204020204" charset="-122"/>
                <a:ea typeface="微软雅黑" panose="020B0503020204020204" charset="-122"/>
                <a:cs typeface="微软雅黑" panose="020B0503020204020204" charset="-122"/>
                <a:sym typeface="+mn-ea"/>
              </a:rPr>
              <a:t>no blockchain system can provide all properties simultaneously</a:t>
            </a:r>
            <a:r>
              <a:rPr lang="en-US" altLang="zh-CN" sz="1400" spc="0" dirty="0">
                <a:ln w="3175">
                  <a:noFill/>
                  <a:prstDash val="dash"/>
                </a:ln>
                <a:solidFill>
                  <a:srgbClr val="000000"/>
                </a:solidFill>
                <a:uFillTx/>
                <a:latin typeface="微软雅黑" panose="020B0503020204020204" charset="-122"/>
                <a:ea typeface="微软雅黑" panose="020B0503020204020204" charset="-122"/>
                <a:cs typeface="微软雅黑" panose="020B0503020204020204" charset="-122"/>
                <a:sym typeface="+mn-ea"/>
              </a:rPr>
              <a:t>. Consequently, every blockchain forfeits at least one property at any given time.</a:t>
            </a:r>
            <a:endParaRPr lang="zh-CN" altLang="en-US" sz="1400" b="1" spc="0" dirty="0">
              <a:ln w="3175">
                <a:noFill/>
                <a:prstDash val="dash"/>
              </a:ln>
              <a:solidFill>
                <a:srgbClr val="04579A"/>
              </a:solidFill>
              <a:uFillTx/>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2243982" y="5160218"/>
            <a:ext cx="2255520" cy="328936"/>
          </a:xfrm>
          <a:prstGeom prst="rect">
            <a:avLst/>
          </a:prstGeom>
          <a:noFill/>
        </p:spPr>
        <p:txBody>
          <a:bodyPr wrap="square" rtlCol="0">
            <a:spAutoFit/>
          </a:bodyPr>
          <a:lstStyle/>
          <a:p>
            <a:pPr marL="36195" algn="r" defTabSz="913765">
              <a:lnSpc>
                <a:spcPct val="120000"/>
              </a:lnSpc>
              <a:spcBef>
                <a:spcPts val="800"/>
              </a:spcBef>
              <a:spcAft>
                <a:spcPts val="0"/>
              </a:spcAft>
              <a:buClrTx/>
              <a:buSzTx/>
              <a:buFont typeface="+mj-lt"/>
            </a:pPr>
            <a:r>
              <a:rPr lang="en-US" altLang="zh-CN"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rPr>
              <a:t>——</a:t>
            </a:r>
            <a:r>
              <a:rPr lang="en-US" altLang="zh-CN"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sym typeface="+mn-ea"/>
              </a:rPr>
              <a:t>Vitalik Buterin</a:t>
            </a:r>
            <a:r>
              <a:rPr lang="zh-CN" altLang="en-US"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rPr>
              <a:t>. </a:t>
            </a:r>
            <a:endParaRPr lang="zh-CN" altLang="en-US" sz="1400" dirty="0">
              <a:ln w="3175">
                <a:noFill/>
                <a:prstDash val="dash"/>
              </a:ln>
              <a:solidFill>
                <a:srgbClr val="000000"/>
              </a:solidFill>
              <a:effectLst/>
              <a:uFillTx/>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623808" y="1594428"/>
            <a:ext cx="4123655" cy="369332"/>
          </a:xfrm>
          <a:prstGeom prst="rect">
            <a:avLst/>
          </a:prstGeom>
          <a:noFill/>
        </p:spPr>
        <p:txBody>
          <a:bodyPr wrap="square" rtlCol="0">
            <a:spAutoFit/>
          </a:bodyPr>
          <a:lstStyle/>
          <a:p>
            <a:r>
              <a:rPr lang="zh-CN" altLang="en-US" b="1" dirty="0"/>
              <a:t>区块链可扩展性三元悖论</a:t>
            </a:r>
            <a:endParaRPr lang="zh-CN" altLang="en-US" b="1" dirty="0"/>
          </a:p>
        </p:txBody>
      </p:sp>
      <p:sp>
        <p:nvSpPr>
          <p:cNvPr id="60" name="文本框 59"/>
          <p:cNvSpPr txBox="1"/>
          <p:nvPr/>
        </p:nvSpPr>
        <p:spPr>
          <a:xfrm>
            <a:off x="688769" y="2165268"/>
            <a:ext cx="4275117" cy="1200329"/>
          </a:xfrm>
          <a:prstGeom prst="rect">
            <a:avLst/>
          </a:prstGeom>
          <a:noFill/>
        </p:spPr>
        <p:txBody>
          <a:bodyPr wrap="square" rtlCol="0">
            <a:spAutoFit/>
          </a:bodyPr>
          <a:lstStyle/>
          <a:p>
            <a:pPr>
              <a:lnSpc>
                <a:spcPct val="150000"/>
              </a:lnSpc>
            </a:pPr>
            <a:r>
              <a:rPr lang="zh-CN" altLang="en-US" dirty="0"/>
              <a:t>在保证安全性的前提下，</a:t>
            </a:r>
            <a:endParaRPr lang="en-US" altLang="zh-CN" dirty="0"/>
          </a:p>
          <a:p>
            <a:pPr>
              <a:lnSpc>
                <a:spcPct val="150000"/>
              </a:lnSpc>
            </a:pPr>
            <a:r>
              <a:rPr lang="zh-CN" altLang="en-US" dirty="0"/>
              <a:t>吞吐量           去中心化程度 </a:t>
            </a:r>
            <a:endParaRPr lang="en-US" altLang="zh-CN" dirty="0"/>
          </a:p>
          <a:p>
            <a:r>
              <a:rPr lang="zh-CN" altLang="en-US" dirty="0"/>
              <a:t>吞吐量           去中心化程度</a:t>
            </a:r>
            <a:endParaRPr lang="en-US" altLang="zh-CN" dirty="0"/>
          </a:p>
        </p:txBody>
      </p:sp>
      <p:sp>
        <p:nvSpPr>
          <p:cNvPr id="61" name="箭头: 下 60"/>
          <p:cNvSpPr/>
          <p:nvPr/>
        </p:nvSpPr>
        <p:spPr>
          <a:xfrm>
            <a:off x="1664970" y="3094785"/>
            <a:ext cx="156210" cy="221673"/>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箭头: 下 61"/>
          <p:cNvSpPr/>
          <p:nvPr/>
        </p:nvSpPr>
        <p:spPr>
          <a:xfrm>
            <a:off x="3824300" y="2742686"/>
            <a:ext cx="156210" cy="221673"/>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箭头: 下 62"/>
          <p:cNvSpPr/>
          <p:nvPr/>
        </p:nvSpPr>
        <p:spPr>
          <a:xfrm rot="10800000">
            <a:off x="1664970" y="2742686"/>
            <a:ext cx="156210" cy="2216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箭头: 下 64"/>
          <p:cNvSpPr/>
          <p:nvPr/>
        </p:nvSpPr>
        <p:spPr>
          <a:xfrm rot="10800000">
            <a:off x="3824300" y="3094784"/>
            <a:ext cx="156210" cy="2216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custDataLst>
              <p:tags r:id="rId17"/>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endParaRPr lang="zh-CN" altLang="en-US" sz="2000" dirty="0">
              <a:solidFill>
                <a:schemeClr val="tx1">
                  <a:lumMod val="75000"/>
                  <a:lumOff val="25000"/>
                </a:schemeClr>
              </a:solidFill>
              <a:sym typeface="+mn-ea"/>
            </a:endParaRPr>
          </a:p>
        </p:txBody>
      </p:sp>
      <p:sp>
        <p:nvSpPr>
          <p:cNvPr id="4" name="文本框 3"/>
          <p:cNvSpPr txBox="1"/>
          <p:nvPr/>
        </p:nvSpPr>
        <p:spPr>
          <a:xfrm>
            <a:off x="11736779" y="6499761"/>
            <a:ext cx="455221" cy="369332"/>
          </a:xfrm>
          <a:prstGeom prst="rect">
            <a:avLst/>
          </a:prstGeom>
          <a:noFill/>
        </p:spPr>
        <p:txBody>
          <a:bodyPr wrap="square" rtlCol="0">
            <a:spAutoFit/>
          </a:bodyPr>
          <a:lstStyle/>
          <a:p>
            <a:pPr algn="ctr"/>
            <a:r>
              <a:rPr lang="en-US" altLang="zh-CN" dirty="0"/>
              <a:t>9</a:t>
            </a:r>
            <a:endParaRPr lang="zh-CN" altLang="en-US" dirty="0"/>
          </a:p>
        </p:txBody>
      </p:sp>
    </p:spTree>
    <p:custDataLst>
      <p:tags r:id="rId1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圆角矩形 34"/>
          <p:cNvSpPr/>
          <p:nvPr>
            <p:custDataLst>
              <p:tags r:id="rId1"/>
            </p:custDataLst>
          </p:nvPr>
        </p:nvSpPr>
        <p:spPr>
          <a:xfrm>
            <a:off x="7053390" y="1939605"/>
            <a:ext cx="1397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custDataLst>
              <p:tags r:id="rId2"/>
            </p:custDataLst>
          </p:nvPr>
        </p:nvSpPr>
        <p:spPr>
          <a:xfrm>
            <a:off x="4848035" y="1940240"/>
            <a:ext cx="1270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3019235" y="1939605"/>
            <a:ext cx="1270000" cy="381000"/>
          </a:xfrm>
          <a:prstGeom prst="roundRect">
            <a:avLst>
              <a:gd name="adj" fmla="val 50000"/>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表格 27"/>
          <p:cNvGraphicFramePr/>
          <p:nvPr>
            <p:custDataLst>
              <p:tags r:id="rId3"/>
            </p:custDataLst>
          </p:nvPr>
        </p:nvGraphicFramePr>
        <p:xfrm>
          <a:off x="2943035" y="1881820"/>
          <a:ext cx="5918835" cy="1658620"/>
        </p:xfrm>
        <a:graphic>
          <a:graphicData uri="http://schemas.openxmlformats.org/drawingml/2006/table">
            <a:tbl>
              <a:tblPr firstRow="1" bandRow="1">
                <a:tableStyleId>{5C22544A-7EE6-4342-B048-85BDC9FD1C3A}</a:tableStyleId>
              </a:tblPr>
              <a:tblGrid>
                <a:gridCol w="1445260"/>
                <a:gridCol w="2245995"/>
                <a:gridCol w="2227580"/>
              </a:tblGrid>
              <a:tr h="509270">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层级</a:t>
                      </a:r>
                      <a:endParaRPr lang="zh-CN" altLang="en-US" sz="1600" dirty="0">
                        <a:solidFill>
                          <a:schemeClr val="bg1"/>
                        </a:solidFill>
                        <a:latin typeface="微软雅黑" panose="020B0503020204020204" charset="-122"/>
                        <a:ea typeface="微软雅黑" panose="020B0503020204020204" charset="-122"/>
                      </a:endParaRPr>
                    </a:p>
                  </a:txBody>
                  <a:tcPr anchor="ctr">
                    <a:lnL>
                      <a:noFill/>
                    </a:lnL>
                    <a:lnR>
                      <a:noFill/>
                    </a:lnR>
                    <a:lnT>
                      <a:noFill/>
                    </a:lnT>
                    <a:lnB>
                      <a:noFill/>
                    </a:lnB>
                    <a:lnTlToBr>
                      <a:noFill/>
                    </a:lnTlToBr>
                    <a:lnBlToTr>
                      <a:noFill/>
                    </a:lnBlToTr>
                    <a:noFill/>
                  </a:tcPr>
                </a:tc>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兼容性</a:t>
                      </a:r>
                      <a:endParaRPr lang="zh-CN" altLang="en-US" sz="1600" dirty="0">
                        <a:solidFill>
                          <a:schemeClr val="bg1"/>
                        </a:solidFill>
                        <a:latin typeface="微软雅黑" panose="020B0503020204020204" charset="-122"/>
                        <a:ea typeface="微软雅黑" panose="020B0503020204020204" charset="-122"/>
                      </a:endParaRPr>
                    </a:p>
                  </a:txBody>
                  <a:tcPr anchor="ctr">
                    <a:lnL>
                      <a:noFill/>
                    </a:lnL>
                    <a:lnR>
                      <a:noFill/>
                    </a:lnR>
                    <a:lnT>
                      <a:noFill/>
                    </a:lnT>
                    <a:lnB>
                      <a:noFill/>
                    </a:lnB>
                    <a:lnTlToBr>
                      <a:noFill/>
                    </a:lnTlToBr>
                    <a:lnBlToTr>
                      <a:noFill/>
                    </a:lnBlToTr>
                    <a:noFill/>
                  </a:tcPr>
                </a:tc>
                <a:tc>
                  <a:txBody>
                    <a:bodyPr/>
                    <a:lstStyle/>
                    <a:p>
                      <a:pPr algn="ctr">
                        <a:buNone/>
                      </a:pPr>
                      <a:r>
                        <a:rPr lang="zh-CN" altLang="en-US" sz="1600" dirty="0">
                          <a:solidFill>
                            <a:schemeClr val="bg1"/>
                          </a:solidFill>
                          <a:latin typeface="微软雅黑" panose="020B0503020204020204" charset="-122"/>
                          <a:ea typeface="微软雅黑" panose="020B0503020204020204" charset="-122"/>
                        </a:rPr>
                        <a:t>增益效果</a:t>
                      </a:r>
                      <a:endParaRPr lang="zh-CN" altLang="en-US" sz="1600" dirty="0">
                        <a:solidFill>
                          <a:schemeClr val="bg1"/>
                        </a:solidFill>
                        <a:latin typeface="微软雅黑" panose="020B0503020204020204" charset="-122"/>
                        <a:ea typeface="微软雅黑" panose="020B0503020204020204" charset="-122"/>
                      </a:endParaRPr>
                    </a:p>
                  </a:txBody>
                  <a:tcPr anchor="ctr">
                    <a:lnL>
                      <a:noFill/>
                    </a:lnL>
                    <a:lnR>
                      <a:noFill/>
                    </a:lnR>
                    <a:lnT>
                      <a:noFill/>
                    </a:lnT>
                    <a:lnB>
                      <a:noFill/>
                    </a:lnB>
                    <a:lnTlToBr>
                      <a:noFill/>
                    </a:lnTlToBr>
                    <a:lnBlToTr>
                      <a:noFill/>
                    </a:lnBlToTr>
                    <a:noFill/>
                  </a:tcPr>
                </a:tc>
              </a:tr>
              <a:tr h="509270">
                <a:tc>
                  <a:txBody>
                    <a:bodyPr/>
                    <a:lstStyle/>
                    <a:p>
                      <a:pPr algn="ctr">
                        <a:buNone/>
                      </a:pPr>
                      <a:r>
                        <a:rPr lang="zh-CN" altLang="en-US" sz="1600" dirty="0">
                          <a:solidFill>
                            <a:schemeClr val="tx1"/>
                          </a:solidFill>
                          <a:latin typeface="微软雅黑" panose="020B0503020204020204" charset="-122"/>
                          <a:ea typeface="微软雅黑" panose="020B0503020204020204" charset="-122"/>
                          <a:sym typeface="+mn-ea"/>
                        </a:rPr>
                        <a:t>硬件层</a:t>
                      </a:r>
                      <a:endParaRPr lang="zh-CN" altLang="en-US" sz="1600"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tc>
                  <a:txBody>
                    <a:bodyPr/>
                    <a:lstStyle/>
                    <a:p>
                      <a:pPr algn="ctr">
                        <a:buNone/>
                      </a:pPr>
                      <a:r>
                        <a:rPr lang="zh-CN" altLang="en-US" sz="1600" dirty="0">
                          <a:latin typeface="微软雅黑" panose="020B0503020204020204" charset="-122"/>
                          <a:ea typeface="微软雅黑" panose="020B0503020204020204" charset="-122"/>
                          <a:sym typeface="+mn-ea"/>
                        </a:rPr>
                        <a:t>难以部署</a:t>
                      </a:r>
                      <a:endParaRPr lang="zh-CN" altLang="en-US" sz="1600" dirty="0">
                        <a:latin typeface="微软雅黑" panose="020B0503020204020204" charset="-122"/>
                        <a:ea typeface="微软雅黑" panose="020B0503020204020204" charset="-122"/>
                        <a:sym typeface="+mn-ea"/>
                      </a:endParaRP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tc>
                  <a:txBody>
                    <a:bodyPr/>
                    <a:lstStyle/>
                    <a:p>
                      <a:pPr algn="ctr">
                        <a:buNone/>
                      </a:pPr>
                      <a:r>
                        <a:rPr lang="en-US" altLang="zh-CN" sz="1600" dirty="0">
                          <a:latin typeface="微软雅黑" panose="020B0503020204020204" charset="-122"/>
                          <a:ea typeface="微软雅黑" panose="020B0503020204020204" charset="-122"/>
                          <a:sym typeface="+mn-ea"/>
                        </a:rPr>
                        <a:t>-</a:t>
                      </a:r>
                      <a:endParaRPr lang="zh-CN" altLang="en-US" sz="1600" b="1" dirty="0">
                        <a:latin typeface="微软雅黑" panose="020B0503020204020204" charset="-122"/>
                        <a:ea typeface="微软雅黑" panose="020B0503020204020204" charset="-122"/>
                        <a:sym typeface="+mn-ea"/>
                      </a:endParaRPr>
                    </a:p>
                  </a:txBody>
                  <a:tcPr anchor="ctr">
                    <a:lnL>
                      <a:noFill/>
                    </a:lnL>
                    <a:lnR>
                      <a:noFill/>
                    </a:lnR>
                    <a:lnT>
                      <a:noFill/>
                    </a:lnT>
                    <a:lnB w="12700">
                      <a:solidFill>
                        <a:schemeClr val="tx1"/>
                      </a:solidFill>
                      <a:prstDash val="solid"/>
                    </a:lnB>
                    <a:lnTlToBr>
                      <a:noFill/>
                    </a:lnTlToBr>
                    <a:lnBlToTr>
                      <a:noFill/>
                    </a:lnBlToTr>
                    <a:solidFill>
                      <a:schemeClr val="bg1">
                        <a:lumMod val="85000"/>
                      </a:schemeClr>
                    </a:solidFill>
                  </a:tcPr>
                </a:tc>
              </a:tr>
              <a:tr h="640080">
                <a:tc>
                  <a:txBody>
                    <a:bodyPr/>
                    <a:lstStyle/>
                    <a:p>
                      <a:pPr algn="ctr">
                        <a:buNone/>
                      </a:pPr>
                      <a:endParaRPr lang="zh-CN" altLang="en-US" sz="16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algn="ctr">
                        <a:buNone/>
                      </a:pPr>
                      <a:endParaRPr lang="zh-CN" altLang="en-US" sz="160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algn="ctr">
                        <a:buNone/>
                      </a:pPr>
                      <a:endParaRPr lang="zh-CN" altLang="en-US" sz="16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r>
            </a:tbl>
          </a:graphicData>
        </a:graphic>
      </p:graphicFrame>
      <p:sp>
        <p:nvSpPr>
          <p:cNvPr id="32" name="文本框 31"/>
          <p:cNvSpPr txBox="1"/>
          <p:nvPr/>
        </p:nvSpPr>
        <p:spPr>
          <a:xfrm>
            <a:off x="1855152" y="4806944"/>
            <a:ext cx="6023610" cy="1307217"/>
          </a:xfrm>
          <a:prstGeom prst="rect">
            <a:avLst/>
          </a:prstGeom>
          <a:noFill/>
        </p:spPr>
        <p:txBody>
          <a:bodyPr wrap="square" rtlCol="0" anchor="t">
            <a:spAutoFit/>
          </a:bodyPr>
          <a:lstStyle/>
          <a:p>
            <a:pPr indent="0" fontAlgn="auto">
              <a:spcAft>
                <a:spcPts val="600"/>
              </a:spcAft>
            </a:pPr>
            <a:r>
              <a:rPr lang="zh-CN" altLang="en-US" b="1" dirty="0"/>
              <a:t>链下方案</a:t>
            </a:r>
            <a:endParaRPr lang="zh-CN" altLang="en-US" sz="1600" dirty="0">
              <a:solidFill>
                <a:schemeClr val="tx1"/>
              </a:solidFill>
            </a:endParaRPr>
          </a:p>
          <a:p>
            <a:pPr marL="285750" indent="-285750" fontAlgn="auto">
              <a:lnSpc>
                <a:spcPct val="120000"/>
              </a:lnSpc>
              <a:buFont typeface="Wingdings" panose="05000000000000000000" charset="0"/>
              <a:buChar char="ü"/>
            </a:pPr>
            <a:r>
              <a:rPr lang="zh-CN" altLang="en-US" sz="1600" dirty="0"/>
              <a:t>理论上交易吞吐量仅受限于参与方的通信带宽与延迟</a:t>
            </a:r>
            <a:endParaRPr lang="en-US" altLang="zh-CN" sz="1600" dirty="0"/>
          </a:p>
          <a:p>
            <a:pPr marL="285750" indent="-285750" fontAlgn="auto">
              <a:lnSpc>
                <a:spcPct val="120000"/>
              </a:lnSpc>
              <a:buFont typeface="Wingdings" panose="05000000000000000000" charset="0"/>
              <a:buChar char="ü"/>
            </a:pPr>
            <a:r>
              <a:rPr lang="zh-CN" altLang="en-US" sz="1600" dirty="0">
                <a:solidFill>
                  <a:schemeClr val="tx1"/>
                </a:solidFill>
              </a:rPr>
              <a:t>构造</a:t>
            </a:r>
            <a:r>
              <a:rPr lang="zh-CN" altLang="en-US" sz="1600" dirty="0"/>
              <a:t>简单，易于实现和部署</a:t>
            </a:r>
            <a:endParaRPr lang="en-US" altLang="zh-CN" sz="1600" dirty="0">
              <a:solidFill>
                <a:schemeClr val="tx1"/>
              </a:solidFill>
            </a:endParaRPr>
          </a:p>
          <a:p>
            <a:pPr marL="285750" indent="-285750" fontAlgn="auto">
              <a:lnSpc>
                <a:spcPct val="120000"/>
              </a:lnSpc>
              <a:buFont typeface="Wingdings" panose="05000000000000000000" charset="0"/>
              <a:buChar char="ü"/>
            </a:pPr>
            <a:r>
              <a:rPr lang="zh-CN" altLang="en-US" sz="1600" dirty="0"/>
              <a:t>不仅兼容于现有区块链，具有后向兼容性</a:t>
            </a:r>
            <a:endParaRPr lang="zh-CN" altLang="en-US" sz="1600" dirty="0">
              <a:solidFill>
                <a:schemeClr val="tx1"/>
              </a:solidFill>
            </a:endParaRPr>
          </a:p>
        </p:txBody>
      </p:sp>
      <p:sp>
        <p:nvSpPr>
          <p:cNvPr id="41" name="矩形 40"/>
          <p:cNvSpPr/>
          <p:nvPr>
            <p:custDataLst>
              <p:tags r:id="rId4"/>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custDataLst>
              <p:tags r:id="rId5"/>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custDataLst>
              <p:tags r:id="rId6"/>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custDataLst>
              <p:tags r:id="rId7"/>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custDataLst>
              <p:tags r:id="rId8"/>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9"/>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tx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schemeClr val="bg1"/>
                </a:solidFill>
                <a:latin typeface="Arial" panose="020B0604020202020204" pitchFamily="34" charset="0"/>
                <a:sym typeface="+mn-ea"/>
              </a:rPr>
              <a:t>  </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schemeClr val="tx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工作计划与进度安排</a:t>
            </a:r>
            <a:endParaRPr lang="zh-CN" altLang="en-US" dirty="0">
              <a:solidFill>
                <a:schemeClr val="tx1"/>
              </a:solidFill>
              <a:latin typeface="Arial" panose="020B0604020202020204" pitchFamily="34" charset="0"/>
              <a:sym typeface="+mn-ea"/>
            </a:endParaRPr>
          </a:p>
        </p:txBody>
      </p:sp>
      <p:pic>
        <p:nvPicPr>
          <p:cNvPr id="47" name="Picture 2" descr="C:\Program Files\Apache Software Foundation\Tomcat 6.0\webapps\topo1\images\sklois1 (2).jpg"/>
          <p:cNvPicPr>
            <a:picLocks noChangeAspect="1" noChangeArrowheads="1"/>
          </p:cNvPicPr>
          <p:nvPr>
            <p:custDataLst>
              <p:tags r:id="rId10"/>
            </p:custDataLst>
          </p:nvPr>
        </p:nvPicPr>
        <p:blipFill>
          <a:blip r:embed="rId11"/>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等腰三角形 47"/>
          <p:cNvSpPr/>
          <p:nvPr>
            <p:custDataLst>
              <p:tags r:id="rId12"/>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表格 2"/>
          <p:cNvGraphicFramePr/>
          <p:nvPr/>
        </p:nvGraphicFramePr>
        <p:xfrm>
          <a:off x="2943035" y="2916870"/>
          <a:ext cx="5918835" cy="509270"/>
        </p:xfrm>
        <a:graphic>
          <a:graphicData uri="http://schemas.openxmlformats.org/drawingml/2006/table">
            <a:tbl>
              <a:tblPr firstRow="1" bandRow="1">
                <a:tableStyleId>{5C22544A-7EE6-4342-B048-85BDC9FD1C3A}</a:tableStyleId>
              </a:tblPr>
              <a:tblGrid>
                <a:gridCol w="1445260"/>
                <a:gridCol w="2245995"/>
                <a:gridCol w="2227580"/>
              </a:tblGrid>
              <a:tr h="509270">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网络层</a:t>
                      </a:r>
                      <a:endParaRPr lang="zh-CN" altLang="en-US" sz="1600" b="0"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algn="ctr" fontAlgn="auto">
                        <a:spcAft>
                          <a:spcPts val="600"/>
                        </a:spcAft>
                      </a:pPr>
                      <a:r>
                        <a:rPr lang="zh-CN" altLang="en-US" sz="1600" b="0" dirty="0">
                          <a:solidFill>
                            <a:schemeClr val="tx1"/>
                          </a:solidFill>
                          <a:latin typeface="微软雅黑" panose="020B0503020204020204" charset="-122"/>
                          <a:ea typeface="微软雅黑" panose="020B0503020204020204" charset="-122"/>
                          <a:sym typeface="+mn-ea"/>
                        </a:rPr>
                        <a:t>需修改原有区块链结构</a:t>
                      </a:r>
                      <a:endParaRPr lang="zh-CN" altLang="en-US" sz="1600" b="0"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有限的扩展增益</a:t>
                      </a:r>
                      <a:endParaRPr lang="zh-CN" altLang="en-US" sz="1600" b="1"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r>
            </a:tbl>
          </a:graphicData>
        </a:graphic>
      </p:graphicFrame>
      <p:graphicFrame>
        <p:nvGraphicFramePr>
          <p:cNvPr id="30" name="表格 29"/>
          <p:cNvGraphicFramePr/>
          <p:nvPr/>
        </p:nvGraphicFramePr>
        <p:xfrm>
          <a:off x="2522347" y="3935410"/>
          <a:ext cx="6756400" cy="65087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991995"/>
                <a:gridCol w="2047875"/>
                <a:gridCol w="2716530"/>
              </a:tblGrid>
              <a:tr h="650875">
                <a:tc>
                  <a:txBody>
                    <a:bodyPr/>
                    <a:lstStyle/>
                    <a:p>
                      <a:pPr algn="ctr">
                        <a:buNone/>
                      </a:pPr>
                      <a:r>
                        <a:rPr lang="zh-CN" altLang="en-US" sz="1800" b="1" dirty="0">
                          <a:solidFill>
                            <a:srgbClr val="04579A"/>
                          </a:solidFill>
                          <a:latin typeface="微软雅黑" panose="020B0503020204020204" charset="-122"/>
                          <a:ea typeface="微软雅黑" panose="020B0503020204020204" charset="-122"/>
                          <a:sym typeface="+mn-ea"/>
                        </a:rPr>
                        <a:t>链下层</a:t>
                      </a:r>
                      <a:endParaRPr lang="zh-CN" altLang="en-US" sz="18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solidFill>
                  </a:tcPr>
                </a:tc>
                <a:tc>
                  <a:txBody>
                    <a:bodyPr/>
                    <a:lstStyle/>
                    <a:p>
                      <a:pPr algn="ctr">
                        <a:buNone/>
                      </a:pPr>
                      <a:r>
                        <a:rPr lang="zh-CN" altLang="en-US" sz="1800" dirty="0">
                          <a:solidFill>
                            <a:srgbClr val="04579A"/>
                          </a:solidFill>
                          <a:latin typeface="微软雅黑" panose="020B0503020204020204" charset="-122"/>
                          <a:ea typeface="微软雅黑" panose="020B0503020204020204" charset="-122"/>
                          <a:sym typeface="+mn-ea"/>
                        </a:rPr>
                        <a:t>完全兼容</a:t>
                      </a:r>
                      <a:endParaRPr lang="en-US" altLang="zh-CN" sz="1800" dirty="0">
                        <a:solidFill>
                          <a:srgbClr val="04579A"/>
                        </a:solidFill>
                        <a:latin typeface="微软雅黑" panose="020B0503020204020204" charset="-122"/>
                        <a:ea typeface="微软雅黑" panose="020B0503020204020204" charset="-122"/>
                        <a:sym typeface="+mn-ea"/>
                      </a:endParaRPr>
                    </a:p>
                    <a:p>
                      <a:pPr algn="ctr">
                        <a:buNone/>
                      </a:pPr>
                      <a:r>
                        <a:rPr lang="zh-CN" altLang="en-US" sz="1800" dirty="0">
                          <a:solidFill>
                            <a:srgbClr val="04579A"/>
                          </a:solidFill>
                          <a:latin typeface="微软雅黑" panose="020B0503020204020204" charset="-122"/>
                          <a:ea typeface="微软雅黑" panose="020B0503020204020204" charset="-122"/>
                          <a:sym typeface="+mn-ea"/>
                        </a:rPr>
                        <a:t>现有区块链</a:t>
                      </a:r>
                      <a:endParaRPr lang="zh-CN" altLang="en-US" sz="1800" dirty="0">
                        <a:solidFill>
                          <a:srgbClr val="04579A"/>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solidFill>
                  </a:tcPr>
                </a:tc>
                <a:tc>
                  <a:txBody>
                    <a:bodyPr/>
                    <a:lstStyle/>
                    <a:p>
                      <a:pPr algn="ctr">
                        <a:buNone/>
                      </a:pPr>
                      <a:r>
                        <a:rPr lang="zh-CN" altLang="en-US" sz="1800" b="1" dirty="0">
                          <a:solidFill>
                            <a:srgbClr val="04579A"/>
                          </a:solidFill>
                          <a:latin typeface="微软雅黑" panose="020B0503020204020204" charset="-122"/>
                          <a:ea typeface="微软雅黑" panose="020B0503020204020204" charset="-122"/>
                          <a:sym typeface="+mn-ea"/>
                        </a:rPr>
                        <a:t>有效的扩展增益</a:t>
                      </a:r>
                      <a:endParaRPr lang="zh-CN" altLang="en-US" sz="1800" b="1" dirty="0">
                        <a:solidFill>
                          <a:srgbClr val="04579A"/>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solidFill>
                  </a:tcPr>
                </a:tc>
              </a:tr>
            </a:tbl>
          </a:graphicData>
        </a:graphic>
      </p:graphicFrame>
      <p:graphicFrame>
        <p:nvGraphicFramePr>
          <p:cNvPr id="2" name="表格 1"/>
          <p:cNvGraphicFramePr/>
          <p:nvPr/>
        </p:nvGraphicFramePr>
        <p:xfrm>
          <a:off x="2941130" y="3426140"/>
          <a:ext cx="5918835" cy="509270"/>
        </p:xfrm>
        <a:graphic>
          <a:graphicData uri="http://schemas.openxmlformats.org/drawingml/2006/table">
            <a:tbl>
              <a:tblPr firstRow="1" bandRow="1">
                <a:tableStyleId>{5C22544A-7EE6-4342-B048-85BDC9FD1C3A}</a:tableStyleId>
              </a:tblPr>
              <a:tblGrid>
                <a:gridCol w="1445260"/>
                <a:gridCol w="2245995"/>
                <a:gridCol w="2227580"/>
              </a:tblGrid>
              <a:tr h="509270">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区块链层</a:t>
                      </a:r>
                      <a:endParaRPr lang="zh-CN" altLang="en-US" sz="1600" b="0"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lumMod val="85000"/>
                      </a:schemeClr>
                    </a:solidFill>
                  </a:tcPr>
                </a:tc>
                <a:tc>
                  <a:txBody>
                    <a:bodyPr/>
                    <a:lstStyle/>
                    <a:p>
                      <a:pPr algn="ctr" fontAlgn="auto">
                        <a:spcAft>
                          <a:spcPts val="600"/>
                        </a:spcAft>
                      </a:pPr>
                      <a:r>
                        <a:rPr lang="zh-CN" altLang="en-US" sz="1600" b="0" dirty="0">
                          <a:solidFill>
                            <a:schemeClr val="tx1"/>
                          </a:solidFill>
                          <a:latin typeface="微软雅黑" panose="020B0503020204020204" charset="-122"/>
                          <a:ea typeface="微软雅黑" panose="020B0503020204020204" charset="-122"/>
                          <a:sym typeface="+mn-ea"/>
                        </a:rPr>
                        <a:t>需修改原有共识协议</a:t>
                      </a:r>
                      <a:endParaRPr lang="zh-CN" altLang="en-US" sz="1600" b="0"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lumMod val="85000"/>
                      </a:schemeClr>
                    </a:solidFill>
                  </a:tcPr>
                </a:tc>
                <a:tc>
                  <a:txBody>
                    <a:bodyPr/>
                    <a:lstStyle/>
                    <a:p>
                      <a:pPr algn="ctr">
                        <a:buNone/>
                      </a:pPr>
                      <a:r>
                        <a:rPr lang="zh-CN" altLang="en-US" sz="1600" b="0" dirty="0">
                          <a:solidFill>
                            <a:schemeClr val="tx1"/>
                          </a:solidFill>
                          <a:latin typeface="微软雅黑" panose="020B0503020204020204" charset="-122"/>
                          <a:ea typeface="微软雅黑" panose="020B0503020204020204" charset="-122"/>
                          <a:sym typeface="+mn-ea"/>
                        </a:rPr>
                        <a:t>有限的扩展增益</a:t>
                      </a:r>
                      <a:endParaRPr lang="zh-CN" altLang="en-US" sz="1600" b="1" dirty="0">
                        <a:solidFill>
                          <a:schemeClr val="tx1"/>
                        </a:solidFill>
                        <a:latin typeface="微软雅黑" panose="020B0503020204020204" charset="-122"/>
                        <a:ea typeface="微软雅黑" panose="020B0503020204020204" charset="-122"/>
                        <a:sym typeface="+mn-ea"/>
                      </a:endParaRPr>
                    </a:p>
                  </a:txBody>
                  <a:tcPr anchor="ctr">
                    <a:lnL>
                      <a:noFill/>
                    </a:lnL>
                    <a:lnR>
                      <a:noFill/>
                    </a:lnR>
                    <a:lnT>
                      <a:noFill/>
                    </a:lnT>
                    <a:lnB>
                      <a:noFill/>
                    </a:lnB>
                    <a:lnTlToBr>
                      <a:noFill/>
                    </a:lnTlToBr>
                    <a:lnBlToTr>
                      <a:noFill/>
                    </a:lnBlToTr>
                    <a:solidFill>
                      <a:schemeClr val="bg1">
                        <a:lumMod val="85000"/>
                      </a:schemeClr>
                    </a:solidFill>
                  </a:tcPr>
                </a:tc>
              </a:tr>
            </a:tbl>
          </a:graphicData>
        </a:graphic>
      </p:graphicFrame>
      <p:sp>
        <p:nvSpPr>
          <p:cNvPr id="4" name="文本框 3"/>
          <p:cNvSpPr txBox="1"/>
          <p:nvPr>
            <p:custDataLst>
              <p:tags r:id="rId13"/>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2"/>
            </a:pPr>
            <a:r>
              <a:rPr lang="zh-CN" altLang="en-US" sz="2000" dirty="0">
                <a:solidFill>
                  <a:schemeClr val="tx1">
                    <a:lumMod val="75000"/>
                    <a:lumOff val="25000"/>
                  </a:schemeClr>
                </a:solidFill>
                <a:sym typeface="+mn-ea"/>
              </a:rPr>
              <a:t>大规模、高并发的交易场景要求分布式数字资产交易协议具有可扩展性</a:t>
            </a:r>
            <a:endParaRPr lang="zh-CN" altLang="en-US" sz="2000" dirty="0">
              <a:solidFill>
                <a:schemeClr val="tx1">
                  <a:lumMod val="75000"/>
                  <a:lumOff val="25000"/>
                </a:schemeClr>
              </a:solidFill>
              <a:sym typeface="+mn-ea"/>
            </a:endParaRPr>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10</a:t>
            </a:r>
            <a:endParaRPr lang="zh-CN" altLang="en-US" dirty="0"/>
          </a:p>
        </p:txBody>
      </p:sp>
    </p:spTree>
    <p:custDataLst>
      <p:tags r:id="rId1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500"/>
                                        <p:tgtEl>
                                          <p:spTgt spid="3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 name="矩形 20"/>
          <p:cNvSpPr/>
          <p:nvPr/>
        </p:nvSpPr>
        <p:spPr>
          <a:xfrm>
            <a:off x="482600" y="3974147"/>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1"/>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1" name="矩形 10"/>
          <p:cNvSpPr/>
          <p:nvPr>
            <p:custDataLst>
              <p:tags r:id="rId2"/>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4"/>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5"/>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6"/>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7"/>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11"/>
            </p:custDataLst>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燕尾形 2"/>
          <p:cNvSpPr/>
          <p:nvPr>
            <p:custDataLst>
              <p:tags r:id="rId12"/>
            </p:custDataLst>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13"/>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endParaRPr lang="zh-CN" altLang="en-US" sz="2000" dirty="0">
              <a:solidFill>
                <a:schemeClr val="tx1">
                  <a:lumMod val="85000"/>
                  <a:lumOff val="15000"/>
                </a:schemeClr>
              </a:solidFill>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分布式数字资产交易协议需要高性能的链下方案构造</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ym typeface="+mn-ea"/>
              </a:rPr>
              <a:t>异构区块链系统间的互联互通要求分布式数字资产交易协议具有互操作性</a:t>
            </a:r>
            <a:endParaRPr lang="zh-CN" altLang="en-US" sz="2000" dirty="0">
              <a:sym typeface="+mn-ea"/>
            </a:endParaRPr>
          </a:p>
          <a:p>
            <a:pPr lvl="1" indent="457200">
              <a:lnSpc>
                <a:spcPct val="150000"/>
              </a:lnSpc>
            </a:pPr>
            <a:r>
              <a:rPr lang="zh-CN" altLang="en-US" sz="2400" b="1" dirty="0">
                <a:solidFill>
                  <a:srgbClr val="04579A"/>
                </a:solidFill>
                <a:sym typeface="+mn-ea"/>
              </a:rPr>
              <a:t>分布式数字资产交易协议需要高效的跨链证明协议</a:t>
            </a:r>
            <a:endParaRPr lang="zh-CN" altLang="en-US" sz="2400" b="1" dirty="0">
              <a:solidFill>
                <a:srgbClr val="04579A"/>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9" name="燕尾形 8"/>
          <p:cNvSpPr/>
          <p:nvPr>
            <p:custDataLst>
              <p:tags r:id="rId14"/>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11</a:t>
            </a:r>
            <a:endParaRPr lang="zh-CN" altLang="en-US" dirty="0"/>
          </a:p>
        </p:txBody>
      </p:sp>
      <p:sp>
        <p:nvSpPr>
          <p:cNvPr id="8" name="燕尾形 8"/>
          <p:cNvSpPr/>
          <p:nvPr>
            <p:custDataLst>
              <p:tags r:id="rId15"/>
            </p:custDataLst>
          </p:nvPr>
        </p:nvSpPr>
        <p:spPr>
          <a:xfrm>
            <a:off x="1019175" y="4656137"/>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6"/>
    </p:custData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67" name="组合 66"/>
          <p:cNvGrpSpPr/>
          <p:nvPr/>
        </p:nvGrpSpPr>
        <p:grpSpPr>
          <a:xfrm>
            <a:off x="1287145" y="3430270"/>
            <a:ext cx="9234750" cy="1807210"/>
            <a:chOff x="1355" y="5896"/>
            <a:chExt cx="15925" cy="2846"/>
          </a:xfrm>
        </p:grpSpPr>
        <p:sp>
          <p:nvSpPr>
            <p:cNvPr id="65" name="椭圆 64"/>
            <p:cNvSpPr/>
            <p:nvPr/>
          </p:nvSpPr>
          <p:spPr>
            <a:xfrm>
              <a:off x="1355" y="6522"/>
              <a:ext cx="15925" cy="2220"/>
            </a:xfrm>
            <a:prstGeom prst="ellipse">
              <a:avLst/>
            </a:prstGeom>
            <a:noFill/>
            <a:ln w="44450">
              <a:solidFill>
                <a:srgbClr val="04579A">
                  <a:alpha val="17000"/>
                </a:srgb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007" y="5896"/>
              <a:ext cx="15064" cy="149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7317740" y="1720215"/>
            <a:ext cx="2393950" cy="2663119"/>
            <a:chOff x="11114" y="3314"/>
            <a:chExt cx="3770" cy="4489"/>
          </a:xfrm>
          <a:solidFill>
            <a:schemeClr val="bg1"/>
          </a:solidFill>
        </p:grpSpPr>
        <p:sp>
          <p:nvSpPr>
            <p:cNvPr id="48" name="圆角矩形 47"/>
            <p:cNvSpPr/>
            <p:nvPr>
              <p:custDataLst>
                <p:tags r:id="rId1"/>
              </p:custDataLst>
            </p:nvPr>
          </p:nvSpPr>
          <p:spPr>
            <a:xfrm>
              <a:off x="11115" y="3314"/>
              <a:ext cx="3769" cy="4489"/>
            </a:xfrm>
            <a:prstGeom prst="roundRect">
              <a:avLst/>
            </a:prstGeom>
            <a:grpFill/>
            <a:ln>
              <a:solidFill>
                <a:srgbClr val="04579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2"/>
              </p:custDataLst>
            </p:nvPr>
          </p:nvSpPr>
          <p:spPr>
            <a:xfrm>
              <a:off x="11488" y="5558"/>
              <a:ext cx="3111" cy="1401"/>
            </a:xfrm>
            <a:prstGeom prst="rect">
              <a:avLst/>
            </a:prstGeom>
            <a:grpFill/>
          </p:spPr>
          <p:txBody>
            <a:bodyPr wrap="square" rtlCol="0" anchor="t">
              <a:spAutoFit/>
            </a:bodyPr>
            <a:lstStyle/>
            <a:p>
              <a:pPr indent="0">
                <a:buFont typeface="Arial" panose="020B0604020202020204" pitchFamily="34" charset="0"/>
                <a:buNone/>
              </a:pPr>
              <a:r>
                <a:rPr lang="zh-CN" altLang="en-US" sz="1600" dirty="0">
                  <a:solidFill>
                    <a:schemeClr val="tx1">
                      <a:lumMod val="75000"/>
                      <a:lumOff val="25000"/>
                    </a:schemeClr>
                  </a:solidFill>
                  <a:sym typeface="+mn-ea"/>
                </a:rPr>
                <a:t>锁定或销毁源链中的资产，并在目标链中创建该资产</a:t>
              </a:r>
              <a:endParaRPr lang="zh-CN" altLang="en-US" sz="1600" dirty="0">
                <a:solidFill>
                  <a:schemeClr val="tx1">
                    <a:lumMod val="75000"/>
                    <a:lumOff val="25000"/>
                  </a:schemeClr>
                </a:solidFill>
                <a:sym typeface="+mn-ea"/>
              </a:endParaRPr>
            </a:p>
          </p:txBody>
        </p:sp>
        <p:sp>
          <p:nvSpPr>
            <p:cNvPr id="47" name="文本框 46"/>
            <p:cNvSpPr txBox="1"/>
            <p:nvPr>
              <p:custDataLst>
                <p:tags r:id="rId3"/>
              </p:custDataLst>
            </p:nvPr>
          </p:nvSpPr>
          <p:spPr>
            <a:xfrm>
              <a:off x="11114" y="4703"/>
              <a:ext cx="3770" cy="672"/>
            </a:xfrm>
            <a:prstGeom prst="rect">
              <a:avLst/>
            </a:prstGeom>
            <a:noFill/>
            <a:extLst>
              <a:ext uri="{909E8E84-426E-40DD-AFC4-6F175D3DCCD1}">
                <a14:hiddenFill xmlns:a14="http://schemas.microsoft.com/office/drawing/2010/main">
                  <a:grpFill/>
                </a14:hiddenFill>
              </a:ext>
            </a:extLst>
          </p:spPr>
          <p:txBody>
            <a:bodyPr wrap="square" rtlCol="0" anchor="t">
              <a:spAutoFit/>
            </a:bodyPr>
            <a:lstStyle/>
            <a:p>
              <a:pPr algn="ctr"/>
              <a:r>
                <a:rPr lang="zh-CN" altLang="en-US" sz="2000" b="1" dirty="0">
                  <a:solidFill>
                    <a:srgbClr val="04579A"/>
                  </a:solidFill>
                  <a:sym typeface="+mn-ea"/>
                </a:rPr>
                <a:t>资产转移</a:t>
              </a:r>
              <a:endParaRPr lang="zh-CN" altLang="en-US" sz="2000" b="1" dirty="0">
                <a:solidFill>
                  <a:srgbClr val="04579A"/>
                </a:solidFill>
                <a:sym typeface="+mn-ea"/>
              </a:endParaRPr>
            </a:p>
          </p:txBody>
        </p:sp>
      </p:grpSp>
      <p:sp>
        <p:nvSpPr>
          <p:cNvPr id="20" name="圆角矩形 19"/>
          <p:cNvSpPr/>
          <p:nvPr/>
        </p:nvSpPr>
        <p:spPr>
          <a:xfrm>
            <a:off x="2142490" y="1734820"/>
            <a:ext cx="2393315" cy="2669540"/>
          </a:xfrm>
          <a:prstGeom prst="roundRect">
            <a:avLst/>
          </a:prstGeom>
          <a:solidFill>
            <a:schemeClr val="bg1"/>
          </a:solidFill>
          <a:ln>
            <a:solidFill>
              <a:srgbClr val="04579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400300" y="3054702"/>
            <a:ext cx="1877060" cy="830997"/>
          </a:xfrm>
          <a:prstGeom prst="rect">
            <a:avLst/>
          </a:prstGeom>
          <a:solidFill>
            <a:schemeClr val="bg1"/>
          </a:solidFill>
        </p:spPr>
        <p:txBody>
          <a:bodyPr wrap="square" rtlCol="0" anchor="t">
            <a:spAutoFit/>
          </a:bodyPr>
          <a:lstStyle/>
          <a:p>
            <a:r>
              <a:rPr lang="zh-CN" altLang="en-US" sz="1600">
                <a:solidFill>
                  <a:schemeClr val="tx1">
                    <a:lumMod val="75000"/>
                    <a:lumOff val="25000"/>
                  </a:schemeClr>
                </a:solidFill>
              </a:rPr>
              <a:t>在一个域中写入的信息可以被转移或复制到另一个域</a:t>
            </a:r>
            <a:endParaRPr lang="en-US" altLang="zh-CN" sz="1600" dirty="0">
              <a:solidFill>
                <a:schemeClr val="tx1">
                  <a:lumMod val="75000"/>
                  <a:lumOff val="25000"/>
                </a:schemeClr>
              </a:solidFill>
            </a:endParaRPr>
          </a:p>
        </p:txBody>
      </p:sp>
      <p:sp>
        <p:nvSpPr>
          <p:cNvPr id="12" name="文本框 11"/>
          <p:cNvSpPr txBox="1"/>
          <p:nvPr/>
        </p:nvSpPr>
        <p:spPr>
          <a:xfrm>
            <a:off x="2141855" y="2557780"/>
            <a:ext cx="2393950" cy="398780"/>
          </a:xfrm>
          <a:prstGeom prst="rect">
            <a:avLst/>
          </a:prstGeom>
          <a:noFill/>
          <a:extLst>
            <a:ext uri="{909E8E84-426E-40DD-AFC4-6F175D3DCCD1}">
              <a14:hiddenFill xmlns:a14="http://schemas.microsoft.com/office/drawing/2010/main">
                <a:grpFill/>
              </a14:hiddenFill>
            </a:ext>
          </a:extLst>
        </p:spPr>
        <p:txBody>
          <a:bodyPr wrap="square" rtlCol="0" anchor="t">
            <a:spAutoFit/>
          </a:bodyPr>
          <a:lstStyle/>
          <a:p>
            <a:pPr algn="ctr"/>
            <a:r>
              <a:rPr lang="zh-CN" altLang="en-US" sz="2000" b="1" dirty="0">
                <a:solidFill>
                  <a:srgbClr val="04579A"/>
                </a:solidFill>
                <a:sym typeface="+mn-ea"/>
              </a:rPr>
              <a:t>数据传输</a:t>
            </a:r>
            <a:endParaRPr lang="zh-CN" altLang="en-US" sz="2000" b="1" dirty="0">
              <a:solidFill>
                <a:srgbClr val="04579A"/>
              </a:solidFill>
              <a:sym typeface="+mn-ea"/>
            </a:endParaRPr>
          </a:p>
        </p:txBody>
      </p:sp>
      <p:grpSp>
        <p:nvGrpSpPr>
          <p:cNvPr id="62" name="组合 61"/>
          <p:cNvGrpSpPr/>
          <p:nvPr/>
        </p:nvGrpSpPr>
        <p:grpSpPr>
          <a:xfrm>
            <a:off x="4729480" y="1711325"/>
            <a:ext cx="2393950" cy="2691563"/>
            <a:chOff x="6868" y="3314"/>
            <a:chExt cx="3770" cy="4485"/>
          </a:xfrm>
        </p:grpSpPr>
        <p:sp>
          <p:nvSpPr>
            <p:cNvPr id="32" name="文本框 31"/>
            <p:cNvSpPr txBox="1"/>
            <p:nvPr>
              <p:custDataLst>
                <p:tags r:id="rId4"/>
              </p:custDataLst>
            </p:nvPr>
          </p:nvSpPr>
          <p:spPr>
            <a:xfrm>
              <a:off x="7312" y="5783"/>
              <a:ext cx="3018" cy="974"/>
            </a:xfrm>
            <a:prstGeom prst="rect">
              <a:avLst/>
            </a:prstGeom>
            <a:noFill/>
          </p:spPr>
          <p:txBody>
            <a:bodyPr wrap="square" rtlCol="0" anchor="t">
              <a:spAutoFit/>
            </a:bodyPr>
            <a:lstStyle/>
            <a:p>
              <a:pPr indent="0">
                <a:buFont typeface="Arial" panose="020B0604020202020204" pitchFamily="34" charset="0"/>
                <a:buNone/>
              </a:pPr>
              <a:r>
                <a:rPr lang="zh-CN" altLang="en-US" sz="1600" dirty="0">
                  <a:solidFill>
                    <a:schemeClr val="tx1">
                      <a:lumMod val="75000"/>
                      <a:lumOff val="25000"/>
                    </a:schemeClr>
                  </a:solidFill>
                  <a:sym typeface="+mn-ea"/>
                </a:rPr>
                <a:t>允许不受信任的各方原子地交换资产</a:t>
              </a:r>
              <a:endParaRPr lang="zh-CN" altLang="en-US" sz="1600" dirty="0">
                <a:solidFill>
                  <a:schemeClr val="tx1">
                    <a:lumMod val="75000"/>
                    <a:lumOff val="25000"/>
                  </a:schemeClr>
                </a:solidFill>
                <a:sym typeface="+mn-ea"/>
              </a:endParaRPr>
            </a:p>
          </p:txBody>
        </p:sp>
        <p:sp>
          <p:nvSpPr>
            <p:cNvPr id="33" name="文本框 32"/>
            <p:cNvSpPr txBox="1"/>
            <p:nvPr>
              <p:custDataLst>
                <p:tags r:id="rId5"/>
              </p:custDataLst>
            </p:nvPr>
          </p:nvSpPr>
          <p:spPr>
            <a:xfrm>
              <a:off x="6868" y="4703"/>
              <a:ext cx="3770" cy="664"/>
            </a:xfrm>
            <a:prstGeom prst="rect">
              <a:avLst/>
            </a:prstGeom>
            <a:noFill/>
          </p:spPr>
          <p:txBody>
            <a:bodyPr wrap="square" rtlCol="0" anchor="t">
              <a:spAutoFit/>
            </a:bodyPr>
            <a:lstStyle/>
            <a:p>
              <a:pPr algn="ctr"/>
              <a:r>
                <a:rPr lang="zh-CN" altLang="en-US" sz="2000" b="1" dirty="0">
                  <a:solidFill>
                    <a:srgbClr val="04579A"/>
                  </a:solidFill>
                  <a:sym typeface="+mn-ea"/>
                </a:rPr>
                <a:t>资产交换</a:t>
              </a:r>
              <a:endParaRPr lang="zh-CN" altLang="en-US" sz="2000" b="1" dirty="0">
                <a:solidFill>
                  <a:srgbClr val="04579A"/>
                </a:solidFill>
                <a:sym typeface="+mn-ea"/>
              </a:endParaRPr>
            </a:p>
          </p:txBody>
        </p:sp>
        <p:sp>
          <p:nvSpPr>
            <p:cNvPr id="34" name="圆角矩形 33"/>
            <p:cNvSpPr/>
            <p:nvPr>
              <p:custDataLst>
                <p:tags r:id="rId6"/>
              </p:custDataLst>
            </p:nvPr>
          </p:nvSpPr>
          <p:spPr>
            <a:xfrm>
              <a:off x="6869" y="3314"/>
              <a:ext cx="3769" cy="4485"/>
            </a:xfrm>
            <a:prstGeom prst="roundRect">
              <a:avLst/>
            </a:prstGeom>
            <a:noFill/>
            <a:ln>
              <a:solidFill>
                <a:srgbClr val="04579A"/>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4" name="文本框 63"/>
          <p:cNvSpPr txBox="1"/>
          <p:nvPr/>
        </p:nvSpPr>
        <p:spPr>
          <a:xfrm>
            <a:off x="2717482" y="5992494"/>
            <a:ext cx="6757035" cy="369332"/>
          </a:xfrm>
          <a:prstGeom prst="rect">
            <a:avLst/>
          </a:prstGeom>
          <a:noFill/>
        </p:spPr>
        <p:txBody>
          <a:bodyPr wrap="square" rtlCol="0">
            <a:spAutoFit/>
          </a:bodyPr>
          <a:lstStyle/>
          <a:p>
            <a:pPr algn="ctr"/>
            <a:r>
              <a:rPr lang="zh-CN" altLang="en-US" b="1" dirty="0">
                <a:solidFill>
                  <a:srgbClr val="04579A"/>
                </a:solidFill>
              </a:rPr>
              <a:t>跨链分布式数字资产交易协议的核心是跨链证明生成和验证机制</a:t>
            </a:r>
            <a:endParaRPr lang="zh-CN" altLang="en-US" b="1" dirty="0">
              <a:solidFill>
                <a:srgbClr val="04579A"/>
              </a:solidFill>
            </a:endParaRPr>
          </a:p>
        </p:txBody>
      </p:sp>
      <p:sp>
        <p:nvSpPr>
          <p:cNvPr id="105" name="椭圆 104"/>
          <p:cNvSpPr/>
          <p:nvPr/>
        </p:nvSpPr>
        <p:spPr>
          <a:xfrm>
            <a:off x="8669020" y="4282440"/>
            <a:ext cx="1143000" cy="1143000"/>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条件交易</a:t>
            </a:r>
            <a:endParaRPr lang="zh-CN" altLang="en-US" dirty="0"/>
          </a:p>
        </p:txBody>
      </p:sp>
      <p:sp>
        <p:nvSpPr>
          <p:cNvPr id="106" name="椭圆 105"/>
          <p:cNvSpPr/>
          <p:nvPr/>
        </p:nvSpPr>
        <p:spPr>
          <a:xfrm>
            <a:off x="6586220" y="452437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证明验证</a:t>
            </a:r>
            <a:endParaRPr lang="zh-CN" altLang="en-US" dirty="0"/>
          </a:p>
        </p:txBody>
      </p:sp>
      <p:sp>
        <p:nvSpPr>
          <p:cNvPr id="107" name="椭圆 106"/>
          <p:cNvSpPr/>
          <p:nvPr/>
        </p:nvSpPr>
        <p:spPr>
          <a:xfrm>
            <a:off x="4214495" y="452437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证明生成</a:t>
            </a:r>
            <a:endParaRPr lang="zh-CN" altLang="en-US" dirty="0"/>
          </a:p>
        </p:txBody>
      </p:sp>
      <p:sp>
        <p:nvSpPr>
          <p:cNvPr id="108" name="椭圆 107"/>
          <p:cNvSpPr/>
          <p:nvPr/>
        </p:nvSpPr>
        <p:spPr>
          <a:xfrm>
            <a:off x="1924050" y="4379595"/>
            <a:ext cx="1146175" cy="1146175"/>
          </a:xfrm>
          <a:prstGeom prst="ellipse">
            <a:avLst/>
          </a:prstGeom>
          <a:gradFill>
            <a:gsLst>
              <a:gs pos="72000">
                <a:schemeClr val="accent1">
                  <a:lumMod val="5000"/>
                  <a:lumOff val="95000"/>
                </a:schemeClr>
              </a:gs>
              <a:gs pos="0">
                <a:srgbClr val="03569A"/>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资产</a:t>
            </a:r>
            <a:endParaRPr lang="en-US" altLang="zh-CN" dirty="0"/>
          </a:p>
          <a:p>
            <a:pPr algn="ctr"/>
            <a:r>
              <a:rPr lang="zh-CN" altLang="en-US" dirty="0"/>
              <a:t>托管</a:t>
            </a:r>
            <a:endParaRPr lang="zh-CN" altLang="en-US" dirty="0"/>
          </a:p>
        </p:txBody>
      </p:sp>
      <p:sp>
        <p:nvSpPr>
          <p:cNvPr id="114" name="矩形 113"/>
          <p:cNvSpPr/>
          <p:nvPr>
            <p:custDataLst>
              <p:tags r:id="rId7"/>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custDataLst>
              <p:tags r:id="rId8"/>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custDataLst>
              <p:tags r:id="rId9"/>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custDataLst>
              <p:tags r:id="rId10"/>
            </p:custDataLst>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custDataLst>
              <p:tags r:id="rId11"/>
            </p:custDataLst>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p:cNvSpPr txBox="1"/>
          <p:nvPr>
            <p:custDataLst>
              <p:tags r:id="rId12"/>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20" name="Picture 2" descr="C:\Program Files\Apache Software Foundation\Tomcat 6.0\webapps\topo1\images\sklois1 (2).jpg"/>
          <p:cNvPicPr>
            <a:picLocks noChangeAspect="1" noChangeArrowheads="1"/>
          </p:cNvPicPr>
          <p:nvPr>
            <p:custDataLst>
              <p:tags r:id="rId13"/>
            </p:custDataLst>
          </p:nvPr>
        </p:nvPicPr>
        <p:blipFill>
          <a:blip r:embed="rId14"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1" name="等腰三角形 120"/>
          <p:cNvSpPr/>
          <p:nvPr>
            <p:custDataLst>
              <p:tags r:id="rId15"/>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16"/>
            </p:custDataLst>
          </p:nvPr>
        </p:nvSpPr>
        <p:spPr>
          <a:xfrm>
            <a:off x="408305" y="949960"/>
            <a:ext cx="10727690" cy="499111"/>
          </a:xfrm>
          <a:prstGeom prst="rect">
            <a:avLst/>
          </a:prstGeom>
          <a:noFill/>
        </p:spPr>
        <p:txBody>
          <a:bodyPr wrap="square" rtlCol="0" anchor="t">
            <a:spAutoFit/>
          </a:bodyPr>
          <a:lstStyle/>
          <a:p>
            <a:pPr marL="457200" indent="-457200" fontAlgn="auto">
              <a:lnSpc>
                <a:spcPct val="150000"/>
              </a:lnSpc>
              <a:buFont typeface="+mj-lt"/>
              <a:buAutoNum type="arabicPeriod" startAt="3"/>
            </a:pPr>
            <a:r>
              <a:rPr lang="zh-CN" altLang="en-US" sz="2000" dirty="0">
                <a:solidFill>
                  <a:schemeClr val="tx1">
                    <a:lumMod val="75000"/>
                    <a:lumOff val="25000"/>
                  </a:schemeClr>
                </a:solidFill>
                <a:sym typeface="+mn-ea"/>
              </a:rPr>
              <a:t>异构区块链系统间的互联互通要求分布式数字资产交易协议具有互操作性</a:t>
            </a:r>
            <a:endParaRPr lang="zh-CN" altLang="en-US" sz="2000" dirty="0">
              <a:solidFill>
                <a:schemeClr val="tx1">
                  <a:lumMod val="75000"/>
                  <a:lumOff val="25000"/>
                </a:schemeClr>
              </a:solidFill>
              <a:sym typeface="+mn-ea"/>
            </a:endParaRPr>
          </a:p>
        </p:txBody>
      </p:sp>
      <p:pic>
        <p:nvPicPr>
          <p:cNvPr id="8" name="图形 7"/>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072724" y="1987509"/>
            <a:ext cx="450256" cy="450256"/>
          </a:xfrm>
          <a:prstGeom prst="rect">
            <a:avLst/>
          </a:prstGeom>
        </p:spPr>
      </p:pic>
      <p:pic>
        <p:nvPicPr>
          <p:cNvPr id="13" name="图形 12"/>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702846" y="1984197"/>
            <a:ext cx="447218" cy="447218"/>
          </a:xfrm>
          <a:prstGeom prst="rect">
            <a:avLst/>
          </a:prstGeom>
        </p:spPr>
      </p:pic>
      <p:pic>
        <p:nvPicPr>
          <p:cNvPr id="15" name="图形 14"/>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291106" y="1984094"/>
            <a:ext cx="447218" cy="447218"/>
          </a:xfrm>
          <a:prstGeom prst="rect">
            <a:avLst/>
          </a:prstGeom>
        </p:spPr>
      </p:pic>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12</a:t>
            </a:r>
            <a:endParaRPr lang="zh-CN" altLang="en-US" dirty="0"/>
          </a:p>
        </p:txBody>
      </p:sp>
    </p:spTree>
    <p:custDataLst>
      <p:tags r:id="rId2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5"/>
                                        </p:tgtEl>
                                        <p:attrNameLst>
                                          <p:attrName>style.visibility</p:attrName>
                                        </p:attrNameLst>
                                      </p:cBhvr>
                                      <p:to>
                                        <p:strVal val="visible"/>
                                      </p:to>
                                    </p:set>
                                    <p:animEffect transition="in" filter="fade">
                                      <p:cBhvr>
                                        <p:cTn id="10" dur="500"/>
                                        <p:tgtEl>
                                          <p:spTgt spid="10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6"/>
                                        </p:tgtEl>
                                        <p:attrNameLst>
                                          <p:attrName>style.visibility</p:attrName>
                                        </p:attrNameLst>
                                      </p:cBhvr>
                                      <p:to>
                                        <p:strVal val="visible"/>
                                      </p:to>
                                    </p:set>
                                    <p:animEffect transition="in" filter="fade">
                                      <p:cBhvr>
                                        <p:cTn id="13" dur="500"/>
                                        <p:tgtEl>
                                          <p:spTgt spid="10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fade">
                                      <p:cBhvr>
                                        <p:cTn id="16" dur="500"/>
                                        <p:tgtEl>
                                          <p:spTgt spid="10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fade">
                                      <p:cBhvr>
                                        <p:cTn id="19" dur="500"/>
                                        <p:tgtEl>
                                          <p:spTgt spid="10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05" grpId="0" animBg="1"/>
      <p:bldP spid="105" grpId="1" animBg="1"/>
      <p:bldP spid="106" grpId="0" animBg="1"/>
      <p:bldP spid="106" grpId="1" animBg="1"/>
      <p:bldP spid="107" grpId="0" animBg="1"/>
      <p:bldP spid="107" grpId="1" animBg="1"/>
      <p:bldP spid="108" grpId="0" animBg="1"/>
      <p:bldP spid="108"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 name="矩形 10"/>
          <p:cNvSpPr/>
          <p:nvPr>
            <p:custDataLst>
              <p:tags r:id="rId1"/>
            </p:custDataLst>
          </p:nvPr>
        </p:nvSpPr>
        <p:spPr>
          <a:xfrm>
            <a:off x="1664970" y="0"/>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26225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custDataLst>
              <p:tags r:id="rId8"/>
            </p:custDataLst>
          </p:nvPr>
        </p:nvSpPr>
        <p:spPr>
          <a:xfrm>
            <a:off x="482600" y="897255"/>
            <a:ext cx="11079480" cy="398780"/>
          </a:xfrm>
          <a:prstGeom prst="rect">
            <a:avLst/>
          </a:prstGeom>
          <a:noFill/>
        </p:spPr>
        <p:txBody>
          <a:bodyPr wrap="square" rtlCol="0" anchor="t">
            <a:spAutoFit/>
          </a:bodyPr>
          <a:lstStyle/>
          <a:p>
            <a:r>
              <a:rPr lang="zh-CN" altLang="en-US" sz="2000" dirty="0"/>
              <a:t>数字资产市场为区块链提供了新的</a:t>
            </a:r>
            <a:r>
              <a:rPr lang="zh-CN" altLang="en-US" sz="2000" b="1" dirty="0">
                <a:solidFill>
                  <a:srgbClr val="04579A"/>
                </a:solidFill>
              </a:rPr>
              <a:t>应用方向</a:t>
            </a:r>
            <a:r>
              <a:rPr lang="zh-CN" altLang="en-US" sz="2000" dirty="0"/>
              <a:t>，但同时也带来了新的</a:t>
            </a:r>
            <a:r>
              <a:rPr lang="zh-CN" altLang="en-US" sz="2000" b="1" dirty="0">
                <a:solidFill>
                  <a:srgbClr val="04579A"/>
                </a:solidFill>
              </a:rPr>
              <a:t>技术需求</a:t>
            </a:r>
            <a:r>
              <a:rPr lang="zh-CN" altLang="en-US" sz="2000" dirty="0"/>
              <a:t>：</a:t>
            </a:r>
            <a:endParaRPr lang="zh-CN" altLang="en-US" sz="2000" dirty="0"/>
          </a:p>
        </p:txBody>
      </p:sp>
      <p:sp>
        <p:nvSpPr>
          <p:cNvPr id="10" name="文本框 9"/>
          <p:cNvSpPr txBox="1"/>
          <p:nvPr>
            <p:custDataLst>
              <p:tags r:id="rId9"/>
            </p:custDataLst>
          </p:nvPr>
        </p:nvSpPr>
        <p:spPr>
          <a:xfrm>
            <a:off x="758190" y="5840095"/>
            <a:ext cx="10528300" cy="398780"/>
          </a:xfrm>
          <a:prstGeom prst="rect">
            <a:avLst/>
          </a:prstGeom>
          <a:noFill/>
        </p:spPr>
        <p:txBody>
          <a:bodyPr wrap="square" rtlCol="0" anchor="t">
            <a:spAutoFit/>
          </a:bodyPr>
          <a:lstStyle/>
          <a:p>
            <a:pPr algn="ctr"/>
            <a:r>
              <a:rPr lang="zh-CN" altLang="en-US" sz="2000" b="1" dirty="0"/>
              <a:t>要应对新场景下特有的技术挑战，构建安全高效的分布式数字资产交易协议</a:t>
            </a:r>
            <a:endParaRPr lang="zh-CN" altLang="en-US" sz="2000" b="1" dirty="0"/>
          </a:p>
        </p:txBody>
      </p:sp>
      <p:sp>
        <p:nvSpPr>
          <p:cNvPr id="7" name="矩形 6"/>
          <p:cNvSpPr/>
          <p:nvPr>
            <p:custDataLst>
              <p:tags r:id="rId10"/>
            </p:custDataLst>
          </p:nvPr>
        </p:nvSpPr>
        <p:spPr>
          <a:xfrm>
            <a:off x="482600" y="403669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11"/>
            </p:custDataLst>
          </p:nvPr>
        </p:nvSpPr>
        <p:spPr>
          <a:xfrm>
            <a:off x="490855" y="285686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燕尾形 12"/>
          <p:cNvSpPr/>
          <p:nvPr>
            <p:custDataLst>
              <p:tags r:id="rId12"/>
            </p:custDataLst>
          </p:nvPr>
        </p:nvSpPr>
        <p:spPr>
          <a:xfrm>
            <a:off x="1019175" y="353504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13"/>
            </p:custDataLst>
          </p:nvPr>
        </p:nvSpPr>
        <p:spPr>
          <a:xfrm>
            <a:off x="482600" y="1677035"/>
            <a:ext cx="10528300" cy="572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14"/>
            </p:custDataLst>
          </p:nvPr>
        </p:nvSpPr>
        <p:spPr>
          <a:xfrm>
            <a:off x="556895" y="1663700"/>
            <a:ext cx="11078845" cy="399986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000" dirty="0">
                <a:solidFill>
                  <a:schemeClr val="tx1">
                    <a:lumMod val="85000"/>
                    <a:lumOff val="15000"/>
                  </a:schemeClr>
                </a:solidFill>
                <a:sym typeface="+mn-ea"/>
              </a:rPr>
              <a:t>现实网络环境对分布式数字资产交易协议的安全性和健壮性提出了更高的要求</a:t>
            </a:r>
            <a:endParaRPr lang="zh-CN" altLang="en-US" sz="2000" dirty="0">
              <a:solidFill>
                <a:schemeClr val="tx1">
                  <a:lumMod val="85000"/>
                  <a:lumOff val="15000"/>
                </a:schemeClr>
              </a:solidFill>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分布式数字资产交易协议需要去除可信假设，建立更强的安全模型</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olidFill>
                  <a:schemeClr val="tx1">
                    <a:lumMod val="85000"/>
                    <a:lumOff val="15000"/>
                  </a:schemeClr>
                </a:solidFill>
                <a:sym typeface="+mn-ea"/>
              </a:rPr>
              <a:t>大规模、高并发的交易场景要求分布式数字资产交易协议具有可扩展性</a:t>
            </a:r>
            <a:endParaRPr lang="zh-CN" altLang="en-US" sz="2000" dirty="0">
              <a:sym typeface="+mn-ea"/>
            </a:endParaRPr>
          </a:p>
          <a:p>
            <a:pPr lvl="1" indent="457200">
              <a:lnSpc>
                <a:spcPct val="150000"/>
              </a:lnSpc>
              <a:spcAft>
                <a:spcPts val="1200"/>
              </a:spcAft>
            </a:pPr>
            <a:r>
              <a:rPr lang="zh-CN" altLang="en-US" sz="2400" b="1" dirty="0">
                <a:solidFill>
                  <a:srgbClr val="04579A"/>
                </a:solidFill>
                <a:sym typeface="+mn-ea"/>
              </a:rPr>
              <a:t>分布式数字资产交易协议需要高性能的链下方案构造</a:t>
            </a:r>
            <a:endParaRPr lang="zh-CN" altLang="en-US" sz="2400" b="1" dirty="0">
              <a:solidFill>
                <a:srgbClr val="04579A"/>
              </a:solidFill>
              <a:sym typeface="+mn-ea"/>
            </a:endParaRPr>
          </a:p>
          <a:p>
            <a:pPr marL="457200" lvl="0" indent="-457200" fontAlgn="auto">
              <a:lnSpc>
                <a:spcPct val="150000"/>
              </a:lnSpc>
              <a:buAutoNum type="arabicPeriod"/>
            </a:pPr>
            <a:r>
              <a:rPr lang="zh-CN" altLang="en-US" sz="2000" dirty="0">
                <a:sym typeface="+mn-ea"/>
              </a:rPr>
              <a:t>异构区块链系统间的互联互通要求分布式数字资产交易协议具有互操作性</a:t>
            </a:r>
            <a:endParaRPr lang="zh-CN" altLang="en-US" sz="2000" dirty="0">
              <a:sym typeface="+mn-ea"/>
            </a:endParaRPr>
          </a:p>
          <a:p>
            <a:pPr lvl="1" indent="457200">
              <a:lnSpc>
                <a:spcPct val="150000"/>
              </a:lnSpc>
            </a:pPr>
            <a:r>
              <a:rPr lang="zh-CN" altLang="en-US" sz="2400" b="1" dirty="0">
                <a:solidFill>
                  <a:srgbClr val="04579A"/>
                </a:solidFill>
                <a:sym typeface="+mn-ea"/>
              </a:rPr>
              <a:t>分布式数字资产交易协议需要高效的跨链证明协议</a:t>
            </a:r>
            <a:endParaRPr lang="zh-CN" altLang="en-US" sz="2400" b="1" dirty="0">
              <a:solidFill>
                <a:srgbClr val="04579A"/>
              </a:solidFill>
              <a:sym typeface="+mn-ea"/>
            </a:endParaRPr>
          </a:p>
          <a:p>
            <a:pPr lvl="1" indent="457200">
              <a:lnSpc>
                <a:spcPct val="150000"/>
              </a:lnSpc>
            </a:pPr>
            <a:endParaRPr lang="zh-CN" altLang="en-US" sz="2400" b="1" dirty="0">
              <a:solidFill>
                <a:schemeClr val="bg1">
                  <a:lumMod val="95000"/>
                </a:schemeClr>
              </a:solidFill>
              <a:sym typeface="+mn-ea"/>
            </a:endParaRPr>
          </a:p>
        </p:txBody>
      </p:sp>
      <p:sp>
        <p:nvSpPr>
          <p:cNvPr id="18" name="燕尾形 17"/>
          <p:cNvSpPr/>
          <p:nvPr>
            <p:custDataLst>
              <p:tags r:id="rId15"/>
            </p:custDataLst>
          </p:nvPr>
        </p:nvSpPr>
        <p:spPr>
          <a:xfrm>
            <a:off x="1019175" y="2339975"/>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燕尾形 21"/>
          <p:cNvSpPr/>
          <p:nvPr>
            <p:custDataLst>
              <p:tags r:id="rId16"/>
            </p:custDataLst>
          </p:nvPr>
        </p:nvSpPr>
        <p:spPr>
          <a:xfrm>
            <a:off x="1019175" y="4667250"/>
            <a:ext cx="364490" cy="25781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13</a:t>
            </a:r>
            <a:endParaRPr lang="zh-CN" altLang="en-US" dirty="0"/>
          </a:p>
        </p:txBody>
      </p:sp>
    </p:spTree>
    <p:custDataLst>
      <p:tags r:id="rId17"/>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文本框 5"/>
          <p:cNvSpPr txBox="1"/>
          <p:nvPr/>
        </p:nvSpPr>
        <p:spPr>
          <a:xfrm>
            <a:off x="207010" y="1528445"/>
            <a:ext cx="11078845" cy="3736279"/>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1600" dirty="0">
                <a:solidFill>
                  <a:schemeClr val="bg1"/>
                </a:solidFill>
                <a:sym typeface="+mn-ea"/>
              </a:rPr>
              <a:t>广域网环境中延迟、丢包以及窃听等攻击对共识协议的健壮性提出了更高的要求</a:t>
            </a:r>
            <a:endParaRPr lang="zh-CN" altLang="en-US" sz="1600" dirty="0">
              <a:solidFill>
                <a:schemeClr val="bg1"/>
              </a:solidFill>
              <a:sym typeface="+mn-ea"/>
            </a:endParaRPr>
          </a:p>
          <a:p>
            <a:pPr marL="457200" lvl="1" indent="457200" fontAlgn="auto">
              <a:spcAft>
                <a:spcPts val="1200"/>
              </a:spcAft>
              <a:buNone/>
            </a:pPr>
            <a:r>
              <a:rPr lang="zh-CN" altLang="en-US" b="1" dirty="0">
                <a:solidFill>
                  <a:srgbClr val="04579A"/>
                </a:solidFill>
                <a:sym typeface="+mn-ea"/>
              </a:rPr>
              <a:t>分布式数字资产交易协议需要去除可信假设，</a:t>
            </a:r>
            <a:endParaRPr lang="en-US" altLang="zh-CN" b="1" dirty="0">
              <a:solidFill>
                <a:srgbClr val="04579A"/>
              </a:solidFill>
              <a:sym typeface="+mn-ea"/>
            </a:endParaRPr>
          </a:p>
          <a:p>
            <a:pPr marL="457200" lvl="1" indent="457200" fontAlgn="auto">
              <a:spcAft>
                <a:spcPts val="1200"/>
              </a:spcAft>
              <a:buNone/>
            </a:pPr>
            <a:r>
              <a:rPr lang="zh-CN" altLang="en-US" b="1" dirty="0">
                <a:solidFill>
                  <a:srgbClr val="04579A"/>
                </a:solidFill>
                <a:sym typeface="+mn-ea"/>
              </a:rPr>
              <a:t>建立更强的安全模型</a:t>
            </a:r>
            <a:r>
              <a:rPr lang="zh-CN" altLang="en-US" sz="1600" dirty="0">
                <a:solidFill>
                  <a:schemeClr val="bg1"/>
                </a:solidFill>
                <a:sym typeface="+mn-ea"/>
              </a:rPr>
              <a:t>有</a:t>
            </a:r>
            <a:endParaRPr lang="en-US" altLang="zh-CN" sz="1600" dirty="0">
              <a:solidFill>
                <a:schemeClr val="bg1"/>
              </a:solidFill>
              <a:sym typeface="+mn-ea"/>
            </a:endParaRPr>
          </a:p>
          <a:p>
            <a:pPr marL="457200" lvl="1" indent="457200" fontAlgn="auto">
              <a:spcAft>
                <a:spcPts val="1200"/>
              </a:spcAft>
              <a:buNone/>
            </a:pPr>
            <a:r>
              <a:rPr lang="zh-CN" altLang="en-US" sz="1600" dirty="0">
                <a:solidFill>
                  <a:schemeClr val="bg1"/>
                </a:solidFill>
                <a:sym typeface="+mn-ea"/>
              </a:rPr>
              <a:t>长期部署的需要</a:t>
            </a:r>
            <a:endParaRPr lang="zh-CN" altLang="en-US" sz="1600" dirty="0">
              <a:solidFill>
                <a:schemeClr val="bg1"/>
              </a:solidFill>
              <a:sym typeface="+mn-ea"/>
            </a:endParaRPr>
          </a:p>
          <a:p>
            <a:pPr marL="457200" lvl="1" indent="457200" fontAlgn="auto">
              <a:spcAft>
                <a:spcPts val="1200"/>
              </a:spcAft>
              <a:buNone/>
            </a:pPr>
            <a:r>
              <a:rPr lang="zh-CN" altLang="en-US" b="1" dirty="0">
                <a:solidFill>
                  <a:srgbClr val="04579A"/>
                </a:solidFill>
                <a:sym typeface="+mn-ea"/>
              </a:rPr>
              <a:t>分布式数字资产交易协议需要高性能的链下</a:t>
            </a:r>
            <a:endParaRPr lang="en-US" altLang="zh-CN" b="1" dirty="0">
              <a:solidFill>
                <a:srgbClr val="04579A"/>
              </a:solidFill>
              <a:sym typeface="+mn-ea"/>
            </a:endParaRPr>
          </a:p>
          <a:p>
            <a:pPr marL="457200" lvl="1" indent="457200" fontAlgn="auto">
              <a:spcAft>
                <a:spcPts val="1200"/>
              </a:spcAft>
              <a:buNone/>
            </a:pPr>
            <a:r>
              <a:rPr lang="zh-CN" altLang="en-US" b="1" dirty="0">
                <a:solidFill>
                  <a:srgbClr val="04579A"/>
                </a:solidFill>
                <a:sym typeface="+mn-ea"/>
              </a:rPr>
              <a:t>方案构造</a:t>
            </a:r>
            <a:endParaRPr lang="en-US" altLang="zh-CN" b="1" dirty="0">
              <a:solidFill>
                <a:srgbClr val="04579A"/>
              </a:solidFill>
              <a:sym typeface="+mn-ea"/>
            </a:endParaRPr>
          </a:p>
          <a:p>
            <a:pPr marL="457200" lvl="1" indent="457200" fontAlgn="auto">
              <a:spcAft>
                <a:spcPts val="1200"/>
              </a:spcAft>
              <a:buNone/>
            </a:pPr>
            <a:r>
              <a:rPr lang="zh-CN" altLang="en-US" sz="100" dirty="0">
                <a:solidFill>
                  <a:schemeClr val="bg1"/>
                </a:solidFill>
                <a:sym typeface="+mn-ea"/>
              </a:rPr>
              <a:t>三方设置的门限密码系统减弱了区块链</a:t>
            </a:r>
            <a:r>
              <a:rPr lang="zh-CN" altLang="en-US" sz="600" dirty="0">
                <a:solidFill>
                  <a:schemeClr val="bg1"/>
                </a:solidFill>
                <a:sym typeface="+mn-ea"/>
              </a:rPr>
              <a:t>系统去中心化的特性</a:t>
            </a:r>
            <a:endParaRPr lang="zh-CN" altLang="en-US" sz="600" dirty="0">
              <a:solidFill>
                <a:schemeClr val="bg1"/>
              </a:solidFill>
              <a:sym typeface="+mn-ea"/>
            </a:endParaRPr>
          </a:p>
          <a:p>
            <a:pPr marL="457200" lvl="1" indent="457200" fontAlgn="auto">
              <a:lnSpc>
                <a:spcPct val="150000"/>
              </a:lnSpc>
              <a:buNone/>
            </a:pPr>
            <a:r>
              <a:rPr lang="zh-CN" altLang="en-US" b="1" dirty="0">
                <a:solidFill>
                  <a:srgbClr val="04579A"/>
                </a:solidFill>
                <a:sym typeface="+mn-ea"/>
              </a:rPr>
              <a:t>分布式数字资产交易协议需要高效的跨链证</a:t>
            </a:r>
            <a:endParaRPr lang="en-US" altLang="zh-CN" b="1" dirty="0">
              <a:solidFill>
                <a:srgbClr val="04579A"/>
              </a:solidFill>
              <a:sym typeface="+mn-ea"/>
            </a:endParaRPr>
          </a:p>
          <a:p>
            <a:pPr marL="457200" lvl="1" indent="457200" fontAlgn="auto">
              <a:lnSpc>
                <a:spcPct val="150000"/>
              </a:lnSpc>
              <a:buNone/>
            </a:pPr>
            <a:r>
              <a:rPr lang="zh-CN" altLang="en-US" b="1" dirty="0">
                <a:solidFill>
                  <a:srgbClr val="04579A"/>
                </a:solidFill>
                <a:sym typeface="+mn-ea"/>
              </a:rPr>
              <a:t>明协议</a:t>
            </a:r>
            <a:endParaRPr lang="zh-CN" altLang="en-US" b="1" dirty="0">
              <a:solidFill>
                <a:srgbClr val="04579A"/>
              </a:solidFill>
              <a:sym typeface="+mn-ea"/>
            </a:endParaRPr>
          </a:p>
        </p:txBody>
      </p:sp>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燕尾形 13"/>
          <p:cNvSpPr/>
          <p:nvPr>
            <p:custDataLst>
              <p:tags r:id="rId8"/>
            </p:custDataLst>
          </p:nvPr>
        </p:nvSpPr>
        <p:spPr>
          <a:xfrm>
            <a:off x="741680" y="2134870"/>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燕尾形 18"/>
          <p:cNvSpPr/>
          <p:nvPr>
            <p:custDataLst>
              <p:tags r:id="rId9"/>
            </p:custDataLst>
          </p:nvPr>
        </p:nvSpPr>
        <p:spPr>
          <a:xfrm>
            <a:off x="741362" y="3365262"/>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燕尾形 22"/>
          <p:cNvSpPr/>
          <p:nvPr>
            <p:custDataLst>
              <p:tags r:id="rId10"/>
            </p:custDataLst>
          </p:nvPr>
        </p:nvSpPr>
        <p:spPr>
          <a:xfrm>
            <a:off x="741361" y="4529045"/>
            <a:ext cx="288925" cy="204470"/>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44359" y="1820765"/>
            <a:ext cx="4178861" cy="830997"/>
          </a:xfrm>
          <a:prstGeom prst="rect">
            <a:avLst/>
          </a:prstGeom>
          <a:noFill/>
        </p:spPr>
        <p:txBody>
          <a:bodyPr wrap="square" rtlCol="0">
            <a:spAutoFit/>
          </a:bodyPr>
          <a:lstStyle/>
          <a:p>
            <a:r>
              <a:rPr lang="en-US" altLang="zh-CN" sz="2800" b="1" dirty="0">
                <a:solidFill>
                  <a:schemeClr val="tx1">
                    <a:lumMod val="85000"/>
                    <a:lumOff val="15000"/>
                  </a:schemeClr>
                </a:solidFill>
              </a:rPr>
              <a:t>1.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6994525" y="3140759"/>
            <a:ext cx="4178861" cy="523220"/>
          </a:xfrm>
          <a:prstGeom prst="rect">
            <a:avLst/>
          </a:prstGeom>
          <a:noFill/>
        </p:spPr>
        <p:txBody>
          <a:bodyPr wrap="square" rtlCol="0">
            <a:spAutoFit/>
          </a:bodyPr>
          <a:lstStyle/>
          <a:p>
            <a:r>
              <a:rPr lang="en-US" altLang="zh-CN" sz="2800" b="1" dirty="0">
                <a:solidFill>
                  <a:schemeClr val="tx1">
                    <a:lumMod val="85000"/>
                    <a:lumOff val="15000"/>
                  </a:schemeClr>
                </a:solidFill>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6994525" y="4327256"/>
            <a:ext cx="4456114" cy="523220"/>
          </a:xfrm>
          <a:prstGeom prst="rect">
            <a:avLst/>
          </a:prstGeom>
          <a:noFill/>
        </p:spPr>
        <p:txBody>
          <a:bodyPr wrap="square" rtlCol="0">
            <a:spAutoFit/>
          </a:bodyPr>
          <a:lstStyle/>
          <a:p>
            <a:r>
              <a:rPr lang="en-US" altLang="zh-CN" sz="2800" b="1" dirty="0">
                <a:solidFill>
                  <a:schemeClr val="tx1">
                    <a:lumMod val="85000"/>
                    <a:lumOff val="15000"/>
                  </a:schemeClr>
                </a:solidFill>
              </a:rPr>
              <a:t>3. </a:t>
            </a:r>
            <a:r>
              <a:rPr lang="zh-CN" altLang="en-US" sz="2000" b="1" dirty="0">
                <a:solidFill>
                  <a:schemeClr val="tx1">
                    <a:lumMod val="85000"/>
                    <a:lumOff val="15000"/>
                  </a:schemeClr>
                </a:solidFill>
              </a:rPr>
              <a:t>跨链</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数字资产交易协议证明机制</a:t>
            </a:r>
            <a:endParaRPr lang="zh-CN" altLang="en-US" sz="2000" b="1" dirty="0">
              <a:solidFill>
                <a:schemeClr val="tx1">
                  <a:lumMod val="85000"/>
                  <a:lumOff val="15000"/>
                </a:schemeClr>
              </a:solidFill>
            </a:endParaRPr>
          </a:p>
        </p:txBody>
      </p:sp>
      <p:sp>
        <p:nvSpPr>
          <p:cNvPr id="22" name="虚尾箭头 21"/>
          <p:cNvSpPr/>
          <p:nvPr/>
        </p:nvSpPr>
        <p:spPr>
          <a:xfrm>
            <a:off x="6249034" y="2006282"/>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虚尾箭头 23"/>
          <p:cNvSpPr/>
          <p:nvPr/>
        </p:nvSpPr>
        <p:spPr>
          <a:xfrm>
            <a:off x="6249034" y="3202940"/>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虚尾箭头 24"/>
          <p:cNvSpPr/>
          <p:nvPr/>
        </p:nvSpPr>
        <p:spPr>
          <a:xfrm>
            <a:off x="6275643" y="4400457"/>
            <a:ext cx="309245" cy="461645"/>
          </a:xfrm>
          <a:prstGeom prst="striped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custDataLst>
              <p:tags r:id="rId11"/>
            </p:custDataLst>
          </p:nvPr>
        </p:nvSpPr>
        <p:spPr>
          <a:xfrm>
            <a:off x="758190" y="5840095"/>
            <a:ext cx="10528300" cy="398780"/>
          </a:xfrm>
          <a:prstGeom prst="rect">
            <a:avLst/>
          </a:prstGeom>
          <a:noFill/>
        </p:spPr>
        <p:txBody>
          <a:bodyPr wrap="square" rtlCol="0" anchor="t">
            <a:spAutoFit/>
          </a:bodyPr>
          <a:lstStyle/>
          <a:p>
            <a:pPr algn="ctr"/>
            <a:r>
              <a:rPr lang="zh-CN" altLang="en-US" sz="2000" b="1" dirty="0"/>
              <a:t>要应对新场景下特有的技术挑战，构建安全高效的分布式数字资产交易协议</a:t>
            </a:r>
            <a:endParaRPr lang="zh-CN" altLang="en-US" sz="2000" b="1" dirty="0"/>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14</a:t>
            </a:r>
            <a:endParaRPr lang="zh-CN" altLang="en-US" dirty="0"/>
          </a:p>
        </p:txBody>
      </p:sp>
    </p:spTree>
    <p:custDataLst>
      <p:tags r:id="rId1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7" grpId="0"/>
      <p:bldP spid="22" grpId="0" animBg="1"/>
      <p:bldP spid="24" grpId="0" bldLvl="0" animBg="1"/>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27" name="组合 26"/>
          <p:cNvGrpSpPr/>
          <p:nvPr/>
        </p:nvGrpSpPr>
        <p:grpSpPr>
          <a:xfrm>
            <a:off x="408305" y="-635"/>
            <a:ext cx="11783060" cy="950595"/>
            <a:chOff x="643" y="-1"/>
            <a:chExt cx="18556" cy="1497"/>
          </a:xfrm>
        </p:grpSpPr>
        <p:sp>
          <p:nvSpPr>
            <p:cNvPr id="18" name="矩形 17"/>
            <p:cNvSpPr/>
            <p:nvPr>
              <p:custDataLst>
                <p:tags r:id="rId1"/>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p:cNvSpPr txBox="1"/>
          <p:nvPr>
            <p:custDataLst>
              <p:tags r:id="rId8"/>
            </p:custDataLst>
          </p:nvPr>
        </p:nvSpPr>
        <p:spPr>
          <a:xfrm>
            <a:off x="408305" y="949960"/>
            <a:ext cx="7706500" cy="738664"/>
          </a:xfrm>
          <a:prstGeom prst="rect">
            <a:avLst/>
          </a:prstGeom>
          <a:noFill/>
        </p:spPr>
        <p:txBody>
          <a:bodyPr wrap="square" rtlCol="0">
            <a:spAutoFit/>
          </a:bodyPr>
          <a:lstStyle/>
          <a:p>
            <a:pPr marL="457200" indent="-457200" algn="l">
              <a:buClrTx/>
              <a:buSzTx/>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恶意场景下分布式数字资产交易安全性</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l">
              <a:buClrTx/>
              <a:buSzTx/>
              <a:buFontTx/>
            </a:pPr>
            <a:r>
              <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en-US" altLang="zh-CN" sz="1800" b="1" dirty="0" err="1">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设计难点</a:t>
            </a:r>
            <a:endPar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pic>
        <p:nvPicPr>
          <p:cNvPr id="6" name="图片 5" descr="smiling-face-with-horns_1f608"/>
          <p:cNvPicPr>
            <a:picLocks noChangeAspect="1"/>
          </p:cNvPicPr>
          <p:nvPr/>
        </p:nvPicPr>
        <p:blipFill>
          <a:blip r:embed="rId9"/>
          <a:stretch>
            <a:fillRect/>
          </a:stretch>
        </p:blipFill>
        <p:spPr>
          <a:xfrm>
            <a:off x="1489710" y="1985010"/>
            <a:ext cx="453390" cy="453390"/>
          </a:xfrm>
          <a:prstGeom prst="rect">
            <a:avLst/>
          </a:prstGeom>
        </p:spPr>
      </p:pic>
      <p:pic>
        <p:nvPicPr>
          <p:cNvPr id="7" name="图片 6" descr="src=http___pic.qiantucdn.com_58pic_28_67_85_01N58PICzK58PICMgcJf4frSf_PIC2018.jpg!_fw_1024_watermark_url_L2ltYWdlcy93YXRlcm1hcmsvZGF0dS5wbmc=_repeat_true_crop_0x1009a0a1009&amp;refer=http___pic.qiantucdn"/>
          <p:cNvPicPr>
            <a:picLocks noChangeAspect="1"/>
          </p:cNvPicPr>
          <p:nvPr/>
        </p:nvPicPr>
        <p:blipFill>
          <a:blip r:embed="rId10">
            <a:clrChange>
              <a:clrFrom>
                <a:srgbClr val="F5F1EE">
                  <a:alpha val="100000"/>
                </a:srgbClr>
              </a:clrFrom>
              <a:clrTo>
                <a:srgbClr val="F5F1EE">
                  <a:alpha val="100000"/>
                  <a:alpha val="0"/>
                </a:srgbClr>
              </a:clrTo>
            </a:clrChange>
          </a:blip>
          <a:srcRect l="14588" t="10798" r="60610" b="21085"/>
          <a:stretch>
            <a:fillRect/>
          </a:stretch>
        </p:blipFill>
        <p:spPr>
          <a:xfrm>
            <a:off x="770255" y="2981960"/>
            <a:ext cx="593725" cy="648335"/>
          </a:xfrm>
          <a:prstGeom prst="rect">
            <a:avLst/>
          </a:prstGeom>
        </p:spPr>
      </p:pic>
      <p:pic>
        <p:nvPicPr>
          <p:cNvPr id="10" name="图片 9" descr="src=http___pic.qiantucdn.com_58pic_28_67_85_01N58PICzK58PICMgcJf4frSf_PIC2018.jpg!_fw_1024_watermark_url_L2ltYWdlcy93YXRlcm1hcmsvZGF0dS5wbmc=_repeat_true_crop_0x1009a0a1009&amp;refer=http___pic.qiantucdn"/>
          <p:cNvPicPr>
            <a:picLocks noChangeAspect="1"/>
          </p:cNvPicPr>
          <p:nvPr>
            <p:custDataLst>
              <p:tags r:id="rId11"/>
            </p:custDataLst>
          </p:nvPr>
        </p:nvPicPr>
        <p:blipFill>
          <a:blip r:embed="rId10">
            <a:clrChange>
              <a:clrFrom>
                <a:srgbClr val="F5F1EE">
                  <a:alpha val="100000"/>
                </a:srgbClr>
              </a:clrFrom>
              <a:clrTo>
                <a:srgbClr val="F5F1EE">
                  <a:alpha val="100000"/>
                  <a:alpha val="0"/>
                </a:srgbClr>
              </a:clrTo>
            </a:clrChange>
          </a:blip>
          <a:srcRect l="14588" t="10798" r="60610" b="21085"/>
          <a:stretch>
            <a:fillRect/>
          </a:stretch>
        </p:blipFill>
        <p:spPr>
          <a:xfrm>
            <a:off x="2108200" y="2981960"/>
            <a:ext cx="593725" cy="648335"/>
          </a:xfrm>
          <a:prstGeom prst="rect">
            <a:avLst/>
          </a:prstGeom>
        </p:spPr>
      </p:pic>
      <p:pic>
        <p:nvPicPr>
          <p:cNvPr id="17" name="图片 16" descr="src=http___pic.qiantucdn.com_58pic_28_67_85_01N58PICzK58PICMgcJf4frSf_PIC2018.jpg!_fw_1024_watermark_url_L2ltYWdlcy93YXRlcm1hcmsvZGF0dS5wbmc=_repeat_true_crop_0x1009a0a1009&amp;refer=http___pic.qiantucdn"/>
          <p:cNvPicPr>
            <a:picLocks noChangeAspect="1"/>
          </p:cNvPicPr>
          <p:nvPr>
            <p:custDataLst>
              <p:tags r:id="rId12"/>
            </p:custDataLst>
          </p:nvPr>
        </p:nvPicPr>
        <p:blipFill>
          <a:blip r:embed="rId10">
            <a:clrChange>
              <a:clrFrom>
                <a:srgbClr val="F5F1EE">
                  <a:alpha val="100000"/>
                </a:srgbClr>
              </a:clrFrom>
              <a:clrTo>
                <a:srgbClr val="F5F1EE">
                  <a:alpha val="100000"/>
                  <a:alpha val="0"/>
                </a:srgbClr>
              </a:clrTo>
            </a:clrChange>
          </a:blip>
          <a:srcRect l="14588" t="10798" r="60610" b="21085"/>
          <a:stretch>
            <a:fillRect/>
          </a:stretch>
        </p:blipFill>
        <p:spPr>
          <a:xfrm>
            <a:off x="3931285" y="2962910"/>
            <a:ext cx="593725" cy="648335"/>
          </a:xfrm>
          <a:prstGeom prst="rect">
            <a:avLst/>
          </a:prstGeom>
        </p:spPr>
      </p:pic>
      <p:pic>
        <p:nvPicPr>
          <p:cNvPr id="19" name="图片 18" descr="src=http___pic.qiantucdn.com_58pic_28_67_85_01N58PICzK58PICMgcJf4frSf_PIC2018.jpg!_fw_1024_watermark_url_L2ltYWdlcy93YXRlcm1hcmsvZGF0dS5wbmc=_repeat_true_crop_0x1009a0a1009&amp;refer=http___pic.qiantucdn"/>
          <p:cNvPicPr>
            <a:picLocks noChangeAspect="1"/>
          </p:cNvPicPr>
          <p:nvPr>
            <p:custDataLst>
              <p:tags r:id="rId13"/>
            </p:custDataLst>
          </p:nvPr>
        </p:nvPicPr>
        <p:blipFill>
          <a:blip r:embed="rId10">
            <a:clrChange>
              <a:clrFrom>
                <a:srgbClr val="F5F1EE">
                  <a:alpha val="100000"/>
                </a:srgbClr>
              </a:clrFrom>
              <a:clrTo>
                <a:srgbClr val="F5F1EE">
                  <a:alpha val="100000"/>
                  <a:alpha val="0"/>
                </a:srgbClr>
              </a:clrTo>
            </a:clrChange>
          </a:blip>
          <a:srcRect l="14588" t="10798" r="60610" b="21085"/>
          <a:stretch>
            <a:fillRect/>
          </a:stretch>
        </p:blipFill>
        <p:spPr>
          <a:xfrm>
            <a:off x="5269230" y="2962910"/>
            <a:ext cx="593725" cy="648335"/>
          </a:xfrm>
          <a:prstGeom prst="rect">
            <a:avLst/>
          </a:prstGeom>
        </p:spPr>
      </p:pic>
      <p:cxnSp>
        <p:nvCxnSpPr>
          <p:cNvPr id="25" name="直接箭头连接符 24"/>
          <p:cNvCxnSpPr/>
          <p:nvPr/>
        </p:nvCxnSpPr>
        <p:spPr>
          <a:xfrm flipH="1">
            <a:off x="4408805" y="2531745"/>
            <a:ext cx="182880" cy="29527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custDataLst>
              <p:tags r:id="rId14"/>
            </p:custDataLst>
          </p:nvPr>
        </p:nvCxnSpPr>
        <p:spPr>
          <a:xfrm>
            <a:off x="5147310" y="2511425"/>
            <a:ext cx="179070" cy="31305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圆角矩形 33"/>
          <p:cNvSpPr/>
          <p:nvPr/>
        </p:nvSpPr>
        <p:spPr>
          <a:xfrm>
            <a:off x="6183630" y="2016125"/>
            <a:ext cx="5288915" cy="563880"/>
          </a:xfrm>
          <a:prstGeom prst="roundRect">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charset="-122"/>
                <a:ea typeface="微软雅黑" panose="020B0503020204020204" charset="-122"/>
                <a:cs typeface="微软雅黑" panose="020B0503020204020204" charset="-122"/>
              </a:rPr>
              <a:t>矿工有动机和能力对链上交易顺序进行排序</a:t>
            </a:r>
            <a:endParaRPr lang="zh-CN" altLang="en-US" sz="2000" dirty="0">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6184265" y="2687320"/>
            <a:ext cx="5288280" cy="460375"/>
          </a:xfrm>
          <a:prstGeom prst="rect">
            <a:avLst/>
          </a:prstGeom>
          <a:noFill/>
        </p:spPr>
        <p:txBody>
          <a:bodyPr wrap="square" rtlCol="0">
            <a:spAutoFit/>
          </a:bodyPr>
          <a:lstStyle/>
          <a:p>
            <a:pPr algn="ctr"/>
            <a:r>
              <a:rPr lang="zh-CN" altLang="en-US" sz="2400" b="1" dirty="0">
                <a:solidFill>
                  <a:srgbClr val="04579A"/>
                </a:solidFill>
              </a:rPr>
              <a:t>诚实矿工假设在实践中并不安全</a:t>
            </a:r>
            <a:endParaRPr lang="zh-CN" altLang="en-US" sz="2400" b="1" dirty="0">
              <a:solidFill>
                <a:srgbClr val="04579A"/>
              </a:solidFill>
            </a:endParaRPr>
          </a:p>
        </p:txBody>
      </p:sp>
      <p:sp>
        <p:nvSpPr>
          <p:cNvPr id="73" name="文本框 72"/>
          <p:cNvSpPr txBox="1"/>
          <p:nvPr/>
        </p:nvSpPr>
        <p:spPr>
          <a:xfrm>
            <a:off x="7104380" y="6194107"/>
            <a:ext cx="2647315" cy="338554"/>
          </a:xfrm>
          <a:prstGeom prst="rect">
            <a:avLst/>
          </a:prstGeom>
          <a:noFill/>
        </p:spPr>
        <p:txBody>
          <a:bodyPr wrap="square" rtlCol="0" anchor="t">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sym typeface="+mn-ea"/>
              </a:rPr>
              <a:t>链上托管资产不再安全</a:t>
            </a: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custDataLst>
              <p:tags r:id="rId15"/>
            </p:custDataLst>
          </p:nvPr>
        </p:nvSpPr>
        <p:spPr>
          <a:xfrm>
            <a:off x="1542226" y="6194107"/>
            <a:ext cx="3077446" cy="338554"/>
          </a:xfrm>
          <a:prstGeom prst="rect">
            <a:avLst/>
          </a:prstGeom>
          <a:noFill/>
        </p:spPr>
        <p:txBody>
          <a:bodyPr wrap="square" rtlCol="0" anchor="t">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sym typeface="+mn-ea"/>
              </a:rPr>
              <a:t>按交易时间</a:t>
            </a:r>
            <a:r>
              <a:rPr lang="en-US" alt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顺序保证资产安全</a:t>
            </a:r>
            <a:endParaRPr lang="zh-CN" altLang="en-US" sz="1600" dirty="0">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nvCxnSpPr>
        <p:spPr>
          <a:xfrm>
            <a:off x="770255" y="3919855"/>
            <a:ext cx="1043432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descr="smiling-face-with-horns_1f608"/>
          <p:cNvPicPr>
            <a:picLocks noChangeAspect="1"/>
          </p:cNvPicPr>
          <p:nvPr/>
        </p:nvPicPr>
        <p:blipFill>
          <a:blip r:embed="rId9"/>
          <a:stretch>
            <a:fillRect/>
          </a:stretch>
        </p:blipFill>
        <p:spPr>
          <a:xfrm>
            <a:off x="4640262" y="1985010"/>
            <a:ext cx="453390" cy="453390"/>
          </a:xfrm>
          <a:prstGeom prst="rect">
            <a:avLst/>
          </a:prstGeom>
        </p:spPr>
      </p:pic>
      <p:cxnSp>
        <p:nvCxnSpPr>
          <p:cNvPr id="16" name="直接箭头连接符 15"/>
          <p:cNvCxnSpPr/>
          <p:nvPr/>
        </p:nvCxnSpPr>
        <p:spPr>
          <a:xfrm flipH="1">
            <a:off x="1239202" y="2588259"/>
            <a:ext cx="182880" cy="29527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custDataLst>
              <p:tags r:id="rId16"/>
            </p:custDataLst>
          </p:nvPr>
        </p:nvCxnSpPr>
        <p:spPr>
          <a:xfrm>
            <a:off x="1977707" y="2567939"/>
            <a:ext cx="179070" cy="313055"/>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80167" y="2588259"/>
            <a:ext cx="563740" cy="261610"/>
          </a:xfrm>
          <a:prstGeom prst="rect">
            <a:avLst/>
          </a:prstGeom>
          <a:noFill/>
        </p:spPr>
        <p:txBody>
          <a:bodyPr wrap="square" rtlCol="0">
            <a:spAutoFit/>
          </a:bodyPr>
          <a:lstStyle/>
          <a:p>
            <a:r>
              <a:rPr lang="zh-CN" altLang="en-US" sz="1100" dirty="0"/>
              <a:t>交易</a:t>
            </a:r>
            <a:r>
              <a:rPr lang="en-US" altLang="zh-CN" sz="1100" dirty="0"/>
              <a:t>A</a:t>
            </a:r>
            <a:endParaRPr lang="zh-CN" altLang="en-US" sz="1100" dirty="0"/>
          </a:p>
        </p:txBody>
      </p:sp>
      <p:sp>
        <p:nvSpPr>
          <p:cNvPr id="29" name="文本框 28"/>
          <p:cNvSpPr txBox="1"/>
          <p:nvPr/>
        </p:nvSpPr>
        <p:spPr>
          <a:xfrm>
            <a:off x="2079129" y="2588259"/>
            <a:ext cx="711447" cy="261610"/>
          </a:xfrm>
          <a:prstGeom prst="rect">
            <a:avLst/>
          </a:prstGeom>
          <a:noFill/>
        </p:spPr>
        <p:txBody>
          <a:bodyPr wrap="square" rtlCol="0">
            <a:spAutoFit/>
          </a:bodyPr>
          <a:lstStyle/>
          <a:p>
            <a:r>
              <a:rPr lang="zh-CN" altLang="en-US" sz="1100" dirty="0"/>
              <a:t>交易</a:t>
            </a:r>
            <a:r>
              <a:rPr lang="en-US" altLang="zh-CN" sz="1100" dirty="0"/>
              <a:t>B +</a:t>
            </a:r>
            <a:endParaRPr lang="zh-CN" altLang="en-US" sz="1100" dirty="0"/>
          </a:p>
        </p:txBody>
      </p:sp>
      <p:pic>
        <p:nvPicPr>
          <p:cNvPr id="36" name="图形 35" descr="钱 纯色填充"/>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flipH="1">
            <a:off x="2682072" y="2564131"/>
            <a:ext cx="265586" cy="265586"/>
          </a:xfrm>
          <a:prstGeom prst="rect">
            <a:avLst/>
          </a:prstGeom>
        </p:spPr>
      </p:pic>
      <p:pic>
        <p:nvPicPr>
          <p:cNvPr id="47" name="图形 46" descr="关闭 纯色填充"/>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274652" y="2417003"/>
            <a:ext cx="265586" cy="265586"/>
          </a:xfrm>
          <a:prstGeom prst="rect">
            <a:avLst/>
          </a:prstGeom>
        </p:spPr>
      </p:pic>
      <p:pic>
        <p:nvPicPr>
          <p:cNvPr id="51" name="图形 50" descr="复选标记 纯色填充"/>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203735" y="2417003"/>
            <a:ext cx="265586" cy="265586"/>
          </a:xfrm>
          <a:prstGeom prst="rect">
            <a:avLst/>
          </a:prstGeom>
        </p:spPr>
      </p:pic>
      <p:grpSp>
        <p:nvGrpSpPr>
          <p:cNvPr id="101" name="组合 100"/>
          <p:cNvGrpSpPr/>
          <p:nvPr/>
        </p:nvGrpSpPr>
        <p:grpSpPr>
          <a:xfrm>
            <a:off x="1460623" y="4138613"/>
            <a:ext cx="8602180" cy="1908174"/>
            <a:chOff x="1460623" y="4228466"/>
            <a:chExt cx="8602180" cy="1908174"/>
          </a:xfrm>
        </p:grpSpPr>
        <p:sp>
          <p:nvSpPr>
            <p:cNvPr id="77" name="右箭头 76"/>
            <p:cNvSpPr/>
            <p:nvPr>
              <p:custDataLst>
                <p:tags r:id="rId23"/>
              </p:custDataLst>
            </p:nvPr>
          </p:nvSpPr>
          <p:spPr>
            <a:xfrm>
              <a:off x="5506720" y="493776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p:cNvCxnSpPr/>
            <p:nvPr/>
          </p:nvCxnSpPr>
          <p:spPr>
            <a:xfrm>
              <a:off x="1898106" y="4632432"/>
              <a:ext cx="0" cy="1504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080949" y="4582547"/>
              <a:ext cx="1" cy="1554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4318693" y="4623088"/>
              <a:ext cx="0" cy="1513552"/>
            </a:xfrm>
            <a:prstGeom prst="line">
              <a:avLst/>
            </a:prstGeom>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1460623" y="4302761"/>
              <a:ext cx="892175" cy="338554"/>
            </a:xfrm>
            <a:prstGeom prst="rect">
              <a:avLst/>
            </a:prstGeom>
            <a:noFill/>
          </p:spPr>
          <p:txBody>
            <a:bodyPr wrap="square" rtlCol="0">
              <a:spAutoFit/>
            </a:bodyPr>
            <a:lstStyle/>
            <a:p>
              <a:pPr algn="ctr"/>
              <a:r>
                <a:rPr lang="zh-CN" altLang="en-US" sz="1600" dirty="0"/>
                <a:t>用户</a:t>
              </a:r>
              <a:r>
                <a:rPr lang="en-US" altLang="zh-CN" sz="1600" dirty="0"/>
                <a:t>A</a:t>
              </a:r>
              <a:endParaRPr lang="zh-CN" altLang="en-US" sz="1600" dirty="0"/>
            </a:p>
          </p:txBody>
        </p:sp>
        <p:sp>
          <p:nvSpPr>
            <p:cNvPr id="64" name="文本框 63"/>
            <p:cNvSpPr txBox="1"/>
            <p:nvPr/>
          </p:nvSpPr>
          <p:spPr>
            <a:xfrm>
              <a:off x="2634862" y="4238852"/>
              <a:ext cx="892175" cy="338554"/>
            </a:xfrm>
            <a:prstGeom prst="rect">
              <a:avLst/>
            </a:prstGeom>
            <a:noFill/>
          </p:spPr>
          <p:txBody>
            <a:bodyPr wrap="square" rtlCol="0">
              <a:spAutoFit/>
            </a:bodyPr>
            <a:lstStyle/>
            <a:p>
              <a:pPr algn="ctr"/>
              <a:r>
                <a:rPr lang="zh-CN" altLang="en-US" sz="1600" dirty="0"/>
                <a:t>区块链</a:t>
              </a:r>
              <a:endParaRPr lang="zh-CN" altLang="en-US" sz="1600" dirty="0"/>
            </a:p>
          </p:txBody>
        </p:sp>
        <p:sp>
          <p:nvSpPr>
            <p:cNvPr id="65" name="文本框 64"/>
            <p:cNvSpPr txBox="1"/>
            <p:nvPr/>
          </p:nvSpPr>
          <p:spPr>
            <a:xfrm>
              <a:off x="3837981" y="4297751"/>
              <a:ext cx="892175" cy="338554"/>
            </a:xfrm>
            <a:prstGeom prst="rect">
              <a:avLst/>
            </a:prstGeom>
            <a:noFill/>
          </p:spPr>
          <p:txBody>
            <a:bodyPr wrap="square" rtlCol="0">
              <a:spAutoFit/>
            </a:bodyPr>
            <a:lstStyle/>
            <a:p>
              <a:pPr algn="ctr"/>
              <a:r>
                <a:rPr lang="zh-CN" altLang="en-US" sz="1600" dirty="0"/>
                <a:t>用户</a:t>
              </a:r>
              <a:r>
                <a:rPr lang="en-US" altLang="zh-CN" sz="1600" dirty="0"/>
                <a:t>B</a:t>
              </a:r>
              <a:endParaRPr lang="zh-CN" altLang="en-US" sz="1600" dirty="0"/>
            </a:p>
          </p:txBody>
        </p:sp>
        <p:cxnSp>
          <p:nvCxnSpPr>
            <p:cNvPr id="69" name="直接箭头连接符 68"/>
            <p:cNvCxnSpPr/>
            <p:nvPr/>
          </p:nvCxnSpPr>
          <p:spPr>
            <a:xfrm>
              <a:off x="1939381" y="5016401"/>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文本框 71"/>
            <p:cNvSpPr txBox="1"/>
            <p:nvPr/>
          </p:nvSpPr>
          <p:spPr>
            <a:xfrm>
              <a:off x="2032450" y="4744700"/>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endParaRPr lang="zh-CN" altLang="en-US" sz="1200" dirty="0"/>
            </a:p>
          </p:txBody>
        </p:sp>
        <p:cxnSp>
          <p:nvCxnSpPr>
            <p:cNvPr id="79" name="直接箭头连接符 78"/>
            <p:cNvCxnSpPr/>
            <p:nvPr/>
          </p:nvCxnSpPr>
          <p:spPr>
            <a:xfrm>
              <a:off x="3129359" y="5710344"/>
              <a:ext cx="1154709"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80" name="文本框 79"/>
            <p:cNvSpPr txBox="1"/>
            <p:nvPr/>
          </p:nvSpPr>
          <p:spPr>
            <a:xfrm>
              <a:off x="3248024" y="5424001"/>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后</a:t>
              </a:r>
              <a:endParaRPr lang="zh-CN" altLang="en-US" sz="1200" dirty="0"/>
            </a:p>
          </p:txBody>
        </p:sp>
        <p:cxnSp>
          <p:nvCxnSpPr>
            <p:cNvPr id="86" name="直接连接符 85"/>
            <p:cNvCxnSpPr/>
            <p:nvPr/>
          </p:nvCxnSpPr>
          <p:spPr>
            <a:xfrm>
              <a:off x="7230753" y="4622046"/>
              <a:ext cx="0" cy="1504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8413596" y="4572161"/>
              <a:ext cx="1" cy="1554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9651340" y="4612702"/>
              <a:ext cx="0" cy="1513552"/>
            </a:xfrm>
            <a:prstGeom prst="line">
              <a:avLst/>
            </a:prstGeom>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6793270" y="4292375"/>
              <a:ext cx="892175" cy="338554"/>
            </a:xfrm>
            <a:prstGeom prst="rect">
              <a:avLst/>
            </a:prstGeom>
            <a:noFill/>
          </p:spPr>
          <p:txBody>
            <a:bodyPr wrap="square" rtlCol="0">
              <a:spAutoFit/>
            </a:bodyPr>
            <a:lstStyle/>
            <a:p>
              <a:pPr algn="ctr"/>
              <a:r>
                <a:rPr lang="zh-CN" altLang="en-US" sz="1600" dirty="0"/>
                <a:t>用户</a:t>
              </a:r>
              <a:r>
                <a:rPr lang="en-US" altLang="zh-CN" sz="1600" dirty="0"/>
                <a:t>A</a:t>
              </a:r>
              <a:endParaRPr lang="zh-CN" altLang="en-US" sz="1600" dirty="0"/>
            </a:p>
          </p:txBody>
        </p:sp>
        <p:sp>
          <p:nvSpPr>
            <p:cNvPr id="90" name="文本框 89"/>
            <p:cNvSpPr txBox="1"/>
            <p:nvPr/>
          </p:nvSpPr>
          <p:spPr>
            <a:xfrm>
              <a:off x="7967509" y="4228466"/>
              <a:ext cx="892175" cy="338554"/>
            </a:xfrm>
            <a:prstGeom prst="rect">
              <a:avLst/>
            </a:prstGeom>
            <a:noFill/>
          </p:spPr>
          <p:txBody>
            <a:bodyPr wrap="square" rtlCol="0">
              <a:spAutoFit/>
            </a:bodyPr>
            <a:lstStyle/>
            <a:p>
              <a:pPr algn="ctr"/>
              <a:r>
                <a:rPr lang="zh-CN" altLang="en-US" sz="1600" dirty="0"/>
                <a:t>区块链</a:t>
              </a:r>
              <a:endParaRPr lang="zh-CN" altLang="en-US" sz="1600" dirty="0"/>
            </a:p>
          </p:txBody>
        </p:sp>
        <p:sp>
          <p:nvSpPr>
            <p:cNvPr id="91" name="文本框 90"/>
            <p:cNvSpPr txBox="1"/>
            <p:nvPr/>
          </p:nvSpPr>
          <p:spPr>
            <a:xfrm>
              <a:off x="9170628" y="4287365"/>
              <a:ext cx="892175" cy="338554"/>
            </a:xfrm>
            <a:prstGeom prst="rect">
              <a:avLst/>
            </a:prstGeom>
            <a:noFill/>
          </p:spPr>
          <p:txBody>
            <a:bodyPr wrap="square" rtlCol="0">
              <a:spAutoFit/>
            </a:bodyPr>
            <a:lstStyle/>
            <a:p>
              <a:pPr algn="ctr"/>
              <a:r>
                <a:rPr lang="zh-CN" altLang="en-US" sz="1600" dirty="0"/>
                <a:t>用户</a:t>
              </a:r>
              <a:r>
                <a:rPr lang="en-US" altLang="zh-CN" sz="1600" dirty="0"/>
                <a:t>B</a:t>
              </a:r>
              <a:endParaRPr lang="zh-CN" altLang="en-US" sz="1600" dirty="0"/>
            </a:p>
          </p:txBody>
        </p:sp>
        <p:cxnSp>
          <p:nvCxnSpPr>
            <p:cNvPr id="92" name="直接箭头连接符 91"/>
            <p:cNvCxnSpPr/>
            <p:nvPr/>
          </p:nvCxnSpPr>
          <p:spPr>
            <a:xfrm>
              <a:off x="7272028" y="5006015"/>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文本框 92"/>
            <p:cNvSpPr txBox="1"/>
            <p:nvPr/>
          </p:nvSpPr>
          <p:spPr>
            <a:xfrm>
              <a:off x="7365097" y="4734314"/>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endParaRPr lang="zh-CN" altLang="en-US" sz="1200" dirty="0"/>
            </a:p>
          </p:txBody>
        </p:sp>
        <p:cxnSp>
          <p:nvCxnSpPr>
            <p:cNvPr id="94" name="直接箭头连接符 93"/>
            <p:cNvCxnSpPr/>
            <p:nvPr/>
          </p:nvCxnSpPr>
          <p:spPr>
            <a:xfrm>
              <a:off x="8467716" y="5710344"/>
              <a:ext cx="1154709"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95" name="文本框 94"/>
            <p:cNvSpPr txBox="1"/>
            <p:nvPr/>
          </p:nvSpPr>
          <p:spPr>
            <a:xfrm>
              <a:off x="8586381" y="5424001"/>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后</a:t>
              </a:r>
              <a:endParaRPr lang="zh-CN" altLang="en-US" sz="1200" dirty="0"/>
            </a:p>
          </p:txBody>
        </p:sp>
        <p:cxnSp>
          <p:nvCxnSpPr>
            <p:cNvPr id="96" name="直接箭头连接符 95"/>
            <p:cNvCxnSpPr/>
            <p:nvPr/>
          </p:nvCxnSpPr>
          <p:spPr>
            <a:xfrm>
              <a:off x="7283018" y="5511793"/>
              <a:ext cx="10923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7" name="文本框 96"/>
            <p:cNvSpPr txBox="1"/>
            <p:nvPr/>
          </p:nvSpPr>
          <p:spPr>
            <a:xfrm>
              <a:off x="7376087" y="5240092"/>
              <a:ext cx="892175" cy="276999"/>
            </a:xfrm>
            <a:prstGeom prst="rect">
              <a:avLst/>
            </a:prstGeom>
            <a:noFill/>
          </p:spPr>
          <p:txBody>
            <a:bodyPr wrap="square" rtlCol="0">
              <a:spAutoFit/>
            </a:bodyPr>
            <a:lstStyle/>
            <a:p>
              <a:r>
                <a:rPr lang="zh-CN" altLang="en-US" sz="1200" dirty="0"/>
                <a:t>在时间</a:t>
              </a:r>
              <a:r>
                <a:rPr lang="en-US" altLang="zh-CN" sz="1200" dirty="0"/>
                <a:t>T</a:t>
              </a:r>
              <a:r>
                <a:rPr lang="zh-CN" altLang="en-US" sz="1200" dirty="0"/>
                <a:t>前</a:t>
              </a:r>
              <a:endParaRPr lang="zh-CN" altLang="en-US" sz="1200" dirty="0"/>
            </a:p>
          </p:txBody>
        </p:sp>
        <p:sp>
          <p:nvSpPr>
            <p:cNvPr id="98" name="文本框 97"/>
            <p:cNvSpPr txBox="1"/>
            <p:nvPr/>
          </p:nvSpPr>
          <p:spPr>
            <a:xfrm>
              <a:off x="7303420" y="4913682"/>
              <a:ext cx="1037509" cy="369332"/>
            </a:xfrm>
            <a:prstGeom prst="rect">
              <a:avLst/>
            </a:prstGeom>
            <a:noFill/>
          </p:spPr>
          <p:txBody>
            <a:bodyPr wrap="square" rtlCol="0">
              <a:spAutoFit/>
            </a:bodyPr>
            <a:lstStyle/>
            <a:p>
              <a:pPr algn="ctr"/>
              <a:r>
                <a:rPr lang="en-US" altLang="zh-CN" dirty="0"/>
                <a:t>…</a:t>
              </a:r>
              <a:endParaRPr lang="zh-CN" altLang="en-US" dirty="0"/>
            </a:p>
          </p:txBody>
        </p:sp>
        <p:pic>
          <p:nvPicPr>
            <p:cNvPr id="99" name="图形 98" descr="关闭 纯色填充"/>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28538" y="4871143"/>
              <a:ext cx="265586" cy="265586"/>
            </a:xfrm>
            <a:prstGeom prst="rect">
              <a:avLst/>
            </a:prstGeom>
          </p:spPr>
        </p:pic>
        <p:pic>
          <p:nvPicPr>
            <p:cNvPr id="100" name="图形 99" descr="关闭 纯色填充"/>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28538" y="5377495"/>
              <a:ext cx="265586" cy="265586"/>
            </a:xfrm>
            <a:prstGeom prst="rect">
              <a:avLst/>
            </a:prstGeom>
          </p:spPr>
        </p:pic>
      </p:grpSp>
      <p:sp>
        <p:nvSpPr>
          <p:cNvPr id="11" name="文本框 10"/>
          <p:cNvSpPr txBox="1"/>
          <p:nvPr/>
        </p:nvSpPr>
        <p:spPr>
          <a:xfrm>
            <a:off x="11736779" y="6499761"/>
            <a:ext cx="455221" cy="369332"/>
          </a:xfrm>
          <a:prstGeom prst="rect">
            <a:avLst/>
          </a:prstGeom>
          <a:noFill/>
        </p:spPr>
        <p:txBody>
          <a:bodyPr wrap="square" rtlCol="0">
            <a:spAutoFit/>
          </a:bodyPr>
          <a:lstStyle/>
          <a:p>
            <a:pPr algn="ctr"/>
            <a:r>
              <a:rPr lang="en-US" altLang="zh-CN" dirty="0"/>
              <a:t>15</a:t>
            </a:r>
            <a:endParaRPr lang="zh-CN" altLang="en-US" dirty="0"/>
          </a:p>
        </p:txBody>
      </p:sp>
    </p:spTree>
    <p:custDataLst>
      <p:tags r:id="rId24"/>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73" grpId="0"/>
      <p:bldP spid="76" grpId="0"/>
      <p:bldP spid="28" grpId="0"/>
      <p:bldP spid="2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梯形 145"/>
          <p:cNvSpPr/>
          <p:nvPr>
            <p:custDataLst>
              <p:tags r:id="rId1"/>
            </p:custDataLst>
          </p:nvPr>
        </p:nvSpPr>
        <p:spPr>
          <a:xfrm rot="16200000">
            <a:off x="5601335" y="-22225"/>
            <a:ext cx="2843530" cy="1033907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梯形 144"/>
          <p:cNvSpPr/>
          <p:nvPr>
            <p:custDataLst>
              <p:tags r:id="rId2"/>
            </p:custDataLst>
          </p:nvPr>
        </p:nvSpPr>
        <p:spPr>
          <a:xfrm rot="16200000">
            <a:off x="5336540" y="-3150235"/>
            <a:ext cx="2021205" cy="11691620"/>
          </a:xfrm>
          <a:prstGeom prst="trapezoid">
            <a:avLst/>
          </a:prstGeom>
          <a:gradFill>
            <a:gsLst>
              <a:gs pos="0">
                <a:srgbClr val="F2F2F2"/>
              </a:gs>
              <a:gs pos="100000">
                <a:schemeClr val="bg1">
                  <a:lumMod val="0"/>
                  <a:lumOff val="100000"/>
                  <a:alpha val="48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a:stCxn id="130" idx="6"/>
            <a:endCxn id="135" idx="2"/>
          </p:cNvCxnSpPr>
          <p:nvPr>
            <p:custDataLst>
              <p:tags r:id="rId3"/>
            </p:custDataLst>
          </p:nvPr>
        </p:nvCxnSpPr>
        <p:spPr>
          <a:xfrm flipV="1">
            <a:off x="8378839" y="3706178"/>
            <a:ext cx="2064371" cy="1936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custDataLst>
              <p:tags r:id="rId4"/>
            </p:custDataLst>
          </p:nvPr>
        </p:nvCxnSpPr>
        <p:spPr>
          <a:xfrm flipV="1">
            <a:off x="10528300" y="3702050"/>
            <a:ext cx="0" cy="194950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5"/>
            </p:custDataLst>
          </p:nvPr>
        </p:nvCxnSpPr>
        <p:spPr>
          <a:xfrm flipV="1">
            <a:off x="8293749" y="2085656"/>
            <a:ext cx="0" cy="164020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肘形连接符 127"/>
          <p:cNvCxnSpPr/>
          <p:nvPr>
            <p:custDataLst>
              <p:tags r:id="rId6"/>
            </p:custDataLst>
          </p:nvPr>
        </p:nvCxnSpPr>
        <p:spPr>
          <a:xfrm rot="16200000" flipH="1">
            <a:off x="6190864" y="4613342"/>
            <a:ext cx="1559700" cy="3"/>
          </a:xfrm>
          <a:prstGeom prst="bentConnector3">
            <a:avLst>
              <a:gd name="adj1" fmla="val 50000"/>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椭圆 9"/>
          <p:cNvSpPr/>
          <p:nvPr>
            <p:custDataLst>
              <p:tags r:id="rId7"/>
            </p:custDataLst>
          </p:nvPr>
        </p:nvSpPr>
        <p:spPr>
          <a:xfrm>
            <a:off x="0"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8"/>
            </p:custDataLst>
          </p:nvPr>
        </p:nvSpPr>
        <p:spPr>
          <a:xfrm>
            <a:off x="221615" y="366649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9"/>
            </p:custDataLst>
          </p:nvPr>
        </p:nvSpPr>
        <p:spPr>
          <a:xfrm>
            <a:off x="664845"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custDataLst>
              <p:tags r:id="rId10"/>
            </p:custDataLst>
          </p:nvPr>
        </p:nvSpPr>
        <p:spPr>
          <a:xfrm>
            <a:off x="939800" y="366649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1"/>
            </p:custDataLst>
          </p:nvPr>
        </p:nvSpPr>
        <p:spPr>
          <a:xfrm>
            <a:off x="1161415" y="366712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12"/>
            </p:custDataLst>
          </p:nvPr>
        </p:nvSpPr>
        <p:spPr>
          <a:xfrm>
            <a:off x="1383030" y="366776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3"/>
            </p:custDataLst>
          </p:nvPr>
        </p:nvSpPr>
        <p:spPr>
          <a:xfrm>
            <a:off x="1604645" y="3668395"/>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custDataLst>
              <p:tags r:id="rId14"/>
            </p:custDataLst>
          </p:nvPr>
        </p:nvSpPr>
        <p:spPr>
          <a:xfrm>
            <a:off x="18262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5"/>
            </p:custDataLst>
          </p:nvPr>
        </p:nvSpPr>
        <p:spPr>
          <a:xfrm>
            <a:off x="20478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6"/>
            </p:custDataLst>
          </p:nvPr>
        </p:nvSpPr>
        <p:spPr>
          <a:xfrm>
            <a:off x="22694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custDataLst>
              <p:tags r:id="rId17"/>
            </p:custDataLst>
          </p:nvPr>
        </p:nvSpPr>
        <p:spPr>
          <a:xfrm>
            <a:off x="24911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18"/>
            </p:custDataLst>
          </p:nvPr>
        </p:nvSpPr>
        <p:spPr>
          <a:xfrm>
            <a:off x="27127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9"/>
            </p:custDataLst>
          </p:nvPr>
        </p:nvSpPr>
        <p:spPr>
          <a:xfrm>
            <a:off x="29343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custDataLst>
              <p:tags r:id="rId20"/>
            </p:custDataLst>
          </p:nvPr>
        </p:nvSpPr>
        <p:spPr>
          <a:xfrm>
            <a:off x="31559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21"/>
            </p:custDataLst>
          </p:nvPr>
        </p:nvSpPr>
        <p:spPr>
          <a:xfrm>
            <a:off x="40424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22"/>
            </p:custDataLst>
          </p:nvPr>
        </p:nvSpPr>
        <p:spPr>
          <a:xfrm>
            <a:off x="42640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23"/>
            </p:custDataLst>
          </p:nvPr>
        </p:nvSpPr>
        <p:spPr>
          <a:xfrm>
            <a:off x="44856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24"/>
            </p:custDataLst>
          </p:nvPr>
        </p:nvSpPr>
        <p:spPr>
          <a:xfrm>
            <a:off x="47072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25"/>
            </p:custDataLst>
          </p:nvPr>
        </p:nvSpPr>
        <p:spPr>
          <a:xfrm>
            <a:off x="49288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custDataLst>
              <p:tags r:id="rId26"/>
            </p:custDataLst>
          </p:nvPr>
        </p:nvSpPr>
        <p:spPr>
          <a:xfrm>
            <a:off x="537210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custDataLst>
              <p:tags r:id="rId27"/>
            </p:custDataLst>
          </p:nvPr>
        </p:nvSpPr>
        <p:spPr>
          <a:xfrm>
            <a:off x="55937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28"/>
            </p:custDataLst>
          </p:nvPr>
        </p:nvSpPr>
        <p:spPr>
          <a:xfrm>
            <a:off x="58153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custDataLst>
              <p:tags r:id="rId29"/>
            </p:custDataLst>
          </p:nvPr>
        </p:nvSpPr>
        <p:spPr>
          <a:xfrm>
            <a:off x="62585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custDataLst>
              <p:tags r:id="rId30"/>
            </p:custDataLst>
          </p:nvPr>
        </p:nvSpPr>
        <p:spPr>
          <a:xfrm>
            <a:off x="64801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custDataLst>
              <p:tags r:id="rId31"/>
            </p:custDataLst>
          </p:nvPr>
        </p:nvSpPr>
        <p:spPr>
          <a:xfrm>
            <a:off x="67017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custDataLst>
              <p:tags r:id="rId32"/>
            </p:custDataLst>
          </p:nvPr>
        </p:nvSpPr>
        <p:spPr>
          <a:xfrm>
            <a:off x="71450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33"/>
            </p:custDataLst>
          </p:nvPr>
        </p:nvSpPr>
        <p:spPr>
          <a:xfrm>
            <a:off x="73666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34"/>
            </p:custDataLst>
          </p:nvPr>
        </p:nvSpPr>
        <p:spPr>
          <a:xfrm>
            <a:off x="75882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custDataLst>
              <p:tags r:id="rId35"/>
            </p:custDataLst>
          </p:nvPr>
        </p:nvSpPr>
        <p:spPr>
          <a:xfrm>
            <a:off x="780986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custDataLst>
              <p:tags r:id="rId36"/>
            </p:custDataLst>
          </p:nvPr>
        </p:nvSpPr>
        <p:spPr>
          <a:xfrm>
            <a:off x="803148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37"/>
            </p:custDataLst>
          </p:nvPr>
        </p:nvSpPr>
        <p:spPr>
          <a:xfrm>
            <a:off x="847471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38"/>
            </p:custDataLst>
          </p:nvPr>
        </p:nvSpPr>
        <p:spPr>
          <a:xfrm>
            <a:off x="869632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custDataLst>
              <p:tags r:id="rId39"/>
            </p:custDataLst>
          </p:nvPr>
        </p:nvSpPr>
        <p:spPr>
          <a:xfrm>
            <a:off x="891794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40"/>
            </p:custDataLst>
          </p:nvPr>
        </p:nvSpPr>
        <p:spPr>
          <a:xfrm>
            <a:off x="913955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41"/>
            </p:custDataLst>
          </p:nvPr>
        </p:nvSpPr>
        <p:spPr>
          <a:xfrm>
            <a:off x="936117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custDataLst>
              <p:tags r:id="rId42"/>
            </p:custDataLst>
          </p:nvPr>
        </p:nvSpPr>
        <p:spPr>
          <a:xfrm>
            <a:off x="958278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custDataLst>
              <p:tags r:id="rId43"/>
            </p:custDataLst>
          </p:nvPr>
        </p:nvSpPr>
        <p:spPr>
          <a:xfrm>
            <a:off x="8284224" y="3688396"/>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custDataLst>
              <p:tags r:id="rId44"/>
            </p:custDataLst>
          </p:nvPr>
        </p:nvSpPr>
        <p:spPr>
          <a:xfrm>
            <a:off x="1002601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custDataLst>
              <p:tags r:id="rId45"/>
            </p:custDataLst>
          </p:nvPr>
        </p:nvSpPr>
        <p:spPr>
          <a:xfrm>
            <a:off x="102476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custDataLst>
              <p:tags r:id="rId46"/>
            </p:custDataLst>
          </p:nvPr>
        </p:nvSpPr>
        <p:spPr>
          <a:xfrm>
            <a:off x="1046924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custDataLst>
              <p:tags r:id="rId47"/>
            </p:custDataLst>
          </p:nvPr>
        </p:nvSpPr>
        <p:spPr>
          <a:xfrm>
            <a:off x="1069086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custDataLst>
              <p:tags r:id="rId48"/>
            </p:custDataLst>
          </p:nvPr>
        </p:nvSpPr>
        <p:spPr>
          <a:xfrm>
            <a:off x="1091247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custDataLst>
              <p:tags r:id="rId49"/>
            </p:custDataLst>
          </p:nvPr>
        </p:nvSpPr>
        <p:spPr>
          <a:xfrm>
            <a:off x="1113409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custDataLst>
              <p:tags r:id="rId50"/>
            </p:custDataLst>
          </p:nvPr>
        </p:nvSpPr>
        <p:spPr>
          <a:xfrm>
            <a:off x="1135570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custDataLst>
              <p:tags r:id="rId51"/>
            </p:custDataLst>
          </p:nvPr>
        </p:nvSpPr>
        <p:spPr>
          <a:xfrm>
            <a:off x="1157732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custDataLst>
              <p:tags r:id="rId52"/>
            </p:custDataLst>
          </p:nvPr>
        </p:nvSpPr>
        <p:spPr>
          <a:xfrm>
            <a:off x="11798935"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custDataLst>
              <p:tags r:id="rId53"/>
            </p:custDataLst>
          </p:nvPr>
        </p:nvSpPr>
        <p:spPr>
          <a:xfrm>
            <a:off x="1202055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8" name="直接连接符 97"/>
          <p:cNvCxnSpPr>
            <a:stCxn id="41" idx="0"/>
          </p:cNvCxnSpPr>
          <p:nvPr>
            <p:custDataLst>
              <p:tags r:id="rId54"/>
            </p:custDataLst>
          </p:nvPr>
        </p:nvCxnSpPr>
        <p:spPr>
          <a:xfrm flipV="1">
            <a:off x="506095" y="1845310"/>
            <a:ext cx="0" cy="1780540"/>
          </a:xfrm>
          <a:prstGeom prst="line">
            <a:avLst/>
          </a:prstGeom>
          <a:ln w="12700">
            <a:solidFill>
              <a:schemeClr val="bg1">
                <a:lumMod val="50000"/>
              </a:schemeClr>
            </a:solidFill>
          </a:ln>
          <a:effectLst>
            <a:glow rad="63500">
              <a:schemeClr val="bg1">
                <a:lumMod val="9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9" name="椭圆 98"/>
          <p:cNvSpPr/>
          <p:nvPr>
            <p:custDataLst>
              <p:tags r:id="rId55"/>
            </p:custDataLst>
          </p:nvPr>
        </p:nvSpPr>
        <p:spPr>
          <a:xfrm>
            <a:off x="456565" y="290766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custDataLst>
              <p:tags r:id="rId56"/>
            </p:custDataLst>
          </p:nvPr>
        </p:nvSpPr>
        <p:spPr>
          <a:xfrm>
            <a:off x="499110" y="1974101"/>
            <a:ext cx="1862453" cy="1308050"/>
          </a:xfrm>
          <a:prstGeom prst="rect">
            <a:avLst/>
          </a:prstGeom>
          <a:noFill/>
        </p:spPr>
        <p:txBody>
          <a:bodyPr wrap="square" rtlCol="0">
            <a:spAutoFit/>
          </a:bodyPr>
          <a:lstStyle/>
          <a:p>
            <a:pPr marL="171450" indent="-171450" fontAlgn="auto">
              <a:spcBef>
                <a:spcPts val="600"/>
              </a:spcBef>
              <a:spcAft>
                <a:spcPts val="600"/>
              </a:spcAft>
              <a:buFont typeface="Arial" panose="020B0604020202020204" pitchFamily="34" charset="0"/>
              <a:buChar char="•"/>
            </a:pPr>
            <a:r>
              <a:rPr lang="zh-CN" altLang="en-US" sz="1200" dirty="0">
                <a:solidFill>
                  <a:schemeClr val="tx1">
                    <a:lumMod val="65000"/>
                    <a:lumOff val="35000"/>
                  </a:schemeClr>
                </a:solidFill>
              </a:rPr>
              <a:t>理性矿工模型下，通过部署贿赂合约延迟特定交易的攻击行为</a:t>
            </a:r>
            <a:endParaRPr lang="zh-CN" altLang="en-US" sz="1200" dirty="0">
              <a:solidFill>
                <a:schemeClr val="tx1">
                  <a:lumMod val="65000"/>
                  <a:lumOff val="35000"/>
                </a:schemeClr>
              </a:solidFill>
            </a:endParaRPr>
          </a:p>
          <a:p>
            <a:pPr indent="0">
              <a:buFont typeface="Arial" panose="020B0604020202020204" pitchFamily="34" charset="0"/>
              <a:buNone/>
            </a:pPr>
            <a:r>
              <a:rPr lang="zh-CN" altLang="en-US" b="1" dirty="0">
                <a:solidFill>
                  <a:schemeClr val="tx1">
                    <a:lumMod val="65000"/>
                    <a:lumOff val="35000"/>
                  </a:schemeClr>
                </a:solidFill>
              </a:rPr>
              <a:t>  </a:t>
            </a:r>
            <a:r>
              <a:rPr lang="en-US" altLang="zh-CN" b="1" dirty="0">
                <a:solidFill>
                  <a:schemeClr val="tx1">
                    <a:lumMod val="65000"/>
                    <a:lumOff val="35000"/>
                  </a:schemeClr>
                </a:solidFill>
              </a:rPr>
              <a:t>Bride Attack</a:t>
            </a:r>
            <a:endParaRPr lang="en-US" altLang="zh-CN" b="1" dirty="0">
              <a:solidFill>
                <a:schemeClr val="tx1">
                  <a:lumMod val="65000"/>
                  <a:lumOff val="35000"/>
                </a:schemeClr>
              </a:solidFill>
            </a:endParaRPr>
          </a:p>
          <a:p>
            <a:pPr indent="0">
              <a:buFont typeface="Arial" panose="020B0604020202020204" pitchFamily="34" charset="0"/>
              <a:buNone/>
            </a:pPr>
            <a:r>
              <a:rPr lang="en-US" altLang="zh-CN" b="1" dirty="0">
                <a:solidFill>
                  <a:schemeClr val="tx1">
                    <a:lumMod val="65000"/>
                    <a:lumOff val="35000"/>
                  </a:schemeClr>
                </a:solidFill>
              </a:rPr>
              <a:t>  EuroS&amp;PW</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chemeClr val="tx1">
                    <a:lumMod val="65000"/>
                    <a:lumOff val="35000"/>
                  </a:schemeClr>
                </a:solidFill>
              </a:rPr>
              <a:t>19</a:t>
            </a:r>
            <a:endParaRPr lang="en-US" altLang="zh-CN" b="1" dirty="0">
              <a:solidFill>
                <a:schemeClr val="tx1">
                  <a:lumMod val="65000"/>
                  <a:lumOff val="35000"/>
                </a:schemeClr>
              </a:solidFill>
            </a:endParaRPr>
          </a:p>
        </p:txBody>
      </p:sp>
      <p:cxnSp>
        <p:nvCxnSpPr>
          <p:cNvPr id="103" name="直接连接符 102"/>
          <p:cNvCxnSpPr/>
          <p:nvPr>
            <p:custDataLst>
              <p:tags r:id="rId57"/>
            </p:custDataLst>
          </p:nvPr>
        </p:nvCxnSpPr>
        <p:spPr>
          <a:xfrm flipH="1" flipV="1">
            <a:off x="1854200" y="3786505"/>
            <a:ext cx="19367" cy="2054225"/>
          </a:xfrm>
          <a:prstGeom prst="line">
            <a:avLst/>
          </a:prstGeom>
          <a:ln w="12700">
            <a:solidFill>
              <a:schemeClr val="bg1">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2" name="椭圆 101"/>
          <p:cNvSpPr/>
          <p:nvPr>
            <p:custDataLst>
              <p:tags r:id="rId58"/>
            </p:custDataLst>
          </p:nvPr>
        </p:nvSpPr>
        <p:spPr>
          <a:xfrm>
            <a:off x="1778000"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文本框 103"/>
          <p:cNvSpPr txBox="1"/>
          <p:nvPr>
            <p:custDataLst>
              <p:tags r:id="rId59"/>
            </p:custDataLst>
          </p:nvPr>
        </p:nvSpPr>
        <p:spPr>
          <a:xfrm>
            <a:off x="1853564" y="3872779"/>
            <a:ext cx="2547946" cy="707886"/>
          </a:xfrm>
          <a:prstGeom prst="rect">
            <a:avLst/>
          </a:prstGeom>
          <a:noFill/>
        </p:spPr>
        <p:txBody>
          <a:bodyPr wrap="square" rtlCol="0">
            <a:spAutoFit/>
          </a:bodyPr>
          <a:lstStyle/>
          <a:p>
            <a:r>
              <a:rPr lang="en-US" altLang="zh-CN" sz="2000" b="1" dirty="0">
                <a:solidFill>
                  <a:schemeClr val="tx1">
                    <a:lumMod val="65000"/>
                    <a:lumOff val="35000"/>
                  </a:schemeClr>
                </a:solidFill>
                <a:latin typeface="微软雅黑" panose="020B0503020204020204" charset="-122"/>
                <a:ea typeface="微软雅黑" panose="020B0503020204020204" charset="-122"/>
              </a:rPr>
              <a:t>SP</a:t>
            </a:r>
            <a:r>
              <a:rPr lang="en-US" altLang="zh-CN" sz="2000"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sz="2000" b="1" dirty="0">
                <a:solidFill>
                  <a:schemeClr val="tx1">
                    <a:lumMod val="65000"/>
                    <a:lumOff val="35000"/>
                  </a:schemeClr>
                </a:solidFill>
                <a:latin typeface="微软雅黑" panose="020B0503020204020204" charset="-122"/>
                <a:ea typeface="微软雅黑" panose="020B0503020204020204" charset="-122"/>
              </a:rPr>
              <a:t>21</a:t>
            </a:r>
            <a:endParaRPr lang="en-US" altLang="zh-CN" sz="2000" b="1" dirty="0">
              <a:solidFill>
                <a:schemeClr val="tx1">
                  <a:lumMod val="65000"/>
                  <a:lumOff val="35000"/>
                </a:schemeClr>
              </a:solidFill>
              <a:latin typeface="微软雅黑" panose="020B0503020204020204" charset="-122"/>
              <a:ea typeface="微软雅黑" panose="020B0503020204020204" charset="-122"/>
            </a:endParaRPr>
          </a:p>
          <a:p>
            <a:r>
              <a:rPr lang="en-US" altLang="zh-CN" sz="2000" b="1" dirty="0">
                <a:solidFill>
                  <a:schemeClr val="tx1">
                    <a:lumMod val="65000"/>
                    <a:lumOff val="35000"/>
                  </a:schemeClr>
                </a:solidFill>
                <a:latin typeface="微软雅黑" panose="020B0503020204020204" charset="-122"/>
                <a:ea typeface="微软雅黑" panose="020B0503020204020204" charset="-122"/>
              </a:rPr>
              <a:t>MAD-HTLC</a:t>
            </a:r>
            <a:endParaRPr lang="en-US" altLang="zh-CN" sz="2000" b="1" dirty="0">
              <a:solidFill>
                <a:schemeClr val="tx1">
                  <a:lumMod val="65000"/>
                  <a:lumOff val="35000"/>
                </a:schemeClr>
              </a:solidFill>
              <a:latin typeface="微软雅黑" panose="020B0503020204020204" charset="-122"/>
              <a:ea typeface="微软雅黑" panose="020B0503020204020204" charset="-122"/>
            </a:endParaRPr>
          </a:p>
        </p:txBody>
      </p:sp>
      <p:sp>
        <p:nvSpPr>
          <p:cNvPr id="105" name="文本框 104"/>
          <p:cNvSpPr txBox="1"/>
          <p:nvPr>
            <p:custDataLst>
              <p:tags r:id="rId60"/>
            </p:custDataLst>
          </p:nvPr>
        </p:nvSpPr>
        <p:spPr>
          <a:xfrm>
            <a:off x="1854200" y="4484370"/>
            <a:ext cx="2853052" cy="1357295"/>
          </a:xfrm>
          <a:prstGeom prst="rect">
            <a:avLst/>
          </a:prstGeom>
          <a:noFill/>
        </p:spPr>
        <p:txBody>
          <a:bodyPr wrap="square" rtlCol="0">
            <a:spAutoFit/>
          </a:bodyPr>
          <a:lstStyle/>
          <a:p>
            <a:pPr indent="0" algn="l">
              <a:spcBef>
                <a:spcPts val="600"/>
              </a:spcBef>
              <a:spcAft>
                <a:spcPts val="600"/>
              </a:spcAft>
              <a:buClrTx/>
              <a:buSzTx/>
              <a:buFont typeface="Arial" panose="020B0604020202020204" pitchFamily="34" charset="0"/>
              <a:buNone/>
            </a:pPr>
            <a:r>
              <a:rPr lang="zh-CN" altLang="en-US" b="1" dirty="0">
                <a:solidFill>
                  <a:schemeClr val="tx1">
                    <a:lumMod val="65000"/>
                    <a:lumOff val="35000"/>
                  </a:schemeClr>
                </a:solidFill>
                <a:sym typeface="+mn-ea"/>
              </a:rPr>
              <a:t>抗贿赂攻击的</a:t>
            </a:r>
            <a:r>
              <a:rPr lang="en-US" altLang="zh-CN" b="1" dirty="0">
                <a:solidFill>
                  <a:schemeClr val="tx1">
                    <a:lumMod val="65000"/>
                    <a:lumOff val="35000"/>
                  </a:schemeClr>
                </a:solidFill>
                <a:sym typeface="+mn-ea"/>
              </a:rPr>
              <a:t>HTLC-Spec</a:t>
            </a:r>
            <a:endParaRPr lang="zh-CN" altLang="en-US" dirty="0">
              <a:solidFill>
                <a:schemeClr val="tx1">
                  <a:lumMod val="65000"/>
                  <a:lumOff val="35000"/>
                </a:schemeClr>
              </a:solidFill>
            </a:endParaRP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抽象出哈希时间锁范式</a:t>
            </a:r>
            <a:r>
              <a:rPr lang="en-US" altLang="zh-CN" sz="1200" dirty="0">
                <a:solidFill>
                  <a:schemeClr val="tx1">
                    <a:lumMod val="65000"/>
                    <a:lumOff val="35000"/>
                  </a:schemeClr>
                </a:solidFill>
              </a:rPr>
              <a:t>HTLC-Spec</a:t>
            </a:r>
            <a:endParaRPr lang="en-US" altLang="zh-CN" sz="1200" dirty="0">
              <a:solidFill>
                <a:schemeClr val="tx1">
                  <a:lumMod val="65000"/>
                  <a:lumOff val="35000"/>
                </a:schemeClr>
              </a:solidFill>
            </a:endParaRP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抗贿赂攻击的交易结构</a:t>
            </a:r>
            <a:endParaRPr lang="en-US" altLang="zh-CN" sz="1200" dirty="0">
              <a:solidFill>
                <a:schemeClr val="tx1">
                  <a:lumMod val="65000"/>
                  <a:lumOff val="35000"/>
                </a:schemeClr>
              </a:solidFill>
            </a:endParaRPr>
          </a:p>
          <a:p>
            <a:pPr marL="171450" indent="-171450" algn="l" fontAlgn="auto">
              <a:lnSpc>
                <a:spcPct val="120000"/>
              </a:lnSpc>
              <a:spcBef>
                <a:spcPts val="0"/>
              </a:spcBef>
              <a:spcAft>
                <a:spcPts val="0"/>
              </a:spcAft>
              <a:buClrTx/>
              <a:buSzTx/>
              <a:buFont typeface="Arial" panose="020B0604020202020204" pitchFamily="34" charset="0"/>
              <a:buChar char="•"/>
            </a:pPr>
            <a:r>
              <a:rPr lang="zh-CN" altLang="en-US" sz="1200" dirty="0">
                <a:solidFill>
                  <a:schemeClr val="tx1">
                    <a:lumMod val="65000"/>
                    <a:lumOff val="35000"/>
                  </a:schemeClr>
                </a:solidFill>
              </a:rPr>
              <a:t>兼容于现有区块链系统</a:t>
            </a:r>
            <a:endParaRPr lang="zh-CN" altLang="en-US" sz="1200" dirty="0">
              <a:solidFill>
                <a:schemeClr val="tx1">
                  <a:lumMod val="65000"/>
                  <a:lumOff val="35000"/>
                </a:schemeClr>
              </a:solidFill>
            </a:endParaRPr>
          </a:p>
          <a:p>
            <a:pPr marL="171450" indent="-171450" algn="l" fontAlgn="auto">
              <a:spcBef>
                <a:spcPts val="0"/>
              </a:spcBef>
              <a:spcAft>
                <a:spcPts val="600"/>
              </a:spcAft>
              <a:buClrTx/>
              <a:buSzTx/>
              <a:buFont typeface="Arial" panose="020B0604020202020204" pitchFamily="34" charset="0"/>
              <a:buChar char="•"/>
            </a:pPr>
            <a:endParaRPr lang="zh-CN" altLang="en-US" sz="1600" b="1" dirty="0">
              <a:solidFill>
                <a:schemeClr val="tx1">
                  <a:lumMod val="65000"/>
                  <a:lumOff val="35000"/>
                </a:schemeClr>
              </a:solidFill>
            </a:endParaRPr>
          </a:p>
        </p:txBody>
      </p:sp>
      <p:sp>
        <p:nvSpPr>
          <p:cNvPr id="106" name="椭圆 105"/>
          <p:cNvSpPr/>
          <p:nvPr>
            <p:custDataLst>
              <p:tags r:id="rId61"/>
            </p:custDataLst>
          </p:nvPr>
        </p:nvSpPr>
        <p:spPr>
          <a:xfrm>
            <a:off x="1809115"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文本框 114"/>
          <p:cNvSpPr txBox="1"/>
          <p:nvPr>
            <p:custDataLst>
              <p:tags r:id="rId62"/>
            </p:custDataLst>
          </p:nvPr>
        </p:nvSpPr>
        <p:spPr>
          <a:xfrm>
            <a:off x="5206365" y="2596992"/>
            <a:ext cx="2476500" cy="646331"/>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He-HTLC</a:t>
            </a:r>
            <a:endParaRPr lang="en-US" altLang="zh-CN" b="1" dirty="0">
              <a:solidFill>
                <a:schemeClr val="tx1">
                  <a:lumMod val="65000"/>
                  <a:lumOff val="35000"/>
                </a:schemeClr>
              </a:solidFill>
              <a:latin typeface="微软雅黑" panose="020B0503020204020204" charset="-122"/>
              <a:ea typeface="微软雅黑" panose="020B0503020204020204" charset="-122"/>
              <a:sym typeface="+mn-ea"/>
            </a:endParaRP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NDSS'23</a:t>
            </a:r>
            <a:endParaRPr lang="en-US" altLang="zh-CN" b="1" dirty="0">
              <a:solidFill>
                <a:schemeClr val="tx1">
                  <a:lumMod val="65000"/>
                  <a:lumOff val="35000"/>
                </a:schemeClr>
              </a:solidFill>
              <a:latin typeface="微软雅黑" panose="020B0503020204020204" charset="-122"/>
              <a:ea typeface="微软雅黑" panose="020B0503020204020204" charset="-122"/>
            </a:endParaRPr>
          </a:p>
        </p:txBody>
      </p:sp>
      <p:sp>
        <p:nvSpPr>
          <p:cNvPr id="116" name="文本框 115"/>
          <p:cNvSpPr txBox="1"/>
          <p:nvPr>
            <p:custDataLst>
              <p:tags r:id="rId63"/>
            </p:custDataLst>
          </p:nvPr>
        </p:nvSpPr>
        <p:spPr>
          <a:xfrm>
            <a:off x="5164137" y="1930139"/>
            <a:ext cx="2188845" cy="736805"/>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抗贿赂攻击</a:t>
            </a:r>
            <a:r>
              <a:rPr lang="en-US" altLang="zh-CN" sz="1200" dirty="0">
                <a:solidFill>
                  <a:schemeClr val="tx1">
                    <a:lumMod val="65000"/>
                    <a:lumOff val="35000"/>
                  </a:schemeClr>
                </a:solidFill>
              </a:rPr>
              <a:t>+</a:t>
            </a:r>
            <a:r>
              <a:rPr lang="zh-CN" altLang="en-US" sz="1200" dirty="0">
                <a:solidFill>
                  <a:schemeClr val="tx1">
                    <a:lumMod val="65000"/>
                    <a:lumOff val="35000"/>
                  </a:schemeClr>
                </a:solidFill>
              </a:rPr>
              <a:t>反向贿赂攻击</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提出主动理性矿工模型</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更轻量级的</a:t>
            </a:r>
            <a:r>
              <a:rPr lang="en-US" altLang="zh-CN" sz="1200" dirty="0">
                <a:solidFill>
                  <a:schemeClr val="tx1">
                    <a:lumMod val="65000"/>
                    <a:lumOff val="35000"/>
                  </a:schemeClr>
                </a:solidFill>
              </a:rPr>
              <a:t>HTLC-Spec</a:t>
            </a:r>
            <a:endParaRPr sz="1200" dirty="0">
              <a:solidFill>
                <a:schemeClr val="tx1">
                  <a:lumMod val="65000"/>
                  <a:lumOff val="35000"/>
                </a:schemeClr>
              </a:solidFill>
            </a:endParaRPr>
          </a:p>
        </p:txBody>
      </p:sp>
      <p:sp>
        <p:nvSpPr>
          <p:cNvPr id="119" name="文本框 118"/>
          <p:cNvSpPr txBox="1"/>
          <p:nvPr>
            <p:custDataLst>
              <p:tags r:id="rId64"/>
            </p:custDataLst>
          </p:nvPr>
        </p:nvSpPr>
        <p:spPr>
          <a:xfrm>
            <a:off x="10551969" y="3904142"/>
            <a:ext cx="1209030" cy="645160"/>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CCS'24</a:t>
            </a:r>
            <a:endParaRPr lang="en-US" altLang="zh-CN" b="1" dirty="0">
              <a:solidFill>
                <a:schemeClr val="tx1">
                  <a:lumMod val="65000"/>
                  <a:lumOff val="35000"/>
                </a:schemeClr>
              </a:solidFill>
              <a:latin typeface="微软雅黑" panose="020B0503020204020204" charset="-122"/>
              <a:ea typeface="微软雅黑" panose="020B0503020204020204" charset="-122"/>
            </a:endParaRP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CRAB</a:t>
            </a:r>
            <a:endParaRPr lang="en-US" altLang="zh-CN" b="1" dirty="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20" name="文本框 119"/>
          <p:cNvSpPr txBox="1"/>
          <p:nvPr>
            <p:custDataLst>
              <p:tags r:id="rId65"/>
            </p:custDataLst>
          </p:nvPr>
        </p:nvSpPr>
        <p:spPr>
          <a:xfrm>
            <a:off x="10531516" y="4528251"/>
            <a:ext cx="1660484" cy="959622"/>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抗贿赂攻击和反向贿赂攻击的信道</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理性矿工、拜占庭节点模型</a:t>
            </a:r>
            <a:endParaRPr lang="zh-CN" altLang="en-US" sz="1200" dirty="0">
              <a:solidFill>
                <a:schemeClr val="tx1">
                  <a:lumMod val="65000"/>
                  <a:lumOff val="35000"/>
                </a:schemeClr>
              </a:solidFill>
            </a:endParaRPr>
          </a:p>
        </p:txBody>
      </p:sp>
      <p:sp>
        <p:nvSpPr>
          <p:cNvPr id="130" name="椭圆 129"/>
          <p:cNvSpPr/>
          <p:nvPr>
            <p:custDataLst>
              <p:tags r:id="rId66"/>
            </p:custDataLst>
          </p:nvPr>
        </p:nvSpPr>
        <p:spPr>
          <a:xfrm>
            <a:off x="8218184" y="3645216"/>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custDataLst>
              <p:tags r:id="rId67"/>
            </p:custDataLst>
          </p:nvPr>
        </p:nvSpPr>
        <p:spPr>
          <a:xfrm>
            <a:off x="8394721" y="2408205"/>
            <a:ext cx="2080852" cy="954107"/>
          </a:xfrm>
          <a:prstGeom prst="rect">
            <a:avLst/>
          </a:prstGeom>
          <a:noFill/>
        </p:spPr>
        <p:txBody>
          <a:bodyPr wrap="square" rtlCol="0">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Blockchain Bribing Attacks</a:t>
            </a:r>
            <a:endParaRPr lang="en-US" altLang="zh-CN" b="1" dirty="0">
              <a:solidFill>
                <a:schemeClr val="tx1">
                  <a:lumMod val="65000"/>
                  <a:lumOff val="35000"/>
                </a:schemeClr>
              </a:solidFill>
              <a:latin typeface="微软雅黑" panose="020B0503020204020204" charset="-122"/>
              <a:ea typeface="微软雅黑" panose="020B0503020204020204" charset="-122"/>
              <a:sym typeface="+mn-ea"/>
            </a:endParaRP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CCS'24</a:t>
            </a:r>
            <a:r>
              <a:rPr lang="en-US" altLang="zh-CN" sz="2000" b="1" dirty="0">
                <a:solidFill>
                  <a:schemeClr val="tx1">
                    <a:lumMod val="65000"/>
                    <a:lumOff val="35000"/>
                  </a:schemeClr>
                </a:solidFill>
                <a:latin typeface="微软雅黑" panose="020B0503020204020204" charset="-122"/>
                <a:ea typeface="微软雅黑" panose="020B0503020204020204" charset="-122"/>
                <a:sym typeface="+mn-ea"/>
              </a:rPr>
              <a:t> </a:t>
            </a:r>
            <a:endParaRPr lang="en-US" altLang="zh-CN" sz="2000" b="1" dirty="0">
              <a:solidFill>
                <a:schemeClr val="tx1">
                  <a:lumMod val="65000"/>
                  <a:lumOff val="35000"/>
                </a:schemeClr>
              </a:solidFill>
              <a:latin typeface="微软雅黑" panose="020B0503020204020204" charset="-122"/>
              <a:ea typeface="微软雅黑" panose="020B0503020204020204" charset="-122"/>
            </a:endParaRPr>
          </a:p>
        </p:txBody>
      </p:sp>
      <p:sp>
        <p:nvSpPr>
          <p:cNvPr id="133" name="文本框 132"/>
          <p:cNvSpPr txBox="1"/>
          <p:nvPr>
            <p:custDataLst>
              <p:tags r:id="rId68"/>
            </p:custDataLst>
          </p:nvPr>
        </p:nvSpPr>
        <p:spPr>
          <a:xfrm>
            <a:off x="8284224" y="1974532"/>
            <a:ext cx="1857375" cy="516423"/>
          </a:xfrm>
          <a:prstGeom prst="rect">
            <a:avLst/>
          </a:prstGeom>
          <a:noFill/>
        </p:spPr>
        <p:txBody>
          <a:bodyPr wrap="square" rtlCol="0">
            <a:spAutoFit/>
          </a:bodyPr>
          <a:lstStyle/>
          <a:p>
            <a:pPr marL="171450" indent="-171450">
              <a:lnSpc>
                <a:spcPct val="120000"/>
              </a:lnSpc>
              <a:buFont typeface="Arial" panose="020B0604020202020204" pitchFamily="34" charset="0"/>
              <a:buChar char="•"/>
            </a:pPr>
            <a:r>
              <a:rPr lang="en-US" altLang="zh-CN" sz="1200" dirty="0" err="1">
                <a:solidFill>
                  <a:schemeClr val="tx1">
                    <a:lumMod val="65000"/>
                    <a:lumOff val="35000"/>
                  </a:schemeClr>
                </a:solidFill>
              </a:rPr>
              <a:t>PoS</a:t>
            </a:r>
            <a:r>
              <a:rPr lang="zh-CN" altLang="en-US" sz="1200" dirty="0">
                <a:solidFill>
                  <a:schemeClr val="tx1">
                    <a:lumMod val="65000"/>
                    <a:lumOff val="35000"/>
                  </a:schemeClr>
                </a:solidFill>
              </a:rPr>
              <a:t>链贿赂攻击分析</a:t>
            </a:r>
            <a:endParaRPr lang="en-US" altLang="zh-CN" sz="1200" dirty="0">
              <a:solidFill>
                <a:schemeClr val="tx1">
                  <a:lumMod val="65000"/>
                  <a:lumOff val="35000"/>
                </a:schemeClr>
              </a:solidFill>
            </a:endParaRPr>
          </a:p>
          <a:p>
            <a:pPr marL="171450" indent="-171450">
              <a:lnSpc>
                <a:spcPct val="120000"/>
              </a:lnSpc>
              <a:buFont typeface="Arial" panose="020B0604020202020204" pitchFamily="34" charset="0"/>
              <a:buChar char="•"/>
            </a:pPr>
            <a:r>
              <a:rPr lang="zh-CN" altLang="en-US" sz="1200" dirty="0">
                <a:solidFill>
                  <a:schemeClr val="tx1">
                    <a:lumMod val="65000"/>
                    <a:lumOff val="35000"/>
                  </a:schemeClr>
                </a:solidFill>
              </a:rPr>
              <a:t>细化贿赂攻击分类</a:t>
            </a:r>
            <a:endParaRPr lang="zh-CN" sz="1200" dirty="0">
              <a:solidFill>
                <a:schemeClr val="tx1">
                  <a:lumMod val="65000"/>
                  <a:lumOff val="35000"/>
                </a:schemeClr>
              </a:solidFill>
            </a:endParaRPr>
          </a:p>
        </p:txBody>
      </p:sp>
      <p:sp>
        <p:nvSpPr>
          <p:cNvPr id="134" name="椭圆 133"/>
          <p:cNvSpPr/>
          <p:nvPr>
            <p:custDataLst>
              <p:tags r:id="rId69"/>
            </p:custDataLst>
          </p:nvPr>
        </p:nvSpPr>
        <p:spPr>
          <a:xfrm>
            <a:off x="8246124" y="2775266"/>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70"/>
            </p:custDataLst>
          </p:nvPr>
        </p:nvSpPr>
        <p:spPr>
          <a:xfrm>
            <a:off x="1044321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71"/>
            </p:custDataLst>
          </p:nvPr>
        </p:nvSpPr>
        <p:spPr>
          <a:xfrm>
            <a:off x="10490200" y="4338955"/>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72"/>
            </p:custDataLst>
          </p:nvPr>
        </p:nvSpPr>
        <p:spPr>
          <a:xfrm>
            <a:off x="443230" y="366903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73"/>
            </p:custDataLst>
          </p:nvPr>
        </p:nvSpPr>
        <p:spPr>
          <a:xfrm>
            <a:off x="425450" y="362585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custDataLst>
              <p:tags r:id="rId74"/>
            </p:custDataLst>
          </p:nvPr>
        </p:nvCxnSpPr>
        <p:spPr>
          <a:xfrm>
            <a:off x="3383280" y="3716655"/>
            <a:ext cx="488950" cy="0"/>
          </a:xfrm>
          <a:prstGeom prst="line">
            <a:avLst/>
          </a:prstGeom>
          <a:ln w="412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8" name="文本框 47"/>
          <p:cNvSpPr txBox="1"/>
          <p:nvPr>
            <p:custDataLst>
              <p:tags r:id="rId75"/>
            </p:custDataLst>
          </p:nvPr>
        </p:nvSpPr>
        <p:spPr>
          <a:xfrm>
            <a:off x="408304" y="949960"/>
            <a:ext cx="7623175" cy="461665"/>
          </a:xfrm>
          <a:prstGeom prst="rect">
            <a:avLst/>
          </a:prstGeom>
          <a:noFill/>
        </p:spPr>
        <p:txBody>
          <a:bodyPr wrap="square" rtlCol="0">
            <a:spAutoFit/>
          </a:bodyPr>
          <a:lstStyle/>
          <a:p>
            <a:pPr marL="457200" indent="-457200">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grpSp>
        <p:nvGrpSpPr>
          <p:cNvPr id="97" name="组合 96"/>
          <p:cNvGrpSpPr/>
          <p:nvPr/>
        </p:nvGrpSpPr>
        <p:grpSpPr>
          <a:xfrm>
            <a:off x="408305" y="-635"/>
            <a:ext cx="11783060" cy="950595"/>
            <a:chOff x="643" y="-1"/>
            <a:chExt cx="18556" cy="1497"/>
          </a:xfrm>
        </p:grpSpPr>
        <p:sp>
          <p:nvSpPr>
            <p:cNvPr id="107" name="矩形 106"/>
            <p:cNvSpPr/>
            <p:nvPr>
              <p:custDataLst>
                <p:tags r:id="rId76"/>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77"/>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78"/>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79"/>
              </p:custDataLst>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80"/>
              </p:custDataLst>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custDataLst>
                <p:tags r:id="rId81"/>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22" name="Picture 2" descr="C:\Program Files\Apache Software Foundation\Tomcat 6.0\webapps\topo1\images\sklois1 (2).jpg"/>
            <p:cNvPicPr>
              <a:picLocks noChangeAspect="1" noChangeArrowheads="1"/>
            </p:cNvPicPr>
            <p:nvPr>
              <p:custDataLst>
                <p:tags r:id="rId82"/>
              </p:custDataLst>
            </p:nvPr>
          </p:nvPicPr>
          <p:blipFill>
            <a:blip r:embed="rId83"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 name="等腰三角形 122"/>
            <p:cNvSpPr/>
            <p:nvPr>
              <p:custDataLst>
                <p:tags r:id="rId84"/>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p:custDataLst>
              <p:tags r:id="rId85"/>
            </p:custDataLst>
          </p:nvPr>
        </p:nvSpPr>
        <p:spPr>
          <a:xfrm>
            <a:off x="5126355" y="367157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custDataLst>
              <p:tags r:id="rId86"/>
            </p:custDataLst>
          </p:nvPr>
        </p:nvCxnSpPr>
        <p:spPr>
          <a:xfrm flipV="1">
            <a:off x="5182870" y="2002155"/>
            <a:ext cx="0" cy="162623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5" name="椭圆 94"/>
          <p:cNvSpPr/>
          <p:nvPr>
            <p:custDataLst>
              <p:tags r:id="rId87"/>
            </p:custDataLst>
          </p:nvPr>
        </p:nvSpPr>
        <p:spPr>
          <a:xfrm>
            <a:off x="5137785" y="2755900"/>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custDataLst>
              <p:tags r:id="rId88"/>
            </p:custDataLst>
          </p:nvPr>
        </p:nvSpPr>
        <p:spPr>
          <a:xfrm>
            <a:off x="5102225" y="362839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custDataLst>
              <p:tags r:id="rId89"/>
            </p:custDataLst>
          </p:nvPr>
        </p:nvSpPr>
        <p:spPr>
          <a:xfrm>
            <a:off x="6038297" y="3669607"/>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custDataLst>
              <p:tags r:id="rId90"/>
            </p:custDataLst>
          </p:nvPr>
        </p:nvSpPr>
        <p:spPr>
          <a:xfrm>
            <a:off x="6902132" y="3677920"/>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91"/>
            </p:custDataLst>
          </p:nvPr>
        </p:nvSpPr>
        <p:spPr>
          <a:xfrm>
            <a:off x="6884352" y="3634740"/>
            <a:ext cx="160655" cy="160655"/>
          </a:xfrm>
          <a:prstGeom prst="ellipse">
            <a:avLst/>
          </a:prstGeom>
          <a:solidFill>
            <a:srgbClr val="00B0F0"/>
          </a:solidFill>
          <a:ln>
            <a:noFill/>
          </a:ln>
          <a:effectLst>
            <a:glow rad="63500">
              <a:srgbClr val="93F0F3">
                <a:alpha val="53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92"/>
            </p:custDataLst>
          </p:nvPr>
        </p:nvSpPr>
        <p:spPr>
          <a:xfrm>
            <a:off x="6918336" y="4272657"/>
            <a:ext cx="94615" cy="9461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custDataLst>
              <p:tags r:id="rId93"/>
            </p:custDataLst>
          </p:nvPr>
        </p:nvSpPr>
        <p:spPr>
          <a:xfrm>
            <a:off x="9800590" y="3673158"/>
            <a:ext cx="94615" cy="9461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custDataLst>
              <p:tags r:id="rId94"/>
            </p:custDataLst>
          </p:nvPr>
        </p:nvSpPr>
        <p:spPr>
          <a:xfrm>
            <a:off x="6995829" y="4049865"/>
            <a:ext cx="1335702" cy="646331"/>
          </a:xfrm>
          <a:prstGeom prst="rect">
            <a:avLst/>
          </a:prstGeom>
          <a:noFill/>
        </p:spPr>
        <p:txBody>
          <a:bodyPr wrap="square" rtlCol="0" anchor="t">
            <a:spAutoFit/>
          </a:bodyPr>
          <a:lstStyle/>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Usenix'23</a:t>
            </a:r>
            <a:endParaRPr lang="en-US" altLang="zh-CN" b="1" dirty="0">
              <a:solidFill>
                <a:schemeClr val="tx1">
                  <a:lumMod val="65000"/>
                  <a:lumOff val="35000"/>
                </a:schemeClr>
              </a:solidFill>
              <a:latin typeface="微软雅黑" panose="020B0503020204020204" charset="-122"/>
              <a:ea typeface="微软雅黑" panose="020B0503020204020204" charset="-122"/>
              <a:sym typeface="+mn-ea"/>
            </a:endParaRPr>
          </a:p>
          <a:p>
            <a:r>
              <a:rPr lang="en-US" altLang="zh-CN" b="1" dirty="0">
                <a:solidFill>
                  <a:schemeClr val="tx1">
                    <a:lumMod val="65000"/>
                    <a:lumOff val="35000"/>
                  </a:schemeClr>
                </a:solidFill>
                <a:latin typeface="微软雅黑" panose="020B0503020204020204" charset="-122"/>
                <a:ea typeface="微软雅黑" panose="020B0503020204020204" charset="-122"/>
                <a:sym typeface="+mn-ea"/>
              </a:rPr>
              <a:t>Glimpse</a:t>
            </a:r>
            <a:endParaRPr lang="en-US" altLang="zh-CN" sz="1600" b="1" dirty="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6" name="文本框 5"/>
          <p:cNvSpPr txBox="1"/>
          <p:nvPr>
            <p:custDataLst>
              <p:tags r:id="rId95"/>
            </p:custDataLst>
          </p:nvPr>
        </p:nvSpPr>
        <p:spPr>
          <a:xfrm>
            <a:off x="6957377" y="4651002"/>
            <a:ext cx="1450975" cy="646331"/>
          </a:xfrm>
          <a:prstGeom prst="rect">
            <a:avLst/>
          </a:prstGeom>
          <a:noFill/>
        </p:spPr>
        <p:txBody>
          <a:bodyPr wrap="square" rtlCol="0">
            <a:spAutoFit/>
          </a:bodyPr>
          <a:lstStyle/>
          <a:p>
            <a:pPr marL="171450" indent="-171450" algn="l">
              <a:spcBef>
                <a:spcPts val="600"/>
              </a:spcBef>
              <a:spcAft>
                <a:spcPts val="600"/>
              </a:spcAft>
              <a:buClrTx/>
              <a:buSzTx/>
              <a:buFont typeface="Arial" panose="020B0604020202020204" pitchFamily="34" charset="0"/>
              <a:buChar char="•"/>
            </a:pPr>
            <a:r>
              <a:rPr lang="zh-CN" altLang="en-US" sz="1200" dirty="0">
                <a:solidFill>
                  <a:schemeClr val="tx1">
                    <a:lumMod val="65000"/>
                    <a:lumOff val="35000"/>
                  </a:schemeClr>
                </a:solidFill>
                <a:sym typeface="+mn-ea"/>
              </a:rPr>
              <a:t>以</a:t>
            </a:r>
            <a:r>
              <a:rPr lang="en-US" altLang="zh-CN" sz="1200" dirty="0">
                <a:solidFill>
                  <a:schemeClr val="tx1">
                    <a:lumMod val="65000"/>
                    <a:lumOff val="35000"/>
                  </a:schemeClr>
                </a:solidFill>
                <a:sym typeface="+mn-ea"/>
              </a:rPr>
              <a:t>MAD-HTLC</a:t>
            </a:r>
            <a:r>
              <a:rPr lang="zh-CN" altLang="en-US" sz="1200" dirty="0">
                <a:solidFill>
                  <a:schemeClr val="tx1">
                    <a:lumMod val="65000"/>
                    <a:lumOff val="35000"/>
                  </a:schemeClr>
                </a:solidFill>
                <a:sym typeface="+mn-ea"/>
              </a:rPr>
              <a:t>作为安全模块构建跨链桥</a:t>
            </a:r>
            <a:endParaRPr lang="en-US" altLang="zh-CN" sz="1200" dirty="0">
              <a:solidFill>
                <a:schemeClr val="tx1">
                  <a:lumMod val="65000"/>
                  <a:lumOff val="35000"/>
                </a:schemeClr>
              </a:solidFill>
              <a:sym typeface="+mn-ea"/>
            </a:endParaRPr>
          </a:p>
        </p:txBody>
      </p:sp>
      <p:sp>
        <p:nvSpPr>
          <p:cNvPr id="3" name="文本框 2"/>
          <p:cNvSpPr txBox="1"/>
          <p:nvPr/>
        </p:nvSpPr>
        <p:spPr>
          <a:xfrm>
            <a:off x="11736779" y="6499761"/>
            <a:ext cx="455221" cy="369332"/>
          </a:xfrm>
          <a:prstGeom prst="rect">
            <a:avLst/>
          </a:prstGeom>
          <a:noFill/>
        </p:spPr>
        <p:txBody>
          <a:bodyPr wrap="square" rtlCol="0">
            <a:spAutoFit/>
          </a:bodyPr>
          <a:lstStyle/>
          <a:p>
            <a:pPr algn="ctr"/>
            <a:r>
              <a:rPr lang="en-US" altLang="zh-CN" dirty="0"/>
              <a:t>16</a:t>
            </a:r>
            <a:endParaRPr lang="zh-CN" altLang="en-US" dirty="0"/>
          </a:p>
        </p:txBody>
      </p:sp>
    </p:spTree>
    <p:custDataLst>
      <p:tags r:id="rId96"/>
    </p:custData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custDataLst>
              <p:tags r:id="rId1"/>
            </p:custDataLst>
          </p:nvPr>
        </p:nvSpPr>
        <p:spPr>
          <a:xfrm>
            <a:off x="5958205" y="2322195"/>
            <a:ext cx="6026150" cy="371094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43205" y="1830070"/>
            <a:ext cx="5737225" cy="471932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custDataLst>
              <p:tags r:id="rId2"/>
            </p:custDataLst>
          </p:nvPr>
        </p:nvSpPr>
        <p:spPr>
          <a:xfrm>
            <a:off x="243205" y="2497455"/>
            <a:ext cx="5737225" cy="1646555"/>
          </a:xfrm>
          <a:prstGeom prst="round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custDataLst>
              <p:tags r:id="rId3"/>
            </p:custDataLst>
          </p:nvPr>
        </p:nvSpPr>
        <p:spPr>
          <a:xfrm>
            <a:off x="408305" y="949960"/>
            <a:ext cx="8300266" cy="738664"/>
          </a:xfrm>
          <a:prstGeom prst="rect">
            <a:avLst/>
          </a:prstGeom>
          <a:noFill/>
        </p:spPr>
        <p:txBody>
          <a:bodyPr wrap="square" rtlCol="0">
            <a:spAutoFit/>
          </a:bodyPr>
          <a:lstStyle/>
          <a:p>
            <a:pPr marL="457200" indent="-457200" algn="l" fontAlgn="auto">
              <a:buClrTx/>
              <a:buSzTx/>
              <a:buFont typeface="+mj-lt"/>
              <a:buAutoNum type="arabicPeriod"/>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恶意场景下分布式数字资产交易安全性</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l">
              <a:buClrTx/>
              <a:buSzTx/>
              <a:buFontTx/>
            </a:pPr>
            <a:r>
              <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系统优化</a:t>
            </a:r>
            <a:endParaRPr lang="en-US" altLang="zh-CN" sz="18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grpSp>
        <p:nvGrpSpPr>
          <p:cNvPr id="97" name="组合 96"/>
          <p:cNvGrpSpPr/>
          <p:nvPr/>
        </p:nvGrpSpPr>
        <p:grpSpPr>
          <a:xfrm>
            <a:off x="408305" y="-635"/>
            <a:ext cx="11783060" cy="950595"/>
            <a:chOff x="643" y="-1"/>
            <a:chExt cx="18556" cy="1497"/>
          </a:xfrm>
        </p:grpSpPr>
        <p:sp>
          <p:nvSpPr>
            <p:cNvPr id="107" name="矩形 106"/>
            <p:cNvSpPr/>
            <p:nvPr>
              <p:custDataLst>
                <p:tags r:id="rId4"/>
              </p:custDataLst>
            </p:nvPr>
          </p:nvSpPr>
          <p:spPr>
            <a:xfrm>
              <a:off x="6097" y="-1"/>
              <a:ext cx="313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custDataLst>
                <p:tags r:id="rId5"/>
              </p:custDataLst>
            </p:nvPr>
          </p:nvSpPr>
          <p:spPr>
            <a:xfrm>
              <a:off x="6097" y="-1"/>
              <a:ext cx="3135" cy="1137"/>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custDataLst>
                <p:tags r:id="rId6"/>
              </p:custDataLst>
            </p:nvPr>
          </p:nvSpPr>
          <p:spPr>
            <a:xfrm>
              <a:off x="9232" y="-1"/>
              <a:ext cx="4907" cy="1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p:cNvSpPr/>
            <p:nvPr>
              <p:custDataLst>
                <p:tags r:id="rId7"/>
              </p:custDataLst>
            </p:nvPr>
          </p:nvSpPr>
          <p:spPr>
            <a:xfrm>
              <a:off x="14139" y="0"/>
              <a:ext cx="5061" cy="11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custDataLst>
                <p:tags r:id="rId8"/>
              </p:custDataLst>
            </p:nvPr>
          </p:nvSpPr>
          <p:spPr>
            <a:xfrm>
              <a:off x="2622" y="-1"/>
              <a:ext cx="3475" cy="1137"/>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custDataLst>
                <p:tags r:id="rId9"/>
              </p:custDataLst>
            </p:nvPr>
          </p:nvSpPr>
          <p:spPr>
            <a:xfrm>
              <a:off x="2868" y="254"/>
              <a:ext cx="15855" cy="58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122" name="Picture 2" descr="C:\Program Files\Apache Software Foundation\Tomcat 6.0\webapps\topo1\images\sklois1 (2).jpg"/>
            <p:cNvPicPr>
              <a:picLocks noChangeAspect="1" noChangeArrowheads="1"/>
            </p:cNvPicPr>
            <p:nvPr>
              <p:custDataLst>
                <p:tags r:id="rId10"/>
              </p:custDataLst>
            </p:nvPr>
          </p:nvPicPr>
          <p:blipFill>
            <a:blip r:embed="rId11" cstate="print">
              <a:extLst>
                <a:ext uri="{28A0092B-C50C-407E-A947-70E740481C1C}">
                  <a14:useLocalDpi xmlns:a14="http://schemas.microsoft.com/office/drawing/2010/main" val="0"/>
                </a:ext>
              </a:extLst>
            </a:blip>
            <a:srcRect l="5061" r="29001"/>
            <a:stretch>
              <a:fillRect/>
            </a:stretch>
          </p:blipFill>
          <p:spPr bwMode="auto">
            <a:xfrm>
              <a:off x="643" y="166"/>
              <a:ext cx="1504" cy="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 name="等腰三角形 122"/>
            <p:cNvSpPr/>
            <p:nvPr>
              <p:custDataLst>
                <p:tags r:id="rId12"/>
              </p:custDataLst>
            </p:nvPr>
          </p:nvSpPr>
          <p:spPr>
            <a:xfrm rot="10800000">
              <a:off x="7230" y="1136"/>
              <a:ext cx="460" cy="36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custDataLst>
              <p:tags r:id="rId13"/>
            </p:custDataLst>
          </p:nvPr>
        </p:nvSpPr>
        <p:spPr>
          <a:xfrm>
            <a:off x="408305" y="2023745"/>
            <a:ext cx="5453380" cy="4368165"/>
          </a:xfrm>
          <a:prstGeom prst="rect">
            <a:avLst/>
          </a:prstGeom>
          <a:noFill/>
        </p:spPr>
        <p:txBody>
          <a:bodyPr wrap="square" rtlCol="0">
            <a:noAutofit/>
          </a:bodyPr>
          <a:lstStyle/>
          <a:p>
            <a:pPr marL="342900" indent="-342900" fontAlgn="auto">
              <a:lnSpc>
                <a:spcPct val="120000"/>
              </a:lnSpc>
              <a:buFont typeface="Arial" panose="020B0604020202020204" pitchFamily="34" charset="0"/>
              <a:buChar char="•"/>
            </a:pPr>
            <a:r>
              <a:rPr lang="zh-CN" altLang="en-US" sz="2000" b="1" dirty="0"/>
              <a:t>激励机制优化矿工事务处理逻辑</a:t>
            </a:r>
            <a:endParaRPr lang="zh-CN" altLang="en-US" sz="2000" b="1" dirty="0"/>
          </a:p>
          <a:p>
            <a:pPr fontAlgn="auto">
              <a:lnSpc>
                <a:spcPct val="120000"/>
              </a:lnSpc>
            </a:pPr>
            <a:endParaRPr lang="en-US" altLang="zh-CN" sz="1200" b="1" dirty="0"/>
          </a:p>
          <a:p>
            <a:pPr fontAlgn="auto">
              <a:lnSpc>
                <a:spcPct val="120000"/>
              </a:lnSpc>
            </a:pPr>
            <a:r>
              <a:rPr lang="zh-CN" altLang="en-US" sz="2000" b="1" dirty="0"/>
              <a:t>理性矿工模型</a:t>
            </a:r>
            <a:endParaRPr lang="zh-CN" altLang="en-US" sz="2000" b="1" dirty="0"/>
          </a:p>
          <a:p>
            <a:pPr marL="800100" lvl="1" indent="-342900">
              <a:lnSpc>
                <a:spcPct val="120000"/>
              </a:lnSpc>
              <a:buFont typeface="Arial" panose="020B0604020202020204" pitchFamily="34" charset="0"/>
              <a:buChar char="•"/>
            </a:pPr>
            <a:r>
              <a:rPr lang="zh-CN" altLang="en-US" b="1" dirty="0"/>
              <a:t>被动理性矿工：</a:t>
            </a:r>
            <a:r>
              <a:rPr lang="zh-CN" altLang="en-US" dirty="0"/>
              <a:t>只筛选当前发布上链交易</a:t>
            </a:r>
            <a:endParaRPr lang="en-US" altLang="zh-CN" dirty="0"/>
          </a:p>
          <a:p>
            <a:pPr marL="800100" lvl="1" indent="-342900">
              <a:lnSpc>
                <a:spcPct val="120000"/>
              </a:lnSpc>
              <a:buFont typeface="Arial" panose="020B0604020202020204" pitchFamily="34" charset="0"/>
              <a:buChar char="•"/>
            </a:pPr>
            <a:r>
              <a:rPr lang="zh-CN" altLang="en-US" dirty="0"/>
              <a:t>主动理性矿工：主动参与到协议流程中谋取利益更高的交易</a:t>
            </a:r>
            <a:endParaRPr lang="en-US" altLang="zh-CN" dirty="0"/>
          </a:p>
          <a:p>
            <a:pPr lvl="1">
              <a:lnSpc>
                <a:spcPct val="120000"/>
              </a:lnSpc>
            </a:pPr>
            <a:endParaRPr lang="zh-CN" altLang="en-US" sz="1200" dirty="0"/>
          </a:p>
          <a:p>
            <a:pPr indent="457200" fontAlgn="auto">
              <a:lnSpc>
                <a:spcPct val="120000"/>
              </a:lnSpc>
            </a:pP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MAD-HTLC SP</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21</a:t>
            </a:r>
            <a:endParaRPr lang="en-US" altLang="zh-CN" b="1" dirty="0">
              <a:solidFill>
                <a:srgbClr val="04579A"/>
              </a:solidFill>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将被动理性矿工选择交易的行为作为惩罚机制</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使恶意节点出现违反协议行为时，其财产被矿工没收</a:t>
            </a:r>
            <a:endParaRPr lang="en-US" altLang="zh-CN" dirty="0">
              <a:latin typeface="微软雅黑" panose="020B0503020204020204" charset="-122"/>
              <a:ea typeface="微软雅黑" panose="020B0503020204020204" charset="-122"/>
              <a:cs typeface="微软雅黑" panose="020B0503020204020204" charset="-122"/>
            </a:endParaRPr>
          </a:p>
          <a:p>
            <a:pPr indent="457200" fontAlgn="auto">
              <a:lnSpc>
                <a:spcPct val="120000"/>
              </a:lnSpc>
            </a:pP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CRAB CCS</a:t>
            </a:r>
            <a:r>
              <a:rPr lang="en-US" altLang="zh-CN" b="1" dirty="0">
                <a:solidFill>
                  <a:schemeClr val="tx1">
                    <a:lumMod val="65000"/>
                    <a:lumOff val="35000"/>
                  </a:schemeClr>
                </a:solidFill>
                <a:latin typeface="微软雅黑" panose="020B0503020204020204" charset="-122"/>
                <a:ea typeface="微软雅黑" panose="020B0503020204020204" charset="-122"/>
                <a:sym typeface="+mn-ea"/>
              </a:rPr>
              <a:t>'</a:t>
            </a:r>
            <a:r>
              <a:rPr lang="en-US" altLang="zh-CN" b="1" dirty="0">
                <a:solidFill>
                  <a:srgbClr val="04579A"/>
                </a:solidFill>
                <a:latin typeface="微软雅黑" panose="020B0503020204020204" charset="-122"/>
                <a:ea typeface="微软雅黑" panose="020B0503020204020204" charset="-122"/>
                <a:cs typeface="微软雅黑" panose="020B0503020204020204" charset="-122"/>
              </a:rPr>
              <a:t>24</a:t>
            </a:r>
            <a:endParaRPr lang="en-US" altLang="zh-CN" b="1" dirty="0">
              <a:solidFill>
                <a:srgbClr val="04579A"/>
              </a:solidFill>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利用主动理性矿工积极参与到协议的行为设计即时惩罚机制，拜占庭节点作恶时诚实节点获得补偿</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indent="457200" fontAlgn="auto">
              <a:lnSpc>
                <a:spcPct val="120000"/>
              </a:lnSpc>
              <a:spcAft>
                <a:spcPts val="600"/>
              </a:spcAft>
            </a:pPr>
            <a:endParaRPr lang="en-US" altLang="zh-CN" dirty="0">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14"/>
          <a:stretch>
            <a:fillRect/>
          </a:stretch>
        </p:blipFill>
        <p:spPr>
          <a:xfrm>
            <a:off x="6153249" y="3045252"/>
            <a:ext cx="5636061" cy="2761782"/>
          </a:xfrm>
          <a:prstGeom prst="rect">
            <a:avLst/>
          </a:prstGeom>
        </p:spPr>
      </p:pic>
      <p:sp>
        <p:nvSpPr>
          <p:cNvPr id="11" name="椭圆 10"/>
          <p:cNvSpPr/>
          <p:nvPr/>
        </p:nvSpPr>
        <p:spPr>
          <a:xfrm>
            <a:off x="10003700" y="2968625"/>
            <a:ext cx="1849347" cy="1821157"/>
          </a:xfrm>
          <a:prstGeom prst="ellipse">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8123670" y="2599293"/>
            <a:ext cx="2064789" cy="369332"/>
          </a:xfrm>
          <a:prstGeom prst="rect">
            <a:avLst/>
          </a:prstGeom>
          <a:noFill/>
        </p:spPr>
        <p:txBody>
          <a:bodyPr wrap="square" rtlCol="0">
            <a:spAutoFit/>
          </a:bodyPr>
          <a:lstStyle/>
          <a:p>
            <a:pPr algn="r"/>
            <a:r>
              <a:rPr lang="zh-CN" altLang="en-US" dirty="0"/>
              <a:t>矿工事务处理逻辑</a:t>
            </a:r>
            <a:endParaRPr lang="zh-CN" altLang="en-US" dirty="0"/>
          </a:p>
        </p:txBody>
      </p:sp>
      <p:cxnSp>
        <p:nvCxnSpPr>
          <p:cNvPr id="14" name="直接箭头连接符 13"/>
          <p:cNvCxnSpPr/>
          <p:nvPr/>
        </p:nvCxnSpPr>
        <p:spPr>
          <a:xfrm>
            <a:off x="10212779" y="2782784"/>
            <a:ext cx="514598" cy="15917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1736779" y="6499761"/>
            <a:ext cx="455221" cy="369332"/>
          </a:xfrm>
          <a:prstGeom prst="rect">
            <a:avLst/>
          </a:prstGeom>
          <a:noFill/>
        </p:spPr>
        <p:txBody>
          <a:bodyPr wrap="square" rtlCol="0">
            <a:spAutoFit/>
          </a:bodyPr>
          <a:lstStyle/>
          <a:p>
            <a:pPr algn="ctr"/>
            <a:r>
              <a:rPr lang="en-US" altLang="zh-CN" dirty="0"/>
              <a:t>17</a:t>
            </a:r>
            <a:endParaRPr lang="zh-CN" altLang="en-US" dirty="0"/>
          </a:p>
        </p:txBody>
      </p:sp>
    </p:spTree>
    <p:custDataLst>
      <p:tags r:id="rId15"/>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2"/>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763979" y="1595252"/>
            <a:ext cx="5371605" cy="369332"/>
          </a:xfrm>
          <a:prstGeom prst="rect">
            <a:avLst/>
          </a:prstGeom>
          <a:noFill/>
        </p:spPr>
        <p:txBody>
          <a:bodyPr wrap="square" rtlCol="0">
            <a:spAutoFit/>
          </a:bodyPr>
          <a:lstStyle/>
          <a:p>
            <a:r>
              <a:rPr lang="zh-CN" altLang="en-US" dirty="0"/>
              <a:t>支付信道方案</a:t>
            </a:r>
            <a:endParaRPr lang="zh-CN" altLang="en-US" dirty="0"/>
          </a:p>
        </p:txBody>
      </p:sp>
      <p:sp>
        <p:nvSpPr>
          <p:cNvPr id="55" name="文本框 54"/>
          <p:cNvSpPr txBox="1"/>
          <p:nvPr/>
        </p:nvSpPr>
        <p:spPr>
          <a:xfrm>
            <a:off x="763979" y="4152816"/>
            <a:ext cx="5371605" cy="369332"/>
          </a:xfrm>
          <a:prstGeom prst="rect">
            <a:avLst/>
          </a:prstGeom>
          <a:noFill/>
        </p:spPr>
        <p:txBody>
          <a:bodyPr wrap="square" rtlCol="0">
            <a:spAutoFit/>
          </a:bodyPr>
          <a:lstStyle/>
          <a:p>
            <a:r>
              <a:rPr lang="zh-CN" altLang="en-US" dirty="0"/>
              <a:t>支付信道网络方案</a:t>
            </a:r>
            <a:endParaRPr lang="zh-CN" altLang="en-US" dirty="0"/>
          </a:p>
        </p:txBody>
      </p:sp>
      <p:pic>
        <p:nvPicPr>
          <p:cNvPr id="59" name="图片 58"/>
          <p:cNvPicPr>
            <a:picLocks noChangeAspect="1"/>
          </p:cNvPicPr>
          <p:nvPr/>
        </p:nvPicPr>
        <p:blipFill>
          <a:blip r:embed="rId9"/>
          <a:stretch>
            <a:fillRect/>
          </a:stretch>
        </p:blipFill>
        <p:spPr>
          <a:xfrm>
            <a:off x="1915043" y="2149501"/>
            <a:ext cx="8361913" cy="1782381"/>
          </a:xfrm>
          <a:prstGeom prst="rect">
            <a:avLst/>
          </a:prstGeom>
        </p:spPr>
      </p:pic>
      <p:pic>
        <p:nvPicPr>
          <p:cNvPr id="70" name="图片 69"/>
          <p:cNvPicPr>
            <a:picLocks noChangeAspect="1"/>
          </p:cNvPicPr>
          <p:nvPr/>
        </p:nvPicPr>
        <p:blipFill>
          <a:blip r:embed="rId10"/>
          <a:stretch>
            <a:fillRect/>
          </a:stretch>
        </p:blipFill>
        <p:spPr>
          <a:xfrm>
            <a:off x="5548696" y="4454855"/>
            <a:ext cx="5459730" cy="1914886"/>
          </a:xfrm>
          <a:prstGeom prst="rect">
            <a:avLst/>
          </a:prstGeom>
        </p:spPr>
      </p:pic>
      <p:grpSp>
        <p:nvGrpSpPr>
          <p:cNvPr id="72" name="组合 71"/>
          <p:cNvGrpSpPr/>
          <p:nvPr/>
        </p:nvGrpSpPr>
        <p:grpSpPr>
          <a:xfrm>
            <a:off x="823356" y="4677825"/>
            <a:ext cx="4059794" cy="1468945"/>
            <a:chOff x="823356" y="4651169"/>
            <a:chExt cx="4059794" cy="1468945"/>
          </a:xfrm>
        </p:grpSpPr>
        <p:sp>
          <p:nvSpPr>
            <p:cNvPr id="66" name="矩形: 圆角 65"/>
            <p:cNvSpPr/>
            <p:nvPr/>
          </p:nvSpPr>
          <p:spPr>
            <a:xfrm>
              <a:off x="823356" y="4835835"/>
              <a:ext cx="3974275" cy="12842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p:cNvSpPr/>
            <p:nvPr/>
          </p:nvSpPr>
          <p:spPr>
            <a:xfrm>
              <a:off x="831273" y="4651169"/>
              <a:ext cx="1163782" cy="369332"/>
            </a:xfrm>
            <a:prstGeom prst="roundRect">
              <a:avLst/>
            </a:prstGeom>
            <a:solidFill>
              <a:srgbClr val="0457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823356" y="4651169"/>
              <a:ext cx="1204995" cy="369332"/>
            </a:xfrm>
            <a:prstGeom prst="rect">
              <a:avLst/>
            </a:prstGeom>
            <a:noFill/>
          </p:spPr>
          <p:txBody>
            <a:bodyPr wrap="square" rtlCol="0">
              <a:spAutoFit/>
            </a:bodyPr>
            <a:lstStyle/>
            <a:p>
              <a:r>
                <a:rPr lang="zh-CN" altLang="en-US" dirty="0">
                  <a:solidFill>
                    <a:schemeClr val="bg2"/>
                  </a:solidFill>
                </a:rPr>
                <a:t>闪电网络</a:t>
              </a:r>
              <a:endParaRPr lang="en-US" altLang="zh-CN" dirty="0">
                <a:solidFill>
                  <a:schemeClr val="bg2"/>
                </a:solidFill>
              </a:endParaRPr>
            </a:p>
          </p:txBody>
        </p:sp>
        <p:sp>
          <p:nvSpPr>
            <p:cNvPr id="71" name="文本框 70"/>
            <p:cNvSpPr txBox="1"/>
            <p:nvPr/>
          </p:nvSpPr>
          <p:spPr>
            <a:xfrm>
              <a:off x="823356" y="5056264"/>
              <a:ext cx="4059794" cy="923330"/>
            </a:xfrm>
            <a:prstGeom prst="rect">
              <a:avLst/>
            </a:prstGeom>
            <a:noFill/>
          </p:spPr>
          <p:txBody>
            <a:bodyPr wrap="square" rtlCol="0">
              <a:spAutoFit/>
            </a:bodyPr>
            <a:lstStyle/>
            <a:p>
              <a:r>
                <a:rPr lang="en-US" altLang="zh-CN" dirty="0"/>
                <a:t>2016</a:t>
              </a:r>
              <a:r>
                <a:rPr lang="zh-CN" altLang="en-US" dirty="0"/>
                <a:t>年部署在比特币上，是</a:t>
              </a:r>
              <a:r>
                <a:rPr lang="zh-CN" altLang="zh-CN" dirty="0"/>
                <a:t>已知最大的支付信道网络</a:t>
              </a:r>
              <a:r>
                <a:rPr lang="zh-CN" altLang="en-US" dirty="0"/>
                <a:t>，</a:t>
              </a:r>
              <a:r>
                <a:rPr lang="zh-CN" altLang="zh-CN" dirty="0"/>
                <a:t>拥有</a:t>
              </a:r>
              <a:r>
                <a:rPr lang="zh-CN" altLang="en-US" dirty="0"/>
                <a:t>近</a:t>
              </a:r>
              <a:r>
                <a:rPr lang="en-US" altLang="zh-CN" dirty="0"/>
                <a:t>2</a:t>
              </a:r>
              <a:r>
                <a:rPr lang="zh-CN" altLang="en-US" dirty="0"/>
                <a:t>万</a:t>
              </a:r>
              <a:r>
                <a:rPr lang="zh-CN" altLang="zh-CN" dirty="0"/>
                <a:t>个</a:t>
              </a:r>
              <a:r>
                <a:rPr lang="zh-CN" altLang="en-US" dirty="0"/>
                <a:t>活跃</a:t>
              </a:r>
              <a:r>
                <a:rPr lang="zh-CN" altLang="zh-CN" dirty="0"/>
                <a:t>节点和</a:t>
              </a:r>
              <a:r>
                <a:rPr lang="en-US" altLang="zh-CN" dirty="0"/>
                <a:t>8</a:t>
              </a:r>
              <a:r>
                <a:rPr lang="zh-CN" altLang="en-US" dirty="0"/>
                <a:t>万</a:t>
              </a:r>
              <a:r>
                <a:rPr lang="zh-CN" altLang="zh-CN" dirty="0"/>
                <a:t>个支付信道</a:t>
              </a:r>
              <a:endParaRPr lang="zh-CN" altLang="en-US" dirty="0"/>
            </a:p>
          </p:txBody>
        </p:sp>
      </p:grpSp>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18</a:t>
            </a:r>
            <a:endParaRPr lang="zh-CN" altLang="en-US" dirty="0"/>
          </a:p>
        </p:txBody>
      </p:sp>
    </p:spTree>
    <p:custDataLst>
      <p:tags r:id="rId11"/>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2"/>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链下数字资产交易方案性能</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grpSp>
        <p:nvGrpSpPr>
          <p:cNvPr id="6" name="组合 5"/>
          <p:cNvGrpSpPr>
            <a:grpSpLocks noChangeAspect="1"/>
          </p:cNvGrpSpPr>
          <p:nvPr>
            <p:custDataLst>
              <p:tags r:id="rId9"/>
            </p:custDataLst>
          </p:nvPr>
        </p:nvGrpSpPr>
        <p:grpSpPr>
          <a:xfrm>
            <a:off x="636429" y="2016330"/>
            <a:ext cx="10919142" cy="3426294"/>
            <a:chOff x="325373" y="1482929"/>
            <a:chExt cx="10919142" cy="3426294"/>
          </a:xfrm>
        </p:grpSpPr>
        <p:grpSp>
          <p:nvGrpSpPr>
            <p:cNvPr id="7" name="组合 0"/>
            <p:cNvGrpSpPr/>
            <p:nvPr/>
          </p:nvGrpSpPr>
          <p:grpSpPr>
            <a:xfrm>
              <a:off x="325373" y="1936511"/>
              <a:ext cx="10919142" cy="2523312"/>
              <a:chOff x="191413" y="2231807"/>
              <a:chExt cx="12361408" cy="2856606"/>
            </a:xfrm>
          </p:grpSpPr>
          <p:sp>
            <p:nvSpPr>
              <p:cNvPr id="33" name="0"/>
              <p:cNvSpPr/>
              <p:nvPr/>
            </p:nvSpPr>
            <p:spPr>
              <a:xfrm>
                <a:off x="875175" y="3619701"/>
                <a:ext cx="11677646" cy="1096199"/>
              </a:xfrm>
              <a:custGeom>
                <a:avLst/>
                <a:gdLst>
                  <a:gd name="connsiteX0" fmla="*/ 2323433 w 6113239"/>
                  <a:gd name="connsiteY0" fmla="*/ 653366 h 653365"/>
                  <a:gd name="connsiteX1" fmla="*/ 1582103 w 6113239"/>
                  <a:gd name="connsiteY1" fmla="*/ 341898 h 653365"/>
                  <a:gd name="connsiteX2" fmla="*/ 542830 w 6113239"/>
                  <a:gd name="connsiteY2" fmla="*/ 29478 h 653365"/>
                  <a:gd name="connsiteX3" fmla="*/ 56007 w 6113239"/>
                  <a:gd name="connsiteY3" fmla="*/ 309037 h 653365"/>
                  <a:gd name="connsiteX4" fmla="*/ 4477 w 6113239"/>
                  <a:gd name="connsiteY4" fmla="*/ 350566 h 653365"/>
                  <a:gd name="connsiteX5" fmla="*/ 0 w 6113239"/>
                  <a:gd name="connsiteY5" fmla="*/ 344946 h 653365"/>
                  <a:gd name="connsiteX6" fmla="*/ 51530 w 6113239"/>
                  <a:gd name="connsiteY6" fmla="*/ 303417 h 653365"/>
                  <a:gd name="connsiteX7" fmla="*/ 541401 w 6113239"/>
                  <a:gd name="connsiteY7" fmla="*/ 22430 h 653365"/>
                  <a:gd name="connsiteX8" fmla="*/ 1586103 w 6113239"/>
                  <a:gd name="connsiteY8" fmla="*/ 335898 h 653365"/>
                  <a:gd name="connsiteX9" fmla="*/ 2780919 w 6113239"/>
                  <a:gd name="connsiteY9" fmla="*/ 528969 h 653365"/>
                  <a:gd name="connsiteX10" fmla="*/ 2999708 w 6113239"/>
                  <a:gd name="connsiteY10" fmla="*/ 383904 h 653365"/>
                  <a:gd name="connsiteX11" fmla="*/ 3601307 w 6113239"/>
                  <a:gd name="connsiteY11" fmla="*/ 65769 h 653365"/>
                  <a:gd name="connsiteX12" fmla="*/ 4615815 w 6113239"/>
                  <a:gd name="connsiteY12" fmla="*/ 214835 h 653365"/>
                  <a:gd name="connsiteX13" fmla="*/ 4710208 w 6113239"/>
                  <a:gd name="connsiteY13" fmla="*/ 258078 h 653365"/>
                  <a:gd name="connsiteX14" fmla="*/ 6109621 w 6113239"/>
                  <a:gd name="connsiteY14" fmla="*/ 441435 h 653365"/>
                  <a:gd name="connsiteX15" fmla="*/ 6113240 w 6113239"/>
                  <a:gd name="connsiteY15" fmla="*/ 447626 h 653365"/>
                  <a:gd name="connsiteX16" fmla="*/ 4707255 w 6113239"/>
                  <a:gd name="connsiteY16" fmla="*/ 264555 h 653365"/>
                  <a:gd name="connsiteX17" fmla="*/ 4612958 w 6113239"/>
                  <a:gd name="connsiteY17" fmla="*/ 221312 h 653365"/>
                  <a:gd name="connsiteX18" fmla="*/ 3004090 w 6113239"/>
                  <a:gd name="connsiteY18" fmla="*/ 389619 h 653365"/>
                  <a:gd name="connsiteX19" fmla="*/ 2784158 w 6113239"/>
                  <a:gd name="connsiteY19" fmla="*/ 535351 h 653365"/>
                  <a:gd name="connsiteX20" fmla="*/ 2323433 w 6113239"/>
                  <a:gd name="connsiteY20" fmla="*/ 653366 h 65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13239" h="653365">
                    <a:moveTo>
                      <a:pt x="2323433" y="653366"/>
                    </a:moveTo>
                    <a:cubicBezTo>
                      <a:pt x="2035207" y="653366"/>
                      <a:pt x="1812989" y="500680"/>
                      <a:pt x="1582103" y="341898"/>
                    </a:cubicBezTo>
                    <a:cubicBezTo>
                      <a:pt x="1293495" y="143588"/>
                      <a:pt x="995077" y="-61581"/>
                      <a:pt x="542830" y="29478"/>
                    </a:cubicBezTo>
                    <a:cubicBezTo>
                      <a:pt x="354711" y="67293"/>
                      <a:pt x="202883" y="190165"/>
                      <a:pt x="56007" y="309037"/>
                    </a:cubicBezTo>
                    <a:cubicBezTo>
                      <a:pt x="38672" y="323039"/>
                      <a:pt x="21526" y="336945"/>
                      <a:pt x="4477" y="350566"/>
                    </a:cubicBezTo>
                    <a:lnTo>
                      <a:pt x="0" y="344946"/>
                    </a:lnTo>
                    <a:cubicBezTo>
                      <a:pt x="17050" y="331326"/>
                      <a:pt x="34195" y="317419"/>
                      <a:pt x="51530" y="303417"/>
                    </a:cubicBezTo>
                    <a:cubicBezTo>
                      <a:pt x="199072" y="184069"/>
                      <a:pt x="351568" y="60625"/>
                      <a:pt x="541401" y="22430"/>
                    </a:cubicBezTo>
                    <a:cubicBezTo>
                      <a:pt x="996601" y="-69201"/>
                      <a:pt x="1296353" y="136730"/>
                      <a:pt x="1586103" y="335898"/>
                    </a:cubicBezTo>
                    <a:cubicBezTo>
                      <a:pt x="1924431" y="568403"/>
                      <a:pt x="2243995" y="788049"/>
                      <a:pt x="2780919" y="528969"/>
                    </a:cubicBezTo>
                    <a:cubicBezTo>
                      <a:pt x="2848356" y="496489"/>
                      <a:pt x="2918460" y="444292"/>
                      <a:pt x="2999708" y="383904"/>
                    </a:cubicBezTo>
                    <a:cubicBezTo>
                      <a:pt x="3153061" y="269889"/>
                      <a:pt x="3343847" y="128062"/>
                      <a:pt x="3601307" y="65769"/>
                    </a:cubicBezTo>
                    <a:cubicBezTo>
                      <a:pt x="3902679" y="-7098"/>
                      <a:pt x="4234530" y="41575"/>
                      <a:pt x="4615815" y="214835"/>
                    </a:cubicBezTo>
                    <a:cubicBezTo>
                      <a:pt x="4646676" y="228837"/>
                      <a:pt x="4678204" y="243315"/>
                      <a:pt x="4710208" y="258078"/>
                    </a:cubicBezTo>
                    <a:cubicBezTo>
                      <a:pt x="5135690" y="454008"/>
                      <a:pt x="5665184" y="697848"/>
                      <a:pt x="6109621" y="441435"/>
                    </a:cubicBezTo>
                    <a:lnTo>
                      <a:pt x="6113240" y="447626"/>
                    </a:lnTo>
                    <a:cubicBezTo>
                      <a:pt x="5665565" y="705849"/>
                      <a:pt x="5134166" y="461151"/>
                      <a:pt x="4707255" y="264555"/>
                    </a:cubicBezTo>
                    <a:cubicBezTo>
                      <a:pt x="4675251" y="249792"/>
                      <a:pt x="4643819" y="235314"/>
                      <a:pt x="4612958" y="221312"/>
                    </a:cubicBezTo>
                    <a:cubicBezTo>
                      <a:pt x="3754850" y="-168546"/>
                      <a:pt x="3320891" y="154065"/>
                      <a:pt x="3004090" y="389619"/>
                    </a:cubicBezTo>
                    <a:cubicBezTo>
                      <a:pt x="2922556" y="450198"/>
                      <a:pt x="2852166" y="502585"/>
                      <a:pt x="2784158" y="535351"/>
                    </a:cubicBezTo>
                    <a:cubicBezTo>
                      <a:pt x="2610612" y="619266"/>
                      <a:pt x="2459641" y="653366"/>
                      <a:pt x="2323433" y="653366"/>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0"/>
              <p:cNvSpPr/>
              <p:nvPr/>
            </p:nvSpPr>
            <p:spPr>
              <a:xfrm>
                <a:off x="807127" y="3693892"/>
                <a:ext cx="11420008" cy="928678"/>
              </a:xfrm>
              <a:custGeom>
                <a:avLst/>
                <a:gdLst>
                  <a:gd name="connsiteX0" fmla="*/ 2222659 w 5978366"/>
                  <a:gd name="connsiteY0" fmla="*/ 553519 h 553518"/>
                  <a:gd name="connsiteX1" fmla="*/ 2131409 w 5978366"/>
                  <a:gd name="connsiteY1" fmla="*/ 548757 h 553518"/>
                  <a:gd name="connsiteX2" fmla="*/ 1537145 w 5978366"/>
                  <a:gd name="connsiteY2" fmla="*/ 311775 h 553518"/>
                  <a:gd name="connsiteX3" fmla="*/ 540258 w 5978366"/>
                  <a:gd name="connsiteY3" fmla="*/ 69077 h 553518"/>
                  <a:gd name="connsiteX4" fmla="*/ 76105 w 5978366"/>
                  <a:gd name="connsiteY4" fmla="*/ 305202 h 553518"/>
                  <a:gd name="connsiteX5" fmla="*/ 3620 w 5978366"/>
                  <a:gd name="connsiteY5" fmla="*/ 355590 h 553518"/>
                  <a:gd name="connsiteX6" fmla="*/ 0 w 5978366"/>
                  <a:gd name="connsiteY6" fmla="*/ 350256 h 553518"/>
                  <a:gd name="connsiteX7" fmla="*/ 72390 w 5978366"/>
                  <a:gd name="connsiteY7" fmla="*/ 299964 h 553518"/>
                  <a:gd name="connsiteX8" fmla="*/ 539115 w 5978366"/>
                  <a:gd name="connsiteY8" fmla="*/ 62791 h 553518"/>
                  <a:gd name="connsiteX9" fmla="*/ 1540478 w 5978366"/>
                  <a:gd name="connsiteY9" fmla="*/ 306250 h 553518"/>
                  <a:gd name="connsiteX10" fmla="*/ 2132076 w 5978366"/>
                  <a:gd name="connsiteY10" fmla="*/ 542375 h 553518"/>
                  <a:gd name="connsiteX11" fmla="*/ 2717483 w 5978366"/>
                  <a:gd name="connsiteY11" fmla="*/ 422550 h 553518"/>
                  <a:gd name="connsiteX12" fmla="*/ 2921508 w 5978366"/>
                  <a:gd name="connsiteY12" fmla="*/ 295582 h 553518"/>
                  <a:gd name="connsiteX13" fmla="*/ 3388328 w 5978366"/>
                  <a:gd name="connsiteY13" fmla="*/ 48408 h 553518"/>
                  <a:gd name="connsiteX14" fmla="*/ 4506945 w 5978366"/>
                  <a:gd name="connsiteY14" fmla="*/ 204047 h 553518"/>
                  <a:gd name="connsiteX15" fmla="*/ 4571905 w 5978366"/>
                  <a:gd name="connsiteY15" fmla="*/ 235098 h 553518"/>
                  <a:gd name="connsiteX16" fmla="*/ 5975414 w 5978366"/>
                  <a:gd name="connsiteY16" fmla="*/ 439695 h 553518"/>
                  <a:gd name="connsiteX17" fmla="*/ 5978367 w 5978366"/>
                  <a:gd name="connsiteY17" fmla="*/ 445506 h 553518"/>
                  <a:gd name="connsiteX18" fmla="*/ 4569143 w 5978366"/>
                  <a:gd name="connsiteY18" fmla="*/ 241004 h 553518"/>
                  <a:gd name="connsiteX19" fmla="*/ 4504182 w 5978366"/>
                  <a:gd name="connsiteY19" fmla="*/ 210048 h 553518"/>
                  <a:gd name="connsiteX20" fmla="*/ 3390138 w 5978366"/>
                  <a:gd name="connsiteY20" fmla="*/ 54790 h 553518"/>
                  <a:gd name="connsiteX21" fmla="*/ 2925128 w 5978366"/>
                  <a:gd name="connsiteY21" fmla="*/ 301106 h 553518"/>
                  <a:gd name="connsiteX22" fmla="*/ 2720150 w 5978366"/>
                  <a:gd name="connsiteY22" fmla="*/ 428646 h 553518"/>
                  <a:gd name="connsiteX23" fmla="*/ 2222659 w 5978366"/>
                  <a:gd name="connsiteY23" fmla="*/ 553519 h 55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78366" h="553518">
                    <a:moveTo>
                      <a:pt x="2222659" y="553519"/>
                    </a:moveTo>
                    <a:cubicBezTo>
                      <a:pt x="2191988" y="553519"/>
                      <a:pt x="2161604" y="551900"/>
                      <a:pt x="2131409" y="548757"/>
                    </a:cubicBezTo>
                    <a:cubicBezTo>
                      <a:pt x="1908048" y="526754"/>
                      <a:pt x="1727930" y="422360"/>
                      <a:pt x="1537145" y="311775"/>
                    </a:cubicBezTo>
                    <a:cubicBezTo>
                      <a:pt x="1262063" y="152421"/>
                      <a:pt x="977646" y="-12457"/>
                      <a:pt x="540258" y="69077"/>
                    </a:cubicBezTo>
                    <a:cubicBezTo>
                      <a:pt x="365760" y="102034"/>
                      <a:pt x="218504" y="205380"/>
                      <a:pt x="76105" y="305202"/>
                    </a:cubicBezTo>
                    <a:cubicBezTo>
                      <a:pt x="52292" y="321871"/>
                      <a:pt x="27718" y="339206"/>
                      <a:pt x="3620" y="355590"/>
                    </a:cubicBezTo>
                    <a:lnTo>
                      <a:pt x="0" y="350256"/>
                    </a:lnTo>
                    <a:cubicBezTo>
                      <a:pt x="24003" y="333873"/>
                      <a:pt x="48578" y="316632"/>
                      <a:pt x="72390" y="299964"/>
                    </a:cubicBezTo>
                    <a:cubicBezTo>
                      <a:pt x="215360" y="199665"/>
                      <a:pt x="363188" y="96033"/>
                      <a:pt x="539115" y="62791"/>
                    </a:cubicBezTo>
                    <a:cubicBezTo>
                      <a:pt x="978980" y="-19219"/>
                      <a:pt x="1264444" y="146230"/>
                      <a:pt x="1540478" y="306250"/>
                    </a:cubicBezTo>
                    <a:cubicBezTo>
                      <a:pt x="1730597" y="416359"/>
                      <a:pt x="1910144" y="520467"/>
                      <a:pt x="2132076" y="542375"/>
                    </a:cubicBezTo>
                    <a:cubicBezTo>
                      <a:pt x="2314194" y="561615"/>
                      <a:pt x="2505647" y="522468"/>
                      <a:pt x="2717483" y="422550"/>
                    </a:cubicBezTo>
                    <a:cubicBezTo>
                      <a:pt x="2781205" y="392451"/>
                      <a:pt x="2849404" y="345398"/>
                      <a:pt x="2921508" y="295582"/>
                    </a:cubicBezTo>
                    <a:cubicBezTo>
                      <a:pt x="3051715" y="205571"/>
                      <a:pt x="3199352" y="103653"/>
                      <a:pt x="3388328" y="48408"/>
                    </a:cubicBezTo>
                    <a:cubicBezTo>
                      <a:pt x="3722370" y="-49318"/>
                      <a:pt x="4077843" y="117"/>
                      <a:pt x="4506945" y="204047"/>
                    </a:cubicBezTo>
                    <a:cubicBezTo>
                      <a:pt x="4528281" y="214239"/>
                      <a:pt x="4549997" y="224526"/>
                      <a:pt x="4571905" y="235098"/>
                    </a:cubicBezTo>
                    <a:cubicBezTo>
                      <a:pt x="4987195" y="433694"/>
                      <a:pt x="5504117" y="680868"/>
                      <a:pt x="5975414" y="439695"/>
                    </a:cubicBezTo>
                    <a:lnTo>
                      <a:pt x="5978367" y="445506"/>
                    </a:lnTo>
                    <a:cubicBezTo>
                      <a:pt x="5504212" y="688203"/>
                      <a:pt x="4985671" y="440267"/>
                      <a:pt x="4569143" y="241004"/>
                    </a:cubicBezTo>
                    <a:cubicBezTo>
                      <a:pt x="4547235" y="230526"/>
                      <a:pt x="4525518" y="220144"/>
                      <a:pt x="4504182" y="210048"/>
                    </a:cubicBezTo>
                    <a:cubicBezTo>
                      <a:pt x="4076605" y="6879"/>
                      <a:pt x="3722656" y="-42460"/>
                      <a:pt x="3390138" y="54790"/>
                    </a:cubicBezTo>
                    <a:cubicBezTo>
                      <a:pt x="3202210" y="109749"/>
                      <a:pt x="3055049" y="211381"/>
                      <a:pt x="2925128" y="301106"/>
                    </a:cubicBezTo>
                    <a:cubicBezTo>
                      <a:pt x="2852738" y="351113"/>
                      <a:pt x="2784348" y="398357"/>
                      <a:pt x="2720150" y="428646"/>
                    </a:cubicBezTo>
                    <a:cubicBezTo>
                      <a:pt x="2542318" y="512181"/>
                      <a:pt x="2378583" y="553519"/>
                      <a:pt x="2222659" y="553519"/>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0"/>
              <p:cNvSpPr/>
              <p:nvPr/>
            </p:nvSpPr>
            <p:spPr>
              <a:xfrm>
                <a:off x="739080" y="3703605"/>
                <a:ext cx="11162550" cy="957321"/>
              </a:xfrm>
              <a:custGeom>
                <a:avLst/>
                <a:gdLst>
                  <a:gd name="connsiteX0" fmla="*/ 5422392 w 5843587"/>
                  <a:gd name="connsiteY0" fmla="*/ 570590 h 570590"/>
                  <a:gd name="connsiteX1" fmla="*/ 4430078 w 5843587"/>
                  <a:gd name="connsiteY1" fmla="*/ 253598 h 570590"/>
                  <a:gd name="connsiteX2" fmla="*/ 4395502 w 5843587"/>
                  <a:gd name="connsiteY2" fmla="*/ 236358 h 570590"/>
                  <a:gd name="connsiteX3" fmla="*/ 3321653 w 5843587"/>
                  <a:gd name="connsiteY3" fmla="*/ 29380 h 570590"/>
                  <a:gd name="connsiteX4" fmla="*/ 2845880 w 5843587"/>
                  <a:gd name="connsiteY4" fmla="*/ 249407 h 570590"/>
                  <a:gd name="connsiteX5" fmla="*/ 2656427 w 5843587"/>
                  <a:gd name="connsiteY5" fmla="*/ 359516 h 570590"/>
                  <a:gd name="connsiteX6" fmla="*/ 2084737 w 5843587"/>
                  <a:gd name="connsiteY6" fmla="*/ 496295 h 570590"/>
                  <a:gd name="connsiteX7" fmla="*/ 1489043 w 5843587"/>
                  <a:gd name="connsiteY7" fmla="*/ 321607 h 570590"/>
                  <a:gd name="connsiteX8" fmla="*/ 537782 w 5843587"/>
                  <a:gd name="connsiteY8" fmla="*/ 147109 h 570590"/>
                  <a:gd name="connsiteX9" fmla="*/ 99155 w 5843587"/>
                  <a:gd name="connsiteY9" fmla="*/ 342085 h 570590"/>
                  <a:gd name="connsiteX10" fmla="*/ 2953 w 5843587"/>
                  <a:gd name="connsiteY10" fmla="*/ 399045 h 570590"/>
                  <a:gd name="connsiteX11" fmla="*/ 0 w 5843587"/>
                  <a:gd name="connsiteY11" fmla="*/ 393997 h 570590"/>
                  <a:gd name="connsiteX12" fmla="*/ 96107 w 5843587"/>
                  <a:gd name="connsiteY12" fmla="*/ 337132 h 570590"/>
                  <a:gd name="connsiteX13" fmla="*/ 536734 w 5843587"/>
                  <a:gd name="connsiteY13" fmla="*/ 141394 h 570590"/>
                  <a:gd name="connsiteX14" fmla="*/ 1491520 w 5843587"/>
                  <a:gd name="connsiteY14" fmla="*/ 316368 h 570590"/>
                  <a:gd name="connsiteX15" fmla="*/ 2084927 w 5843587"/>
                  <a:gd name="connsiteY15" fmla="*/ 490485 h 570590"/>
                  <a:gd name="connsiteX16" fmla="*/ 2654046 w 5843587"/>
                  <a:gd name="connsiteY16" fmla="*/ 354277 h 570590"/>
                  <a:gd name="connsiteX17" fmla="*/ 2842736 w 5843587"/>
                  <a:gd name="connsiteY17" fmla="*/ 244549 h 570590"/>
                  <a:gd name="connsiteX18" fmla="*/ 3320510 w 5843587"/>
                  <a:gd name="connsiteY18" fmla="*/ 23665 h 570590"/>
                  <a:gd name="connsiteX19" fmla="*/ 4398074 w 5843587"/>
                  <a:gd name="connsiteY19" fmla="*/ 231214 h 570590"/>
                  <a:gd name="connsiteX20" fmla="*/ 4432649 w 5843587"/>
                  <a:gd name="connsiteY20" fmla="*/ 248455 h 570590"/>
                  <a:gd name="connsiteX21" fmla="*/ 5841206 w 5843587"/>
                  <a:gd name="connsiteY21" fmla="*/ 475721 h 570590"/>
                  <a:gd name="connsiteX22" fmla="*/ 5843588 w 5843587"/>
                  <a:gd name="connsiteY22" fmla="*/ 481055 h 570590"/>
                  <a:gd name="connsiteX23" fmla="*/ 5422392 w 5843587"/>
                  <a:gd name="connsiteY23" fmla="*/ 570590 h 57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43587" h="570590">
                    <a:moveTo>
                      <a:pt x="5422392" y="570590"/>
                    </a:moveTo>
                    <a:cubicBezTo>
                      <a:pt x="5065395" y="570590"/>
                      <a:pt x="4722019" y="399235"/>
                      <a:pt x="4430078" y="253598"/>
                    </a:cubicBezTo>
                    <a:lnTo>
                      <a:pt x="4395502" y="236358"/>
                    </a:lnTo>
                    <a:cubicBezTo>
                      <a:pt x="3983260" y="31094"/>
                      <a:pt x="3642074" y="-34724"/>
                      <a:pt x="3321653" y="29380"/>
                    </a:cubicBezTo>
                    <a:cubicBezTo>
                      <a:pt x="3131439" y="67384"/>
                      <a:pt x="2979706" y="164063"/>
                      <a:pt x="2845880" y="249407"/>
                    </a:cubicBezTo>
                    <a:cubicBezTo>
                      <a:pt x="2779300" y="291793"/>
                      <a:pt x="2716435" y="331894"/>
                      <a:pt x="2656427" y="359516"/>
                    </a:cubicBezTo>
                    <a:cubicBezTo>
                      <a:pt x="2447735" y="455623"/>
                      <a:pt x="2260854" y="500391"/>
                      <a:pt x="2084737" y="496295"/>
                    </a:cubicBezTo>
                    <a:cubicBezTo>
                      <a:pt x="1858518" y="493819"/>
                      <a:pt x="1678972" y="410189"/>
                      <a:pt x="1489043" y="321607"/>
                    </a:cubicBezTo>
                    <a:cubicBezTo>
                      <a:pt x="1228058" y="199972"/>
                      <a:pt x="958120" y="74147"/>
                      <a:pt x="537782" y="147109"/>
                    </a:cubicBezTo>
                    <a:cubicBezTo>
                      <a:pt x="377190" y="175017"/>
                      <a:pt x="235839" y="259885"/>
                      <a:pt x="99155" y="342085"/>
                    </a:cubicBezTo>
                    <a:cubicBezTo>
                      <a:pt x="67627" y="361040"/>
                      <a:pt x="34957" y="380662"/>
                      <a:pt x="2953" y="399045"/>
                    </a:cubicBezTo>
                    <a:lnTo>
                      <a:pt x="0" y="393997"/>
                    </a:lnTo>
                    <a:cubicBezTo>
                      <a:pt x="31909" y="375709"/>
                      <a:pt x="64579" y="356087"/>
                      <a:pt x="96107" y="337132"/>
                    </a:cubicBezTo>
                    <a:cubicBezTo>
                      <a:pt x="233267" y="254741"/>
                      <a:pt x="375094" y="169492"/>
                      <a:pt x="536734" y="141394"/>
                    </a:cubicBezTo>
                    <a:cubicBezTo>
                      <a:pt x="958977" y="68146"/>
                      <a:pt x="1229678" y="194353"/>
                      <a:pt x="1491520" y="316368"/>
                    </a:cubicBezTo>
                    <a:cubicBezTo>
                      <a:pt x="1680972" y="404665"/>
                      <a:pt x="1859852" y="488008"/>
                      <a:pt x="2084927" y="490485"/>
                    </a:cubicBezTo>
                    <a:cubicBezTo>
                      <a:pt x="2260092" y="494485"/>
                      <a:pt x="2446211" y="450004"/>
                      <a:pt x="2654046" y="354277"/>
                    </a:cubicBezTo>
                    <a:cubicBezTo>
                      <a:pt x="2713672" y="326845"/>
                      <a:pt x="2776347" y="286840"/>
                      <a:pt x="2842736" y="244549"/>
                    </a:cubicBezTo>
                    <a:cubicBezTo>
                      <a:pt x="2977039" y="158920"/>
                      <a:pt x="3129344" y="61955"/>
                      <a:pt x="3320510" y="23665"/>
                    </a:cubicBezTo>
                    <a:cubicBezTo>
                      <a:pt x="3642265" y="-40629"/>
                      <a:pt x="3984689" y="25284"/>
                      <a:pt x="4398074" y="231214"/>
                    </a:cubicBezTo>
                    <a:lnTo>
                      <a:pt x="4432649" y="248455"/>
                    </a:lnTo>
                    <a:cubicBezTo>
                      <a:pt x="4837272" y="450385"/>
                      <a:pt x="5340858" y="701654"/>
                      <a:pt x="5841206" y="475721"/>
                    </a:cubicBezTo>
                    <a:lnTo>
                      <a:pt x="5843588" y="481055"/>
                    </a:lnTo>
                    <a:cubicBezTo>
                      <a:pt x="5702618" y="544587"/>
                      <a:pt x="5561457" y="570590"/>
                      <a:pt x="5422392" y="570590"/>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0"/>
              <p:cNvSpPr/>
              <p:nvPr/>
            </p:nvSpPr>
            <p:spPr>
              <a:xfrm>
                <a:off x="671029" y="3699969"/>
                <a:ext cx="10905274" cy="1012575"/>
              </a:xfrm>
              <a:custGeom>
                <a:avLst/>
                <a:gdLst>
                  <a:gd name="connsiteX0" fmla="*/ 5295519 w 5708903"/>
                  <a:gd name="connsiteY0" fmla="*/ 603523 h 603523"/>
                  <a:gd name="connsiteX1" fmla="*/ 4290060 w 5708903"/>
                  <a:gd name="connsiteY1" fmla="*/ 272625 h 603523"/>
                  <a:gd name="connsiteX2" fmla="*/ 4286822 w 5708903"/>
                  <a:gd name="connsiteY2" fmla="*/ 271005 h 603523"/>
                  <a:gd name="connsiteX3" fmla="*/ 3253169 w 5708903"/>
                  <a:gd name="connsiteY3" fmla="*/ 12211 h 603523"/>
                  <a:gd name="connsiteX4" fmla="*/ 2764346 w 5708903"/>
                  <a:gd name="connsiteY4" fmla="*/ 205854 h 603523"/>
                  <a:gd name="connsiteX5" fmla="*/ 2592610 w 5708903"/>
                  <a:gd name="connsiteY5" fmla="*/ 298723 h 603523"/>
                  <a:gd name="connsiteX6" fmla="*/ 2038160 w 5708903"/>
                  <a:gd name="connsiteY6" fmla="*/ 451885 h 603523"/>
                  <a:gd name="connsiteX7" fmla="*/ 1434846 w 5708903"/>
                  <a:gd name="connsiteY7" fmla="*/ 342348 h 603523"/>
                  <a:gd name="connsiteX8" fmla="*/ 535305 w 5708903"/>
                  <a:gd name="connsiteY8" fmla="*/ 233191 h 603523"/>
                  <a:gd name="connsiteX9" fmla="*/ 123825 w 5708903"/>
                  <a:gd name="connsiteY9" fmla="*/ 390354 h 603523"/>
                  <a:gd name="connsiteX10" fmla="*/ 2191 w 5708903"/>
                  <a:gd name="connsiteY10" fmla="*/ 450456 h 603523"/>
                  <a:gd name="connsiteX11" fmla="*/ 0 w 5708903"/>
                  <a:gd name="connsiteY11" fmla="*/ 445789 h 603523"/>
                  <a:gd name="connsiteX12" fmla="*/ 121539 w 5708903"/>
                  <a:gd name="connsiteY12" fmla="*/ 385782 h 603523"/>
                  <a:gd name="connsiteX13" fmla="*/ 534543 w 5708903"/>
                  <a:gd name="connsiteY13" fmla="*/ 228143 h 603523"/>
                  <a:gd name="connsiteX14" fmla="*/ 1436561 w 5708903"/>
                  <a:gd name="connsiteY14" fmla="*/ 337585 h 603523"/>
                  <a:gd name="connsiteX15" fmla="*/ 2037874 w 5708903"/>
                  <a:gd name="connsiteY15" fmla="*/ 446837 h 603523"/>
                  <a:gd name="connsiteX16" fmla="*/ 2590610 w 5708903"/>
                  <a:gd name="connsiteY16" fmla="*/ 294151 h 603523"/>
                  <a:gd name="connsiteX17" fmla="*/ 2761869 w 5708903"/>
                  <a:gd name="connsiteY17" fmla="*/ 201568 h 603523"/>
                  <a:gd name="connsiteX18" fmla="*/ 3252692 w 5708903"/>
                  <a:gd name="connsiteY18" fmla="*/ 7258 h 603523"/>
                  <a:gd name="connsiteX19" fmla="*/ 4289298 w 5708903"/>
                  <a:gd name="connsiteY19" fmla="*/ 266624 h 603523"/>
                  <a:gd name="connsiteX20" fmla="*/ 4292537 w 5708903"/>
                  <a:gd name="connsiteY20" fmla="*/ 268338 h 603523"/>
                  <a:gd name="connsiteX21" fmla="*/ 5706999 w 5708903"/>
                  <a:gd name="connsiteY21" fmla="*/ 520084 h 603523"/>
                  <a:gd name="connsiteX22" fmla="*/ 5708904 w 5708903"/>
                  <a:gd name="connsiteY22" fmla="*/ 524942 h 603523"/>
                  <a:gd name="connsiteX23" fmla="*/ 5295519 w 5708903"/>
                  <a:gd name="connsiteY23" fmla="*/ 603523 h 60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08903" h="603523">
                    <a:moveTo>
                      <a:pt x="5295519" y="603523"/>
                    </a:moveTo>
                    <a:cubicBezTo>
                      <a:pt x="4922235" y="603523"/>
                      <a:pt x="4580096" y="424453"/>
                      <a:pt x="4290060" y="272625"/>
                    </a:cubicBezTo>
                    <a:lnTo>
                      <a:pt x="4286822" y="271005"/>
                    </a:lnTo>
                    <a:cubicBezTo>
                      <a:pt x="3881533" y="58883"/>
                      <a:pt x="3562731" y="-20936"/>
                      <a:pt x="3253169" y="12211"/>
                    </a:cubicBezTo>
                    <a:cubicBezTo>
                      <a:pt x="3061145" y="32785"/>
                      <a:pt x="2903506" y="124701"/>
                      <a:pt x="2764346" y="205854"/>
                    </a:cubicBezTo>
                    <a:cubicBezTo>
                      <a:pt x="2704243" y="240906"/>
                      <a:pt x="2647474" y="274053"/>
                      <a:pt x="2592610" y="298723"/>
                    </a:cubicBezTo>
                    <a:cubicBezTo>
                      <a:pt x="2391061" y="389401"/>
                      <a:pt x="2204466" y="440931"/>
                      <a:pt x="2038160" y="451885"/>
                    </a:cubicBezTo>
                    <a:cubicBezTo>
                      <a:pt x="1806321" y="470554"/>
                      <a:pt x="1625822" y="408261"/>
                      <a:pt x="1434846" y="342348"/>
                    </a:cubicBezTo>
                    <a:cubicBezTo>
                      <a:pt x="1189101" y="257480"/>
                      <a:pt x="934974" y="169755"/>
                      <a:pt x="535305" y="233191"/>
                    </a:cubicBezTo>
                    <a:cubicBezTo>
                      <a:pt x="388430" y="256527"/>
                      <a:pt x="253937" y="324536"/>
                      <a:pt x="123825" y="390354"/>
                    </a:cubicBezTo>
                    <a:cubicBezTo>
                      <a:pt x="84011" y="410547"/>
                      <a:pt x="42767" y="431311"/>
                      <a:pt x="2191" y="450456"/>
                    </a:cubicBezTo>
                    <a:lnTo>
                      <a:pt x="0" y="445789"/>
                    </a:lnTo>
                    <a:cubicBezTo>
                      <a:pt x="40577" y="426739"/>
                      <a:pt x="81725" y="405879"/>
                      <a:pt x="121539" y="385782"/>
                    </a:cubicBezTo>
                    <a:cubicBezTo>
                      <a:pt x="251936" y="319773"/>
                      <a:pt x="386810" y="251479"/>
                      <a:pt x="534543" y="228143"/>
                    </a:cubicBezTo>
                    <a:cubicBezTo>
                      <a:pt x="935450" y="164516"/>
                      <a:pt x="1190149" y="252527"/>
                      <a:pt x="1436561" y="337585"/>
                    </a:cubicBezTo>
                    <a:cubicBezTo>
                      <a:pt x="1627061" y="403403"/>
                      <a:pt x="1807083" y="465506"/>
                      <a:pt x="2037874" y="446837"/>
                    </a:cubicBezTo>
                    <a:cubicBezTo>
                      <a:pt x="2203609" y="435883"/>
                      <a:pt x="2389632" y="384543"/>
                      <a:pt x="2590610" y="294151"/>
                    </a:cubicBezTo>
                    <a:cubicBezTo>
                      <a:pt x="2645188" y="269577"/>
                      <a:pt x="2701862" y="236525"/>
                      <a:pt x="2761869" y="201568"/>
                    </a:cubicBezTo>
                    <a:cubicBezTo>
                      <a:pt x="2901410" y="120129"/>
                      <a:pt x="3059621" y="27927"/>
                      <a:pt x="3252692" y="7258"/>
                    </a:cubicBezTo>
                    <a:cubicBezTo>
                      <a:pt x="3563303" y="-25984"/>
                      <a:pt x="3882962" y="54026"/>
                      <a:pt x="4289298" y="266624"/>
                    </a:cubicBezTo>
                    <a:lnTo>
                      <a:pt x="4292537" y="268338"/>
                    </a:lnTo>
                    <a:cubicBezTo>
                      <a:pt x="4685824" y="474174"/>
                      <a:pt x="5175219" y="730396"/>
                      <a:pt x="5706999" y="520084"/>
                    </a:cubicBezTo>
                    <a:lnTo>
                      <a:pt x="5708904" y="524942"/>
                    </a:lnTo>
                    <a:cubicBezTo>
                      <a:pt x="5567744" y="580473"/>
                      <a:pt x="5429536" y="603523"/>
                      <a:pt x="5295519" y="603523"/>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0"/>
              <p:cNvSpPr/>
              <p:nvPr/>
            </p:nvSpPr>
            <p:spPr>
              <a:xfrm>
                <a:off x="602617" y="3671621"/>
                <a:ext cx="10648181" cy="1092540"/>
              </a:xfrm>
              <a:custGeom>
                <a:avLst/>
                <a:gdLst>
                  <a:gd name="connsiteX0" fmla="*/ 5171884 w 5574315"/>
                  <a:gd name="connsiteY0" fmla="*/ 651185 h 651184"/>
                  <a:gd name="connsiteX1" fmla="*/ 4808601 w 5574315"/>
                  <a:gd name="connsiteY1" fmla="*/ 600226 h 651184"/>
                  <a:gd name="connsiteX2" fmla="*/ 4178237 w 5574315"/>
                  <a:gd name="connsiteY2" fmla="*/ 320381 h 651184"/>
                  <a:gd name="connsiteX3" fmla="*/ 3185255 w 5574315"/>
                  <a:gd name="connsiteY3" fmla="*/ 9771 h 651184"/>
                  <a:gd name="connsiteX4" fmla="*/ 3184493 w 5574315"/>
                  <a:gd name="connsiteY4" fmla="*/ 9676 h 651184"/>
                  <a:gd name="connsiteX5" fmla="*/ 2690622 w 5574315"/>
                  <a:gd name="connsiteY5" fmla="*/ 164267 h 651184"/>
                  <a:gd name="connsiteX6" fmla="*/ 2528888 w 5574315"/>
                  <a:gd name="connsiteY6" fmla="*/ 252563 h 651184"/>
                  <a:gd name="connsiteX7" fmla="*/ 1991487 w 5574315"/>
                  <a:gd name="connsiteY7" fmla="*/ 422108 h 651184"/>
                  <a:gd name="connsiteX8" fmla="*/ 1369028 w 5574315"/>
                  <a:gd name="connsiteY8" fmla="*/ 381913 h 651184"/>
                  <a:gd name="connsiteX9" fmla="*/ 532924 w 5574315"/>
                  <a:gd name="connsiteY9" fmla="*/ 333716 h 651184"/>
                  <a:gd name="connsiteX10" fmla="*/ 151733 w 5574315"/>
                  <a:gd name="connsiteY10" fmla="*/ 456113 h 651184"/>
                  <a:gd name="connsiteX11" fmla="*/ 1619 w 5574315"/>
                  <a:gd name="connsiteY11" fmla="*/ 516311 h 651184"/>
                  <a:gd name="connsiteX12" fmla="*/ 0 w 5574315"/>
                  <a:gd name="connsiteY12" fmla="*/ 512024 h 651184"/>
                  <a:gd name="connsiteX13" fmla="*/ 149923 w 5574315"/>
                  <a:gd name="connsiteY13" fmla="*/ 451922 h 651184"/>
                  <a:gd name="connsiteX14" fmla="*/ 532257 w 5574315"/>
                  <a:gd name="connsiteY14" fmla="*/ 329144 h 651184"/>
                  <a:gd name="connsiteX15" fmla="*/ 1369981 w 5574315"/>
                  <a:gd name="connsiteY15" fmla="*/ 377341 h 651184"/>
                  <a:gd name="connsiteX16" fmla="*/ 1990725 w 5574315"/>
                  <a:gd name="connsiteY16" fmla="*/ 417441 h 651184"/>
                  <a:gd name="connsiteX17" fmla="*/ 2527078 w 5574315"/>
                  <a:gd name="connsiteY17" fmla="*/ 248277 h 651184"/>
                  <a:gd name="connsiteX18" fmla="*/ 2688241 w 5574315"/>
                  <a:gd name="connsiteY18" fmla="*/ 160266 h 651184"/>
                  <a:gd name="connsiteX19" fmla="*/ 3185160 w 5574315"/>
                  <a:gd name="connsiteY19" fmla="*/ 5104 h 651184"/>
                  <a:gd name="connsiteX20" fmla="*/ 3185922 w 5574315"/>
                  <a:gd name="connsiteY20" fmla="*/ 5199 h 651184"/>
                  <a:gd name="connsiteX21" fmla="*/ 4180427 w 5574315"/>
                  <a:gd name="connsiteY21" fmla="*/ 316286 h 651184"/>
                  <a:gd name="connsiteX22" fmla="*/ 5572792 w 5574315"/>
                  <a:gd name="connsiteY22" fmla="*/ 578699 h 651184"/>
                  <a:gd name="connsiteX23" fmla="*/ 5574316 w 5574315"/>
                  <a:gd name="connsiteY23" fmla="*/ 582986 h 651184"/>
                  <a:gd name="connsiteX24" fmla="*/ 5171884 w 5574315"/>
                  <a:gd name="connsiteY24" fmla="*/ 651185 h 65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574315" h="651184">
                    <a:moveTo>
                      <a:pt x="5171884" y="651185"/>
                    </a:moveTo>
                    <a:cubicBezTo>
                      <a:pt x="5053679" y="651185"/>
                      <a:pt x="4933093" y="634135"/>
                      <a:pt x="4808601" y="600226"/>
                    </a:cubicBezTo>
                    <a:cubicBezTo>
                      <a:pt x="4583240" y="538694"/>
                      <a:pt x="4381881" y="432681"/>
                      <a:pt x="4178237" y="320381"/>
                    </a:cubicBezTo>
                    <a:cubicBezTo>
                      <a:pt x="3779044" y="100163"/>
                      <a:pt x="3477197" y="54253"/>
                      <a:pt x="3185255" y="9771"/>
                    </a:cubicBezTo>
                    <a:lnTo>
                      <a:pt x="3184493" y="9676"/>
                    </a:lnTo>
                    <a:cubicBezTo>
                      <a:pt x="2997518" y="-18804"/>
                      <a:pt x="2834450" y="78446"/>
                      <a:pt x="2690622" y="164267"/>
                    </a:cubicBezTo>
                    <a:cubicBezTo>
                      <a:pt x="2634044" y="197985"/>
                      <a:pt x="2580608" y="229894"/>
                      <a:pt x="2528888" y="252563"/>
                    </a:cubicBezTo>
                    <a:cubicBezTo>
                      <a:pt x="2331434" y="339241"/>
                      <a:pt x="2150555" y="396200"/>
                      <a:pt x="1991487" y="422108"/>
                    </a:cubicBezTo>
                    <a:cubicBezTo>
                      <a:pt x="1749076" y="464876"/>
                      <a:pt x="1564481" y="424585"/>
                      <a:pt x="1369028" y="381913"/>
                    </a:cubicBezTo>
                    <a:cubicBezTo>
                      <a:pt x="1151382" y="334383"/>
                      <a:pt x="904685" y="280567"/>
                      <a:pt x="532924" y="333716"/>
                    </a:cubicBezTo>
                    <a:cubicBezTo>
                      <a:pt x="400050" y="352671"/>
                      <a:pt x="273844" y="405249"/>
                      <a:pt x="151733" y="456113"/>
                    </a:cubicBezTo>
                    <a:cubicBezTo>
                      <a:pt x="102775" y="476496"/>
                      <a:pt x="52197" y="497546"/>
                      <a:pt x="1619" y="516311"/>
                    </a:cubicBezTo>
                    <a:lnTo>
                      <a:pt x="0" y="512024"/>
                    </a:lnTo>
                    <a:cubicBezTo>
                      <a:pt x="50387" y="493355"/>
                      <a:pt x="100965" y="472305"/>
                      <a:pt x="149923" y="451922"/>
                    </a:cubicBezTo>
                    <a:cubicBezTo>
                      <a:pt x="272320" y="400963"/>
                      <a:pt x="398812" y="348290"/>
                      <a:pt x="532257" y="329144"/>
                    </a:cubicBezTo>
                    <a:cubicBezTo>
                      <a:pt x="904780" y="275900"/>
                      <a:pt x="1151954" y="329811"/>
                      <a:pt x="1369981" y="377341"/>
                    </a:cubicBezTo>
                    <a:cubicBezTo>
                      <a:pt x="1564958" y="419918"/>
                      <a:pt x="1749076" y="460113"/>
                      <a:pt x="1990725" y="417441"/>
                    </a:cubicBezTo>
                    <a:cubicBezTo>
                      <a:pt x="2149507" y="391628"/>
                      <a:pt x="2329910" y="334764"/>
                      <a:pt x="2527078" y="248277"/>
                    </a:cubicBezTo>
                    <a:cubicBezTo>
                      <a:pt x="2578513" y="225703"/>
                      <a:pt x="2631853" y="193889"/>
                      <a:pt x="2688241" y="160266"/>
                    </a:cubicBezTo>
                    <a:cubicBezTo>
                      <a:pt x="2832735" y="74065"/>
                      <a:pt x="2996470" y="-23566"/>
                      <a:pt x="3185160" y="5104"/>
                    </a:cubicBezTo>
                    <a:lnTo>
                      <a:pt x="3185922" y="5199"/>
                    </a:lnTo>
                    <a:cubicBezTo>
                      <a:pt x="3478244" y="49681"/>
                      <a:pt x="3780568" y="95687"/>
                      <a:pt x="4180427" y="316286"/>
                    </a:cubicBezTo>
                    <a:cubicBezTo>
                      <a:pt x="4529424" y="508881"/>
                      <a:pt x="5007388" y="772628"/>
                      <a:pt x="5572792" y="578699"/>
                    </a:cubicBezTo>
                    <a:lnTo>
                      <a:pt x="5574316" y="582986"/>
                    </a:lnTo>
                    <a:cubicBezTo>
                      <a:pt x="5441823" y="628420"/>
                      <a:pt x="5308473" y="651185"/>
                      <a:pt x="5171884" y="651185"/>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0"/>
              <p:cNvSpPr/>
              <p:nvPr/>
            </p:nvSpPr>
            <p:spPr>
              <a:xfrm>
                <a:off x="534204" y="3626335"/>
                <a:ext cx="10391088" cy="1190084"/>
              </a:xfrm>
              <a:custGeom>
                <a:avLst/>
                <a:gdLst>
                  <a:gd name="connsiteX0" fmla="*/ 5049108 w 5439727"/>
                  <a:gd name="connsiteY0" fmla="*/ 709324 h 709323"/>
                  <a:gd name="connsiteX1" fmla="*/ 4673537 w 5439727"/>
                  <a:gd name="connsiteY1" fmla="*/ 656460 h 709323"/>
                  <a:gd name="connsiteX2" fmla="*/ 4069747 w 5439727"/>
                  <a:gd name="connsiteY2" fmla="*/ 379759 h 709323"/>
                  <a:gd name="connsiteX3" fmla="*/ 3174302 w 5439727"/>
                  <a:gd name="connsiteY3" fmla="*/ 32477 h 709323"/>
                  <a:gd name="connsiteX4" fmla="*/ 3116294 w 5439727"/>
                  <a:gd name="connsiteY4" fmla="*/ 17142 h 709323"/>
                  <a:gd name="connsiteX5" fmla="*/ 2610707 w 5439727"/>
                  <a:gd name="connsiteY5" fmla="*/ 143158 h 709323"/>
                  <a:gd name="connsiteX6" fmla="*/ 2465261 w 5439727"/>
                  <a:gd name="connsiteY6" fmla="*/ 216500 h 709323"/>
                  <a:gd name="connsiteX7" fmla="*/ 1944910 w 5439727"/>
                  <a:gd name="connsiteY7" fmla="*/ 402333 h 709323"/>
                  <a:gd name="connsiteX8" fmla="*/ 1277207 w 5439727"/>
                  <a:gd name="connsiteY8" fmla="*/ 439766 h 709323"/>
                  <a:gd name="connsiteX9" fmla="*/ 530543 w 5439727"/>
                  <a:gd name="connsiteY9" fmla="*/ 444434 h 709323"/>
                  <a:gd name="connsiteX10" fmla="*/ 183833 w 5439727"/>
                  <a:gd name="connsiteY10" fmla="*/ 535207 h 709323"/>
                  <a:gd name="connsiteX11" fmla="*/ 1048 w 5439727"/>
                  <a:gd name="connsiteY11" fmla="*/ 592357 h 709323"/>
                  <a:gd name="connsiteX12" fmla="*/ 0 w 5439727"/>
                  <a:gd name="connsiteY12" fmla="*/ 588642 h 709323"/>
                  <a:gd name="connsiteX13" fmla="*/ 182594 w 5439727"/>
                  <a:gd name="connsiteY13" fmla="*/ 531587 h 709323"/>
                  <a:gd name="connsiteX14" fmla="*/ 530066 w 5439727"/>
                  <a:gd name="connsiteY14" fmla="*/ 440719 h 709323"/>
                  <a:gd name="connsiteX15" fmla="*/ 1277588 w 5439727"/>
                  <a:gd name="connsiteY15" fmla="*/ 436052 h 709323"/>
                  <a:gd name="connsiteX16" fmla="*/ 1943862 w 5439727"/>
                  <a:gd name="connsiteY16" fmla="*/ 398714 h 709323"/>
                  <a:gd name="connsiteX17" fmla="*/ 2463737 w 5439727"/>
                  <a:gd name="connsiteY17" fmla="*/ 213071 h 709323"/>
                  <a:gd name="connsiteX18" fmla="*/ 2608898 w 5439727"/>
                  <a:gd name="connsiteY18" fmla="*/ 139919 h 709323"/>
                  <a:gd name="connsiteX19" fmla="*/ 3117342 w 5439727"/>
                  <a:gd name="connsiteY19" fmla="*/ 13523 h 709323"/>
                  <a:gd name="connsiteX20" fmla="*/ 3175254 w 5439727"/>
                  <a:gd name="connsiteY20" fmla="*/ 28858 h 709323"/>
                  <a:gd name="connsiteX21" fmla="*/ 4071652 w 5439727"/>
                  <a:gd name="connsiteY21" fmla="*/ 376520 h 709323"/>
                  <a:gd name="connsiteX22" fmla="*/ 5438585 w 5439727"/>
                  <a:gd name="connsiteY22" fmla="*/ 647983 h 709323"/>
                  <a:gd name="connsiteX23" fmla="*/ 5439728 w 5439727"/>
                  <a:gd name="connsiteY23" fmla="*/ 651698 h 709323"/>
                  <a:gd name="connsiteX24" fmla="*/ 5049108 w 5439727"/>
                  <a:gd name="connsiteY24" fmla="*/ 709324 h 70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39727" h="709323">
                    <a:moveTo>
                      <a:pt x="5049108" y="709324"/>
                    </a:moveTo>
                    <a:cubicBezTo>
                      <a:pt x="4924806" y="709324"/>
                      <a:pt x="4800219" y="691703"/>
                      <a:pt x="4673537" y="656460"/>
                    </a:cubicBezTo>
                    <a:cubicBezTo>
                      <a:pt x="4444842" y="592833"/>
                      <a:pt x="4241959" y="480248"/>
                      <a:pt x="4069747" y="379759"/>
                    </a:cubicBezTo>
                    <a:cubicBezTo>
                      <a:pt x="3722846" y="177257"/>
                      <a:pt x="3456432" y="106963"/>
                      <a:pt x="3174302" y="32477"/>
                    </a:cubicBezTo>
                    <a:cubicBezTo>
                      <a:pt x="3155061" y="27429"/>
                      <a:pt x="3135725" y="22286"/>
                      <a:pt x="3116294" y="17142"/>
                    </a:cubicBezTo>
                    <a:cubicBezTo>
                      <a:pt x="2933891" y="-31340"/>
                      <a:pt x="2762155" y="61338"/>
                      <a:pt x="2610707" y="143158"/>
                    </a:cubicBezTo>
                    <a:cubicBezTo>
                      <a:pt x="2559844" y="170590"/>
                      <a:pt x="2511838" y="196593"/>
                      <a:pt x="2465261" y="216500"/>
                    </a:cubicBezTo>
                    <a:cubicBezTo>
                      <a:pt x="2271427" y="299368"/>
                      <a:pt x="2096357" y="361947"/>
                      <a:pt x="1944910" y="402333"/>
                    </a:cubicBezTo>
                    <a:cubicBezTo>
                      <a:pt x="1680877" y="475390"/>
                      <a:pt x="1493806" y="458912"/>
                      <a:pt x="1277207" y="439766"/>
                    </a:cubicBezTo>
                    <a:cubicBezTo>
                      <a:pt x="1081183" y="422431"/>
                      <a:pt x="858965" y="402905"/>
                      <a:pt x="530543" y="444434"/>
                    </a:cubicBezTo>
                    <a:cubicBezTo>
                      <a:pt x="412433" y="459388"/>
                      <a:pt x="301371" y="496250"/>
                      <a:pt x="183833" y="535207"/>
                    </a:cubicBezTo>
                    <a:cubicBezTo>
                      <a:pt x="124492" y="554828"/>
                      <a:pt x="63151" y="575212"/>
                      <a:pt x="1048" y="592357"/>
                    </a:cubicBezTo>
                    <a:lnTo>
                      <a:pt x="0" y="588642"/>
                    </a:lnTo>
                    <a:cubicBezTo>
                      <a:pt x="62008" y="571497"/>
                      <a:pt x="123254" y="551209"/>
                      <a:pt x="182594" y="531587"/>
                    </a:cubicBezTo>
                    <a:cubicBezTo>
                      <a:pt x="300323" y="492535"/>
                      <a:pt x="411575" y="455673"/>
                      <a:pt x="530066" y="440719"/>
                    </a:cubicBezTo>
                    <a:cubicBezTo>
                      <a:pt x="858965" y="399095"/>
                      <a:pt x="1081373" y="418716"/>
                      <a:pt x="1277588" y="436052"/>
                    </a:cubicBezTo>
                    <a:cubicBezTo>
                      <a:pt x="1493806" y="455102"/>
                      <a:pt x="1680591" y="471580"/>
                      <a:pt x="1943862" y="398714"/>
                    </a:cubicBezTo>
                    <a:cubicBezTo>
                      <a:pt x="2095119" y="358328"/>
                      <a:pt x="2269998" y="295844"/>
                      <a:pt x="2463737" y="213071"/>
                    </a:cubicBezTo>
                    <a:cubicBezTo>
                      <a:pt x="2510124" y="193259"/>
                      <a:pt x="2558129" y="167351"/>
                      <a:pt x="2608898" y="139919"/>
                    </a:cubicBezTo>
                    <a:cubicBezTo>
                      <a:pt x="2761012" y="57814"/>
                      <a:pt x="2933415" y="-35341"/>
                      <a:pt x="3117342" y="13523"/>
                    </a:cubicBezTo>
                    <a:cubicBezTo>
                      <a:pt x="3136678" y="18666"/>
                      <a:pt x="3156014" y="23810"/>
                      <a:pt x="3175254" y="28858"/>
                    </a:cubicBezTo>
                    <a:cubicBezTo>
                      <a:pt x="3457575" y="103343"/>
                      <a:pt x="3724370" y="173733"/>
                      <a:pt x="4071652" y="376520"/>
                    </a:cubicBezTo>
                    <a:cubicBezTo>
                      <a:pt x="4459701" y="603120"/>
                      <a:pt x="4884992" y="810670"/>
                      <a:pt x="5438585" y="647983"/>
                    </a:cubicBezTo>
                    <a:lnTo>
                      <a:pt x="5439728" y="651698"/>
                    </a:lnTo>
                    <a:cubicBezTo>
                      <a:pt x="5308664" y="690083"/>
                      <a:pt x="5179029" y="709324"/>
                      <a:pt x="5049108" y="709324"/>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0"/>
              <p:cNvSpPr/>
              <p:nvPr/>
            </p:nvSpPr>
            <p:spPr>
              <a:xfrm>
                <a:off x="466157" y="3602175"/>
                <a:ext cx="10133995" cy="1266981"/>
              </a:xfrm>
              <a:custGeom>
                <a:avLst/>
                <a:gdLst>
                  <a:gd name="connsiteX0" fmla="*/ 4928045 w 5305139"/>
                  <a:gd name="connsiteY0" fmla="*/ 755157 h 755156"/>
                  <a:gd name="connsiteX1" fmla="*/ 3961067 w 5305139"/>
                  <a:gd name="connsiteY1" fmla="*/ 426544 h 755156"/>
                  <a:gd name="connsiteX2" fmla="*/ 3048381 w 5305139"/>
                  <a:gd name="connsiteY2" fmla="*/ 12111 h 755156"/>
                  <a:gd name="connsiteX3" fmla="*/ 2481834 w 5305139"/>
                  <a:gd name="connsiteY3" fmla="*/ 133269 h 755156"/>
                  <a:gd name="connsiteX4" fmla="*/ 2401538 w 5305139"/>
                  <a:gd name="connsiteY4" fmla="*/ 167750 h 755156"/>
                  <a:gd name="connsiteX5" fmla="*/ 1898142 w 5305139"/>
                  <a:gd name="connsiteY5" fmla="*/ 369966 h 755156"/>
                  <a:gd name="connsiteX6" fmla="*/ 1108996 w 5305139"/>
                  <a:gd name="connsiteY6" fmla="*/ 505221 h 755156"/>
                  <a:gd name="connsiteX7" fmla="*/ 528161 w 5305139"/>
                  <a:gd name="connsiteY7" fmla="*/ 542559 h 755156"/>
                  <a:gd name="connsiteX8" fmla="*/ 222409 w 5305139"/>
                  <a:gd name="connsiteY8" fmla="*/ 604947 h 755156"/>
                  <a:gd name="connsiteX9" fmla="*/ 571 w 5305139"/>
                  <a:gd name="connsiteY9" fmla="*/ 655811 h 755156"/>
                  <a:gd name="connsiteX10" fmla="*/ 0 w 5305139"/>
                  <a:gd name="connsiteY10" fmla="*/ 652572 h 755156"/>
                  <a:gd name="connsiteX11" fmla="*/ 221647 w 5305139"/>
                  <a:gd name="connsiteY11" fmla="*/ 601804 h 755156"/>
                  <a:gd name="connsiteX12" fmla="*/ 527876 w 5305139"/>
                  <a:gd name="connsiteY12" fmla="*/ 539320 h 755156"/>
                  <a:gd name="connsiteX13" fmla="*/ 1108996 w 5305139"/>
                  <a:gd name="connsiteY13" fmla="*/ 501982 h 755156"/>
                  <a:gd name="connsiteX14" fmla="*/ 1897094 w 5305139"/>
                  <a:gd name="connsiteY14" fmla="*/ 366918 h 755156"/>
                  <a:gd name="connsiteX15" fmla="*/ 2400395 w 5305139"/>
                  <a:gd name="connsiteY15" fmla="*/ 164702 h 755156"/>
                  <a:gd name="connsiteX16" fmla="*/ 2480691 w 5305139"/>
                  <a:gd name="connsiteY16" fmla="*/ 130221 h 755156"/>
                  <a:gd name="connsiteX17" fmla="*/ 3049048 w 5305139"/>
                  <a:gd name="connsiteY17" fmla="*/ 8778 h 755156"/>
                  <a:gd name="connsiteX18" fmla="*/ 3962876 w 5305139"/>
                  <a:gd name="connsiteY18" fmla="*/ 423591 h 755156"/>
                  <a:gd name="connsiteX19" fmla="*/ 5304378 w 5305139"/>
                  <a:gd name="connsiteY19" fmla="*/ 704007 h 755156"/>
                  <a:gd name="connsiteX20" fmla="*/ 5305140 w 5305139"/>
                  <a:gd name="connsiteY20" fmla="*/ 707151 h 755156"/>
                  <a:gd name="connsiteX21" fmla="*/ 4928045 w 5305139"/>
                  <a:gd name="connsiteY21" fmla="*/ 755157 h 75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05139" h="755156">
                    <a:moveTo>
                      <a:pt x="4928045" y="755157"/>
                    </a:moveTo>
                    <a:cubicBezTo>
                      <a:pt x="4531900" y="755157"/>
                      <a:pt x="4225100" y="590279"/>
                      <a:pt x="3961067" y="426544"/>
                    </a:cubicBezTo>
                    <a:cubicBezTo>
                      <a:pt x="3626930" y="219375"/>
                      <a:pt x="3365945" y="68309"/>
                      <a:pt x="3048381" y="12111"/>
                    </a:cubicBezTo>
                    <a:cubicBezTo>
                      <a:pt x="2843213" y="-24179"/>
                      <a:pt x="2651284" y="59451"/>
                      <a:pt x="2481834" y="133269"/>
                    </a:cubicBezTo>
                    <a:cubicBezTo>
                      <a:pt x="2454021" y="145366"/>
                      <a:pt x="2427827" y="156796"/>
                      <a:pt x="2401538" y="167750"/>
                    </a:cubicBezTo>
                    <a:cubicBezTo>
                      <a:pt x="2205990" y="249189"/>
                      <a:pt x="2036636" y="317197"/>
                      <a:pt x="1898142" y="369966"/>
                    </a:cubicBezTo>
                    <a:cubicBezTo>
                      <a:pt x="1583150" y="490266"/>
                      <a:pt x="1384268" y="496553"/>
                      <a:pt x="1108996" y="505221"/>
                    </a:cubicBezTo>
                    <a:cubicBezTo>
                      <a:pt x="950881" y="510174"/>
                      <a:pt x="771715" y="515889"/>
                      <a:pt x="528161" y="542559"/>
                    </a:cubicBezTo>
                    <a:cubicBezTo>
                      <a:pt x="426053" y="553703"/>
                      <a:pt x="327184" y="578563"/>
                      <a:pt x="222409" y="604947"/>
                    </a:cubicBezTo>
                    <a:cubicBezTo>
                      <a:pt x="150876" y="622950"/>
                      <a:pt x="76867" y="641523"/>
                      <a:pt x="571" y="655811"/>
                    </a:cubicBezTo>
                    <a:lnTo>
                      <a:pt x="0" y="652572"/>
                    </a:lnTo>
                    <a:cubicBezTo>
                      <a:pt x="76200" y="638380"/>
                      <a:pt x="150114" y="619806"/>
                      <a:pt x="221647" y="601804"/>
                    </a:cubicBezTo>
                    <a:cubicBezTo>
                      <a:pt x="326517" y="575420"/>
                      <a:pt x="425577" y="550560"/>
                      <a:pt x="527876" y="539320"/>
                    </a:cubicBezTo>
                    <a:cubicBezTo>
                      <a:pt x="771620" y="512650"/>
                      <a:pt x="950786" y="507030"/>
                      <a:pt x="1108996" y="501982"/>
                    </a:cubicBezTo>
                    <a:cubicBezTo>
                      <a:pt x="1383887" y="493314"/>
                      <a:pt x="1582579" y="487028"/>
                      <a:pt x="1897094" y="366918"/>
                    </a:cubicBezTo>
                    <a:cubicBezTo>
                      <a:pt x="2035588" y="314149"/>
                      <a:pt x="2204847" y="246141"/>
                      <a:pt x="2400395" y="164702"/>
                    </a:cubicBezTo>
                    <a:cubicBezTo>
                      <a:pt x="2426684" y="153748"/>
                      <a:pt x="2452878" y="142318"/>
                      <a:pt x="2480691" y="130221"/>
                    </a:cubicBezTo>
                    <a:cubicBezTo>
                      <a:pt x="2650522" y="56212"/>
                      <a:pt x="2843022" y="-27608"/>
                      <a:pt x="3049048" y="8778"/>
                    </a:cubicBezTo>
                    <a:cubicBezTo>
                      <a:pt x="3367183" y="65070"/>
                      <a:pt x="3628454" y="216232"/>
                      <a:pt x="3962876" y="423591"/>
                    </a:cubicBezTo>
                    <a:cubicBezTo>
                      <a:pt x="4304538" y="635523"/>
                      <a:pt x="4718209" y="849359"/>
                      <a:pt x="5304378" y="704007"/>
                    </a:cubicBezTo>
                    <a:lnTo>
                      <a:pt x="5305140" y="707151"/>
                    </a:lnTo>
                    <a:cubicBezTo>
                      <a:pt x="5170742" y="740679"/>
                      <a:pt x="5045488" y="755157"/>
                      <a:pt x="4928045" y="755157"/>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0"/>
              <p:cNvSpPr/>
              <p:nvPr/>
            </p:nvSpPr>
            <p:spPr>
              <a:xfrm>
                <a:off x="397744" y="3552004"/>
                <a:ext cx="9876902" cy="1370529"/>
              </a:xfrm>
              <a:custGeom>
                <a:avLst/>
                <a:gdLst>
                  <a:gd name="connsiteX0" fmla="*/ 4812030 w 5170551"/>
                  <a:gd name="connsiteY0" fmla="*/ 816873 h 816873"/>
                  <a:gd name="connsiteX1" fmla="*/ 4403122 w 5170551"/>
                  <a:gd name="connsiteY1" fmla="*/ 759628 h 816873"/>
                  <a:gd name="connsiteX2" fmla="*/ 3852672 w 5170551"/>
                  <a:gd name="connsiteY2" fmla="*/ 488927 h 816873"/>
                  <a:gd name="connsiteX3" fmla="*/ 3767328 w 5170551"/>
                  <a:gd name="connsiteY3" fmla="*/ 432254 h 816873"/>
                  <a:gd name="connsiteX4" fmla="*/ 2980373 w 5170551"/>
                  <a:gd name="connsiteY4" fmla="*/ 22679 h 816873"/>
                  <a:gd name="connsiteX5" fmla="*/ 2358295 w 5170551"/>
                  <a:gd name="connsiteY5" fmla="*/ 126501 h 816873"/>
                  <a:gd name="connsiteX6" fmla="*/ 2338007 w 5170551"/>
                  <a:gd name="connsiteY6" fmla="*/ 134693 h 816873"/>
                  <a:gd name="connsiteX7" fmla="*/ 1851565 w 5170551"/>
                  <a:gd name="connsiteY7" fmla="*/ 353291 h 816873"/>
                  <a:gd name="connsiteX8" fmla="*/ 617125 w 5170551"/>
                  <a:gd name="connsiteY8" fmla="*/ 648090 h 816873"/>
                  <a:gd name="connsiteX9" fmla="*/ 525971 w 5170551"/>
                  <a:gd name="connsiteY9" fmla="*/ 656377 h 816873"/>
                  <a:gd name="connsiteX10" fmla="*/ 272034 w 5170551"/>
                  <a:gd name="connsiteY10" fmla="*/ 694096 h 816873"/>
                  <a:gd name="connsiteX11" fmla="*/ 286 w 5170551"/>
                  <a:gd name="connsiteY11" fmla="*/ 734863 h 816873"/>
                  <a:gd name="connsiteX12" fmla="*/ 0 w 5170551"/>
                  <a:gd name="connsiteY12" fmla="*/ 732291 h 816873"/>
                  <a:gd name="connsiteX13" fmla="*/ 271558 w 5170551"/>
                  <a:gd name="connsiteY13" fmla="*/ 691524 h 816873"/>
                  <a:gd name="connsiteX14" fmla="*/ 525685 w 5170551"/>
                  <a:gd name="connsiteY14" fmla="*/ 653805 h 816873"/>
                  <a:gd name="connsiteX15" fmla="*/ 616839 w 5170551"/>
                  <a:gd name="connsiteY15" fmla="*/ 645518 h 816873"/>
                  <a:gd name="connsiteX16" fmla="*/ 1850326 w 5170551"/>
                  <a:gd name="connsiteY16" fmla="*/ 351005 h 816873"/>
                  <a:gd name="connsiteX17" fmla="*/ 2336959 w 5170551"/>
                  <a:gd name="connsiteY17" fmla="*/ 132311 h 816873"/>
                  <a:gd name="connsiteX18" fmla="*/ 2357247 w 5170551"/>
                  <a:gd name="connsiteY18" fmla="*/ 124120 h 816873"/>
                  <a:gd name="connsiteX19" fmla="*/ 2981040 w 5170551"/>
                  <a:gd name="connsiteY19" fmla="*/ 20202 h 816873"/>
                  <a:gd name="connsiteX20" fmla="*/ 3768757 w 5170551"/>
                  <a:gd name="connsiteY20" fmla="*/ 430158 h 816873"/>
                  <a:gd name="connsiteX21" fmla="*/ 3854101 w 5170551"/>
                  <a:gd name="connsiteY21" fmla="*/ 486832 h 816873"/>
                  <a:gd name="connsiteX22" fmla="*/ 5170075 w 5170551"/>
                  <a:gd name="connsiteY22" fmla="*/ 776297 h 816873"/>
                  <a:gd name="connsiteX23" fmla="*/ 5170551 w 5170551"/>
                  <a:gd name="connsiteY23" fmla="*/ 778868 h 816873"/>
                  <a:gd name="connsiteX24" fmla="*/ 4812030 w 5170551"/>
                  <a:gd name="connsiteY24" fmla="*/ 816873 h 816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70551" h="816873">
                    <a:moveTo>
                      <a:pt x="4812030" y="816873"/>
                    </a:moveTo>
                    <a:cubicBezTo>
                      <a:pt x="4670870" y="816873"/>
                      <a:pt x="4535424" y="797823"/>
                      <a:pt x="4403122" y="759628"/>
                    </a:cubicBezTo>
                    <a:cubicBezTo>
                      <a:pt x="4182237" y="695906"/>
                      <a:pt x="4000881" y="587035"/>
                      <a:pt x="3852672" y="488927"/>
                    </a:cubicBezTo>
                    <a:cubicBezTo>
                      <a:pt x="3823621" y="469687"/>
                      <a:pt x="3795141" y="450732"/>
                      <a:pt x="3767328" y="432254"/>
                    </a:cubicBezTo>
                    <a:cubicBezTo>
                      <a:pt x="3491770" y="248707"/>
                      <a:pt x="3274124" y="103832"/>
                      <a:pt x="2980373" y="22679"/>
                    </a:cubicBezTo>
                    <a:cubicBezTo>
                      <a:pt x="2762345" y="-37519"/>
                      <a:pt x="2547652" y="49634"/>
                      <a:pt x="2358295" y="126501"/>
                    </a:cubicBezTo>
                    <a:lnTo>
                      <a:pt x="2338007" y="134693"/>
                    </a:lnTo>
                    <a:cubicBezTo>
                      <a:pt x="2160080" y="206702"/>
                      <a:pt x="1991868" y="282330"/>
                      <a:pt x="1851565" y="353291"/>
                    </a:cubicBezTo>
                    <a:cubicBezTo>
                      <a:pt x="1395794" y="577605"/>
                      <a:pt x="1215295" y="593988"/>
                      <a:pt x="617125" y="648090"/>
                    </a:cubicBezTo>
                    <a:cubicBezTo>
                      <a:pt x="587788" y="650757"/>
                      <a:pt x="557403" y="653519"/>
                      <a:pt x="525971" y="656377"/>
                    </a:cubicBezTo>
                    <a:cubicBezTo>
                      <a:pt x="442531" y="663997"/>
                      <a:pt x="359759" y="678570"/>
                      <a:pt x="272034" y="694096"/>
                    </a:cubicBezTo>
                    <a:cubicBezTo>
                      <a:pt x="185166" y="709431"/>
                      <a:pt x="95250" y="725243"/>
                      <a:pt x="286" y="734863"/>
                    </a:cubicBezTo>
                    <a:lnTo>
                      <a:pt x="0" y="732291"/>
                    </a:lnTo>
                    <a:cubicBezTo>
                      <a:pt x="94869" y="722766"/>
                      <a:pt x="184690" y="706859"/>
                      <a:pt x="271558" y="691524"/>
                    </a:cubicBezTo>
                    <a:cubicBezTo>
                      <a:pt x="359283" y="676094"/>
                      <a:pt x="442150" y="661425"/>
                      <a:pt x="525685" y="653805"/>
                    </a:cubicBezTo>
                    <a:cubicBezTo>
                      <a:pt x="557117" y="650948"/>
                      <a:pt x="587502" y="648185"/>
                      <a:pt x="616839" y="645518"/>
                    </a:cubicBezTo>
                    <a:cubicBezTo>
                      <a:pt x="1214628" y="591416"/>
                      <a:pt x="1395032" y="575129"/>
                      <a:pt x="1850326" y="351005"/>
                    </a:cubicBezTo>
                    <a:cubicBezTo>
                      <a:pt x="1990725" y="280044"/>
                      <a:pt x="2159032" y="204416"/>
                      <a:pt x="2336959" y="132311"/>
                    </a:cubicBezTo>
                    <a:lnTo>
                      <a:pt x="2357247" y="124120"/>
                    </a:lnTo>
                    <a:cubicBezTo>
                      <a:pt x="2547080" y="47063"/>
                      <a:pt x="2762155" y="-40282"/>
                      <a:pt x="2981040" y="20202"/>
                    </a:cubicBezTo>
                    <a:cubicBezTo>
                      <a:pt x="3275267" y="101450"/>
                      <a:pt x="3493008" y="246516"/>
                      <a:pt x="3768757" y="430158"/>
                    </a:cubicBezTo>
                    <a:cubicBezTo>
                      <a:pt x="3796570" y="448732"/>
                      <a:pt x="3824954" y="467591"/>
                      <a:pt x="3854101" y="486832"/>
                    </a:cubicBezTo>
                    <a:cubicBezTo>
                      <a:pt x="4189095" y="708574"/>
                      <a:pt x="4580382" y="897074"/>
                      <a:pt x="5170075" y="776297"/>
                    </a:cubicBezTo>
                    <a:lnTo>
                      <a:pt x="5170551" y="778868"/>
                    </a:lnTo>
                    <a:cubicBezTo>
                      <a:pt x="5046440" y="804205"/>
                      <a:pt x="4927282" y="816873"/>
                      <a:pt x="4812030" y="816873"/>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0"/>
              <p:cNvSpPr/>
              <p:nvPr/>
            </p:nvSpPr>
            <p:spPr>
              <a:xfrm>
                <a:off x="329148" y="3494059"/>
                <a:ext cx="9620535" cy="1482648"/>
              </a:xfrm>
              <a:custGeom>
                <a:avLst/>
                <a:gdLst>
                  <a:gd name="connsiteX0" fmla="*/ 4700207 w 5036343"/>
                  <a:gd name="connsiteY0" fmla="*/ 883700 h 883699"/>
                  <a:gd name="connsiteX1" fmla="*/ 4267867 w 5036343"/>
                  <a:gd name="connsiteY1" fmla="*/ 823788 h 883699"/>
                  <a:gd name="connsiteX2" fmla="*/ 3744182 w 5036343"/>
                  <a:gd name="connsiteY2" fmla="*/ 555849 h 883699"/>
                  <a:gd name="connsiteX3" fmla="*/ 3574637 w 5036343"/>
                  <a:gd name="connsiteY3" fmla="*/ 432405 h 883699"/>
                  <a:gd name="connsiteX4" fmla="*/ 2912364 w 5036343"/>
                  <a:gd name="connsiteY4" fmla="*/ 37689 h 883699"/>
                  <a:gd name="connsiteX5" fmla="*/ 2274380 w 5036343"/>
                  <a:gd name="connsiteY5" fmla="*/ 106174 h 883699"/>
                  <a:gd name="connsiteX6" fmla="*/ 1804702 w 5036343"/>
                  <a:gd name="connsiteY6" fmla="*/ 341156 h 883699"/>
                  <a:gd name="connsiteX7" fmla="*/ 1773269 w 5036343"/>
                  <a:gd name="connsiteY7" fmla="*/ 360301 h 883699"/>
                  <a:gd name="connsiteX8" fmla="*/ 523684 w 5036343"/>
                  <a:gd name="connsiteY8" fmla="*/ 774639 h 883699"/>
                  <a:gd name="connsiteX9" fmla="*/ 342138 w 5036343"/>
                  <a:gd name="connsiteY9" fmla="*/ 792165 h 883699"/>
                  <a:gd name="connsiteX10" fmla="*/ 0 w 5036343"/>
                  <a:gd name="connsiteY10" fmla="*/ 818263 h 883699"/>
                  <a:gd name="connsiteX11" fmla="*/ 0 w 5036343"/>
                  <a:gd name="connsiteY11" fmla="*/ 816358 h 883699"/>
                  <a:gd name="connsiteX12" fmla="*/ 342043 w 5036343"/>
                  <a:gd name="connsiteY12" fmla="*/ 790260 h 883699"/>
                  <a:gd name="connsiteX13" fmla="*/ 523684 w 5036343"/>
                  <a:gd name="connsiteY13" fmla="*/ 772734 h 883699"/>
                  <a:gd name="connsiteX14" fmla="*/ 1772412 w 5036343"/>
                  <a:gd name="connsiteY14" fmla="*/ 358682 h 883699"/>
                  <a:gd name="connsiteX15" fmla="*/ 1803845 w 5036343"/>
                  <a:gd name="connsiteY15" fmla="*/ 339536 h 883699"/>
                  <a:gd name="connsiteX16" fmla="*/ 2273808 w 5036343"/>
                  <a:gd name="connsiteY16" fmla="*/ 104460 h 883699"/>
                  <a:gd name="connsiteX17" fmla="*/ 2586800 w 5036343"/>
                  <a:gd name="connsiteY17" fmla="*/ 10448 h 883699"/>
                  <a:gd name="connsiteX18" fmla="*/ 2913221 w 5036343"/>
                  <a:gd name="connsiteY18" fmla="*/ 35975 h 883699"/>
                  <a:gd name="connsiteX19" fmla="*/ 3575971 w 5036343"/>
                  <a:gd name="connsiteY19" fmla="*/ 430977 h 883699"/>
                  <a:gd name="connsiteX20" fmla="*/ 3745516 w 5036343"/>
                  <a:gd name="connsiteY20" fmla="*/ 554421 h 883699"/>
                  <a:gd name="connsiteX21" fmla="*/ 5036058 w 5036343"/>
                  <a:gd name="connsiteY21" fmla="*/ 852934 h 883699"/>
                  <a:gd name="connsiteX22" fmla="*/ 5036344 w 5036343"/>
                  <a:gd name="connsiteY22" fmla="*/ 854839 h 883699"/>
                  <a:gd name="connsiteX23" fmla="*/ 4700207 w 5036343"/>
                  <a:gd name="connsiteY23" fmla="*/ 883700 h 88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36343" h="883699">
                    <a:moveTo>
                      <a:pt x="4700207" y="883700"/>
                    </a:moveTo>
                    <a:cubicBezTo>
                      <a:pt x="4546949" y="883700"/>
                      <a:pt x="4403789" y="863793"/>
                      <a:pt x="4267867" y="823788"/>
                    </a:cubicBezTo>
                    <a:cubicBezTo>
                      <a:pt x="4046411" y="758637"/>
                      <a:pt x="3871722" y="646432"/>
                      <a:pt x="3744182" y="555849"/>
                    </a:cubicBezTo>
                    <a:cubicBezTo>
                      <a:pt x="3685223" y="513939"/>
                      <a:pt x="3629025" y="472506"/>
                      <a:pt x="3574637" y="432405"/>
                    </a:cubicBezTo>
                    <a:cubicBezTo>
                      <a:pt x="3359944" y="273909"/>
                      <a:pt x="3174492" y="137130"/>
                      <a:pt x="2912364" y="37689"/>
                    </a:cubicBezTo>
                    <a:cubicBezTo>
                      <a:pt x="2694432" y="-44988"/>
                      <a:pt x="2468785" y="29688"/>
                      <a:pt x="2274380" y="106174"/>
                    </a:cubicBezTo>
                    <a:cubicBezTo>
                      <a:pt x="2099215" y="175040"/>
                      <a:pt x="1936814" y="256288"/>
                      <a:pt x="1804702" y="341156"/>
                    </a:cubicBezTo>
                    <a:lnTo>
                      <a:pt x="1773269" y="360301"/>
                    </a:lnTo>
                    <a:cubicBezTo>
                      <a:pt x="1333310" y="628049"/>
                      <a:pt x="1168622" y="728252"/>
                      <a:pt x="523684" y="774639"/>
                    </a:cubicBezTo>
                    <a:cubicBezTo>
                      <a:pt x="464534" y="778925"/>
                      <a:pt x="405098" y="785307"/>
                      <a:pt x="342138" y="792165"/>
                    </a:cubicBezTo>
                    <a:cubicBezTo>
                      <a:pt x="234220" y="803880"/>
                      <a:pt x="122587" y="815977"/>
                      <a:pt x="0" y="818263"/>
                    </a:cubicBezTo>
                    <a:lnTo>
                      <a:pt x="0" y="816358"/>
                    </a:lnTo>
                    <a:cubicBezTo>
                      <a:pt x="122587" y="814072"/>
                      <a:pt x="234125" y="801975"/>
                      <a:pt x="342043" y="790260"/>
                    </a:cubicBezTo>
                    <a:cubicBezTo>
                      <a:pt x="405003" y="783402"/>
                      <a:pt x="464534" y="776924"/>
                      <a:pt x="523684" y="772734"/>
                    </a:cubicBezTo>
                    <a:cubicBezTo>
                      <a:pt x="1168146" y="726347"/>
                      <a:pt x="1332738" y="626239"/>
                      <a:pt x="1772412" y="358682"/>
                    </a:cubicBezTo>
                    <a:lnTo>
                      <a:pt x="1803845" y="339536"/>
                    </a:lnTo>
                    <a:cubicBezTo>
                      <a:pt x="1935956" y="254669"/>
                      <a:pt x="2098548" y="173325"/>
                      <a:pt x="2273808" y="104460"/>
                    </a:cubicBezTo>
                    <a:cubicBezTo>
                      <a:pt x="2366201" y="68169"/>
                      <a:pt x="2475548" y="28545"/>
                      <a:pt x="2586800" y="10448"/>
                    </a:cubicBezTo>
                    <a:cubicBezTo>
                      <a:pt x="2708720" y="-9364"/>
                      <a:pt x="2815495" y="-1077"/>
                      <a:pt x="2913221" y="35975"/>
                    </a:cubicBezTo>
                    <a:cubicBezTo>
                      <a:pt x="3175635" y="135511"/>
                      <a:pt x="3370136" y="278957"/>
                      <a:pt x="3575971" y="430977"/>
                    </a:cubicBezTo>
                    <a:cubicBezTo>
                      <a:pt x="3630359" y="471077"/>
                      <a:pt x="3686556" y="512606"/>
                      <a:pt x="3745516" y="554421"/>
                    </a:cubicBezTo>
                    <a:cubicBezTo>
                      <a:pt x="4048697" y="769686"/>
                      <a:pt x="4414838" y="954852"/>
                      <a:pt x="5036058" y="852934"/>
                    </a:cubicBezTo>
                    <a:lnTo>
                      <a:pt x="5036344" y="854839"/>
                    </a:lnTo>
                    <a:cubicBezTo>
                      <a:pt x="4918615" y="874080"/>
                      <a:pt x="4806982" y="883700"/>
                      <a:pt x="4700207" y="883700"/>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0"/>
              <p:cNvSpPr/>
              <p:nvPr/>
            </p:nvSpPr>
            <p:spPr>
              <a:xfrm>
                <a:off x="260372" y="3428217"/>
                <a:ext cx="9364170" cy="1603624"/>
              </a:xfrm>
              <a:custGeom>
                <a:avLst/>
                <a:gdLst>
                  <a:gd name="connsiteX0" fmla="*/ 4595622 w 4902136"/>
                  <a:gd name="connsiteY0" fmla="*/ 955805 h 955804"/>
                  <a:gd name="connsiteX1" fmla="*/ 4132707 w 4902136"/>
                  <a:gd name="connsiteY1" fmla="*/ 892845 h 955804"/>
                  <a:gd name="connsiteX2" fmla="*/ 3635978 w 4902136"/>
                  <a:gd name="connsiteY2" fmla="*/ 627669 h 955804"/>
                  <a:gd name="connsiteX3" fmla="*/ 3431667 w 4902136"/>
                  <a:gd name="connsiteY3" fmla="*/ 462315 h 955804"/>
                  <a:gd name="connsiteX4" fmla="*/ 2844641 w 4902136"/>
                  <a:gd name="connsiteY4" fmla="*/ 57597 h 955804"/>
                  <a:gd name="connsiteX5" fmla="*/ 2211038 w 4902136"/>
                  <a:gd name="connsiteY5" fmla="*/ 82458 h 955804"/>
                  <a:gd name="connsiteX6" fmla="*/ 1758125 w 4902136"/>
                  <a:gd name="connsiteY6" fmla="*/ 333822 h 955804"/>
                  <a:gd name="connsiteX7" fmla="*/ 1550384 w 4902136"/>
                  <a:gd name="connsiteY7" fmla="*/ 491080 h 955804"/>
                  <a:gd name="connsiteX8" fmla="*/ 521684 w 4902136"/>
                  <a:gd name="connsiteY8" fmla="*/ 897702 h 955804"/>
                  <a:gd name="connsiteX9" fmla="*/ 459391 w 4902136"/>
                  <a:gd name="connsiteY9" fmla="*/ 901036 h 955804"/>
                  <a:gd name="connsiteX10" fmla="*/ 0 w 4902136"/>
                  <a:gd name="connsiteY10" fmla="*/ 906561 h 955804"/>
                  <a:gd name="connsiteX11" fmla="*/ 95 w 4902136"/>
                  <a:gd name="connsiteY11" fmla="*/ 905227 h 955804"/>
                  <a:gd name="connsiteX12" fmla="*/ 459391 w 4902136"/>
                  <a:gd name="connsiteY12" fmla="*/ 899703 h 955804"/>
                  <a:gd name="connsiteX13" fmla="*/ 521684 w 4902136"/>
                  <a:gd name="connsiteY13" fmla="*/ 896369 h 955804"/>
                  <a:gd name="connsiteX14" fmla="*/ 1549718 w 4902136"/>
                  <a:gd name="connsiteY14" fmla="*/ 490032 h 955804"/>
                  <a:gd name="connsiteX15" fmla="*/ 1757458 w 4902136"/>
                  <a:gd name="connsiteY15" fmla="*/ 332775 h 955804"/>
                  <a:gd name="connsiteX16" fmla="*/ 2210657 w 4902136"/>
                  <a:gd name="connsiteY16" fmla="*/ 81219 h 955804"/>
                  <a:gd name="connsiteX17" fmla="*/ 2526411 w 4902136"/>
                  <a:gd name="connsiteY17" fmla="*/ 2638 h 955804"/>
                  <a:gd name="connsiteX18" fmla="*/ 2845403 w 4902136"/>
                  <a:gd name="connsiteY18" fmla="*/ 56454 h 955804"/>
                  <a:gd name="connsiteX19" fmla="*/ 3432715 w 4902136"/>
                  <a:gd name="connsiteY19" fmla="*/ 461362 h 955804"/>
                  <a:gd name="connsiteX20" fmla="*/ 3636931 w 4902136"/>
                  <a:gd name="connsiteY20" fmla="*/ 626621 h 955804"/>
                  <a:gd name="connsiteX21" fmla="*/ 4901946 w 4902136"/>
                  <a:gd name="connsiteY21" fmla="*/ 934183 h 955804"/>
                  <a:gd name="connsiteX22" fmla="*/ 4902137 w 4902136"/>
                  <a:gd name="connsiteY22" fmla="*/ 935517 h 955804"/>
                  <a:gd name="connsiteX23" fmla="*/ 4595622 w 4902136"/>
                  <a:gd name="connsiteY23" fmla="*/ 955805 h 95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02136" h="955804">
                    <a:moveTo>
                      <a:pt x="4595622" y="955805"/>
                    </a:moveTo>
                    <a:cubicBezTo>
                      <a:pt x="4426172" y="955805"/>
                      <a:pt x="4273201" y="934850"/>
                      <a:pt x="4132707" y="892845"/>
                    </a:cubicBezTo>
                    <a:cubicBezTo>
                      <a:pt x="3913251" y="827122"/>
                      <a:pt x="3751898" y="716632"/>
                      <a:pt x="3635978" y="627669"/>
                    </a:cubicBezTo>
                    <a:cubicBezTo>
                      <a:pt x="3564636" y="572995"/>
                      <a:pt x="3497104" y="516702"/>
                      <a:pt x="3431667" y="462315"/>
                    </a:cubicBezTo>
                    <a:cubicBezTo>
                      <a:pt x="3254407" y="314868"/>
                      <a:pt x="3087053" y="175612"/>
                      <a:pt x="2844641" y="57597"/>
                    </a:cubicBezTo>
                    <a:cubicBezTo>
                      <a:pt x="2674335" y="-25365"/>
                      <a:pt x="2472976" y="-17460"/>
                      <a:pt x="2211038" y="82458"/>
                    </a:cubicBezTo>
                    <a:cubicBezTo>
                      <a:pt x="2042255" y="146847"/>
                      <a:pt x="1881378" y="236096"/>
                      <a:pt x="1758125" y="333822"/>
                    </a:cubicBezTo>
                    <a:cubicBezTo>
                      <a:pt x="1680972" y="390115"/>
                      <a:pt x="1614583" y="441455"/>
                      <a:pt x="1550384" y="491080"/>
                    </a:cubicBezTo>
                    <a:cubicBezTo>
                      <a:pt x="1244822" y="727300"/>
                      <a:pt x="1060418" y="869890"/>
                      <a:pt x="521684" y="897702"/>
                    </a:cubicBezTo>
                    <a:cubicBezTo>
                      <a:pt x="501205" y="898750"/>
                      <a:pt x="480441" y="899893"/>
                      <a:pt x="459391" y="901036"/>
                    </a:cubicBezTo>
                    <a:cubicBezTo>
                      <a:pt x="324612" y="908466"/>
                      <a:pt x="171926" y="916848"/>
                      <a:pt x="0" y="906561"/>
                    </a:cubicBezTo>
                    <a:lnTo>
                      <a:pt x="95" y="905227"/>
                    </a:lnTo>
                    <a:cubicBezTo>
                      <a:pt x="171926" y="915514"/>
                      <a:pt x="324612" y="907037"/>
                      <a:pt x="459391" y="899703"/>
                    </a:cubicBezTo>
                    <a:cubicBezTo>
                      <a:pt x="480441" y="898560"/>
                      <a:pt x="501205" y="897417"/>
                      <a:pt x="521684" y="896369"/>
                    </a:cubicBezTo>
                    <a:cubicBezTo>
                      <a:pt x="1060037" y="868651"/>
                      <a:pt x="1244346" y="726157"/>
                      <a:pt x="1549718" y="490032"/>
                    </a:cubicBezTo>
                    <a:cubicBezTo>
                      <a:pt x="1610963" y="442693"/>
                      <a:pt x="1680305" y="389067"/>
                      <a:pt x="1757458" y="332775"/>
                    </a:cubicBezTo>
                    <a:cubicBezTo>
                      <a:pt x="1880807" y="234953"/>
                      <a:pt x="2041779" y="145608"/>
                      <a:pt x="2210657" y="81219"/>
                    </a:cubicBezTo>
                    <a:cubicBezTo>
                      <a:pt x="2328386" y="36357"/>
                      <a:pt x="2431637" y="10639"/>
                      <a:pt x="2526411" y="2638"/>
                    </a:cubicBezTo>
                    <a:cubicBezTo>
                      <a:pt x="2644331" y="-7268"/>
                      <a:pt x="2751677" y="10734"/>
                      <a:pt x="2845403" y="56454"/>
                    </a:cubicBezTo>
                    <a:cubicBezTo>
                      <a:pt x="3088005" y="174564"/>
                      <a:pt x="3255455" y="313915"/>
                      <a:pt x="3432715" y="461362"/>
                    </a:cubicBezTo>
                    <a:cubicBezTo>
                      <a:pt x="3498056" y="515750"/>
                      <a:pt x="3565684" y="572043"/>
                      <a:pt x="3636931" y="626621"/>
                    </a:cubicBezTo>
                    <a:cubicBezTo>
                      <a:pt x="3908393" y="834837"/>
                      <a:pt x="4249579" y="1016193"/>
                      <a:pt x="4901946" y="934183"/>
                    </a:cubicBezTo>
                    <a:lnTo>
                      <a:pt x="4902137" y="935517"/>
                    </a:lnTo>
                    <a:cubicBezTo>
                      <a:pt x="4794123" y="949042"/>
                      <a:pt x="4692206" y="955805"/>
                      <a:pt x="4595622" y="955805"/>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0"/>
              <p:cNvSpPr/>
              <p:nvPr/>
            </p:nvSpPr>
            <p:spPr>
              <a:xfrm>
                <a:off x="191413" y="3354017"/>
                <a:ext cx="9107623" cy="1734396"/>
              </a:xfrm>
              <a:custGeom>
                <a:avLst/>
                <a:gdLst>
                  <a:gd name="connsiteX0" fmla="*/ 4502277 w 4767834"/>
                  <a:gd name="connsiteY0" fmla="*/ 1033748 h 1033748"/>
                  <a:gd name="connsiteX1" fmla="*/ 4224623 w 4767834"/>
                  <a:gd name="connsiteY1" fmla="*/ 1016032 h 1033748"/>
                  <a:gd name="connsiteX2" fmla="*/ 4767739 w 4767834"/>
                  <a:gd name="connsiteY2" fmla="*/ 1020509 h 1033748"/>
                  <a:gd name="connsiteX3" fmla="*/ 4767834 w 4767834"/>
                  <a:gd name="connsiteY3" fmla="*/ 1021175 h 1033748"/>
                  <a:gd name="connsiteX4" fmla="*/ 4502277 w 4767834"/>
                  <a:gd name="connsiteY4" fmla="*/ 1033748 h 1033748"/>
                  <a:gd name="connsiteX5" fmla="*/ 411671 w 4767834"/>
                  <a:gd name="connsiteY5" fmla="*/ 1027271 h 1033748"/>
                  <a:gd name="connsiteX6" fmla="*/ 0 w 4767834"/>
                  <a:gd name="connsiteY6" fmla="*/ 999744 h 1033748"/>
                  <a:gd name="connsiteX7" fmla="*/ 95 w 4767834"/>
                  <a:gd name="connsiteY7" fmla="*/ 999077 h 1033748"/>
                  <a:gd name="connsiteX8" fmla="*/ 519684 w 4767834"/>
                  <a:gd name="connsiteY8" fmla="*/ 1024890 h 1033748"/>
                  <a:gd name="connsiteX9" fmla="*/ 1444657 w 4767834"/>
                  <a:gd name="connsiteY9" fmla="*/ 580358 h 1033748"/>
                  <a:gd name="connsiteX10" fmla="*/ 1711071 w 4767834"/>
                  <a:gd name="connsiteY10" fmla="*/ 330898 h 1033748"/>
                  <a:gd name="connsiteX11" fmla="*/ 2147507 w 4767834"/>
                  <a:gd name="connsiteY11" fmla="*/ 62960 h 1033748"/>
                  <a:gd name="connsiteX12" fmla="*/ 2465451 w 4767834"/>
                  <a:gd name="connsiteY12" fmla="*/ 0 h 1033748"/>
                  <a:gd name="connsiteX13" fmla="*/ 2469356 w 4767834"/>
                  <a:gd name="connsiteY13" fmla="*/ 0 h 1033748"/>
                  <a:gd name="connsiteX14" fmla="*/ 2777395 w 4767834"/>
                  <a:gd name="connsiteY14" fmla="*/ 81820 h 1033748"/>
                  <a:gd name="connsiteX15" fmla="*/ 3316034 w 4767834"/>
                  <a:gd name="connsiteY15" fmla="*/ 511397 h 1033748"/>
                  <a:gd name="connsiteX16" fmla="*/ 3528251 w 4767834"/>
                  <a:gd name="connsiteY16" fmla="*/ 703802 h 1033748"/>
                  <a:gd name="connsiteX17" fmla="*/ 4096798 w 4767834"/>
                  <a:gd name="connsiteY17" fmla="*/ 993077 h 1033748"/>
                  <a:gd name="connsiteX18" fmla="*/ 3997547 w 4767834"/>
                  <a:gd name="connsiteY18" fmla="*/ 966978 h 1033748"/>
                  <a:gd name="connsiteX19" fmla="*/ 3738944 w 4767834"/>
                  <a:gd name="connsiteY19" fmla="*/ 854393 h 1033748"/>
                  <a:gd name="connsiteX20" fmla="*/ 3527870 w 4767834"/>
                  <a:gd name="connsiteY20" fmla="*/ 704278 h 1033748"/>
                  <a:gd name="connsiteX21" fmla="*/ 3315558 w 4767834"/>
                  <a:gd name="connsiteY21" fmla="*/ 511778 h 1033748"/>
                  <a:gd name="connsiteX22" fmla="*/ 2777014 w 4767834"/>
                  <a:gd name="connsiteY22" fmla="*/ 82296 h 1033748"/>
                  <a:gd name="connsiteX23" fmla="*/ 2147697 w 4767834"/>
                  <a:gd name="connsiteY23" fmla="*/ 63532 h 1033748"/>
                  <a:gd name="connsiteX24" fmla="*/ 1711547 w 4767834"/>
                  <a:gd name="connsiteY24" fmla="*/ 331375 h 1033748"/>
                  <a:gd name="connsiteX25" fmla="*/ 1445133 w 4767834"/>
                  <a:gd name="connsiteY25" fmla="*/ 580835 h 1033748"/>
                  <a:gd name="connsiteX26" fmla="*/ 1069562 w 4767834"/>
                  <a:gd name="connsiteY26" fmla="*/ 892588 h 1033748"/>
                  <a:gd name="connsiteX27" fmla="*/ 834581 w 4767834"/>
                  <a:gd name="connsiteY27" fmla="*/ 985457 h 1033748"/>
                  <a:gd name="connsiteX28" fmla="*/ 519779 w 4767834"/>
                  <a:gd name="connsiteY28" fmla="*/ 1025557 h 1033748"/>
                  <a:gd name="connsiteX29" fmla="*/ 411671 w 4767834"/>
                  <a:gd name="connsiteY29" fmla="*/ 1027271 h 1033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767834" h="1033748">
                    <a:moveTo>
                      <a:pt x="4502277" y="1033748"/>
                    </a:moveTo>
                    <a:cubicBezTo>
                      <a:pt x="4403217" y="1033748"/>
                      <a:pt x="4310920" y="1027843"/>
                      <a:pt x="4224623" y="1016032"/>
                    </a:cubicBezTo>
                    <a:cubicBezTo>
                      <a:pt x="4376738" y="1036796"/>
                      <a:pt x="4554284" y="1039654"/>
                      <a:pt x="4767739" y="1020509"/>
                    </a:cubicBezTo>
                    <a:lnTo>
                      <a:pt x="4767834" y="1021175"/>
                    </a:lnTo>
                    <a:cubicBezTo>
                      <a:pt x="4674299" y="1029557"/>
                      <a:pt x="4585811" y="1033748"/>
                      <a:pt x="4502277" y="1033748"/>
                    </a:cubicBezTo>
                    <a:close/>
                    <a:moveTo>
                      <a:pt x="411671" y="1027271"/>
                    </a:moveTo>
                    <a:cubicBezTo>
                      <a:pt x="303467" y="1027271"/>
                      <a:pt x="164021" y="1021842"/>
                      <a:pt x="0" y="999744"/>
                    </a:cubicBezTo>
                    <a:lnTo>
                      <a:pt x="95" y="999077"/>
                    </a:lnTo>
                    <a:cubicBezTo>
                      <a:pt x="225457" y="1029462"/>
                      <a:pt x="404527" y="1028319"/>
                      <a:pt x="519684" y="1024890"/>
                    </a:cubicBezTo>
                    <a:cubicBezTo>
                      <a:pt x="1008507" y="1010222"/>
                      <a:pt x="1191482" y="829913"/>
                      <a:pt x="1444657" y="580358"/>
                    </a:cubicBezTo>
                    <a:cubicBezTo>
                      <a:pt x="1521143" y="504920"/>
                      <a:pt x="1607915" y="419481"/>
                      <a:pt x="1711071" y="330898"/>
                    </a:cubicBezTo>
                    <a:cubicBezTo>
                      <a:pt x="1827752" y="218885"/>
                      <a:pt x="1982724" y="123730"/>
                      <a:pt x="2147507" y="62960"/>
                    </a:cubicBezTo>
                    <a:cubicBezTo>
                      <a:pt x="2259330" y="21717"/>
                      <a:pt x="2366296" y="572"/>
                      <a:pt x="2465451" y="0"/>
                    </a:cubicBezTo>
                    <a:cubicBezTo>
                      <a:pt x="2466785" y="0"/>
                      <a:pt x="2468023" y="0"/>
                      <a:pt x="2469356" y="0"/>
                    </a:cubicBezTo>
                    <a:cubicBezTo>
                      <a:pt x="2583275" y="0"/>
                      <a:pt x="2686908" y="27527"/>
                      <a:pt x="2777395" y="81820"/>
                    </a:cubicBezTo>
                    <a:cubicBezTo>
                      <a:pt x="3007424" y="219837"/>
                      <a:pt x="3164300" y="368046"/>
                      <a:pt x="3316034" y="511397"/>
                    </a:cubicBezTo>
                    <a:cubicBezTo>
                      <a:pt x="3387471" y="578834"/>
                      <a:pt x="3454813" y="642557"/>
                      <a:pt x="3528251" y="703802"/>
                    </a:cubicBezTo>
                    <a:cubicBezTo>
                      <a:pt x="3686937" y="836295"/>
                      <a:pt x="3858483" y="939641"/>
                      <a:pt x="4096798" y="993077"/>
                    </a:cubicBezTo>
                    <a:cubicBezTo>
                      <a:pt x="4062698" y="985457"/>
                      <a:pt x="4029647" y="976789"/>
                      <a:pt x="3997547" y="966978"/>
                    </a:cubicBezTo>
                    <a:cubicBezTo>
                      <a:pt x="3905631" y="938974"/>
                      <a:pt x="3821049" y="902113"/>
                      <a:pt x="3738944" y="854393"/>
                    </a:cubicBezTo>
                    <a:cubicBezTo>
                      <a:pt x="3668840" y="813626"/>
                      <a:pt x="3601784" y="766001"/>
                      <a:pt x="3527870" y="704278"/>
                    </a:cubicBezTo>
                    <a:cubicBezTo>
                      <a:pt x="3454432" y="642938"/>
                      <a:pt x="3386995" y="579215"/>
                      <a:pt x="3315558" y="511778"/>
                    </a:cubicBezTo>
                    <a:cubicBezTo>
                      <a:pt x="3163919" y="368522"/>
                      <a:pt x="3007043" y="220313"/>
                      <a:pt x="2777014" y="82296"/>
                    </a:cubicBezTo>
                    <a:cubicBezTo>
                      <a:pt x="2562987" y="-46196"/>
                      <a:pt x="2316671" y="1143"/>
                      <a:pt x="2147697" y="63532"/>
                    </a:cubicBezTo>
                    <a:cubicBezTo>
                      <a:pt x="1983010" y="124301"/>
                      <a:pt x="1828133" y="219361"/>
                      <a:pt x="1711547" y="331375"/>
                    </a:cubicBezTo>
                    <a:cubicBezTo>
                      <a:pt x="1608392" y="419957"/>
                      <a:pt x="1521619" y="505397"/>
                      <a:pt x="1445133" y="580835"/>
                    </a:cubicBezTo>
                    <a:cubicBezTo>
                      <a:pt x="1317689" y="706469"/>
                      <a:pt x="1207675" y="814864"/>
                      <a:pt x="1069562" y="892588"/>
                    </a:cubicBezTo>
                    <a:cubicBezTo>
                      <a:pt x="996696" y="933545"/>
                      <a:pt x="919829" y="963930"/>
                      <a:pt x="834581" y="985457"/>
                    </a:cubicBezTo>
                    <a:cubicBezTo>
                      <a:pt x="741807" y="1008888"/>
                      <a:pt x="638842" y="1021937"/>
                      <a:pt x="519779" y="1025557"/>
                    </a:cubicBezTo>
                    <a:cubicBezTo>
                      <a:pt x="488251" y="1026509"/>
                      <a:pt x="452152" y="1027271"/>
                      <a:pt x="411671" y="1027271"/>
                    </a:cubicBezTo>
                    <a:close/>
                  </a:path>
                </a:pathLst>
              </a:custGeom>
              <a:gradFill flip="none" rotWithShape="1">
                <a:gsLst>
                  <a:gs pos="70816">
                    <a:srgbClr val="CCE0FF">
                      <a:alpha val="50000"/>
                    </a:srgbClr>
                  </a:gs>
                  <a:gs pos="43000">
                    <a:schemeClr val="accent1">
                      <a:alpha val="67000"/>
                      <a:lumMod val="16000"/>
                      <a:lumOff val="84000"/>
                    </a:schemeClr>
                  </a:gs>
                  <a:gs pos="100000">
                    <a:schemeClr val="accent1">
                      <a:lumMod val="20000"/>
                      <a:lumOff val="80000"/>
                      <a:alpha val="0"/>
                    </a:schemeClr>
                  </a:gs>
                  <a:gs pos="8000">
                    <a:schemeClr val="accent1">
                      <a:lumMod val="20000"/>
                      <a:lumOff val="80000"/>
                      <a:alpha val="12000"/>
                    </a:schemeClr>
                  </a:gs>
                </a:gsLst>
                <a:lin ang="0" scaled="0"/>
                <a:tileRect/>
              </a:gradFill>
              <a:ln w="85725"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0"/>
              <p:cNvSpPr/>
              <p:nvPr/>
            </p:nvSpPr>
            <p:spPr>
              <a:xfrm>
                <a:off x="228177" y="2494280"/>
                <a:ext cx="11250097" cy="2148197"/>
              </a:xfrm>
              <a:custGeom>
                <a:avLst/>
                <a:gdLst>
                  <a:gd name="connsiteX0" fmla="*/ 0 w 10871200"/>
                  <a:gd name="connsiteY0" fmla="*/ 3265714 h 3628617"/>
                  <a:gd name="connsiteX1" fmla="*/ 1828800 w 10871200"/>
                  <a:gd name="connsiteY1" fmla="*/ 2002971 h 3628617"/>
                  <a:gd name="connsiteX2" fmla="*/ 3889828 w 10871200"/>
                  <a:gd name="connsiteY2" fmla="*/ 3309257 h 3628617"/>
                  <a:gd name="connsiteX3" fmla="*/ 5994400 w 10871200"/>
                  <a:gd name="connsiteY3" fmla="*/ 2090057 h 3628617"/>
                  <a:gd name="connsiteX4" fmla="*/ 7939314 w 10871200"/>
                  <a:gd name="connsiteY4" fmla="*/ 3628571 h 3628617"/>
                  <a:gd name="connsiteX5" fmla="*/ 9419771 w 10871200"/>
                  <a:gd name="connsiteY5" fmla="*/ 2032000 h 3628617"/>
                  <a:gd name="connsiteX6" fmla="*/ 10871200 w 10871200"/>
                  <a:gd name="connsiteY6" fmla="*/ 0 h 3628617"/>
                  <a:gd name="connsiteX0-1" fmla="*/ 0 w 10871200"/>
                  <a:gd name="connsiteY0-2" fmla="*/ 3265714 h 3672552"/>
                  <a:gd name="connsiteX1-3" fmla="*/ 1828800 w 10871200"/>
                  <a:gd name="connsiteY1-4" fmla="*/ 2002971 h 3672552"/>
                  <a:gd name="connsiteX2-5" fmla="*/ 3889828 w 10871200"/>
                  <a:gd name="connsiteY2-6" fmla="*/ 3309257 h 3672552"/>
                  <a:gd name="connsiteX3-7" fmla="*/ 5994400 w 10871200"/>
                  <a:gd name="connsiteY3-8" fmla="*/ 2090057 h 3672552"/>
                  <a:gd name="connsiteX4-9" fmla="*/ 7939314 w 10871200"/>
                  <a:gd name="connsiteY4-10" fmla="*/ 3628571 h 3672552"/>
                  <a:gd name="connsiteX5-11" fmla="*/ 10871200 w 10871200"/>
                  <a:gd name="connsiteY5-12" fmla="*/ 0 h 3672552"/>
                  <a:gd name="connsiteX0-13" fmla="*/ 0 w 10871200"/>
                  <a:gd name="connsiteY0-14" fmla="*/ 3265714 h 3629421"/>
                  <a:gd name="connsiteX1-15" fmla="*/ 1828800 w 10871200"/>
                  <a:gd name="connsiteY1-16" fmla="*/ 2002971 h 3629421"/>
                  <a:gd name="connsiteX2-17" fmla="*/ 3889828 w 10871200"/>
                  <a:gd name="connsiteY2-18" fmla="*/ 3309257 h 3629421"/>
                  <a:gd name="connsiteX3-19" fmla="*/ 5994400 w 10871200"/>
                  <a:gd name="connsiteY3-20" fmla="*/ 2090057 h 3629421"/>
                  <a:gd name="connsiteX4-21" fmla="*/ 7939314 w 10871200"/>
                  <a:gd name="connsiteY4-22" fmla="*/ 3628571 h 3629421"/>
                  <a:gd name="connsiteX5-23" fmla="*/ 10871200 w 10871200"/>
                  <a:gd name="connsiteY5-24" fmla="*/ 0 h 3629421"/>
                  <a:gd name="connsiteX0-25" fmla="*/ 0 w 10871200"/>
                  <a:gd name="connsiteY0-26" fmla="*/ 3265714 h 3629421"/>
                  <a:gd name="connsiteX1-27" fmla="*/ 1828800 w 10871200"/>
                  <a:gd name="connsiteY1-28" fmla="*/ 2002971 h 3629421"/>
                  <a:gd name="connsiteX2-29" fmla="*/ 3889828 w 10871200"/>
                  <a:gd name="connsiteY2-30" fmla="*/ 3309257 h 3629421"/>
                  <a:gd name="connsiteX3-31" fmla="*/ 5994400 w 10871200"/>
                  <a:gd name="connsiteY3-32" fmla="*/ 2090057 h 3629421"/>
                  <a:gd name="connsiteX4-33" fmla="*/ 8113485 w 10871200"/>
                  <a:gd name="connsiteY4-34" fmla="*/ 3628571 h 3629421"/>
                  <a:gd name="connsiteX5-35" fmla="*/ 10871200 w 10871200"/>
                  <a:gd name="connsiteY5-36" fmla="*/ 0 h 3629421"/>
                  <a:gd name="connsiteX0-37" fmla="*/ 0 w 10479314"/>
                  <a:gd name="connsiteY0-38" fmla="*/ 2527589 h 2910887"/>
                  <a:gd name="connsiteX1-39" fmla="*/ 1828800 w 10479314"/>
                  <a:gd name="connsiteY1-40" fmla="*/ 1264846 h 2910887"/>
                  <a:gd name="connsiteX2-41" fmla="*/ 3889828 w 10479314"/>
                  <a:gd name="connsiteY2-42" fmla="*/ 2571132 h 2910887"/>
                  <a:gd name="connsiteX3-43" fmla="*/ 5994400 w 10479314"/>
                  <a:gd name="connsiteY3-44" fmla="*/ 1351932 h 2910887"/>
                  <a:gd name="connsiteX4-45" fmla="*/ 8113485 w 10479314"/>
                  <a:gd name="connsiteY4-46" fmla="*/ 2890446 h 2910887"/>
                  <a:gd name="connsiteX5-47" fmla="*/ 10479314 w 10479314"/>
                  <a:gd name="connsiteY5-48" fmla="*/ 0 h 2910887"/>
                  <a:gd name="connsiteX0-49" fmla="*/ 0 w 10479314"/>
                  <a:gd name="connsiteY0-50" fmla="*/ 2527589 h 2910887"/>
                  <a:gd name="connsiteX1-51" fmla="*/ 1828800 w 10479314"/>
                  <a:gd name="connsiteY1-52" fmla="*/ 1264846 h 2910887"/>
                  <a:gd name="connsiteX2-53" fmla="*/ 3889828 w 10479314"/>
                  <a:gd name="connsiteY2-54" fmla="*/ 2571132 h 2910887"/>
                  <a:gd name="connsiteX3-55" fmla="*/ 5994400 w 10479314"/>
                  <a:gd name="connsiteY3-56" fmla="*/ 1351932 h 2910887"/>
                  <a:gd name="connsiteX4-57" fmla="*/ 8113485 w 10479314"/>
                  <a:gd name="connsiteY4-58" fmla="*/ 2890446 h 2910887"/>
                  <a:gd name="connsiteX5-59" fmla="*/ 10479314 w 10479314"/>
                  <a:gd name="connsiteY5-60" fmla="*/ 0 h 2910887"/>
                  <a:gd name="connsiteX0-61" fmla="*/ 0 w 10595428"/>
                  <a:gd name="connsiteY0-62" fmla="*/ 2672004 h 3059372"/>
                  <a:gd name="connsiteX1-63" fmla="*/ 1828800 w 10595428"/>
                  <a:gd name="connsiteY1-64" fmla="*/ 1409261 h 3059372"/>
                  <a:gd name="connsiteX2-65" fmla="*/ 3889828 w 10595428"/>
                  <a:gd name="connsiteY2-66" fmla="*/ 2715547 h 3059372"/>
                  <a:gd name="connsiteX3-67" fmla="*/ 5994400 w 10595428"/>
                  <a:gd name="connsiteY3-68" fmla="*/ 1496347 h 3059372"/>
                  <a:gd name="connsiteX4-69" fmla="*/ 8113485 w 10595428"/>
                  <a:gd name="connsiteY4-70" fmla="*/ 3034861 h 3059372"/>
                  <a:gd name="connsiteX5-71" fmla="*/ 10595428 w 10595428"/>
                  <a:gd name="connsiteY5-72" fmla="*/ 0 h 3059372"/>
                  <a:gd name="connsiteX0-73" fmla="*/ 0 w 11524342"/>
                  <a:gd name="connsiteY0-74" fmla="*/ 3650822 h 3650822"/>
                  <a:gd name="connsiteX1-75" fmla="*/ 2757714 w 11524342"/>
                  <a:gd name="connsiteY1-76" fmla="*/ 1409261 h 3650822"/>
                  <a:gd name="connsiteX2-77" fmla="*/ 4818742 w 11524342"/>
                  <a:gd name="connsiteY2-78" fmla="*/ 2715547 h 3650822"/>
                  <a:gd name="connsiteX3-79" fmla="*/ 6923314 w 11524342"/>
                  <a:gd name="connsiteY3-80" fmla="*/ 1496347 h 3650822"/>
                  <a:gd name="connsiteX4-81" fmla="*/ 9042399 w 11524342"/>
                  <a:gd name="connsiteY4-82" fmla="*/ 3034861 h 3650822"/>
                  <a:gd name="connsiteX5-83" fmla="*/ 11524342 w 11524342"/>
                  <a:gd name="connsiteY5-84" fmla="*/ 0 h 3650822"/>
                  <a:gd name="connsiteX0-85" fmla="*/ 0 w 11136069"/>
                  <a:gd name="connsiteY0-86" fmla="*/ 3240140 h 3240140"/>
                  <a:gd name="connsiteX1-87" fmla="*/ 2369441 w 11136069"/>
                  <a:gd name="connsiteY1-88" fmla="*/ 1409261 h 3240140"/>
                  <a:gd name="connsiteX2-89" fmla="*/ 4430469 w 11136069"/>
                  <a:gd name="connsiteY2-90" fmla="*/ 2715547 h 3240140"/>
                  <a:gd name="connsiteX3-91" fmla="*/ 6535041 w 11136069"/>
                  <a:gd name="connsiteY3-92" fmla="*/ 1496347 h 3240140"/>
                  <a:gd name="connsiteX4-93" fmla="*/ 8654126 w 11136069"/>
                  <a:gd name="connsiteY4-94" fmla="*/ 3034861 h 3240140"/>
                  <a:gd name="connsiteX5-95" fmla="*/ 11136069 w 11136069"/>
                  <a:gd name="connsiteY5-96" fmla="*/ 0 h 3240140"/>
                  <a:gd name="connsiteX0-97" fmla="*/ 0 w 11136069"/>
                  <a:gd name="connsiteY0-98" fmla="*/ 3240140 h 3240140"/>
                  <a:gd name="connsiteX1-99" fmla="*/ 2369441 w 11136069"/>
                  <a:gd name="connsiteY1-100" fmla="*/ 1409261 h 3240140"/>
                  <a:gd name="connsiteX2-101" fmla="*/ 4430469 w 11136069"/>
                  <a:gd name="connsiteY2-102" fmla="*/ 2715547 h 3240140"/>
                  <a:gd name="connsiteX3-103" fmla="*/ 6535041 w 11136069"/>
                  <a:gd name="connsiteY3-104" fmla="*/ 1496347 h 3240140"/>
                  <a:gd name="connsiteX4-105" fmla="*/ 8697417 w 11136069"/>
                  <a:gd name="connsiteY4-106" fmla="*/ 2954631 h 3240140"/>
                  <a:gd name="connsiteX5-107" fmla="*/ 11136069 w 11136069"/>
                  <a:gd name="connsiteY5-108" fmla="*/ 0 h 3240140"/>
                  <a:gd name="connsiteX0-109" fmla="*/ 0 w 11150500"/>
                  <a:gd name="connsiteY0-110" fmla="*/ 3528971 h 3528971"/>
                  <a:gd name="connsiteX1-111" fmla="*/ 2369441 w 11150500"/>
                  <a:gd name="connsiteY1-112" fmla="*/ 1698092 h 3528971"/>
                  <a:gd name="connsiteX2-113" fmla="*/ 4430469 w 11150500"/>
                  <a:gd name="connsiteY2-114" fmla="*/ 3004378 h 3528971"/>
                  <a:gd name="connsiteX3-115" fmla="*/ 6535041 w 11150500"/>
                  <a:gd name="connsiteY3-116" fmla="*/ 1785178 h 3528971"/>
                  <a:gd name="connsiteX4-117" fmla="*/ 8697417 w 11150500"/>
                  <a:gd name="connsiteY4-118" fmla="*/ 3243462 h 3528971"/>
                  <a:gd name="connsiteX5-119" fmla="*/ 11150500 w 11150500"/>
                  <a:gd name="connsiteY5-120" fmla="*/ 0 h 3528971"/>
                  <a:gd name="connsiteX0-121" fmla="*/ 0 w 11150500"/>
                  <a:gd name="connsiteY0-122" fmla="*/ 3528971 h 3528971"/>
                  <a:gd name="connsiteX1-123" fmla="*/ 2369441 w 11150500"/>
                  <a:gd name="connsiteY1-124" fmla="*/ 1698092 h 3528971"/>
                  <a:gd name="connsiteX2-125" fmla="*/ 4430469 w 11150500"/>
                  <a:gd name="connsiteY2-126" fmla="*/ 3004378 h 3528971"/>
                  <a:gd name="connsiteX3-127" fmla="*/ 6535041 w 11150500"/>
                  <a:gd name="connsiteY3-128" fmla="*/ 1785178 h 3528971"/>
                  <a:gd name="connsiteX4-129" fmla="*/ 8697417 w 11150500"/>
                  <a:gd name="connsiteY4-130" fmla="*/ 3243462 h 3528971"/>
                  <a:gd name="connsiteX5-131" fmla="*/ 11150500 w 11150500"/>
                  <a:gd name="connsiteY5-132" fmla="*/ 0 h 3528971"/>
                  <a:gd name="connsiteX0-133" fmla="*/ 0 w 11164931"/>
                  <a:gd name="connsiteY0-134" fmla="*/ 3625247 h 3625247"/>
                  <a:gd name="connsiteX1-135" fmla="*/ 2369441 w 11164931"/>
                  <a:gd name="connsiteY1-136" fmla="*/ 1794368 h 3625247"/>
                  <a:gd name="connsiteX2-137" fmla="*/ 4430469 w 11164931"/>
                  <a:gd name="connsiteY2-138" fmla="*/ 3100654 h 3625247"/>
                  <a:gd name="connsiteX3-139" fmla="*/ 6535041 w 11164931"/>
                  <a:gd name="connsiteY3-140" fmla="*/ 1881454 h 3625247"/>
                  <a:gd name="connsiteX4-141" fmla="*/ 8697417 w 11164931"/>
                  <a:gd name="connsiteY4-142" fmla="*/ 3339738 h 3625247"/>
                  <a:gd name="connsiteX5-143" fmla="*/ 11164931 w 11164931"/>
                  <a:gd name="connsiteY5-144" fmla="*/ 0 h 3625247"/>
                  <a:gd name="connsiteX0-145" fmla="*/ 0 w 11164931"/>
                  <a:gd name="connsiteY0-146" fmla="*/ 3625247 h 3625247"/>
                  <a:gd name="connsiteX1-147" fmla="*/ 2369441 w 11164931"/>
                  <a:gd name="connsiteY1-148" fmla="*/ 1794368 h 3625247"/>
                  <a:gd name="connsiteX2-149" fmla="*/ 4430469 w 11164931"/>
                  <a:gd name="connsiteY2-150" fmla="*/ 3100654 h 3625247"/>
                  <a:gd name="connsiteX3-151" fmla="*/ 6535041 w 11164931"/>
                  <a:gd name="connsiteY3-152" fmla="*/ 1881454 h 3625247"/>
                  <a:gd name="connsiteX4-153" fmla="*/ 8697417 w 11164931"/>
                  <a:gd name="connsiteY4-154" fmla="*/ 3131138 h 3625247"/>
                  <a:gd name="connsiteX5-155" fmla="*/ 11164931 w 11164931"/>
                  <a:gd name="connsiteY5-156" fmla="*/ 0 h 3625247"/>
                  <a:gd name="connsiteX0-157" fmla="*/ 0 w 11164931"/>
                  <a:gd name="connsiteY0-158" fmla="*/ 3625247 h 3625247"/>
                  <a:gd name="connsiteX1-159" fmla="*/ 2369441 w 11164931"/>
                  <a:gd name="connsiteY1-160" fmla="*/ 1794368 h 3625247"/>
                  <a:gd name="connsiteX2-161" fmla="*/ 4430469 w 11164931"/>
                  <a:gd name="connsiteY2-162" fmla="*/ 3100654 h 3625247"/>
                  <a:gd name="connsiteX3-163" fmla="*/ 6535041 w 11164931"/>
                  <a:gd name="connsiteY3-164" fmla="*/ 1881454 h 3625247"/>
                  <a:gd name="connsiteX4-165" fmla="*/ 8697417 w 11164931"/>
                  <a:gd name="connsiteY4-166" fmla="*/ 3131138 h 3625247"/>
                  <a:gd name="connsiteX5-167" fmla="*/ 11164931 w 11164931"/>
                  <a:gd name="connsiteY5-168" fmla="*/ 0 h 3625247"/>
                  <a:gd name="connsiteX0-169" fmla="*/ 0 w 11359134"/>
                  <a:gd name="connsiteY0-170" fmla="*/ 3781235 h 3781235"/>
                  <a:gd name="connsiteX1-171" fmla="*/ 2369441 w 11359134"/>
                  <a:gd name="connsiteY1-172" fmla="*/ 1950356 h 3781235"/>
                  <a:gd name="connsiteX2-173" fmla="*/ 4430469 w 11359134"/>
                  <a:gd name="connsiteY2-174" fmla="*/ 3256642 h 3781235"/>
                  <a:gd name="connsiteX3-175" fmla="*/ 6535041 w 11359134"/>
                  <a:gd name="connsiteY3-176" fmla="*/ 2037442 h 3781235"/>
                  <a:gd name="connsiteX4-177" fmla="*/ 8697417 w 11359134"/>
                  <a:gd name="connsiteY4-178" fmla="*/ 3287126 h 3781235"/>
                  <a:gd name="connsiteX5-179" fmla="*/ 11359134 w 11359134"/>
                  <a:gd name="connsiteY5-180" fmla="*/ 0 h 3781235"/>
                  <a:gd name="connsiteX0-181" fmla="*/ 0 w 11232335"/>
                  <a:gd name="connsiteY0-182" fmla="*/ 3014826 h 3014826"/>
                  <a:gd name="connsiteX1-183" fmla="*/ 2369441 w 11232335"/>
                  <a:gd name="connsiteY1-184" fmla="*/ 1183947 h 3014826"/>
                  <a:gd name="connsiteX2-185" fmla="*/ 4430469 w 11232335"/>
                  <a:gd name="connsiteY2-186" fmla="*/ 2490233 h 3014826"/>
                  <a:gd name="connsiteX3-187" fmla="*/ 6535041 w 11232335"/>
                  <a:gd name="connsiteY3-188" fmla="*/ 1271033 h 3014826"/>
                  <a:gd name="connsiteX4-189" fmla="*/ 8697417 w 11232335"/>
                  <a:gd name="connsiteY4-190" fmla="*/ 2520717 h 3014826"/>
                  <a:gd name="connsiteX5-191" fmla="*/ 11232335 w 11232335"/>
                  <a:gd name="connsiteY5-192" fmla="*/ 0 h 3014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232335" h="3014826">
                    <a:moveTo>
                      <a:pt x="0" y="3014826"/>
                    </a:moveTo>
                    <a:cubicBezTo>
                      <a:pt x="590247" y="2379826"/>
                      <a:pt x="1631030" y="1271379"/>
                      <a:pt x="2369441" y="1183947"/>
                    </a:cubicBezTo>
                    <a:cubicBezTo>
                      <a:pt x="3107852" y="1096515"/>
                      <a:pt x="3736202" y="2475719"/>
                      <a:pt x="4430469" y="2490233"/>
                    </a:cubicBezTo>
                    <a:cubicBezTo>
                      <a:pt x="5124736" y="2504747"/>
                      <a:pt x="5823883" y="1265952"/>
                      <a:pt x="6535041" y="1271033"/>
                    </a:cubicBezTo>
                    <a:cubicBezTo>
                      <a:pt x="7246199" y="1276114"/>
                      <a:pt x="7893402" y="2860291"/>
                      <a:pt x="8697417" y="2520717"/>
                    </a:cubicBezTo>
                    <a:cubicBezTo>
                      <a:pt x="9501432" y="2181143"/>
                      <a:pt x="10853086" y="804090"/>
                      <a:pt x="11232335" y="0"/>
                    </a:cubicBezTo>
                  </a:path>
                </a:pathLst>
              </a:custGeom>
              <a:noFill/>
              <a:ln w="60325">
                <a:gradFill>
                  <a:gsLst>
                    <a:gs pos="5000">
                      <a:schemeClr val="accent2">
                        <a:alpha val="0"/>
                      </a:schemeClr>
                    </a:gs>
                    <a:gs pos="16000">
                      <a:schemeClr val="accent2"/>
                    </a:gs>
                    <a:gs pos="73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0"/>
              <p:cNvSpPr/>
              <p:nvPr/>
            </p:nvSpPr>
            <p:spPr>
              <a:xfrm rot="18545361">
                <a:off x="11381370" y="2285641"/>
                <a:ext cx="305044" cy="197375"/>
              </a:xfrm>
              <a:prstGeom prst="triangle">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0"/>
              <p:cNvSpPr/>
              <p:nvPr/>
            </p:nvSpPr>
            <p:spPr>
              <a:xfrm rot="18545361">
                <a:off x="11486737" y="2492973"/>
                <a:ext cx="322939" cy="210933"/>
              </a:xfrm>
              <a:prstGeom prst="triangle">
                <a:avLst>
                  <a:gd name="adj" fmla="val 0"/>
                </a:avLst>
              </a:prstGeom>
              <a:solidFill>
                <a:schemeClr val="accent1">
                  <a:lumMod val="50000"/>
                  <a:alpha val="7000"/>
                </a:scheme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1"/>
            <p:cNvGrpSpPr/>
            <p:nvPr/>
          </p:nvGrpSpPr>
          <p:grpSpPr>
            <a:xfrm>
              <a:off x="1592780" y="3124868"/>
              <a:ext cx="2321130" cy="1721782"/>
              <a:chOff x="1138029" y="3763112"/>
              <a:chExt cx="2379282" cy="1764918"/>
            </a:xfrm>
          </p:grpSpPr>
          <p:sp>
            <p:nvSpPr>
              <p:cNvPr id="28" name="Body-1"/>
              <p:cNvSpPr txBox="1"/>
              <p:nvPr>
                <p:custDataLst>
                  <p:tags r:id="rId10"/>
                </p:custDataLst>
              </p:nvPr>
            </p:nvSpPr>
            <p:spPr>
              <a:xfrm>
                <a:off x="1340168" y="4343478"/>
                <a:ext cx="2177143" cy="927533"/>
              </a:xfrm>
              <a:prstGeom prst="rect">
                <a:avLst/>
              </a:prstGeom>
              <a:noFill/>
            </p:spPr>
            <p:txBody>
              <a:bodyPr wrap="square">
                <a:spAutoFit/>
              </a:bodyPr>
              <a:lstStyle/>
              <a:p>
                <a:pPr marL="179705" indent="-179705">
                  <a:lnSpc>
                    <a:spcPct val="130000"/>
                  </a:lnSpc>
                  <a:buFont typeface="Arial" panose="020B0604020202020204" pitchFamily="34" charset="0"/>
                  <a:buChar char="•"/>
                </a:pPr>
                <a:r>
                  <a:rPr lang="zh-CN" altLang="en-US" sz="1400" dirty="0">
                    <a:solidFill>
                      <a:schemeClr val="tx1">
                        <a:lumMod val="75000"/>
                        <a:lumOff val="25000"/>
                      </a:schemeClr>
                    </a:solidFill>
                  </a:rPr>
                  <a:t>路由复杂</a:t>
                </a:r>
                <a:endParaRPr lang="en-US" altLang="zh-CN" sz="1400" dirty="0">
                  <a:solidFill>
                    <a:schemeClr val="tx1">
                      <a:lumMod val="75000"/>
                      <a:lumOff val="25000"/>
                    </a:schemeClr>
                  </a:solidFill>
                </a:endParaRPr>
              </a:p>
              <a:p>
                <a:pPr marL="179705" indent="-179705">
                  <a:lnSpc>
                    <a:spcPct val="130000"/>
                  </a:lnSpc>
                  <a:buFont typeface="Arial" panose="020B0604020202020204" pitchFamily="34" charset="0"/>
                  <a:buChar char="•"/>
                </a:pPr>
                <a:r>
                  <a:rPr lang="zh-CN" altLang="en-US" sz="1400" dirty="0">
                    <a:solidFill>
                      <a:schemeClr val="tx1">
                        <a:lumMod val="75000"/>
                        <a:lumOff val="25000"/>
                      </a:schemeClr>
                    </a:solidFill>
                  </a:rPr>
                  <a:t>路径抵押成本高</a:t>
                </a:r>
                <a:endParaRPr lang="zh-CN" altLang="en-US" sz="1400" dirty="0">
                  <a:solidFill>
                    <a:schemeClr val="tx1">
                      <a:lumMod val="75000"/>
                      <a:lumOff val="25000"/>
                    </a:schemeClr>
                  </a:solidFill>
                </a:endParaRPr>
              </a:p>
              <a:p>
                <a:pPr marL="179705" indent="-179705">
                  <a:lnSpc>
                    <a:spcPct val="130000"/>
                  </a:lnSpc>
                  <a:buFont typeface="Arial" panose="020B0604020202020204" pitchFamily="34" charset="0"/>
                  <a:buChar char="•"/>
                </a:pPr>
                <a:r>
                  <a:rPr lang="zh-CN" altLang="en-US" sz="1400" dirty="0">
                    <a:solidFill>
                      <a:schemeClr val="tx1">
                        <a:lumMod val="75000"/>
                        <a:lumOff val="25000"/>
                      </a:schemeClr>
                    </a:solidFill>
                  </a:rPr>
                  <a:t>信道再平衡问题</a:t>
                </a:r>
                <a:endParaRPr lang="zh-CN" altLang="en-US" sz="1400" dirty="0">
                  <a:solidFill>
                    <a:schemeClr val="tx1">
                      <a:lumMod val="75000"/>
                      <a:lumOff val="25000"/>
                    </a:schemeClr>
                  </a:solidFill>
                </a:endParaRPr>
              </a:p>
            </p:txBody>
          </p:sp>
          <p:sp>
            <p:nvSpPr>
              <p:cNvPr id="29" name="Title-1"/>
              <p:cNvSpPr txBox="1"/>
              <p:nvPr>
                <p:custDataLst>
                  <p:tags r:id="rId11"/>
                </p:custDataLst>
              </p:nvPr>
            </p:nvSpPr>
            <p:spPr>
              <a:xfrm>
                <a:off x="1340168" y="3948260"/>
                <a:ext cx="1621586" cy="378585"/>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zh-CN" altLang="en-US" sz="1800" dirty="0"/>
                  <a:t>闪电网络</a:t>
                </a:r>
                <a:endParaRPr lang="zh-CN" altLang="en-US" sz="1800" dirty="0"/>
              </a:p>
            </p:txBody>
          </p:sp>
          <p:sp>
            <p:nvSpPr>
              <p:cNvPr id="30" name="1"/>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1"/>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3"/>
            <p:cNvGrpSpPr/>
            <p:nvPr/>
          </p:nvGrpSpPr>
          <p:grpSpPr>
            <a:xfrm>
              <a:off x="5233336" y="3187441"/>
              <a:ext cx="2243572" cy="1721782"/>
              <a:chOff x="1138029" y="3763112"/>
              <a:chExt cx="2299781" cy="1764918"/>
            </a:xfrm>
          </p:grpSpPr>
          <p:sp>
            <p:nvSpPr>
              <p:cNvPr id="24" name="Body-3"/>
              <p:cNvSpPr txBox="1"/>
              <p:nvPr>
                <p:custDataLst>
                  <p:tags r:id="rId12"/>
                </p:custDataLst>
              </p:nvPr>
            </p:nvSpPr>
            <p:spPr>
              <a:xfrm>
                <a:off x="1260667" y="4347797"/>
                <a:ext cx="2177143" cy="927533"/>
              </a:xfrm>
              <a:prstGeom prst="rect">
                <a:avLst/>
              </a:prstGeom>
              <a:noFill/>
            </p:spPr>
            <p:txBody>
              <a:bodyPr wrap="square">
                <a:spAutoFit/>
              </a:bodyPr>
              <a:lstStyle/>
              <a:p>
                <a:pPr marL="179705" indent="-179705">
                  <a:lnSpc>
                    <a:spcPct val="130000"/>
                  </a:lnSpc>
                  <a:buFont typeface="Arial" panose="020B0604020202020204" pitchFamily="34" charset="0"/>
                  <a:buChar char="•"/>
                </a:pPr>
                <a:r>
                  <a:rPr lang="en-US" altLang="zh-CN" sz="1400" dirty="0"/>
                  <a:t>LVPC (SP'21)</a:t>
                </a:r>
                <a:endParaRPr lang="en-US" altLang="zh-CN" sz="1400" dirty="0"/>
              </a:p>
              <a:p>
                <a:pPr marL="179705" indent="-179705">
                  <a:lnSpc>
                    <a:spcPct val="130000"/>
                  </a:lnSpc>
                  <a:buFont typeface="Arial" panose="020B0604020202020204" pitchFamily="34" charset="0"/>
                  <a:buChar char="•"/>
                </a:pPr>
                <a:r>
                  <a:rPr lang="en-US" altLang="zh-CN" sz="1400" dirty="0"/>
                  <a:t>Blitz (Usenix</a:t>
                </a:r>
                <a:r>
                  <a:rPr lang="en-US" altLang="zh-CN" sz="1400" dirty="0">
                    <a:solidFill>
                      <a:schemeClr val="tx1">
                        <a:lumMod val="75000"/>
                        <a:lumOff val="25000"/>
                      </a:schemeClr>
                    </a:solidFill>
                    <a:latin typeface="+mn-ea"/>
                    <a:sym typeface="+mn-ea"/>
                  </a:rPr>
                  <a:t>'</a:t>
                </a:r>
                <a:r>
                  <a:rPr lang="en-US" altLang="zh-CN" sz="1400" dirty="0"/>
                  <a:t>21)</a:t>
                </a:r>
                <a:endParaRPr lang="zh-CN" altLang="en-US" sz="1400" dirty="0">
                  <a:solidFill>
                    <a:schemeClr val="tx1">
                      <a:lumMod val="75000"/>
                      <a:lumOff val="25000"/>
                    </a:schemeClr>
                  </a:solidFill>
                </a:endParaRPr>
              </a:p>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rPr>
                  <a:t>Donner (NDSS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rPr>
                  <a:t>23)</a:t>
                </a:r>
                <a:endParaRPr lang="zh-CN" altLang="en-US" sz="1400" dirty="0">
                  <a:solidFill>
                    <a:schemeClr val="tx1">
                      <a:lumMod val="75000"/>
                      <a:lumOff val="25000"/>
                    </a:schemeClr>
                  </a:solidFill>
                </a:endParaRPr>
              </a:p>
            </p:txBody>
          </p:sp>
          <p:sp>
            <p:nvSpPr>
              <p:cNvPr id="25" name="Title-3"/>
              <p:cNvSpPr txBox="1"/>
              <p:nvPr>
                <p:custDataLst>
                  <p:tags r:id="rId13"/>
                </p:custDataLst>
              </p:nvPr>
            </p:nvSpPr>
            <p:spPr>
              <a:xfrm>
                <a:off x="1295589" y="3811712"/>
                <a:ext cx="1861859"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a:t>AMCU</a:t>
                </a:r>
                <a:endParaRPr lang="en-US" altLang="zh-CN" sz="1800" dirty="0"/>
              </a:p>
              <a:p>
                <a:pPr algn="l"/>
                <a:r>
                  <a:rPr lang="en-US" altLang="zh-CN" sz="1800" dirty="0"/>
                  <a:t>(CCS</a:t>
                </a:r>
                <a:r>
                  <a:rPr lang="en-US" altLang="zh-CN" sz="1800" dirty="0">
                    <a:sym typeface="+mn-ea"/>
                  </a:rPr>
                  <a:t>'</a:t>
                </a:r>
                <a:r>
                  <a:rPr lang="en-US" altLang="zh-CN" sz="1800" dirty="0"/>
                  <a:t>19)</a:t>
                </a:r>
                <a:endParaRPr lang="zh-CN" altLang="en-US" sz="1800" dirty="0"/>
              </a:p>
            </p:txBody>
          </p:sp>
          <p:sp>
            <p:nvSpPr>
              <p:cNvPr id="26" name="3"/>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3"/>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4"/>
            <p:cNvGrpSpPr/>
            <p:nvPr/>
          </p:nvGrpSpPr>
          <p:grpSpPr>
            <a:xfrm flipV="1">
              <a:off x="7293723" y="1784486"/>
              <a:ext cx="2380712" cy="1933358"/>
              <a:chOff x="1138029" y="3658293"/>
              <a:chExt cx="2440357" cy="1981795"/>
            </a:xfrm>
          </p:grpSpPr>
          <p:sp>
            <p:nvSpPr>
              <p:cNvPr id="19" name="Body-4"/>
              <p:cNvSpPr txBox="1"/>
              <p:nvPr>
                <p:custDataLst>
                  <p:tags r:id="rId14"/>
                </p:custDataLst>
              </p:nvPr>
            </p:nvSpPr>
            <p:spPr>
              <a:xfrm flipV="1">
                <a:off x="1232993" y="4359863"/>
                <a:ext cx="2345393" cy="927927"/>
              </a:xfrm>
              <a:prstGeom prst="rect">
                <a:avLst/>
              </a:prstGeom>
              <a:noFill/>
            </p:spPr>
            <p:txBody>
              <a:bodyPr wrap="square">
                <a:spAutoFit/>
              </a:bodyPr>
              <a:lstStyle/>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latin typeface="+mn-ea"/>
                  </a:rPr>
                  <a:t>Wiser (AFT</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latin typeface="+mn-ea"/>
                  </a:rPr>
                  <a:t>Thora (CCS</a:t>
                </a:r>
                <a:r>
                  <a:rPr lang="en-US" altLang="zh-CN" sz="1400" dirty="0">
                    <a:solidFill>
                      <a:schemeClr val="tx1">
                        <a:lumMod val="75000"/>
                        <a:lumOff val="25000"/>
                      </a:schemeClr>
                    </a:solidFill>
                    <a:latin typeface="+mn-ea"/>
                    <a:sym typeface="+mn-ea"/>
                  </a:rPr>
                  <a:t>'22</a:t>
                </a:r>
                <a:r>
                  <a:rPr lang="en-US" altLang="zh-CN" sz="1400" dirty="0">
                    <a:solidFill>
                      <a:schemeClr val="tx1">
                        <a:lumMod val="75000"/>
                        <a:lumOff val="25000"/>
                      </a:schemeClr>
                    </a:solidFill>
                    <a:latin typeface="+mn-ea"/>
                  </a:rPr>
                  <a:t>)</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latin typeface="+mn-ea"/>
                  </a:rPr>
                  <a:t>Shaduf (NDSS</a:t>
                </a:r>
                <a:r>
                  <a:rPr lang="en-US" altLang="zh-CN" sz="1400" dirty="0">
                    <a:solidFill>
                      <a:schemeClr val="tx1">
                        <a:lumMod val="75000"/>
                        <a:lumOff val="25000"/>
                      </a:schemeClr>
                    </a:solidFill>
                    <a:latin typeface="+mn-ea"/>
                    <a:sym typeface="+mn-ea"/>
                  </a:rPr>
                  <a:t>'22</a:t>
                </a:r>
                <a:r>
                  <a:rPr lang="en-US" altLang="zh-CN" sz="1400" dirty="0">
                    <a:solidFill>
                      <a:schemeClr val="tx1">
                        <a:lumMod val="75000"/>
                        <a:lumOff val="25000"/>
                      </a:schemeClr>
                    </a:solidFill>
                    <a:latin typeface="+mn-ea"/>
                  </a:rPr>
                  <a:t>)</a:t>
                </a:r>
                <a:endParaRPr lang="en-US" altLang="zh-CN" sz="1400" dirty="0">
                  <a:solidFill>
                    <a:schemeClr val="tx1">
                      <a:lumMod val="75000"/>
                      <a:lumOff val="25000"/>
                    </a:schemeClr>
                  </a:solidFill>
                  <a:latin typeface="+mn-ea"/>
                </a:endParaRPr>
              </a:p>
            </p:txBody>
          </p:sp>
          <p:sp>
            <p:nvSpPr>
              <p:cNvPr id="20" name="Title-4"/>
              <p:cNvSpPr txBox="1"/>
              <p:nvPr>
                <p:custDataLst>
                  <p:tags r:id="rId15"/>
                </p:custDataLst>
              </p:nvPr>
            </p:nvSpPr>
            <p:spPr>
              <a:xfrm flipV="1">
                <a:off x="1260248" y="3760727"/>
                <a:ext cx="1621586"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a:t>Revive (CCS</a:t>
                </a:r>
                <a:r>
                  <a:rPr lang="en-US" altLang="zh-CN" sz="1800" dirty="0">
                    <a:sym typeface="+mn-ea"/>
                  </a:rPr>
                  <a:t>'17</a:t>
                </a:r>
                <a:r>
                  <a:rPr lang="en-US" altLang="zh-CN" sz="1800" dirty="0"/>
                  <a:t>)</a:t>
                </a:r>
                <a:endParaRPr lang="zh-CN" altLang="en-US" sz="1800" dirty="0"/>
              </a:p>
            </p:txBody>
          </p:sp>
          <p:sp>
            <p:nvSpPr>
              <p:cNvPr id="22" name="4"/>
              <p:cNvSpPr/>
              <p:nvPr/>
            </p:nvSpPr>
            <p:spPr>
              <a:xfrm>
                <a:off x="1138029" y="3658293"/>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4"/>
              <p:cNvCxnSpPr>
                <a:stCxn id="22" idx="4"/>
              </p:cNvCxnSpPr>
              <p:nvPr/>
            </p:nvCxnSpPr>
            <p:spPr>
              <a:xfrm>
                <a:off x="1238051" y="3858336"/>
                <a:ext cx="0" cy="1781752"/>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2" name="组合 2"/>
            <p:cNvGrpSpPr/>
            <p:nvPr/>
          </p:nvGrpSpPr>
          <p:grpSpPr>
            <a:xfrm flipV="1">
              <a:off x="3310679" y="1482929"/>
              <a:ext cx="2221507" cy="2008619"/>
              <a:chOff x="1138029" y="3713295"/>
              <a:chExt cx="2277164" cy="2058942"/>
            </a:xfrm>
          </p:grpSpPr>
          <mc:AlternateContent xmlns:mc="http://schemas.openxmlformats.org/markup-compatibility/2006">
            <mc:Choice xmlns:a14="http://schemas.microsoft.com/office/drawing/2010/main" Requires="a14">
              <p:sp>
                <p:nvSpPr>
                  <p:cNvPr id="13" name="Body-2"/>
                  <p:cNvSpPr txBox="1"/>
                  <p:nvPr>
                    <p:custDataLst>
                      <p:tags r:id="rId16"/>
                    </p:custDataLst>
                  </p:nvPr>
                </p:nvSpPr>
                <p:spPr>
                  <a:xfrm flipV="1">
                    <a:off x="1238050" y="4263681"/>
                    <a:ext cx="2177143" cy="1508556"/>
                  </a:xfrm>
                  <a:prstGeom prst="rect">
                    <a:avLst/>
                  </a:prstGeom>
                  <a:noFill/>
                </p:spPr>
                <p:txBody>
                  <a:bodyPr wrap="square">
                    <a:spAutoFit/>
                  </a:bodyPr>
                  <a:lstStyle/>
                  <a:p>
                    <a:pPr marL="179705" indent="-179705">
                      <a:lnSpc>
                        <a:spcPct val="130000"/>
                      </a:lnSpc>
                      <a:buFont typeface="Arial" panose="020B0604020202020204" pitchFamily="34" charset="0"/>
                      <a:buChar char="•"/>
                    </a:pPr>
                    <a:r>
                      <a:rPr lang="en-US" altLang="zh-CN" sz="1400" dirty="0" err="1">
                        <a:solidFill>
                          <a:schemeClr val="tx1">
                            <a:lumMod val="75000"/>
                            <a:lumOff val="25000"/>
                          </a:schemeClr>
                        </a:solidFill>
                        <a:latin typeface="+mn-ea"/>
                      </a:rPr>
                      <a:t>Accio</a:t>
                    </a:r>
                    <a:r>
                      <a:rPr lang="en-US" altLang="zh-CN" sz="1400" dirty="0">
                        <a:solidFill>
                          <a:schemeClr val="tx1">
                            <a:lumMod val="75000"/>
                            <a:lumOff val="25000"/>
                          </a:schemeClr>
                        </a:solidFill>
                        <a:latin typeface="+mn-ea"/>
                      </a:rPr>
                      <a:t>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r>
                      <a:rPr lang="en-US" altLang="zh-CN" sz="1400" dirty="0" err="1">
                        <a:solidFill>
                          <a:schemeClr val="tx1">
                            <a:lumMod val="75000"/>
                            <a:lumOff val="25000"/>
                          </a:schemeClr>
                        </a:solidFill>
                        <a:latin typeface="+mn-ea"/>
                      </a:rPr>
                      <a:t>BlindHub</a:t>
                    </a:r>
                    <a:r>
                      <a:rPr lang="en-US" altLang="zh-CN" sz="1400" dirty="0">
                        <a:solidFill>
                          <a:schemeClr val="tx1">
                            <a:lumMod val="75000"/>
                            <a:lumOff val="25000"/>
                          </a:schemeClr>
                        </a:solidFill>
                        <a:latin typeface="+mn-ea"/>
                      </a:rPr>
                      <a:t> (SP</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23)</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latin typeface="+mn-ea"/>
                      </a:rPr>
                      <a:t>Coin mixing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22)</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14:m>
                      <m:oMath xmlns:m="http://schemas.openxmlformats.org/officeDocument/2006/math">
                        <m:sSup>
                          <m:sSupPr>
                            <m:ctrlPr>
                              <a:rPr lang="en-US" altLang="zh-CN" sz="1400" i="1">
                                <a:solidFill>
                                  <a:schemeClr val="tx1">
                                    <a:lumMod val="75000"/>
                                    <a:lumOff val="25000"/>
                                  </a:schemeClr>
                                </a:solidFill>
                                <a:latin typeface="Cambria Math" panose="02040503050406030204" pitchFamily="18" charset="0"/>
                              </a:rPr>
                            </m:ctrlPr>
                          </m:sSupPr>
                          <m:e>
                            <m:r>
                              <a:rPr lang="en-US" altLang="zh-CN" sz="1400" i="1">
                                <a:solidFill>
                                  <a:schemeClr val="tx1">
                                    <a:lumMod val="75000"/>
                                    <a:lumOff val="25000"/>
                                  </a:schemeClr>
                                </a:solidFill>
                                <a:latin typeface="Cambria Math" panose="02040503050406030204" pitchFamily="18" charset="0"/>
                              </a:rPr>
                              <m:t>𝐴</m:t>
                            </m:r>
                          </m:e>
                          <m:sup>
                            <m:r>
                              <a:rPr lang="en-US" altLang="zh-CN" sz="1400" i="1">
                                <a:solidFill>
                                  <a:schemeClr val="tx1">
                                    <a:lumMod val="75000"/>
                                    <a:lumOff val="25000"/>
                                  </a:schemeClr>
                                </a:solidFill>
                                <a:latin typeface="Cambria Math" panose="02040503050406030204" pitchFamily="18" charset="0"/>
                              </a:rPr>
                              <m:t>2</m:t>
                            </m:r>
                          </m:sup>
                        </m:sSup>
                        <m:r>
                          <a:rPr lang="en-US" altLang="zh-CN" sz="1400" i="1">
                            <a:solidFill>
                              <a:schemeClr val="tx1">
                                <a:lumMod val="75000"/>
                                <a:lumOff val="25000"/>
                              </a:schemeClr>
                            </a:solidFill>
                            <a:latin typeface="Cambria Math" panose="02040503050406030204" pitchFamily="18" charset="0"/>
                          </a:rPr>
                          <m:t>𝐿</m:t>
                        </m:r>
                      </m:oMath>
                    </a14:m>
                    <a:r>
                      <a:rPr lang="en-US" altLang="zh-CN" sz="1400" dirty="0">
                        <a:solidFill>
                          <a:schemeClr val="tx1">
                            <a:lumMod val="75000"/>
                            <a:lumOff val="25000"/>
                          </a:schemeClr>
                        </a:solidFill>
                        <a:latin typeface="+mn-ea"/>
                      </a:rPr>
                      <a:t>(SP</a:t>
                    </a:r>
                    <a:r>
                      <a:rPr lang="en-US" altLang="zh-CN" sz="1400" dirty="0">
                        <a:solidFill>
                          <a:schemeClr val="tx1">
                            <a:lumMod val="75000"/>
                            <a:lumOff val="25000"/>
                          </a:schemeClr>
                        </a:solidFill>
                        <a:latin typeface="+mn-ea"/>
                        <a:sym typeface="+mn-ea"/>
                      </a:rPr>
                      <a:t>'21</a:t>
                    </a:r>
                    <a:r>
                      <a:rPr lang="en-US" altLang="zh-CN" sz="1400" dirty="0">
                        <a:solidFill>
                          <a:schemeClr val="tx1">
                            <a:lumMod val="75000"/>
                            <a:lumOff val="25000"/>
                          </a:schemeClr>
                        </a:solidFill>
                        <a:latin typeface="+mn-ea"/>
                      </a:rPr>
                      <a:t>)</a:t>
                    </a:r>
                    <a:endParaRPr lang="en-US" altLang="zh-CN" sz="1400" dirty="0">
                      <a:solidFill>
                        <a:schemeClr val="tx1">
                          <a:lumMod val="75000"/>
                          <a:lumOff val="25000"/>
                        </a:schemeClr>
                      </a:solidFill>
                      <a:latin typeface="+mn-ea"/>
                    </a:endParaRPr>
                  </a:p>
                  <a:p>
                    <a:pPr marL="179705" indent="-179705">
                      <a:lnSpc>
                        <a:spcPct val="130000"/>
                      </a:lnSpc>
                      <a:buFont typeface="Arial" panose="020B0604020202020204" pitchFamily="34" charset="0"/>
                      <a:buChar char="•"/>
                    </a:pPr>
                    <a:r>
                      <a:rPr lang="en-US" altLang="zh-CN" sz="1400" dirty="0">
                        <a:solidFill>
                          <a:schemeClr val="tx1">
                            <a:lumMod val="75000"/>
                            <a:lumOff val="25000"/>
                          </a:schemeClr>
                        </a:solidFill>
                        <a:latin typeface="+mn-ea"/>
                      </a:rPr>
                      <a:t>Bolt (CCS</a:t>
                    </a:r>
                    <a:r>
                      <a:rPr lang="en-US" altLang="zh-CN" sz="1400" dirty="0">
                        <a:solidFill>
                          <a:schemeClr val="tx1">
                            <a:lumMod val="75000"/>
                            <a:lumOff val="25000"/>
                          </a:schemeClr>
                        </a:solidFill>
                        <a:latin typeface="+mn-ea"/>
                        <a:sym typeface="+mn-ea"/>
                      </a:rPr>
                      <a:t>'</a:t>
                    </a:r>
                    <a:r>
                      <a:rPr lang="en-US" altLang="zh-CN" sz="1400" dirty="0">
                        <a:solidFill>
                          <a:schemeClr val="tx1">
                            <a:lumMod val="75000"/>
                            <a:lumOff val="25000"/>
                          </a:schemeClr>
                        </a:solidFill>
                        <a:latin typeface="+mn-ea"/>
                      </a:rPr>
                      <a:t>17)</a:t>
                    </a:r>
                    <a:endParaRPr lang="zh-CN" altLang="en-US" sz="1400" dirty="0">
                      <a:solidFill>
                        <a:schemeClr val="tx1">
                          <a:lumMod val="75000"/>
                          <a:lumOff val="25000"/>
                        </a:schemeClr>
                      </a:solidFill>
                      <a:latin typeface="+mn-ea"/>
                    </a:endParaRPr>
                  </a:p>
                </p:txBody>
              </p:sp>
            </mc:Choice>
            <mc:Fallback>
              <p:sp>
                <p:nvSpPr>
                  <p:cNvPr id="13" name="Body-2"/>
                  <p:cNvSpPr txBox="1">
                    <a:spLocks noRot="1" noChangeAspect="1" noMove="1" noResize="1" noEditPoints="1" noAdjustHandles="1" noChangeArrowheads="1" noChangeShapeType="1" noTextEdit="1"/>
                  </p:cNvSpPr>
                  <p:nvPr>
                    <p:custDataLst>
                      <p:tags r:id="rId17"/>
                    </p:custDataLst>
                  </p:nvPr>
                </p:nvSpPr>
                <p:spPr>
                  <a:xfrm flipV="1">
                    <a:off x="1238050" y="4263681"/>
                    <a:ext cx="2177143" cy="1508556"/>
                  </a:xfrm>
                  <a:prstGeom prst="rect">
                    <a:avLst/>
                  </a:prstGeom>
                  <a:blipFill rotWithShape="1">
                    <a:blip r:embed="rId18"/>
                  </a:blipFill>
                </p:spPr>
                <p:txBody>
                  <a:bodyPr/>
                  <a:lstStyle/>
                  <a:p>
                    <a:r>
                      <a:rPr lang="zh-CN" altLang="en-US">
                        <a:noFill/>
                      </a:rPr>
                      <a:t> </a:t>
                    </a:r>
                  </a:p>
                </p:txBody>
              </p:sp>
            </mc:Fallback>
          </mc:AlternateContent>
          <p:sp>
            <p:nvSpPr>
              <p:cNvPr id="14" name="Title-2"/>
              <p:cNvSpPr txBox="1"/>
              <p:nvPr>
                <p:custDataLst>
                  <p:tags r:id="rId19"/>
                </p:custDataLst>
              </p:nvPr>
            </p:nvSpPr>
            <p:spPr>
              <a:xfrm flipV="1">
                <a:off x="1338072" y="3713295"/>
                <a:ext cx="1350386" cy="662524"/>
              </a:xfrm>
              <a:prstGeom prst="rect">
                <a:avLst/>
              </a:prstGeom>
              <a:noFill/>
            </p:spPr>
            <p:txBody>
              <a:bodyPr wrap="square">
                <a:spAutoFit/>
              </a:bodyPr>
              <a:lstStyle>
                <a:defPPr>
                  <a:defRPr lang="zh-CN"/>
                </a:defPPr>
                <a:lvl1pPr algn="ctr">
                  <a:defRPr sz="4000" b="1">
                    <a:gradFill>
                      <a:gsLst>
                        <a:gs pos="7000">
                          <a:schemeClr val="accent2"/>
                        </a:gs>
                        <a:gs pos="100000">
                          <a:schemeClr val="accent1"/>
                        </a:gs>
                      </a:gsLst>
                      <a:lin ang="2700000" scaled="0"/>
                    </a:gradFill>
                  </a:defRPr>
                </a:lvl1pPr>
              </a:lstStyle>
              <a:p>
                <a:pPr algn="l"/>
                <a:r>
                  <a:rPr lang="en-US" altLang="zh-CN" sz="1800" dirty="0" err="1"/>
                  <a:t>Tumbit</a:t>
                </a:r>
                <a:r>
                  <a:rPr lang="en-US" altLang="zh-CN" sz="1800" dirty="0"/>
                  <a:t> (NDSS</a:t>
                </a:r>
                <a:r>
                  <a:rPr lang="en-US" altLang="zh-CN" sz="1800" dirty="0">
                    <a:sym typeface="+mn-ea"/>
                  </a:rPr>
                  <a:t>'</a:t>
                </a:r>
                <a:r>
                  <a:rPr lang="en-US" altLang="zh-CN" sz="1800" dirty="0"/>
                  <a:t>17)</a:t>
                </a:r>
                <a:endParaRPr lang="zh-CN" altLang="en-US" sz="1800" dirty="0"/>
              </a:p>
            </p:txBody>
          </p:sp>
          <p:sp>
            <p:nvSpPr>
              <p:cNvPr id="16" name="2"/>
              <p:cNvSpPr/>
              <p:nvPr/>
            </p:nvSpPr>
            <p:spPr>
              <a:xfrm>
                <a:off x="1138029" y="3763112"/>
                <a:ext cx="200043" cy="200043"/>
              </a:xfrm>
              <a:prstGeom prst="ellipse">
                <a:avLst/>
              </a:prstGeom>
              <a:gradFill flip="none" rotWithShape="1">
                <a:gsLst>
                  <a:gs pos="69000">
                    <a:schemeClr val="accent2"/>
                  </a:gs>
                  <a:gs pos="8000">
                    <a:schemeClr val="accent1"/>
                  </a:gs>
                </a:gsLst>
                <a:path path="circle">
                  <a:fillToRect l="100000" t="100000"/>
                </a:path>
                <a:tileRect r="-100000" b="-100000"/>
              </a:gra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2"/>
              <p:cNvCxnSpPr/>
              <p:nvPr/>
            </p:nvCxnSpPr>
            <p:spPr>
              <a:xfrm>
                <a:off x="1238050" y="4014024"/>
                <a:ext cx="0" cy="1514006"/>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47" name="文本框 46"/>
          <p:cNvSpPr txBox="1"/>
          <p:nvPr/>
        </p:nvSpPr>
        <p:spPr>
          <a:xfrm>
            <a:off x="11736779" y="6499761"/>
            <a:ext cx="455221" cy="369332"/>
          </a:xfrm>
          <a:prstGeom prst="rect">
            <a:avLst/>
          </a:prstGeom>
          <a:noFill/>
        </p:spPr>
        <p:txBody>
          <a:bodyPr wrap="square" rtlCol="0">
            <a:spAutoFit/>
          </a:bodyPr>
          <a:lstStyle/>
          <a:p>
            <a:pPr algn="ctr"/>
            <a:r>
              <a:rPr lang="en-US" altLang="zh-CN" dirty="0"/>
              <a:t>19</a:t>
            </a:r>
            <a:endParaRPr lang="zh-CN" altLang="en-US" dirty="0"/>
          </a:p>
        </p:txBody>
      </p:sp>
    </p:spTree>
    <p:custDataLst>
      <p:tags r:id="rId20"/>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3"/>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跨链数字资产交易协议证明机制</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74" name="矩形 73"/>
          <p:cNvSpPr/>
          <p:nvPr/>
        </p:nvSpPr>
        <p:spPr>
          <a:xfrm>
            <a:off x="713740" y="2551430"/>
            <a:ext cx="1399540" cy="4330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最长链证明</a:t>
            </a:r>
            <a:endParaRPr lang="zh-CN" altLang="en-US" dirty="0">
              <a:solidFill>
                <a:srgbClr val="04579A"/>
              </a:solidFill>
            </a:endParaRPr>
          </a:p>
        </p:txBody>
      </p:sp>
      <p:sp>
        <p:nvSpPr>
          <p:cNvPr id="76" name="矩形 75"/>
          <p:cNvSpPr/>
          <p:nvPr>
            <p:custDataLst>
              <p:tags r:id="rId9"/>
            </p:custDataLst>
          </p:nvPr>
        </p:nvSpPr>
        <p:spPr>
          <a:xfrm>
            <a:off x="713740" y="3111499"/>
            <a:ext cx="1399540" cy="57161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有效区块</a:t>
            </a:r>
            <a:endParaRPr lang="en-US" altLang="zh-CN" dirty="0">
              <a:solidFill>
                <a:srgbClr val="04579A"/>
              </a:solidFill>
            </a:endParaRPr>
          </a:p>
          <a:p>
            <a:pPr algn="ctr"/>
            <a:r>
              <a:rPr lang="zh-CN" altLang="en-US" dirty="0">
                <a:solidFill>
                  <a:srgbClr val="04579A"/>
                </a:solidFill>
              </a:rPr>
              <a:t>证明</a:t>
            </a:r>
            <a:endParaRPr lang="zh-CN" altLang="en-US" dirty="0">
              <a:solidFill>
                <a:srgbClr val="04579A"/>
              </a:solidFill>
            </a:endParaRPr>
          </a:p>
        </p:txBody>
      </p:sp>
      <p:sp>
        <p:nvSpPr>
          <p:cNvPr id="78" name="矩形 77"/>
          <p:cNvSpPr/>
          <p:nvPr>
            <p:custDataLst>
              <p:tags r:id="rId10"/>
            </p:custDataLst>
          </p:nvPr>
        </p:nvSpPr>
        <p:spPr>
          <a:xfrm>
            <a:off x="713740" y="4550732"/>
            <a:ext cx="1399540" cy="5716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交易内数据</a:t>
            </a:r>
            <a:endParaRPr lang="en-US" altLang="zh-CN" dirty="0">
              <a:solidFill>
                <a:srgbClr val="04579A"/>
              </a:solidFill>
            </a:endParaRPr>
          </a:p>
          <a:p>
            <a:pPr algn="ctr"/>
            <a:r>
              <a:rPr lang="zh-CN" altLang="en-US" dirty="0">
                <a:solidFill>
                  <a:srgbClr val="04579A"/>
                </a:solidFill>
              </a:rPr>
              <a:t>正确性证明</a:t>
            </a:r>
            <a:endParaRPr lang="zh-CN" altLang="en-US" dirty="0">
              <a:solidFill>
                <a:srgbClr val="04579A"/>
              </a:solidFill>
            </a:endParaRPr>
          </a:p>
        </p:txBody>
      </p:sp>
      <p:sp>
        <p:nvSpPr>
          <p:cNvPr id="79" name="矩形 78"/>
          <p:cNvSpPr/>
          <p:nvPr>
            <p:custDataLst>
              <p:tags r:id="rId11"/>
            </p:custDataLst>
          </p:nvPr>
        </p:nvSpPr>
        <p:spPr>
          <a:xfrm>
            <a:off x="2276475" y="2551430"/>
            <a:ext cx="1400175" cy="2570916"/>
          </a:xfrm>
          <a:prstGeom prst="rect">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rPr>
              <a:t>跨链证明</a:t>
            </a:r>
            <a:endParaRPr lang="zh-CN" altLang="en-US" sz="2000" b="1" dirty="0">
              <a:solidFill>
                <a:schemeClr val="bg1"/>
              </a:solidFill>
            </a:endParaRPr>
          </a:p>
        </p:txBody>
      </p:sp>
      <p:sp>
        <p:nvSpPr>
          <p:cNvPr id="80" name="文本框 79"/>
          <p:cNvSpPr txBox="1"/>
          <p:nvPr/>
        </p:nvSpPr>
        <p:spPr>
          <a:xfrm>
            <a:off x="4212021" y="2415184"/>
            <a:ext cx="7418070" cy="3252750"/>
          </a:xfrm>
          <a:prstGeom prst="rect">
            <a:avLst/>
          </a:prstGeom>
          <a:noFill/>
        </p:spPr>
        <p:txBody>
          <a:bodyPr wrap="square" rtlCol="0">
            <a:spAutoFit/>
          </a:bodyPr>
          <a:lstStyle/>
          <a:p>
            <a:pPr marL="285750" indent="-285750" fontAlgn="auto">
              <a:lnSpc>
                <a:spcPct val="120000"/>
              </a:lnSpc>
              <a:buFont typeface="Arial" panose="020B0604020202020204" pitchFamily="34" charset="0"/>
              <a:buChar char="•"/>
            </a:pPr>
            <a:r>
              <a:rPr lang="zh-CN" altLang="en-US" sz="2400" b="1" dirty="0"/>
              <a:t>基于</a:t>
            </a:r>
            <a:r>
              <a:rPr lang="en-US" altLang="zh-CN" sz="2400" b="1" dirty="0"/>
              <a:t>SPV</a:t>
            </a:r>
            <a:r>
              <a:rPr lang="zh-CN" altLang="en-US" sz="2400" b="1" dirty="0"/>
              <a:t>和轻客户端</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r>
              <a:rPr lang="zh-CN" altLang="en-US" dirty="0">
                <a:latin typeface="微软雅黑" panose="020B0503020204020204" charset="-122"/>
                <a:ea typeface="微软雅黑" panose="020B0503020204020204" charset="-122"/>
                <a:cs typeface="微软雅黑" panose="020B0503020204020204" charset="-122"/>
              </a:rPr>
              <a:t>轻客户端在链上仅存储和验证区块头，跨链验证时：</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nSpc>
                <a:spcPct val="120000"/>
              </a:lnSpc>
              <a:spcAft>
                <a:spcPts val="6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基于</a:t>
            </a:r>
            <a:r>
              <a:rPr lang="en-US" altLang="zh-CN" dirty="0">
                <a:latin typeface="微软雅黑" panose="020B0503020204020204" charset="-122"/>
                <a:ea typeface="微软雅黑" panose="020B0503020204020204" charset="-122"/>
                <a:cs typeface="微软雅黑" panose="020B0503020204020204" charset="-122"/>
              </a:rPr>
              <a:t>PoW</a:t>
            </a:r>
            <a:r>
              <a:rPr lang="zh-CN" altLang="en-US" dirty="0">
                <a:latin typeface="微软雅黑" panose="020B0503020204020204" charset="-122"/>
                <a:ea typeface="微软雅黑" panose="020B0503020204020204" charset="-122"/>
                <a:cs typeface="微软雅黑" panose="020B0503020204020204" charset="-122"/>
              </a:rPr>
              <a:t>机制的最长链证明（和链长线性相关）</a:t>
            </a:r>
            <a:endParaRPr lang="en-US" altLang="zh-CN" dirty="0">
              <a:latin typeface="微软雅黑" panose="020B0503020204020204" charset="-122"/>
              <a:ea typeface="微软雅黑" panose="020B0503020204020204" charset="-122"/>
              <a:cs typeface="微软雅黑" panose="020B0503020204020204" charset="-122"/>
            </a:endParaRPr>
          </a:p>
          <a:p>
            <a:pPr marL="742950" lvl="1" indent="-285750">
              <a:lnSpc>
                <a:spcPct val="120000"/>
              </a:lnSpc>
              <a:spcAft>
                <a:spcPts val="6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交易所在区块的</a:t>
            </a:r>
            <a:r>
              <a:rPr lang="en-US" altLang="zh-CN" dirty="0">
                <a:latin typeface="微软雅黑" panose="020B0503020204020204" charset="-122"/>
                <a:ea typeface="微软雅黑" panose="020B0503020204020204" charset="-122"/>
                <a:cs typeface="微软雅黑" panose="020B0503020204020204" charset="-122"/>
              </a:rPr>
              <a:t>Merkle Tree</a:t>
            </a:r>
            <a:r>
              <a:rPr lang="zh-CN" altLang="en-US" dirty="0">
                <a:latin typeface="微软雅黑" panose="020B0503020204020204" charset="-122"/>
                <a:ea typeface="微软雅黑" panose="020B0503020204020204" charset="-122"/>
                <a:cs typeface="微软雅黑" panose="020B0503020204020204" charset="-122"/>
              </a:rPr>
              <a:t>证明</a:t>
            </a:r>
            <a:endParaRPr lang="en-US" altLang="zh-CN" dirty="0">
              <a:latin typeface="微软雅黑" panose="020B0503020204020204" charset="-122"/>
              <a:ea typeface="微软雅黑" panose="020B0503020204020204" charset="-122"/>
              <a:cs typeface="微软雅黑" panose="020B0503020204020204" charset="-122"/>
            </a:endParaRPr>
          </a:p>
          <a:p>
            <a:pPr indent="457200" fontAlgn="auto">
              <a:lnSpc>
                <a:spcPct val="120000"/>
              </a:lnSpc>
              <a:spcAft>
                <a:spcPts val="600"/>
              </a:spcAft>
            </a:pPr>
            <a:endParaRPr lang="en-US" altLang="zh-CN" dirty="0">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2400" b="1" dirty="0">
                <a:latin typeface="微软雅黑" panose="020B0503020204020204" charset="-122"/>
                <a:ea typeface="微软雅黑" panose="020B0503020204020204" charset="-122"/>
                <a:cs typeface="微软雅黑" panose="020B0503020204020204" charset="-122"/>
              </a:rPr>
              <a:t>基于零知识证明</a:t>
            </a:r>
            <a:endParaRPr lang="en-US" altLang="zh-CN" sz="2000" b="1" dirty="0">
              <a:solidFill>
                <a:srgbClr val="04579A"/>
              </a:solidFill>
              <a:latin typeface="微软雅黑" panose="020B0503020204020204" charset="-122"/>
              <a:ea typeface="微软雅黑" panose="020B0503020204020204" charset="-122"/>
              <a:cs typeface="微软雅黑" panose="020B0503020204020204" charset="-122"/>
            </a:endParaRPr>
          </a:p>
          <a:p>
            <a:pPr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针对特定区块链结构设计零知识证明方案，跨链验证时：</a:t>
            </a:r>
            <a:endParaRPr lang="en-US" altLang="zh-CN" dirty="0">
              <a:latin typeface="微软雅黑" panose="020B0503020204020204" charset="-122"/>
              <a:ea typeface="微软雅黑" panose="020B0503020204020204" charset="-122"/>
              <a:cs typeface="微软雅黑" panose="020B0503020204020204" charset="-122"/>
            </a:endParaRPr>
          </a:p>
          <a:p>
            <a:pPr fontAlgn="auto">
              <a:lnSpc>
                <a:spcPct val="120000"/>
              </a:lnSpc>
            </a:pP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在链下计算得到零知识证明</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6" name="矩形 5"/>
          <p:cNvSpPr/>
          <p:nvPr>
            <p:custDataLst>
              <p:tags r:id="rId12"/>
            </p:custDataLst>
          </p:nvPr>
        </p:nvSpPr>
        <p:spPr>
          <a:xfrm>
            <a:off x="713740" y="3841864"/>
            <a:ext cx="1399540" cy="57161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579A"/>
                </a:solidFill>
              </a:rPr>
              <a:t>交易有效性证明</a:t>
            </a:r>
            <a:endParaRPr lang="zh-CN" altLang="en-US" dirty="0">
              <a:solidFill>
                <a:srgbClr val="04579A"/>
              </a:solidFill>
            </a:endParaRPr>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20</a:t>
            </a:r>
            <a:endParaRPr lang="zh-CN" altLang="en-US" dirty="0"/>
          </a:p>
        </p:txBody>
      </p:sp>
    </p:spTree>
    <p:custDataLst>
      <p:tags r:id="rId13"/>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80" name="文本框 79"/>
          <p:cNvSpPr txBox="1"/>
          <p:nvPr/>
        </p:nvSpPr>
        <p:spPr>
          <a:xfrm>
            <a:off x="5939790" y="1898015"/>
            <a:ext cx="1409065" cy="369332"/>
          </a:xfrm>
          <a:prstGeom prst="rect">
            <a:avLst/>
          </a:prstGeom>
          <a:ln w="31750">
            <a:solidFill>
              <a:schemeClr val="accent3">
                <a:lumMod val="75000"/>
              </a:schemeClr>
            </a:solid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dirty="0"/>
              <a:t>基于零知识</a:t>
            </a:r>
            <a:endParaRPr lang="en-US" altLang="zh-CN" dirty="0"/>
          </a:p>
        </p:txBody>
      </p:sp>
      <p:sp>
        <p:nvSpPr>
          <p:cNvPr id="79" name="文本框 78"/>
          <p:cNvSpPr txBox="1"/>
          <p:nvPr/>
        </p:nvSpPr>
        <p:spPr>
          <a:xfrm>
            <a:off x="4530725" y="1892300"/>
            <a:ext cx="1409065" cy="368300"/>
          </a:xfrm>
          <a:prstGeom prst="rect">
            <a:avLst/>
          </a:prstGeom>
          <a:ln w="31750">
            <a:solidFill>
              <a:srgbClr val="04579A"/>
            </a:solid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dirty="0"/>
              <a:t>基于</a:t>
            </a:r>
            <a:r>
              <a:rPr lang="en-US" altLang="zh-CN" dirty="0"/>
              <a:t>SPV</a:t>
            </a:r>
            <a:endParaRPr lang="en-US" altLang="zh-CN" dirty="0"/>
          </a:p>
        </p:txBody>
      </p:sp>
      <p:sp>
        <p:nvSpPr>
          <p:cNvPr id="18" name="矩形 17"/>
          <p:cNvSpPr/>
          <p:nvPr>
            <p:custDataLst>
              <p:tags r:id="rId1"/>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3871595" y="-635"/>
            <a:ext cx="199072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5862320" y="-635"/>
            <a:ext cx="3115945" cy="721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4591050" y="721360"/>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p:cNvCxnSpPr/>
          <p:nvPr/>
        </p:nvCxnSpPr>
        <p:spPr>
          <a:xfrm>
            <a:off x="5939790" y="1584325"/>
            <a:ext cx="0" cy="4516755"/>
          </a:xfrm>
          <a:prstGeom prst="line">
            <a:avLst/>
          </a:prstGeom>
          <a:ln w="635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405890" y="2552065"/>
            <a:ext cx="4064000" cy="398780"/>
          </a:xfrm>
          <a:prstGeom prst="rect">
            <a:avLst/>
          </a:prstGeom>
          <a:noFill/>
        </p:spPr>
        <p:txBody>
          <a:bodyPr wrap="square" rtlCol="0">
            <a:spAutoFit/>
          </a:bodyPr>
          <a:lstStyle/>
          <a:p>
            <a:r>
              <a:rPr lang="en-US" altLang="zh-CN" sz="2000" b="1" dirty="0" err="1">
                <a:solidFill>
                  <a:srgbClr val="04579A"/>
                </a:solidFill>
                <a:latin typeface="微软雅黑" panose="020B0503020204020204" charset="-122"/>
                <a:ea typeface="微软雅黑" panose="020B0503020204020204" charset="-122"/>
              </a:rPr>
              <a:t>Flyclient</a:t>
            </a:r>
            <a:r>
              <a:rPr lang="en-US" altLang="zh-CN" sz="2000" b="1" dirty="0">
                <a:solidFill>
                  <a:srgbClr val="04579A"/>
                </a:solidFill>
                <a:latin typeface="微软雅黑" panose="020B0503020204020204" charset="-122"/>
                <a:ea typeface="微软雅黑" panose="020B0503020204020204" charset="-122"/>
              </a:rPr>
              <a:t> SP</a:t>
            </a:r>
            <a:r>
              <a:rPr lang="en-US" altLang="zh-CN" sz="2000" b="1" dirty="0">
                <a:solidFill>
                  <a:srgbClr val="04579A"/>
                </a:solidFill>
                <a:latin typeface="微软雅黑" panose="020B0503020204020204" charset="-122"/>
                <a:ea typeface="微软雅黑" panose="020B0503020204020204" charset="-122"/>
                <a:sym typeface="+mn-ea"/>
              </a:rPr>
              <a:t>'</a:t>
            </a:r>
            <a:r>
              <a:rPr lang="en-US" altLang="zh-CN" sz="2000" b="1" dirty="0">
                <a:solidFill>
                  <a:srgbClr val="04579A"/>
                </a:solidFill>
                <a:latin typeface="微软雅黑" panose="020B0503020204020204" charset="-122"/>
                <a:ea typeface="微软雅黑" panose="020B0503020204020204" charset="-122"/>
              </a:rPr>
              <a:t>20</a:t>
            </a:r>
            <a:endParaRPr lang="en-US" altLang="zh-CN" sz="2000" b="1" dirty="0">
              <a:solidFill>
                <a:srgbClr val="04579A"/>
              </a:solidFill>
              <a:latin typeface="微软雅黑" panose="020B0503020204020204" charset="-122"/>
              <a:ea typeface="微软雅黑" panose="020B0503020204020204" charset="-122"/>
            </a:endParaRPr>
          </a:p>
        </p:txBody>
      </p:sp>
      <p:sp>
        <p:nvSpPr>
          <p:cNvPr id="58" name="文本框 57"/>
          <p:cNvSpPr txBox="1"/>
          <p:nvPr/>
        </p:nvSpPr>
        <p:spPr>
          <a:xfrm>
            <a:off x="8423910" y="3564890"/>
            <a:ext cx="2707640" cy="398780"/>
          </a:xfrm>
          <a:prstGeom prst="rect">
            <a:avLst/>
          </a:prstGeom>
          <a:noFill/>
        </p:spPr>
        <p:txBody>
          <a:bodyPr wrap="square" rtlCol="0">
            <a:spAutoFit/>
          </a:bodyPr>
          <a:lstStyle/>
          <a:p>
            <a:r>
              <a:rPr lang="en-US" altLang="zh-CN" sz="2000" b="1" dirty="0" err="1">
                <a:solidFill>
                  <a:schemeClr val="accent3">
                    <a:lumMod val="75000"/>
                  </a:schemeClr>
                </a:solidFill>
                <a:latin typeface="微软雅黑" panose="020B0503020204020204" charset="-122"/>
                <a:ea typeface="微软雅黑" panose="020B0503020204020204" charset="-122"/>
              </a:rPr>
              <a:t>Zk</a:t>
            </a:r>
            <a:r>
              <a:rPr lang="en-US" altLang="zh-CN" sz="2000" b="1" dirty="0">
                <a:solidFill>
                  <a:schemeClr val="accent3">
                    <a:lumMod val="75000"/>
                  </a:schemeClr>
                </a:solidFill>
                <a:latin typeface="微软雅黑" panose="020B0503020204020204" charset="-122"/>
                <a:ea typeface="微软雅黑" panose="020B0503020204020204" charset="-122"/>
              </a:rPr>
              <a:t>-bridge CCS</a:t>
            </a:r>
            <a:r>
              <a:rPr lang="en-US" altLang="zh-CN" sz="2000" b="1" dirty="0">
                <a:solidFill>
                  <a:schemeClr val="accent3">
                    <a:lumMod val="75000"/>
                  </a:schemeClr>
                </a:solidFill>
                <a:latin typeface="微软雅黑" panose="020B0503020204020204" charset="-122"/>
                <a:ea typeface="微软雅黑" panose="020B0503020204020204" charset="-122"/>
                <a:sym typeface="+mn-ea"/>
              </a:rPr>
              <a:t>'</a:t>
            </a:r>
            <a:r>
              <a:rPr lang="en-US" altLang="zh-CN" sz="2000" b="1" dirty="0">
                <a:solidFill>
                  <a:schemeClr val="accent3">
                    <a:lumMod val="75000"/>
                  </a:schemeClr>
                </a:solidFill>
                <a:latin typeface="微软雅黑" panose="020B0503020204020204" charset="-122"/>
                <a:ea typeface="微软雅黑" panose="020B0503020204020204" charset="-122"/>
              </a:rPr>
              <a:t>22</a:t>
            </a:r>
            <a:endParaRPr lang="en-US" altLang="zh-CN" sz="2000" b="1" dirty="0">
              <a:solidFill>
                <a:schemeClr val="accent3">
                  <a:lumMod val="75000"/>
                </a:schemeClr>
              </a:solidFill>
              <a:latin typeface="微软雅黑" panose="020B0503020204020204" charset="-122"/>
              <a:ea typeface="微软雅黑" panose="020B0503020204020204" charset="-122"/>
            </a:endParaRPr>
          </a:p>
        </p:txBody>
      </p:sp>
      <p:sp>
        <p:nvSpPr>
          <p:cNvPr id="64" name="文本框 63"/>
          <p:cNvSpPr txBox="1"/>
          <p:nvPr/>
        </p:nvSpPr>
        <p:spPr>
          <a:xfrm>
            <a:off x="1108364" y="4638040"/>
            <a:ext cx="4361526" cy="398780"/>
          </a:xfrm>
          <a:prstGeom prst="rect">
            <a:avLst/>
          </a:prstGeom>
          <a:noFill/>
        </p:spPr>
        <p:txBody>
          <a:bodyPr wrap="square" rtlCol="0">
            <a:spAutoFit/>
          </a:bodyPr>
          <a:lstStyle/>
          <a:p>
            <a:r>
              <a:rPr lang="en-US" altLang="zh-CN" sz="2000" b="1" dirty="0">
                <a:solidFill>
                  <a:srgbClr val="04579A"/>
                </a:solidFill>
                <a:latin typeface="微软雅黑" panose="020B0503020204020204" charset="-122"/>
                <a:ea typeface="微软雅黑" panose="020B0503020204020204" charset="-122"/>
              </a:rPr>
              <a:t>Glimpse Usenix</a:t>
            </a:r>
            <a:r>
              <a:rPr lang="en-US" altLang="zh-CN" sz="2000" b="1" dirty="0">
                <a:solidFill>
                  <a:srgbClr val="04579A"/>
                </a:solidFill>
                <a:latin typeface="微软雅黑" panose="020B0503020204020204" charset="-122"/>
                <a:ea typeface="微软雅黑" panose="020B0503020204020204" charset="-122"/>
                <a:sym typeface="+mn-ea"/>
              </a:rPr>
              <a:t>'</a:t>
            </a:r>
            <a:r>
              <a:rPr lang="en-US" altLang="zh-CN" sz="2000" b="1" dirty="0">
                <a:solidFill>
                  <a:srgbClr val="04579A"/>
                </a:solidFill>
                <a:latin typeface="微软雅黑" panose="020B0503020204020204" charset="-122"/>
                <a:ea typeface="微软雅黑" panose="020B0503020204020204" charset="-122"/>
              </a:rPr>
              <a:t>23</a:t>
            </a:r>
            <a:endParaRPr lang="en-US" altLang="zh-CN" sz="2000" b="1" dirty="0">
              <a:solidFill>
                <a:srgbClr val="04579A"/>
              </a:solidFill>
              <a:latin typeface="微软雅黑" panose="020B0503020204020204" charset="-122"/>
              <a:ea typeface="微软雅黑" panose="020B0503020204020204" charset="-122"/>
            </a:endParaRPr>
          </a:p>
        </p:txBody>
      </p:sp>
      <p:sp>
        <p:nvSpPr>
          <p:cNvPr id="65" name="椭圆 64"/>
          <p:cNvSpPr/>
          <p:nvPr/>
        </p:nvSpPr>
        <p:spPr>
          <a:xfrm>
            <a:off x="5634990" y="2552065"/>
            <a:ext cx="562610" cy="562610"/>
          </a:xfrm>
          <a:prstGeom prst="ellipse">
            <a:avLst/>
          </a:prstGeom>
          <a:solidFill>
            <a:schemeClr val="bg1"/>
          </a:solidFill>
          <a:ln w="50800">
            <a:solidFill>
              <a:srgbClr val="04579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4579A"/>
                </a:solidFill>
                <a:effectLst>
                  <a:outerShdw blurRad="38100" dist="38100" dir="2700000" algn="tl">
                    <a:srgbClr val="000000">
                      <a:alpha val="43137"/>
                    </a:srgbClr>
                  </a:outerShdw>
                </a:effectLst>
              </a:rPr>
              <a:t>1</a:t>
            </a:r>
            <a:endParaRPr lang="en-US" altLang="zh-CN" sz="2800" b="1">
              <a:solidFill>
                <a:srgbClr val="04579A"/>
              </a:solidFill>
              <a:effectLst>
                <a:outerShdw blurRad="38100" dist="38100" dir="2700000" algn="tl">
                  <a:srgbClr val="000000">
                    <a:alpha val="43137"/>
                  </a:srgbClr>
                </a:outerShdw>
              </a:effectLst>
            </a:endParaRPr>
          </a:p>
        </p:txBody>
      </p:sp>
      <p:sp>
        <p:nvSpPr>
          <p:cNvPr id="66" name="椭圆 65"/>
          <p:cNvSpPr/>
          <p:nvPr/>
        </p:nvSpPr>
        <p:spPr>
          <a:xfrm>
            <a:off x="5634990" y="4610100"/>
            <a:ext cx="562610" cy="562610"/>
          </a:xfrm>
          <a:prstGeom prst="ellipse">
            <a:avLst/>
          </a:prstGeom>
          <a:solidFill>
            <a:schemeClr val="bg1"/>
          </a:solidFill>
          <a:ln w="50800">
            <a:solidFill>
              <a:srgbClr val="04579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4579A"/>
                </a:solidFill>
                <a:effectLst>
                  <a:outerShdw blurRad="38100" dist="38100" dir="2700000" algn="tl">
                    <a:srgbClr val="000000">
                      <a:alpha val="43137"/>
                    </a:srgbClr>
                  </a:outerShdw>
                </a:effectLst>
              </a:rPr>
              <a:t>3</a:t>
            </a:r>
            <a:endParaRPr lang="en-US" altLang="zh-CN" sz="2800" b="1">
              <a:solidFill>
                <a:srgbClr val="04579A"/>
              </a:solidFill>
              <a:effectLst>
                <a:outerShdw blurRad="38100" dist="38100" dir="2700000" algn="tl">
                  <a:srgbClr val="000000">
                    <a:alpha val="43137"/>
                  </a:srgbClr>
                </a:outerShdw>
              </a:effectLst>
            </a:endParaRPr>
          </a:p>
        </p:txBody>
      </p:sp>
      <p:sp>
        <p:nvSpPr>
          <p:cNvPr id="67" name="椭圆 66"/>
          <p:cNvSpPr/>
          <p:nvPr/>
        </p:nvSpPr>
        <p:spPr>
          <a:xfrm>
            <a:off x="5634990" y="3580765"/>
            <a:ext cx="562610" cy="562610"/>
          </a:xfrm>
          <a:prstGeom prst="ellipse">
            <a:avLst/>
          </a:prstGeom>
          <a:solidFill>
            <a:schemeClr val="bg1"/>
          </a:solidFill>
          <a:ln w="50800">
            <a:solidFill>
              <a:schemeClr val="accent3">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accent3">
                    <a:lumMod val="75000"/>
                  </a:schemeClr>
                </a:solidFill>
                <a:effectLst>
                  <a:outerShdw blurRad="38100" dist="38100" dir="2700000" algn="tl">
                    <a:srgbClr val="000000">
                      <a:alpha val="43137"/>
                    </a:srgbClr>
                  </a:outerShdw>
                </a:effectLst>
              </a:rPr>
              <a:t>2</a:t>
            </a:r>
            <a:endParaRPr lang="en-US" altLang="zh-CN" sz="2800" b="1">
              <a:solidFill>
                <a:schemeClr val="accent3">
                  <a:lumMod val="75000"/>
                </a:schemeClr>
              </a:solidFill>
              <a:effectLst>
                <a:outerShdw blurRad="38100" dist="38100" dir="2700000" algn="tl">
                  <a:srgbClr val="000000">
                    <a:alpha val="43137"/>
                  </a:srgbClr>
                </a:outerShdw>
              </a:effectLst>
            </a:endParaRPr>
          </a:p>
        </p:txBody>
      </p:sp>
      <p:cxnSp>
        <p:nvCxnSpPr>
          <p:cNvPr id="68" name="直接连接符 67"/>
          <p:cNvCxnSpPr>
            <a:endCxn id="48" idx="3"/>
          </p:cNvCxnSpPr>
          <p:nvPr/>
        </p:nvCxnSpPr>
        <p:spPr>
          <a:xfrm>
            <a:off x="3702685" y="274256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6485255" y="375983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3702685" y="4832985"/>
            <a:ext cx="1767205" cy="8890"/>
          </a:xfrm>
          <a:prstGeom prst="line">
            <a:avLst/>
          </a:prstGeom>
          <a:ln w="15875"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1405255" y="2950845"/>
            <a:ext cx="4229735" cy="953723"/>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以非交互的抽样分布进行证明</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对数级储存复杂度</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16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缺乏后向兼容性</a:t>
            </a:r>
            <a:endParaRPr lang="zh-CN" altLang="en-US" sz="16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6485255" y="3966210"/>
            <a:ext cx="5137150" cy="830997"/>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dirty="0">
                <a:solidFill>
                  <a:schemeClr val="tx1">
                    <a:lumMod val="85000"/>
                    <a:lumOff val="15000"/>
                  </a:schemeClr>
                </a:solidFill>
              </a:rPr>
              <a:t>模块化设计支持消息传递</a:t>
            </a:r>
            <a:r>
              <a:rPr lang="en-US" altLang="zh-CN" sz="1600" dirty="0">
                <a:solidFill>
                  <a:schemeClr val="tx1">
                    <a:lumMod val="85000"/>
                    <a:lumOff val="15000"/>
                  </a:schemeClr>
                </a:solidFill>
              </a:rPr>
              <a:t>/</a:t>
            </a:r>
            <a:r>
              <a:rPr lang="zh-CN" altLang="en-US" sz="1600" dirty="0">
                <a:solidFill>
                  <a:schemeClr val="tx1">
                    <a:lumMod val="85000"/>
                    <a:lumOff val="15000"/>
                  </a:schemeClr>
                </a:solidFill>
              </a:rPr>
              <a:t>资产跨链</a:t>
            </a:r>
            <a:r>
              <a:rPr lang="en-US" altLang="zh-CN" sz="1600" dirty="0">
                <a:solidFill>
                  <a:schemeClr val="tx1">
                    <a:lumMod val="85000"/>
                    <a:lumOff val="15000"/>
                  </a:schemeClr>
                </a:solidFill>
              </a:rPr>
              <a:t>/</a:t>
            </a:r>
            <a:r>
              <a:rPr lang="zh-CN" altLang="en-US" sz="1600" dirty="0">
                <a:solidFill>
                  <a:schemeClr val="tx1">
                    <a:lumMod val="85000"/>
                    <a:lumOff val="15000"/>
                  </a:schemeClr>
                </a:solidFill>
              </a:rPr>
              <a:t>跨链状态计算</a:t>
            </a:r>
            <a:endParaRPr lang="zh-CN" altLang="en-US"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zh-CN" altLang="en-US" sz="1600" b="1" dirty="0">
                <a:solidFill>
                  <a:schemeClr val="tx1">
                    <a:lumMod val="85000"/>
                    <a:lumOff val="15000"/>
                  </a:schemeClr>
                </a:solidFill>
              </a:rPr>
              <a:t>零知识证明的生成和验证都需要大量计算资源</a:t>
            </a:r>
            <a:endParaRPr lang="zh-CN" altLang="en-US" sz="1600" b="1" dirty="0">
              <a:solidFill>
                <a:schemeClr val="tx1">
                  <a:lumMod val="85000"/>
                  <a:lumOff val="15000"/>
                </a:schemeClr>
              </a:solidFill>
            </a:endParaRPr>
          </a:p>
        </p:txBody>
      </p:sp>
      <p:sp>
        <p:nvSpPr>
          <p:cNvPr id="78" name="文本框 77"/>
          <p:cNvSpPr txBox="1"/>
          <p:nvPr/>
        </p:nvSpPr>
        <p:spPr>
          <a:xfrm>
            <a:off x="1405890" y="5069205"/>
            <a:ext cx="4229100" cy="1126462"/>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dirty="0">
                <a:solidFill>
                  <a:schemeClr val="tx1">
                    <a:lumMod val="85000"/>
                    <a:lumOff val="15000"/>
                  </a:schemeClr>
                </a:solidFill>
              </a:rPr>
              <a:t>使用无状态</a:t>
            </a:r>
            <a:r>
              <a:rPr lang="en-US" altLang="zh-CN" sz="1600" dirty="0">
                <a:solidFill>
                  <a:schemeClr val="tx1">
                    <a:lumMod val="85000"/>
                    <a:lumOff val="15000"/>
                  </a:schemeClr>
                </a:solidFill>
              </a:rPr>
              <a:t>SPV</a:t>
            </a:r>
            <a:r>
              <a:rPr lang="zh-CN" altLang="en-US" sz="1600" dirty="0">
                <a:solidFill>
                  <a:schemeClr val="tx1">
                    <a:lumMod val="85000"/>
                    <a:lumOff val="15000"/>
                  </a:schemeClr>
                </a:solidFill>
              </a:rPr>
              <a:t>按需证明</a:t>
            </a:r>
            <a:endParaRPr lang="en-US" altLang="zh-CN"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恒定储存复杂度</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20000"/>
              </a:lnSpc>
              <a:buFont typeface="Arial" panose="020B0604020202020204" pitchFamily="34" charset="0"/>
              <a:buChar char="•"/>
            </a:pPr>
            <a:r>
              <a:rPr lang="zh-CN" altLang="en-US" sz="16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需要特定脚本语言，不兼容于比特币</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8"/>
            </p:custDataLst>
          </p:nvPr>
        </p:nvSpPr>
        <p:spPr>
          <a:xfrm>
            <a:off x="408305" y="949960"/>
            <a:ext cx="6323965" cy="460375"/>
          </a:xfrm>
          <a:prstGeom prst="rect">
            <a:avLst/>
          </a:prstGeom>
          <a:noFill/>
        </p:spPr>
        <p:txBody>
          <a:bodyPr wrap="square" rtlCol="0">
            <a:spAutoFit/>
          </a:bodyPr>
          <a:lstStyle/>
          <a:p>
            <a:pPr marL="457200" indent="-457200">
              <a:buFont typeface="+mj-lt"/>
              <a:buAutoNum type="arabicPeriod" startAt="3"/>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跨链数字资产交易协议证明机制</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21</a:t>
            </a:r>
            <a:endParaRPr lang="zh-CN" altLang="en-US" dirty="0"/>
          </a:p>
        </p:txBody>
      </p:sp>
    </p:spTree>
    <p:custDataLst>
      <p:tags r:id="rId9"/>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right)">
                                      <p:cBhvr>
                                        <p:cTn id="11" dur="500"/>
                                        <p:tgtEl>
                                          <p:spTgt spid="79"/>
                                        </p:tgtEl>
                                      </p:cBhvr>
                                    </p:animEffect>
                                  </p:childTnLst>
                                </p:cTn>
                              </p:par>
                              <p:par>
                                <p:cTn id="12" presetID="22" presetClass="entr" presetSubtype="8" fill="hold" grpId="0" nodeType="withEffect">
                                  <p:stCondLst>
                                    <p:cond delay="0"/>
                                  </p:stCondLst>
                                  <p:childTnLst>
                                    <p:set>
                                      <p:cBhvr>
                                        <p:cTn id="13" dur="500" fill="hold">
                                          <p:stCondLst>
                                            <p:cond delay="0"/>
                                          </p:stCondLst>
                                        </p:cTn>
                                        <p:tgtEl>
                                          <p:spTgt spid="80"/>
                                        </p:tgtEl>
                                        <p:attrNameLst>
                                          <p:attrName>style.visibility</p:attrName>
                                        </p:attrNameLst>
                                      </p:cBhvr>
                                      <p:to>
                                        <p:strVal val="visible"/>
                                      </p:to>
                                    </p:set>
                                    <p:animEffect transition="in" filter="wipe(left)">
                                      <p:cBhvr>
                                        <p:cTn id="14" dur="500"/>
                                        <p:tgtEl>
                                          <p:spTgt spid="8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250" fill="hold">
                                          <p:stCondLst>
                                            <p:cond delay="0"/>
                                          </p:stCondLst>
                                        </p:cTn>
                                        <p:tgtEl>
                                          <p:spTgt spid="65"/>
                                        </p:tgtEl>
                                        <p:attrNameLst>
                                          <p:attrName>style.visibility</p:attrName>
                                        </p:attrNameLst>
                                      </p:cBhvr>
                                      <p:to>
                                        <p:strVal val="visible"/>
                                      </p:to>
                                    </p:set>
                                    <p:animEffect transition="in" filter="fade">
                                      <p:cBhvr>
                                        <p:cTn id="18" dur="250"/>
                                        <p:tgtEl>
                                          <p:spTgt spid="65"/>
                                        </p:tgtEl>
                                      </p:cBhvr>
                                    </p:animEffect>
                                  </p:childTnLst>
                                </p:cTn>
                              </p:par>
                            </p:childTnLst>
                          </p:cTn>
                        </p:par>
                        <p:par>
                          <p:cTn id="19" fill="hold">
                            <p:stCondLst>
                              <p:cond delay="1500"/>
                            </p:stCondLst>
                            <p:childTnLst>
                              <p:par>
                                <p:cTn id="20" presetID="22" presetClass="entr" presetSubtype="2" fill="hold" nodeType="afterEffect">
                                  <p:stCondLst>
                                    <p:cond delay="0"/>
                                  </p:stCondLst>
                                  <p:childTnLst>
                                    <p:set>
                                      <p:cBhvr>
                                        <p:cTn id="21" dur="250" fill="hold">
                                          <p:stCondLst>
                                            <p:cond delay="0"/>
                                          </p:stCondLst>
                                        </p:cTn>
                                        <p:tgtEl>
                                          <p:spTgt spid="68"/>
                                        </p:tgtEl>
                                        <p:attrNameLst>
                                          <p:attrName>style.visibility</p:attrName>
                                        </p:attrNameLst>
                                      </p:cBhvr>
                                      <p:to>
                                        <p:strVal val="visible"/>
                                      </p:to>
                                    </p:set>
                                    <p:animEffect transition="in" filter="wipe(right)">
                                      <p:cBhvr>
                                        <p:cTn id="22" dur="250"/>
                                        <p:tgtEl>
                                          <p:spTgt spid="68"/>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250" fill="hold">
                                          <p:stCondLst>
                                            <p:cond delay="0"/>
                                          </p:stCondLst>
                                        </p:cTn>
                                        <p:tgtEl>
                                          <p:spTgt spid="48"/>
                                        </p:tgtEl>
                                        <p:attrNameLst>
                                          <p:attrName>style.visibility</p:attrName>
                                        </p:attrNameLst>
                                      </p:cBhvr>
                                      <p:to>
                                        <p:strVal val="visible"/>
                                      </p:to>
                                    </p:set>
                                    <p:animEffect transition="in" filter="fade">
                                      <p:cBhvr>
                                        <p:cTn id="26" dur="250"/>
                                        <p:tgtEl>
                                          <p:spTgt spid="48"/>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76"/>
                                        </p:tgtEl>
                                        <p:attrNameLst>
                                          <p:attrName>style.visibility</p:attrName>
                                        </p:attrNameLst>
                                      </p:cBhvr>
                                      <p:to>
                                        <p:strVal val="visible"/>
                                      </p:to>
                                    </p:set>
                                    <p:animEffect transition="in" filter="fade">
                                      <p:cBhvr>
                                        <p:cTn id="30" dur="500"/>
                                        <p:tgtEl>
                                          <p:spTgt spid="76"/>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250" fill="hold">
                                          <p:stCondLst>
                                            <p:cond delay="0"/>
                                          </p:stCondLst>
                                        </p:cTn>
                                        <p:tgtEl>
                                          <p:spTgt spid="67"/>
                                        </p:tgtEl>
                                        <p:attrNameLst>
                                          <p:attrName>style.visibility</p:attrName>
                                        </p:attrNameLst>
                                      </p:cBhvr>
                                      <p:to>
                                        <p:strVal val="visible"/>
                                      </p:to>
                                    </p:set>
                                    <p:animEffect transition="in" filter="fade">
                                      <p:cBhvr>
                                        <p:cTn id="34" dur="250"/>
                                        <p:tgtEl>
                                          <p:spTgt spid="67"/>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250" fill="hold">
                                          <p:stCondLst>
                                            <p:cond delay="0"/>
                                          </p:stCondLst>
                                        </p:cTn>
                                        <p:tgtEl>
                                          <p:spTgt spid="69"/>
                                        </p:tgtEl>
                                        <p:attrNameLst>
                                          <p:attrName>style.visibility</p:attrName>
                                        </p:attrNameLst>
                                      </p:cBhvr>
                                      <p:to>
                                        <p:strVal val="visible"/>
                                      </p:to>
                                    </p:set>
                                    <p:animEffect transition="in" filter="wipe(left)">
                                      <p:cBhvr>
                                        <p:cTn id="38" dur="250"/>
                                        <p:tgtEl>
                                          <p:spTgt spid="69"/>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250" fill="hold">
                                          <p:stCondLst>
                                            <p:cond delay="0"/>
                                          </p:stCondLst>
                                        </p:cTn>
                                        <p:tgtEl>
                                          <p:spTgt spid="58"/>
                                        </p:tgtEl>
                                        <p:attrNameLst>
                                          <p:attrName>style.visibility</p:attrName>
                                        </p:attrNameLst>
                                      </p:cBhvr>
                                      <p:to>
                                        <p:strVal val="visible"/>
                                      </p:to>
                                    </p:set>
                                    <p:animEffect transition="in" filter="fade">
                                      <p:cBhvr>
                                        <p:cTn id="42" dur="250"/>
                                        <p:tgtEl>
                                          <p:spTgt spid="58"/>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500"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250" fill="hold">
                                          <p:stCondLst>
                                            <p:cond delay="0"/>
                                          </p:stCondLst>
                                        </p:cTn>
                                        <p:tgtEl>
                                          <p:spTgt spid="66"/>
                                        </p:tgtEl>
                                        <p:attrNameLst>
                                          <p:attrName>style.visibility</p:attrName>
                                        </p:attrNameLst>
                                      </p:cBhvr>
                                      <p:to>
                                        <p:strVal val="visible"/>
                                      </p:to>
                                    </p:set>
                                    <p:animEffect transition="in" filter="fade">
                                      <p:cBhvr>
                                        <p:cTn id="50" dur="250"/>
                                        <p:tgtEl>
                                          <p:spTgt spid="66"/>
                                        </p:tgtEl>
                                      </p:cBhvr>
                                    </p:animEffect>
                                  </p:childTnLst>
                                </p:cTn>
                              </p:par>
                            </p:childTnLst>
                          </p:cTn>
                        </p:par>
                        <p:par>
                          <p:cTn id="51" fill="hold">
                            <p:stCondLst>
                              <p:cond delay="5500"/>
                            </p:stCondLst>
                            <p:childTnLst>
                              <p:par>
                                <p:cTn id="52" presetID="22" presetClass="entr" presetSubtype="2" fill="hold" nodeType="afterEffect">
                                  <p:stCondLst>
                                    <p:cond delay="0"/>
                                  </p:stCondLst>
                                  <p:childTnLst>
                                    <p:set>
                                      <p:cBhvr>
                                        <p:cTn id="53" dur="250" fill="hold">
                                          <p:stCondLst>
                                            <p:cond delay="0"/>
                                          </p:stCondLst>
                                        </p:cTn>
                                        <p:tgtEl>
                                          <p:spTgt spid="75"/>
                                        </p:tgtEl>
                                        <p:attrNameLst>
                                          <p:attrName>style.visibility</p:attrName>
                                        </p:attrNameLst>
                                      </p:cBhvr>
                                      <p:to>
                                        <p:strVal val="visible"/>
                                      </p:to>
                                    </p:set>
                                    <p:animEffect transition="in" filter="wipe(right)">
                                      <p:cBhvr>
                                        <p:cTn id="54" dur="250"/>
                                        <p:tgtEl>
                                          <p:spTgt spid="75"/>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250" fill="hold">
                                          <p:stCondLst>
                                            <p:cond delay="0"/>
                                          </p:stCondLst>
                                        </p:cTn>
                                        <p:tgtEl>
                                          <p:spTgt spid="64"/>
                                        </p:tgtEl>
                                        <p:attrNameLst>
                                          <p:attrName>style.visibility</p:attrName>
                                        </p:attrNameLst>
                                      </p:cBhvr>
                                      <p:to>
                                        <p:strVal val="visible"/>
                                      </p:to>
                                    </p:set>
                                    <p:animEffect transition="in" filter="fade">
                                      <p:cBhvr>
                                        <p:cTn id="58" dur="250"/>
                                        <p:tgtEl>
                                          <p:spTgt spid="64"/>
                                        </p:tgtEl>
                                      </p:cBhvr>
                                    </p:animEffect>
                                  </p:childTnLst>
                                </p:cTn>
                              </p:par>
                            </p:childTnLst>
                          </p:cTn>
                        </p:par>
                        <p:par>
                          <p:cTn id="59" fill="hold">
                            <p:stCondLst>
                              <p:cond delay="6500"/>
                            </p:stCondLst>
                            <p:childTnLst>
                              <p:par>
                                <p:cTn id="60" presetID="10" presetClass="entr" presetSubtype="0" fill="hold" grpId="0" nodeType="afterEffect">
                                  <p:stCondLst>
                                    <p:cond delay="0"/>
                                  </p:stCondLst>
                                  <p:childTnLst>
                                    <p:set>
                                      <p:cBhvr>
                                        <p:cTn id="61" dur="1" fill="hold">
                                          <p:stCondLst>
                                            <p:cond delay="0"/>
                                          </p:stCondLst>
                                        </p:cTn>
                                        <p:tgtEl>
                                          <p:spTgt spid="78"/>
                                        </p:tgtEl>
                                        <p:attrNameLst>
                                          <p:attrName>style.visibility</p:attrName>
                                        </p:attrNameLst>
                                      </p:cBhvr>
                                      <p:to>
                                        <p:strVal val="visible"/>
                                      </p:to>
                                    </p:set>
                                    <p:animEffect transition="in" filter="fade">
                                      <p:cBhvr>
                                        <p:cTn id="6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79" grpId="0" animBg="1"/>
      <p:bldP spid="48" grpId="0"/>
      <p:bldP spid="58" grpId="0"/>
      <p:bldP spid="64" grpId="0"/>
      <p:bldP spid="65" grpId="0" animBg="1"/>
      <p:bldP spid="66" grpId="0" animBg="1"/>
      <p:bldP spid="67" grpId="0" animBg="1"/>
      <p:bldP spid="76" grpId="0"/>
      <p:bldP spid="76" grpId="1"/>
      <p:bldP spid="77" grpId="0"/>
      <p:bldP spid="78"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556577" y="1917144"/>
            <a:ext cx="11078845" cy="3122176"/>
            <a:chOff x="519430" y="1909227"/>
            <a:chExt cx="11078845" cy="3122176"/>
          </a:xfrm>
        </p:grpSpPr>
        <p:sp>
          <p:nvSpPr>
            <p:cNvPr id="24" name="右箭头 23"/>
            <p:cNvSpPr/>
            <p:nvPr>
              <p:custDataLst>
                <p:tags r:id="rId8"/>
              </p:custDataLst>
            </p:nvPr>
          </p:nvSpPr>
          <p:spPr>
            <a:xfrm>
              <a:off x="4152900" y="200282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右箭头 25"/>
            <p:cNvSpPr/>
            <p:nvPr>
              <p:custDataLst>
                <p:tags r:id="rId9"/>
              </p:custDataLst>
            </p:nvPr>
          </p:nvSpPr>
          <p:spPr>
            <a:xfrm>
              <a:off x="4152900" y="3068985"/>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custDataLst>
                <p:tags r:id="rId10"/>
              </p:custDataLst>
            </p:nvPr>
          </p:nvSpPr>
          <p:spPr>
            <a:xfrm>
              <a:off x="4152900" y="4051330"/>
              <a:ext cx="355600" cy="520700"/>
            </a:xfrm>
            <a:prstGeom prst="rightArrow">
              <a:avLst/>
            </a:prstGeom>
            <a:solidFill>
              <a:schemeClr val="bg1"/>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907280" y="2063115"/>
              <a:ext cx="6307212" cy="400110"/>
            </a:xfrm>
            <a:prstGeom prst="rect">
              <a:avLst/>
            </a:prstGeom>
            <a:noFill/>
          </p:spPr>
          <p:txBody>
            <a:bodyPr wrap="square" rtlCol="0" anchor="t">
              <a:spAutoFit/>
            </a:bodyPr>
            <a:lstStyle/>
            <a:p>
              <a:r>
                <a:rPr lang="zh-CN" altLang="en-US" sz="2000" b="1" dirty="0">
                  <a:solidFill>
                    <a:srgbClr val="04579A"/>
                  </a:solidFill>
                  <a:sym typeface="+mn-ea"/>
                </a:rPr>
                <a:t>恶意环境下分布式数字资产交易协议设计与分析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907279" y="3155315"/>
              <a:ext cx="6556375" cy="707886"/>
            </a:xfrm>
            <a:prstGeom prst="rect">
              <a:avLst/>
            </a:prstGeom>
            <a:noFill/>
          </p:spPr>
          <p:txBody>
            <a:bodyPr wrap="square" rtlCol="0" anchor="t">
              <a:spAutoFit/>
            </a:bodyPr>
            <a:lstStyle/>
            <a:p>
              <a:r>
                <a:rPr lang="zh-CN" altLang="en-US" sz="2000" b="1" dirty="0">
                  <a:solidFill>
                    <a:srgbClr val="04579A"/>
                  </a:solidFill>
                  <a:sym typeface="+mn-ea"/>
                </a:rPr>
                <a:t>大规模环境下可扩展分布式数字资产交易协议设计与分析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4907280" y="4127500"/>
              <a:ext cx="6690995" cy="398780"/>
            </a:xfrm>
            <a:prstGeom prst="rect">
              <a:avLst/>
            </a:prstGeom>
            <a:noFill/>
          </p:spPr>
          <p:txBody>
            <a:bodyPr wrap="square" rtlCol="0" anchor="t">
              <a:spAutoFit/>
            </a:bodyPr>
            <a:lstStyle/>
            <a:p>
              <a:r>
                <a:rPr lang="zh-CN" altLang="en-US" sz="2000" b="1" dirty="0">
                  <a:solidFill>
                    <a:srgbClr val="04579A"/>
                  </a:solidFill>
                  <a:sym typeface="+mn-ea"/>
                </a:rPr>
                <a:t>多源异构环境下分布式数字资产跨链验证协议设计与分析</a:t>
              </a:r>
              <a:endParaRPr lang="zh-CN" altLang="en-US" sz="2000" b="1" dirty="0">
                <a:solidFill>
                  <a:srgbClr val="04579A"/>
                </a:solidFill>
                <a:sym typeface="+mn-ea"/>
              </a:endParaRPr>
            </a:p>
          </p:txBody>
        </p:sp>
        <p:sp>
          <p:nvSpPr>
            <p:cNvPr id="7" name="文本框 6"/>
            <p:cNvSpPr txBox="1"/>
            <p:nvPr>
              <p:custDataLst>
                <p:tags r:id="rId11"/>
              </p:custDataLst>
            </p:nvPr>
          </p:nvSpPr>
          <p:spPr>
            <a:xfrm>
              <a:off x="520700" y="1909227"/>
              <a:ext cx="3234690" cy="707886"/>
            </a:xfrm>
            <a:prstGeom prst="rect">
              <a:avLst/>
            </a:prstGeom>
            <a:noFill/>
          </p:spPr>
          <p:txBody>
            <a:bodyPr wrap="square" rtlCol="0">
              <a:spAutoFit/>
            </a:bodyPr>
            <a:lstStyle/>
            <a:p>
              <a:pPr marL="457200" indent="-457200" algn="ctr">
                <a:buAutoNum type="arabicPeriod"/>
              </a:pP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恶意场景下分布式数字</a:t>
              </a:r>
              <a:endPar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资产交易安全性</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12"/>
              </p:custDataLst>
            </p:nvPr>
          </p:nvSpPr>
          <p:spPr>
            <a:xfrm>
              <a:off x="519430" y="2947749"/>
              <a:ext cx="3235960" cy="707886"/>
            </a:xfrm>
            <a:prstGeom prst="rect">
              <a:avLst/>
            </a:prstGeom>
            <a:noFill/>
          </p:spPr>
          <p:txBody>
            <a:bodyPr wrap="square" rtlCol="0">
              <a:spAutoFit/>
            </a:bodyPr>
            <a:lstStyle/>
            <a:p>
              <a:pPr algn="ctr"/>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链下数字资产交易协议性能</a:t>
              </a:r>
              <a:endPar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3"/>
              </p:custDataLst>
            </p:nvPr>
          </p:nvSpPr>
          <p:spPr>
            <a:xfrm>
              <a:off x="519430" y="4015740"/>
              <a:ext cx="3237230" cy="1015663"/>
            </a:xfrm>
            <a:prstGeom prst="rect">
              <a:avLst/>
            </a:prstGeom>
            <a:noFill/>
          </p:spPr>
          <p:txBody>
            <a:bodyPr wrap="square" rtlCol="0">
              <a:spAutoFit/>
            </a:bodyPr>
            <a:lstStyle/>
            <a:p>
              <a:r>
                <a:rPr lang="en-US" altLang="zh-CN" sz="2000" b="1" dirty="0">
                  <a:solidFill>
                    <a:schemeClr val="tx1">
                      <a:lumMod val="85000"/>
                      <a:lumOff val="15000"/>
                    </a:schemeClr>
                  </a:solidFill>
                </a:rPr>
                <a:t>3.    </a:t>
              </a:r>
              <a:r>
                <a:rPr lang="zh-CN" altLang="en-US" sz="2000" b="1" dirty="0">
                  <a:solidFill>
                    <a:schemeClr val="tx1">
                      <a:lumMod val="85000"/>
                      <a:lumOff val="15000"/>
                    </a:schemeClr>
                  </a:solidFill>
                </a:rPr>
                <a:t>跨链数字资产交易协议</a:t>
              </a:r>
              <a:endParaRPr lang="en-US" altLang="zh-CN" sz="2000" b="1" dirty="0">
                <a:solidFill>
                  <a:schemeClr val="tx1">
                    <a:lumMod val="85000"/>
                    <a:lumOff val="15000"/>
                  </a:schemeClr>
                </a:solidFill>
              </a:endParaRPr>
            </a:p>
            <a:p>
              <a:pPr algn="ctr"/>
              <a:r>
                <a:rPr lang="zh-CN" altLang="en-US" sz="2000" b="1" dirty="0">
                  <a:solidFill>
                    <a:schemeClr val="tx1">
                      <a:lumMod val="85000"/>
                      <a:lumOff val="15000"/>
                    </a:schemeClr>
                  </a:solidFill>
                </a:rPr>
                <a:t>证明机制</a:t>
              </a:r>
              <a:endParaRPr lang="zh-CN" altLang="en-US" sz="2000" b="1" dirty="0">
                <a:solidFill>
                  <a:schemeClr val="tx1">
                    <a:lumMod val="85000"/>
                    <a:lumOff val="15000"/>
                  </a:schemeClr>
                </a:solidFill>
              </a:endParaRPr>
            </a:p>
            <a:p>
              <a:pPr algn="ctr"/>
              <a:endParaRPr lang="zh-CN" altLang="en-US" sz="2000" b="1" dirty="0">
                <a:solidFill>
                  <a:schemeClr val="tx1">
                    <a:lumMod val="85000"/>
                    <a:lumOff val="15000"/>
                  </a:schemeClr>
                </a:solidFill>
              </a:endParaRPr>
            </a:p>
          </p:txBody>
        </p:sp>
      </p:grpSp>
      <p:sp>
        <p:nvSpPr>
          <p:cNvPr id="10" name="文本框 9"/>
          <p:cNvSpPr txBox="1"/>
          <p:nvPr/>
        </p:nvSpPr>
        <p:spPr>
          <a:xfrm>
            <a:off x="11736779" y="6499761"/>
            <a:ext cx="455221" cy="369332"/>
          </a:xfrm>
          <a:prstGeom prst="rect">
            <a:avLst/>
          </a:prstGeom>
          <a:noFill/>
        </p:spPr>
        <p:txBody>
          <a:bodyPr wrap="square" rtlCol="0">
            <a:spAutoFit/>
          </a:bodyPr>
          <a:lstStyle/>
          <a:p>
            <a:pPr algn="ctr"/>
            <a:r>
              <a:rPr lang="en-US" altLang="zh-CN" dirty="0"/>
              <a:t>22</a:t>
            </a:r>
            <a:endParaRPr lang="zh-CN" altLang="en-US" dirty="0"/>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矩形: 圆角 12"/>
          <p:cNvSpPr/>
          <p:nvPr/>
        </p:nvSpPr>
        <p:spPr>
          <a:xfrm>
            <a:off x="5680364"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恶意环境下分布式数字资产交易协议设计与分析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4" name="平行四边形 3"/>
          <p:cNvSpPr/>
          <p:nvPr>
            <p:custDataLst>
              <p:tags r:id="rId9"/>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16" name="平行四边形 15"/>
          <p:cNvSpPr/>
          <p:nvPr>
            <p:custDataLst>
              <p:tags r:id="rId10"/>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6" name="文本框 5"/>
          <p:cNvSpPr txBox="1"/>
          <p:nvPr>
            <p:custDataLst>
              <p:tags r:id="rId11"/>
            </p:custDataLst>
          </p:nvPr>
        </p:nvSpPr>
        <p:spPr>
          <a:xfrm>
            <a:off x="940435" y="5659755"/>
            <a:ext cx="10016490" cy="1080135"/>
          </a:xfrm>
          <a:prstGeom prst="rect">
            <a:avLst/>
          </a:prstGeom>
          <a:noFill/>
        </p:spPr>
        <p:txBody>
          <a:bodyPr wrap="square" rtlCol="0" anchor="t">
            <a:noAutofit/>
          </a:bodyPr>
          <a:lstStyle/>
          <a:p>
            <a:pPr indent="0" fontAlgn="auto">
              <a:lnSpc>
                <a:spcPct val="120000"/>
              </a:lnSpc>
              <a:spcBef>
                <a:spcPts val="600"/>
              </a:spcBef>
              <a:buFont typeface="Arial" panose="020B0604020202020204" pitchFamily="34" charset="0"/>
              <a:buNone/>
            </a:pPr>
            <a:r>
              <a:rPr lang="zh-CN" altLang="en-US" dirty="0">
                <a:latin typeface="微软雅黑" panose="020B0503020204020204" charset="-122"/>
                <a:ea typeface="微软雅黑" panose="020B0503020204020204" charset="-122"/>
                <a:cs typeface="微软雅黑" panose="020B0503020204020204" charset="-122"/>
                <a:sym typeface="+mn-ea"/>
              </a:rPr>
              <a:t>提出可证明安全的分布式数字资产交易协议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93" name="文本框 392"/>
          <p:cNvSpPr txBox="1"/>
          <p:nvPr>
            <p:custDataLst>
              <p:tags r:id="rId12"/>
            </p:custDataLst>
          </p:nvPr>
        </p:nvSpPr>
        <p:spPr>
          <a:xfrm>
            <a:off x="594995" y="2743200"/>
            <a:ext cx="4663440" cy="2058577"/>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现有的分布式资产交易协议资产兑换机制依赖于诚实矿工假设，难以应对现实中恶意攻击</a:t>
            </a:r>
            <a:endParaRPr lang="zh-CN" altLang="en-US" b="1"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分析现有协议的安全漏洞及潜在攻击，重构现有资产兑换范式</a:t>
            </a:r>
            <a:endParaRPr lang="zh-CN" altLang="en-US"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完成安全性分析与证明</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13"/>
            </p:custDataLst>
          </p:nvPr>
        </p:nvSpPr>
        <p:spPr>
          <a:xfrm>
            <a:off x="5603875" y="4745990"/>
            <a:ext cx="5731123"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分布式资产交易协议的基础构建范式</a:t>
            </a:r>
            <a:r>
              <a:rPr lang="en-US" altLang="zh-CN" sz="1400" dirty="0">
                <a:latin typeface="微软雅黑" panose="020B0503020204020204" charset="-122"/>
                <a:ea typeface="微软雅黑" panose="020B0503020204020204" charset="-122"/>
                <a:cs typeface="等线" panose="02010600030101010101" charset="-122"/>
                <a:sym typeface="+mn-ea"/>
              </a:rPr>
              <a:t>HTLC</a:t>
            </a:r>
            <a:r>
              <a:rPr lang="zh-CN" altLang="en-US" sz="1400" dirty="0">
                <a:latin typeface="微软雅黑" panose="020B0503020204020204" charset="-122"/>
                <a:ea typeface="微软雅黑" panose="020B0503020204020204" charset="-122"/>
                <a:cs typeface="等线" panose="02010600030101010101" charset="-122"/>
                <a:sym typeface="+mn-ea"/>
              </a:rPr>
              <a:t>范式通过时间锁定保证资产的合法兑换，但在贿赂矿工的前提下恶意用户抢先侵占诚实用户的资产</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grpSp>
        <p:nvGrpSpPr>
          <p:cNvPr id="12" name="组合 11"/>
          <p:cNvGrpSpPr/>
          <p:nvPr/>
        </p:nvGrpSpPr>
        <p:grpSpPr>
          <a:xfrm>
            <a:off x="5739738" y="2642772"/>
            <a:ext cx="5555599" cy="1826606"/>
            <a:chOff x="5768523" y="2579139"/>
            <a:chExt cx="6120582" cy="2020936"/>
          </a:xfrm>
        </p:grpSpPr>
        <p:pic>
          <p:nvPicPr>
            <p:cNvPr id="7" name="图片 6"/>
            <p:cNvPicPr>
              <a:picLocks noChangeAspect="1"/>
            </p:cNvPicPr>
            <p:nvPr/>
          </p:nvPicPr>
          <p:blipFill>
            <a:blip r:embed="rId14"/>
            <a:stretch>
              <a:fillRect/>
            </a:stretch>
          </p:blipFill>
          <p:spPr>
            <a:xfrm>
              <a:off x="5768523" y="2579139"/>
              <a:ext cx="3012073" cy="2020936"/>
            </a:xfrm>
            <a:prstGeom prst="rect">
              <a:avLst/>
            </a:prstGeom>
          </p:spPr>
        </p:pic>
        <p:pic>
          <p:nvPicPr>
            <p:cNvPr id="8" name="图片 7"/>
            <p:cNvPicPr>
              <a:picLocks noChangeAspect="1"/>
            </p:cNvPicPr>
            <p:nvPr/>
          </p:nvPicPr>
          <p:blipFill>
            <a:blip r:embed="rId15"/>
            <a:stretch>
              <a:fillRect/>
            </a:stretch>
          </p:blipFill>
          <p:spPr>
            <a:xfrm>
              <a:off x="9034296" y="2594683"/>
              <a:ext cx="2854809" cy="1965887"/>
            </a:xfrm>
            <a:prstGeom prst="rect">
              <a:avLst/>
            </a:prstGeom>
          </p:spPr>
        </p:pic>
      </p:grpSp>
      <p:sp>
        <p:nvSpPr>
          <p:cNvPr id="14" name="矩形: 圆角 13"/>
          <p:cNvSpPr/>
          <p:nvPr/>
        </p:nvSpPr>
        <p:spPr>
          <a:xfrm>
            <a:off x="8583881" y="2572987"/>
            <a:ext cx="2751117" cy="19396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1736779" y="6499761"/>
            <a:ext cx="455221" cy="369332"/>
          </a:xfrm>
          <a:prstGeom prst="rect">
            <a:avLst/>
          </a:prstGeom>
          <a:noFill/>
        </p:spPr>
        <p:txBody>
          <a:bodyPr wrap="square" rtlCol="0">
            <a:spAutoFit/>
          </a:bodyPr>
          <a:lstStyle/>
          <a:p>
            <a:pPr algn="ctr"/>
            <a:r>
              <a:rPr lang="en-US" altLang="zh-CN" dirty="0"/>
              <a:t>23</a:t>
            </a:r>
            <a:endParaRPr lang="zh-CN" altLang="en-US" dirty="0"/>
          </a:p>
        </p:txBody>
      </p:sp>
    </p:spTree>
    <p:custDataLst>
      <p:tags r:id="rId16"/>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custDataLst>
              <p:tags r:id="rId8"/>
            </p:custDataLst>
          </p:nvPr>
        </p:nvSpPr>
        <p:spPr>
          <a:xfrm>
            <a:off x="594995" y="1421765"/>
            <a:ext cx="10808970" cy="398780"/>
          </a:xfrm>
          <a:prstGeom prst="rect">
            <a:avLst/>
          </a:prstGeom>
          <a:noFill/>
        </p:spPr>
        <p:txBody>
          <a:bodyPr wrap="square" rtlCol="0" anchor="t">
            <a:spAutoFit/>
          </a:bodyPr>
          <a:lstStyle/>
          <a:p>
            <a:r>
              <a:rPr lang="zh-CN" altLang="en-US" sz="2000" b="1" dirty="0">
                <a:solidFill>
                  <a:srgbClr val="04579A"/>
                </a:solidFill>
                <a:sym typeface="+mn-ea"/>
              </a:rPr>
              <a:t>大规模环境下可扩展分布式数字资产交易协议设计与分析</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spcBef>
                <a:spcPts val="0"/>
              </a:spcBef>
              <a:buFont typeface="Arial" panose="020B0604020202020204" pitchFamily="34" charset="0"/>
              <a:buChar char="•"/>
            </a:pPr>
            <a:r>
              <a:rPr lang="zh-CN" altLang="en-US" dirty="0">
                <a:sym typeface="+mn-ea"/>
              </a:rPr>
              <a:t>提出强可靠的可扩展分布式数字资产交易协议</a:t>
            </a:r>
            <a:endParaRPr lang="zh-CN" altLang="en-US" b="1"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平行四边形 12"/>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16" name="平行四边形 15"/>
          <p:cNvSpPr/>
          <p:nvPr>
            <p:custDataLst>
              <p:tags r:id="rId11"/>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393" name="文本框 392"/>
          <p:cNvSpPr txBox="1"/>
          <p:nvPr>
            <p:custDataLst>
              <p:tags r:id="rId12"/>
            </p:custDataLst>
          </p:nvPr>
        </p:nvSpPr>
        <p:spPr>
          <a:xfrm>
            <a:off x="594995" y="2743200"/>
            <a:ext cx="4476115" cy="1393779"/>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研究满足信道资产流动性的再平衡机制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设计高效虚拟信道协议</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设计多方信道安全更新协议</a:t>
            </a:r>
            <a:endParaRPr lang="zh-CN" altLang="en-US"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完成实验并在真实网络中进行测试</a:t>
            </a:r>
            <a:endParaRPr lang="zh-CN" altLang="en-US"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6445660" y="2371916"/>
            <a:ext cx="4304149" cy="2188654"/>
          </a:xfrm>
          <a:prstGeom prst="rect">
            <a:avLst/>
          </a:prstGeom>
        </p:spPr>
      </p:pic>
      <p:sp>
        <p:nvSpPr>
          <p:cNvPr id="6" name="文本框 5"/>
          <p:cNvSpPr txBox="1"/>
          <p:nvPr>
            <p:custDataLst>
              <p:tags r:id="rId14"/>
            </p:custDataLst>
          </p:nvPr>
        </p:nvSpPr>
        <p:spPr>
          <a:xfrm>
            <a:off x="6302014" y="4658995"/>
            <a:ext cx="4591440" cy="748327"/>
          </a:xfrm>
          <a:prstGeom prst="rect">
            <a:avLst/>
          </a:prstGeom>
          <a:noFill/>
        </p:spPr>
        <p:txBody>
          <a:bodyPr wrap="square" rtlCol="0" anchor="t">
            <a:noAutofit/>
          </a:bodyPr>
          <a:lstStyle/>
          <a:p>
            <a:pPr>
              <a:lnSpc>
                <a:spcPct val="150000"/>
              </a:lnSpc>
            </a:pPr>
            <a:r>
              <a:rPr lang="zh-CN" altLang="en-US" sz="1400" dirty="0">
                <a:latin typeface="微软雅黑" panose="020B0503020204020204" charset="-122"/>
                <a:ea typeface="微软雅黑" panose="020B0503020204020204" charset="-122"/>
                <a:cs typeface="等线" panose="02010600030101010101" charset="-122"/>
                <a:sym typeface="+mn-ea"/>
              </a:rPr>
              <a:t>现有链下可扩展性方案对于多跳支付导致的方向性永久流量衰减只起到暂时的缓解作用，不能释放其理想性能</a:t>
            </a:r>
            <a:endParaRPr lang="en-US" altLang="zh-CN" sz="1400" dirty="0">
              <a:latin typeface="微软雅黑" panose="020B0503020204020204" charset="-122"/>
              <a:ea typeface="微软雅黑" panose="020B0503020204020204" charset="-122"/>
              <a:cs typeface="等线" panose="02010600030101010101" charset="-122"/>
              <a:sym typeface="+mn-ea"/>
            </a:endParaRPr>
          </a:p>
        </p:txBody>
      </p:sp>
      <p:sp>
        <p:nvSpPr>
          <p:cNvPr id="8" name="文本框 7"/>
          <p:cNvSpPr txBox="1"/>
          <p:nvPr/>
        </p:nvSpPr>
        <p:spPr>
          <a:xfrm>
            <a:off x="11736779" y="6499761"/>
            <a:ext cx="455221" cy="369332"/>
          </a:xfrm>
          <a:prstGeom prst="rect">
            <a:avLst/>
          </a:prstGeom>
          <a:noFill/>
        </p:spPr>
        <p:txBody>
          <a:bodyPr wrap="square" rtlCol="0">
            <a:spAutoFit/>
          </a:bodyPr>
          <a:lstStyle/>
          <a:p>
            <a:pPr algn="ctr"/>
            <a:r>
              <a:rPr lang="en-US" altLang="zh-CN" dirty="0"/>
              <a:t>24</a:t>
            </a:r>
            <a:endParaRPr lang="zh-CN" altLang="en-US" dirty="0"/>
          </a:p>
        </p:txBody>
      </p:sp>
    </p:spTree>
    <p:custDataLst>
      <p:tags r:id="rId15"/>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custDataLst>
              <p:tags r:id="rId2"/>
            </p:custDataLst>
          </p:nvPr>
        </p:nvSpPr>
        <p:spPr>
          <a:xfrm>
            <a:off x="5862320" y="3175"/>
            <a:ext cx="3114675"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prstClr val="black"/>
                </a:solidFill>
                <a:latin typeface="Arial" panose="020B0604020202020204" pitchFamily="34" charset="0"/>
                <a:sym typeface="+mn-ea"/>
              </a:rPr>
              <a:t>工作计划与进度安排</a:t>
            </a:r>
            <a:endParaRPr lang="zh-CN" altLang="en-US" dirty="0">
              <a:solidFill>
                <a:prstClr val="black"/>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727456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94995" y="1421765"/>
            <a:ext cx="10808970" cy="400110"/>
          </a:xfrm>
          <a:prstGeom prst="rect">
            <a:avLst/>
          </a:prstGeom>
          <a:noFill/>
        </p:spPr>
        <p:txBody>
          <a:bodyPr wrap="square" rtlCol="0" anchor="t">
            <a:spAutoFit/>
          </a:bodyPr>
          <a:lstStyle/>
          <a:p>
            <a:r>
              <a:rPr lang="zh-CN" altLang="en-US" sz="2000" b="1" dirty="0">
                <a:solidFill>
                  <a:srgbClr val="04579A"/>
                </a:solidFill>
                <a:sym typeface="+mn-ea"/>
              </a:rPr>
              <a:t>多源异构环境下分布式数字资产跨链验证协议设计与分析</a:t>
            </a:r>
            <a:r>
              <a:rPr lang="en-US" altLang="zh-CN" sz="2000" b="1" dirty="0">
                <a:latin typeface="微软雅黑" panose="020B0503020204020204" charset="-122"/>
                <a:ea typeface="微软雅黑" panose="020B0503020204020204" charset="-122"/>
                <a:cs typeface="微软雅黑" panose="020B0503020204020204" charset="-122"/>
                <a:sym typeface="+mn-ea"/>
              </a:rPr>
              <a:t>	</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p:txBody>
      </p:sp>
      <p:sp>
        <p:nvSpPr>
          <p:cNvPr id="16" name="平行四边形 15"/>
          <p:cNvSpPr/>
          <p:nvPr>
            <p:custDataLst>
              <p:tags r:id="rId8"/>
            </p:custDataLst>
          </p:nvPr>
        </p:nvSpPr>
        <p:spPr>
          <a:xfrm>
            <a:off x="594995" y="514858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预期目标</a:t>
            </a:r>
            <a:endParaRPr lang="zh-CN" altLang="en-US" b="1"/>
          </a:p>
        </p:txBody>
      </p:sp>
      <p:sp>
        <p:nvSpPr>
          <p:cNvPr id="11" name="文本框 10"/>
          <p:cNvSpPr txBox="1"/>
          <p:nvPr>
            <p:custDataLst>
              <p:tags r:id="rId9"/>
            </p:custDataLst>
          </p:nvPr>
        </p:nvSpPr>
        <p:spPr>
          <a:xfrm>
            <a:off x="940435" y="5659755"/>
            <a:ext cx="10016490" cy="1080135"/>
          </a:xfrm>
          <a:prstGeom prst="rect">
            <a:avLst/>
          </a:prstGeom>
          <a:noFill/>
        </p:spPr>
        <p:txBody>
          <a:bodyPr wrap="square" rtlCol="0" anchor="t">
            <a:noAutofit/>
          </a:bodyPr>
          <a:lstStyle/>
          <a:p>
            <a:pPr marL="285750" indent="-285750" fontAlgn="auto">
              <a:lnSpc>
                <a:spcPct val="120000"/>
              </a:lnSpc>
              <a:buFont typeface="Arial" panose="020B0604020202020204" pitchFamily="34" charset="0"/>
              <a:buChar char="•"/>
            </a:pPr>
            <a:r>
              <a:rPr lang="zh-CN" altLang="en-US" dirty="0">
                <a:sym typeface="+mn-ea"/>
              </a:rPr>
              <a:t>设计互操作性增强的高效分布式数字资产交易协议</a:t>
            </a:r>
            <a:endParaRPr lang="zh-CN" altLang="en-US" b="1" dirty="0">
              <a:sym typeface="+mn-ea"/>
            </a:endParaRPr>
          </a:p>
        </p:txBody>
      </p:sp>
      <p:sp>
        <p:nvSpPr>
          <p:cNvPr id="17" name="平行四边形 16"/>
          <p:cNvSpPr/>
          <p:nvPr>
            <p:custDataLst>
              <p:tags r:id="rId10"/>
            </p:custDataLst>
          </p:nvPr>
        </p:nvSpPr>
        <p:spPr>
          <a:xfrm>
            <a:off x="594995" y="2014220"/>
            <a:ext cx="1614170" cy="412750"/>
          </a:xfrm>
          <a:prstGeom prst="parallelogram">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t>研究内容</a:t>
            </a:r>
            <a:endParaRPr lang="zh-CN" altLang="en-US" b="1"/>
          </a:p>
        </p:txBody>
      </p:sp>
      <p:sp>
        <p:nvSpPr>
          <p:cNvPr id="393" name="文本框 392"/>
          <p:cNvSpPr txBox="1"/>
          <p:nvPr/>
        </p:nvSpPr>
        <p:spPr>
          <a:xfrm>
            <a:off x="594995" y="2743200"/>
            <a:ext cx="4855779" cy="1726178"/>
          </a:xfrm>
          <a:prstGeom prst="rect">
            <a:avLst/>
          </a:prstGeom>
          <a:noFill/>
        </p:spPr>
        <p:txBody>
          <a:bodyPr wrap="square" rtlCol="0" anchor="t">
            <a:spAutoFit/>
          </a:bodyPr>
          <a:lstStyle/>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研究异构区块链之间通用跨链交易验证机制</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使用基础数字签名技术结合随机化承诺方案弱化目标链上条件支付的脚本语言需求</a:t>
            </a:r>
            <a:endParaRPr lang="en-US" altLang="zh-CN" dirty="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20000"/>
              </a:lnSpc>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sym typeface="+mn-ea"/>
              </a:rPr>
              <a:t>实现链下状态更新和条件支付之间的双向绑定机制</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11"/>
          <a:stretch>
            <a:fillRect/>
          </a:stretch>
        </p:blipFill>
        <p:spPr>
          <a:xfrm>
            <a:off x="5918255" y="2139702"/>
            <a:ext cx="5722841" cy="2933832"/>
          </a:xfrm>
          <a:prstGeom prst="rect">
            <a:avLst/>
          </a:prstGeom>
        </p:spPr>
      </p:pic>
      <p:sp>
        <p:nvSpPr>
          <p:cNvPr id="6" name="文本框 5"/>
          <p:cNvSpPr txBox="1"/>
          <p:nvPr/>
        </p:nvSpPr>
        <p:spPr>
          <a:xfrm>
            <a:off x="11736779" y="6499761"/>
            <a:ext cx="455221" cy="369332"/>
          </a:xfrm>
          <a:prstGeom prst="rect">
            <a:avLst/>
          </a:prstGeom>
          <a:noFill/>
        </p:spPr>
        <p:txBody>
          <a:bodyPr wrap="square" rtlCol="0">
            <a:spAutoFit/>
          </a:bodyPr>
          <a:lstStyle/>
          <a:p>
            <a:pPr algn="ctr"/>
            <a:r>
              <a:rPr lang="en-US" altLang="zh-CN" dirty="0"/>
              <a:t>25</a:t>
            </a:r>
            <a:endParaRPr lang="zh-CN" altLang="en-US" dirty="0"/>
          </a:p>
        </p:txBody>
      </p:sp>
    </p:spTree>
    <p:custDataLst>
      <p:tags r:id="rId12"/>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endParaRPr lang="zh-CN" altLang="en-US" dirty="0">
              <a:solidFill>
                <a:schemeClr val="bg1"/>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08940" y="1227455"/>
            <a:ext cx="11480165" cy="2130840"/>
          </a:xfrm>
          <a:prstGeom prst="rect">
            <a:avLst/>
          </a:prstGeom>
          <a:noFill/>
        </p:spPr>
        <p:txBody>
          <a:bodyPr wrap="square" rtlCol="0" anchor="t">
            <a:spAutoFit/>
          </a:bodyPr>
          <a:lstStyle/>
          <a:p>
            <a:pPr indent="0" fontAlgn="auto">
              <a:lnSpc>
                <a:spcPct val="120000"/>
              </a:lnSpc>
              <a:spcBef>
                <a:spcPts val="600"/>
              </a:spcBef>
              <a:spcAft>
                <a:spcPts val="600"/>
              </a:spcAft>
            </a:pPr>
            <a:r>
              <a:rPr lang="zh-CN" altLang="en-US" sz="2400" b="1" dirty="0">
                <a:solidFill>
                  <a:schemeClr val="tx1"/>
                </a:solidFill>
              </a:rPr>
              <a:t>已有工作</a:t>
            </a:r>
            <a:r>
              <a:rPr lang="zh-CN" altLang="en-US" dirty="0"/>
              <a:t> </a:t>
            </a:r>
            <a:endParaRPr lang="zh-CN" altLang="en-US" dirty="0"/>
          </a:p>
          <a:p>
            <a:pPr marL="342900" indent="-342900" fontAlgn="auto">
              <a:lnSpc>
                <a:spcPct val="150000"/>
              </a:lnSpc>
              <a:buAutoNum type="arabicPeriod"/>
            </a:pPr>
            <a:r>
              <a:rPr lang="en-US" altLang="zh-CN" sz="1600" dirty="0">
                <a:solidFill>
                  <a:schemeClr val="tx1">
                    <a:lumMod val="85000"/>
                    <a:lumOff val="15000"/>
                  </a:schemeClr>
                </a:solidFill>
              </a:rPr>
              <a:t>Tian A, Ni P, Gao Y, et al. Horcrux: Synthesize, Split, Shift and Stay Alive Preventing Channel Depletion via Universal and Enhanced Multi-hop Payments[J]. Cryptology </a:t>
            </a:r>
            <a:r>
              <a:rPr lang="en-US" altLang="zh-CN" sz="1600" dirty="0" err="1">
                <a:solidFill>
                  <a:schemeClr val="tx1">
                    <a:lumMod val="85000"/>
                    <a:lumOff val="15000"/>
                  </a:schemeClr>
                </a:solidFill>
              </a:rPr>
              <a:t>ePrint</a:t>
            </a:r>
            <a:r>
              <a:rPr lang="en-US" altLang="zh-CN" sz="1600" dirty="0">
                <a:solidFill>
                  <a:schemeClr val="tx1">
                    <a:lumMod val="85000"/>
                    <a:lumOff val="15000"/>
                  </a:schemeClr>
                </a:solidFill>
              </a:rPr>
              <a:t> Archive, 2024.</a:t>
            </a:r>
            <a:endParaRPr lang="en-US" altLang="zh-CN" sz="1600" dirty="0">
              <a:solidFill>
                <a:schemeClr val="tx1">
                  <a:lumMod val="85000"/>
                  <a:lumOff val="15000"/>
                </a:schemeClr>
              </a:solidFill>
            </a:endParaRPr>
          </a:p>
          <a:p>
            <a:pPr fontAlgn="auto">
              <a:lnSpc>
                <a:spcPct val="150000"/>
              </a:lnSpc>
            </a:pPr>
            <a:r>
              <a:rPr lang="en-US" altLang="zh-CN" dirty="0">
                <a:solidFill>
                  <a:srgbClr val="04579A"/>
                </a:solidFill>
              </a:rPr>
              <a:t>     </a:t>
            </a:r>
            <a:r>
              <a:rPr lang="zh-CN" altLang="en-US" dirty="0">
                <a:solidFill>
                  <a:srgbClr val="04579A"/>
                </a:solidFill>
              </a:rPr>
              <a:t>该工作设计了无额外信任假设的抗信道干涸的多方虚拟信道协议</a:t>
            </a:r>
            <a:endParaRPr lang="zh-CN" altLang="en-US" dirty="0"/>
          </a:p>
          <a:p>
            <a:pPr marL="342900" indent="-342900" fontAlgn="auto">
              <a:lnSpc>
                <a:spcPct val="150000"/>
              </a:lnSpc>
              <a:buFont typeface="+mj-lt"/>
              <a:buAutoNum type="arabicPeriod" startAt="2"/>
            </a:pPr>
            <a:endParaRPr lang="zh-CN" altLang="en-US" dirty="0">
              <a:solidFill>
                <a:srgbClr val="04579A"/>
              </a:solidFill>
            </a:endParaRPr>
          </a:p>
        </p:txBody>
      </p:sp>
      <p:pic>
        <p:nvPicPr>
          <p:cNvPr id="7" name="图片 6"/>
          <p:cNvPicPr>
            <a:picLocks noChangeAspect="1"/>
          </p:cNvPicPr>
          <p:nvPr/>
        </p:nvPicPr>
        <p:blipFill>
          <a:blip r:embed="rId8"/>
          <a:stretch>
            <a:fillRect/>
          </a:stretch>
        </p:blipFill>
        <p:spPr>
          <a:xfrm>
            <a:off x="1045028" y="3267251"/>
            <a:ext cx="9858082" cy="2750818"/>
          </a:xfrm>
          <a:prstGeom prst="rect">
            <a:avLst/>
          </a:prstGeom>
        </p:spPr>
      </p:pic>
      <p:sp>
        <p:nvSpPr>
          <p:cNvPr id="26" name="文本框 25"/>
          <p:cNvSpPr txBox="1"/>
          <p:nvPr>
            <p:custDataLst>
              <p:tags r:id="rId9"/>
            </p:custDataLst>
          </p:nvPr>
        </p:nvSpPr>
        <p:spPr>
          <a:xfrm>
            <a:off x="4963477" y="6018069"/>
            <a:ext cx="2371090" cy="306705"/>
          </a:xfrm>
          <a:prstGeom prst="rect">
            <a:avLst/>
          </a:prstGeom>
          <a:solidFill>
            <a:srgbClr val="04579A"/>
          </a:solidFill>
          <a:effectLst>
            <a:outerShdw blurRad="50800" dist="38100" dir="2700000" algn="tl" rotWithShape="0">
              <a:prstClr val="black">
                <a:alpha val="40000"/>
              </a:prstClr>
            </a:outerShdw>
          </a:effectLst>
        </p:spPr>
        <p:txBody>
          <a:bodyPr wrap="square" rtlCol="0">
            <a:spAutoFit/>
          </a:bodyPr>
          <a:lstStyle/>
          <a:p>
            <a:pPr algn="ctr"/>
            <a:r>
              <a:rPr lang="zh-CN" altLang="en-US" sz="1400" dirty="0">
                <a:solidFill>
                  <a:schemeClr val="bg1"/>
                </a:solidFill>
              </a:rPr>
              <a:t>实测结果</a:t>
            </a:r>
            <a:endParaRPr lang="zh-CN" altLang="en-US" sz="1400" dirty="0">
              <a:solidFill>
                <a:schemeClr val="bg1"/>
              </a:solidFill>
            </a:endParaRPr>
          </a:p>
        </p:txBody>
      </p:sp>
      <p:sp>
        <p:nvSpPr>
          <p:cNvPr id="4" name="文本框 3"/>
          <p:cNvSpPr txBox="1"/>
          <p:nvPr/>
        </p:nvSpPr>
        <p:spPr>
          <a:xfrm>
            <a:off x="11736779" y="6499761"/>
            <a:ext cx="455221" cy="369332"/>
          </a:xfrm>
          <a:prstGeom prst="rect">
            <a:avLst/>
          </a:prstGeom>
          <a:noFill/>
        </p:spPr>
        <p:txBody>
          <a:bodyPr wrap="square" rtlCol="0">
            <a:spAutoFit/>
          </a:bodyPr>
          <a:lstStyle/>
          <a:p>
            <a:pPr algn="ctr"/>
            <a:r>
              <a:rPr lang="en-US" altLang="zh-CN" dirty="0"/>
              <a:t>26</a:t>
            </a:r>
            <a:endParaRPr lang="zh-CN" altLang="en-US" dirty="0"/>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endParaRPr lang="zh-CN" altLang="en-US" dirty="0">
              <a:solidFill>
                <a:schemeClr val="bg1"/>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08940" y="1227455"/>
            <a:ext cx="11480165" cy="2086597"/>
          </a:xfrm>
          <a:prstGeom prst="rect">
            <a:avLst/>
          </a:prstGeom>
          <a:noFill/>
        </p:spPr>
        <p:txBody>
          <a:bodyPr wrap="square" rtlCol="0" anchor="t">
            <a:spAutoFit/>
          </a:bodyPr>
          <a:lstStyle/>
          <a:p>
            <a:pPr indent="0" fontAlgn="auto">
              <a:lnSpc>
                <a:spcPct val="120000"/>
              </a:lnSpc>
              <a:spcBef>
                <a:spcPts val="600"/>
              </a:spcBef>
              <a:spcAft>
                <a:spcPts val="600"/>
              </a:spcAft>
            </a:pPr>
            <a:r>
              <a:rPr lang="zh-CN" altLang="en-US" sz="2400" b="1" dirty="0">
                <a:solidFill>
                  <a:schemeClr val="tx1"/>
                </a:solidFill>
              </a:rPr>
              <a:t>已有工作</a:t>
            </a:r>
            <a:r>
              <a:rPr lang="zh-CN" altLang="en-US" dirty="0"/>
              <a:t> </a:t>
            </a:r>
            <a:endParaRPr lang="zh-CN" altLang="en-US" dirty="0"/>
          </a:p>
          <a:p>
            <a:pPr marL="342900" indent="-342900" fontAlgn="auto">
              <a:lnSpc>
                <a:spcPct val="150000"/>
              </a:lnSpc>
              <a:buFont typeface="+mj-lt"/>
              <a:buAutoNum type="arabicPeriod" startAt="2"/>
            </a:pPr>
            <a:r>
              <a:rPr lang="en-US" altLang="zh-CN" sz="1600" dirty="0">
                <a:solidFill>
                  <a:schemeClr val="tx1">
                    <a:lumMod val="85000"/>
                    <a:lumOff val="15000"/>
                  </a:schemeClr>
                </a:solidFill>
              </a:rPr>
              <a:t>Ni P, Tian A, Xu J. Warning! The Timeout T Cannot Protect You From Losing Coins: PipeSwap: Forcing the Timely Release of a Secret for Atomic Cross-Chain Swaps[C]//2025 IEEE Symposium on Security and Privacy (SP). IEEE, 2025: 1566-1583</a:t>
            </a:r>
            <a:r>
              <a:rPr lang="zh-CN" altLang="en-US" sz="1600" dirty="0">
                <a:solidFill>
                  <a:schemeClr val="tx1">
                    <a:lumMod val="85000"/>
                    <a:lumOff val="15000"/>
                  </a:schemeClr>
                </a:solidFill>
              </a:rPr>
              <a:t>.</a:t>
            </a:r>
            <a:endParaRPr lang="zh-CN" altLang="en-US" sz="1600" dirty="0">
              <a:solidFill>
                <a:schemeClr val="tx1">
                  <a:lumMod val="85000"/>
                  <a:lumOff val="15000"/>
                </a:schemeClr>
              </a:solidFill>
            </a:endParaRPr>
          </a:p>
          <a:p>
            <a:pPr indent="457200" fontAlgn="auto">
              <a:lnSpc>
                <a:spcPct val="150000"/>
              </a:lnSpc>
              <a:buFont typeface="+mj-lt"/>
              <a:buNone/>
            </a:pPr>
            <a:r>
              <a:rPr lang="zh-CN" altLang="en-US" dirty="0">
                <a:solidFill>
                  <a:srgbClr val="04579A"/>
                </a:solidFill>
              </a:rPr>
              <a:t>该工作设计了抗</a:t>
            </a:r>
            <a:r>
              <a:rPr lang="en-US" altLang="zh-CN" dirty="0">
                <a:solidFill>
                  <a:srgbClr val="04579A"/>
                </a:solidFill>
              </a:rPr>
              <a:t>double-claiming</a:t>
            </a:r>
            <a:r>
              <a:rPr lang="zh-CN" altLang="en-US" dirty="0">
                <a:solidFill>
                  <a:srgbClr val="04579A"/>
                </a:solidFill>
              </a:rPr>
              <a:t>攻击的通用跨链原子交换协议。</a:t>
            </a:r>
            <a:endParaRPr lang="zh-CN" altLang="en-US" dirty="0">
              <a:solidFill>
                <a:srgbClr val="04579A"/>
              </a:solidFill>
            </a:endParaRPr>
          </a:p>
        </p:txBody>
      </p:sp>
      <p:pic>
        <p:nvPicPr>
          <p:cNvPr id="4" name="图片 3"/>
          <p:cNvPicPr>
            <a:picLocks noChangeAspect="1"/>
          </p:cNvPicPr>
          <p:nvPr/>
        </p:nvPicPr>
        <p:blipFill>
          <a:blip r:embed="rId8"/>
          <a:stretch>
            <a:fillRect/>
          </a:stretch>
        </p:blipFill>
        <p:spPr>
          <a:xfrm>
            <a:off x="3319896" y="3876662"/>
            <a:ext cx="5552207" cy="1586345"/>
          </a:xfrm>
          <a:prstGeom prst="rect">
            <a:avLst/>
          </a:prstGeom>
        </p:spPr>
      </p:pic>
      <p:sp>
        <p:nvSpPr>
          <p:cNvPr id="6" name="文本框 5"/>
          <p:cNvSpPr txBox="1"/>
          <p:nvPr/>
        </p:nvSpPr>
        <p:spPr>
          <a:xfrm>
            <a:off x="3007101" y="5630545"/>
            <a:ext cx="6177796" cy="369332"/>
          </a:xfrm>
          <a:prstGeom prst="rect">
            <a:avLst/>
          </a:prstGeom>
          <a:noFill/>
        </p:spPr>
        <p:txBody>
          <a:bodyPr wrap="square" rtlCol="0">
            <a:spAutoFit/>
          </a:bodyPr>
          <a:lstStyle/>
          <a:p>
            <a:pPr algn="ctr"/>
            <a:r>
              <a:rPr lang="zh-CN" altLang="en-US" dirty="0"/>
              <a:t>两阶段交易架构</a:t>
            </a:r>
            <a:r>
              <a:rPr lang="en-US" altLang="zh-CN" dirty="0"/>
              <a:t>+</a:t>
            </a:r>
            <a:r>
              <a:rPr lang="zh-CN" altLang="en-US" dirty="0"/>
              <a:t>可验证时间离散对数方案</a:t>
            </a:r>
            <a:r>
              <a:rPr lang="en-US" altLang="zh-CN" dirty="0"/>
              <a:t>+</a:t>
            </a:r>
            <a:r>
              <a:rPr lang="zh-CN" altLang="en-US" dirty="0"/>
              <a:t>两方适配器签名</a:t>
            </a:r>
            <a:endParaRPr lang="zh-CN" altLang="en-US" dirty="0"/>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27</a:t>
            </a:r>
            <a:endParaRPr lang="zh-CN" altLang="en-US" dirty="0"/>
          </a:p>
        </p:txBody>
      </p:sp>
    </p:spTree>
    <p:custDataLst>
      <p:tags r:id="rId9"/>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 name="矩形 8"/>
          <p:cNvSpPr/>
          <p:nvPr/>
        </p:nvSpPr>
        <p:spPr>
          <a:xfrm>
            <a:off x="8978265" y="0"/>
            <a:ext cx="3213735"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8977630" y="3175"/>
            <a:ext cx="3214370" cy="721995"/>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5862320" y="-635"/>
            <a:ext cx="3115945" cy="721995"/>
          </a:xfrm>
          <a:prstGeom prst="rect">
            <a:avLst/>
          </a:prstGeom>
          <a:solidFill>
            <a:schemeClr val="bg1">
              <a:lumMod val="95000"/>
            </a:schemeClr>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3871595" y="-635"/>
            <a:ext cx="19907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664970" y="-635"/>
            <a:ext cx="2206625" cy="721995"/>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1821180" y="161290"/>
            <a:ext cx="10067925" cy="368300"/>
          </a:xfrm>
          <a:prstGeom prst="rect">
            <a:avLst/>
          </a:prstGeom>
          <a:noFill/>
        </p:spPr>
        <p:txBody>
          <a:bodyPr wrap="square" rtlCol="0">
            <a:spAutoFit/>
          </a:bodyPr>
          <a:lstStyle/>
          <a:p>
            <a:pPr indent="0" fontAlgn="auto">
              <a:lnSpc>
                <a:spcPct val="100000"/>
              </a:lnSpc>
            </a:pPr>
            <a:r>
              <a:rPr lang="en-US" altLang="zh-CN" dirty="0">
                <a:solidFill>
                  <a:schemeClr val="bg1"/>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选题背景及意义</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国内外研究现状</a:t>
            </a:r>
            <a:r>
              <a:rPr lang="en-US" altLang="zh-CN" dirty="0">
                <a:solidFill>
                  <a:prstClr val="black"/>
                </a:solidFill>
                <a:latin typeface="Arial" panose="020B0604020202020204" pitchFamily="34" charset="0"/>
                <a:sym typeface="+mn-ea"/>
              </a:rPr>
              <a:t>       </a:t>
            </a:r>
            <a:r>
              <a:rPr lang="zh-CN" altLang="en-US" dirty="0">
                <a:solidFill>
                  <a:schemeClr val="tx1"/>
                </a:solidFill>
                <a:latin typeface="Arial" panose="020B0604020202020204" pitchFamily="34" charset="0"/>
                <a:sym typeface="+mn-ea"/>
              </a:rPr>
              <a:t>主要研究内容及预期目标</a:t>
            </a:r>
            <a:r>
              <a:rPr lang="en-US" altLang="zh-CN" dirty="0">
                <a:solidFill>
                  <a:prstClr val="black"/>
                </a:solidFill>
                <a:latin typeface="Arial" panose="020B0604020202020204" pitchFamily="34" charset="0"/>
                <a:sym typeface="+mn-ea"/>
              </a:rPr>
              <a:t>             </a:t>
            </a:r>
            <a:r>
              <a:rPr lang="zh-CN" altLang="en-US" dirty="0">
                <a:solidFill>
                  <a:schemeClr val="bg1"/>
                </a:solidFill>
                <a:latin typeface="Arial" panose="020B0604020202020204" pitchFamily="34" charset="0"/>
                <a:sym typeface="+mn-ea"/>
              </a:rPr>
              <a:t>工作计划与进度安排</a:t>
            </a:r>
            <a:endParaRPr lang="zh-CN" altLang="en-US" dirty="0">
              <a:solidFill>
                <a:schemeClr val="bg1"/>
              </a:solidFill>
              <a:latin typeface="Arial" panose="020B0604020202020204" pitchFamily="34" charset="0"/>
              <a:sym typeface="+mn-ea"/>
            </a:endParaRPr>
          </a:p>
        </p:txBody>
      </p:sp>
      <p:pic>
        <p:nvPicPr>
          <p:cNvPr id="21" name="Picture 2" descr="C:\Program Files\Apache Software Foundation\Tomcat 6.0\webapps\topo1\images\sklois1 (2).jp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等腰三角形 14"/>
          <p:cNvSpPr/>
          <p:nvPr>
            <p:custDataLst>
              <p:tags r:id="rId7"/>
            </p:custDataLst>
          </p:nvPr>
        </p:nvSpPr>
        <p:spPr>
          <a:xfrm rot="10800000">
            <a:off x="10666730" y="720725"/>
            <a:ext cx="292100" cy="2286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custDataLst>
              <p:tags r:id="rId8"/>
            </p:custDataLst>
          </p:nvPr>
        </p:nvSpPr>
        <p:spPr>
          <a:xfrm>
            <a:off x="3445510" y="5293360"/>
            <a:ext cx="6096000" cy="423545"/>
          </a:xfrm>
          <a:prstGeom prst="rect">
            <a:avLst/>
          </a:prstGeom>
          <a:noFill/>
        </p:spPr>
        <p:txBody>
          <a:bodyPr wrap="square" rtlCol="0" anchor="t">
            <a:spAutoFit/>
          </a:bodyPr>
          <a:lstStyle/>
          <a:p>
            <a:pPr indent="0" fontAlgn="auto">
              <a:lnSpc>
                <a:spcPct val="120000"/>
              </a:lnSpc>
            </a:pPr>
            <a:r>
              <a:rPr lang="zh-CN" altLang="en-US"/>
              <a:t>撰写</a:t>
            </a:r>
            <a:r>
              <a:rPr lang="zh-CN" altLang="en-US"/>
              <a:t>硕士论文，准备毕业答辩</a:t>
            </a:r>
            <a:endParaRPr lang="zh-CN" altLang="en-US"/>
          </a:p>
        </p:txBody>
      </p:sp>
      <p:cxnSp>
        <p:nvCxnSpPr>
          <p:cNvPr id="13" name="直接连接符 12"/>
          <p:cNvCxnSpPr/>
          <p:nvPr>
            <p:custDataLst>
              <p:tags r:id="rId9"/>
            </p:custDataLst>
          </p:nvPr>
        </p:nvCxnSpPr>
        <p:spPr>
          <a:xfrm>
            <a:off x="2721610" y="1696720"/>
            <a:ext cx="0" cy="45720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0"/>
            </p:custDataLst>
          </p:nvPr>
        </p:nvSpPr>
        <p:spPr>
          <a:xfrm>
            <a:off x="3416300" y="2045335"/>
            <a:ext cx="7265035" cy="423545"/>
          </a:xfrm>
          <a:prstGeom prst="rect">
            <a:avLst/>
          </a:prstGeom>
          <a:noFill/>
        </p:spPr>
        <p:txBody>
          <a:bodyPr wrap="square" rtlCol="0" anchor="t">
            <a:spAutoFit/>
          </a:bodyPr>
          <a:lstStyle/>
          <a:p>
            <a:pPr indent="0" fontAlgn="auto">
              <a:lnSpc>
                <a:spcPct val="120000"/>
              </a:lnSpc>
            </a:pPr>
            <a:r>
              <a:rPr lang="zh-CN" altLang="en-US" dirty="0">
                <a:sym typeface="+mn-ea"/>
              </a:rPr>
              <a:t>完成面向操作参数约束需求的智能体授权协议的设计</a:t>
            </a:r>
            <a:endParaRPr lang="zh-CN" altLang="en-US" dirty="0">
              <a:sym typeface="+mn-ea"/>
            </a:endParaRPr>
          </a:p>
        </p:txBody>
      </p:sp>
      <p:sp>
        <p:nvSpPr>
          <p:cNvPr id="4" name="文本框 3"/>
          <p:cNvSpPr txBox="1"/>
          <p:nvPr>
            <p:custDataLst>
              <p:tags r:id="rId11"/>
            </p:custDataLst>
          </p:nvPr>
        </p:nvSpPr>
        <p:spPr>
          <a:xfrm>
            <a:off x="3416300" y="3128010"/>
            <a:ext cx="7898130" cy="423545"/>
          </a:xfrm>
          <a:prstGeom prst="rect">
            <a:avLst/>
          </a:prstGeom>
          <a:noFill/>
        </p:spPr>
        <p:txBody>
          <a:bodyPr wrap="square" rtlCol="0" anchor="t">
            <a:spAutoFit/>
          </a:bodyPr>
          <a:lstStyle/>
          <a:p>
            <a:pPr indent="0" fontAlgn="auto">
              <a:lnSpc>
                <a:spcPct val="120000"/>
              </a:lnSpc>
            </a:pPr>
            <a:r>
              <a:rPr lang="zh-CN" altLang="en-US" dirty="0">
                <a:sym typeface="+mn-ea"/>
              </a:rPr>
              <a:t>完成面向任务执行顺序约束需求的智能体授权协议协议设计。</a:t>
            </a:r>
            <a:endParaRPr lang="zh-CN" altLang="en-US" dirty="0">
              <a:sym typeface="+mn-ea"/>
            </a:endParaRPr>
          </a:p>
        </p:txBody>
      </p:sp>
      <p:sp>
        <p:nvSpPr>
          <p:cNvPr id="16" name="文本框 15"/>
          <p:cNvSpPr txBox="1"/>
          <p:nvPr>
            <p:custDataLst>
              <p:tags r:id="rId12"/>
            </p:custDataLst>
          </p:nvPr>
        </p:nvSpPr>
        <p:spPr>
          <a:xfrm>
            <a:off x="3416300" y="4210685"/>
            <a:ext cx="7898765" cy="755650"/>
          </a:xfrm>
          <a:prstGeom prst="rect">
            <a:avLst/>
          </a:prstGeom>
          <a:noFill/>
        </p:spPr>
        <p:txBody>
          <a:bodyPr wrap="square" rtlCol="0" anchor="t">
            <a:spAutoFit/>
          </a:bodyPr>
          <a:lstStyle/>
          <a:p>
            <a:pPr indent="0" fontAlgn="auto">
              <a:lnSpc>
                <a:spcPct val="120000"/>
              </a:lnSpc>
            </a:pPr>
            <a:r>
              <a:rPr lang="zh-CN" altLang="en-US" dirty="0">
                <a:sym typeface="+mn-ea"/>
              </a:rPr>
              <a:t>完成上述两项协议的代码实现并且集成到搭建的智能体中，进行安全测试，并测试开销。</a:t>
            </a:r>
            <a:endParaRPr lang="zh-CN" altLang="en-US" dirty="0">
              <a:sym typeface="+mn-ea"/>
            </a:endParaRPr>
          </a:p>
        </p:txBody>
      </p:sp>
      <p:sp>
        <p:nvSpPr>
          <p:cNvPr id="17" name="椭圆 16"/>
          <p:cNvSpPr/>
          <p:nvPr>
            <p:custDataLst>
              <p:tags r:id="rId13"/>
            </p:custDataLst>
          </p:nvPr>
        </p:nvSpPr>
        <p:spPr>
          <a:xfrm>
            <a:off x="2645410" y="21609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custDataLst>
              <p:tags r:id="rId14"/>
            </p:custDataLst>
          </p:nvPr>
        </p:nvSpPr>
        <p:spPr>
          <a:xfrm>
            <a:off x="2645410" y="32531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custDataLst>
              <p:tags r:id="rId15"/>
            </p:custDataLst>
          </p:nvPr>
        </p:nvSpPr>
        <p:spPr>
          <a:xfrm>
            <a:off x="2645410" y="43453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custDataLst>
              <p:tags r:id="rId16"/>
            </p:custDataLst>
          </p:nvPr>
        </p:nvSpPr>
        <p:spPr>
          <a:xfrm>
            <a:off x="2645410" y="5437505"/>
            <a:ext cx="139700" cy="139700"/>
          </a:xfrm>
          <a:prstGeom prst="ellips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stCxn id="17" idx="6"/>
          </p:cNvCxnSpPr>
          <p:nvPr>
            <p:custDataLst>
              <p:tags r:id="rId17"/>
            </p:custDataLst>
          </p:nvPr>
        </p:nvCxnSpPr>
        <p:spPr>
          <a:xfrm>
            <a:off x="2785110" y="2230755"/>
            <a:ext cx="4895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18"/>
            </p:custDataLst>
          </p:nvPr>
        </p:nvCxnSpPr>
        <p:spPr>
          <a:xfrm>
            <a:off x="2785110" y="3324860"/>
            <a:ext cx="5530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9"/>
            </p:custDataLst>
          </p:nvPr>
        </p:nvCxnSpPr>
        <p:spPr>
          <a:xfrm>
            <a:off x="2785110" y="4418965"/>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0"/>
            </p:custDataLst>
          </p:nvPr>
        </p:nvSpPr>
        <p:spPr>
          <a:xfrm>
            <a:off x="520700" y="1978660"/>
            <a:ext cx="212407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a:t>
            </a:r>
            <a:r>
              <a:rPr lang="zh-CN" altLang="en-US" sz="2000" b="1" dirty="0">
                <a:solidFill>
                  <a:srgbClr val="04579A"/>
                </a:solidFill>
                <a:sym typeface="+mn-ea"/>
              </a:rPr>
              <a:t>6-202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08</a:t>
            </a:r>
            <a:endParaRPr lang="en-US" altLang="zh-CN" sz="2000" b="1" dirty="0">
              <a:solidFill>
                <a:srgbClr val="04579A"/>
              </a:solidFill>
              <a:sym typeface="+mn-ea"/>
            </a:endParaRPr>
          </a:p>
        </p:txBody>
      </p:sp>
      <p:sp>
        <p:nvSpPr>
          <p:cNvPr id="27" name="文本框 26"/>
          <p:cNvSpPr txBox="1"/>
          <p:nvPr>
            <p:custDataLst>
              <p:tags r:id="rId21"/>
            </p:custDataLst>
          </p:nvPr>
        </p:nvSpPr>
        <p:spPr>
          <a:xfrm>
            <a:off x="520700" y="3057525"/>
            <a:ext cx="6096000"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09</a:t>
            </a: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10</a:t>
            </a:r>
            <a:endParaRPr lang="en-US" altLang="zh-CN" sz="2000" b="1" dirty="0">
              <a:solidFill>
                <a:srgbClr val="04579A"/>
              </a:solidFill>
              <a:sym typeface="+mn-ea"/>
            </a:endParaRPr>
          </a:p>
        </p:txBody>
      </p:sp>
      <p:sp>
        <p:nvSpPr>
          <p:cNvPr id="29" name="文本框 28"/>
          <p:cNvSpPr txBox="1"/>
          <p:nvPr>
            <p:custDataLst>
              <p:tags r:id="rId22"/>
            </p:custDataLst>
          </p:nvPr>
        </p:nvSpPr>
        <p:spPr>
          <a:xfrm>
            <a:off x="520700" y="4150995"/>
            <a:ext cx="226504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a:t>
            </a:r>
            <a:r>
              <a:rPr lang="en-US" altLang="zh-CN" sz="2000" b="1" dirty="0">
                <a:solidFill>
                  <a:srgbClr val="04579A"/>
                </a:solidFill>
                <a:sym typeface="+mn-ea"/>
              </a:rPr>
              <a:t>11</a:t>
            </a:r>
            <a:r>
              <a:rPr lang="zh-CN" altLang="en-US" sz="2000" b="1" dirty="0">
                <a:solidFill>
                  <a:srgbClr val="04579A"/>
                </a:solidFill>
                <a:sym typeface="+mn-ea"/>
              </a:rPr>
              <a:t>-202</a:t>
            </a:r>
            <a:r>
              <a:rPr lang="en-US" altLang="zh-CN" sz="2000" b="1" dirty="0">
                <a:solidFill>
                  <a:srgbClr val="04579A"/>
                </a:solidFill>
                <a:sym typeface="+mn-ea"/>
              </a:rPr>
              <a:t>6</a:t>
            </a:r>
            <a:r>
              <a:rPr lang="zh-CN" altLang="en-US" sz="2000" b="1" dirty="0">
                <a:solidFill>
                  <a:srgbClr val="04579A"/>
                </a:solidFill>
                <a:sym typeface="+mn-ea"/>
              </a:rPr>
              <a:t>/1</a:t>
            </a:r>
            <a:r>
              <a:rPr lang="en-US" altLang="zh-CN" sz="2000" b="1" dirty="0">
                <a:solidFill>
                  <a:srgbClr val="04579A"/>
                </a:solidFill>
                <a:sym typeface="+mn-ea"/>
              </a:rPr>
              <a:t>2</a:t>
            </a:r>
            <a:endParaRPr lang="en-US" altLang="zh-CN" sz="2000" b="1" dirty="0">
              <a:solidFill>
                <a:srgbClr val="04579A"/>
              </a:solidFill>
              <a:sym typeface="+mn-ea"/>
            </a:endParaRPr>
          </a:p>
        </p:txBody>
      </p:sp>
      <p:sp>
        <p:nvSpPr>
          <p:cNvPr id="31" name="文本框 30"/>
          <p:cNvSpPr txBox="1"/>
          <p:nvPr>
            <p:custDataLst>
              <p:tags r:id="rId23"/>
            </p:custDataLst>
          </p:nvPr>
        </p:nvSpPr>
        <p:spPr>
          <a:xfrm>
            <a:off x="520700" y="5244465"/>
            <a:ext cx="2125345" cy="460375"/>
          </a:xfrm>
          <a:prstGeom prst="rect">
            <a:avLst/>
          </a:prstGeom>
          <a:noFill/>
        </p:spPr>
        <p:txBody>
          <a:bodyPr wrap="square" rtlCol="0" anchor="t">
            <a:spAutoFit/>
          </a:bodyPr>
          <a:lstStyle/>
          <a:p>
            <a:pPr indent="0" fontAlgn="auto">
              <a:lnSpc>
                <a:spcPct val="120000"/>
              </a:lnSpc>
            </a:pPr>
            <a:r>
              <a:rPr lang="zh-CN" altLang="en-US" sz="2000" b="1" dirty="0">
                <a:solidFill>
                  <a:srgbClr val="04579A"/>
                </a:solidFill>
                <a:sym typeface="+mn-ea"/>
              </a:rPr>
              <a:t>202</a:t>
            </a:r>
            <a:r>
              <a:rPr lang="en-US" altLang="zh-CN" sz="2000" b="1" dirty="0">
                <a:solidFill>
                  <a:srgbClr val="04579A"/>
                </a:solidFill>
                <a:sym typeface="+mn-ea"/>
              </a:rPr>
              <a:t>7</a:t>
            </a:r>
            <a:r>
              <a:rPr lang="zh-CN" altLang="en-US" sz="2000" b="1" dirty="0">
                <a:solidFill>
                  <a:srgbClr val="04579A"/>
                </a:solidFill>
                <a:sym typeface="+mn-ea"/>
              </a:rPr>
              <a:t>/</a:t>
            </a:r>
            <a:r>
              <a:rPr lang="en-US" altLang="zh-CN" sz="2000" b="1" dirty="0">
                <a:solidFill>
                  <a:srgbClr val="04579A"/>
                </a:solidFill>
                <a:sym typeface="+mn-ea"/>
              </a:rPr>
              <a:t>0</a:t>
            </a:r>
            <a:r>
              <a:rPr lang="zh-CN" altLang="en-US" sz="2000" b="1" dirty="0">
                <a:solidFill>
                  <a:srgbClr val="04579A"/>
                </a:solidFill>
                <a:sym typeface="+mn-ea"/>
              </a:rPr>
              <a:t>1-202</a:t>
            </a:r>
            <a:r>
              <a:rPr lang="en-US" altLang="zh-CN" sz="2000" b="1" dirty="0">
                <a:solidFill>
                  <a:srgbClr val="04579A"/>
                </a:solidFill>
                <a:sym typeface="+mn-ea"/>
              </a:rPr>
              <a:t>7</a:t>
            </a:r>
            <a:r>
              <a:rPr lang="zh-CN" altLang="en-US" sz="2000" b="1" dirty="0">
                <a:solidFill>
                  <a:srgbClr val="04579A"/>
                </a:solidFill>
                <a:sym typeface="+mn-ea"/>
              </a:rPr>
              <a:t>/0</a:t>
            </a:r>
            <a:r>
              <a:rPr lang="en-US" altLang="zh-CN" sz="2000" b="1" dirty="0">
                <a:solidFill>
                  <a:srgbClr val="04579A"/>
                </a:solidFill>
                <a:sym typeface="+mn-ea"/>
              </a:rPr>
              <a:t>4</a:t>
            </a:r>
            <a:endParaRPr lang="en-US" altLang="zh-CN" sz="2000" b="1" dirty="0">
              <a:solidFill>
                <a:srgbClr val="04579A"/>
              </a:solidFill>
              <a:sym typeface="+mn-ea"/>
            </a:endParaRPr>
          </a:p>
        </p:txBody>
      </p:sp>
      <p:cxnSp>
        <p:nvCxnSpPr>
          <p:cNvPr id="32" name="直接连接符 31"/>
          <p:cNvCxnSpPr/>
          <p:nvPr>
            <p:custDataLst>
              <p:tags r:id="rId24"/>
            </p:custDataLst>
          </p:nvPr>
        </p:nvCxnSpPr>
        <p:spPr>
          <a:xfrm>
            <a:off x="2797175" y="5500370"/>
            <a:ext cx="514985" cy="0"/>
          </a:xfrm>
          <a:prstGeom prst="line">
            <a:avLst/>
          </a:prstGeom>
          <a:ln w="12700"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custDataLst>
              <p:tags r:id="rId25"/>
            </p:custDataLst>
          </p:nvPr>
        </p:nvSpPr>
        <p:spPr>
          <a:xfrm>
            <a:off x="520700" y="1115060"/>
            <a:ext cx="6096000" cy="460375"/>
          </a:xfrm>
          <a:prstGeom prst="rect">
            <a:avLst/>
          </a:prstGeom>
          <a:noFill/>
        </p:spPr>
        <p:txBody>
          <a:bodyPr wrap="square" rtlCol="0" anchor="t">
            <a:spAutoFit/>
          </a:bodyPr>
          <a:lstStyle/>
          <a:p>
            <a:r>
              <a:rPr lang="zh-CN" altLang="en-US" sz="2400" b="1">
                <a:sym typeface="+mn-ea"/>
              </a:rPr>
              <a:t>未来进度安排</a:t>
            </a:r>
            <a:endParaRPr lang="zh-CN" altLang="en-US" sz="2400" b="1">
              <a:sym typeface="+mn-ea"/>
            </a:endParaRPr>
          </a:p>
        </p:txBody>
      </p:sp>
      <p:sp>
        <p:nvSpPr>
          <p:cNvPr id="7" name="文本框 6"/>
          <p:cNvSpPr txBox="1"/>
          <p:nvPr/>
        </p:nvSpPr>
        <p:spPr>
          <a:xfrm>
            <a:off x="11736779" y="6499761"/>
            <a:ext cx="455221" cy="369332"/>
          </a:xfrm>
          <a:prstGeom prst="rect">
            <a:avLst/>
          </a:prstGeom>
          <a:noFill/>
        </p:spPr>
        <p:txBody>
          <a:bodyPr wrap="square" rtlCol="0">
            <a:spAutoFit/>
          </a:bodyPr>
          <a:lstStyle/>
          <a:p>
            <a:pPr algn="ctr"/>
            <a:r>
              <a:rPr lang="en-US" altLang="zh-CN" dirty="0"/>
              <a:t>28</a:t>
            </a:r>
            <a:endParaRPr lang="zh-CN" altLang="en-US" dirty="0"/>
          </a:p>
        </p:txBody>
      </p:sp>
    </p:spTree>
    <p:custDataLst>
      <p:tags r:id="rId26"/>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1" name="Picture 2" descr="C:\Program Files\Apache Software Foundation\Tomcat 6.0\webapps\topo1\images\sklois1 (2).jpg"/>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l="5061" r="29001"/>
          <a:stretch>
            <a:fillRect/>
          </a:stretch>
        </p:blipFill>
        <p:spPr bwMode="auto">
          <a:xfrm>
            <a:off x="408305" y="105410"/>
            <a:ext cx="955040" cy="559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文本框 9"/>
          <p:cNvSpPr txBox="1"/>
          <p:nvPr/>
        </p:nvSpPr>
        <p:spPr>
          <a:xfrm>
            <a:off x="3233420" y="2622550"/>
            <a:ext cx="5725795" cy="583565"/>
          </a:xfrm>
          <a:prstGeom prst="rect">
            <a:avLst/>
          </a:prstGeom>
          <a:noFill/>
        </p:spPr>
        <p:txBody>
          <a:bodyPr wrap="square" rtlCol="0">
            <a:spAutoFit/>
          </a:bodyPr>
          <a:lstStyle/>
          <a:p>
            <a:pPr algn="ctr"/>
            <a:r>
              <a:rPr lang="zh-CN" altLang="en-US" sz="3200" b="1">
                <a:solidFill>
                  <a:srgbClr val="04579A"/>
                </a:solidFill>
              </a:rPr>
              <a:t>恳请各位老师批评指正</a:t>
            </a:r>
            <a:endParaRPr lang="zh-CN" altLang="en-US" sz="3200" b="1">
              <a:solidFill>
                <a:srgbClr val="04579A"/>
              </a:solidFill>
            </a:endParaRPr>
          </a:p>
        </p:txBody>
      </p:sp>
      <p:sp>
        <p:nvSpPr>
          <p:cNvPr id="11" name="矩形 10"/>
          <p:cNvSpPr/>
          <p:nvPr/>
        </p:nvSpPr>
        <p:spPr>
          <a:xfrm>
            <a:off x="0" y="6419850"/>
            <a:ext cx="12191365" cy="438150"/>
          </a:xfrm>
          <a:prstGeom prst="rect">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custDataLst>
              <p:tags r:id="rId3"/>
            </p:custDataLst>
          </p:nvPr>
        </p:nvSpPr>
        <p:spPr>
          <a:xfrm>
            <a:off x="4184015" y="3836035"/>
            <a:ext cx="3822700" cy="521970"/>
          </a:xfrm>
          <a:prstGeom prst="rect">
            <a:avLst/>
          </a:prstGeom>
          <a:noFill/>
        </p:spPr>
        <p:txBody>
          <a:bodyPr wrap="square" rtlCol="0">
            <a:spAutoFit/>
          </a:bodyPr>
          <a:lstStyle/>
          <a:p>
            <a:pPr algn="ctr"/>
            <a:r>
              <a:rPr lang="en-US" altLang="zh-CN" sz="2800" b="1">
                <a:solidFill>
                  <a:schemeClr val="tx1">
                    <a:lumMod val="75000"/>
                    <a:lumOff val="25000"/>
                  </a:schemeClr>
                </a:solidFill>
              </a:rPr>
              <a:t>  </a:t>
            </a:r>
            <a:r>
              <a:rPr lang="zh-CN" altLang="en-US" sz="2800" b="1">
                <a:solidFill>
                  <a:schemeClr val="tx1">
                    <a:lumMod val="75000"/>
                    <a:lumOff val="25000"/>
                  </a:schemeClr>
                </a:solidFill>
              </a:rPr>
              <a:t>谢谢！</a:t>
            </a:r>
            <a:endParaRPr lang="zh-CN" altLang="en-US" sz="2800" b="1">
              <a:solidFill>
                <a:schemeClr val="tx1">
                  <a:lumMod val="75000"/>
                  <a:lumOff val="25000"/>
                </a:schemeClr>
              </a:solidFill>
            </a:endParaRPr>
          </a:p>
        </p:txBody>
      </p:sp>
    </p:spTree>
    <p:custDataLst>
      <p:tags r:id="rId4"/>
    </p:custDataLst>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 name="KSO_WM_UNIT_PLACING_PICTURE_USER_VIEWPORT" val="{&quot;height&quot;:881,&quot;width&quot;:150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TEMPLATE_CATEGORY" val="diagram"/>
  <p:tag name="KSO_WM_TEMPLATE_INDEX" val="20185940"/>
  <p:tag name="KSO_WM_TAG_VERSION" val="1.0"/>
  <p:tag name="KSO_WM_UNIT_TYPE" val="l_h_i"/>
  <p:tag name="KSO_WM_UNIT_INDEX" val="1_1_1"/>
  <p:tag name="KSO_WM_UNIT_ID" val="diagram20185940_1*l_h_i*1_1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0.xml><?xml version="1.0" encoding="utf-8"?>
<p:tagLst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wm#"/>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71.xml><?xml version="1.0" encoding="utf-8"?>
<p:tagLst xmlns:p="http://schemas.openxmlformats.org/presentationml/2006/main">
  <p:tag name="KSO_WM_TEMPLATE_CATEGORY" val="diagram"/>
  <p:tag name="KSO_WM_TEMPLATE_INDEX" val="20185940"/>
  <p:tag name="KSO_WM_TAG_VERSION" val="1.0"/>
  <p:tag name="KSO_WM_UNIT_TYPE" val="l_h_i"/>
  <p:tag name="KSO_WM_UNIT_INDEX" val="1_2_1"/>
  <p:tag name="KSO_WM_UNIT_ID" val="diagram20185940_1*l_h_i*1_2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2.xml><?xml version="1.0" encoding="utf-8"?>
<p:tagLst xmlns:p="http://schemas.openxmlformats.org/presentationml/2006/main">
  <p:tag name="KSO_WM_TEMPLATE_CATEGORY" val="diagram"/>
  <p:tag name="KSO_WM_TEMPLATE_INDEX" val="20185940"/>
  <p:tag name="KSO_WM_TAG_VERSION" val="1.0"/>
  <p:tag name="KSO_WM_UNIT_TYPE" val="l_h_i"/>
  <p:tag name="KSO_WM_UNIT_INDEX" val="1_3_1"/>
  <p:tag name="KSO_WM_UNIT_ID" val="diagram20185940_1*l_h_i*1_3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TEMPLATE_CATEGORY" val="diagram"/>
  <p:tag name="KSO_WM_TEMPLATE_INDEX" val="20185940"/>
  <p:tag name="KSO_WM_TAG_VERSION" val="1.0"/>
  <p:tag name="KSO_WM_UNIT_TYPE" val="l_h_i"/>
  <p:tag name="KSO_WM_UNIT_INDEX" val="1_4_1"/>
  <p:tag name="KSO_WM_UNIT_ID" val="diagram20185940_1*l_h_i*1_4_1"/>
  <p:tag name="KSO_WM_UNIT_LAYERLEVEL" val="1_1_1"/>
  <p:tag name="KSO_WM_BEAUTIFY_FLAG" val="#wm#"/>
  <p:tag name="KSO_WM_DIAGRAM_GROUP_CODE" val="l1-1"/>
  <p:tag name="KSO_WM_UNIT_TEXT_FILL_FORE_SCHEMECOLOR_INDEX" val="13"/>
  <p:tag name="KSO_WM_UNIT_TEXT_FILL_TYPE" val="1"/>
  <p:tag name="KSO_WM_UNIT_USESOURCEFORMAT_APPLY" val="1"/>
</p:tagLst>
</file>

<file path=ppt/tags/tag74.xml><?xml version="1.0" encoding="utf-8"?>
<p:tagLst xmlns:p="http://schemas.openxmlformats.org/presentationml/2006/main">
  <p:tag name="KSO_WM_TEMPLATE_CATEGORY" val="diagram"/>
  <p:tag name="KSO_WM_TEMPLATE_INDEX" val="20185940"/>
  <p:tag name="KSO_WM_TAG_VERSION" val="1.0"/>
  <p:tag name="KSO_WM_UNIT_TYPE" val="a"/>
  <p:tag name="KSO_WM_UNIT_INDEX" val="1"/>
  <p:tag name="KSO_WM_UNIT_ID" val="diagram20185940_1*a*1"/>
  <p:tag name="KSO_WM_UNIT_LAYERLEVEL" val="1"/>
  <p:tag name="KSO_WM_UNIT_ISCONTENTSTITLE" val="1"/>
  <p:tag name="KSO_WM_UNIT_VALUE" val="28"/>
  <p:tag name="KSO_WM_UNIT_HIGHLIGHT" val="0"/>
  <p:tag name="KSO_WM_UNIT_COMPATIBLE" val="0"/>
  <p:tag name="KSO_WM_UNIT_CLEAR" val="0"/>
  <p:tag name="KSO_WM_BEAUTIFY_FLAG" val="#wm#"/>
  <p:tag name="KSO_WM_UNIT_PRESET_TEXT" val="全文档_x000B_主题目录编辑"/>
</p:tagLst>
</file>

<file path=ppt/tags/tag75.xml><?xml version="1.0" encoding="utf-8"?>
<p:tagLst xmlns:p="http://schemas.openxmlformats.org/presentationml/2006/main">
  <p:tag name="KSO_WM_TAG_VERSION" val="1.0"/>
  <p:tag name="KSO_WM_BEAUTIFY_FLAG" val="#wm#"/>
  <p:tag name="KSO_WM_UNIT_TYPE" val="i"/>
  <p:tag name="KSO_WM_UNIT_ID" val="diagram20185940_1*i*9"/>
  <p:tag name="KSO_WM_TEMPLATE_CATEGORY" val="diagram"/>
  <p:tag name="KSO_WM_TEMPLATE_INDEX" val="20185940"/>
  <p:tag name="KSO_WM_UNIT_INDEX" val="9"/>
</p:tagLst>
</file>

<file path=ppt/tags/tag76.xml><?xml version="1.0" encoding="utf-8"?>
<p:tagLst xmlns:p="http://schemas.openxmlformats.org/presentationml/2006/main">
  <p:tag name="KSO_WM_TEMPLATE_CATEGORY" val="diagram"/>
  <p:tag name="KSO_WM_TEMPLATE_INDEX" val="20185940"/>
  <p:tag name="KSO_WM_TAG_VERSION" val="1.0"/>
  <p:tag name="KSO_WM_UNIT_TYPE" val="f"/>
  <p:tag name="KSO_WM_UNIT_INDEX" val="1"/>
  <p:tag name="KSO_WM_UNIT_ID" val="diagram20185940_1*f*1"/>
  <p:tag name="KSO_WM_UNIT_LAYERLEVEL" val="1"/>
  <p:tag name="KSO_WM_UNIT_VALUE" val="18"/>
  <p:tag name="KSO_WM_UNIT_HIGHLIGHT" val="0"/>
  <p:tag name="KSO_WM_UNIT_COMPATIBLE" val="0"/>
  <p:tag name="KSO_WM_UNIT_CLEAR" val="0"/>
  <p:tag name="KSO_WM_BEAUTIFY_FLAG" val="#wm#"/>
  <p:tag name="KSO_WM_UNIT_PRESET_TEXT" val="CONGTENT"/>
</p:tagLst>
</file>

<file path=ppt/tags/tag77.xml><?xml version="1.0" encoding="utf-8"?>
<p:tagLst xmlns:p="http://schemas.openxmlformats.org/presentationml/2006/main">
  <p:tag name="KSO_WM_TAG_VERSION" val="1.0"/>
  <p:tag name="KSO_WM_BEAUTIFY_FLAG" val="#wm#"/>
  <p:tag name="KSO_WM_UNIT_TYPE" val="i"/>
  <p:tag name="KSO_WM_UNIT_ID" val="diagram20185940_1*i*11"/>
  <p:tag name="KSO_WM_TEMPLATE_CATEGORY" val="diagram"/>
  <p:tag name="KSO_WM_TEMPLATE_INDEX" val="20185940"/>
  <p:tag name="KSO_WM_UNIT_INDEX" val="11"/>
</p:tagLst>
</file>

<file path=ppt/tags/tag78.xml><?xml version="1.0" encoding="utf-8"?>
<p:tagLst xmlns:p="http://schemas.openxmlformats.org/presentationml/2006/main">
  <p:tag name="KSO_WM_TEMPLATE_CATEGORY" val="diagram"/>
  <p:tag name="KSO_WM_TEMPLATE_INDEX" val="20185940"/>
  <p:tag name="KSO_WM_TAG_VERSION" val="1.0"/>
  <p:tag name="KSO_WM_UNIT_TYPE" val="f"/>
  <p:tag name="KSO_WM_UNIT_INDEX" val="2"/>
  <p:tag name="KSO_WM_UNIT_ID" val="diagram20185940_1*f*2"/>
  <p:tag name="KSO_WM_UNIT_LAYERLEVEL" val="1"/>
  <p:tag name="KSO_WM_UNIT_VALUE" val="42"/>
  <p:tag name="KSO_WM_UNIT_HIGHLIGHT" val="0"/>
  <p:tag name="KSO_WM_UNIT_COMPATIBLE" val="0"/>
  <p:tag name="KSO_WM_UNIT_CLEAR" val="0"/>
  <p:tag name="KSO_WM_BEAUTIFY_FLAG" val="#wm#"/>
  <p:tag name="KSO_WM_UNIT_PRESET_TEXT" val="此部分内容作为文字排版占位显示_x000B_（建议使用主题字体）"/>
</p:tagLst>
</file>

<file path=ppt/tags/tag79.xml><?xml version="1.0" encoding="utf-8"?>
<p:tagLst xmlns:p="http://schemas.openxmlformats.org/presentationml/2006/main">
  <p:tag name="KSO_WM_TEMPLATE_CATEGORY" val="diagram"/>
  <p:tag name="KSO_WM_TEMPLATE_INDEX" val="20185940"/>
  <p:tag name="KSO_WM_TAG_VERSION" val="1.0"/>
  <p:tag name="KSO_WM_UNIT_TYPE" val="l_i"/>
  <p:tag name="KSO_WM_UNIT_INDEX" val="1_5"/>
  <p:tag name="KSO_WM_UNIT_ID" val="diagram20185940_1*l_i*1_5"/>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0.xml><?xml version="1.0" encoding="utf-8"?>
<p:tagLst xmlns:p="http://schemas.openxmlformats.org/presentationml/2006/main">
  <p:tag name="KSO_WM_TEMPLATE_CATEGORY" val="diagram"/>
  <p:tag name="KSO_WM_TEMPLATE_INDEX" val="20185940"/>
  <p:tag name="KSO_WM_TAG_VERSION" val="1.0"/>
  <p:tag name="KSO_WM_UNIT_TYPE" val="l_i"/>
  <p:tag name="KSO_WM_UNIT_INDEX" val="1_6"/>
  <p:tag name="KSO_WM_UNIT_ID" val="diagram20185940_1*l_i*1_6"/>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1.xml><?xml version="1.0" encoding="utf-8"?>
<p:tagLst xmlns:p="http://schemas.openxmlformats.org/presentationml/2006/main">
  <p:tag name="KSO_WM_TEMPLATE_CATEGORY" val="diagram"/>
  <p:tag name="KSO_WM_TEMPLATE_INDEX" val="20185940"/>
  <p:tag name="KSO_WM_TAG_VERSION" val="1.0"/>
  <p:tag name="KSO_WM_UNIT_TYPE" val="l_i"/>
  <p:tag name="KSO_WM_UNIT_INDEX" val="1_7"/>
  <p:tag name="KSO_WM_UNIT_ID" val="diagram20185940_1*l_i*1_7"/>
  <p:tag name="KSO_WM_UNIT_LAYERLEVEL" val="1_1"/>
  <p:tag name="KSO_WM_BEAUTIFY_FLAG" val="#wm#"/>
  <p:tag name="KSO_WM_DIAGRAM_GROUP_CODE" val="l1-1"/>
  <p:tag name="KSO_WM_UNIT_LINE_FORE_SCHEMECOLOR_INDEX" val="13"/>
  <p:tag name="KSO_WM_UNIT_LINE_FILL_TYPE" val="2"/>
  <p:tag name="KSO_WM_UNIT_USESOURCEFORMAT_APPLY" val="1"/>
</p:tagLst>
</file>

<file path=ppt/tags/tag82.xml><?xml version="1.0" encoding="utf-8"?>
<p:tagLst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3.xml><?xml version="1.0" encoding="utf-8"?>
<p:tagLst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4.xml><?xml version="1.0" encoding="utf-8"?>
<p:tagLst xmlns:p="http://schemas.openxmlformats.org/presentationml/2006/main">
  <p:tag name="KSO_WM_TEMPLATE_CATEGORY" val="diagram"/>
  <p:tag name="KSO_WM_TEMPLATE_INDEX" val="20185940"/>
  <p:tag name="KSO_WM_TAG_VERSION" val="1.0"/>
  <p:tag name="KSO_WM_UNIT_TYPE" val="l_h_f"/>
  <p:tag name="KSO_WM_UNIT_INDEX" val="1_1_1"/>
  <p:tag name="KSO_WM_UNIT_ID" val="diagram20185940_1*l_h_f*1_1_1"/>
  <p:tag name="KSO_WM_UNIT_LAYERLEVEL" val="1_1_1"/>
  <p:tag name="KSO_WM_UNIT_VALUE" val="18"/>
  <p:tag name="KSO_WM_UNIT_HIGHLIGHT" val="0"/>
  <p:tag name="KSO_WM_UNIT_COMPATIBLE" val="0"/>
  <p:tag name="KSO_WM_UNIT_CLEAR" val="0"/>
  <p:tag name="KSO_WM_BEAUTIFY_FLAG" val=""/>
  <p:tag name="KSO_WM_DIAGRAM_GROUP_CODE" val="l1-1"/>
  <p:tag name="KSO_WM_UNIT_PRESET_TEXT" val="此部分内容作为文字排版占位显示"/>
  <p:tag name="KSO_WM_UNIT_TEXT_FILL_FORE_SCHEMECOLOR_INDEX" val="13"/>
  <p:tag name="KSO_WM_UNIT_TEXT_FILL_TYPE" val="1"/>
  <p:tag name="KSO_WM_UNIT_USESOURCEFORMAT_APPLY" val="1"/>
</p:tagLst>
</file>

<file path=ppt/tags/tag85.xml><?xml version="1.0" encoding="utf-8"?>
<p:tagLst xmlns:p="http://schemas.openxmlformats.org/presentationml/2006/main">
  <p:tag name="KSO_WM_BEAUTIFY_FLAG" val=""/>
  <p:tag name="KSO_WM_UNIT_PLACING_PICTURE_USER_VIEWPORT" val="{&quot;height&quot;:881,&quot;width&quot;:1504}"/>
</p:tagLst>
</file>

<file path=ppt/tags/tag86.xml><?xml version="1.0" encoding="utf-8"?>
<p:tagLst xmlns:p="http://schemas.openxmlformats.org/presentationml/2006/main">
  <p:tag name="KSO_WM_TEMPLATE_CATEGORY" val="diagram"/>
  <p:tag name="KSO_WM_TEMPLATE_INDEX" val="20185940"/>
  <p:tag name="KSO_WM_TAG_VERSION" val="1.0"/>
  <p:tag name="KSO_WM_SLIDE_ID" val="diagram20185940_1"/>
  <p:tag name="KSO_WM_SLIDE_INDEX" val="1"/>
  <p:tag name="KSO_WM_SLIDE_ITEM_CNT" val="6"/>
  <p:tag name="KSO_WM_SLIDE_LAYOUT" val="a_f_l"/>
  <p:tag name="KSO_WM_SLIDE_LAYOUT_CNT" val="1_2_1"/>
  <p:tag name="KSO_WM_SLIDE_TYPE" val="contents"/>
  <p:tag name="KSO_WM_SLIDE_SUBTYPE" val="diag"/>
  <p:tag name="KSO_WM_BEAUTIFY_FLAG" val="#wm#"/>
  <p:tag name="KSO_WM_DIAGRAM_GROUP_CODE" val="l1-1"/>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 name="KSO_WM_UNIT_PLACING_PICTURE_USER_VIEWPORT" val="{&quot;height&quot;:881,&quot;width&quot;:1504}"/>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 name="KSO_WM_UNIT_PLACING_PICTURE_USER_VIEWPORT" val="{&quot;height&quot;:881,&quot;width&quot;:1504}"/>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TABLE_ENDDRAG_ORIGIN_RECT" val="286*361"/>
  <p:tag name="TABLE_ENDDRAG_RECT" val="144*165*286*361"/>
</p:tagLst>
</file>

<file path=ppt/tags/tag10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 name="KSO_WM_UNIT_PLACING_PICTURE_USER_VIEWPORT" val="{&quot;height&quot;:881,&quot;width&quot;:1504}"/>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 name="KSO_WM_UNIT_PLACING_PICTURE_USER_VIEWPORT" val="{&quot;height&quot;:881,&quot;width&quot;:1504}"/>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 name="KSO_WM_UNIT_PLACING_PICTURE_USER_VIEWPORT" val="{&quot;height&quot;:881,&quot;width&quot;:1504}"/>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812|13.026|13.403|13.32|11.806|0.83|15.519|8.997"/>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DIAGRAM_VIRTUALLY_FRAME" val="{&quot;height&quot;:245.84062992125982,&quot;left&quot;:43.82496062992126,&quot;top&quot;:150.95622047244095,&quot;width&quot;:872.35}"/>
</p:tagLst>
</file>

<file path=ppt/tags/tag282.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83.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84.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85.xml><?xml version="1.0" encoding="utf-8"?>
<p:tagLst xmlns:p="http://schemas.openxmlformats.org/presentationml/2006/main">
  <p:tag name="KSO_WM_DIAGRAM_VIRTUALLY_FRAME" val="{&quot;height&quot;:245.84062992125982,&quot;left&quot;:43.82496062992126,&quot;top&quot;:150.95622047244095,&quot;width&quot;:872.35}"/>
</p:tagLst>
</file>

<file path=ppt/tags/tag286.xml><?xml version="1.0" encoding="utf-8"?>
<p:tagLst xmlns:p="http://schemas.openxmlformats.org/presentationml/2006/main">
  <p:tag name="KSO_WM_DIAGRAM_VIRTUALLY_FRAME" val="{&quot;height&quot;:245.84062992125982,&quot;left&quot;:43.82496062992126,&quot;top&quot;:150.95622047244095,&quot;width&quot;:872.35}"/>
</p:tagLst>
</file>

<file path=ppt/tags/tag287.xml><?xml version="1.0" encoding="utf-8"?>
<p:tagLst xmlns:p="http://schemas.openxmlformats.org/presentationml/2006/main">
  <p:tag name="KSO_WM_DIAGRAM_VIRTUALLY_FRAME" val="{&quot;height&quot;:245.84062992125982,&quot;left&quot;:43.82496062992126,&quot;top&quot;:150.95622047244095,&quot;width&quot;:872.35}"/>
</p:tagLst>
</file>

<file path=ppt/tags/tag288.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89.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90.xml><?xml version="1.0" encoding="utf-8"?>
<p:tagLst xmlns:p="http://schemas.openxmlformats.org/presentationml/2006/main">
  <p:tag name="KSO_WM_BEAUTIFY_FLAG" val=""/>
  <p:tag name="KSO_WM_DIAGRAM_VIRTUALLY_FRAME" val="{&quot;height&quot;:245.84062992125982,&quot;left&quot;:43.82496062992126,&quot;top&quot;:150.95622047244095,&quot;width&quot;:872.35}"/>
</p:tagLst>
</file>

<file path=ppt/tags/tag2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 name="KSO_WM_UNIT_PLACING_PICTURE_USER_VIEWPORT" val="{&quot;height&quot;:881,&quot;width&quot;:1504}"/>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5.xml><?xml version="1.0" encoding="utf-8"?>
<p:tagLst xmlns:p="http://schemas.openxmlformats.org/presentationml/2006/main">
  <p:tag name="KSO_WM_BEAUTIFY_FLAG" val="#wm#"/>
  <p:tag name="KSO_WM_TEMPLATE_CATEGORY" val="diagram"/>
  <p:tag name="KSO_WM_TEMPLATE_INDEX" val="20185940"/>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8.xml><?xml version="1.0" encoding="utf-8"?>
<p:tagLst xmlns:p="http://schemas.openxmlformats.org/presentationml/2006/main">
  <p:tag name="KSO_WM_BEAUTIFY_FLAG" val="#wm#"/>
  <p:tag name="KSO_WM_TEMPLATE_CATEGORY" val="diagram"/>
  <p:tag name="KSO_WM_TEMPLATE_INDEX" val="20185940"/>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1.xml><?xml version="1.0" encoding="utf-8"?>
<p:tagLst xmlns:p="http://schemas.openxmlformats.org/presentationml/2006/main">
  <p:tag name="KSO_WM_BEAUTIFY_FLAG" val="#wm#"/>
  <p:tag name="KSO_WM_TEMPLATE_CATEGORY" val="diagram"/>
  <p:tag name="KSO_WM_TEMPLATE_INDEX" val="20185940"/>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4.xml><?xml version="1.0" encoding="utf-8"?>
<p:tagLst xmlns:p="http://schemas.openxmlformats.org/presentationml/2006/main">
  <p:tag name="KSO_WM_BEAUTIFY_FLAG" val="#wm#"/>
  <p:tag name="KSO_WM_TEMPLATE_CATEGORY" val="diagram"/>
  <p:tag name="KSO_WM_TEMPLATE_INDEX" val="20185940"/>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7.xml><?xml version="1.0" encoding="utf-8"?>
<p:tagLst xmlns:p="http://schemas.openxmlformats.org/presentationml/2006/main">
  <p:tag name="KSO_WM_BEAUTIFY_FLAG" val="#wm#"/>
  <p:tag name="KSO_WM_TEMPLATE_CATEGORY" val="diagram"/>
  <p:tag name="KSO_WM_TEMPLATE_INDEX" val="20185940"/>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0.xml><?xml version="1.0" encoding="utf-8"?>
<p:tagLst xmlns:p="http://schemas.openxmlformats.org/presentationml/2006/main">
  <p:tag name="KSO_WM_BEAUTIFY_FLAG" val="#wm#"/>
  <p:tag name="KSO_WM_TEMPLATE_CATEGORY" val="diagram"/>
  <p:tag name="KSO_WM_TEMPLATE_INDEX" val="20185940"/>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 name="KSO_WM_UNIT_PLACING_PICTURE_USER_VIEWPORT" val="{&quot;height&quot;:881,&quot;width&quot;:1504}"/>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 name="KSO_WM_UNIT_PLACING_PICTURE_USER_VIEWPORT" val="{&quot;height&quot;:881,&quot;width&quot;:1504}"/>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 name="KSO_WM_UNIT_PLACING_PICTURE_USER_VIEWPORT" val="{&quot;height&quot;:881,&quot;width&quot;:1504}"/>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1.318"/>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459.xml><?xml version="1.0" encoding="utf-8"?>
<p:tagLst xmlns:p="http://schemas.openxmlformats.org/presentationml/2006/main">
  <p:tag name="KSO_WM_UNIT_PLACING_PICTURE_USER_VIEWPORT" val="{&quot;height&quot;:902.0149124702831,&quot;width&quot;:1055.2586872586871}"/>
</p:tagLst>
</file>

<file path=ppt/tags/tag460.xml><?xml version="1.0" encoding="utf-8"?>
<p:tagLst xmlns:p="http://schemas.openxmlformats.org/presentationml/2006/main">
  <p:tag name="KSO_WM_UNIT_PLACING_PICTURE_USER_VIEWPORT" val="{&quot;height&quot;:1322.2334125783445,&quot;width&quot;:1662.7088803088802}"/>
</p:tagLst>
</file>

<file path=ppt/tags/tag461.xml><?xml version="1.0" encoding="utf-8"?>
<p:tagLst xmlns:p="http://schemas.openxmlformats.org/presentationml/2006/main">
  <p:tag name="KSO_WM_BEAUTIFY_FLAG" val=""/>
  <p:tag name="KSO_WM_UNIT_PLACING_PICTURE_USER_VIEWPORT" val="{&quot;height&quot;:1322.2334125783445,&quot;width&quot;:1662.0324324324324}"/>
</p:tagLst>
</file>

<file path=ppt/tags/tag462.xml><?xml version="1.0" encoding="utf-8"?>
<p:tagLst xmlns:p="http://schemas.openxmlformats.org/presentationml/2006/main">
  <p:tag name="KSO_WM_BEAUTIFY_FLAG" val=""/>
  <p:tag name="KSO_WM_UNIT_PLACING_PICTURE_USER_VIEWPORT" val="{&quot;height&quot;:1322.2334125783445,&quot;width&quot;:1662.0324324324324}"/>
</p:tagLst>
</file>

<file path=ppt/tags/tag463.xml><?xml version="1.0" encoding="utf-8"?>
<p:tagLst xmlns:p="http://schemas.openxmlformats.org/presentationml/2006/main">
  <p:tag name="KSO_WM_BEAUTIFY_FLAG" val=""/>
  <p:tag name="KSO_WM_UNIT_PLACING_PICTURE_USER_VIEWPORT" val="{&quot;height&quot;:1322.2334125783445,&quot;width&quot;:1662.7088803088802}"/>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 name="KSO_WM_UNIT_PLACING_PICTURE_USER_VIEWPORT" val="{&quot;height&quot;:1401.3373365358955,&quot;width&quot;:1419.2496662216288}"/>
</p:tagLst>
</file>

<file path=ppt/tags/tag468.xml><?xml version="1.0" encoding="utf-8"?>
<p:tagLst xmlns:p="http://schemas.openxmlformats.org/presentationml/2006/main">
  <p:tag name="KSO_WM_BEAUTIFY_FLAG" val=""/>
  <p:tag name="KSO_WM_UNIT_PLACING_PICTURE_USER_VIEWPORT" val="{&quot;height&quot;:1401.3373365358955,&quot;width&quot;:1399.7715048636276}"/>
</p:tagLst>
</file>

<file path=ppt/tags/tag469.xml><?xml version="1.0" encoding="utf-8"?>
<p:tagLst xmlns:p="http://schemas.openxmlformats.org/presentationml/2006/main">
  <p:tag name="KSO_WM_BEAUTIFY_FLAG" val=""/>
  <p:tag name="KSO_WM_UNIT_PLACING_PICTURE_USER_VIEWPORT" val="{&quot;height&quot;:1401.3373365358955,&quot;width&quot;:1418.3642952508105}"/>
</p:tagLst>
</file>

<file path=ppt/tags/tag470.xml><?xml version="1.0" encoding="utf-8"?>
<p:tagLst xmlns:p="http://schemas.openxmlformats.org/presentationml/2006/main">
  <p:tag name="KSO_WM_BEAUTIFY_FLAG" val=""/>
  <p:tag name="KSO_WM_UNIT_PLACING_PICTURE_USER_VIEWPORT" val="{&quot;height&quot;:1401.3373365358955,&quot;width&quot;:1399.7715048636276}"/>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87_2*l_h_f*1_1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87_2*l_h_f*1_2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481.xml><?xml version="1.0" encoding="utf-8"?>
<p:tagLst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87_2*l_h_f*1_3_1"/>
  <p:tag name="KSO_WM_TEMPLATE_CATEGORY" val="diagram"/>
  <p:tag name="KSO_WM_TEMPLATE_INDEX" val="787"/>
  <p:tag name="KSO_WM_UNIT_LAYERLEVEL" val="1_1_1"/>
  <p:tag name="KSO_WM_TAG_VERSION" val="1.0"/>
  <p:tag name="KSO_WM_BEAUTIFY_FLAG" val=""/>
  <p:tag name="KSO_WM_UNIT_PRESET_TEXT" val="单击此处添加文本具体内容，简明扼要的阐述您的观点。根据需要可酌情增减文字"/>
  <p:tag name="KSO_WM_UNIT_TEXT_FILL_FORE_SCHEMECOLOR_INDEX" val="13"/>
  <p:tag name="KSO_WM_UNIT_TEXT_FILL_TYPE" val="1"/>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3.697|11.029"/>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OP_SCP_SHAPE_TYPE" val="Image"/>
  <p:tag name="OP_SCP_ITEM_INDEX" val="1"/>
</p:tagLst>
</file>

<file path=ppt/tags/tag514.xml><?xml version="1.0" encoding="utf-8"?>
<p:tagLst xmlns:p="http://schemas.openxmlformats.org/presentationml/2006/main">
  <p:tag name="OP_SCP_SHAPE_TYPE" val="Title"/>
  <p:tag name="OP_SCP_ITEM_INDEX" val="1"/>
  <p:tag name="OP_SCP_DEFAULT_TEXT" val="添加标题"/>
</p:tagLst>
</file>

<file path=ppt/tags/tag515.xml><?xml version="1.0" encoding="utf-8"?>
<p:tagLst xmlns:p="http://schemas.openxmlformats.org/presentationml/2006/main">
  <p:tag name="OP_SCP_SHAPE_TYPE" val="Body"/>
  <p:tag name="OP_SCP_ITEM_INDEX" val="1"/>
  <p:tag name="OP_SCP_DEFAULT_TEXT" val="单击此处添加文本，单击此处添加文本。"/>
</p:tagLst>
</file>

<file path=ppt/tags/tag516.xml><?xml version="1.0" encoding="utf-8"?>
<p:tagLst xmlns:p="http://schemas.openxmlformats.org/presentationml/2006/main">
  <p:tag name="OP_SCP_SHAPE_TYPE" val="Image"/>
  <p:tag name="OP_SCP_ITEM_INDEX" val="1"/>
</p:tagLst>
</file>

<file path=ppt/tags/tag517.xml><?xml version="1.0" encoding="utf-8"?>
<p:tagLst xmlns:p="http://schemas.openxmlformats.org/presentationml/2006/main">
  <p:tag name="OP_SCP_SHAPE_TYPE" val="Title"/>
  <p:tag name="OP_SCP_ITEM_INDEX" val="1"/>
  <p:tag name="OP_SCP_DEFAULT_TEXT" val="添加标题"/>
</p:tagLst>
</file>

<file path=ppt/tags/tag518.xml><?xml version="1.0" encoding="utf-8"?>
<p:tagLst xmlns:p="http://schemas.openxmlformats.org/presentationml/2006/main">
  <p:tag name="OP_SCP_SHAPE_TYPE" val="Body"/>
  <p:tag name="OP_SCP_ITEM_INDEX" val="1"/>
  <p:tag name="OP_SCP_DEFAULT_TEXT" val="单击此处添加文本，单击此处添加文本。"/>
</p:tagLst>
</file>

<file path=ppt/tags/tag519.xml><?xml version="1.0" encoding="utf-8"?>
<p:tagLst xmlns:p="http://schemas.openxmlformats.org/presentationml/2006/main">
  <p:tag name="KSO_WM_BEAUTIFY_FLAG" val="#wm#"/>
  <p:tag name="KSO_WM_TEMPLATE_CATEGORY" val="custom"/>
  <p:tag name="KSO_WM_TEMPLATE_INDEX" val="20205081"/>
  <p:tag name="TIMING" val="|20.004|7.503"/>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UNIT_TEXTBOXSTYLE_GUID" val="{180b372e-d0d3-4dd5-b652-56a1fe5b3a65}"/>
</p:tagLst>
</file>

<file path=ppt/tags/tag529.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18*i*1"/>
  <p:tag name="KSO_WM_TEMPLATE_CATEGORY" val="mixed"/>
  <p:tag name="KSO_WM_TEMPLATE_INDEX" val="20201941"/>
  <p:tag name="KSO_WM_UNIT_LAYERLEVEL" val="1"/>
  <p:tag name="KSO_WM_TAG_VERSION" val="1.0"/>
  <p:tag name="KSO_WM_BEAUTIFY_FLAG" val="#wm#"/>
  <p:tag name="KSO_WM_UNIT_TEXTBOXSTYLE_GUID" val="{180b372e-d0d3-4dd5-b652-56a1fe5b3a65}"/>
  <p:tag name="KSO_WM_UNIT_FILL_FORE_SCHEMECOLOR_INDEX_BRIGHTNESS" val="0"/>
  <p:tag name="KSO_WM_UNIT_FILL_FORE_SCHEMECOLOR_INDEX" val="14"/>
  <p:tag name="KSO_WM_UNIT_FILL_TYPE" val="1"/>
  <p:tag name="KSO_WM_UNIT_LINE_FORE_SCHEMECOLOR_INDEX_BRIGHTNESS" val="0.25"/>
  <p:tag name="KSO_WM_UNIT_LINE_FORE_SCHEMECOLOR_INDEX" val="13"/>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Lst>
</file>

<file path=ppt/tags/tag530.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18*i*2"/>
  <p:tag name="KSO_WM_TEMPLATE_CATEGORY" val="mixed"/>
  <p:tag name="KSO_WM_TEMPLATE_INDEX" val="20201941"/>
  <p:tag name="KSO_WM_UNIT_LAYERLEVEL" val="1"/>
  <p:tag name="KSO_WM_TAG_VERSION" val="1.0"/>
  <p:tag name="KSO_WM_BEAUTIFY_FLAG" val="#wm#"/>
  <p:tag name="KSO_WM_UNIT_TEXTBOXSTYLE_GUID" val="{180b372e-d0d3-4dd5-b652-56a1fe5b3a65}"/>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18*i*3"/>
  <p:tag name="KSO_WM_TEMPLATE_CATEGORY" val="mixed"/>
  <p:tag name="KSO_WM_TEMPLATE_INDEX" val="20201941"/>
  <p:tag name="KSO_WM_UNIT_LAYERLEVEL" val="1"/>
  <p:tag name="KSO_WM_TAG_VERSION" val="1.0"/>
  <p:tag name="KSO_WM_BEAUTIFY_FLAG" val="#wm#"/>
  <p:tag name="KSO_WM_UNIT_TEXT_FILL_FORE_SCHEMECOLOR_INDEX_BRIGHTNESS" val="0"/>
  <p:tag name="KSO_WM_UNIT_TEXT_FILL_FORE_SCHEMECOLOR_INDEX" val="2"/>
  <p:tag name="KSO_WM_UNIT_TEXT_FILL_TYPE"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18*i*4"/>
  <p:tag name="KSO_WM_TEMPLATE_CATEGORY" val="mixed"/>
  <p:tag name="KSO_WM_TEMPLATE_INDEX" val="2020194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33.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0;为了演示发布的良好效果，请言简意赅的阐述您的观点。&#10;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18*f*1"/>
  <p:tag name="KSO_WM_TEMPLATE_CATEGORY" val="mixed"/>
  <p:tag name="KSO_WM_TEMPLATE_INDEX" val="20201941"/>
  <p:tag name="KSO_WM_UNIT_LAYERLEVEL" val="1"/>
  <p:tag name="KSO_WM_TAG_VERSION" val="1.0"/>
  <p:tag name="KSO_WM_BEAUTIFY_FLAG" val="#wm#"/>
  <p:tag name="KSO_WM_UNIT_TEXTBOXSTYLE_GUID" val="{180b372e-d0d3-4dd5-b652-56a1fe5b3a65}"/>
  <p:tag name="KSO_WM_UNIT_TEXTBOXSTYLE_TYPE" val="8"/>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wm#"/>
  <p:tag name="KSO_WM_TEMPLATE_CATEGORY" val="custom"/>
  <p:tag name="KSO_WM_TEMPLATE_INDEX" val="20205081"/>
  <p:tag name="TIMING" val="|20.004|7.503"/>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UNIT_TABLE_BEAUTIFY" val="smartTable{3c00d0fa-c125-4f99-9f09-066c0097282e}"/>
  <p:tag name="TABLE_ENDDRAG_ORIGIN_RECT" val="531*51"/>
  <p:tag name="TABLE_ENDDRAG_RECT" val="386*298*532*51"/>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wm#"/>
  <p:tag name="KSO_WM_TEMPLATE_CATEGORY" val="custom"/>
  <p:tag name="KSO_WM_TEMPLATE_INDEX" val="20205081"/>
  <p:tag name="TIMING" val="|20.004|7.503"/>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25.921"/>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1.812|13.026|13.403|13.32|11.806|0.83|15.519|8.997"/>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 name="KSO_WM_UNIT_PLACING_PICTURE_USER_VIEWPORT" val="{&quot;height&quot;:881,&quot;width&quot;:1504}"/>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3.801|6.97|8.736|7.621|5.46|5.694"/>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DATA_TYPE" val="OfficePlusSmartComponent"/>
  <p:tag name="OP_SCP_TAG_VERSION" val="1.0"/>
  <p:tag name="OP_SCP_CHANGE_COLOR" val="N"/>
  <p:tag name="OP_SCP_COMPONENT_TYPE" val="Relation"/>
  <p:tag name="OP_SCP_CONTENT_ID" val="MatlComponentContent-3502"/>
  <p:tag name="OP_SCP_COMPONENT_INFO" val="{&quot;title&quot;:&quot;渐变4项流程坐标轴&quot;,&quot;description&quot;:&quot;蓝色,渐变,4项&quot;,&quot;keywords&quot;:[&quot;蓝色&quot;,&quot;渐变&quot;,&quot;4项&quot;],&quot;labels&quot;:[]}"/>
  <p:tag name="OP_SCP_GROUP_ID" val="465a46dd-083c-98b4-4aed-22f5d85469ba"/>
  <p:tag name="OP_SCP_ITEM_COUNT" val="4"/>
</p:tagLst>
</file>

<file path=ppt/tags/tag746.xml><?xml version="1.0" encoding="utf-8"?>
<p:tagLst xmlns:p="http://schemas.openxmlformats.org/presentationml/2006/main">
  <p:tag name="OP_SCP_SHAPE_TYPE" val="Body"/>
  <p:tag name="OP_SCP_ITEM_INDEX" val="1"/>
  <p:tag name="OP_SCP_DEFAULT_TEXT" val="单机此处添加标题&#10;单机此处添加标题&#10;单机此处添加标题"/>
</p:tagLst>
</file>

<file path=ppt/tags/tag747.xml><?xml version="1.0" encoding="utf-8"?>
<p:tagLst xmlns:p="http://schemas.openxmlformats.org/presentationml/2006/main">
  <p:tag name="OP_SCP_SHAPE_TYPE" val="Title"/>
  <p:tag name="OP_SCP_ITEM_INDEX" val="1"/>
  <p:tag name="OP_SCP_DEFAULT_TEXT" val="添加标题"/>
</p:tagLst>
</file>

<file path=ppt/tags/tag748.xml><?xml version="1.0" encoding="utf-8"?>
<p:tagLst xmlns:p="http://schemas.openxmlformats.org/presentationml/2006/main">
  <p:tag name="OP_SCP_SHAPE_TYPE" val="Body"/>
  <p:tag name="OP_SCP_ITEM_INDEX" val="3"/>
  <p:tag name="OP_SCP_DEFAULT_TEXT" val="单机此处添加标题&#10;单机此处添加标题&#10;单机此处添加标题"/>
</p:tagLst>
</file>

<file path=ppt/tags/tag749.xml><?xml version="1.0" encoding="utf-8"?>
<p:tagLst xmlns:p="http://schemas.openxmlformats.org/presentationml/2006/main">
  <p:tag name="OP_SCP_SHAPE_TYPE" val="Title"/>
  <p:tag name="OP_SCP_ITEM_INDEX" val="3"/>
  <p:tag name="OP_SCP_DEFAULT_TEXT" val="添加标题"/>
</p:tagLst>
</file>

<file path=ppt/tags/tag750.xml><?xml version="1.0" encoding="utf-8"?>
<p:tagLst xmlns:p="http://schemas.openxmlformats.org/presentationml/2006/main">
  <p:tag name="OP_SCP_SHAPE_TYPE" val="Body"/>
  <p:tag name="OP_SCP_ITEM_INDEX" val="4"/>
  <p:tag name="OP_SCP_DEFAULT_TEXT" val="单机此处添加标题&#10;单机此处添加标题&#10;单机此处添加标题"/>
</p:tagLst>
</file>

<file path=ppt/tags/tag751.xml><?xml version="1.0" encoding="utf-8"?>
<p:tagLst xmlns:p="http://schemas.openxmlformats.org/presentationml/2006/main">
  <p:tag name="OP_SCP_SHAPE_TYPE" val="Title"/>
  <p:tag name="OP_SCP_ITEM_INDEX" val="4"/>
  <p:tag name="OP_SCP_DEFAULT_TEXT" val="添加标题"/>
</p:tagLst>
</file>

<file path=ppt/tags/tag752.xml><?xml version="1.0" encoding="utf-8"?>
<p:tagLst xmlns:p="http://schemas.openxmlformats.org/presentationml/2006/main">
  <p:tag name="OP_SCP_SHAPE_TYPE" val="Body"/>
  <p:tag name="OP_SCP_ITEM_INDEX" val="2"/>
  <p:tag name="OP_SCP_DEFAULT_TEXT" val="单机此处添加标题&#10;单机此处添加标题&#10;单机此处添加标题"/>
</p:tagLst>
</file>

<file path=ppt/tags/tag753.xml><?xml version="1.0" encoding="utf-8"?>
<p:tagLst xmlns:p="http://schemas.openxmlformats.org/presentationml/2006/main">
  <p:tag name="OP_SCP_SHAPE_TYPE" val="Body"/>
  <p:tag name="OP_SCP_ITEM_INDEX" val="2"/>
  <p:tag name="OP_SCP_DEFAULT_TEXT" val="单机此处添加标题&#10;单机此处添加标题&#10;单机此处添加标题"/>
</p:tagLst>
</file>

<file path=ppt/tags/tag754.xml><?xml version="1.0" encoding="utf-8"?>
<p:tagLst xmlns:p="http://schemas.openxmlformats.org/presentationml/2006/main">
  <p:tag name="OP_SCP_SHAPE_TYPE" val="Title"/>
  <p:tag name="OP_SCP_ITEM_INDEX" val="2"/>
  <p:tag name="OP_SCP_DEFAULT_TEXT" val="添加标题"/>
</p:tagLst>
</file>

<file path=ppt/tags/tag75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TIMING" val="|3.801|6.97|8.736|7.621|5.46|5.694"/>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KSO_WM_BEAUTIFY_FLAG" val=""/>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M_BEAUTIFY_FLAG" val=""/>
</p:tagLst>
</file>

<file path=ppt/tags/tag772.xml><?xml version="1.0" encoding="utf-8"?>
<p:tagLst xmlns:p="http://schemas.openxmlformats.org/presentationml/2006/main">
  <p:tag name="KSO_WM_BEAUTIFY_FLAG" val=""/>
</p:tagLst>
</file>

<file path=ppt/tags/tag773.xml><?xml version="1.0" encoding="utf-8"?>
<p:tagLst xmlns:p="http://schemas.openxmlformats.org/presentationml/2006/main">
  <p:tag name="KSO_WM_BEAUTIFY_FLAG" val=""/>
</p:tagLst>
</file>

<file path=ppt/tags/tag774.xml><?xml version="1.0" encoding="utf-8"?>
<p:tagLst xmlns:p="http://schemas.openxmlformats.org/presentationml/2006/main">
  <p:tag name="KSO_WM_BEAUTIFY_FLAG" val=""/>
</p:tagLst>
</file>

<file path=ppt/tags/tag7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6.xml><?xml version="1.0" encoding="utf-8"?>
<p:tagLst xmlns:p="http://schemas.openxmlformats.org/presentationml/2006/main">
  <p:tag name="KSO_WM_BEAUTIFY_FLAG" val=""/>
</p:tagLst>
</file>

<file path=ppt/tags/tag777.xml><?xml version="1.0" encoding="utf-8"?>
<p:tagLst xmlns:p="http://schemas.openxmlformats.org/presentationml/2006/main">
  <p:tag name="KSO_WM_BEAUTIFY_FLAG" val=""/>
</p:tagLst>
</file>

<file path=ppt/tags/tag778.xml><?xml version="1.0" encoding="utf-8"?>
<p:tagLst xmlns:p="http://schemas.openxmlformats.org/presentationml/2006/main">
  <p:tag name="KSO_WM_BEAUTIFY_FLAG" val=""/>
</p:tagLst>
</file>

<file path=ppt/tags/tag779.xml><?xml version="1.0" encoding="utf-8"?>
<p:tagLst xmlns:p="http://schemas.openxmlformats.org/presentationml/2006/main">
  <p:tag name="KSO_WM_BEAUTIFY_FLAG" val=""/>
</p:tagLst>
</file>

<file path=ppt/tags/tag780.xml><?xml version="1.0" encoding="utf-8"?>
<p:tagLst xmlns:p="http://schemas.openxmlformats.org/presentationml/2006/main">
  <p:tag name="KSO_WM_BEAUTIFY_FLAG" val=""/>
</p:tagLst>
</file>

<file path=ppt/tags/tag781.xml><?xml version="1.0" encoding="utf-8"?>
<p:tagLst xmlns:p="http://schemas.openxmlformats.org/presentationml/2006/main">
  <p:tag name="KSO_WM_BEAUTIFY_FLAG" val=""/>
</p:tagLst>
</file>

<file path=ppt/tags/tag782.xml><?xml version="1.0" encoding="utf-8"?>
<p:tagLst xmlns:p="http://schemas.openxmlformats.org/presentationml/2006/main">
  <p:tag name="KSO_WM_BEAUTIFY_FLAG" val=""/>
</p:tagLst>
</file>

<file path=ppt/tags/tag783.xml><?xml version="1.0" encoding="utf-8"?>
<p:tagLst xmlns:p="http://schemas.openxmlformats.org/presentationml/2006/main">
  <p:tag name="KSO_WM_BEAUTIFY_FLAG" val=""/>
</p:tagLst>
</file>

<file path=ppt/tags/tag784.xml><?xml version="1.0" encoding="utf-8"?>
<p:tagLst xmlns:p="http://schemas.openxmlformats.org/presentationml/2006/main">
  <p:tag name="KSO_WM_BEAUTIFY_FLAG" val=""/>
</p:tagLst>
</file>

<file path=ppt/tags/tag785.xml><?xml version="1.0" encoding="utf-8"?>
<p:tagLst xmlns:p="http://schemas.openxmlformats.org/presentationml/2006/main">
  <p:tag name="KSO_WM_BEAUTIFY_FLAG" val=""/>
</p:tagLst>
</file>

<file path=ppt/tags/tag786.xml><?xml version="1.0" encoding="utf-8"?>
<p:tagLst xmlns:p="http://schemas.openxmlformats.org/presentationml/2006/main">
  <p:tag name="KSO_WM_BEAUTIFY_FLAG" val=""/>
</p:tagLst>
</file>

<file path=ppt/tags/tag787.xml><?xml version="1.0" encoding="utf-8"?>
<p:tagLst xmlns:p="http://schemas.openxmlformats.org/presentationml/2006/main">
  <p:tag name="KSO_WM_BEAUTIFY_FLAG" val=""/>
</p:tagLst>
</file>

<file path=ppt/tags/tag7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9.xml><?xml version="1.0" encoding="utf-8"?>
<p:tagLst xmlns:p="http://schemas.openxmlformats.org/presentationml/2006/main">
  <p:tag name="KSO_WM_BEAUTIFY_FLAG" val=""/>
</p:tagLst>
</file>

<file path=ppt/tags/tag790.xml><?xml version="1.0" encoding="utf-8"?>
<p:tagLst xmlns:p="http://schemas.openxmlformats.org/presentationml/2006/main">
  <p:tag name="KSO_WM_BEAUTIFY_FLAG" val=""/>
</p:tagLst>
</file>

<file path=ppt/tags/tag791.xml><?xml version="1.0" encoding="utf-8"?>
<p:tagLst xmlns:p="http://schemas.openxmlformats.org/presentationml/2006/main">
  <p:tag name="KSO_WM_BEAUTIFY_FLAG" val=""/>
</p:tagLst>
</file>

<file path=ppt/tags/tag792.xml><?xml version="1.0" encoding="utf-8"?>
<p:tagLst xmlns:p="http://schemas.openxmlformats.org/presentationml/2006/main">
  <p:tag name="KSO_WM_BEAUTIFY_FLAG" val=""/>
</p:tagLst>
</file>

<file path=ppt/tags/tag793.xml><?xml version="1.0" encoding="utf-8"?>
<p:tagLst xmlns:p="http://schemas.openxmlformats.org/presentationml/2006/main">
  <p:tag name="KSO_WM_BEAUTIFY_FLAG" val=""/>
</p:tagLst>
</file>

<file path=ppt/tags/tag794.xml><?xml version="1.0" encoding="utf-8"?>
<p:tagLst xmlns:p="http://schemas.openxmlformats.org/presentationml/2006/main">
  <p:tag name="KSO_WM_BEAUTIFY_FLAG" val=""/>
</p:tagLst>
</file>

<file path=ppt/tags/tag795.xml><?xml version="1.0" encoding="utf-8"?>
<p:tagLst xmlns:p="http://schemas.openxmlformats.org/presentationml/2006/main">
  <p:tag name="KSO_WM_BEAUTIFY_FLAG" val=""/>
</p:tagLst>
</file>

<file path=ppt/tags/tag796.xml><?xml version="1.0" encoding="utf-8"?>
<p:tagLst xmlns:p="http://schemas.openxmlformats.org/presentationml/2006/main">
  <p:tag name="KSO_WM_BEAUTIFY_FLAG" val=""/>
</p:tagLst>
</file>

<file path=ppt/tags/tag797.xml><?xml version="1.0" encoding="utf-8"?>
<p:tagLst xmlns:p="http://schemas.openxmlformats.org/presentationml/2006/main">
  <p:tag name="KSO_WM_BEAUTIFY_FLAG" val=""/>
</p:tagLst>
</file>

<file path=ppt/tags/tag798.xml><?xml version="1.0" encoding="utf-8"?>
<p:tagLst xmlns:p="http://schemas.openxmlformats.org/presentationml/2006/main">
  <p:tag name="KSO_WM_BEAUTIFY_FLAG" val=""/>
</p:tagLst>
</file>

<file path=ppt/tags/tag799.xml><?xml version="1.0" encoding="utf-8"?>
<p:tagLst xmlns:p="http://schemas.openxmlformats.org/presentationml/2006/main">
  <p:tag name="KSO_WM_BEAUTIFY_FLAG" val=""/>
</p:tagLst>
</file>

<file path=ppt/tags/tag800.xml><?xml version="1.0" encoding="utf-8"?>
<p:tagLst xmlns:p="http://schemas.openxmlformats.org/presentationml/2006/main">
  <p:tag name="KSO_WM_BEAUTIFY_FLAG" val=""/>
</p:tagLst>
</file>

<file path=ppt/tags/tag80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2.xml><?xml version="1.0" encoding="utf-8"?>
<p:tagLst xmlns:p="http://schemas.openxmlformats.org/presentationml/2006/main">
  <p:tag name="KSO_WM_BEAUTIFY_FLAG" val=""/>
</p:tagLst>
</file>

<file path=ppt/tags/tag803.xml><?xml version="1.0" encoding="utf-8"?>
<p:tagLst xmlns:p="http://schemas.openxmlformats.org/presentationml/2006/main">
  <p:tag name="KSO_WM_BEAUTIFY_FLAG" val=""/>
</p:tagLst>
</file>

<file path=ppt/tags/tag804.xml><?xml version="1.0" encoding="utf-8"?>
<p:tagLst xmlns:p="http://schemas.openxmlformats.org/presentationml/2006/main">
  <p:tag name="KSO_WM_BEAUTIFY_FLAG" val=""/>
</p:tagLst>
</file>

<file path=ppt/tags/tag805.xml><?xml version="1.0" encoding="utf-8"?>
<p:tagLst xmlns:p="http://schemas.openxmlformats.org/presentationml/2006/main">
  <p:tag name="KSO_WM_BEAUTIFY_FLAG" val=""/>
</p:tagLst>
</file>

<file path=ppt/tags/tag806.xml><?xml version="1.0" encoding="utf-8"?>
<p:tagLst xmlns:p="http://schemas.openxmlformats.org/presentationml/2006/main">
  <p:tag name="KSO_WM_BEAUTIFY_FLAG" val=""/>
</p:tagLst>
</file>

<file path=ppt/tags/tag807.xml><?xml version="1.0" encoding="utf-8"?>
<p:tagLst xmlns:p="http://schemas.openxmlformats.org/presentationml/2006/main">
  <p:tag name="KSO_WM_BEAUTIFY_FLAG" val=""/>
</p:tagLst>
</file>

<file path=ppt/tags/tag808.xml><?xml version="1.0" encoding="utf-8"?>
<p:tagLst xmlns:p="http://schemas.openxmlformats.org/presentationml/2006/main">
  <p:tag name="KSO_WM_BEAUTIFY_FLAG" val=""/>
</p:tagLst>
</file>

<file path=ppt/tags/tag809.xml><?xml version="1.0" encoding="utf-8"?>
<p:tagLst xmlns:p="http://schemas.openxmlformats.org/presentationml/2006/main">
  <p:tag name="KSO_WM_BEAUTIFY_FLAG" val=""/>
</p:tagLst>
</file>

<file path=ppt/tags/tag810.xml><?xml version="1.0" encoding="utf-8"?>
<p:tagLst xmlns:p="http://schemas.openxmlformats.org/presentationml/2006/main">
  <p:tag name="KSO_WM_BEAUTIFY_FLAG" val=""/>
</p:tagLst>
</file>

<file path=ppt/tags/tag811.xml><?xml version="1.0" encoding="utf-8"?>
<p:tagLst xmlns:p="http://schemas.openxmlformats.org/presentationml/2006/main">
  <p:tag name="KSO_WM_BEAUTIFY_FLAG" val=""/>
</p:tagLst>
</file>

<file path=ppt/tags/tag812.xml><?xml version="1.0" encoding="utf-8"?>
<p:tagLst xmlns:p="http://schemas.openxmlformats.org/presentationml/2006/main">
  <p:tag name="KSO_WM_BEAUTIFY_FLAG" val=""/>
</p:tagLst>
</file>

<file path=ppt/tags/tag813.xml><?xml version="1.0" encoding="utf-8"?>
<p:tagLst xmlns:p="http://schemas.openxmlformats.org/presentationml/2006/main">
  <p:tag name="KSO_WM_BEAUTIFY_FLAG" val=""/>
</p:tagLst>
</file>

<file path=ppt/tags/tag8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5.xml><?xml version="1.0" encoding="utf-8"?>
<p:tagLst xmlns:p="http://schemas.openxmlformats.org/presentationml/2006/main">
  <p:tag name="KSO_WM_BEAUTIFY_FLAG" val=""/>
</p:tagLst>
</file>

<file path=ppt/tags/tag816.xml><?xml version="1.0" encoding="utf-8"?>
<p:tagLst xmlns:p="http://schemas.openxmlformats.org/presentationml/2006/main">
  <p:tag name="KSO_WM_BEAUTIFY_FLAG" val=""/>
</p:tagLst>
</file>

<file path=ppt/tags/tag817.xml><?xml version="1.0" encoding="utf-8"?>
<p:tagLst xmlns:p="http://schemas.openxmlformats.org/presentationml/2006/main">
  <p:tag name="KSO_WM_BEAUTIFY_FLAG" val=""/>
</p:tagLst>
</file>

<file path=ppt/tags/tag818.xml><?xml version="1.0" encoding="utf-8"?>
<p:tagLst xmlns:p="http://schemas.openxmlformats.org/presentationml/2006/main">
  <p:tag name="KSO_WM_BEAUTIFY_FLAG" val=""/>
</p:tagLst>
</file>

<file path=ppt/tags/tag819.xml><?xml version="1.0" encoding="utf-8"?>
<p:tagLst xmlns:p="http://schemas.openxmlformats.org/presentationml/2006/main">
  <p:tag name="KSO_WM_BEAUTIFY_FLAG" val=""/>
  <p:tag name="KSO_WM_UNIT_PLACING_PICTURE_USER_VIEWPORT" val="{&quot;height&quot;:881,&quot;width&quot;:1504}"/>
</p:tagLst>
</file>

<file path=ppt/tags/tag820.xml><?xml version="1.0" encoding="utf-8"?>
<p:tagLst xmlns:p="http://schemas.openxmlformats.org/presentationml/2006/main">
  <p:tag name="KSO_WM_BEAUTIFY_FLAG" val=""/>
</p:tagLst>
</file>

<file path=ppt/tags/tag821.xml><?xml version="1.0" encoding="utf-8"?>
<p:tagLst xmlns:p="http://schemas.openxmlformats.org/presentationml/2006/main">
  <p:tag name="KSO_WM_BEAUTIFY_FLAG" val=""/>
</p:tagLst>
</file>

<file path=ppt/tags/tag822.xml><?xml version="1.0" encoding="utf-8"?>
<p:tagLst xmlns:p="http://schemas.openxmlformats.org/presentationml/2006/main">
  <p:tag name="KSO_WM_BEAUTIFY_FLAG" val=""/>
</p:tagLst>
</file>

<file path=ppt/tags/tag823.xml><?xml version="1.0" encoding="utf-8"?>
<p:tagLst xmlns:p="http://schemas.openxmlformats.org/presentationml/2006/main">
  <p:tag name="KSO_WM_BEAUTIFY_FLAG" val=""/>
</p:tagLst>
</file>

<file path=ppt/tags/tag82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5.xml><?xml version="1.0" encoding="utf-8"?>
<p:tagLst xmlns:p="http://schemas.openxmlformats.org/presentationml/2006/main">
  <p:tag name="KSO_WM_BEAUTIFY_FLAG" val=""/>
</p:tagLst>
</file>

<file path=ppt/tags/tag826.xml><?xml version="1.0" encoding="utf-8"?>
<p:tagLst xmlns:p="http://schemas.openxmlformats.org/presentationml/2006/main">
  <p:tag name="KSO_WM_BEAUTIFY_FLAG" val=""/>
</p:tagLst>
</file>

<file path=ppt/tags/tag827.xml><?xml version="1.0" encoding="utf-8"?>
<p:tagLst xmlns:p="http://schemas.openxmlformats.org/presentationml/2006/main">
  <p:tag name="KSO_WM_BEAUTIFY_FLAG" val=""/>
</p:tagLst>
</file>

<file path=ppt/tags/tag828.xml><?xml version="1.0" encoding="utf-8"?>
<p:tagLst xmlns:p="http://schemas.openxmlformats.org/presentationml/2006/main">
  <p:tag name="KSO_WM_BEAUTIFY_FLAG" val=""/>
</p:tagLst>
</file>

<file path=ppt/tags/tag829.xml><?xml version="1.0" encoding="utf-8"?>
<p:tagLst xmlns:p="http://schemas.openxmlformats.org/presentationml/2006/main">
  <p:tag name="KSO_WM_BEAUTIFY_FLAG" val=""/>
</p:tagLst>
</file>

<file path=ppt/tags/tag830.xml><?xml version="1.0" encoding="utf-8"?>
<p:tagLst xmlns:p="http://schemas.openxmlformats.org/presentationml/2006/main">
  <p:tag name="KSO_WM_BEAUTIFY_FLAG" val=""/>
</p:tagLst>
</file>

<file path=ppt/tags/tag831.xml><?xml version="1.0" encoding="utf-8"?>
<p:tagLst xmlns:p="http://schemas.openxmlformats.org/presentationml/2006/main">
  <p:tag name="KSO_WM_BEAUTIFY_FLAG" val=""/>
</p:tagLst>
</file>

<file path=ppt/tags/tag8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3.xml><?xml version="1.0" encoding="utf-8"?>
<p:tagLst xmlns:p="http://schemas.openxmlformats.org/presentationml/2006/main">
  <p:tag name="KSO_WM_BEAUTIFY_FLAG" val=""/>
</p:tagLst>
</file>

<file path=ppt/tags/tag834.xml><?xml version="1.0" encoding="utf-8"?>
<p:tagLst xmlns:p="http://schemas.openxmlformats.org/presentationml/2006/main">
  <p:tag name="KSO_WM_BEAUTIFY_FLAG" val=""/>
</p:tagLst>
</file>

<file path=ppt/tags/tag835.xml><?xml version="1.0" encoding="utf-8"?>
<p:tagLst xmlns:p="http://schemas.openxmlformats.org/presentationml/2006/main">
  <p:tag name="KSO_WM_BEAUTIFY_FLAG" val=""/>
</p:tagLst>
</file>

<file path=ppt/tags/tag836.xml><?xml version="1.0" encoding="utf-8"?>
<p:tagLst xmlns:p="http://schemas.openxmlformats.org/presentationml/2006/main">
  <p:tag name="KSO_WM_BEAUTIFY_FLAG" val=""/>
</p:tagLst>
</file>

<file path=ppt/tags/tag837.xml><?xml version="1.0" encoding="utf-8"?>
<p:tagLst xmlns:p="http://schemas.openxmlformats.org/presentationml/2006/main">
  <p:tag name="KSO_WM_BEAUTIFY_FLAG" val=""/>
</p:tagLst>
</file>

<file path=ppt/tags/tag838.xml><?xml version="1.0" encoding="utf-8"?>
<p:tagLst xmlns:p="http://schemas.openxmlformats.org/presentationml/2006/main">
  <p:tag name="KSO_WM_BEAUTIFY_FLAG" val=""/>
</p:tagLst>
</file>

<file path=ppt/tags/tag8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0.xml><?xml version="1.0" encoding="utf-8"?>
<p:tagLst xmlns:p="http://schemas.openxmlformats.org/presentationml/2006/main">
  <p:tag name="KSO_WM_BEAUTIFY_FLAG" val=""/>
</p:tagLst>
</file>

<file path=ppt/tags/tag841.xml><?xml version="1.0" encoding="utf-8"?>
<p:tagLst xmlns:p="http://schemas.openxmlformats.org/presentationml/2006/main">
  <p:tag name="KSO_WM_BEAUTIFY_FLAG" val=""/>
</p:tagLst>
</file>

<file path=ppt/tags/tag842.xml><?xml version="1.0" encoding="utf-8"?>
<p:tagLst xmlns:p="http://schemas.openxmlformats.org/presentationml/2006/main">
  <p:tag name="KSO_WM_BEAUTIFY_FLAG" val=""/>
</p:tagLst>
</file>

<file path=ppt/tags/tag843.xml><?xml version="1.0" encoding="utf-8"?>
<p:tagLst xmlns:p="http://schemas.openxmlformats.org/presentationml/2006/main">
  <p:tag name="KSO_WM_BEAUTIFY_FLAG" val=""/>
</p:tagLst>
</file>

<file path=ppt/tags/tag844.xml><?xml version="1.0" encoding="utf-8"?>
<p:tagLst xmlns:p="http://schemas.openxmlformats.org/presentationml/2006/main">
  <p:tag name="KSO_WM_BEAUTIFY_FLAG" val=""/>
</p:tagLst>
</file>

<file path=ppt/tags/tag845.xml><?xml version="1.0" encoding="utf-8"?>
<p:tagLst xmlns:p="http://schemas.openxmlformats.org/presentationml/2006/main">
  <p:tag name="KSO_WM_BEAUTIFY_FLAG" val=""/>
</p:tagLst>
</file>

<file path=ppt/tags/tag846.xml><?xml version="1.0" encoding="utf-8"?>
<p:tagLst xmlns:p="http://schemas.openxmlformats.org/presentationml/2006/main">
  <p:tag name="KSO_WM_BEAUTIFY_FLAG" val=""/>
</p:tagLst>
</file>

<file path=ppt/tags/tag847.xml><?xml version="1.0" encoding="utf-8"?>
<p:tagLst xmlns:p="http://schemas.openxmlformats.org/presentationml/2006/main">
  <p:tag name="KSO_WM_BEAUTIFY_FLAG" val=""/>
</p:tagLst>
</file>

<file path=ppt/tags/tag848.xml><?xml version="1.0" encoding="utf-8"?>
<p:tagLst xmlns:p="http://schemas.openxmlformats.org/presentationml/2006/main">
  <p:tag name="KSO_WM_BEAUTIFY_FLAG" val=""/>
</p:tagLst>
</file>

<file path=ppt/tags/tag849.xml><?xml version="1.0" encoding="utf-8"?>
<p:tagLst xmlns:p="http://schemas.openxmlformats.org/presentationml/2006/main">
  <p:tag name="KSO_WM_BEAUTIFY_FLAG" val=""/>
</p:tagLst>
</file>

<file path=ppt/tags/tag850.xml><?xml version="1.0" encoding="utf-8"?>
<p:tagLst xmlns:p="http://schemas.openxmlformats.org/presentationml/2006/main">
  <p:tag name="KSO_WM_BEAUTIFY_FLAG" val=""/>
</p:tagLst>
</file>

<file path=ppt/tags/tag851.xml><?xml version="1.0" encoding="utf-8"?>
<p:tagLst xmlns:p="http://schemas.openxmlformats.org/presentationml/2006/main">
  <p:tag name="KSO_WM_BEAUTIFY_FLAG" val=""/>
</p:tagLst>
</file>

<file path=ppt/tags/tag852.xml><?xml version="1.0" encoding="utf-8"?>
<p:tagLst xmlns:p="http://schemas.openxmlformats.org/presentationml/2006/main">
  <p:tag name="KSO_WM_BEAUTIFY_FLAG" val=""/>
</p:tagLst>
</file>

<file path=ppt/tags/tag853.xml><?xml version="1.0" encoding="utf-8"?>
<p:tagLst xmlns:p="http://schemas.openxmlformats.org/presentationml/2006/main">
  <p:tag name="KSO_WM_BEAUTIFY_FLAG" val=""/>
</p:tagLst>
</file>

<file path=ppt/tags/tag854.xml><?xml version="1.0" encoding="utf-8"?>
<p:tagLst xmlns:p="http://schemas.openxmlformats.org/presentationml/2006/main">
  <p:tag name="KSO_WM_BEAUTIFY_FLAG" val=""/>
</p:tagLst>
</file>

<file path=ppt/tags/tag855.xml><?xml version="1.0" encoding="utf-8"?>
<p:tagLst xmlns:p="http://schemas.openxmlformats.org/presentationml/2006/main">
  <p:tag name="KSO_WM_BEAUTIFY_FLAG" val=""/>
</p:tagLst>
</file>

<file path=ppt/tags/tag856.xml><?xml version="1.0" encoding="utf-8"?>
<p:tagLst xmlns:p="http://schemas.openxmlformats.org/presentationml/2006/main">
  <p:tag name="KSO_WM_BEAUTIFY_FLAG" val=""/>
</p:tagLst>
</file>

<file path=ppt/tags/tag857.xml><?xml version="1.0" encoding="utf-8"?>
<p:tagLst xmlns:p="http://schemas.openxmlformats.org/presentationml/2006/main">
  <p:tag name="KSO_WM_BEAUTIFY_FLAG" val=""/>
</p:tagLst>
</file>

<file path=ppt/tags/tag858.xml><?xml version="1.0" encoding="utf-8"?>
<p:tagLst xmlns:p="http://schemas.openxmlformats.org/presentationml/2006/main">
  <p:tag name="KSO_WM_BEAUTIFY_FLAG" val=""/>
</p:tagLst>
</file>

<file path=ppt/tags/tag859.xml><?xml version="1.0" encoding="utf-8"?>
<p:tagLst xmlns:p="http://schemas.openxmlformats.org/presentationml/2006/main">
  <p:tag name="KSO_WM_BEAUTIFY_FLAG" val=""/>
</p:tagLst>
</file>

<file path=ppt/tags/tag860.xml><?xml version="1.0" encoding="utf-8"?>
<p:tagLst xmlns:p="http://schemas.openxmlformats.org/presentationml/2006/main">
  <p:tag name="KSO_WM_BEAUTIFY_FLAG" val=""/>
</p:tagLst>
</file>

<file path=ppt/tags/tag861.xml><?xml version="1.0" encoding="utf-8"?>
<p:tagLst xmlns:p="http://schemas.openxmlformats.org/presentationml/2006/main">
  <p:tag name="KSO_WM_BEAUTIFY_FLAG" val=""/>
</p:tagLst>
</file>

<file path=ppt/tags/tag862.xml><?xml version="1.0" encoding="utf-8"?>
<p:tagLst xmlns:p="http://schemas.openxmlformats.org/presentationml/2006/main">
  <p:tag name="KSO_WM_BEAUTIFY_FLAG" val=""/>
</p:tagLst>
</file>

<file path=ppt/tags/tag863.xml><?xml version="1.0" encoding="utf-8"?>
<p:tagLst xmlns:p="http://schemas.openxmlformats.org/presentationml/2006/main">
  <p:tag name="KSO_WM_BEAUTIFY_FLAG" val=""/>
</p:tagLst>
</file>

<file path=ppt/tags/tag8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5.xml><?xml version="1.0" encoding="utf-8"?>
<p:tagLst xmlns:p="http://schemas.openxmlformats.org/presentationml/2006/main">
  <p:tag name="KSO_WM_BEAUTIFY_FLAG" val=""/>
  <p:tag name="KSO_WM_UNIT_PLACING_PICTURE_USER_VIEWPORT" val="{&quot;height&quot;:881,&quot;width&quot;:1504}"/>
</p:tagLst>
</file>

<file path=ppt/tags/tag866.xml><?xml version="1.0" encoding="utf-8"?>
<p:tagLst xmlns:p="http://schemas.openxmlformats.org/presentationml/2006/main">
  <p:tag name="KSO_WM_BEAUTIFY_FLAG" val=""/>
</p:tagLst>
</file>

<file path=ppt/tags/tag8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8.xml><?xml version="1.0" encoding="utf-8"?>
<p:tagLst xmlns:p="http://schemas.openxmlformats.org/presentationml/2006/main">
  <p:tag name="COMMONDATA" val="eyJoZGlkIjoiNDkxYTViYTE5M2M4ZGVlNmQ2NmQ5M2RhZDhjNmY4NjYifQ=="/>
  <p:tag name="KSO_WPP_MARK_KEY" val="8c6ff8f2-d2a6-4ef2-8f4b-35906fe5544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10578</Words>
  <Application>WPS 演示</Application>
  <PresentationFormat>宽屏</PresentationFormat>
  <Paragraphs>933</Paragraphs>
  <Slides>54</Slides>
  <Notes>31</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54</vt:i4>
      </vt:variant>
    </vt:vector>
  </HeadingPairs>
  <TitlesOfParts>
    <vt:vector size="66" baseType="lpstr">
      <vt:lpstr>Arial</vt:lpstr>
      <vt:lpstr>宋体</vt:lpstr>
      <vt:lpstr>Wingdings</vt:lpstr>
      <vt:lpstr>Wingdings</vt:lpstr>
      <vt:lpstr>微软雅黑</vt:lpstr>
      <vt:lpstr>黑体</vt:lpstr>
      <vt:lpstr>Arial Unicode MS</vt:lpstr>
      <vt:lpstr>Calibri</vt:lpstr>
      <vt:lpstr>Segoe UI</vt:lpstr>
      <vt:lpstr>Cambria Math</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taq</dc:creator>
  <cp:lastModifiedBy>风雨中行走</cp:lastModifiedBy>
  <cp:revision>726</cp:revision>
  <dcterms:created xsi:type="dcterms:W3CDTF">2019-06-19T02:08:00Z</dcterms:created>
  <dcterms:modified xsi:type="dcterms:W3CDTF">2026-06-24T16:18:09Z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EC2061831A4A4ACDA986A104407D2185_13</vt:lpwstr>
  </property>
</Properties>
</file>