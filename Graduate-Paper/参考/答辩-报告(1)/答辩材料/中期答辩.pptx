
<file path=[Content_Types].xml><?xml version="1.0" encoding="utf-8"?>
<Types xmlns="http://schemas.openxmlformats.org/package/2006/content-types">
  <Default Extension="png" ContentType="image/png"/>
  <Default Extension="wdp" ContentType="image/vnd.ms-photo"/>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305" r:id="rId3"/>
    <p:sldId id="259" r:id="rId5"/>
    <p:sldId id="260" r:id="rId6"/>
    <p:sldId id="263" r:id="rId7"/>
    <p:sldId id="268" r:id="rId8"/>
    <p:sldId id="271" r:id="rId9"/>
    <p:sldId id="272" r:id="rId10"/>
    <p:sldId id="274" r:id="rId11"/>
    <p:sldId id="276" r:id="rId12"/>
    <p:sldId id="277" r:id="rId13"/>
    <p:sldId id="280" r:id="rId14"/>
    <p:sldId id="279" r:id="rId15"/>
    <p:sldId id="313" r:id="rId16"/>
    <p:sldId id="314" r:id="rId17"/>
    <p:sldId id="288" r:id="rId18"/>
    <p:sldId id="316" r:id="rId19"/>
    <p:sldId id="317" r:id="rId20"/>
    <p:sldId id="315" r:id="rId21"/>
    <p:sldId id="318" r:id="rId22"/>
    <p:sldId id="319" r:id="rId23"/>
    <p:sldId id="320" r:id="rId24"/>
    <p:sldId id="321" r:id="rId25"/>
    <p:sldId id="323" r:id="rId26"/>
    <p:sldId id="324" r:id="rId27"/>
    <p:sldId id="325" r:id="rId28"/>
    <p:sldId id="294" r:id="rId29"/>
    <p:sldId id="287" r:id="rId30"/>
    <p:sldId id="302" r:id="rId31"/>
    <p:sldId id="307" r:id="rId32"/>
    <p:sldId id="301" r:id="rId33"/>
    <p:sldId id="312" r:id="rId34"/>
  </p:sldIdLst>
  <p:sldSz cx="9144000" cy="5143500" type="screen16x9"/>
  <p:notesSz cx="6858000" cy="9144000"/>
  <p:custDataLst>
    <p:tags r:id="rId3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0" userDrawn="1">
          <p15:clr>
            <a:srgbClr val="A4A3A4"/>
          </p15:clr>
        </p15:guide>
        <p15:guide id="2" pos="29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79E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2" autoAdjust="0"/>
    <p:restoredTop sz="94659" autoAdjust="0"/>
  </p:normalViewPr>
  <p:slideViewPr>
    <p:cSldViewPr showGuides="1">
      <p:cViewPr varScale="1">
        <p:scale>
          <a:sx n="88" d="100"/>
          <a:sy n="88" d="100"/>
        </p:scale>
        <p:origin x="656" y="56"/>
      </p:cViewPr>
      <p:guideLst>
        <p:guide orient="horz"/>
        <p:guide pos="2907"/>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8" Type="http://schemas.openxmlformats.org/officeDocument/2006/relationships/tags" Target="tags/tag188.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491C0ED-1C8B-4FF3-91A6-E652895D463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66ED419-5B3F-423C-8358-46E41EBE13C9}"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Rot="1" noChangeAspect="1" noChangeArrowheads="1" noTextEdit="1"/>
          </p:cNvSpPr>
          <p:nvPr>
            <p:ph type="sldImg"/>
          </p:nvPr>
        </p:nvSpPr>
        <p:spPr/>
      </p:sp>
      <p:sp>
        <p:nvSpPr>
          <p:cNvPr id="1945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简单介绍，举个例子就过</a:t>
            </a:r>
            <a:endParaRPr lang="zh-CN" altLang="en-US"/>
          </a:p>
          <a:p>
            <a:endParaRPr lang="zh-CN" altLang="en-US"/>
          </a:p>
          <a:p>
            <a:r>
              <a:rPr lang="zh-CN" altLang="en-US"/>
              <a:t>在互联网早期，用户访问一个网站，就需要注册一个账号，设置一个密码。随着在线服务的迅猛发展，越来越多的网站、应用、企业系统相继上线，人们不得不为每一个服务单独创建账号。工作用邮箱一个密码，报销系统一个密码，文件共享平台又是另一个密码；而在个人生活中，从社交媒体到购物平台，几乎每个地方都要</a:t>
            </a:r>
            <a:r>
              <a:rPr lang="en-US" altLang="zh-CN"/>
              <a:t>“</a:t>
            </a:r>
            <a:r>
              <a:rPr lang="zh-CN" altLang="en-US"/>
              <a:t>注册</a:t>
            </a:r>
            <a:r>
              <a:rPr lang="en-US" altLang="zh-CN"/>
              <a:t>-</a:t>
            </a:r>
            <a:r>
              <a:rPr lang="zh-CN" altLang="en-US"/>
              <a:t>登录</a:t>
            </a:r>
            <a:r>
              <a:rPr lang="en-US" altLang="zh-CN"/>
              <a:t>”</a:t>
            </a:r>
            <a:r>
              <a:rPr lang="zh-CN" altLang="en-US"/>
              <a:t>这一套流程。</a:t>
            </a:r>
            <a:endParaRPr lang="zh-CN" altLang="en-US"/>
          </a:p>
          <a:p>
            <a:endParaRPr lang="en-US" altLang="zh-CN"/>
          </a:p>
          <a:p>
            <a:r>
              <a:rPr lang="zh-CN" altLang="en-US"/>
              <a:t>很快，问题显现出来了：用户要么设置一堆容易忘记的复杂密码，要么干脆多个系统共用同一个弱密码，安全性大打折扣。频繁地登录、切换账号也让体验变得烦琐低效。对于企业管理员来说，管理成千上万个用户账号、处理重置密码请求、应对权限分散等问题也变得日益繁重。</a:t>
            </a:r>
            <a:endParaRPr lang="zh-CN" altLang="en-US"/>
          </a:p>
          <a:p>
            <a:endParaRPr lang="en-US" altLang="zh-CN"/>
          </a:p>
          <a:p>
            <a:r>
              <a:rPr lang="zh-CN" altLang="en-US"/>
              <a:t>在这样的背景下，单点登录（</a:t>
            </a:r>
            <a:r>
              <a:rPr lang="en-US" altLang="zh-CN"/>
              <a:t>Single Sign-On</a:t>
            </a:r>
            <a:r>
              <a:rPr lang="zh-CN" altLang="en-US"/>
              <a:t>，</a:t>
            </a:r>
            <a:r>
              <a:rPr lang="en-US" altLang="zh-CN"/>
              <a:t>SSO</a:t>
            </a:r>
            <a:r>
              <a:rPr lang="zh-CN" altLang="en-US"/>
              <a:t>）应运而生。它的目标很明确：只登录一次，畅通所有服务。通过建立一个统一的身份认证中心，用户只需输入一次用户名和密码，系统就会在后台完成对多个相关系统的身份传递，从而实现一次登录，多点通行。</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第三，在新的复杂授权链路运行场景下，需要协议化体系化的授权管理</a:t>
            </a:r>
            <a:endParaRPr lang="zh-CN" altLang="en-US" dirty="0"/>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过去十年已经有许多研究聚焦于</a:t>
            </a:r>
            <a:r>
              <a:rPr lang="en-US" altLang="zh-CN"/>
              <a:t>OAuth</a:t>
            </a:r>
            <a:r>
              <a:rPr lang="zh-CN" altLang="en-US"/>
              <a:t>协议在实现上存在的问题，也发现了许多因为实现不严谨导致的安全风险和漏洞</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t>在当前的授权生态中，由于引入了许多新的应用场景，在其中也已经被发现存在各种不足，一些现实问题影响了授权安全</a:t>
            </a:r>
            <a:endParaRPr lang="zh-CN"/>
          </a:p>
        </p:txBody>
      </p:sp>
      <p:sp>
        <p:nvSpPr>
          <p:cNvPr id="4" name="灯片编号占位符 3"/>
          <p:cNvSpPr>
            <a:spLocks noGrp="1"/>
          </p:cNvSpPr>
          <p:nvPr>
            <p:ph type="sldNum" sz="quarter" idx="10"/>
          </p:nvPr>
        </p:nvSpPr>
        <p:spPr/>
        <p:txBody>
          <a:bodyPr/>
          <a:lstStyle/>
          <a:p>
            <a:fld id="{A11FC198-2D83-4DFC-8CDD-7D23AF44D411}" type="slidenum">
              <a:rPr lang="zh-CN" altLang="en-US" smtClean="0"/>
            </a:fld>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 </a:t>
            </a:r>
            <a:r>
              <a:rPr lang="zh-CN" altLang="en-US"/>
              <a:t>针对</a:t>
            </a:r>
            <a:r>
              <a:rPr lang="en-US" altLang="zh-CN"/>
              <a:t> MCP </a:t>
            </a:r>
            <a:r>
              <a:rPr lang="zh-CN" altLang="en-US"/>
              <a:t>原生授权模型的不足，本文拟提出一种以</a:t>
            </a:r>
            <a:r>
              <a:rPr lang="en-US" altLang="zh-CN"/>
              <a:t> Gateway </a:t>
            </a:r>
            <a:r>
              <a:rPr lang="zh-CN" altLang="en-US"/>
              <a:t>为核心的</a:t>
            </a:r>
            <a:r>
              <a:rPr lang="en-US" altLang="zh-CN"/>
              <a:t> MCP-AuthZ</a:t>
            </a:r>
            <a:r>
              <a:rPr lang="zh-CN" altLang="en-US"/>
              <a:t>授权增强架构。该架构在保持</a:t>
            </a:r>
            <a:r>
              <a:rPr lang="en-US" altLang="zh-CN"/>
              <a:t> MCP </a:t>
            </a:r>
            <a:r>
              <a:rPr lang="zh-CN" altLang="en-US"/>
              <a:t>协议兼容性的前提下，引入统一的授权控制点，用于集中处理</a:t>
            </a:r>
            <a:r>
              <a:rPr lang="en-US" altLang="zh-CN"/>
              <a:t> OAuth </a:t>
            </a:r>
            <a:r>
              <a:rPr lang="zh-CN" altLang="en-US"/>
              <a:t>授权相关的安全逻辑。主要研究内容包括</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在理论分析层面，本文已完成对</a:t>
            </a:r>
            <a:r>
              <a:rPr lang="en-US" altLang="zh-CN"/>
              <a:t> OAuth 2.0 </a:t>
            </a:r>
            <a:r>
              <a:rPr lang="zh-CN" altLang="en-US"/>
              <a:t>协议实现中常见攻击类型的系统化整理与建模。通过以协议参数及其安全语义为核心分析维度，本文对</a:t>
            </a:r>
            <a:r>
              <a:rPr lang="en-US" altLang="zh-CN"/>
              <a:t> CSRF</a:t>
            </a:r>
            <a:r>
              <a:rPr lang="zh-CN" altLang="en-US"/>
              <a:t>、授权码拦截、重定向</a:t>
            </a:r>
            <a:r>
              <a:rPr lang="en-US" altLang="zh-CN"/>
              <a:t> URI </a:t>
            </a:r>
            <a:r>
              <a:rPr lang="zh-CN" altLang="en-US"/>
              <a:t>攻击、客户端冒充及访问令牌滥用等问题进行了统一抽象，明确了这些攻击在本质上均源于授权上下文绑定不充分或参数安全语义在实现层面的弱化。</a:t>
            </a:r>
            <a:endParaRPr lang="zh-CN" altLang="en-US"/>
          </a:p>
          <a:p>
            <a:endParaRPr lang="zh-CN" altLang="en-US"/>
          </a:p>
          <a:p>
            <a:r>
              <a:rPr lang="zh-CN" altLang="en-US"/>
              <a:t>都有论文或报告作为实证支撑</a:t>
            </a:r>
            <a:endParaRPr lang="zh-CN" altLang="en-US"/>
          </a:p>
          <a:p>
            <a:endParaRPr lang="zh-CN" altLang="en-US"/>
          </a:p>
          <a:p>
            <a:r>
              <a:rPr lang="zh-CN" altLang="en-US"/>
              <a:t>这个研究既为传统</a:t>
            </a:r>
            <a:r>
              <a:rPr lang="en-US" altLang="zh-CN"/>
              <a:t>oauth</a:t>
            </a:r>
            <a:r>
              <a:rPr lang="zh-CN" altLang="en-US"/>
              <a:t>实现分析提供新的角度，也为新场景下</a:t>
            </a:r>
            <a:r>
              <a:rPr lang="en-US" altLang="zh-CN"/>
              <a:t>oauth</a:t>
            </a:r>
            <a:r>
              <a:rPr lang="zh-CN" altLang="en-US"/>
              <a:t>授权安全的分析和设计提供大纲</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在对</a:t>
            </a:r>
            <a:r>
              <a:rPr lang="en-US" altLang="zh-CN"/>
              <a:t> MCP </a:t>
            </a:r>
            <a:r>
              <a:rPr lang="zh-CN" altLang="en-US"/>
              <a:t>协议进行深入分析后，</a:t>
            </a:r>
            <a:r>
              <a:rPr lang="en-US" altLang="zh-CN"/>
              <a:t> MCP </a:t>
            </a:r>
            <a:r>
              <a:rPr lang="zh-CN" altLang="en-US"/>
              <a:t>原生设计中将</a:t>
            </a:r>
            <a:r>
              <a:rPr lang="en-US" altLang="zh-CN"/>
              <a:t> OAuth </a:t>
            </a:r>
            <a:r>
              <a:rPr lang="zh-CN" altLang="en-US"/>
              <a:t>作为</a:t>
            </a:r>
            <a:r>
              <a:rPr lang="en-US" altLang="zh-CN"/>
              <a:t>“</a:t>
            </a:r>
            <a:r>
              <a:rPr lang="zh-CN" altLang="en-US"/>
              <a:t>外部授权机制</a:t>
            </a:r>
            <a:r>
              <a:rPr lang="en-US" altLang="zh-CN"/>
              <a:t>”</a:t>
            </a:r>
            <a:r>
              <a:rPr lang="zh-CN" altLang="en-US"/>
              <a:t>引入，但并未在协议层对授权结果的使用方式进行系统建模。在实际调用链中，</a:t>
            </a:r>
            <a:r>
              <a:rPr lang="en-US" altLang="zh-CN"/>
              <a:t>OAuth </a:t>
            </a:r>
            <a:r>
              <a:rPr lang="zh-CN" altLang="en-US"/>
              <a:t>授权请求通常由</a:t>
            </a:r>
            <a:r>
              <a:rPr lang="en-US" altLang="zh-CN"/>
              <a:t> MCP Client </a:t>
            </a:r>
            <a:r>
              <a:rPr lang="zh-CN" altLang="en-US"/>
              <a:t>发起，而访问令牌的使用主体却是</a:t>
            </a:r>
            <a:r>
              <a:rPr lang="en-US" altLang="zh-CN"/>
              <a:t> MCP Server</a:t>
            </a:r>
            <a:r>
              <a:rPr lang="zh-CN" altLang="en-US"/>
              <a:t>或其后端工具服务，这导致</a:t>
            </a:r>
            <a:r>
              <a:rPr lang="en-US" altLang="zh-CN"/>
              <a:t> OAuth </a:t>
            </a:r>
            <a:r>
              <a:rPr lang="zh-CN" altLang="en-US"/>
              <a:t>中</a:t>
            </a:r>
            <a:r>
              <a:rPr lang="en-US" altLang="zh-CN"/>
              <a:t>“</a:t>
            </a:r>
            <a:r>
              <a:rPr lang="zh-CN" altLang="en-US"/>
              <a:t>客户端即资源使用者</a:t>
            </a:r>
            <a:r>
              <a:rPr lang="en-US" altLang="zh-CN"/>
              <a:t>”</a:t>
            </a:r>
            <a:r>
              <a:rPr lang="zh-CN" altLang="en-US"/>
              <a:t>的核心安全假设在</a:t>
            </a:r>
            <a:r>
              <a:rPr lang="en-US" altLang="zh-CN"/>
              <a:t> MCP</a:t>
            </a:r>
            <a:r>
              <a:rPr lang="zh-CN" altLang="en-US"/>
              <a:t>场景下不再成立。</a:t>
            </a:r>
            <a:endParaRPr lang="zh-CN" altLang="en-US"/>
          </a:p>
          <a:p>
            <a:endParaRPr lang="zh-CN" altLang="en-US"/>
          </a:p>
          <a:p>
            <a:r>
              <a:rPr lang="zh-CN" altLang="en-US"/>
              <a:t>通过将</a:t>
            </a:r>
            <a:r>
              <a:rPr lang="en-US" altLang="zh-CN"/>
              <a:t> MCP </a:t>
            </a:r>
            <a:r>
              <a:rPr lang="zh-CN" altLang="en-US"/>
              <a:t>原生授权流程与已知</a:t>
            </a:r>
            <a:r>
              <a:rPr lang="en-US" altLang="zh-CN"/>
              <a:t> OAuth </a:t>
            </a:r>
            <a:r>
              <a:rPr lang="zh-CN" altLang="en-US"/>
              <a:t>攻击模型进行对照分析，以及对最新的安全事件和报道的分析，进一步确认：在缺乏额外授权控制层的情况下，</a:t>
            </a:r>
            <a:r>
              <a:rPr lang="en-US" altLang="zh-CN"/>
              <a:t>MCP </a:t>
            </a:r>
            <a:r>
              <a:rPr lang="zh-CN" altLang="en-US"/>
              <a:t>极易受到</a:t>
            </a:r>
            <a:r>
              <a:rPr lang="en-US" altLang="zh-CN"/>
              <a:t> confused deputy</a:t>
            </a:r>
            <a:r>
              <a:rPr lang="zh-CN" altLang="en-US"/>
              <a:t>、权限扩散、令牌重放等攻击。这一分析结论直接推动了</a:t>
            </a:r>
            <a:r>
              <a:rPr lang="en-US" altLang="zh-CN"/>
              <a:t> MCP-AuthZ Gateway </a:t>
            </a:r>
            <a:r>
              <a:rPr lang="zh-CN" altLang="en-US"/>
              <a:t>方案的提出。</a:t>
            </a:r>
            <a:endParaRPr lang="zh-CN" altLang="en-US"/>
          </a:p>
          <a:p>
            <a:endParaRPr lang="zh-CN" altLang="en-US"/>
          </a:p>
          <a:p>
            <a:endParaRPr lang="zh-CN" altLang="en-US"/>
          </a:p>
          <a:p>
            <a:r>
              <a:rPr lang="zh-CN" altLang="en-US"/>
              <a:t>这一部分的核心思想是，</a:t>
            </a:r>
            <a:r>
              <a:rPr lang="zh-CN" altLang="en-US">
                <a:sym typeface="+mn-ea"/>
              </a:rPr>
              <a:t>在复杂</a:t>
            </a:r>
            <a:r>
              <a:rPr lang="en-US" altLang="zh-CN">
                <a:sym typeface="+mn-ea"/>
              </a:rPr>
              <a:t>OAuth</a:t>
            </a:r>
            <a:r>
              <a:rPr lang="zh-CN" altLang="en-US">
                <a:sym typeface="+mn-ea"/>
              </a:rPr>
              <a:t>授权链路中，</a:t>
            </a:r>
            <a:r>
              <a:rPr lang="zh-CN" altLang="en-US"/>
              <a:t>标准化体系化的给出一个通用性的解决方案，由于</a:t>
            </a:r>
            <a:r>
              <a:rPr lang="en-US" altLang="zh-CN"/>
              <a:t>MCP</a:t>
            </a:r>
            <a:r>
              <a:rPr lang="zh-CN" altLang="en-US"/>
              <a:t>是一个目前应用广泛且安全指导缺失的方面，所以选择</a:t>
            </a:r>
            <a:r>
              <a:rPr lang="en-US" altLang="zh-CN"/>
              <a:t>MCP</a:t>
            </a:r>
            <a:r>
              <a:rPr lang="zh-CN" altLang="en-US"/>
              <a:t>作为研究实例</a:t>
            </a:r>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现实发生过的类似事件：</a:t>
            </a:r>
            <a:r>
              <a:rPr lang="en-US" altLang="zh-CN"/>
              <a:t>GitHub Copilot </a:t>
            </a:r>
            <a:r>
              <a:rPr lang="zh-CN" altLang="en-US"/>
              <a:t>插件假冒、</a:t>
            </a:r>
            <a:r>
              <a:rPr lang="en-US" altLang="zh-CN"/>
              <a:t>VSCode </a:t>
            </a:r>
            <a:r>
              <a:rPr lang="zh-CN" altLang="en-US"/>
              <a:t>扩展被攻击者接管</a:t>
            </a:r>
            <a:endParaRPr lang="zh-CN" altLang="en-US"/>
          </a:p>
          <a:p>
            <a:r>
              <a:rPr lang="en-US" altLang="en-US"/>
              <a:t>●</a:t>
            </a:r>
            <a:r>
              <a:rPr lang="en-US" altLang="zh-CN"/>
              <a:t> VSCode Marketplace </a:t>
            </a:r>
            <a:r>
              <a:rPr lang="zh-CN" altLang="en-US"/>
              <a:t>多次出现过</a:t>
            </a:r>
            <a:r>
              <a:rPr lang="en-US" altLang="zh-CN"/>
              <a:t>“</a:t>
            </a:r>
            <a:r>
              <a:rPr lang="zh-CN" altLang="en-US"/>
              <a:t>仿冒插件</a:t>
            </a:r>
            <a:r>
              <a:rPr lang="en-US" altLang="zh-CN"/>
              <a:t>”</a:t>
            </a:r>
            <a:r>
              <a:rPr lang="zh-CN" altLang="en-US"/>
              <a:t>上线，被数万用户安装（</a:t>
            </a:r>
            <a:r>
              <a:rPr lang="en-US" altLang="zh-CN"/>
              <a:t>2024 </a:t>
            </a:r>
            <a:r>
              <a:rPr lang="zh-CN" altLang="en-US"/>
              <a:t>年报过数次）</a:t>
            </a:r>
            <a:endParaRPr lang="zh-CN" altLang="en-US"/>
          </a:p>
          <a:p>
            <a:r>
              <a:rPr lang="en-US" altLang="en-US"/>
              <a:t>●</a:t>
            </a:r>
            <a:r>
              <a:rPr lang="en-US" altLang="zh-CN"/>
              <a:t> GitHub Copilot Extensions </a:t>
            </a:r>
            <a:r>
              <a:rPr lang="zh-CN" altLang="en-US"/>
              <a:t>模式与</a:t>
            </a:r>
            <a:r>
              <a:rPr lang="en-US" altLang="zh-CN"/>
              <a:t> MCP </a:t>
            </a:r>
            <a:r>
              <a:rPr lang="zh-CN" altLang="en-US"/>
              <a:t>类似，也已发生</a:t>
            </a:r>
            <a:r>
              <a:rPr lang="en-US" altLang="zh-CN"/>
              <a:t>“</a:t>
            </a:r>
            <a:r>
              <a:rPr lang="zh-CN" altLang="en-US"/>
              <a:t>开发者账号被盗</a:t>
            </a:r>
            <a:r>
              <a:rPr lang="en-US" altLang="zh-CN"/>
              <a:t> </a:t>
            </a:r>
            <a:r>
              <a:rPr lang="en-US" altLang="en-US"/>
              <a:t>→</a:t>
            </a:r>
            <a:r>
              <a:rPr lang="en-US" altLang="zh-CN"/>
              <a:t> </a:t>
            </a:r>
            <a:r>
              <a:rPr lang="zh-CN" altLang="en-US"/>
              <a:t>扩展被替换</a:t>
            </a:r>
            <a:r>
              <a:rPr lang="en-US" altLang="zh-CN"/>
              <a:t>”</a:t>
            </a:r>
            <a:r>
              <a:rPr lang="zh-CN" altLang="en-US"/>
              <a:t>事件</a:t>
            </a:r>
            <a:endParaRPr lang="zh-CN" altLang="en-US"/>
          </a:p>
          <a:p>
            <a:r>
              <a:rPr lang="en-US" altLang="en-US"/>
              <a:t>●</a:t>
            </a:r>
            <a:r>
              <a:rPr lang="en-US" altLang="zh-CN"/>
              <a:t> Chrome </a:t>
            </a:r>
            <a:r>
              <a:rPr lang="zh-CN" altLang="en-US"/>
              <a:t>扩展也有过</a:t>
            </a:r>
            <a:r>
              <a:rPr lang="en-US" altLang="zh-CN"/>
              <a:t>“</a:t>
            </a:r>
            <a:r>
              <a:rPr lang="zh-CN" altLang="en-US"/>
              <a:t>更新后植入恶意代码</a:t>
            </a:r>
            <a:r>
              <a:rPr lang="en-US" altLang="zh-CN"/>
              <a:t>”</a:t>
            </a:r>
            <a:r>
              <a:rPr lang="zh-CN" altLang="en-US"/>
              <a:t>的经典攻击链</a:t>
            </a:r>
            <a:endParaRPr lang="zh-CN" altLang="en-US"/>
          </a:p>
          <a:p>
            <a:r>
              <a:rPr lang="zh-CN" altLang="en-US"/>
              <a:t>这些攻击在</a:t>
            </a:r>
            <a:r>
              <a:rPr lang="en-US" altLang="zh-CN"/>
              <a:t> MCP </a:t>
            </a:r>
            <a:r>
              <a:rPr lang="zh-CN" altLang="en-US"/>
              <a:t>环境中的直接翻译：</a:t>
            </a:r>
            <a:endParaRPr lang="zh-CN" altLang="en-US"/>
          </a:p>
          <a:p>
            <a:r>
              <a:rPr lang="zh-CN" altLang="en-US"/>
              <a:t>攻击者注册一个</a:t>
            </a:r>
            <a:r>
              <a:rPr lang="en-US" altLang="zh-CN"/>
              <a:t>“</a:t>
            </a:r>
            <a:r>
              <a:rPr lang="zh-CN" altLang="en-US"/>
              <a:t>看起来一样的工具</a:t>
            </a:r>
            <a:r>
              <a:rPr lang="en-US" altLang="zh-CN"/>
              <a:t>”</a:t>
            </a:r>
            <a:r>
              <a:rPr lang="zh-CN" altLang="en-US"/>
              <a:t>（如</a:t>
            </a:r>
            <a:r>
              <a:rPr lang="en-US" altLang="zh-CN"/>
              <a:t> weather-pro</a:t>
            </a:r>
            <a:r>
              <a:rPr lang="zh-CN" altLang="en-US"/>
              <a:t>），</a:t>
            </a:r>
            <a:r>
              <a:rPr lang="en-US" altLang="zh-CN"/>
              <a:t>Host </a:t>
            </a:r>
            <a:r>
              <a:rPr lang="zh-CN" altLang="en-US"/>
              <a:t>无法验证</a:t>
            </a:r>
            <a:r>
              <a:rPr lang="en-US" altLang="zh-CN"/>
              <a:t> manifest </a:t>
            </a:r>
            <a:r>
              <a:rPr lang="zh-CN" altLang="en-US"/>
              <a:t>是否真实，被迫使用恶意</a:t>
            </a:r>
            <a:r>
              <a:rPr lang="en-US" altLang="zh-CN"/>
              <a:t> Server</a:t>
            </a:r>
            <a:r>
              <a:rPr lang="zh-CN" altLang="en-US"/>
              <a:t>。</a:t>
            </a:r>
            <a:endParaRPr lang="zh-CN" altLang="en-US"/>
          </a:p>
          <a:p>
            <a:endParaRPr lang="zh-CN" altLang="en-US"/>
          </a:p>
          <a:p>
            <a:endParaRPr lang="zh-CN" altLang="en-US"/>
          </a:p>
          <a:p>
            <a:r>
              <a:rPr lang="zh-CN" altLang="en-US"/>
              <a:t>现实类似案例：</a:t>
            </a:r>
            <a:r>
              <a:rPr lang="en-US" altLang="zh-CN"/>
              <a:t>Google OAuth Token </a:t>
            </a:r>
            <a:r>
              <a:rPr lang="zh-CN" altLang="en-US"/>
              <a:t>被过度授权</a:t>
            </a:r>
            <a:endParaRPr lang="zh-CN" altLang="en-US"/>
          </a:p>
          <a:p>
            <a:r>
              <a:rPr lang="zh-CN" altLang="en-US"/>
              <a:t>已发生事件示例：</a:t>
            </a:r>
            <a:endParaRPr lang="zh-CN" altLang="en-US"/>
          </a:p>
          <a:p>
            <a:r>
              <a:rPr lang="en-US" altLang="en-US"/>
              <a:t>●</a:t>
            </a:r>
            <a:r>
              <a:rPr lang="en-US" altLang="zh-CN"/>
              <a:t> </a:t>
            </a:r>
            <a:r>
              <a:rPr lang="zh-CN" altLang="en-US"/>
              <a:t>企业</a:t>
            </a:r>
            <a:r>
              <a:rPr lang="en-US" altLang="zh-CN"/>
              <a:t> OAuth App </a:t>
            </a:r>
            <a:r>
              <a:rPr lang="zh-CN" altLang="en-US"/>
              <a:t>要求</a:t>
            </a:r>
            <a:r>
              <a:rPr lang="en-US" altLang="zh-CN"/>
              <a:t>“</a:t>
            </a:r>
            <a:r>
              <a:rPr lang="zh-CN" altLang="en-US"/>
              <a:t>全部邮箱读权限</a:t>
            </a:r>
            <a:r>
              <a:rPr lang="en-US" altLang="zh-CN"/>
              <a:t>”</a:t>
            </a:r>
            <a:r>
              <a:rPr lang="zh-CN" altLang="en-US"/>
              <a:t>，结果泄漏敏感内容</a:t>
            </a:r>
            <a:endParaRPr lang="zh-CN" altLang="en-US"/>
          </a:p>
          <a:p>
            <a:r>
              <a:rPr lang="en-US" altLang="en-US"/>
              <a:t>●</a:t>
            </a:r>
            <a:r>
              <a:rPr lang="en-US" altLang="zh-CN"/>
              <a:t> Notion / Slack OAuth </a:t>
            </a:r>
            <a:r>
              <a:rPr lang="zh-CN" altLang="en-US"/>
              <a:t>工具因</a:t>
            </a:r>
            <a:r>
              <a:rPr lang="en-US" altLang="zh-CN"/>
              <a:t> scope </a:t>
            </a:r>
            <a:r>
              <a:rPr lang="zh-CN" altLang="en-US"/>
              <a:t>过大，引发数据外泄</a:t>
            </a:r>
            <a:endParaRPr lang="zh-CN" altLang="en-US"/>
          </a:p>
          <a:p>
            <a:r>
              <a:rPr lang="en-US" altLang="en-US"/>
              <a:t>●</a:t>
            </a:r>
            <a:r>
              <a:rPr lang="en-US" altLang="zh-CN"/>
              <a:t> GitHub App </a:t>
            </a:r>
            <a:r>
              <a:rPr lang="zh-CN" altLang="en-US"/>
              <a:t>请求</a:t>
            </a:r>
            <a:r>
              <a:rPr lang="en-US" altLang="zh-CN"/>
              <a:t>“</a:t>
            </a:r>
            <a:r>
              <a:rPr lang="zh-CN" altLang="en-US"/>
              <a:t>所有仓库写权限</a:t>
            </a:r>
            <a:r>
              <a:rPr lang="en-US" altLang="zh-CN"/>
              <a:t>”</a:t>
            </a:r>
            <a:r>
              <a:rPr lang="zh-CN" altLang="en-US"/>
              <a:t>却只需要读权限</a:t>
            </a:r>
            <a:endParaRPr lang="zh-CN" altLang="en-US"/>
          </a:p>
          <a:p>
            <a:endParaRPr lang="zh-CN" altLang="en-US"/>
          </a:p>
          <a:p>
            <a:r>
              <a:rPr lang="zh-CN" altLang="en-US"/>
              <a:t>攻击者不需让</a:t>
            </a:r>
            <a:r>
              <a:rPr lang="en-US" altLang="zh-CN"/>
              <a:t> LLM </a:t>
            </a:r>
            <a:r>
              <a:rPr lang="zh-CN" altLang="en-US"/>
              <a:t>读恶意内容，而是向</a:t>
            </a:r>
            <a:r>
              <a:rPr lang="en-US" altLang="zh-CN"/>
              <a:t> Host </a:t>
            </a:r>
            <a:r>
              <a:rPr lang="zh-CN" altLang="en-US"/>
              <a:t>注入伪造的</a:t>
            </a:r>
            <a:r>
              <a:rPr lang="en-US" altLang="zh-CN"/>
              <a:t> MCP </a:t>
            </a:r>
            <a:r>
              <a:rPr lang="zh-CN" altLang="en-US"/>
              <a:t>回调（</a:t>
            </a:r>
            <a:r>
              <a:rPr lang="en-US" altLang="zh-CN"/>
              <a:t>progress/result</a:t>
            </a:r>
            <a:r>
              <a:rPr lang="zh-CN" altLang="en-US"/>
              <a:t>）。</a:t>
            </a:r>
            <a:endParaRPr lang="zh-CN" altLang="en-US"/>
          </a:p>
          <a:p>
            <a:r>
              <a:rPr lang="zh-CN" altLang="en-US"/>
              <a:t>现实中的类似攻击：</a:t>
            </a:r>
            <a:endParaRPr lang="zh-CN" altLang="en-US"/>
          </a:p>
          <a:p>
            <a:r>
              <a:rPr lang="en-US" altLang="en-US"/>
              <a:t>●</a:t>
            </a:r>
            <a:r>
              <a:rPr lang="en-US" altLang="zh-CN"/>
              <a:t> Slack bot </a:t>
            </a:r>
            <a:r>
              <a:rPr lang="zh-CN" altLang="en-US"/>
              <a:t>回调被伪造</a:t>
            </a:r>
            <a:r>
              <a:rPr lang="en-US" altLang="zh-CN"/>
              <a:t> </a:t>
            </a:r>
            <a:r>
              <a:rPr lang="en-US" altLang="en-US"/>
              <a:t>→</a:t>
            </a:r>
            <a:r>
              <a:rPr lang="en-US" altLang="zh-CN"/>
              <a:t> </a:t>
            </a:r>
            <a:r>
              <a:rPr lang="zh-CN" altLang="en-US"/>
              <a:t>触发错误自动化动作</a:t>
            </a:r>
            <a:endParaRPr lang="zh-CN" altLang="en-US"/>
          </a:p>
          <a:p>
            <a:r>
              <a:rPr lang="en-US" altLang="en-US"/>
              <a:t>●</a:t>
            </a:r>
            <a:r>
              <a:rPr lang="en-US" altLang="zh-CN"/>
              <a:t> GitHub webhook </a:t>
            </a:r>
            <a:r>
              <a:rPr lang="zh-CN" altLang="en-US"/>
              <a:t>伪造</a:t>
            </a:r>
            <a:r>
              <a:rPr lang="en-US" altLang="zh-CN"/>
              <a:t> </a:t>
            </a:r>
            <a:r>
              <a:rPr lang="en-US" altLang="en-US"/>
              <a:t>→</a:t>
            </a:r>
            <a:r>
              <a:rPr lang="en-US" altLang="zh-CN"/>
              <a:t> CI </a:t>
            </a:r>
            <a:r>
              <a:rPr lang="zh-CN" altLang="en-US"/>
              <a:t>系统运行恶意指令</a:t>
            </a:r>
            <a:endParaRPr lang="zh-CN" altLang="en-US"/>
          </a:p>
          <a:p>
            <a:r>
              <a:rPr lang="en-US" altLang="en-US"/>
              <a:t>●</a:t>
            </a:r>
            <a:r>
              <a:rPr lang="en-US" altLang="zh-CN"/>
              <a:t> </a:t>
            </a:r>
            <a:r>
              <a:rPr lang="zh-CN" altLang="en-US"/>
              <a:t>机器人流程自动化（</a:t>
            </a:r>
            <a:r>
              <a:rPr lang="en-US" altLang="zh-CN"/>
              <a:t>RPA</a:t>
            </a:r>
            <a:r>
              <a:rPr lang="zh-CN" altLang="en-US"/>
              <a:t>）工具中</a:t>
            </a:r>
            <a:r>
              <a:rPr lang="en-US" altLang="zh-CN"/>
              <a:t> webhook </a:t>
            </a:r>
            <a:r>
              <a:rPr lang="zh-CN" altLang="en-US"/>
              <a:t>被篡改导致系统误操作</a:t>
            </a:r>
            <a:endParaRPr lang="zh-CN" altLang="en-US"/>
          </a:p>
          <a:p>
            <a:r>
              <a:rPr lang="zh-CN" altLang="en-US"/>
              <a:t>在</a:t>
            </a:r>
            <a:r>
              <a:rPr lang="en-US" altLang="zh-CN"/>
              <a:t> MCP </a:t>
            </a:r>
            <a:r>
              <a:rPr lang="zh-CN" altLang="en-US"/>
              <a:t>里，回调没有签名，所以极易发生：</a:t>
            </a:r>
            <a:endParaRPr lang="zh-CN" altLang="en-US"/>
          </a:p>
          <a:p>
            <a:endParaRPr lang="zh-CN" altLang="en-US"/>
          </a:p>
          <a:p>
            <a:endParaRPr lang="zh-CN" altLang="en-US"/>
          </a:p>
          <a:p>
            <a:r>
              <a:rPr lang="en-US" altLang="zh-CN"/>
              <a:t>GitHub</a:t>
            </a:r>
            <a:r>
              <a:rPr lang="zh-CN" altLang="en-US"/>
              <a:t>、</a:t>
            </a:r>
            <a:r>
              <a:rPr lang="en-US" altLang="zh-CN"/>
              <a:t>AWS</a:t>
            </a:r>
            <a:r>
              <a:rPr lang="zh-CN" altLang="en-US"/>
              <a:t>、</a:t>
            </a:r>
            <a:r>
              <a:rPr lang="en-US" altLang="zh-CN"/>
              <a:t>Dropbox </a:t>
            </a:r>
            <a:r>
              <a:rPr lang="zh-CN" altLang="en-US"/>
              <a:t>都发生过</a:t>
            </a:r>
            <a:r>
              <a:rPr lang="en-US" altLang="zh-CN"/>
              <a:t> API Key </a:t>
            </a:r>
            <a:r>
              <a:rPr lang="zh-CN" altLang="en-US"/>
              <a:t>泄漏事故，攻击者使用长达数月。</a:t>
            </a:r>
            <a:endParaRPr lang="zh-CN" altLang="en-US"/>
          </a:p>
          <a:p>
            <a:r>
              <a:rPr lang="zh-CN" altLang="en-US"/>
              <a:t>在</a:t>
            </a:r>
            <a:r>
              <a:rPr lang="en-US" altLang="zh-CN"/>
              <a:t> MCP </a:t>
            </a:r>
            <a:r>
              <a:rPr lang="zh-CN" altLang="en-US"/>
              <a:t>中更严重，因为：</a:t>
            </a:r>
            <a:endParaRPr lang="zh-CN" altLang="en-US"/>
          </a:p>
          <a:p>
            <a:r>
              <a:rPr lang="en-US" altLang="en-US"/>
              <a:t>●</a:t>
            </a:r>
            <a:r>
              <a:rPr lang="en-US" altLang="zh-CN"/>
              <a:t> MCP </a:t>
            </a:r>
            <a:r>
              <a:rPr lang="zh-CN" altLang="en-US"/>
              <a:t>没有撤销机制</a:t>
            </a:r>
            <a:endParaRPr lang="zh-CN" altLang="en-US"/>
          </a:p>
          <a:p>
            <a:r>
              <a:rPr lang="en-US" altLang="en-US"/>
              <a:t>●</a:t>
            </a:r>
            <a:r>
              <a:rPr lang="en-US" altLang="zh-CN"/>
              <a:t> MCP </a:t>
            </a:r>
            <a:r>
              <a:rPr lang="zh-CN" altLang="en-US"/>
              <a:t>没有</a:t>
            </a:r>
            <a:r>
              <a:rPr lang="en-US" altLang="zh-CN"/>
              <a:t> introspection</a:t>
            </a:r>
            <a:endParaRPr lang="en-US" altLang="zh-CN"/>
          </a:p>
          <a:p>
            <a:r>
              <a:rPr lang="en-US" altLang="en-US"/>
              <a:t>●</a:t>
            </a:r>
            <a:r>
              <a:rPr lang="en-US" altLang="zh-CN"/>
              <a:t> MCP </a:t>
            </a:r>
            <a:r>
              <a:rPr lang="zh-CN" altLang="en-US"/>
              <a:t>工具常常持有用户的</a:t>
            </a:r>
            <a:r>
              <a:rPr lang="en-US" altLang="zh-CN"/>
              <a:t>“</a:t>
            </a:r>
            <a:r>
              <a:rPr lang="zh-CN" altLang="en-US"/>
              <a:t>真实</a:t>
            </a:r>
            <a:r>
              <a:rPr lang="en-US" altLang="zh-CN"/>
              <a:t> OAuth Token”</a:t>
            </a:r>
            <a:endParaRPr lang="en-US" altLang="zh-CN"/>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a:t>
            </a:r>
            <a:r>
              <a:rPr lang="en-US" altLang="zh-CN"/>
              <a:t> MCP-AuthZ </a:t>
            </a:r>
            <a:r>
              <a:rPr lang="zh-CN" altLang="en-US"/>
              <a:t>的设计中，</a:t>
            </a:r>
            <a:r>
              <a:rPr lang="en-US" altLang="zh-CN"/>
              <a:t>Manifest Authority/Registry </a:t>
            </a:r>
            <a:r>
              <a:rPr lang="zh-CN" altLang="en-US"/>
              <a:t>被建模成一个逻辑角色，用于提供可验证的工具身份与能力元数据。</a:t>
            </a:r>
            <a:endParaRPr lang="zh-CN" altLang="en-US"/>
          </a:p>
          <a:p>
            <a:r>
              <a:rPr lang="zh-CN" altLang="en-US"/>
              <a:t>在工程实现上，它既可以与</a:t>
            </a:r>
            <a:r>
              <a:rPr lang="en-US" altLang="zh-CN"/>
              <a:t> MCP-Auth Gateway </a:t>
            </a:r>
            <a:r>
              <a:rPr lang="zh-CN" altLang="en-US"/>
              <a:t>由同一平台实现，形成</a:t>
            </a:r>
            <a:r>
              <a:rPr lang="en-US" altLang="zh-CN"/>
              <a:t>“</a:t>
            </a:r>
            <a:r>
              <a:rPr lang="zh-CN" altLang="en-US"/>
              <a:t>一体化安全平台</a:t>
            </a:r>
            <a:r>
              <a:rPr lang="en-US" altLang="zh-CN"/>
              <a:t>”</a:t>
            </a:r>
            <a:r>
              <a:rPr lang="zh-CN" altLang="en-US"/>
              <a:t>；也可以由独立的工具生态运营方实现，由多个互不相同的</a:t>
            </a:r>
            <a:r>
              <a:rPr lang="en-US" altLang="zh-CN"/>
              <a:t> Gateway </a:t>
            </a:r>
            <a:r>
              <a:rPr lang="zh-CN" altLang="en-US"/>
              <a:t>共同信任并复用。</a:t>
            </a:r>
            <a:endParaRPr lang="zh-CN" altLang="en-US"/>
          </a:p>
          <a:p>
            <a:r>
              <a:rPr lang="zh-CN" altLang="en-US"/>
              <a:t>前者简化了工程实现与部署，适合单一平台场景；后者则更有利于构建跨平台、跨组织的</a:t>
            </a:r>
            <a:r>
              <a:rPr lang="en-US" altLang="zh-CN"/>
              <a:t> MCP </a:t>
            </a:r>
            <a:r>
              <a:rPr lang="zh-CN" altLang="en-US"/>
              <a:t>工具生态。无论哪种部署方式，</a:t>
            </a:r>
            <a:r>
              <a:rPr lang="en-US" altLang="zh-CN"/>
              <a:t>MCP-AuthZ </a:t>
            </a:r>
            <a:r>
              <a:rPr lang="zh-CN" altLang="en-US"/>
              <a:t>的协议设计都只依赖于</a:t>
            </a:r>
            <a:r>
              <a:rPr lang="en-US" altLang="zh-CN"/>
              <a:t>“Manifest Authority </a:t>
            </a:r>
            <a:r>
              <a:rPr lang="zh-CN" altLang="en-US"/>
              <a:t>按约定提供已签名的</a:t>
            </a:r>
            <a:r>
              <a:rPr lang="en-US" altLang="zh-CN"/>
              <a:t> manifest </a:t>
            </a:r>
            <a:r>
              <a:rPr lang="zh-CN" altLang="en-US"/>
              <a:t>和撤销信息</a:t>
            </a:r>
            <a:r>
              <a:rPr lang="en-US" altLang="zh-CN"/>
              <a:t>”</a:t>
            </a:r>
            <a:r>
              <a:rPr lang="zh-CN" altLang="en-US"/>
              <a:t>，因此不会绑定具体实现主体。</a:t>
            </a:r>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t>A/B/C </a:t>
            </a:r>
            <a:r>
              <a:rPr lang="zh-CN" altLang="en-US"/>
              <a:t>模型现在是用</a:t>
            </a:r>
            <a:r>
              <a:rPr lang="en-US" altLang="zh-CN"/>
              <a:t>“</a:t>
            </a:r>
            <a:r>
              <a:rPr lang="zh-CN" altLang="en-US"/>
              <a:t>只读</a:t>
            </a:r>
            <a:r>
              <a:rPr lang="en-US" altLang="zh-CN"/>
              <a:t> vs </a:t>
            </a:r>
            <a:r>
              <a:rPr lang="zh-CN" altLang="en-US"/>
              <a:t>写、多风险</a:t>
            </a:r>
            <a:r>
              <a:rPr lang="en-US" altLang="zh-CN"/>
              <a:t> vs </a:t>
            </a:r>
            <a:r>
              <a:rPr lang="zh-CN" altLang="en-US"/>
              <a:t>低风险</a:t>
            </a:r>
            <a:r>
              <a:rPr lang="en-US" altLang="zh-CN"/>
              <a:t>”</a:t>
            </a:r>
            <a:r>
              <a:rPr lang="zh-CN" altLang="en-US"/>
              <a:t>一刀切，但现实</a:t>
            </a:r>
            <a:r>
              <a:rPr lang="en-US" altLang="zh-CN"/>
              <a:t> world </a:t>
            </a:r>
            <a:r>
              <a:rPr lang="zh-CN" altLang="en-US"/>
              <a:t>的权限模型往往是多轴的：</a:t>
            </a:r>
            <a:endParaRPr lang="zh-CN" altLang="en-US"/>
          </a:p>
          <a:p>
            <a:r>
              <a:rPr lang="en-US" altLang="en-US"/>
              <a:t>●</a:t>
            </a:r>
            <a:r>
              <a:rPr lang="en-US" altLang="zh-CN"/>
              <a:t> </a:t>
            </a:r>
            <a:r>
              <a:rPr lang="zh-CN" altLang="en-US"/>
              <a:t>读</a:t>
            </a:r>
            <a:r>
              <a:rPr lang="en-US" altLang="zh-CN"/>
              <a:t> vs </a:t>
            </a:r>
            <a:r>
              <a:rPr lang="zh-CN" altLang="en-US"/>
              <a:t>写</a:t>
            </a:r>
            <a:r>
              <a:rPr lang="en-US" altLang="zh-CN"/>
              <a:t> vs </a:t>
            </a:r>
            <a:r>
              <a:rPr lang="zh-CN" altLang="en-US"/>
              <a:t>管理；</a:t>
            </a:r>
            <a:endParaRPr lang="zh-CN" altLang="en-US"/>
          </a:p>
          <a:p>
            <a:r>
              <a:rPr lang="en-US" altLang="en-US"/>
              <a:t>●</a:t>
            </a:r>
            <a:r>
              <a:rPr lang="en-US" altLang="zh-CN"/>
              <a:t> </a:t>
            </a:r>
            <a:r>
              <a:rPr lang="zh-CN" altLang="en-US"/>
              <a:t>公共数据</a:t>
            </a:r>
            <a:r>
              <a:rPr lang="en-US" altLang="zh-CN"/>
              <a:t> vs </a:t>
            </a:r>
            <a:r>
              <a:rPr lang="zh-CN" altLang="en-US"/>
              <a:t>用户私密</a:t>
            </a:r>
            <a:r>
              <a:rPr lang="en-US" altLang="zh-CN"/>
              <a:t> vs </a:t>
            </a:r>
            <a:r>
              <a:rPr lang="zh-CN" altLang="en-US"/>
              <a:t>组织级敏感；</a:t>
            </a:r>
            <a:endParaRPr lang="zh-CN" altLang="en-US"/>
          </a:p>
          <a:p>
            <a:r>
              <a:rPr lang="en-US" altLang="en-US"/>
              <a:t>●</a:t>
            </a:r>
            <a:r>
              <a:rPr lang="en-US" altLang="zh-CN"/>
              <a:t> </a:t>
            </a:r>
            <a:r>
              <a:rPr lang="zh-CN" altLang="en-US"/>
              <a:t>影响范围：只影响当前用户、影响整个项目、影响整个组织；</a:t>
            </a:r>
            <a:endParaRPr lang="zh-CN" altLang="en-US"/>
          </a:p>
          <a:p>
            <a:r>
              <a:rPr lang="en-US" altLang="en-US"/>
              <a:t>●</a:t>
            </a:r>
            <a:r>
              <a:rPr lang="en-US" altLang="zh-CN"/>
              <a:t> </a:t>
            </a:r>
            <a:r>
              <a:rPr lang="zh-CN" altLang="en-US"/>
              <a:t>是否跨边界：调用外部</a:t>
            </a:r>
            <a:r>
              <a:rPr lang="en-US" altLang="zh-CN"/>
              <a:t> SaaS / </a:t>
            </a:r>
            <a:r>
              <a:rPr lang="zh-CN" altLang="en-US"/>
              <a:t>跨租户资源等。</a:t>
            </a:r>
            <a:endParaRPr lang="zh-CN" altLang="en-US"/>
          </a:p>
          <a:p>
            <a:r>
              <a:rPr lang="zh-CN" altLang="en-US"/>
              <a:t>可以从</a:t>
            </a:r>
            <a:r>
              <a:rPr lang="en-US" altLang="zh-CN"/>
              <a:t>“</a:t>
            </a:r>
            <a:r>
              <a:rPr lang="zh-CN" altLang="en-US"/>
              <a:t>一维三档</a:t>
            </a:r>
            <a:r>
              <a:rPr lang="en-US" altLang="zh-CN"/>
              <a:t>”</a:t>
            </a:r>
            <a:r>
              <a:rPr lang="zh-CN" altLang="en-US"/>
              <a:t>升级成</a:t>
            </a:r>
            <a:r>
              <a:rPr lang="en-US" altLang="zh-CN"/>
              <a:t>“</a:t>
            </a:r>
            <a:r>
              <a:rPr lang="zh-CN" altLang="en-US"/>
              <a:t>有内在结构</a:t>
            </a:r>
            <a:r>
              <a:rPr lang="en-US" altLang="zh-CN"/>
              <a:t>”</a:t>
            </a:r>
            <a:r>
              <a:rPr lang="zh-CN" altLang="en-US"/>
              <a:t>的分级模型</a:t>
            </a:r>
            <a:endParaRPr lang="zh-CN" altLang="en-US"/>
          </a:p>
          <a:p>
            <a:endParaRPr lang="zh-CN" altLang="en-US"/>
          </a:p>
          <a:p>
            <a:r>
              <a:rPr lang="zh-CN" altLang="en-US"/>
              <a:t>比如四维的</a:t>
            </a:r>
            <a:endParaRPr lang="zh-CN" altLang="en-US"/>
          </a:p>
          <a:p>
            <a:r>
              <a:rPr lang="en-US" altLang="zh-CN"/>
              <a:t>1. </a:t>
            </a:r>
            <a:r>
              <a:rPr lang="zh-CN" altLang="en-US"/>
              <a:t>操作类型（</a:t>
            </a:r>
            <a:r>
              <a:rPr lang="en-US" altLang="zh-CN"/>
              <a:t>Operation Class</a:t>
            </a:r>
            <a:r>
              <a:rPr lang="zh-CN" altLang="en-US"/>
              <a:t>）：只读</a:t>
            </a:r>
            <a:r>
              <a:rPr lang="en-US" altLang="zh-CN"/>
              <a:t> / </a:t>
            </a:r>
            <a:r>
              <a:rPr lang="zh-CN" altLang="en-US"/>
              <a:t>写入</a:t>
            </a:r>
            <a:r>
              <a:rPr lang="en-US" altLang="zh-CN"/>
              <a:t> / </a:t>
            </a:r>
            <a:r>
              <a:rPr lang="zh-CN" altLang="en-US"/>
              <a:t>删除</a:t>
            </a:r>
            <a:r>
              <a:rPr lang="en-US" altLang="zh-CN"/>
              <a:t> / </a:t>
            </a:r>
            <a:r>
              <a:rPr lang="zh-CN" altLang="en-US"/>
              <a:t>管理</a:t>
            </a:r>
            <a:r>
              <a:rPr lang="en-US" altLang="zh-CN"/>
              <a:t> / </a:t>
            </a:r>
            <a:r>
              <a:rPr lang="zh-CN" altLang="en-US"/>
              <a:t>执行。</a:t>
            </a:r>
            <a:endParaRPr lang="zh-CN" altLang="en-US"/>
          </a:p>
          <a:p>
            <a:r>
              <a:rPr lang="en-US" altLang="zh-CN"/>
              <a:t>2. </a:t>
            </a:r>
            <a:r>
              <a:rPr lang="zh-CN" altLang="en-US"/>
              <a:t>数据敏感度（</a:t>
            </a:r>
            <a:r>
              <a:rPr lang="en-US" altLang="zh-CN"/>
              <a:t>Data Sensitivity</a:t>
            </a:r>
            <a:r>
              <a:rPr lang="zh-CN" altLang="en-US"/>
              <a:t>）：公共</a:t>
            </a:r>
            <a:r>
              <a:rPr lang="en-US" altLang="zh-CN"/>
              <a:t> / </a:t>
            </a:r>
            <a:r>
              <a:rPr lang="zh-CN" altLang="en-US"/>
              <a:t>内部</a:t>
            </a:r>
            <a:r>
              <a:rPr lang="en-US" altLang="zh-CN"/>
              <a:t> / </a:t>
            </a:r>
            <a:r>
              <a:rPr lang="zh-CN" altLang="en-US"/>
              <a:t>私密</a:t>
            </a:r>
            <a:r>
              <a:rPr lang="en-US" altLang="zh-CN"/>
              <a:t> / </a:t>
            </a:r>
            <a:r>
              <a:rPr lang="zh-CN" altLang="en-US"/>
              <a:t>高度敏感（财务、权限配置）。</a:t>
            </a:r>
            <a:endParaRPr lang="zh-CN" altLang="en-US"/>
          </a:p>
          <a:p>
            <a:r>
              <a:rPr lang="en-US" altLang="zh-CN"/>
              <a:t>3. </a:t>
            </a:r>
            <a:r>
              <a:rPr lang="zh-CN" altLang="en-US"/>
              <a:t>影响范围（</a:t>
            </a:r>
            <a:r>
              <a:rPr lang="en-US" altLang="zh-CN"/>
              <a:t>Blast Radius</a:t>
            </a:r>
            <a:r>
              <a:rPr lang="zh-CN" altLang="en-US"/>
              <a:t>）：单资源</a:t>
            </a:r>
            <a:r>
              <a:rPr lang="en-US" altLang="zh-CN"/>
              <a:t> / </a:t>
            </a:r>
            <a:r>
              <a:rPr lang="zh-CN" altLang="en-US"/>
              <a:t>单用户</a:t>
            </a:r>
            <a:r>
              <a:rPr lang="en-US" altLang="zh-CN"/>
              <a:t> / </a:t>
            </a:r>
            <a:r>
              <a:rPr lang="zh-CN" altLang="en-US"/>
              <a:t>单项目</a:t>
            </a:r>
            <a:r>
              <a:rPr lang="en-US" altLang="zh-CN"/>
              <a:t> / </a:t>
            </a:r>
            <a:r>
              <a:rPr lang="zh-CN" altLang="en-US"/>
              <a:t>整个组织。</a:t>
            </a:r>
            <a:endParaRPr lang="zh-CN" altLang="en-US"/>
          </a:p>
          <a:p>
            <a:r>
              <a:rPr lang="en-US" altLang="zh-CN"/>
              <a:t>4. </a:t>
            </a:r>
            <a:r>
              <a:rPr lang="zh-CN" altLang="en-US"/>
              <a:t>自动化允许程度（</a:t>
            </a:r>
            <a:r>
              <a:rPr lang="en-US" altLang="zh-CN"/>
              <a:t>Autonomy Level</a:t>
            </a:r>
            <a:r>
              <a:rPr lang="zh-CN" altLang="en-US"/>
              <a:t>）：可以自动执行</a:t>
            </a:r>
            <a:r>
              <a:rPr lang="en-US" altLang="zh-CN"/>
              <a:t> / </a:t>
            </a:r>
            <a:r>
              <a:rPr lang="zh-CN" altLang="en-US"/>
              <a:t>必须</a:t>
            </a:r>
            <a:r>
              <a:rPr lang="en-US" altLang="zh-CN"/>
              <a:t> HITL / </a:t>
            </a:r>
            <a:r>
              <a:rPr lang="zh-CN" altLang="en-US"/>
              <a:t>完全禁止。</a:t>
            </a:r>
            <a:endParaRPr lang="zh-CN" altLang="en-US"/>
          </a:p>
          <a:p>
            <a:endParaRPr lang="zh-CN" altLang="en-US"/>
          </a:p>
          <a:p>
            <a:r>
              <a:rPr lang="zh-CN" altLang="en-US"/>
              <a:t>为了实现落地，不能让开发者手写五元组太反人类。比如定义预设档位（可以替换原来的</a:t>
            </a:r>
            <a:r>
              <a:rPr lang="en-US" altLang="zh-CN"/>
              <a:t> A/B/C</a:t>
            </a:r>
            <a:r>
              <a:rPr lang="zh-CN" altLang="en-US"/>
              <a:t>）</a:t>
            </a:r>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Rot="1" noChangeAspect="1" noChangeArrowheads="1" noTextEdit="1"/>
          </p:cNvSpPr>
          <p:nvPr>
            <p:ph type="sldImg"/>
          </p:nvPr>
        </p:nvSpPr>
        <p:spPr/>
      </p:sp>
      <p:sp>
        <p:nvSpPr>
          <p:cNvPr id="21506" name="Rectangle 3"/>
          <p:cNvSpPr>
            <a:spLocks noGrp="1" noChangeArrowheads="1"/>
          </p:cNvSpPr>
          <p:nvPr>
            <p:ph type="body" idx="1"/>
          </p:nvPr>
        </p:nvSpPr>
        <p:spPr>
          <a:noFill/>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8537CBA-0E44-4282-A4F0-C3BCC1A4C2D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B6729481-F56E-4915-B271-F2E0B2C5AF7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11394FF-90D5-437E-BC53-F12E581A668D}" type="slidenum">
              <a:rPr lang="zh-CN" altLang="en-US" smtClean="0"/>
            </a:fld>
            <a:endParaRPr lang="zh-CN" altLang="en-US"/>
          </a:p>
        </p:txBody>
      </p:sp>
    </p:spTree>
  </p:cSld>
  <p:clrMapOvr>
    <a:masterClrMapping/>
  </p:clrMapOvr>
  <p:transition spd="slow" advClick="0" advTm="0">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bg>
      <p:bgPr>
        <a:blipFill dpi="0" rotWithShape="1">
          <a:blip r:embed="rId2" cstate="print"/>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slow" advClick="0" advTm="0">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Tree>
  </p:cSld>
  <p:clrMapOvr>
    <a:masterClrMapping/>
  </p:clrMapOvr>
  <p:transition spd="slow" advClick="0" advTm="0">
    <p:push dir="u"/>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6729481-F56E-4915-B271-F2E0B2C5AF72}" type="datetimeFigureOut">
              <a:rPr lang="zh-CN" altLang="en-US" smtClean="0"/>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911394FF-90D5-437E-BC53-F12E581A668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slow" advClick="0" advTm="0">
    <p:push di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tags" Target="../tags/tag1.xml"/><Relationship Id="rId2" Type="http://schemas.microsoft.com/office/2007/relationships/hdphoto" Target="../media/image3.wdp"/><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10.xml"/><Relationship Id="rId8" Type="http://schemas.openxmlformats.org/officeDocument/2006/relationships/tags" Target="../tags/tag9.xml"/><Relationship Id="rId7" Type="http://schemas.openxmlformats.org/officeDocument/2006/relationships/tags" Target="../tags/tag8.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3" Type="http://schemas.openxmlformats.org/officeDocument/2006/relationships/tags" Target="../tags/tag4.xml"/><Relationship Id="rId23" Type="http://schemas.openxmlformats.org/officeDocument/2006/relationships/notesSlide" Target="../notesSlides/notesSlide2.xml"/><Relationship Id="rId22" Type="http://schemas.openxmlformats.org/officeDocument/2006/relationships/slideLayout" Target="../slideLayouts/slideLayout12.xml"/><Relationship Id="rId21" Type="http://schemas.openxmlformats.org/officeDocument/2006/relationships/tags" Target="../tags/tag22.xml"/><Relationship Id="rId20" Type="http://schemas.openxmlformats.org/officeDocument/2006/relationships/tags" Target="../tags/tag21.xml"/><Relationship Id="rId2" Type="http://schemas.openxmlformats.org/officeDocument/2006/relationships/tags" Target="../tags/tag3.xml"/><Relationship Id="rId19" Type="http://schemas.openxmlformats.org/officeDocument/2006/relationships/tags" Target="../tags/tag20.xml"/><Relationship Id="rId18" Type="http://schemas.openxmlformats.org/officeDocument/2006/relationships/tags" Target="../tags/tag19.xml"/><Relationship Id="rId17" Type="http://schemas.openxmlformats.org/officeDocument/2006/relationships/tags" Target="../tags/tag18.xml"/><Relationship Id="rId16" Type="http://schemas.openxmlformats.org/officeDocument/2006/relationships/tags" Target="../tags/tag17.xml"/><Relationship Id="rId15" Type="http://schemas.openxmlformats.org/officeDocument/2006/relationships/tags" Target="../tags/tag16.xml"/><Relationship Id="rId14" Type="http://schemas.openxmlformats.org/officeDocument/2006/relationships/tags" Target="../tags/tag15.xml"/><Relationship Id="rId13" Type="http://schemas.openxmlformats.org/officeDocument/2006/relationships/tags" Target="../tags/tag14.xml"/><Relationship Id="rId12" Type="http://schemas.openxmlformats.org/officeDocument/2006/relationships/tags" Target="../tags/tag13.xml"/><Relationship Id="rId11" Type="http://schemas.openxmlformats.org/officeDocument/2006/relationships/tags" Target="../tags/tag12.xml"/><Relationship Id="rId10" Type="http://schemas.openxmlformats.org/officeDocument/2006/relationships/tags" Target="../tags/tag11.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12.xml"/><Relationship Id="rId4" Type="http://schemas.openxmlformats.org/officeDocument/2006/relationships/tags" Target="../tags/tag24.xml"/><Relationship Id="rId3" Type="http://schemas.openxmlformats.org/officeDocument/2006/relationships/image" Target="../media/image6.jpeg"/><Relationship Id="rId2" Type="http://schemas.openxmlformats.org/officeDocument/2006/relationships/tags" Target="../tags/tag23.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5" Type="http://schemas.openxmlformats.org/officeDocument/2006/relationships/notesSlide" Target="../notesSlides/notesSlide5.xml"/><Relationship Id="rId14" Type="http://schemas.openxmlformats.org/officeDocument/2006/relationships/slideLayout" Target="../slideLayouts/slideLayout12.xml"/><Relationship Id="rId13" Type="http://schemas.openxmlformats.org/officeDocument/2006/relationships/image" Target="../media/image5.png"/><Relationship Id="rId12" Type="http://schemas.openxmlformats.org/officeDocument/2006/relationships/tags" Target="../tags/tag36.xml"/><Relationship Id="rId11" Type="http://schemas.openxmlformats.org/officeDocument/2006/relationships/tags" Target="../tags/tag35.xml"/><Relationship Id="rId10" Type="http://schemas.openxmlformats.org/officeDocument/2006/relationships/tags" Target="../tags/tag34.xml"/><Relationship Id="rId1" Type="http://schemas.openxmlformats.org/officeDocument/2006/relationships/tags" Target="../tags/tag2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6" Type="http://schemas.openxmlformats.org/officeDocument/2006/relationships/notesSlide" Target="../notesSlides/notesSlide7.xml"/><Relationship Id="rId35" Type="http://schemas.openxmlformats.org/officeDocument/2006/relationships/slideLayout" Target="../slideLayouts/slideLayout12.xml"/><Relationship Id="rId34" Type="http://schemas.openxmlformats.org/officeDocument/2006/relationships/tags" Target="../tags/tag69.xml"/><Relationship Id="rId33" Type="http://schemas.openxmlformats.org/officeDocument/2006/relationships/image" Target="../media/image5.png"/><Relationship Id="rId32" Type="http://schemas.openxmlformats.org/officeDocument/2006/relationships/tags" Target="../tags/tag68.xml"/><Relationship Id="rId31" Type="http://schemas.openxmlformats.org/officeDocument/2006/relationships/tags" Target="../tags/tag67.xml"/><Relationship Id="rId30" Type="http://schemas.openxmlformats.org/officeDocument/2006/relationships/tags" Target="../tags/tag66.xml"/><Relationship Id="rId3" Type="http://schemas.openxmlformats.org/officeDocument/2006/relationships/tags" Target="../tags/tag39.xml"/><Relationship Id="rId29" Type="http://schemas.openxmlformats.org/officeDocument/2006/relationships/tags" Target="../tags/tag65.xml"/><Relationship Id="rId28" Type="http://schemas.openxmlformats.org/officeDocument/2006/relationships/tags" Target="../tags/tag64.xml"/><Relationship Id="rId27" Type="http://schemas.openxmlformats.org/officeDocument/2006/relationships/tags" Target="../tags/tag63.xml"/><Relationship Id="rId26" Type="http://schemas.openxmlformats.org/officeDocument/2006/relationships/tags" Target="../tags/tag62.xml"/><Relationship Id="rId25" Type="http://schemas.openxmlformats.org/officeDocument/2006/relationships/tags" Target="../tags/tag61.xml"/><Relationship Id="rId24" Type="http://schemas.openxmlformats.org/officeDocument/2006/relationships/tags" Target="../tags/tag60.xml"/><Relationship Id="rId23" Type="http://schemas.openxmlformats.org/officeDocument/2006/relationships/tags" Target="../tags/tag59.xml"/><Relationship Id="rId22" Type="http://schemas.openxmlformats.org/officeDocument/2006/relationships/tags" Target="../tags/tag58.xml"/><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38.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8.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tags" Target="../tags/tag77.xml"/><Relationship Id="rId7" Type="http://schemas.openxmlformats.org/officeDocument/2006/relationships/tags" Target="../tags/tag76.xml"/><Relationship Id="rId6" Type="http://schemas.openxmlformats.org/officeDocument/2006/relationships/tags" Target="../tags/tag75.xml"/><Relationship Id="rId5" Type="http://schemas.openxmlformats.org/officeDocument/2006/relationships/tags" Target="../tags/tag74.xml"/><Relationship Id="rId46" Type="http://schemas.openxmlformats.org/officeDocument/2006/relationships/notesSlide" Target="../notesSlides/notesSlide8.xml"/><Relationship Id="rId45" Type="http://schemas.openxmlformats.org/officeDocument/2006/relationships/slideLayout" Target="../slideLayouts/slideLayout12.xml"/><Relationship Id="rId44" Type="http://schemas.openxmlformats.org/officeDocument/2006/relationships/image" Target="../media/image5.png"/><Relationship Id="rId43" Type="http://schemas.openxmlformats.org/officeDocument/2006/relationships/tags" Target="../tags/tag112.xml"/><Relationship Id="rId42" Type="http://schemas.openxmlformats.org/officeDocument/2006/relationships/tags" Target="../tags/tag111.xml"/><Relationship Id="rId41" Type="http://schemas.openxmlformats.org/officeDocument/2006/relationships/tags" Target="../tags/tag110.xml"/><Relationship Id="rId40" Type="http://schemas.openxmlformats.org/officeDocument/2006/relationships/tags" Target="../tags/tag109.xml"/><Relationship Id="rId4" Type="http://schemas.openxmlformats.org/officeDocument/2006/relationships/tags" Target="../tags/tag73.xml"/><Relationship Id="rId39" Type="http://schemas.openxmlformats.org/officeDocument/2006/relationships/tags" Target="../tags/tag108.xml"/><Relationship Id="rId38" Type="http://schemas.openxmlformats.org/officeDocument/2006/relationships/tags" Target="../tags/tag107.xml"/><Relationship Id="rId37" Type="http://schemas.openxmlformats.org/officeDocument/2006/relationships/tags" Target="../tags/tag106.xml"/><Relationship Id="rId36" Type="http://schemas.openxmlformats.org/officeDocument/2006/relationships/tags" Target="../tags/tag105.xml"/><Relationship Id="rId35" Type="http://schemas.openxmlformats.org/officeDocument/2006/relationships/tags" Target="../tags/tag104.xml"/><Relationship Id="rId34" Type="http://schemas.openxmlformats.org/officeDocument/2006/relationships/tags" Target="../tags/tag103.xml"/><Relationship Id="rId33" Type="http://schemas.openxmlformats.org/officeDocument/2006/relationships/tags" Target="../tags/tag102.xml"/><Relationship Id="rId32" Type="http://schemas.openxmlformats.org/officeDocument/2006/relationships/tags" Target="../tags/tag101.xml"/><Relationship Id="rId31" Type="http://schemas.openxmlformats.org/officeDocument/2006/relationships/tags" Target="../tags/tag100.xml"/><Relationship Id="rId30" Type="http://schemas.openxmlformats.org/officeDocument/2006/relationships/tags" Target="../tags/tag99.xml"/><Relationship Id="rId3" Type="http://schemas.openxmlformats.org/officeDocument/2006/relationships/tags" Target="../tags/tag72.xml"/><Relationship Id="rId29" Type="http://schemas.openxmlformats.org/officeDocument/2006/relationships/tags" Target="../tags/tag98.xml"/><Relationship Id="rId28" Type="http://schemas.openxmlformats.org/officeDocument/2006/relationships/tags" Target="../tags/tag97.xml"/><Relationship Id="rId27" Type="http://schemas.openxmlformats.org/officeDocument/2006/relationships/tags" Target="../tags/tag96.xml"/><Relationship Id="rId26" Type="http://schemas.openxmlformats.org/officeDocument/2006/relationships/tags" Target="../tags/tag95.xml"/><Relationship Id="rId25" Type="http://schemas.openxmlformats.org/officeDocument/2006/relationships/tags" Target="../tags/tag94.xml"/><Relationship Id="rId24" Type="http://schemas.openxmlformats.org/officeDocument/2006/relationships/tags" Target="../tags/tag93.xml"/><Relationship Id="rId23" Type="http://schemas.openxmlformats.org/officeDocument/2006/relationships/tags" Target="../tags/tag92.xml"/><Relationship Id="rId22" Type="http://schemas.openxmlformats.org/officeDocument/2006/relationships/tags" Target="../tags/tag91.xml"/><Relationship Id="rId21" Type="http://schemas.openxmlformats.org/officeDocument/2006/relationships/tags" Target="../tags/tag90.xml"/><Relationship Id="rId20" Type="http://schemas.openxmlformats.org/officeDocument/2006/relationships/tags" Target="../tags/tag89.xml"/><Relationship Id="rId2" Type="http://schemas.openxmlformats.org/officeDocument/2006/relationships/tags" Target="../tags/tag71.xml"/><Relationship Id="rId19" Type="http://schemas.openxmlformats.org/officeDocument/2006/relationships/tags" Target="../tags/tag88.xml"/><Relationship Id="rId18" Type="http://schemas.openxmlformats.org/officeDocument/2006/relationships/tags" Target="../tags/tag87.xml"/><Relationship Id="rId17" Type="http://schemas.openxmlformats.org/officeDocument/2006/relationships/tags" Target="../tags/tag86.xml"/><Relationship Id="rId16" Type="http://schemas.openxmlformats.org/officeDocument/2006/relationships/tags" Target="../tags/tag85.xml"/><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tags" Target="../tags/tag7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9" Type="http://schemas.openxmlformats.org/officeDocument/2006/relationships/tags" Target="../tags/tag121.xml"/><Relationship Id="rId8" Type="http://schemas.openxmlformats.org/officeDocument/2006/relationships/tags" Target="../tags/tag120.xml"/><Relationship Id="rId7" Type="http://schemas.openxmlformats.org/officeDocument/2006/relationships/tags" Target="../tags/tag119.xml"/><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0" Type="http://schemas.openxmlformats.org/officeDocument/2006/relationships/notesSlide" Target="../notesSlides/notesSlide10.xml"/><Relationship Id="rId2" Type="http://schemas.openxmlformats.org/officeDocument/2006/relationships/tags" Target="../tags/tag114.xml"/><Relationship Id="rId19" Type="http://schemas.openxmlformats.org/officeDocument/2006/relationships/slideLayout" Target="../slideLayouts/slideLayout12.xml"/><Relationship Id="rId18" Type="http://schemas.openxmlformats.org/officeDocument/2006/relationships/tags" Target="../tags/tag129.xml"/><Relationship Id="rId17" Type="http://schemas.openxmlformats.org/officeDocument/2006/relationships/image" Target="../media/image5.png"/><Relationship Id="rId16" Type="http://schemas.openxmlformats.org/officeDocument/2006/relationships/tags" Target="../tags/tag128.xml"/><Relationship Id="rId15" Type="http://schemas.openxmlformats.org/officeDocument/2006/relationships/tags" Target="../tags/tag127.xml"/><Relationship Id="rId14" Type="http://schemas.openxmlformats.org/officeDocument/2006/relationships/tags" Target="../tags/tag126.xml"/><Relationship Id="rId13" Type="http://schemas.openxmlformats.org/officeDocument/2006/relationships/tags" Target="../tags/tag125.xml"/><Relationship Id="rId12" Type="http://schemas.openxmlformats.org/officeDocument/2006/relationships/tags" Target="../tags/tag124.xml"/><Relationship Id="rId11" Type="http://schemas.openxmlformats.org/officeDocument/2006/relationships/tags" Target="../tags/tag123.xml"/><Relationship Id="rId10" Type="http://schemas.openxmlformats.org/officeDocument/2006/relationships/tags" Target="../tags/tag122.xml"/><Relationship Id="rId1" Type="http://schemas.openxmlformats.org/officeDocument/2006/relationships/tags" Target="../tags/tag11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tags" Target="../tags/tag130.xml"/><Relationship Id="rId2" Type="http://schemas.openxmlformats.org/officeDocument/2006/relationships/image" Target="../media/image7.png"/><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tags" Target="../tags/tag131.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12.xml"/><Relationship Id="rId4" Type="http://schemas.openxmlformats.org/officeDocument/2006/relationships/tags" Target="../tags/tag133.xml"/><Relationship Id="rId3" Type="http://schemas.openxmlformats.org/officeDocument/2006/relationships/image" Target="../media/image8.png"/><Relationship Id="rId2" Type="http://schemas.openxmlformats.org/officeDocument/2006/relationships/tags" Target="../tags/tag13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9" Type="http://schemas.openxmlformats.org/officeDocument/2006/relationships/tags" Target="../tags/tag142.xml"/><Relationship Id="rId8" Type="http://schemas.openxmlformats.org/officeDocument/2006/relationships/tags" Target="../tags/tag141.xml"/><Relationship Id="rId7" Type="http://schemas.openxmlformats.org/officeDocument/2006/relationships/tags" Target="../tags/tag140.xml"/><Relationship Id="rId6" Type="http://schemas.openxmlformats.org/officeDocument/2006/relationships/tags" Target="../tags/tag139.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4" Type="http://schemas.openxmlformats.org/officeDocument/2006/relationships/notesSlide" Target="../notesSlides/notesSlide15.xml"/><Relationship Id="rId23" Type="http://schemas.openxmlformats.org/officeDocument/2006/relationships/slideLayout" Target="../slideLayouts/slideLayout12.xml"/><Relationship Id="rId22" Type="http://schemas.openxmlformats.org/officeDocument/2006/relationships/tags" Target="../tags/tag154.xml"/><Relationship Id="rId21" Type="http://schemas.openxmlformats.org/officeDocument/2006/relationships/image" Target="../media/image5.png"/><Relationship Id="rId20" Type="http://schemas.openxmlformats.org/officeDocument/2006/relationships/tags" Target="../tags/tag153.xml"/><Relationship Id="rId2" Type="http://schemas.openxmlformats.org/officeDocument/2006/relationships/tags" Target="../tags/tag135.xml"/><Relationship Id="rId19" Type="http://schemas.openxmlformats.org/officeDocument/2006/relationships/tags" Target="../tags/tag152.xml"/><Relationship Id="rId18" Type="http://schemas.openxmlformats.org/officeDocument/2006/relationships/tags" Target="../tags/tag151.xml"/><Relationship Id="rId17" Type="http://schemas.openxmlformats.org/officeDocument/2006/relationships/tags" Target="../tags/tag150.xml"/><Relationship Id="rId16" Type="http://schemas.openxmlformats.org/officeDocument/2006/relationships/tags" Target="../tags/tag149.xml"/><Relationship Id="rId15" Type="http://schemas.openxmlformats.org/officeDocument/2006/relationships/tags" Target="../tags/tag148.xml"/><Relationship Id="rId14" Type="http://schemas.openxmlformats.org/officeDocument/2006/relationships/tags" Target="../tags/tag147.xml"/><Relationship Id="rId13" Type="http://schemas.openxmlformats.org/officeDocument/2006/relationships/tags" Target="../tags/tag146.xml"/><Relationship Id="rId12" Type="http://schemas.openxmlformats.org/officeDocument/2006/relationships/tags" Target="../tags/tag145.xml"/><Relationship Id="rId11" Type="http://schemas.openxmlformats.org/officeDocument/2006/relationships/tags" Target="../tags/tag144.xml"/><Relationship Id="rId10" Type="http://schemas.openxmlformats.org/officeDocument/2006/relationships/tags" Target="../tags/tag143.xml"/><Relationship Id="rId1" Type="http://schemas.openxmlformats.org/officeDocument/2006/relationships/tags" Target="../tags/tag134.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tags" Target="../tags/tag155.xml"/><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tags" Target="../tags/tag156.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10.png"/><Relationship Id="rId2" Type="http://schemas.openxmlformats.org/officeDocument/2006/relationships/tags" Target="../tags/tag157.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2.xml"/><Relationship Id="rId4" Type="http://schemas.openxmlformats.org/officeDocument/2006/relationships/tags" Target="../tags/tag159.xml"/><Relationship Id="rId3" Type="http://schemas.openxmlformats.org/officeDocument/2006/relationships/image" Target="../media/image11.png"/><Relationship Id="rId2" Type="http://schemas.openxmlformats.org/officeDocument/2006/relationships/tags" Target="../tags/tag158.xml"/><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tags" Target="../tags/tag160.xml"/><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2.xml"/><Relationship Id="rId4" Type="http://schemas.openxmlformats.org/officeDocument/2006/relationships/image" Target="../media/image14.png"/><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9" Type="http://schemas.openxmlformats.org/officeDocument/2006/relationships/notesSlide" Target="../notesSlides/notesSlide22.xml"/><Relationship Id="rId8" Type="http://schemas.openxmlformats.org/officeDocument/2006/relationships/slideLayout" Target="../slideLayouts/slideLayout12.xml"/><Relationship Id="rId7" Type="http://schemas.openxmlformats.org/officeDocument/2006/relationships/tags" Target="../tags/tag169.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tags" Target="../tags/tag166.xml"/><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2.xml"/><Relationship Id="rId2" Type="http://schemas.openxmlformats.org/officeDocument/2006/relationships/tags" Target="../tags/tag170.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tags" Target="../tags/tag171.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9" Type="http://schemas.openxmlformats.org/officeDocument/2006/relationships/tags" Target="../tags/tag180.xml"/><Relationship Id="rId8" Type="http://schemas.openxmlformats.org/officeDocument/2006/relationships/tags" Target="../tags/tag179.xml"/><Relationship Id="rId7" Type="http://schemas.openxmlformats.org/officeDocument/2006/relationships/tags" Target="../tags/tag178.xml"/><Relationship Id="rId6" Type="http://schemas.openxmlformats.org/officeDocument/2006/relationships/tags" Target="../tags/tag177.xml"/><Relationship Id="rId5" Type="http://schemas.openxmlformats.org/officeDocument/2006/relationships/tags" Target="../tags/tag176.xml"/><Relationship Id="rId4" Type="http://schemas.openxmlformats.org/officeDocument/2006/relationships/tags" Target="../tags/tag175.xml"/><Relationship Id="rId3" Type="http://schemas.openxmlformats.org/officeDocument/2006/relationships/tags" Target="../tags/tag174.xml"/><Relationship Id="rId2" Type="http://schemas.openxmlformats.org/officeDocument/2006/relationships/tags" Target="../tags/tag173.xml"/><Relationship Id="rId15" Type="http://schemas.openxmlformats.org/officeDocument/2006/relationships/notesSlide" Target="../notesSlides/notesSlide26.xml"/><Relationship Id="rId14" Type="http://schemas.openxmlformats.org/officeDocument/2006/relationships/slideLayout" Target="../slideLayouts/slideLayout12.xml"/><Relationship Id="rId13" Type="http://schemas.openxmlformats.org/officeDocument/2006/relationships/tags" Target="../tags/tag183.xml"/><Relationship Id="rId12" Type="http://schemas.openxmlformats.org/officeDocument/2006/relationships/image" Target="../media/image5.png"/><Relationship Id="rId11" Type="http://schemas.openxmlformats.org/officeDocument/2006/relationships/tags" Target="../tags/tag182.xml"/><Relationship Id="rId10" Type="http://schemas.openxmlformats.org/officeDocument/2006/relationships/tags" Target="../tags/tag181.xml"/><Relationship Id="rId1" Type="http://schemas.openxmlformats.org/officeDocument/2006/relationships/tags" Target="../tags/tag172.xml"/></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2.xml"/><Relationship Id="rId2" Type="http://schemas.openxmlformats.org/officeDocument/2006/relationships/tags" Target="../tags/tag184.xml"/><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12.xml"/><Relationship Id="rId3" Type="http://schemas.openxmlformats.org/officeDocument/2006/relationships/tags" Target="../tags/tag185.xml"/><Relationship Id="rId2" Type="http://schemas.microsoft.com/office/2007/relationships/hdphoto" Target="../media/image3.wdp"/><Relationship Id="rId1" Type="http://schemas.openxmlformats.org/officeDocument/2006/relationships/image" Target="../media/image2.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2.xml"/><Relationship Id="rId2" Type="http://schemas.openxmlformats.org/officeDocument/2006/relationships/tags" Target="../tags/tag186.xml"/><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tags" Target="../tags/tag187.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组合 45"/>
          <p:cNvGrpSpPr/>
          <p:nvPr/>
        </p:nvGrpSpPr>
        <p:grpSpPr>
          <a:xfrm>
            <a:off x="3924000" y="915566"/>
            <a:ext cx="1296000" cy="1296000"/>
            <a:chOff x="3832651" y="1100471"/>
            <a:chExt cx="1296000" cy="1296000"/>
          </a:xfrm>
        </p:grpSpPr>
        <p:sp>
          <p:nvSpPr>
            <p:cNvPr id="48" name="椭圆 47"/>
            <p:cNvSpPr/>
            <p:nvPr/>
          </p:nvSpPr>
          <p:spPr>
            <a:xfrm>
              <a:off x="3832651" y="1100471"/>
              <a:ext cx="1296000" cy="1296000"/>
            </a:xfrm>
            <a:prstGeom prst="ellipse">
              <a:avLst/>
            </a:prstGeom>
            <a:gradFill flip="none" rotWithShape="1">
              <a:gsLst>
                <a:gs pos="0">
                  <a:schemeClr val="bg1">
                    <a:lumMod val="75000"/>
                  </a:schemeClr>
                </a:gs>
                <a:gs pos="100000">
                  <a:schemeClr val="bg1"/>
                </a:gs>
                <a:gs pos="0">
                  <a:srgbClr val="CDCDCD"/>
                </a:gs>
              </a:gsLst>
              <a:lin ang="18900000" scaled="1"/>
              <a:tileRect/>
            </a:gra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p:cNvSpPr/>
            <p:nvPr/>
          </p:nvSpPr>
          <p:spPr>
            <a:xfrm>
              <a:off x="3868583" y="1136403"/>
              <a:ext cx="1224136" cy="1224136"/>
            </a:xfrm>
            <a:prstGeom prst="ellipse">
              <a:avLst/>
            </a:prstGeom>
            <a:gradFill flip="none" rotWithShape="1">
              <a:gsLst>
                <a:gs pos="100000">
                  <a:schemeClr val="bg1"/>
                </a:gs>
                <a:gs pos="0">
                  <a:schemeClr val="bg1">
                    <a:lumMod val="75000"/>
                  </a:schemeClr>
                </a:gs>
              </a:gsLst>
              <a:lin ang="8400000" scaled="0"/>
              <a:tileRect/>
            </a:gradFill>
            <a:ln w="28575">
              <a:noFill/>
            </a:ln>
            <a:effectLst>
              <a:outerShdw blurRad="317500" dist="228600" dir="72000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53" name="组合 52"/>
          <p:cNvGrpSpPr/>
          <p:nvPr/>
        </p:nvGrpSpPr>
        <p:grpSpPr>
          <a:xfrm>
            <a:off x="5812051" y="1309130"/>
            <a:ext cx="1656184" cy="508869"/>
            <a:chOff x="755576" y="627534"/>
            <a:chExt cx="1800200" cy="508869"/>
          </a:xfrm>
        </p:grpSpPr>
        <p:cxnSp>
          <p:nvCxnSpPr>
            <p:cNvPr id="54" name="直接连接符 53"/>
            <p:cNvCxnSpPr/>
            <p:nvPr/>
          </p:nvCxnSpPr>
          <p:spPr>
            <a:xfrm>
              <a:off x="755576" y="987574"/>
              <a:ext cx="504056" cy="0"/>
            </a:xfrm>
            <a:prstGeom prst="line">
              <a:avLst/>
            </a:prstGeom>
            <a:ln w="19050">
              <a:solidFill>
                <a:schemeClr val="bg1"/>
              </a:solidFill>
              <a:head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V="1">
              <a:off x="1259632" y="843558"/>
              <a:ext cx="72008" cy="144016"/>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1331640" y="843558"/>
              <a:ext cx="124675" cy="292845"/>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1456315" y="627534"/>
              <a:ext cx="451389" cy="508869"/>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1907704" y="627534"/>
              <a:ext cx="72008" cy="360040"/>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V="1">
              <a:off x="1979712" y="987574"/>
              <a:ext cx="576064" cy="2406"/>
            </a:xfrm>
            <a:prstGeom prst="line">
              <a:avLst/>
            </a:prstGeom>
            <a:ln w="19050">
              <a:solidFill>
                <a:schemeClr val="bg1"/>
              </a:solidFill>
              <a:tail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grpSp>
      <p:grpSp>
        <p:nvGrpSpPr>
          <p:cNvPr id="60" name="组合 59"/>
          <p:cNvGrpSpPr/>
          <p:nvPr/>
        </p:nvGrpSpPr>
        <p:grpSpPr>
          <a:xfrm>
            <a:off x="1475656" y="1309129"/>
            <a:ext cx="1656184" cy="508869"/>
            <a:chOff x="755576" y="627534"/>
            <a:chExt cx="1800200" cy="508869"/>
          </a:xfrm>
        </p:grpSpPr>
        <p:cxnSp>
          <p:nvCxnSpPr>
            <p:cNvPr id="61" name="直接连接符 60"/>
            <p:cNvCxnSpPr/>
            <p:nvPr/>
          </p:nvCxnSpPr>
          <p:spPr>
            <a:xfrm>
              <a:off x="755576" y="987574"/>
              <a:ext cx="504056" cy="0"/>
            </a:xfrm>
            <a:prstGeom prst="line">
              <a:avLst/>
            </a:prstGeom>
            <a:ln w="19050">
              <a:solidFill>
                <a:schemeClr val="bg1"/>
              </a:solidFill>
              <a:head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V="1">
              <a:off x="1259632" y="843558"/>
              <a:ext cx="72008" cy="144016"/>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1331640" y="843558"/>
              <a:ext cx="124675" cy="292845"/>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V="1">
              <a:off x="1456315" y="627534"/>
              <a:ext cx="451389" cy="508869"/>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1907704" y="627534"/>
              <a:ext cx="72008" cy="360040"/>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V="1">
              <a:off x="1979712" y="987574"/>
              <a:ext cx="576064" cy="2406"/>
            </a:xfrm>
            <a:prstGeom prst="line">
              <a:avLst/>
            </a:prstGeom>
            <a:ln w="19050">
              <a:solidFill>
                <a:schemeClr val="bg1"/>
              </a:solidFill>
              <a:tail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grpSp>
      <p:pic>
        <p:nvPicPr>
          <p:cNvPr id="70" name="Picture 2"/>
          <p:cNvPicPr preferRelativeResize="0">
            <a:picLocks noChangeAspect="1" noChangeArrowheads="1"/>
          </p:cNvPicPr>
          <p:nvPr/>
        </p:nvPicPr>
        <p:blipFill>
          <a:blip r:embed="rId1" cstate="print">
            <a:duotone>
              <a:prstClr val="black"/>
              <a:srgbClr val="679E2A">
                <a:tint val="45000"/>
                <a:satMod val="400000"/>
              </a:srgbClr>
            </a:duotone>
            <a:extLst>
              <a:ext uri="{BEBA8EAE-BF5A-486C-A8C5-ECC9F3942E4B}">
                <a14:imgProps xmlns:a14="http://schemas.microsoft.com/office/drawing/2010/main">
                  <a14:imgLayer r:embed="rId2">
                    <a14:imgEffect>
                      <a14:brightnessContrast bright="25000"/>
                    </a14:imgEffect>
                  </a14:imgLayer>
                </a14:imgProps>
              </a:ext>
              <a:ext uri="{28A0092B-C50C-407E-A947-70E740481C1C}">
                <a14:useLocalDpi xmlns:a14="http://schemas.microsoft.com/office/drawing/2010/main" val="0"/>
              </a:ext>
            </a:extLst>
          </a:blip>
          <a:srcRect/>
          <a:stretch>
            <a:fillRect/>
          </a:stretch>
        </p:blipFill>
        <p:spPr bwMode="auto">
          <a:xfrm>
            <a:off x="3952111" y="951498"/>
            <a:ext cx="1254678" cy="1254678"/>
          </a:xfrm>
          <a:prstGeom prst="rect">
            <a:avLst/>
          </a:prstGeom>
          <a:noFill/>
          <a:extLst>
            <a:ext uri="{909E8E84-426E-40DD-AFC4-6F175D3DCCD1}">
              <a14:hiddenFill xmlns:a14="http://schemas.microsoft.com/office/drawing/2010/main">
                <a:solidFill>
                  <a:srgbClr val="FFFFFF"/>
                </a:solidFill>
              </a14:hiddenFill>
            </a:ext>
          </a:extLst>
        </p:spPr>
      </p:pic>
      <p:sp>
        <p:nvSpPr>
          <p:cNvPr id="76" name="TextBox 75"/>
          <p:cNvSpPr txBox="1"/>
          <p:nvPr/>
        </p:nvSpPr>
        <p:spPr>
          <a:xfrm>
            <a:off x="7452320" y="4515966"/>
            <a:ext cx="1691680" cy="230505"/>
          </a:xfrm>
          <a:prstGeom prst="rect">
            <a:avLst/>
          </a:prstGeom>
          <a:noFill/>
        </p:spPr>
        <p:txBody>
          <a:bodyPr wrap="square" lIns="0" tIns="0" rIns="0" bIns="0" rtlCol="0">
            <a:spAutoFit/>
          </a:bodyPr>
          <a:lstStyle/>
          <a:p>
            <a:r>
              <a:rPr lang="zh-CN" altLang="en-US" sz="1500" dirty="0">
                <a:solidFill>
                  <a:schemeClr val="bg1">
                    <a:lumMod val="50000"/>
                  </a:schemeClr>
                </a:solidFill>
                <a:latin typeface="微软雅黑" panose="020B0503020204020204" pitchFamily="34" charset="-122"/>
                <a:ea typeface="微软雅黑" panose="020B0503020204020204" pitchFamily="34" charset="-122"/>
              </a:rPr>
              <a:t>答辩人：朱正轩</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7" name="TextBox 76"/>
          <p:cNvSpPr txBox="1"/>
          <p:nvPr/>
        </p:nvSpPr>
        <p:spPr>
          <a:xfrm>
            <a:off x="7452320" y="4803998"/>
            <a:ext cx="1691680" cy="230505"/>
          </a:xfrm>
          <a:prstGeom prst="rect">
            <a:avLst/>
          </a:prstGeom>
          <a:noFill/>
        </p:spPr>
        <p:txBody>
          <a:bodyPr wrap="square" lIns="0" tIns="0" rIns="0" bIns="0" rtlCol="0">
            <a:spAutoFit/>
          </a:bodyPr>
          <a:lstStyle/>
          <a:p>
            <a:r>
              <a:rPr lang="zh-CN" altLang="en-US" sz="1500" dirty="0">
                <a:solidFill>
                  <a:schemeClr val="bg1">
                    <a:lumMod val="50000"/>
                  </a:schemeClr>
                </a:solidFill>
                <a:latin typeface="微软雅黑" panose="020B0503020204020204" pitchFamily="34" charset="-122"/>
                <a:ea typeface="微软雅黑" panose="020B0503020204020204" pitchFamily="34" charset="-122"/>
              </a:rPr>
              <a:t>导   师：徐静</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78" name="圆角矩形 77"/>
          <p:cNvSpPr/>
          <p:nvPr/>
        </p:nvSpPr>
        <p:spPr>
          <a:xfrm>
            <a:off x="1238250" y="2736850"/>
            <a:ext cx="6579870" cy="549910"/>
          </a:xfrm>
          <a:prstGeom prst="roundRect">
            <a:avLst>
              <a:gd name="adj" fmla="val 22751"/>
            </a:avLst>
          </a:prstGeom>
          <a:gradFill>
            <a:gsLst>
              <a:gs pos="0">
                <a:schemeClr val="bg1">
                  <a:lumMod val="95000"/>
                </a:schemeClr>
              </a:gs>
              <a:gs pos="100000">
                <a:schemeClr val="bg1">
                  <a:lumMod val="95000"/>
                </a:schemeClr>
              </a:gs>
            </a:gsLst>
            <a:lin ang="5400000" scaled="0"/>
          </a:gradFill>
          <a:ln>
            <a:noFill/>
          </a:ln>
          <a:effectLst>
            <a:innerShdw blurRad="1524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79" name="Text Box 64"/>
          <p:cNvSpPr txBox="1">
            <a:spLocks noChangeArrowheads="1"/>
          </p:cNvSpPr>
          <p:nvPr/>
        </p:nvSpPr>
        <p:spPr bwMode="auto">
          <a:xfrm>
            <a:off x="1907540" y="2769870"/>
            <a:ext cx="5329555" cy="483870"/>
          </a:xfrm>
          <a:prstGeom prst="rect">
            <a:avLst/>
          </a:prstGeom>
          <a:noFill/>
          <a:ln w="9525">
            <a:noFill/>
            <a:miter lim="800000"/>
          </a:ln>
        </p:spPr>
        <p:txBody>
          <a:bodyPr wrap="square" lIns="68580" tIns="34290" rIns="68580" bIns="34290">
            <a:spAutoFit/>
          </a:bodyPr>
          <a:lstStyle/>
          <a:p>
            <a:r>
              <a:rPr lang="en-US" altLang="zh-CN" sz="2700" b="1" dirty="0">
                <a:solidFill>
                  <a:srgbClr val="679E2A"/>
                </a:solidFill>
                <a:latin typeface="微软雅黑" panose="020B0503020204020204" pitchFamily="34" charset="-122"/>
                <a:ea typeface="微软雅黑" panose="020B0503020204020204" pitchFamily="34" charset="-122"/>
              </a:rPr>
              <a:t>OAuth</a:t>
            </a:r>
            <a:r>
              <a:rPr lang="zh-CN" altLang="en-US" sz="2700" b="1" dirty="0">
                <a:solidFill>
                  <a:srgbClr val="679E2A"/>
                </a:solidFill>
                <a:latin typeface="微软雅黑" panose="020B0503020204020204" pitchFamily="34" charset="-122"/>
                <a:ea typeface="微软雅黑" panose="020B0503020204020204" pitchFamily="34" charset="-122"/>
              </a:rPr>
              <a:t>协议</a:t>
            </a:r>
            <a:r>
              <a:rPr lang="zh-CN" sz="2700" b="1" dirty="0">
                <a:solidFill>
                  <a:srgbClr val="679E2A"/>
                </a:solidFill>
                <a:latin typeface="微软雅黑" panose="020B0503020204020204" pitchFamily="34" charset="-122"/>
                <a:ea typeface="微软雅黑" panose="020B0503020204020204" pitchFamily="34" charset="-122"/>
                <a:sym typeface="+mn-ea"/>
              </a:rPr>
              <a:t>的</a:t>
            </a:r>
            <a:r>
              <a:rPr lang="zh-CN" sz="2700" b="1" dirty="0">
                <a:solidFill>
                  <a:srgbClr val="679E2A"/>
                </a:solidFill>
                <a:latin typeface="微软雅黑" panose="020B0503020204020204" pitchFamily="34" charset="-122"/>
                <a:ea typeface="微软雅黑" panose="020B0503020204020204" pitchFamily="34" charset="-122"/>
              </a:rPr>
              <a:t>实现安全性分析</a:t>
            </a:r>
            <a:endParaRPr lang="zh-CN" sz="2700" b="1" dirty="0">
              <a:solidFill>
                <a:srgbClr val="679E2A"/>
              </a:solidFill>
              <a:latin typeface="微软雅黑" panose="020B0503020204020204" pitchFamily="34" charset="-122"/>
              <a:ea typeface="微软雅黑" panose="020B0503020204020204" pitchFamily="34" charset="-122"/>
            </a:endParaRPr>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4000" advClick="0" advTm="0">
        <p14:vortex dir="r"/>
      </p:transition>
    </mc:Choice>
    <mc:Fallback>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after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strVal val="4*#ppt_w"/>
                                          </p:val>
                                        </p:tav>
                                        <p:tav tm="100000">
                                          <p:val>
                                            <p:strVal val="#ppt_w"/>
                                          </p:val>
                                        </p:tav>
                                      </p:tavLst>
                                    </p:anim>
                                    <p:anim calcmode="lin" valueType="num">
                                      <p:cBhvr>
                                        <p:cTn id="8" dur="500" fill="hold"/>
                                        <p:tgtEl>
                                          <p:spTgt spid="46"/>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10" presetClass="entr" presetSubtype="0" fill="hold" nodeType="afterEffect">
                                  <p:stCondLst>
                                    <p:cond delay="0"/>
                                  </p:stCondLst>
                                  <p:childTnLst>
                                    <p:set>
                                      <p:cBhvr>
                                        <p:cTn id="11" dur="1" fill="hold">
                                          <p:stCondLst>
                                            <p:cond delay="0"/>
                                          </p:stCondLst>
                                        </p:cTn>
                                        <p:tgtEl>
                                          <p:spTgt spid="70"/>
                                        </p:tgtEl>
                                        <p:attrNameLst>
                                          <p:attrName>style.visibility</p:attrName>
                                        </p:attrNameLst>
                                      </p:cBhvr>
                                      <p:to>
                                        <p:strVal val="visible"/>
                                      </p:to>
                                    </p:set>
                                    <p:animEffect transition="in" filter="fade">
                                      <p:cBhvr>
                                        <p:cTn id="12" dur="500"/>
                                        <p:tgtEl>
                                          <p:spTgt spid="70"/>
                                        </p:tgtEl>
                                      </p:cBhvr>
                                    </p:animEffect>
                                  </p:childTnLst>
                                </p:cTn>
                              </p:par>
                            </p:childTnLst>
                          </p:cTn>
                        </p:par>
                        <p:par>
                          <p:cTn id="13" fill="hold">
                            <p:stCondLst>
                              <p:cond delay="1000"/>
                            </p:stCondLst>
                            <p:childTnLst>
                              <p:par>
                                <p:cTn id="14" presetID="1" presetClass="entr" presetSubtype="0" fill="hold" nodeType="afterEffect">
                                  <p:stCondLst>
                                    <p:cond delay="0"/>
                                  </p:stCondLst>
                                  <p:childTnLst>
                                    <p:set>
                                      <p:cBhvr>
                                        <p:cTn id="15" dur="1" fill="hold">
                                          <p:stCondLst>
                                            <p:cond delay="0"/>
                                          </p:stCondLst>
                                        </p:cTn>
                                        <p:tgtEl>
                                          <p:spTgt spid="53"/>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60"/>
                                        </p:tgtEl>
                                        <p:attrNameLst>
                                          <p:attrName>style.visibility</p:attrName>
                                        </p:attrNameLst>
                                      </p:cBhvr>
                                      <p:to>
                                        <p:strVal val="visible"/>
                                      </p:to>
                                    </p:set>
                                  </p:childTnLst>
                                </p:cTn>
                              </p:par>
                            </p:childTnLst>
                          </p:cTn>
                        </p:par>
                        <p:par>
                          <p:cTn id="18" fill="hold">
                            <p:stCondLst>
                              <p:cond delay="1000"/>
                            </p:stCondLst>
                            <p:childTnLst>
                              <p:par>
                                <p:cTn id="19" presetID="22" presetClass="entr" presetSubtype="8" fill="hold" nodeType="after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wipe(left)">
                                      <p:cBhvr>
                                        <p:cTn id="21" dur="500"/>
                                        <p:tgtEl>
                                          <p:spTgt spid="53"/>
                                        </p:tgtEl>
                                      </p:cBhvr>
                                    </p:animEffect>
                                  </p:childTnLst>
                                </p:cTn>
                              </p:par>
                              <p:par>
                                <p:cTn id="22" presetID="22" presetClass="entr" presetSubtype="2" fill="hold"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wipe(right)">
                                      <p:cBhvr>
                                        <p:cTn id="24" dur="500"/>
                                        <p:tgtEl>
                                          <p:spTgt spid="60"/>
                                        </p:tgtEl>
                                      </p:cBhvr>
                                    </p:animEffect>
                                  </p:childTnLst>
                                </p:cTn>
                              </p:par>
                            </p:childTnLst>
                          </p:cTn>
                        </p:par>
                        <p:par>
                          <p:cTn id="25" fill="hold">
                            <p:stCondLst>
                              <p:cond delay="1500"/>
                            </p:stCondLst>
                            <p:childTnLst>
                              <p:par>
                                <p:cTn id="26" presetID="26" presetClass="emph" presetSubtype="0" fill="hold" nodeType="afterEffect">
                                  <p:stCondLst>
                                    <p:cond delay="0"/>
                                  </p:stCondLst>
                                  <p:childTnLst>
                                    <p:animEffect transition="out" filter="fade">
                                      <p:cBhvr>
                                        <p:cTn id="27" dur="500" tmFilter="0, 0; .2, .5; .8, .5; 1, 0"/>
                                        <p:tgtEl>
                                          <p:spTgt spid="53"/>
                                        </p:tgtEl>
                                      </p:cBhvr>
                                    </p:animEffect>
                                    <p:animScale>
                                      <p:cBhvr>
                                        <p:cTn id="28" dur="250" autoRev="1" fill="hold"/>
                                        <p:tgtEl>
                                          <p:spTgt spid="53"/>
                                        </p:tgtEl>
                                      </p:cBhvr>
                                      <p:by x="105000" y="105000"/>
                                    </p:animScale>
                                  </p:childTnLst>
                                </p:cTn>
                              </p:par>
                              <p:par>
                                <p:cTn id="29" presetID="26" presetClass="emph" presetSubtype="0" fill="hold" nodeType="withEffect">
                                  <p:stCondLst>
                                    <p:cond delay="0"/>
                                  </p:stCondLst>
                                  <p:childTnLst>
                                    <p:animEffect transition="out" filter="fade">
                                      <p:cBhvr>
                                        <p:cTn id="30" dur="500" tmFilter="0, 0; .2, .5; .8, .5; 1, 0"/>
                                        <p:tgtEl>
                                          <p:spTgt spid="60"/>
                                        </p:tgtEl>
                                      </p:cBhvr>
                                    </p:animEffect>
                                    <p:animScale>
                                      <p:cBhvr>
                                        <p:cTn id="31" dur="250" autoRev="1" fill="hold"/>
                                        <p:tgtEl>
                                          <p:spTgt spid="60"/>
                                        </p:tgtEl>
                                      </p:cBhvr>
                                      <p:by x="105000" y="105000"/>
                                    </p:animScale>
                                  </p:childTnLst>
                                </p:cTn>
                              </p:par>
                            </p:childTnLst>
                          </p:cTn>
                        </p:par>
                        <p:par>
                          <p:cTn id="32" fill="hold">
                            <p:stCondLst>
                              <p:cond delay="2000"/>
                            </p:stCondLst>
                            <p:childTnLst>
                              <p:par>
                                <p:cTn id="33" presetID="16" presetClass="entr" presetSubtype="21" fill="hold" grpId="0" nodeType="afterEffect">
                                  <p:stCondLst>
                                    <p:cond delay="0"/>
                                  </p:stCondLst>
                                  <p:childTnLst>
                                    <p:set>
                                      <p:cBhvr>
                                        <p:cTn id="34" dur="1" fill="hold">
                                          <p:stCondLst>
                                            <p:cond delay="0"/>
                                          </p:stCondLst>
                                        </p:cTn>
                                        <p:tgtEl>
                                          <p:spTgt spid="78"/>
                                        </p:tgtEl>
                                        <p:attrNameLst>
                                          <p:attrName>style.visibility</p:attrName>
                                        </p:attrNameLst>
                                      </p:cBhvr>
                                      <p:to>
                                        <p:strVal val="visible"/>
                                      </p:to>
                                    </p:set>
                                    <p:animEffect transition="in" filter="barn(inVertical)">
                                      <p:cBhvr>
                                        <p:cTn id="35" dur="500"/>
                                        <p:tgtEl>
                                          <p:spTgt spid="78"/>
                                        </p:tgtEl>
                                      </p:cBhvr>
                                    </p:animEffect>
                                  </p:childTnLst>
                                </p:cTn>
                              </p:par>
                              <p:par>
                                <p:cTn id="36" presetID="22" presetClass="entr" presetSubtype="8" fill="hold" grpId="0" nodeType="withEffect">
                                  <p:stCondLst>
                                    <p:cond delay="500"/>
                                  </p:stCondLst>
                                  <p:childTnLst>
                                    <p:set>
                                      <p:cBhvr>
                                        <p:cTn id="37" dur="1" fill="hold">
                                          <p:stCondLst>
                                            <p:cond delay="0"/>
                                          </p:stCondLst>
                                        </p:cTn>
                                        <p:tgtEl>
                                          <p:spTgt spid="79"/>
                                        </p:tgtEl>
                                        <p:attrNameLst>
                                          <p:attrName>style.visibility</p:attrName>
                                        </p:attrNameLst>
                                      </p:cBhvr>
                                      <p:to>
                                        <p:strVal val="visible"/>
                                      </p:to>
                                    </p:set>
                                    <p:animEffect transition="in" filter="wipe(left)">
                                      <p:cBhvr>
                                        <p:cTn id="38" dur="2000"/>
                                        <p:tgtEl>
                                          <p:spTgt spid="79"/>
                                        </p:tgtEl>
                                      </p:cBhvr>
                                    </p:animEffect>
                                  </p:childTnLst>
                                </p:cTn>
                              </p:par>
                            </p:childTnLst>
                          </p:cTn>
                        </p:par>
                        <p:par>
                          <p:cTn id="39" fill="hold">
                            <p:stCondLst>
                              <p:cond delay="2500"/>
                            </p:stCondLst>
                            <p:childTnLst>
                              <p:par>
                                <p:cTn id="40" presetID="37" presetClass="entr" presetSubtype="0" fill="hold" grpId="0" nodeType="afterEffect">
                                  <p:stCondLst>
                                    <p:cond delay="0"/>
                                  </p:stCondLst>
                                  <p:childTnLst>
                                    <p:set>
                                      <p:cBhvr>
                                        <p:cTn id="41" dur="1" fill="hold">
                                          <p:stCondLst>
                                            <p:cond delay="0"/>
                                          </p:stCondLst>
                                        </p:cTn>
                                        <p:tgtEl>
                                          <p:spTgt spid="76"/>
                                        </p:tgtEl>
                                        <p:attrNameLst>
                                          <p:attrName>style.visibility</p:attrName>
                                        </p:attrNameLst>
                                      </p:cBhvr>
                                      <p:to>
                                        <p:strVal val="visible"/>
                                      </p:to>
                                    </p:set>
                                    <p:animEffect transition="in" filter="fade">
                                      <p:cBhvr>
                                        <p:cTn id="42" dur="1000"/>
                                        <p:tgtEl>
                                          <p:spTgt spid="76"/>
                                        </p:tgtEl>
                                      </p:cBhvr>
                                    </p:animEffect>
                                    <p:anim calcmode="lin" valueType="num">
                                      <p:cBhvr>
                                        <p:cTn id="43" dur="1000" fill="hold"/>
                                        <p:tgtEl>
                                          <p:spTgt spid="76"/>
                                        </p:tgtEl>
                                        <p:attrNameLst>
                                          <p:attrName>ppt_x</p:attrName>
                                        </p:attrNameLst>
                                      </p:cBhvr>
                                      <p:tavLst>
                                        <p:tav tm="0">
                                          <p:val>
                                            <p:strVal val="#ppt_x"/>
                                          </p:val>
                                        </p:tav>
                                        <p:tav tm="100000">
                                          <p:val>
                                            <p:strVal val="#ppt_x"/>
                                          </p:val>
                                        </p:tav>
                                      </p:tavLst>
                                    </p:anim>
                                    <p:anim calcmode="lin" valueType="num">
                                      <p:cBhvr>
                                        <p:cTn id="44" dur="900" decel="100000" fill="hold"/>
                                        <p:tgtEl>
                                          <p:spTgt spid="76"/>
                                        </p:tgtEl>
                                        <p:attrNameLst>
                                          <p:attrName>ppt_y</p:attrName>
                                        </p:attrNameLst>
                                      </p:cBhvr>
                                      <p:tavLst>
                                        <p:tav tm="0">
                                          <p:val>
                                            <p:strVal val="#ppt_y+1"/>
                                          </p:val>
                                        </p:tav>
                                        <p:tav tm="100000">
                                          <p:val>
                                            <p:strVal val="#ppt_y-.03"/>
                                          </p:val>
                                        </p:tav>
                                      </p:tavLst>
                                    </p:anim>
                                    <p:anim calcmode="lin" valueType="num">
                                      <p:cBhvr>
                                        <p:cTn id="45" dur="100" accel="100000" fill="hold">
                                          <p:stCondLst>
                                            <p:cond delay="900"/>
                                          </p:stCondLst>
                                        </p:cTn>
                                        <p:tgtEl>
                                          <p:spTgt spid="76"/>
                                        </p:tgtEl>
                                        <p:attrNameLst>
                                          <p:attrName>ppt_y</p:attrName>
                                        </p:attrNameLst>
                                      </p:cBhvr>
                                      <p:tavLst>
                                        <p:tav tm="0">
                                          <p:val>
                                            <p:strVal val="#ppt_y-.03"/>
                                          </p:val>
                                        </p:tav>
                                        <p:tav tm="100000">
                                          <p:val>
                                            <p:strVal val="#ppt_y"/>
                                          </p:val>
                                        </p:tav>
                                      </p:tavLst>
                                    </p:anim>
                                  </p:childTnLst>
                                </p:cTn>
                              </p:par>
                            </p:childTnLst>
                          </p:cTn>
                        </p:par>
                        <p:par>
                          <p:cTn id="46" fill="hold">
                            <p:stCondLst>
                              <p:cond delay="3500"/>
                            </p:stCondLst>
                            <p:childTnLst>
                              <p:par>
                                <p:cTn id="47" presetID="37" presetClass="entr" presetSubtype="0" fill="hold" grpId="0" nodeType="afterEffect">
                                  <p:stCondLst>
                                    <p:cond delay="0"/>
                                  </p:stCondLst>
                                  <p:childTnLst>
                                    <p:set>
                                      <p:cBhvr>
                                        <p:cTn id="48" dur="1" fill="hold">
                                          <p:stCondLst>
                                            <p:cond delay="0"/>
                                          </p:stCondLst>
                                        </p:cTn>
                                        <p:tgtEl>
                                          <p:spTgt spid="77"/>
                                        </p:tgtEl>
                                        <p:attrNameLst>
                                          <p:attrName>style.visibility</p:attrName>
                                        </p:attrNameLst>
                                      </p:cBhvr>
                                      <p:to>
                                        <p:strVal val="visible"/>
                                      </p:to>
                                    </p:set>
                                    <p:animEffect transition="in" filter="fade">
                                      <p:cBhvr>
                                        <p:cTn id="49" dur="1000"/>
                                        <p:tgtEl>
                                          <p:spTgt spid="77"/>
                                        </p:tgtEl>
                                      </p:cBhvr>
                                    </p:animEffect>
                                    <p:anim calcmode="lin" valueType="num">
                                      <p:cBhvr>
                                        <p:cTn id="50" dur="1000" fill="hold"/>
                                        <p:tgtEl>
                                          <p:spTgt spid="77"/>
                                        </p:tgtEl>
                                        <p:attrNameLst>
                                          <p:attrName>ppt_x</p:attrName>
                                        </p:attrNameLst>
                                      </p:cBhvr>
                                      <p:tavLst>
                                        <p:tav tm="0">
                                          <p:val>
                                            <p:strVal val="#ppt_x"/>
                                          </p:val>
                                        </p:tav>
                                        <p:tav tm="100000">
                                          <p:val>
                                            <p:strVal val="#ppt_x"/>
                                          </p:val>
                                        </p:tav>
                                      </p:tavLst>
                                    </p:anim>
                                    <p:anim calcmode="lin" valueType="num">
                                      <p:cBhvr>
                                        <p:cTn id="51" dur="900" decel="100000" fill="hold"/>
                                        <p:tgtEl>
                                          <p:spTgt spid="77"/>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77"/>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77" grpId="0"/>
      <p:bldP spid="78" grpId="0" bldLvl="0" animBg="1"/>
      <p:bldP spid="7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 name="直接连接符 14"/>
          <p:cNvCxnSpPr/>
          <p:nvPr>
            <p:custDataLst>
              <p:tags r:id="rId1"/>
            </p:custDataLst>
          </p:nvPr>
        </p:nvCxnSpPr>
        <p:spPr>
          <a:xfrm flipV="1">
            <a:off x="7742635" y="1816894"/>
            <a:ext cx="0" cy="713185"/>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3" name="椭圆 22"/>
          <p:cNvSpPr/>
          <p:nvPr>
            <p:custDataLst>
              <p:tags r:id="rId2"/>
            </p:custDataLst>
          </p:nvPr>
        </p:nvSpPr>
        <p:spPr>
          <a:xfrm>
            <a:off x="7441528" y="1448198"/>
            <a:ext cx="601003" cy="601927"/>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05</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cxnSp>
        <p:nvCxnSpPr>
          <p:cNvPr id="41" name="直接连接符 40"/>
          <p:cNvCxnSpPr/>
          <p:nvPr/>
        </p:nvCxnSpPr>
        <p:spPr>
          <a:xfrm>
            <a:off x="0" y="2544366"/>
            <a:ext cx="1379935"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3"/>
            </p:custDataLst>
          </p:nvPr>
        </p:nvCxnSpPr>
        <p:spPr>
          <a:xfrm>
            <a:off x="7752160" y="2544366"/>
            <a:ext cx="1391840"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4"/>
            </p:custDataLst>
          </p:nvPr>
        </p:nvCxnSpPr>
        <p:spPr>
          <a:xfrm>
            <a:off x="6584157" y="2544366"/>
            <a:ext cx="1150144"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5"/>
            </p:custDataLst>
          </p:nvPr>
        </p:nvCxnSpPr>
        <p:spPr>
          <a:xfrm>
            <a:off x="4058841" y="2544366"/>
            <a:ext cx="0" cy="711994"/>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custDataLst>
              <p:tags r:id="rId6"/>
            </p:custDataLst>
          </p:nvPr>
        </p:nvCxnSpPr>
        <p:spPr>
          <a:xfrm>
            <a:off x="6596063" y="2544366"/>
            <a:ext cx="0" cy="711994"/>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flipV="1">
            <a:off x="3008710" y="1797844"/>
            <a:ext cx="0" cy="713185"/>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2" name="直接连接符 14"/>
          <p:cNvCxnSpPr/>
          <p:nvPr>
            <p:custDataLst>
              <p:tags r:id="rId8"/>
            </p:custDataLst>
          </p:nvPr>
        </p:nvCxnSpPr>
        <p:spPr>
          <a:xfrm flipV="1">
            <a:off x="5304235" y="1797844"/>
            <a:ext cx="0" cy="713185"/>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9"/>
            </p:custDataLst>
          </p:nvPr>
        </p:nvCxnSpPr>
        <p:spPr>
          <a:xfrm>
            <a:off x="5328047" y="2544366"/>
            <a:ext cx="1251347"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0"/>
            </p:custDataLst>
          </p:nvPr>
        </p:nvCxnSpPr>
        <p:spPr>
          <a:xfrm>
            <a:off x="4088607" y="2544366"/>
            <a:ext cx="1203722"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11"/>
            </p:custDataLst>
          </p:nvPr>
        </p:nvCxnSpPr>
        <p:spPr>
          <a:xfrm>
            <a:off x="3026569" y="2544366"/>
            <a:ext cx="1034654"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p:nvPr>
            <p:custDataLst>
              <p:tags r:id="rId12"/>
            </p:custDataLst>
          </p:nvPr>
        </p:nvCxnSpPr>
        <p:spPr>
          <a:xfrm>
            <a:off x="1960960" y="2544366"/>
            <a:ext cx="1056084" cy="0"/>
          </a:xfrm>
          <a:prstGeom prst="line">
            <a:avLst/>
          </a:prstGeom>
          <a:ln w="25400">
            <a:solidFill>
              <a:schemeClr val="bg1"/>
            </a:solidFill>
            <a:tailEnd type="oval" w="lg" len="lg"/>
          </a:ln>
          <a:effectLst>
            <a:outerShdw blurRad="50800" dist="508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20" name="椭圆 19"/>
          <p:cNvSpPr/>
          <p:nvPr>
            <p:custDataLst>
              <p:tags r:id="rId13"/>
            </p:custDataLst>
          </p:nvPr>
        </p:nvSpPr>
        <p:spPr>
          <a:xfrm>
            <a:off x="2707948" y="1429134"/>
            <a:ext cx="601154" cy="600980"/>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01</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sp>
        <p:nvSpPr>
          <p:cNvPr id="3" name="椭圆 22"/>
          <p:cNvSpPr/>
          <p:nvPr>
            <p:custDataLst>
              <p:tags r:id="rId14"/>
            </p:custDataLst>
          </p:nvPr>
        </p:nvSpPr>
        <p:spPr>
          <a:xfrm>
            <a:off x="5003128" y="1429148"/>
            <a:ext cx="601003" cy="601927"/>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03</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sp>
        <p:nvSpPr>
          <p:cNvPr id="29" name="椭圆 28"/>
          <p:cNvSpPr/>
          <p:nvPr>
            <p:custDataLst>
              <p:tags r:id="rId15"/>
            </p:custDataLst>
          </p:nvPr>
        </p:nvSpPr>
        <p:spPr>
          <a:xfrm>
            <a:off x="6284300" y="3065459"/>
            <a:ext cx="601154" cy="601715"/>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04</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sp>
        <p:nvSpPr>
          <p:cNvPr id="32" name="椭圆 31"/>
          <p:cNvSpPr/>
          <p:nvPr>
            <p:custDataLst>
              <p:tags r:id="rId16"/>
            </p:custDataLst>
          </p:nvPr>
        </p:nvSpPr>
        <p:spPr>
          <a:xfrm>
            <a:off x="3758127" y="3065459"/>
            <a:ext cx="602345" cy="601715"/>
          </a:xfrm>
          <a:prstGeom prst="ellipse">
            <a:avLst/>
          </a:prstGeom>
          <a:gradFill flip="none" rotWithShape="1">
            <a:gsLst>
              <a:gs pos="0">
                <a:schemeClr val="bg1">
                  <a:lumMod val="85000"/>
                </a:schemeClr>
              </a:gs>
              <a:gs pos="100000">
                <a:schemeClr val="bg1"/>
              </a:gs>
            </a:gsLst>
            <a:lin ang="2700000" scaled="1"/>
            <a:tileRect/>
          </a:gradFill>
          <a:ln w="25400">
            <a:gradFill flip="none" rotWithShape="1">
              <a:gsLst>
                <a:gs pos="0">
                  <a:schemeClr val="bg1"/>
                </a:gs>
                <a:gs pos="100000">
                  <a:schemeClr val="bg1">
                    <a:lumMod val="85000"/>
                  </a:schemeClr>
                </a:gs>
              </a:gsLst>
              <a:lin ang="2700000" scaled="1"/>
              <a:tileRect/>
            </a:gradFill>
          </a:ln>
          <a:effectLst>
            <a:outerShdw blurRad="88900" dist="635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1700" b="1" dirty="0">
                <a:solidFill>
                  <a:srgbClr val="002060"/>
                </a:solidFill>
                <a:latin typeface="微软雅黑" panose="020B0503020204020204" pitchFamily="34" charset="-122"/>
                <a:ea typeface="微软雅黑" panose="020B0503020204020204" pitchFamily="34" charset="-122"/>
              </a:rPr>
              <a:t>02</a:t>
            </a:r>
            <a:endParaRPr lang="en-US" altLang="zh-CN" sz="1700" b="1" dirty="0">
              <a:solidFill>
                <a:srgbClr val="002060"/>
              </a:solidFill>
              <a:latin typeface="微软雅黑" panose="020B0503020204020204" pitchFamily="34" charset="-122"/>
              <a:ea typeface="微软雅黑" panose="020B0503020204020204" pitchFamily="34" charset="-122"/>
            </a:endParaRPr>
          </a:p>
        </p:txBody>
      </p:sp>
      <p:grpSp>
        <p:nvGrpSpPr>
          <p:cNvPr id="4" name="组合 3"/>
          <p:cNvGrpSpPr/>
          <p:nvPr/>
        </p:nvGrpSpPr>
        <p:grpSpPr>
          <a:xfrm>
            <a:off x="658330" y="1755347"/>
            <a:ext cx="1580432" cy="1577996"/>
            <a:chOff x="658330" y="1755347"/>
            <a:chExt cx="1580432" cy="1577996"/>
          </a:xfrm>
        </p:grpSpPr>
        <p:sp>
          <p:nvSpPr>
            <p:cNvPr id="5" name="椭圆 4"/>
            <p:cNvSpPr/>
            <p:nvPr/>
          </p:nvSpPr>
          <p:spPr>
            <a:xfrm>
              <a:off x="658330" y="1755347"/>
              <a:ext cx="1580432" cy="1577996"/>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endParaRPr lang="zh-CN" altLang="en-US" sz="1400" b="1">
                <a:solidFill>
                  <a:srgbClr val="0547A1"/>
                </a:solidFill>
                <a:latin typeface="微软雅黑" panose="020B0503020204020204" pitchFamily="34" charset="-122"/>
                <a:ea typeface="微软雅黑" panose="020B0503020204020204" pitchFamily="34" charset="-122"/>
              </a:endParaRPr>
            </a:p>
          </p:txBody>
        </p:sp>
        <p:sp>
          <p:nvSpPr>
            <p:cNvPr id="18468" name="文本框 33"/>
            <p:cNvSpPr txBox="1">
              <a:spLocks noChangeArrowheads="1"/>
            </p:cNvSpPr>
            <p:nvPr/>
          </p:nvSpPr>
          <p:spPr bwMode="auto">
            <a:xfrm>
              <a:off x="727473" y="2101454"/>
              <a:ext cx="1448990" cy="754856"/>
            </a:xfrm>
            <a:prstGeom prst="rect">
              <a:avLst/>
            </a:prstGeom>
            <a:noFill/>
            <a:ln w="9525">
              <a:noFill/>
              <a:miter lim="800000"/>
            </a:ln>
          </p:spPr>
          <p:txBody>
            <a:bodyPr lIns="68580" tIns="34290" rIns="68580" bIns="34290">
              <a:spAutoFit/>
            </a:bodyPr>
            <a:lstStyle/>
            <a:p>
              <a:pPr algn="ctr"/>
              <a:r>
                <a:rPr lang="zh-CN" altLang="en-US" sz="4500" b="1" dirty="0">
                  <a:solidFill>
                    <a:srgbClr val="679E2A"/>
                  </a:solidFill>
                  <a:latin typeface="微软雅黑" panose="020B0503020204020204" pitchFamily="34" charset="-122"/>
                  <a:ea typeface="微软雅黑" panose="020B0503020204020204" pitchFamily="34" charset="-122"/>
                </a:rPr>
                <a:t>目录</a:t>
              </a:r>
              <a:endParaRPr lang="zh-CN" altLang="en-US" sz="4500" b="1" dirty="0">
                <a:solidFill>
                  <a:srgbClr val="679E2A"/>
                </a:solidFill>
                <a:latin typeface="微软雅黑" panose="020B0503020204020204" pitchFamily="34" charset="-122"/>
                <a:ea typeface="微软雅黑" panose="020B0503020204020204" pitchFamily="34" charset="-122"/>
              </a:endParaRPr>
            </a:p>
          </p:txBody>
        </p:sp>
        <p:sp>
          <p:nvSpPr>
            <p:cNvPr id="18469" name="文本框 33"/>
            <p:cNvSpPr txBox="1">
              <a:spLocks noChangeArrowheads="1"/>
            </p:cNvSpPr>
            <p:nvPr/>
          </p:nvSpPr>
          <p:spPr bwMode="auto">
            <a:xfrm>
              <a:off x="762001" y="2749154"/>
              <a:ext cx="1345406" cy="238527"/>
            </a:xfrm>
            <a:prstGeom prst="rect">
              <a:avLst/>
            </a:prstGeom>
            <a:noFill/>
            <a:ln w="9525">
              <a:noFill/>
              <a:miter lim="800000"/>
            </a:ln>
          </p:spPr>
          <p:txBody>
            <a:bodyPr lIns="68580" tIns="34290" rIns="68580" bIns="34290">
              <a:spAutoFit/>
            </a:bodyPr>
            <a:lstStyle/>
            <a:p>
              <a:pPr algn="ctr"/>
              <a:r>
                <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rPr>
                <a:t>CONTENTS</a:t>
              </a:r>
              <a:endParaRPr lang="en-US" altLang="zh-CN" sz="11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27" name="TextBox 26"/>
          <p:cNvSpPr txBox="1"/>
          <p:nvPr>
            <p:custDataLst>
              <p:tags r:id="rId17"/>
            </p:custDataLst>
          </p:nvPr>
        </p:nvSpPr>
        <p:spPr>
          <a:xfrm>
            <a:off x="2171563" y="1028073"/>
            <a:ext cx="17830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课题背景及意义</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0" name="TextBox 29"/>
          <p:cNvSpPr txBox="1"/>
          <p:nvPr>
            <p:custDataLst>
              <p:tags r:id="rId18"/>
            </p:custDataLst>
          </p:nvPr>
        </p:nvSpPr>
        <p:spPr>
          <a:xfrm>
            <a:off x="2957914" y="3795886"/>
            <a:ext cx="22402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课题现状及发展情况</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4" name="TextBox 33"/>
          <p:cNvSpPr txBox="1"/>
          <p:nvPr>
            <p:custDataLst>
              <p:tags r:id="rId19"/>
            </p:custDataLst>
          </p:nvPr>
        </p:nvSpPr>
        <p:spPr>
          <a:xfrm>
            <a:off x="4477776" y="1027270"/>
            <a:ext cx="17830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研究内容及目标</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TextBox 34"/>
          <p:cNvSpPr txBox="1"/>
          <p:nvPr>
            <p:custDataLst>
              <p:tags r:id="rId20"/>
            </p:custDataLst>
          </p:nvPr>
        </p:nvSpPr>
        <p:spPr>
          <a:xfrm>
            <a:off x="5933490" y="3813031"/>
            <a:ext cx="13258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阶段性成果</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7" name="TextBox 36"/>
          <p:cNvSpPr txBox="1"/>
          <p:nvPr>
            <p:custDataLst>
              <p:tags r:id="rId21"/>
            </p:custDataLst>
          </p:nvPr>
        </p:nvSpPr>
        <p:spPr>
          <a:xfrm>
            <a:off x="6803955" y="1027270"/>
            <a:ext cx="2240280" cy="368300"/>
          </a:xfrm>
          <a:prstGeom prst="rect">
            <a:avLst/>
          </a:prstGeom>
          <a:noFill/>
        </p:spPr>
        <p:txBody>
          <a:bodyPr wrap="non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研究计划与进度安排</a:t>
            </a:r>
            <a:endParaRPr lang="zh-CN" altLang="en-US"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41"/>
                                        </p:tgtEl>
                                        <p:attrNameLst>
                                          <p:attrName>style.visibility</p:attrName>
                                        </p:attrNameLst>
                                      </p:cBhvr>
                                      <p:to>
                                        <p:strVal val="visible"/>
                                      </p:to>
                                    </p:set>
                                    <p:anim calcmode="lin" valueType="num">
                                      <p:cBhvr additive="base">
                                        <p:cTn id="12" dur="500" fill="hold"/>
                                        <p:tgtEl>
                                          <p:spTgt spid="41"/>
                                        </p:tgtEl>
                                        <p:attrNameLst>
                                          <p:attrName>ppt_x</p:attrName>
                                        </p:attrNameLst>
                                      </p:cBhvr>
                                      <p:tavLst>
                                        <p:tav tm="0">
                                          <p:val>
                                            <p:strVal val="0-#ppt_w/2"/>
                                          </p:val>
                                        </p:tav>
                                        <p:tav tm="100000">
                                          <p:val>
                                            <p:strVal val="#ppt_x"/>
                                          </p:val>
                                        </p:tav>
                                      </p:tavLst>
                                    </p:anim>
                                    <p:anim calcmode="lin" valueType="num">
                                      <p:cBhvr additive="base">
                                        <p:cTn id="13" dur="500" fill="hold"/>
                                        <p:tgtEl>
                                          <p:spTgt spid="41"/>
                                        </p:tgtEl>
                                        <p:attrNameLst>
                                          <p:attrName>ppt_y</p:attrName>
                                        </p:attrNameLst>
                                      </p:cBhvr>
                                      <p:tavLst>
                                        <p:tav tm="0">
                                          <p:val>
                                            <p:strVal val="#ppt_y"/>
                                          </p:val>
                                        </p:tav>
                                        <p:tav tm="100000">
                                          <p:val>
                                            <p:strVal val="#ppt_y"/>
                                          </p:val>
                                        </p:tav>
                                      </p:tavLst>
                                    </p:anim>
                                  </p:childTnLst>
                                </p:cTn>
                              </p:par>
                              <p:par>
                                <p:cTn id="14" presetID="2" presetClass="entr" presetSubtype="8" fill="hold" nodeType="withEffect">
                                  <p:stCondLst>
                                    <p:cond delay="0"/>
                                  </p:stCondLst>
                                  <p:childTnLst>
                                    <p:set>
                                      <p:cBhvr>
                                        <p:cTn id="15" dur="1" fill="hold">
                                          <p:stCondLst>
                                            <p:cond delay="0"/>
                                          </p:stCondLst>
                                        </p:cTn>
                                        <p:tgtEl>
                                          <p:spTgt spid="39"/>
                                        </p:tgtEl>
                                        <p:attrNameLst>
                                          <p:attrName>style.visibility</p:attrName>
                                        </p:attrNameLst>
                                      </p:cBhvr>
                                      <p:to>
                                        <p:strVal val="visible"/>
                                      </p:to>
                                    </p:set>
                                    <p:anim calcmode="lin" valueType="num">
                                      <p:cBhvr additive="base">
                                        <p:cTn id="16" dur="500" fill="hold"/>
                                        <p:tgtEl>
                                          <p:spTgt spid="39"/>
                                        </p:tgtEl>
                                        <p:attrNameLst>
                                          <p:attrName>ppt_x</p:attrName>
                                        </p:attrNameLst>
                                      </p:cBhvr>
                                      <p:tavLst>
                                        <p:tav tm="0">
                                          <p:val>
                                            <p:strVal val="0-#ppt_w/2"/>
                                          </p:val>
                                        </p:tav>
                                        <p:tav tm="100000">
                                          <p:val>
                                            <p:strVal val="#ppt_x"/>
                                          </p:val>
                                        </p:tav>
                                      </p:tavLst>
                                    </p:anim>
                                    <p:anim calcmode="lin" valueType="num">
                                      <p:cBhvr additive="base">
                                        <p:cTn id="17" dur="500" fill="hold"/>
                                        <p:tgtEl>
                                          <p:spTgt spid="39"/>
                                        </p:tgtEl>
                                        <p:attrNameLst>
                                          <p:attrName>ppt_y</p:attrName>
                                        </p:attrNameLst>
                                      </p:cBhvr>
                                      <p:tavLst>
                                        <p:tav tm="0">
                                          <p:val>
                                            <p:strVal val="#ppt_y"/>
                                          </p:val>
                                        </p:tav>
                                        <p:tav tm="100000">
                                          <p:val>
                                            <p:strVal val="#ppt_y"/>
                                          </p:val>
                                        </p:tav>
                                      </p:tavLst>
                                    </p:anim>
                                  </p:childTnLst>
                                </p:cTn>
                              </p:par>
                              <p:par>
                                <p:cTn id="18" presetID="2" presetClass="entr" presetSubtype="8" fill="hold" nodeType="with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0-#ppt_w/2"/>
                                          </p:val>
                                        </p:tav>
                                        <p:tav tm="100000">
                                          <p:val>
                                            <p:strVal val="#ppt_x"/>
                                          </p:val>
                                        </p:tav>
                                      </p:tavLst>
                                    </p:anim>
                                    <p:anim calcmode="lin" valueType="num">
                                      <p:cBhvr additive="base">
                                        <p:cTn id="21" dur="500" fill="hold"/>
                                        <p:tgtEl>
                                          <p:spTgt spid="12"/>
                                        </p:tgtEl>
                                        <p:attrNameLst>
                                          <p:attrName>ppt_y</p:attrName>
                                        </p:attrNameLst>
                                      </p:cBhvr>
                                      <p:tavLst>
                                        <p:tav tm="0">
                                          <p:val>
                                            <p:strVal val="#ppt_y"/>
                                          </p:val>
                                        </p:tav>
                                        <p:tav tm="100000">
                                          <p:val>
                                            <p:strVal val="#ppt_y"/>
                                          </p:val>
                                        </p:tav>
                                      </p:tavLst>
                                    </p:anim>
                                  </p:childTnLst>
                                </p:cTn>
                              </p:par>
                              <p:par>
                                <p:cTn id="22" presetID="2" presetClass="entr" presetSubtype="8"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0-#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8"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00" fill="hold"/>
                                        <p:tgtEl>
                                          <p:spTgt spid="10"/>
                                        </p:tgtEl>
                                        <p:attrNameLst>
                                          <p:attrName>ppt_x</p:attrName>
                                        </p:attrNameLst>
                                      </p:cBhvr>
                                      <p:tavLst>
                                        <p:tav tm="0">
                                          <p:val>
                                            <p:strVal val="0-#ppt_w/2"/>
                                          </p:val>
                                        </p:tav>
                                        <p:tav tm="100000">
                                          <p:val>
                                            <p:strVal val="#ppt_x"/>
                                          </p:val>
                                        </p:tav>
                                      </p:tavLst>
                                    </p:anim>
                                    <p:anim calcmode="lin" valueType="num">
                                      <p:cBhvr additive="base">
                                        <p:cTn id="29" dur="500" fill="hold"/>
                                        <p:tgtEl>
                                          <p:spTgt spid="10"/>
                                        </p:tgtEl>
                                        <p:attrNameLst>
                                          <p:attrName>ppt_y</p:attrName>
                                        </p:attrNameLst>
                                      </p:cBhvr>
                                      <p:tavLst>
                                        <p:tav tm="0">
                                          <p:val>
                                            <p:strVal val="#ppt_y"/>
                                          </p:val>
                                        </p:tav>
                                        <p:tav tm="100000">
                                          <p:val>
                                            <p:strVal val="#ppt_y"/>
                                          </p:val>
                                        </p:tav>
                                      </p:tavLst>
                                    </p:anim>
                                  </p:childTnLst>
                                </p:cTn>
                              </p:par>
                              <p:par>
                                <p:cTn id="30" presetID="2" presetClass="entr" presetSubtype="8"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0-#ppt_w/2"/>
                                          </p:val>
                                        </p:tav>
                                        <p:tav tm="100000">
                                          <p:val>
                                            <p:strVal val="#ppt_x"/>
                                          </p:val>
                                        </p:tav>
                                      </p:tavLst>
                                    </p:anim>
                                    <p:anim calcmode="lin" valueType="num">
                                      <p:cBhvr additive="base">
                                        <p:cTn id="33" dur="500" fill="hold"/>
                                        <p:tgtEl>
                                          <p:spTgt spid="9"/>
                                        </p:tgtEl>
                                        <p:attrNameLst>
                                          <p:attrName>ppt_y</p:attrName>
                                        </p:attrNameLst>
                                      </p:cBhvr>
                                      <p:tavLst>
                                        <p:tav tm="0">
                                          <p:val>
                                            <p:strVal val="#ppt_y"/>
                                          </p:val>
                                        </p:tav>
                                        <p:tav tm="100000">
                                          <p:val>
                                            <p:strVal val="#ppt_y"/>
                                          </p:val>
                                        </p:tav>
                                      </p:tavLst>
                                    </p:anim>
                                  </p:childTnLst>
                                </p:cTn>
                              </p:par>
                              <p:par>
                                <p:cTn id="34" presetID="2" presetClass="entr" presetSubtype="8" fill="hold"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0-#ppt_w/2"/>
                                          </p:val>
                                        </p:tav>
                                        <p:tav tm="100000">
                                          <p:val>
                                            <p:strVal val="#ppt_x"/>
                                          </p:val>
                                        </p:tav>
                                      </p:tavLst>
                                    </p:anim>
                                    <p:anim calcmode="lin" valueType="num">
                                      <p:cBhvr additive="base">
                                        <p:cTn id="37" dur="500" fill="hold"/>
                                        <p:tgtEl>
                                          <p:spTgt spid="8"/>
                                        </p:tgtEl>
                                        <p:attrNameLst>
                                          <p:attrName>ppt_y</p:attrName>
                                        </p:attrNameLst>
                                      </p:cBhvr>
                                      <p:tavLst>
                                        <p:tav tm="0">
                                          <p:val>
                                            <p:strVal val="#ppt_y"/>
                                          </p:val>
                                        </p:tav>
                                        <p:tav tm="100000">
                                          <p:val>
                                            <p:strVal val="#ppt_y"/>
                                          </p:val>
                                        </p:tav>
                                      </p:tavLst>
                                    </p:anim>
                                  </p:childTnLst>
                                </p:cTn>
                              </p:par>
                            </p:childTnLst>
                          </p:cTn>
                        </p:par>
                        <p:par>
                          <p:cTn id="38" fill="hold">
                            <p:stCondLst>
                              <p:cond delay="1000"/>
                            </p:stCondLst>
                            <p:childTnLst>
                              <p:par>
                                <p:cTn id="39" presetID="2" presetClass="entr" presetSubtype="1" fill="hold" nodeType="afterEffect">
                                  <p:stCondLst>
                                    <p:cond delay="0"/>
                                  </p:stCondLst>
                                  <p:childTnLst>
                                    <p:set>
                                      <p:cBhvr>
                                        <p:cTn id="40" dur="1" fill="hold">
                                          <p:stCondLst>
                                            <p:cond delay="0"/>
                                          </p:stCondLst>
                                        </p:cTn>
                                        <p:tgtEl>
                                          <p:spTgt spid="13"/>
                                        </p:tgtEl>
                                        <p:attrNameLst>
                                          <p:attrName>style.visibility</p:attrName>
                                        </p:attrNameLst>
                                      </p:cBhvr>
                                      <p:to>
                                        <p:strVal val="visible"/>
                                      </p:to>
                                    </p:set>
                                    <p:anim calcmode="lin" valueType="num">
                                      <p:cBhvr additive="base">
                                        <p:cTn id="41" dur="500" fill="hold"/>
                                        <p:tgtEl>
                                          <p:spTgt spid="13"/>
                                        </p:tgtEl>
                                        <p:attrNameLst>
                                          <p:attrName>ppt_x</p:attrName>
                                        </p:attrNameLst>
                                      </p:cBhvr>
                                      <p:tavLst>
                                        <p:tav tm="0">
                                          <p:val>
                                            <p:strVal val="#ppt_x"/>
                                          </p:val>
                                        </p:tav>
                                        <p:tav tm="100000">
                                          <p:val>
                                            <p:strVal val="#ppt_x"/>
                                          </p:val>
                                        </p:tav>
                                      </p:tavLst>
                                    </p:anim>
                                    <p:anim calcmode="lin" valueType="num">
                                      <p:cBhvr additive="base">
                                        <p:cTn id="42" dur="500" fill="hold"/>
                                        <p:tgtEl>
                                          <p:spTgt spid="13"/>
                                        </p:tgtEl>
                                        <p:attrNameLst>
                                          <p:attrName>ppt_y</p:attrName>
                                        </p:attrNameLst>
                                      </p:cBhvr>
                                      <p:tavLst>
                                        <p:tav tm="0">
                                          <p:val>
                                            <p:strVal val="0-#ppt_h/2"/>
                                          </p:val>
                                        </p:tav>
                                        <p:tav tm="100000">
                                          <p:val>
                                            <p:strVal val="#ppt_y"/>
                                          </p:val>
                                        </p:tav>
                                      </p:tavLst>
                                    </p:anim>
                                  </p:childTnLst>
                                </p:cTn>
                              </p:par>
                              <p:par>
                                <p:cTn id="43" presetID="2" presetClass="entr" presetSubtype="1" fill="hold" nodeType="withEffect">
                                  <p:stCondLst>
                                    <p:cond delay="0"/>
                                  </p:stCondLst>
                                  <p:childTnLst>
                                    <p:set>
                                      <p:cBhvr>
                                        <p:cTn id="44" dur="1" fill="hold">
                                          <p:stCondLst>
                                            <p:cond delay="0"/>
                                          </p:stCondLst>
                                        </p:cTn>
                                        <p:tgtEl>
                                          <p:spTgt spid="20"/>
                                        </p:tgtEl>
                                        <p:attrNameLst>
                                          <p:attrName>style.visibility</p:attrName>
                                        </p:attrNameLst>
                                      </p:cBhvr>
                                      <p:to>
                                        <p:strVal val="visible"/>
                                      </p:to>
                                    </p:set>
                                    <p:anim calcmode="lin" valueType="num">
                                      <p:cBhvr additive="base">
                                        <p:cTn id="45" dur="500" fill="hold"/>
                                        <p:tgtEl>
                                          <p:spTgt spid="20"/>
                                        </p:tgtEl>
                                        <p:attrNameLst>
                                          <p:attrName>ppt_x</p:attrName>
                                        </p:attrNameLst>
                                      </p:cBhvr>
                                      <p:tavLst>
                                        <p:tav tm="0">
                                          <p:val>
                                            <p:strVal val="#ppt_x"/>
                                          </p:val>
                                        </p:tav>
                                        <p:tav tm="100000">
                                          <p:val>
                                            <p:strVal val="#ppt_x"/>
                                          </p:val>
                                        </p:tav>
                                      </p:tavLst>
                                    </p:anim>
                                    <p:anim calcmode="lin" valueType="num">
                                      <p:cBhvr additive="base">
                                        <p:cTn id="46" dur="500" fill="hold"/>
                                        <p:tgtEl>
                                          <p:spTgt spid="20"/>
                                        </p:tgtEl>
                                        <p:attrNameLst>
                                          <p:attrName>ppt_y</p:attrName>
                                        </p:attrNameLst>
                                      </p:cBhvr>
                                      <p:tavLst>
                                        <p:tav tm="0">
                                          <p:val>
                                            <p:strVal val="0-#ppt_h/2"/>
                                          </p:val>
                                        </p:tav>
                                        <p:tav tm="100000">
                                          <p:val>
                                            <p:strVal val="#ppt_y"/>
                                          </p:val>
                                        </p:tav>
                                      </p:tavLst>
                                    </p:anim>
                                  </p:childTnLst>
                                </p:cTn>
                              </p:par>
                            </p:childTnLst>
                          </p:cTn>
                        </p:par>
                        <p:par>
                          <p:cTn id="47" fill="hold">
                            <p:stCondLst>
                              <p:cond delay="1500"/>
                            </p:stCondLst>
                            <p:childTnLst>
                              <p:par>
                                <p:cTn id="48" presetID="2" presetClass="entr" presetSubtype="4" fill="hold" nodeType="afterEffect">
                                  <p:stCondLst>
                                    <p:cond delay="0"/>
                                  </p:stCondLst>
                                  <p:childTnLst>
                                    <p:set>
                                      <p:cBhvr>
                                        <p:cTn id="49" dur="1" fill="hold">
                                          <p:stCondLst>
                                            <p:cond delay="0"/>
                                          </p:stCondLst>
                                        </p:cTn>
                                        <p:tgtEl>
                                          <p:spTgt spid="17"/>
                                        </p:tgtEl>
                                        <p:attrNameLst>
                                          <p:attrName>style.visibility</p:attrName>
                                        </p:attrNameLst>
                                      </p:cBhvr>
                                      <p:to>
                                        <p:strVal val="visible"/>
                                      </p:to>
                                    </p:set>
                                    <p:anim calcmode="lin" valueType="num">
                                      <p:cBhvr additive="base">
                                        <p:cTn id="50" dur="500" fill="hold"/>
                                        <p:tgtEl>
                                          <p:spTgt spid="17"/>
                                        </p:tgtEl>
                                        <p:attrNameLst>
                                          <p:attrName>ppt_x</p:attrName>
                                        </p:attrNameLst>
                                      </p:cBhvr>
                                      <p:tavLst>
                                        <p:tav tm="0">
                                          <p:val>
                                            <p:strVal val="#ppt_x"/>
                                          </p:val>
                                        </p:tav>
                                        <p:tav tm="100000">
                                          <p:val>
                                            <p:strVal val="#ppt_x"/>
                                          </p:val>
                                        </p:tav>
                                      </p:tavLst>
                                    </p:anim>
                                    <p:anim calcmode="lin" valueType="num">
                                      <p:cBhvr additive="base">
                                        <p:cTn id="51" dur="500" fill="hold"/>
                                        <p:tgtEl>
                                          <p:spTgt spid="17"/>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32"/>
                                        </p:tgtEl>
                                        <p:attrNameLst>
                                          <p:attrName>style.visibility</p:attrName>
                                        </p:attrNameLst>
                                      </p:cBhvr>
                                      <p:to>
                                        <p:strVal val="visible"/>
                                      </p:to>
                                    </p:set>
                                    <p:anim calcmode="lin" valueType="num">
                                      <p:cBhvr additive="base">
                                        <p:cTn id="54" dur="500" fill="hold"/>
                                        <p:tgtEl>
                                          <p:spTgt spid="32"/>
                                        </p:tgtEl>
                                        <p:attrNameLst>
                                          <p:attrName>ppt_x</p:attrName>
                                        </p:attrNameLst>
                                      </p:cBhvr>
                                      <p:tavLst>
                                        <p:tav tm="0">
                                          <p:val>
                                            <p:strVal val="#ppt_x"/>
                                          </p:val>
                                        </p:tav>
                                        <p:tav tm="100000">
                                          <p:val>
                                            <p:strVal val="#ppt_x"/>
                                          </p:val>
                                        </p:tav>
                                      </p:tavLst>
                                    </p:anim>
                                    <p:anim calcmode="lin" valueType="num">
                                      <p:cBhvr additive="base">
                                        <p:cTn id="55" dur="500" fill="hold"/>
                                        <p:tgtEl>
                                          <p:spTgt spid="32"/>
                                        </p:tgtEl>
                                        <p:attrNameLst>
                                          <p:attrName>ppt_y</p:attrName>
                                        </p:attrNameLst>
                                      </p:cBhvr>
                                      <p:tavLst>
                                        <p:tav tm="0">
                                          <p:val>
                                            <p:strVal val="1+#ppt_h/2"/>
                                          </p:val>
                                        </p:tav>
                                        <p:tav tm="100000">
                                          <p:val>
                                            <p:strVal val="#ppt_y"/>
                                          </p:val>
                                        </p:tav>
                                      </p:tavLst>
                                    </p:anim>
                                  </p:childTnLst>
                                </p:cTn>
                              </p:par>
                            </p:childTnLst>
                          </p:cTn>
                        </p:par>
                        <p:par>
                          <p:cTn id="56" fill="hold">
                            <p:stCondLst>
                              <p:cond delay="2000"/>
                            </p:stCondLst>
                            <p:childTnLst>
                              <p:par>
                                <p:cTn id="57" presetID="2" presetClass="entr" presetSubtype="1" fill="hold" nodeType="afterEffect">
                                  <p:stCondLst>
                                    <p:cond delay="0"/>
                                  </p:stCondLst>
                                  <p:childTnLst>
                                    <p:set>
                                      <p:cBhvr>
                                        <p:cTn id="58" dur="1" fill="hold">
                                          <p:stCondLst>
                                            <p:cond delay="0"/>
                                          </p:stCondLst>
                                        </p:cTn>
                                        <p:tgtEl>
                                          <p:spTgt spid="2"/>
                                        </p:tgtEl>
                                        <p:attrNameLst>
                                          <p:attrName>style.visibility</p:attrName>
                                        </p:attrNameLst>
                                      </p:cBhvr>
                                      <p:to>
                                        <p:strVal val="visible"/>
                                      </p:to>
                                    </p:set>
                                    <p:anim calcmode="lin" valueType="num">
                                      <p:cBhvr additive="base">
                                        <p:cTn id="59" dur="500" fill="hold"/>
                                        <p:tgtEl>
                                          <p:spTgt spid="2"/>
                                        </p:tgtEl>
                                        <p:attrNameLst>
                                          <p:attrName>ppt_x</p:attrName>
                                        </p:attrNameLst>
                                      </p:cBhvr>
                                      <p:tavLst>
                                        <p:tav tm="0">
                                          <p:val>
                                            <p:strVal val="#ppt_x"/>
                                          </p:val>
                                        </p:tav>
                                        <p:tav tm="100000">
                                          <p:val>
                                            <p:strVal val="#ppt_x"/>
                                          </p:val>
                                        </p:tav>
                                      </p:tavLst>
                                    </p:anim>
                                    <p:anim calcmode="lin" valueType="num">
                                      <p:cBhvr additive="base">
                                        <p:cTn id="60" dur="500" fill="hold"/>
                                        <p:tgtEl>
                                          <p:spTgt spid="2"/>
                                        </p:tgtEl>
                                        <p:attrNameLst>
                                          <p:attrName>ppt_y</p:attrName>
                                        </p:attrNameLst>
                                      </p:cBhvr>
                                      <p:tavLst>
                                        <p:tav tm="0">
                                          <p:val>
                                            <p:strVal val="0-#ppt_h/2"/>
                                          </p:val>
                                        </p:tav>
                                        <p:tav tm="100000">
                                          <p:val>
                                            <p:strVal val="#ppt_y"/>
                                          </p:val>
                                        </p:tav>
                                      </p:tavLst>
                                    </p:anim>
                                  </p:childTnLst>
                                </p:cTn>
                              </p:par>
                              <p:par>
                                <p:cTn id="61" presetID="2" presetClass="entr" presetSubtype="1" fill="hold" nodeType="withEffect">
                                  <p:stCondLst>
                                    <p:cond delay="0"/>
                                  </p:stCondLst>
                                  <p:childTnLst>
                                    <p:set>
                                      <p:cBhvr>
                                        <p:cTn id="62" dur="1" fill="hold">
                                          <p:stCondLst>
                                            <p:cond delay="0"/>
                                          </p:stCondLst>
                                        </p:cTn>
                                        <p:tgtEl>
                                          <p:spTgt spid="3"/>
                                        </p:tgtEl>
                                        <p:attrNameLst>
                                          <p:attrName>style.visibility</p:attrName>
                                        </p:attrNameLst>
                                      </p:cBhvr>
                                      <p:to>
                                        <p:strVal val="visible"/>
                                      </p:to>
                                    </p:set>
                                    <p:anim calcmode="lin" valueType="num">
                                      <p:cBhvr additive="base">
                                        <p:cTn id="63" dur="500" fill="hold"/>
                                        <p:tgtEl>
                                          <p:spTgt spid="3"/>
                                        </p:tgtEl>
                                        <p:attrNameLst>
                                          <p:attrName>ppt_x</p:attrName>
                                        </p:attrNameLst>
                                      </p:cBhvr>
                                      <p:tavLst>
                                        <p:tav tm="0">
                                          <p:val>
                                            <p:strVal val="#ppt_x"/>
                                          </p:val>
                                        </p:tav>
                                        <p:tav tm="100000">
                                          <p:val>
                                            <p:strVal val="#ppt_x"/>
                                          </p:val>
                                        </p:tav>
                                      </p:tavLst>
                                    </p:anim>
                                    <p:anim calcmode="lin" valueType="num">
                                      <p:cBhvr additive="base">
                                        <p:cTn id="64" dur="500" fill="hold"/>
                                        <p:tgtEl>
                                          <p:spTgt spid="3"/>
                                        </p:tgtEl>
                                        <p:attrNameLst>
                                          <p:attrName>ppt_y</p:attrName>
                                        </p:attrNameLst>
                                      </p:cBhvr>
                                      <p:tavLst>
                                        <p:tav tm="0">
                                          <p:val>
                                            <p:strVal val="0-#ppt_h/2"/>
                                          </p:val>
                                        </p:tav>
                                        <p:tav tm="100000">
                                          <p:val>
                                            <p:strVal val="#ppt_y"/>
                                          </p:val>
                                        </p:tav>
                                      </p:tavLst>
                                    </p:anim>
                                  </p:childTnLst>
                                </p:cTn>
                              </p:par>
                            </p:childTnLst>
                          </p:cTn>
                        </p:par>
                        <p:par>
                          <p:cTn id="65" fill="hold">
                            <p:stCondLst>
                              <p:cond delay="2500"/>
                            </p:stCondLst>
                            <p:childTnLst>
                              <p:par>
                                <p:cTn id="66" presetID="2" presetClass="entr" presetSubtype="4" fill="hold" nodeType="afterEffect">
                                  <p:stCondLst>
                                    <p:cond delay="0"/>
                                  </p:stCondLst>
                                  <p:childTnLst>
                                    <p:set>
                                      <p:cBhvr>
                                        <p:cTn id="67" dur="1" fill="hold">
                                          <p:stCondLst>
                                            <p:cond delay="0"/>
                                          </p:stCondLst>
                                        </p:cTn>
                                        <p:tgtEl>
                                          <p:spTgt spid="18"/>
                                        </p:tgtEl>
                                        <p:attrNameLst>
                                          <p:attrName>style.visibility</p:attrName>
                                        </p:attrNameLst>
                                      </p:cBhvr>
                                      <p:to>
                                        <p:strVal val="visible"/>
                                      </p:to>
                                    </p:set>
                                    <p:anim calcmode="lin" valueType="num">
                                      <p:cBhvr additive="base">
                                        <p:cTn id="68" dur="500" fill="hold"/>
                                        <p:tgtEl>
                                          <p:spTgt spid="18"/>
                                        </p:tgtEl>
                                        <p:attrNameLst>
                                          <p:attrName>ppt_x</p:attrName>
                                        </p:attrNameLst>
                                      </p:cBhvr>
                                      <p:tavLst>
                                        <p:tav tm="0">
                                          <p:val>
                                            <p:strVal val="#ppt_x"/>
                                          </p:val>
                                        </p:tav>
                                        <p:tav tm="100000">
                                          <p:val>
                                            <p:strVal val="#ppt_x"/>
                                          </p:val>
                                        </p:tav>
                                      </p:tavLst>
                                    </p:anim>
                                    <p:anim calcmode="lin" valueType="num">
                                      <p:cBhvr additive="base">
                                        <p:cTn id="69" dur="500" fill="hold"/>
                                        <p:tgtEl>
                                          <p:spTgt spid="18"/>
                                        </p:tgtEl>
                                        <p:attrNameLst>
                                          <p:attrName>ppt_y</p:attrName>
                                        </p:attrNameLst>
                                      </p:cBhvr>
                                      <p:tavLst>
                                        <p:tav tm="0">
                                          <p:val>
                                            <p:strVal val="1+#ppt_h/2"/>
                                          </p:val>
                                        </p:tav>
                                        <p:tav tm="100000">
                                          <p:val>
                                            <p:strVal val="#ppt_y"/>
                                          </p:val>
                                        </p:tav>
                                      </p:tavLst>
                                    </p:anim>
                                  </p:childTnLst>
                                </p:cTn>
                              </p:par>
                              <p:par>
                                <p:cTn id="70" presetID="2" presetClass="entr" presetSubtype="4" fill="hold" nodeType="withEffect">
                                  <p:stCondLst>
                                    <p:cond delay="0"/>
                                  </p:stCondLst>
                                  <p:childTnLst>
                                    <p:set>
                                      <p:cBhvr>
                                        <p:cTn id="71" dur="1" fill="hold">
                                          <p:stCondLst>
                                            <p:cond delay="0"/>
                                          </p:stCondLst>
                                        </p:cTn>
                                        <p:tgtEl>
                                          <p:spTgt spid="29"/>
                                        </p:tgtEl>
                                        <p:attrNameLst>
                                          <p:attrName>style.visibility</p:attrName>
                                        </p:attrNameLst>
                                      </p:cBhvr>
                                      <p:to>
                                        <p:strVal val="visible"/>
                                      </p:to>
                                    </p:set>
                                    <p:anim calcmode="lin" valueType="num">
                                      <p:cBhvr additive="base">
                                        <p:cTn id="72" dur="500" fill="hold"/>
                                        <p:tgtEl>
                                          <p:spTgt spid="29"/>
                                        </p:tgtEl>
                                        <p:attrNameLst>
                                          <p:attrName>ppt_x</p:attrName>
                                        </p:attrNameLst>
                                      </p:cBhvr>
                                      <p:tavLst>
                                        <p:tav tm="0">
                                          <p:val>
                                            <p:strVal val="#ppt_x"/>
                                          </p:val>
                                        </p:tav>
                                        <p:tav tm="100000">
                                          <p:val>
                                            <p:strVal val="#ppt_x"/>
                                          </p:val>
                                        </p:tav>
                                      </p:tavLst>
                                    </p:anim>
                                    <p:anim calcmode="lin" valueType="num">
                                      <p:cBhvr additive="base">
                                        <p:cTn id="73" dur="500" fill="hold"/>
                                        <p:tgtEl>
                                          <p:spTgt spid="29"/>
                                        </p:tgtEl>
                                        <p:attrNameLst>
                                          <p:attrName>ppt_y</p:attrName>
                                        </p:attrNameLst>
                                      </p:cBhvr>
                                      <p:tavLst>
                                        <p:tav tm="0">
                                          <p:val>
                                            <p:strVal val="1+#ppt_h/2"/>
                                          </p:val>
                                        </p:tav>
                                        <p:tav tm="100000">
                                          <p:val>
                                            <p:strVal val="#ppt_y"/>
                                          </p:val>
                                        </p:tav>
                                      </p:tavLst>
                                    </p:anim>
                                  </p:childTnLst>
                                </p:cTn>
                              </p:par>
                            </p:childTnLst>
                          </p:cTn>
                        </p:par>
                        <p:par>
                          <p:cTn id="74" fill="hold">
                            <p:stCondLst>
                              <p:cond delay="3000"/>
                            </p:stCondLst>
                            <p:childTnLst>
                              <p:par>
                                <p:cTn id="75" presetID="2" presetClass="entr" presetSubtype="1" fill="hold" nodeType="afterEffect">
                                  <p:stCondLst>
                                    <p:cond delay="0"/>
                                  </p:stCondLst>
                                  <p:childTnLst>
                                    <p:set>
                                      <p:cBhvr>
                                        <p:cTn id="76" dur="1" fill="hold">
                                          <p:stCondLst>
                                            <p:cond delay="0"/>
                                          </p:stCondLst>
                                        </p:cTn>
                                        <p:tgtEl>
                                          <p:spTgt spid="15"/>
                                        </p:tgtEl>
                                        <p:attrNameLst>
                                          <p:attrName>style.visibility</p:attrName>
                                        </p:attrNameLst>
                                      </p:cBhvr>
                                      <p:to>
                                        <p:strVal val="visible"/>
                                      </p:to>
                                    </p:set>
                                    <p:anim calcmode="lin" valueType="num">
                                      <p:cBhvr additive="base">
                                        <p:cTn id="77" dur="500" fill="hold"/>
                                        <p:tgtEl>
                                          <p:spTgt spid="15"/>
                                        </p:tgtEl>
                                        <p:attrNameLst>
                                          <p:attrName>ppt_x</p:attrName>
                                        </p:attrNameLst>
                                      </p:cBhvr>
                                      <p:tavLst>
                                        <p:tav tm="0">
                                          <p:val>
                                            <p:strVal val="#ppt_x"/>
                                          </p:val>
                                        </p:tav>
                                        <p:tav tm="100000">
                                          <p:val>
                                            <p:strVal val="#ppt_x"/>
                                          </p:val>
                                        </p:tav>
                                      </p:tavLst>
                                    </p:anim>
                                    <p:anim calcmode="lin" valueType="num">
                                      <p:cBhvr additive="base">
                                        <p:cTn id="78" dur="500" fill="hold"/>
                                        <p:tgtEl>
                                          <p:spTgt spid="15"/>
                                        </p:tgtEl>
                                        <p:attrNameLst>
                                          <p:attrName>ppt_y</p:attrName>
                                        </p:attrNameLst>
                                      </p:cBhvr>
                                      <p:tavLst>
                                        <p:tav tm="0">
                                          <p:val>
                                            <p:strVal val="0-#ppt_h/2"/>
                                          </p:val>
                                        </p:tav>
                                        <p:tav tm="100000">
                                          <p:val>
                                            <p:strVal val="#ppt_y"/>
                                          </p:val>
                                        </p:tav>
                                      </p:tavLst>
                                    </p:anim>
                                  </p:childTnLst>
                                </p:cTn>
                              </p:par>
                              <p:par>
                                <p:cTn id="79" presetID="2" presetClass="entr" presetSubtype="1" fill="hold" nodeType="withEffect">
                                  <p:stCondLst>
                                    <p:cond delay="0"/>
                                  </p:stCondLst>
                                  <p:childTnLst>
                                    <p:set>
                                      <p:cBhvr>
                                        <p:cTn id="80" dur="1" fill="hold">
                                          <p:stCondLst>
                                            <p:cond delay="0"/>
                                          </p:stCondLst>
                                        </p:cTn>
                                        <p:tgtEl>
                                          <p:spTgt spid="23"/>
                                        </p:tgtEl>
                                        <p:attrNameLst>
                                          <p:attrName>style.visibility</p:attrName>
                                        </p:attrNameLst>
                                      </p:cBhvr>
                                      <p:to>
                                        <p:strVal val="visible"/>
                                      </p:to>
                                    </p:set>
                                    <p:anim calcmode="lin" valueType="num">
                                      <p:cBhvr additive="base">
                                        <p:cTn id="81" dur="500" fill="hold"/>
                                        <p:tgtEl>
                                          <p:spTgt spid="23"/>
                                        </p:tgtEl>
                                        <p:attrNameLst>
                                          <p:attrName>ppt_x</p:attrName>
                                        </p:attrNameLst>
                                      </p:cBhvr>
                                      <p:tavLst>
                                        <p:tav tm="0">
                                          <p:val>
                                            <p:strVal val="#ppt_x"/>
                                          </p:val>
                                        </p:tav>
                                        <p:tav tm="100000">
                                          <p:val>
                                            <p:strVal val="#ppt_x"/>
                                          </p:val>
                                        </p:tav>
                                      </p:tavLst>
                                    </p:anim>
                                    <p:anim calcmode="lin" valueType="num">
                                      <p:cBhvr additive="base">
                                        <p:cTn id="82" dur="500" fill="hold"/>
                                        <p:tgtEl>
                                          <p:spTgt spid="23"/>
                                        </p:tgtEl>
                                        <p:attrNameLst>
                                          <p:attrName>ppt_y</p:attrName>
                                        </p:attrNameLst>
                                      </p:cBhvr>
                                      <p:tavLst>
                                        <p:tav tm="0">
                                          <p:val>
                                            <p:strVal val="0-#ppt_h/2"/>
                                          </p:val>
                                        </p:tav>
                                        <p:tav tm="100000">
                                          <p:val>
                                            <p:strVal val="#ppt_y"/>
                                          </p:val>
                                        </p:tav>
                                      </p:tavLst>
                                    </p:anim>
                                  </p:childTnLst>
                                </p:cTn>
                              </p:par>
                            </p:childTnLst>
                          </p:cTn>
                        </p:par>
                        <p:par>
                          <p:cTn id="83" fill="hold">
                            <p:stCondLst>
                              <p:cond delay="3500"/>
                            </p:stCondLst>
                            <p:childTnLst>
                              <p:par>
                                <p:cTn id="84" presetID="12" presetClass="entr" presetSubtype="4" fill="hold" grpId="0" nodeType="afterEffect">
                                  <p:stCondLst>
                                    <p:cond delay="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350"/>
                                        <p:tgtEl>
                                          <p:spTgt spid="27"/>
                                        </p:tgtEl>
                                        <p:attrNameLst>
                                          <p:attrName>ppt_y</p:attrName>
                                        </p:attrNameLst>
                                      </p:cBhvr>
                                      <p:tavLst>
                                        <p:tav tm="0">
                                          <p:val>
                                            <p:strVal val="#ppt_y+#ppt_h*1.125000"/>
                                          </p:val>
                                        </p:tav>
                                        <p:tav tm="100000">
                                          <p:val>
                                            <p:strVal val="#ppt_y"/>
                                          </p:val>
                                        </p:tav>
                                      </p:tavLst>
                                    </p:anim>
                                    <p:animEffect transition="in" filter="wipe(up)">
                                      <p:cBhvr>
                                        <p:cTn id="87" dur="350"/>
                                        <p:tgtEl>
                                          <p:spTgt spid="27"/>
                                        </p:tgtEl>
                                      </p:cBhvr>
                                    </p:animEffect>
                                  </p:childTnLst>
                                </p:cTn>
                              </p:par>
                            </p:childTnLst>
                          </p:cTn>
                        </p:par>
                        <p:par>
                          <p:cTn id="88" fill="hold">
                            <p:stCondLst>
                              <p:cond delay="4000"/>
                            </p:stCondLst>
                            <p:childTnLst>
                              <p:par>
                                <p:cTn id="89" presetID="12" presetClass="entr" presetSubtype="1" fill="hold" grpId="0" nodeType="afterEffect">
                                  <p:stCondLst>
                                    <p:cond delay="0"/>
                                  </p:stCondLst>
                                  <p:childTnLst>
                                    <p:set>
                                      <p:cBhvr>
                                        <p:cTn id="90" dur="1" fill="hold">
                                          <p:stCondLst>
                                            <p:cond delay="0"/>
                                          </p:stCondLst>
                                        </p:cTn>
                                        <p:tgtEl>
                                          <p:spTgt spid="30"/>
                                        </p:tgtEl>
                                        <p:attrNameLst>
                                          <p:attrName>style.visibility</p:attrName>
                                        </p:attrNameLst>
                                      </p:cBhvr>
                                      <p:to>
                                        <p:strVal val="visible"/>
                                      </p:to>
                                    </p:set>
                                    <p:anim calcmode="lin" valueType="num">
                                      <p:cBhvr additive="base">
                                        <p:cTn id="91" dur="350"/>
                                        <p:tgtEl>
                                          <p:spTgt spid="30"/>
                                        </p:tgtEl>
                                        <p:attrNameLst>
                                          <p:attrName>ppt_y</p:attrName>
                                        </p:attrNameLst>
                                      </p:cBhvr>
                                      <p:tavLst>
                                        <p:tav tm="0">
                                          <p:val>
                                            <p:strVal val="#ppt_y-#ppt_h*1.125000"/>
                                          </p:val>
                                        </p:tav>
                                        <p:tav tm="100000">
                                          <p:val>
                                            <p:strVal val="#ppt_y"/>
                                          </p:val>
                                        </p:tav>
                                      </p:tavLst>
                                    </p:anim>
                                    <p:animEffect transition="in" filter="wipe(down)">
                                      <p:cBhvr>
                                        <p:cTn id="92" dur="350"/>
                                        <p:tgtEl>
                                          <p:spTgt spid="30"/>
                                        </p:tgtEl>
                                      </p:cBhvr>
                                    </p:animEffect>
                                  </p:childTnLst>
                                </p:cTn>
                              </p:par>
                            </p:childTnLst>
                          </p:cTn>
                        </p:par>
                        <p:par>
                          <p:cTn id="93" fill="hold">
                            <p:stCondLst>
                              <p:cond delay="4500"/>
                            </p:stCondLst>
                            <p:childTnLst>
                              <p:par>
                                <p:cTn id="94" presetID="12" presetClass="entr" presetSubtype="4" fill="hold" grpId="0" nodeType="afterEffect">
                                  <p:stCondLst>
                                    <p:cond delay="0"/>
                                  </p:stCondLst>
                                  <p:childTnLst>
                                    <p:set>
                                      <p:cBhvr>
                                        <p:cTn id="95" dur="1" fill="hold">
                                          <p:stCondLst>
                                            <p:cond delay="0"/>
                                          </p:stCondLst>
                                        </p:cTn>
                                        <p:tgtEl>
                                          <p:spTgt spid="34"/>
                                        </p:tgtEl>
                                        <p:attrNameLst>
                                          <p:attrName>style.visibility</p:attrName>
                                        </p:attrNameLst>
                                      </p:cBhvr>
                                      <p:to>
                                        <p:strVal val="visible"/>
                                      </p:to>
                                    </p:set>
                                    <p:anim calcmode="lin" valueType="num">
                                      <p:cBhvr additive="base">
                                        <p:cTn id="96" dur="350"/>
                                        <p:tgtEl>
                                          <p:spTgt spid="34"/>
                                        </p:tgtEl>
                                        <p:attrNameLst>
                                          <p:attrName>ppt_y</p:attrName>
                                        </p:attrNameLst>
                                      </p:cBhvr>
                                      <p:tavLst>
                                        <p:tav tm="0">
                                          <p:val>
                                            <p:strVal val="#ppt_y+#ppt_h*1.125000"/>
                                          </p:val>
                                        </p:tav>
                                        <p:tav tm="100000">
                                          <p:val>
                                            <p:strVal val="#ppt_y"/>
                                          </p:val>
                                        </p:tav>
                                      </p:tavLst>
                                    </p:anim>
                                    <p:animEffect transition="in" filter="wipe(up)">
                                      <p:cBhvr>
                                        <p:cTn id="97" dur="350"/>
                                        <p:tgtEl>
                                          <p:spTgt spid="34"/>
                                        </p:tgtEl>
                                      </p:cBhvr>
                                    </p:animEffect>
                                  </p:childTnLst>
                                </p:cTn>
                              </p:par>
                            </p:childTnLst>
                          </p:cTn>
                        </p:par>
                        <p:par>
                          <p:cTn id="98" fill="hold">
                            <p:stCondLst>
                              <p:cond delay="5000"/>
                            </p:stCondLst>
                            <p:childTnLst>
                              <p:par>
                                <p:cTn id="99" presetID="12" presetClass="entr" presetSubtype="1" fill="hold" grpId="0" nodeType="afterEffect">
                                  <p:stCondLst>
                                    <p:cond delay="0"/>
                                  </p:stCondLst>
                                  <p:childTnLst>
                                    <p:set>
                                      <p:cBhvr>
                                        <p:cTn id="100" dur="1" fill="hold">
                                          <p:stCondLst>
                                            <p:cond delay="0"/>
                                          </p:stCondLst>
                                        </p:cTn>
                                        <p:tgtEl>
                                          <p:spTgt spid="35"/>
                                        </p:tgtEl>
                                        <p:attrNameLst>
                                          <p:attrName>style.visibility</p:attrName>
                                        </p:attrNameLst>
                                      </p:cBhvr>
                                      <p:to>
                                        <p:strVal val="visible"/>
                                      </p:to>
                                    </p:set>
                                    <p:anim calcmode="lin" valueType="num">
                                      <p:cBhvr additive="base">
                                        <p:cTn id="101" dur="350"/>
                                        <p:tgtEl>
                                          <p:spTgt spid="35"/>
                                        </p:tgtEl>
                                        <p:attrNameLst>
                                          <p:attrName>ppt_y</p:attrName>
                                        </p:attrNameLst>
                                      </p:cBhvr>
                                      <p:tavLst>
                                        <p:tav tm="0">
                                          <p:val>
                                            <p:strVal val="#ppt_y-#ppt_h*1.125000"/>
                                          </p:val>
                                        </p:tav>
                                        <p:tav tm="100000">
                                          <p:val>
                                            <p:strVal val="#ppt_y"/>
                                          </p:val>
                                        </p:tav>
                                      </p:tavLst>
                                    </p:anim>
                                    <p:animEffect transition="in" filter="wipe(down)">
                                      <p:cBhvr>
                                        <p:cTn id="102" dur="350"/>
                                        <p:tgtEl>
                                          <p:spTgt spid="35"/>
                                        </p:tgtEl>
                                      </p:cBhvr>
                                    </p:animEffect>
                                  </p:childTnLst>
                                </p:cTn>
                              </p:par>
                            </p:childTnLst>
                          </p:cTn>
                        </p:par>
                        <p:par>
                          <p:cTn id="103" fill="hold">
                            <p:stCondLst>
                              <p:cond delay="5500"/>
                            </p:stCondLst>
                            <p:childTnLst>
                              <p:par>
                                <p:cTn id="104" presetID="12" presetClass="entr" presetSubtype="4" fill="hold" grpId="0" nodeType="afterEffect">
                                  <p:stCondLst>
                                    <p:cond delay="0"/>
                                  </p:stCondLst>
                                  <p:childTnLst>
                                    <p:set>
                                      <p:cBhvr>
                                        <p:cTn id="105" dur="1" fill="hold">
                                          <p:stCondLst>
                                            <p:cond delay="0"/>
                                          </p:stCondLst>
                                        </p:cTn>
                                        <p:tgtEl>
                                          <p:spTgt spid="37"/>
                                        </p:tgtEl>
                                        <p:attrNameLst>
                                          <p:attrName>style.visibility</p:attrName>
                                        </p:attrNameLst>
                                      </p:cBhvr>
                                      <p:to>
                                        <p:strVal val="visible"/>
                                      </p:to>
                                    </p:set>
                                    <p:anim calcmode="lin" valueType="num">
                                      <p:cBhvr additive="base">
                                        <p:cTn id="106" dur="350"/>
                                        <p:tgtEl>
                                          <p:spTgt spid="37"/>
                                        </p:tgtEl>
                                        <p:attrNameLst>
                                          <p:attrName>ppt_y</p:attrName>
                                        </p:attrNameLst>
                                      </p:cBhvr>
                                      <p:tavLst>
                                        <p:tav tm="0">
                                          <p:val>
                                            <p:strVal val="#ppt_y+#ppt_h*1.125000"/>
                                          </p:val>
                                        </p:tav>
                                        <p:tav tm="100000">
                                          <p:val>
                                            <p:strVal val="#ppt_y"/>
                                          </p:val>
                                        </p:tav>
                                      </p:tavLst>
                                    </p:anim>
                                    <p:animEffect transition="in" filter="wipe(up)">
                                      <p:cBhvr>
                                        <p:cTn id="107" dur="35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0" grpId="0"/>
      <p:bldP spid="34" grpId="0"/>
      <p:bldP spid="35" grpId="0"/>
      <p:bldP spid="3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002060"/>
                </a:solidFill>
              </a:rPr>
              <a:t>01</a:t>
            </a:r>
            <a:endParaRPr lang="en-US" altLang="zh-CN" sz="4500" b="1" dirty="0">
              <a:solidFill>
                <a:srgbClr val="002060"/>
              </a:solidFill>
            </a:endParaRPr>
          </a:p>
        </p:txBody>
      </p:sp>
      <p:sp>
        <p:nvSpPr>
          <p:cNvPr id="20485" name="文本框 13"/>
          <p:cNvSpPr txBox="1">
            <a:spLocks noChangeArrowheads="1"/>
          </p:cNvSpPr>
          <p:nvPr/>
        </p:nvSpPr>
        <p:spPr bwMode="auto">
          <a:xfrm>
            <a:off x="2890850" y="2968229"/>
            <a:ext cx="3362300" cy="575945"/>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课题背景及意义</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299"/>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1" name="直接连接符 70"/>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2" name="椭圆 71"/>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73" name="TextBox 72"/>
          <p:cNvSpPr txBox="1"/>
          <p:nvPr/>
        </p:nvSpPr>
        <p:spPr>
          <a:xfrm>
            <a:off x="908957" y="206330"/>
            <a:ext cx="1364476" cy="400110"/>
          </a:xfrm>
          <a:prstGeom prst="rect">
            <a:avLst/>
          </a:prstGeom>
          <a:noFill/>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选题背景</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74" name="TextBox 73"/>
          <p:cNvSpPr txBox="1"/>
          <p:nvPr/>
        </p:nvSpPr>
        <p:spPr>
          <a:xfrm>
            <a:off x="2390916" y="237108"/>
            <a:ext cx="1890967"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RESEARCH IDEAS</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4" name="TextBox 41"/>
          <p:cNvSpPr>
            <a:spLocks noChangeArrowheads="1"/>
          </p:cNvSpPr>
          <p:nvPr/>
        </p:nvSpPr>
        <p:spPr bwMode="auto">
          <a:xfrm>
            <a:off x="1403350" y="1450975"/>
            <a:ext cx="6662420" cy="738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OAuth 2.0 </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协议是当前部署最广泛的授权与单点登录（</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Single Sign-On, SSO</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）协议之一，同时也是新一代身份认证标准</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 OpenID Connect </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的基础。凭借其灵活的授权模型与良好的扩展性，</a:t>
            </a:r>
            <a:r>
              <a:rPr lang="en-US" altLang="zh-CN" sz="1200" dirty="0">
                <a:latin typeface="微软雅黑" panose="020B0503020204020204" pitchFamily="34" charset="-122"/>
                <a:ea typeface="微软雅黑" panose="020B0503020204020204" pitchFamily="34" charset="-122"/>
                <a:sym typeface="微软雅黑" panose="020B0503020204020204" pitchFamily="34" charset="-122"/>
              </a:rPr>
              <a:t>OAuth </a:t>
            </a:r>
            <a:r>
              <a:rPr lang="zh-CN" altLang="en-US" sz="1200" dirty="0">
                <a:latin typeface="微软雅黑" panose="020B0503020204020204" pitchFamily="34" charset="-122"/>
                <a:ea typeface="微软雅黑" panose="020B0503020204020204" pitchFamily="34" charset="-122"/>
                <a:sym typeface="微软雅黑" panose="020B0503020204020204" pitchFamily="34" charset="-122"/>
              </a:rPr>
              <a:t>已被广泛应用于各类在线服务，成为现代网络安全基础设施的重要组成部分。</a:t>
            </a:r>
            <a:endParaRPr lang="zh-CN" altLang="en-US" sz="1200" dirty="0">
              <a:latin typeface="微软雅黑" panose="020B0503020204020204" pitchFamily="34" charset="-122"/>
              <a:ea typeface="微软雅黑" panose="020B0503020204020204" pitchFamily="34" charset="-122"/>
              <a:sym typeface="微软雅黑" panose="020B0503020204020204" pitchFamily="34" charset="-122"/>
            </a:endParaRPr>
          </a:p>
          <a:p>
            <a:endParaRPr lang="zh-CN" altLang="en-US" sz="1200" b="1" dirty="0">
              <a:solidFill>
                <a:srgbClr val="679E2A"/>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5" name="TextBox 43"/>
          <p:cNvSpPr>
            <a:spLocks noChangeArrowheads="1"/>
          </p:cNvSpPr>
          <p:nvPr/>
        </p:nvSpPr>
        <p:spPr bwMode="auto">
          <a:xfrm>
            <a:off x="3275330" y="777240"/>
            <a:ext cx="2311400" cy="430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lgn="ctr"/>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rPr>
              <a:t>OAuth</a:t>
            </a:r>
            <a:endPar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36" name="组合 2"/>
          <p:cNvGrpSpPr/>
          <p:nvPr/>
        </p:nvGrpSpPr>
        <p:grpSpPr bwMode="auto">
          <a:xfrm>
            <a:off x="2051685" y="892810"/>
            <a:ext cx="4745355" cy="142875"/>
            <a:chOff x="0" y="0"/>
            <a:chExt cx="3580582" cy="158874"/>
          </a:xfrm>
        </p:grpSpPr>
        <p:grpSp>
          <p:nvGrpSpPr>
            <p:cNvPr id="37" name="组合 61"/>
            <p:cNvGrpSpPr/>
            <p:nvPr/>
          </p:nvGrpSpPr>
          <p:grpSpPr bwMode="auto">
            <a:xfrm>
              <a:off x="0" y="0"/>
              <a:ext cx="792088" cy="158874"/>
              <a:chOff x="0" y="0"/>
              <a:chExt cx="792088" cy="158874"/>
            </a:xfrm>
          </p:grpSpPr>
          <p:sp>
            <p:nvSpPr>
              <p:cNvPr id="42" name="直接连接符 70"/>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70" name="直接连接符 71"/>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76" name="直接连接符 72"/>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nvGrpSpPr>
            <p:cNvPr id="38" name="组合 62"/>
            <p:cNvGrpSpPr/>
            <p:nvPr/>
          </p:nvGrpSpPr>
          <p:grpSpPr bwMode="auto">
            <a:xfrm rot="10800000">
              <a:off x="2788494" y="0"/>
              <a:ext cx="792088" cy="158874"/>
              <a:chOff x="0" y="0"/>
              <a:chExt cx="792088" cy="158874"/>
            </a:xfrm>
          </p:grpSpPr>
          <p:sp>
            <p:nvSpPr>
              <p:cNvPr id="39" name="直接连接符 67"/>
              <p:cNvSpPr>
                <a:spLocks noChangeShapeType="1"/>
              </p:cNvSpPr>
              <p:nvPr/>
            </p:nvSpPr>
            <p:spPr bwMode="auto">
              <a:xfrm flipH="1">
                <a:off x="0" y="79437"/>
                <a:ext cx="792088"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40" name="直接连接符 68"/>
              <p:cNvSpPr>
                <a:spLocks noChangeShapeType="1"/>
              </p:cNvSpPr>
              <p:nvPr/>
            </p:nvSpPr>
            <p:spPr bwMode="auto">
              <a:xfrm flipH="1">
                <a:off x="216024" y="0"/>
                <a:ext cx="57606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sp>
            <p:nvSpPr>
              <p:cNvPr id="41" name="直接连接符 69"/>
              <p:cNvSpPr>
                <a:spLocks noChangeShapeType="1"/>
              </p:cNvSpPr>
              <p:nvPr/>
            </p:nvSpPr>
            <p:spPr bwMode="auto">
              <a:xfrm flipH="1">
                <a:off x="396044" y="158874"/>
                <a:ext cx="396044" cy="1"/>
              </a:xfrm>
              <a:prstGeom prst="line">
                <a:avLst/>
              </a:prstGeom>
              <a:noFill/>
              <a:ln w="6350" cap="flat" cmpd="sng">
                <a:solidFill>
                  <a:schemeClr val="tx2"/>
                </a:solidFill>
                <a:bevel/>
              </a:ln>
              <a:extLst>
                <a:ext uri="{909E8E84-426E-40DD-AFC4-6F175D3DCCD1}">
                  <a14:hiddenFill xmlns:a14="http://schemas.microsoft.com/office/drawing/2010/main">
                    <a:noFill/>
                  </a14:hiddenFill>
                </a:ext>
              </a:extLst>
            </p:spPr>
            <p:txBody>
              <a:bodyPr/>
              <a:lstStyle/>
              <a:p>
                <a:endParaRPr lang="zh-CN" altLang="en-US"/>
              </a:p>
            </p:txBody>
          </p:sp>
        </p:grpSp>
      </p:grpSp>
      <p:pic>
        <p:nvPicPr>
          <p:cNvPr id="43" name="图片 42"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pic>
        <p:nvPicPr>
          <p:cNvPr id="5" name="图片 4"/>
          <p:cNvPicPr/>
          <p:nvPr>
            <p:custDataLst>
              <p:tags r:id="rId2"/>
            </p:custDataLst>
          </p:nvPr>
        </p:nvPicPr>
        <p:blipFill>
          <a:blip r:embed="rId3"/>
          <a:stretch>
            <a:fillRect/>
          </a:stretch>
        </p:blipFill>
        <p:spPr>
          <a:xfrm>
            <a:off x="2332355" y="2427605"/>
            <a:ext cx="4657725" cy="2203450"/>
          </a:xfrm>
          <a:prstGeom prst="rect">
            <a:avLst/>
          </a:prstGeom>
        </p:spPr>
      </p:pic>
    </p:spTree>
    <p:custDataLst>
      <p:tags r:id="rId4"/>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300"/>
                                        <p:tgtEl>
                                          <p:spTgt spid="71"/>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72"/>
                                        </p:tgtEl>
                                        <p:attrNameLst>
                                          <p:attrName>style.visibility</p:attrName>
                                        </p:attrNameLst>
                                      </p:cBhvr>
                                      <p:to>
                                        <p:strVal val="visible"/>
                                      </p:to>
                                    </p:set>
                                    <p:animEffect transition="in" filter="wipe(down)">
                                      <p:cBhvr>
                                        <p:cTn id="11" dur="300"/>
                                        <p:tgtEl>
                                          <p:spTgt spid="72"/>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73"/>
                                        </p:tgtEl>
                                        <p:attrNameLst>
                                          <p:attrName>style.visibility</p:attrName>
                                        </p:attrNameLst>
                                      </p:cBhvr>
                                      <p:to>
                                        <p:strVal val="visible"/>
                                      </p:to>
                                    </p:set>
                                    <p:anim calcmode="lin" valueType="num">
                                      <p:cBhvr additive="base">
                                        <p:cTn id="15" dur="500"/>
                                        <p:tgtEl>
                                          <p:spTgt spid="73"/>
                                        </p:tgtEl>
                                        <p:attrNameLst>
                                          <p:attrName>ppt_x</p:attrName>
                                        </p:attrNameLst>
                                      </p:cBhvr>
                                      <p:tavLst>
                                        <p:tav tm="0">
                                          <p:val>
                                            <p:strVal val="#ppt_x-#ppt_w*1.125000"/>
                                          </p:val>
                                        </p:tav>
                                        <p:tav tm="100000">
                                          <p:val>
                                            <p:strVal val="#ppt_x"/>
                                          </p:val>
                                        </p:tav>
                                      </p:tavLst>
                                    </p:anim>
                                    <p:animEffect transition="in" filter="wipe(right)">
                                      <p:cBhvr>
                                        <p:cTn id="16" dur="500"/>
                                        <p:tgtEl>
                                          <p:spTgt spid="73"/>
                                        </p:tgtEl>
                                      </p:cBhvr>
                                    </p:animEffect>
                                  </p:childTnLst>
                                </p:cTn>
                              </p:par>
                              <p:par>
                                <p:cTn id="17" presetID="12" presetClass="entr" presetSubtype="8" fill="hold" nodeType="withEffect">
                                  <p:stCondLst>
                                    <p:cond delay="0"/>
                                  </p:stCondLst>
                                  <p:childTnLst>
                                    <p:set>
                                      <p:cBhvr>
                                        <p:cTn id="18" dur="1" fill="hold">
                                          <p:stCondLst>
                                            <p:cond delay="0"/>
                                          </p:stCondLst>
                                        </p:cTn>
                                        <p:tgtEl>
                                          <p:spTgt spid="75"/>
                                        </p:tgtEl>
                                        <p:attrNameLst>
                                          <p:attrName>style.visibility</p:attrName>
                                        </p:attrNameLst>
                                      </p:cBhvr>
                                      <p:to>
                                        <p:strVal val="visible"/>
                                      </p:to>
                                    </p:set>
                                    <p:anim calcmode="lin" valueType="num">
                                      <p:cBhvr additive="base">
                                        <p:cTn id="19" dur="500"/>
                                        <p:tgtEl>
                                          <p:spTgt spid="75"/>
                                        </p:tgtEl>
                                        <p:attrNameLst>
                                          <p:attrName>ppt_x</p:attrName>
                                        </p:attrNameLst>
                                      </p:cBhvr>
                                      <p:tavLst>
                                        <p:tav tm="0">
                                          <p:val>
                                            <p:strVal val="#ppt_x-#ppt_w*1.125000"/>
                                          </p:val>
                                        </p:tav>
                                        <p:tav tm="100000">
                                          <p:val>
                                            <p:strVal val="#ppt_x"/>
                                          </p:val>
                                        </p:tav>
                                      </p:tavLst>
                                    </p:anim>
                                    <p:animEffect transition="in" filter="wipe(right)">
                                      <p:cBhvr>
                                        <p:cTn id="20" dur="500"/>
                                        <p:tgtEl>
                                          <p:spTgt spid="75"/>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74"/>
                                        </p:tgtEl>
                                        <p:attrNameLst>
                                          <p:attrName>style.visibility</p:attrName>
                                        </p:attrNameLst>
                                      </p:cBhvr>
                                      <p:to>
                                        <p:strVal val="visible"/>
                                      </p:to>
                                    </p:set>
                                    <p:anim calcmode="lin" valueType="num">
                                      <p:cBhvr additive="base">
                                        <p:cTn id="23" dur="500"/>
                                        <p:tgtEl>
                                          <p:spTgt spid="74"/>
                                        </p:tgtEl>
                                        <p:attrNameLst>
                                          <p:attrName>ppt_x</p:attrName>
                                        </p:attrNameLst>
                                      </p:cBhvr>
                                      <p:tavLst>
                                        <p:tav tm="0">
                                          <p:val>
                                            <p:strVal val="#ppt_x-#ppt_w*1.125000"/>
                                          </p:val>
                                        </p:tav>
                                        <p:tav tm="100000">
                                          <p:val>
                                            <p:strVal val="#ppt_x"/>
                                          </p:val>
                                        </p:tav>
                                      </p:tavLst>
                                    </p:anim>
                                    <p:animEffect transition="in" filter="wipe(right)">
                                      <p:cBhvr>
                                        <p:cTn id="24" dur="500"/>
                                        <p:tgtEl>
                                          <p:spTgt spid="74"/>
                                        </p:tgtEl>
                                      </p:cBhvr>
                                    </p:animEffect>
                                  </p:childTnLst>
                                </p:cTn>
                              </p:par>
                            </p:childTnLst>
                          </p:cTn>
                        </p:par>
                        <p:par>
                          <p:cTn id="25" fill="hold">
                            <p:stCondLst>
                              <p:cond delay="1500"/>
                            </p:stCondLst>
                            <p:childTnLst>
                              <p:par>
                                <p:cTn id="26" presetID="23" presetClass="entr" presetSubtype="36" fill="hold" nodeType="afterEffect">
                                  <p:stCondLst>
                                    <p:cond delay="0"/>
                                  </p:stCondLst>
                                  <p:childTnLst>
                                    <p:set>
                                      <p:cBhvr>
                                        <p:cTn id="27" dur="1" fill="hold">
                                          <p:stCondLst>
                                            <p:cond delay="0"/>
                                          </p:stCondLst>
                                        </p:cTn>
                                        <p:tgtEl>
                                          <p:spTgt spid="36"/>
                                        </p:tgtEl>
                                        <p:attrNameLst>
                                          <p:attrName>style.visibility</p:attrName>
                                        </p:attrNameLst>
                                      </p:cBhvr>
                                      <p:to>
                                        <p:strVal val="visible"/>
                                      </p:to>
                                    </p:set>
                                    <p:anim calcmode="lin" valueType="num">
                                      <p:cBhvr>
                                        <p:cTn id="28" dur="500" fill="hold"/>
                                        <p:tgtEl>
                                          <p:spTgt spid="36"/>
                                        </p:tgtEl>
                                        <p:attrNameLst>
                                          <p:attrName>ppt_w</p:attrName>
                                        </p:attrNameLst>
                                      </p:cBhvr>
                                      <p:tavLst>
                                        <p:tav tm="0">
                                          <p:val>
                                            <p:strVal val="(6*min(max(#ppt_w*#ppt_h,.3),1)-7.4)/-.7*#ppt_w"/>
                                          </p:val>
                                        </p:tav>
                                        <p:tav tm="100000">
                                          <p:val>
                                            <p:strVal val="#ppt_w"/>
                                          </p:val>
                                        </p:tav>
                                      </p:tavLst>
                                    </p:anim>
                                    <p:anim calcmode="lin" valueType="num">
                                      <p:cBhvr>
                                        <p:cTn id="29" dur="500" fill="hold"/>
                                        <p:tgtEl>
                                          <p:spTgt spid="36"/>
                                        </p:tgtEl>
                                        <p:attrNameLst>
                                          <p:attrName>ppt_h</p:attrName>
                                        </p:attrNameLst>
                                      </p:cBhvr>
                                      <p:tavLst>
                                        <p:tav tm="0">
                                          <p:val>
                                            <p:strVal val="(6*min(max(#ppt_w*#ppt_h,.3),1)-7.4)/-.7*#ppt_h"/>
                                          </p:val>
                                        </p:tav>
                                        <p:tav tm="100000">
                                          <p:val>
                                            <p:strVal val="#ppt_h"/>
                                          </p:val>
                                        </p:tav>
                                      </p:tavLst>
                                    </p:anim>
                                    <p:anim calcmode="lin" valueType="num">
                                      <p:cBhvr>
                                        <p:cTn id="30" dur="500" fill="hold"/>
                                        <p:tgtEl>
                                          <p:spTgt spid="36"/>
                                        </p:tgtEl>
                                        <p:attrNameLst>
                                          <p:attrName>ppt_x</p:attrName>
                                        </p:attrNameLst>
                                      </p:cBhvr>
                                      <p:tavLst>
                                        <p:tav tm="0">
                                          <p:val>
                                            <p:fltVal val="0.5"/>
                                          </p:val>
                                        </p:tav>
                                        <p:tav tm="100000">
                                          <p:val>
                                            <p:strVal val="#ppt_x"/>
                                          </p:val>
                                        </p:tav>
                                      </p:tavLst>
                                    </p:anim>
                                    <p:anim calcmode="lin" valueType="num">
                                      <p:cBhvr>
                                        <p:cTn id="31" dur="500" fill="hold"/>
                                        <p:tgtEl>
                                          <p:spTgt spid="36"/>
                                        </p:tgtEl>
                                        <p:attrNameLst>
                                          <p:attrName>ppt_y</p:attrName>
                                        </p:attrNameLst>
                                      </p:cBhvr>
                                      <p:tavLst>
                                        <p:tav tm="0">
                                          <p:val>
                                            <p:strVal val="1+(6*min(max(#ppt_w*#ppt_h,.3),1)-7.4)/-.7*#ppt_h/2"/>
                                          </p:val>
                                        </p:tav>
                                        <p:tav tm="100000">
                                          <p:val>
                                            <p:strVal val="#ppt_y"/>
                                          </p:val>
                                        </p:tav>
                                      </p:tavLst>
                                    </p:anim>
                                  </p:childTnLst>
                                </p:cTn>
                              </p:par>
                              <p:par>
                                <p:cTn id="32" presetID="23" presetClass="entr" presetSubtype="36" fill="hold" grpId="0" nodeType="withEffect">
                                  <p:stCondLst>
                                    <p:cond delay="0"/>
                                  </p:stCondLst>
                                  <p:childTnLst>
                                    <p:set>
                                      <p:cBhvr>
                                        <p:cTn id="33" dur="1" fill="hold">
                                          <p:stCondLst>
                                            <p:cond delay="0"/>
                                          </p:stCondLst>
                                        </p:cTn>
                                        <p:tgtEl>
                                          <p:spTgt spid="35"/>
                                        </p:tgtEl>
                                        <p:attrNameLst>
                                          <p:attrName>style.visibility</p:attrName>
                                        </p:attrNameLst>
                                      </p:cBhvr>
                                      <p:to>
                                        <p:strVal val="visible"/>
                                      </p:to>
                                    </p:set>
                                    <p:anim calcmode="lin" valueType="num">
                                      <p:cBhvr>
                                        <p:cTn id="34" dur="500" fill="hold"/>
                                        <p:tgtEl>
                                          <p:spTgt spid="35"/>
                                        </p:tgtEl>
                                        <p:attrNameLst>
                                          <p:attrName>ppt_w</p:attrName>
                                        </p:attrNameLst>
                                      </p:cBhvr>
                                      <p:tavLst>
                                        <p:tav tm="0">
                                          <p:val>
                                            <p:strVal val="(6*min(max(#ppt_w*#ppt_h,.3),1)-7.4)/-.7*#ppt_w"/>
                                          </p:val>
                                        </p:tav>
                                        <p:tav tm="100000">
                                          <p:val>
                                            <p:strVal val="#ppt_w"/>
                                          </p:val>
                                        </p:tav>
                                      </p:tavLst>
                                    </p:anim>
                                    <p:anim calcmode="lin" valueType="num">
                                      <p:cBhvr>
                                        <p:cTn id="35" dur="500" fill="hold"/>
                                        <p:tgtEl>
                                          <p:spTgt spid="35"/>
                                        </p:tgtEl>
                                        <p:attrNameLst>
                                          <p:attrName>ppt_h</p:attrName>
                                        </p:attrNameLst>
                                      </p:cBhvr>
                                      <p:tavLst>
                                        <p:tav tm="0">
                                          <p:val>
                                            <p:strVal val="(6*min(max(#ppt_w*#ppt_h,.3),1)-7.4)/-.7*#ppt_h"/>
                                          </p:val>
                                        </p:tav>
                                        <p:tav tm="100000">
                                          <p:val>
                                            <p:strVal val="#ppt_h"/>
                                          </p:val>
                                        </p:tav>
                                      </p:tavLst>
                                    </p:anim>
                                    <p:anim calcmode="lin" valueType="num">
                                      <p:cBhvr>
                                        <p:cTn id="36" dur="500" fill="hold"/>
                                        <p:tgtEl>
                                          <p:spTgt spid="35"/>
                                        </p:tgtEl>
                                        <p:attrNameLst>
                                          <p:attrName>ppt_x</p:attrName>
                                        </p:attrNameLst>
                                      </p:cBhvr>
                                      <p:tavLst>
                                        <p:tav tm="0">
                                          <p:val>
                                            <p:fltVal val="0.5"/>
                                          </p:val>
                                        </p:tav>
                                        <p:tav tm="100000">
                                          <p:val>
                                            <p:strVal val="#ppt_x"/>
                                          </p:val>
                                        </p:tav>
                                      </p:tavLst>
                                    </p:anim>
                                    <p:anim calcmode="lin" valueType="num">
                                      <p:cBhvr>
                                        <p:cTn id="37" dur="500" fill="hold"/>
                                        <p:tgtEl>
                                          <p:spTgt spid="35"/>
                                        </p:tgtEl>
                                        <p:attrNameLst>
                                          <p:attrName>ppt_y</p:attrName>
                                        </p:attrNameLst>
                                      </p:cBhvr>
                                      <p:tavLst>
                                        <p:tav tm="0">
                                          <p:val>
                                            <p:strVal val="1+(6*min(max(#ppt_w*#ppt_h,.3),1)-7.4)/-.7*#ppt_h/2"/>
                                          </p:val>
                                        </p:tav>
                                        <p:tav tm="100000">
                                          <p:val>
                                            <p:strVal val="#ppt_y"/>
                                          </p:val>
                                        </p:tav>
                                      </p:tavLst>
                                    </p:anim>
                                  </p:childTnLst>
                                </p:cTn>
                              </p:par>
                            </p:childTnLst>
                          </p:cTn>
                        </p:par>
                        <p:par>
                          <p:cTn id="38" fill="hold">
                            <p:stCondLst>
                              <p:cond delay="2000"/>
                            </p:stCondLst>
                            <p:childTnLst>
                              <p:par>
                                <p:cTn id="39" presetID="22" presetClass="entr" presetSubtype="1" fill="hold" grpId="0" nodeType="afterEffect">
                                  <p:stCondLst>
                                    <p:cond delay="0"/>
                                  </p:stCondLst>
                                  <p:childTnLst>
                                    <p:set>
                                      <p:cBhvr>
                                        <p:cTn id="40" dur="1" fill="hold">
                                          <p:stCondLst>
                                            <p:cond delay="0"/>
                                          </p:stCondLst>
                                        </p:cTn>
                                        <p:tgtEl>
                                          <p:spTgt spid="34"/>
                                        </p:tgtEl>
                                        <p:attrNameLst>
                                          <p:attrName>style.visibility</p:attrName>
                                        </p:attrNameLst>
                                      </p:cBhvr>
                                      <p:to>
                                        <p:strVal val="visible"/>
                                      </p:to>
                                    </p:set>
                                    <p:animEffect>
                                      <p:cBhvr>
                                        <p:cTn id="41"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p:bldP spid="74" grpId="0"/>
      <p:bldP spid="34" grpId="0" bldLvl="0" autoUpdateAnimBg="0"/>
      <p:bldP spid="35" grpId="0" bldLvl="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7" name="直接连接符 26"/>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9" name="TextBox 28"/>
          <p:cNvSpPr txBox="1"/>
          <p:nvPr/>
        </p:nvSpPr>
        <p:spPr>
          <a:xfrm>
            <a:off x="908957" y="206330"/>
            <a:ext cx="1364476" cy="400110"/>
          </a:xfrm>
          <a:prstGeom prst="rect">
            <a:avLst/>
          </a:prstGeom>
          <a:noFill/>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研究意义</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0" name="TextBox 29"/>
          <p:cNvSpPr txBox="1"/>
          <p:nvPr/>
        </p:nvSpPr>
        <p:spPr>
          <a:xfrm>
            <a:off x="2260814" y="237108"/>
            <a:ext cx="2061783" cy="338554"/>
          </a:xfrm>
          <a:prstGeom prst="rect">
            <a:avLst/>
          </a:prstGeom>
          <a:noFill/>
        </p:spPr>
        <p:txBody>
          <a:bodyPr wrap="none" rtlCol="0">
            <a:spAutoFit/>
          </a:bodyPr>
          <a:lstStyle/>
          <a:p>
            <a:pPr algn="ct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THE SIGNIFICANCE</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31" name="直接连接符 30"/>
          <p:cNvCxnSpPr/>
          <p:nvPr/>
        </p:nvCxnSpPr>
        <p:spPr>
          <a:xfrm>
            <a:off x="2267123"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21" name="组合 20"/>
          <p:cNvGrpSpPr/>
          <p:nvPr/>
        </p:nvGrpSpPr>
        <p:grpSpPr>
          <a:xfrm>
            <a:off x="1874248" y="1707654"/>
            <a:ext cx="1617632" cy="1944216"/>
            <a:chOff x="2018264" y="1707654"/>
            <a:chExt cx="1617632" cy="1944216"/>
          </a:xfrm>
        </p:grpSpPr>
        <p:cxnSp>
          <p:nvCxnSpPr>
            <p:cNvPr id="22" name="直接箭头连接符 21"/>
            <p:cNvCxnSpPr/>
            <p:nvPr/>
          </p:nvCxnSpPr>
          <p:spPr>
            <a:xfrm flipV="1">
              <a:off x="2018264" y="1707654"/>
              <a:ext cx="1617632" cy="1053930"/>
            </a:xfrm>
            <a:prstGeom prst="straightConnector1">
              <a:avLst/>
            </a:prstGeom>
            <a:ln>
              <a:solidFill>
                <a:srgbClr val="679E2A"/>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2018264" y="2761584"/>
              <a:ext cx="1617632" cy="0"/>
            </a:xfrm>
            <a:prstGeom prst="straightConnector1">
              <a:avLst/>
            </a:prstGeom>
            <a:ln>
              <a:solidFill>
                <a:srgbClr val="679E2A"/>
              </a:solidFill>
              <a:tailEnd type="arrow"/>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2018264" y="2761584"/>
              <a:ext cx="1617632" cy="890286"/>
            </a:xfrm>
            <a:prstGeom prst="straightConnector1">
              <a:avLst/>
            </a:prstGeom>
            <a:ln>
              <a:solidFill>
                <a:srgbClr val="679E2A"/>
              </a:solidFill>
              <a:tailEnd type="arrow"/>
            </a:ln>
          </p:spPr>
          <p:style>
            <a:lnRef idx="1">
              <a:schemeClr val="accent1"/>
            </a:lnRef>
            <a:fillRef idx="0">
              <a:schemeClr val="accent1"/>
            </a:fillRef>
            <a:effectRef idx="0">
              <a:schemeClr val="accent1"/>
            </a:effectRef>
            <a:fontRef idx="minor">
              <a:schemeClr val="tx1"/>
            </a:fontRef>
          </p:style>
        </p:cxnSp>
      </p:grpSp>
      <p:grpSp>
        <p:nvGrpSpPr>
          <p:cNvPr id="25" name="组合 24"/>
          <p:cNvGrpSpPr/>
          <p:nvPr/>
        </p:nvGrpSpPr>
        <p:grpSpPr>
          <a:xfrm>
            <a:off x="1043608" y="2036784"/>
            <a:ext cx="1681537" cy="1449601"/>
            <a:chOff x="1403648" y="1851670"/>
            <a:chExt cx="1169410" cy="1008112"/>
          </a:xfrm>
        </p:grpSpPr>
        <p:sp>
          <p:nvSpPr>
            <p:cNvPr id="26" name="六边形 25"/>
            <p:cNvSpPr/>
            <p:nvPr/>
          </p:nvSpPr>
          <p:spPr>
            <a:xfrm>
              <a:off x="1403648" y="1851670"/>
              <a:ext cx="1169410" cy="1008112"/>
            </a:xfrm>
            <a:prstGeom prst="hexagon">
              <a:avLst/>
            </a:prstGeom>
            <a:gradFill>
              <a:gsLst>
                <a:gs pos="100000">
                  <a:schemeClr val="bg1"/>
                </a:gs>
                <a:gs pos="0">
                  <a:schemeClr val="bg1">
                    <a:lumMod val="85000"/>
                  </a:schemeClr>
                </a:gs>
              </a:gsLst>
              <a:lin ang="2700000" scaled="1"/>
            </a:gradFill>
            <a:ln w="317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accent1"/>
                </a:solidFill>
                <a:latin typeface="微软雅黑" panose="020B0503020204020204" pitchFamily="34" charset="-122"/>
                <a:ea typeface="微软雅黑" panose="020B0503020204020204" pitchFamily="34" charset="-122"/>
              </a:endParaRPr>
            </a:p>
          </p:txBody>
        </p:sp>
        <p:sp>
          <p:nvSpPr>
            <p:cNvPr id="46" name="矩形 15"/>
            <p:cNvSpPr>
              <a:spLocks noChangeArrowheads="1"/>
            </p:cNvSpPr>
            <p:nvPr/>
          </p:nvSpPr>
          <p:spPr bwMode="auto">
            <a:xfrm>
              <a:off x="1704112" y="1973321"/>
              <a:ext cx="556505" cy="732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30000"/>
                </a:lnSpc>
              </a:pPr>
              <a:r>
                <a:rPr lang="zh-CN" altLang="en-US" sz="2400" b="1"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研究</a:t>
              </a:r>
              <a:endParaRPr lang="en-US" altLang="zh-CN" sz="2400" b="1"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a:p>
              <a:pPr algn="ctr">
                <a:lnSpc>
                  <a:spcPct val="130000"/>
                </a:lnSpc>
              </a:pPr>
              <a:r>
                <a:rPr lang="zh-CN" altLang="en-US" sz="2400" b="1"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意义</a:t>
              </a:r>
              <a:endParaRPr lang="en-US" altLang="zh-CN" sz="2400" b="1"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p:txBody>
        </p:sp>
      </p:grpSp>
      <p:grpSp>
        <p:nvGrpSpPr>
          <p:cNvPr id="47" name="组合 46"/>
          <p:cNvGrpSpPr/>
          <p:nvPr>
            <p:custDataLst>
              <p:tags r:id="rId1"/>
            </p:custDataLst>
          </p:nvPr>
        </p:nvGrpSpPr>
        <p:grpSpPr>
          <a:xfrm>
            <a:off x="3587899" y="1317092"/>
            <a:ext cx="868316" cy="748548"/>
            <a:chOff x="1403648" y="1851670"/>
            <a:chExt cx="1169410" cy="1008112"/>
          </a:xfrm>
        </p:grpSpPr>
        <p:sp>
          <p:nvSpPr>
            <p:cNvPr id="48" name="六边形 47"/>
            <p:cNvSpPr/>
            <p:nvPr>
              <p:custDataLst>
                <p:tags r:id="rId2"/>
              </p:custDataLst>
            </p:nvPr>
          </p:nvSpPr>
          <p:spPr>
            <a:xfrm>
              <a:off x="1403648" y="1851670"/>
              <a:ext cx="1169410" cy="1008112"/>
            </a:xfrm>
            <a:prstGeom prst="hexagon">
              <a:avLst/>
            </a:prstGeom>
            <a:gradFill>
              <a:gsLst>
                <a:gs pos="100000">
                  <a:schemeClr val="bg1"/>
                </a:gs>
                <a:gs pos="0">
                  <a:schemeClr val="bg1">
                    <a:lumMod val="85000"/>
                  </a:schemeClr>
                </a:gs>
              </a:gsLst>
              <a:lin ang="2700000" scaled="1"/>
            </a:gradFill>
            <a:ln w="317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679E2A"/>
                </a:solidFill>
                <a:latin typeface="微软雅黑" panose="020B0503020204020204" pitchFamily="34" charset="-122"/>
                <a:ea typeface="微软雅黑" panose="020B0503020204020204" pitchFamily="34" charset="-122"/>
              </a:endParaRPr>
            </a:p>
          </p:txBody>
        </p:sp>
        <p:sp>
          <p:nvSpPr>
            <p:cNvPr id="49" name="矩形 15"/>
            <p:cNvSpPr>
              <a:spLocks noChangeArrowheads="1"/>
            </p:cNvSpPr>
            <p:nvPr>
              <p:custDataLst>
                <p:tags r:id="rId3"/>
              </p:custDataLst>
            </p:nvPr>
          </p:nvSpPr>
          <p:spPr bwMode="auto">
            <a:xfrm>
              <a:off x="1715554" y="1892776"/>
              <a:ext cx="531511" cy="80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30000"/>
                </a:lnSpc>
              </a:pPr>
              <a:r>
                <a:rPr lang="en-US" altLang="zh-CN" sz="2800"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1</a:t>
              </a:r>
              <a:endParaRPr lang="en-US" altLang="zh-CN" sz="2000"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0" name="TextBox 15"/>
          <p:cNvSpPr>
            <a:spLocks noChangeArrowheads="1"/>
          </p:cNvSpPr>
          <p:nvPr>
            <p:custDataLst>
              <p:tags r:id="rId4"/>
            </p:custDataLst>
          </p:nvPr>
        </p:nvSpPr>
        <p:spPr bwMode="auto">
          <a:xfrm>
            <a:off x="4716016" y="1422422"/>
            <a:ext cx="3816424" cy="553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协议普及性：</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OAuth 2.0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协议是部署最广泛的授权</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单点登录（</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SSO</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）协议之一，同时也是新</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SSO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标准</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OpenID Connect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的基础。</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51" name="组合 50"/>
          <p:cNvGrpSpPr/>
          <p:nvPr>
            <p:custDataLst>
              <p:tags r:id="rId5"/>
            </p:custDataLst>
          </p:nvPr>
        </p:nvGrpSpPr>
        <p:grpSpPr>
          <a:xfrm>
            <a:off x="3587899" y="2349074"/>
            <a:ext cx="868316" cy="748548"/>
            <a:chOff x="1403648" y="1851670"/>
            <a:chExt cx="1169410" cy="1008112"/>
          </a:xfrm>
        </p:grpSpPr>
        <p:sp>
          <p:nvSpPr>
            <p:cNvPr id="52" name="六边形 51"/>
            <p:cNvSpPr/>
            <p:nvPr>
              <p:custDataLst>
                <p:tags r:id="rId6"/>
              </p:custDataLst>
            </p:nvPr>
          </p:nvSpPr>
          <p:spPr>
            <a:xfrm>
              <a:off x="1403648" y="1851670"/>
              <a:ext cx="1169410" cy="1008112"/>
            </a:xfrm>
            <a:prstGeom prst="hexagon">
              <a:avLst/>
            </a:prstGeom>
            <a:gradFill>
              <a:gsLst>
                <a:gs pos="100000">
                  <a:schemeClr val="bg1"/>
                </a:gs>
                <a:gs pos="0">
                  <a:schemeClr val="bg1">
                    <a:lumMod val="85000"/>
                  </a:schemeClr>
                </a:gs>
              </a:gsLst>
              <a:lin ang="2700000" scaled="1"/>
            </a:gradFill>
            <a:ln w="317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679E2A"/>
                </a:solidFill>
                <a:latin typeface="微软雅黑" panose="020B0503020204020204" pitchFamily="34" charset="-122"/>
                <a:ea typeface="微软雅黑" panose="020B0503020204020204" pitchFamily="34" charset="-122"/>
              </a:endParaRPr>
            </a:p>
          </p:txBody>
        </p:sp>
        <p:sp>
          <p:nvSpPr>
            <p:cNvPr id="53" name="矩形 15"/>
            <p:cNvSpPr>
              <a:spLocks noChangeArrowheads="1"/>
            </p:cNvSpPr>
            <p:nvPr>
              <p:custDataLst>
                <p:tags r:id="rId7"/>
              </p:custDataLst>
            </p:nvPr>
          </p:nvSpPr>
          <p:spPr bwMode="auto">
            <a:xfrm>
              <a:off x="1715554" y="1928170"/>
              <a:ext cx="531511" cy="80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30000"/>
                </a:lnSpc>
              </a:pPr>
              <a:r>
                <a:rPr lang="en-US" altLang="zh-CN" sz="2800"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2</a:t>
              </a:r>
              <a:endParaRPr lang="en-US" altLang="zh-CN" sz="2000"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4" name="TextBox 15"/>
          <p:cNvSpPr>
            <a:spLocks noChangeArrowheads="1"/>
          </p:cNvSpPr>
          <p:nvPr>
            <p:custDataLst>
              <p:tags r:id="rId8"/>
            </p:custDataLst>
          </p:nvPr>
        </p:nvSpPr>
        <p:spPr bwMode="auto">
          <a:xfrm>
            <a:off x="4715381" y="2294383"/>
            <a:ext cx="3888432" cy="9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OAuth </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实现层面的安全漏洞与现实风险</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尽管</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OAuth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已成为事实上的授权标准协议，但大量研究表明，其安全性在很大程度上取决于具体实现方式，而非协议规范本身的抽象设计。现实系统中，</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OAuth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的实现往往存在不同程度的偏差和简化，这为攻击者提供了可利用的空间。</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55" name="组合 54"/>
          <p:cNvGrpSpPr/>
          <p:nvPr>
            <p:custDataLst>
              <p:tags r:id="rId9"/>
            </p:custDataLst>
          </p:nvPr>
        </p:nvGrpSpPr>
        <p:grpSpPr>
          <a:xfrm>
            <a:off x="3587899" y="3381055"/>
            <a:ext cx="868316" cy="748548"/>
            <a:chOff x="1403648" y="1851670"/>
            <a:chExt cx="1169410" cy="1008112"/>
          </a:xfrm>
        </p:grpSpPr>
        <p:sp>
          <p:nvSpPr>
            <p:cNvPr id="56" name="六边形 55"/>
            <p:cNvSpPr/>
            <p:nvPr>
              <p:custDataLst>
                <p:tags r:id="rId10"/>
              </p:custDataLst>
            </p:nvPr>
          </p:nvSpPr>
          <p:spPr>
            <a:xfrm>
              <a:off x="1403648" y="1851670"/>
              <a:ext cx="1169410" cy="1008112"/>
            </a:xfrm>
            <a:prstGeom prst="hexagon">
              <a:avLst/>
            </a:prstGeom>
            <a:gradFill>
              <a:gsLst>
                <a:gs pos="100000">
                  <a:schemeClr val="bg1"/>
                </a:gs>
                <a:gs pos="0">
                  <a:schemeClr val="bg1">
                    <a:lumMod val="85000"/>
                  </a:schemeClr>
                </a:gs>
              </a:gsLst>
              <a:lin ang="2700000" scaled="1"/>
            </a:gradFill>
            <a:ln w="31750">
              <a:gradFill flip="none" rotWithShape="1">
                <a:gsLst>
                  <a:gs pos="0">
                    <a:schemeClr val="bg1"/>
                  </a:gs>
                  <a:gs pos="100000">
                    <a:schemeClr val="bg1">
                      <a:lumMod val="85000"/>
                    </a:schemeClr>
                  </a:gs>
                </a:gsLst>
                <a:lin ang="2700000" scaled="1"/>
                <a:tileRect/>
              </a:gradFill>
            </a:ln>
            <a:effectLst>
              <a:outerShdw blurRad="254000" dist="1016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679E2A"/>
                </a:solidFill>
                <a:latin typeface="微软雅黑" panose="020B0503020204020204" pitchFamily="34" charset="-122"/>
                <a:ea typeface="微软雅黑" panose="020B0503020204020204" pitchFamily="34" charset="-122"/>
              </a:endParaRPr>
            </a:p>
          </p:txBody>
        </p:sp>
        <p:sp>
          <p:nvSpPr>
            <p:cNvPr id="57" name="矩形 15"/>
            <p:cNvSpPr>
              <a:spLocks noChangeArrowheads="1"/>
            </p:cNvSpPr>
            <p:nvPr>
              <p:custDataLst>
                <p:tags r:id="rId11"/>
              </p:custDataLst>
            </p:nvPr>
          </p:nvSpPr>
          <p:spPr bwMode="auto">
            <a:xfrm>
              <a:off x="1715554" y="1925460"/>
              <a:ext cx="531511" cy="80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lnSpc>
                  <a:spcPct val="130000"/>
                </a:lnSpc>
              </a:pPr>
              <a:r>
                <a:rPr lang="en-US" altLang="zh-CN" sz="2800" dirty="0">
                  <a:solidFill>
                    <a:srgbClr val="679E2A"/>
                  </a:solidFill>
                  <a:latin typeface="微软雅黑" panose="020B0503020204020204" pitchFamily="34" charset="-122"/>
                  <a:ea typeface="微软雅黑" panose="020B0503020204020204" pitchFamily="34" charset="-122"/>
                  <a:sym typeface="Arial" panose="020B0604020202020204" pitchFamily="34" charset="0"/>
                </a:rPr>
                <a:t>3</a:t>
              </a:r>
              <a:endParaRPr lang="en-US" altLang="zh-CN" sz="2000" dirty="0">
                <a:solidFill>
                  <a:srgbClr val="679E2A"/>
                </a:solidFill>
                <a:latin typeface="微软雅黑" panose="020B0503020204020204" pitchFamily="34" charset="-122"/>
                <a:ea typeface="微软雅黑" panose="020B0503020204020204" pitchFamily="34" charset="-122"/>
                <a:sym typeface="Arial" panose="020B0604020202020204" pitchFamily="34" charset="0"/>
              </a:endParaRPr>
            </a:p>
          </p:txBody>
        </p:sp>
      </p:grpSp>
      <p:sp>
        <p:nvSpPr>
          <p:cNvPr id="58" name="TextBox 15"/>
          <p:cNvSpPr>
            <a:spLocks noChangeArrowheads="1"/>
          </p:cNvSpPr>
          <p:nvPr>
            <p:custDataLst>
              <p:tags r:id="rId12"/>
            </p:custDataLst>
          </p:nvPr>
        </p:nvSpPr>
        <p:spPr bwMode="auto">
          <a:xfrm>
            <a:off x="4716016" y="3436220"/>
            <a:ext cx="4032448" cy="923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just"/>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从</a:t>
            </a:r>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安全实现</a:t>
            </a:r>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到</a:t>
            </a:r>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体系化授权管理</a:t>
            </a:r>
            <a:r>
              <a:rPr lang="en-US" altLang="zh-CN" sz="12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的必要性</a:t>
            </a:r>
            <a:r>
              <a:rPr lang="zh-CN" altLang="en-US" sz="1200" b="1" dirty="0">
                <a:solidFill>
                  <a:schemeClr val="tx1">
                    <a:lumMod val="65000"/>
                    <a:lumOff val="35000"/>
                  </a:schemeClr>
                </a:solidFill>
                <a:latin typeface="微软雅黑" panose="020B0503020204020204" pitchFamily="34" charset="-122"/>
                <a:ea typeface="微软雅黑" panose="020B0503020204020204" pitchFamily="34" charset="-122"/>
              </a:rPr>
              <a:t>：</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研究如何通过引入专门的授权治理组件，对</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OAuth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授权流程进行集中约束、能力划分与安全增强，不仅具有重要的工程实践价值，也为</a:t>
            </a:r>
            <a:r>
              <a:rPr lang="en-US" altLang="zh-CN" sz="1200" dirty="0">
                <a:solidFill>
                  <a:schemeClr val="tx1">
                    <a:lumMod val="65000"/>
                    <a:lumOff val="35000"/>
                  </a:schemeClr>
                </a:solidFill>
                <a:latin typeface="微软雅黑" panose="020B0503020204020204" pitchFamily="34" charset="-122"/>
                <a:ea typeface="微软雅黑" panose="020B0503020204020204" pitchFamily="34" charset="-122"/>
              </a:rPr>
              <a:t> OAuth </a:t>
            </a:r>
            <a:r>
              <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rPr>
              <a:t>在新型应用场景中的安全演进提供了新的研究方向。</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2" name="图片 31" descr="图片包含 物体&#10;&#10;描述已自动生成"/>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left)">
                                      <p:cBhvr>
                                        <p:cTn id="7" dur="300"/>
                                        <p:tgtEl>
                                          <p:spTgt spid="27"/>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300"/>
                                        <p:tgtEl>
                                          <p:spTgt spid="28"/>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9"/>
                                        </p:tgtEl>
                                        <p:attrNameLst>
                                          <p:attrName>style.visibility</p:attrName>
                                        </p:attrNameLst>
                                      </p:cBhvr>
                                      <p:to>
                                        <p:strVal val="visible"/>
                                      </p:to>
                                    </p:set>
                                    <p:anim calcmode="lin" valueType="num">
                                      <p:cBhvr additive="base">
                                        <p:cTn id="15" dur="500"/>
                                        <p:tgtEl>
                                          <p:spTgt spid="29"/>
                                        </p:tgtEl>
                                        <p:attrNameLst>
                                          <p:attrName>ppt_x</p:attrName>
                                        </p:attrNameLst>
                                      </p:cBhvr>
                                      <p:tavLst>
                                        <p:tav tm="0">
                                          <p:val>
                                            <p:strVal val="#ppt_x-#ppt_w*1.125000"/>
                                          </p:val>
                                        </p:tav>
                                        <p:tav tm="100000">
                                          <p:val>
                                            <p:strVal val="#ppt_x"/>
                                          </p:val>
                                        </p:tav>
                                      </p:tavLst>
                                    </p:anim>
                                    <p:animEffect transition="in" filter="wipe(right)">
                                      <p:cBhvr>
                                        <p:cTn id="16" dur="500"/>
                                        <p:tgtEl>
                                          <p:spTgt spid="29"/>
                                        </p:tgtEl>
                                      </p:cBhvr>
                                    </p:animEffect>
                                  </p:childTnLst>
                                </p:cTn>
                              </p:par>
                              <p:par>
                                <p:cTn id="17" presetID="12" presetClass="entr" presetSubtype="8"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p:tgtEl>
                                          <p:spTgt spid="31"/>
                                        </p:tgtEl>
                                        <p:attrNameLst>
                                          <p:attrName>ppt_x</p:attrName>
                                        </p:attrNameLst>
                                      </p:cBhvr>
                                      <p:tavLst>
                                        <p:tav tm="0">
                                          <p:val>
                                            <p:strVal val="#ppt_x-#ppt_w*1.125000"/>
                                          </p:val>
                                        </p:tav>
                                        <p:tav tm="100000">
                                          <p:val>
                                            <p:strVal val="#ppt_x"/>
                                          </p:val>
                                        </p:tav>
                                      </p:tavLst>
                                    </p:anim>
                                    <p:animEffect transition="in" filter="wipe(right)">
                                      <p:cBhvr>
                                        <p:cTn id="20" dur="500"/>
                                        <p:tgtEl>
                                          <p:spTgt spid="31"/>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anim calcmode="lin" valueType="num">
                                      <p:cBhvr additive="base">
                                        <p:cTn id="23" dur="500"/>
                                        <p:tgtEl>
                                          <p:spTgt spid="30"/>
                                        </p:tgtEl>
                                        <p:attrNameLst>
                                          <p:attrName>ppt_x</p:attrName>
                                        </p:attrNameLst>
                                      </p:cBhvr>
                                      <p:tavLst>
                                        <p:tav tm="0">
                                          <p:val>
                                            <p:strVal val="#ppt_x-#ppt_w*1.125000"/>
                                          </p:val>
                                        </p:tav>
                                        <p:tav tm="100000">
                                          <p:val>
                                            <p:strVal val="#ppt_x"/>
                                          </p:val>
                                        </p:tav>
                                      </p:tavLst>
                                    </p:anim>
                                    <p:animEffect transition="in" filter="wipe(right)">
                                      <p:cBhvr>
                                        <p:cTn id="24" dur="500"/>
                                        <p:tgtEl>
                                          <p:spTgt spid="30"/>
                                        </p:tgtEl>
                                      </p:cBhvr>
                                    </p:animEffect>
                                  </p:childTnLst>
                                </p:cTn>
                              </p:par>
                            </p:childTnLst>
                          </p:cTn>
                        </p:par>
                        <p:par>
                          <p:cTn id="25" fill="hold">
                            <p:stCondLst>
                              <p:cond delay="1500"/>
                            </p:stCondLst>
                            <p:childTnLst>
                              <p:par>
                                <p:cTn id="26" presetID="53" presetClass="entr" presetSubtype="16"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p:cTn id="28" dur="500" fill="hold"/>
                                        <p:tgtEl>
                                          <p:spTgt spid="25"/>
                                        </p:tgtEl>
                                        <p:attrNameLst>
                                          <p:attrName>ppt_w</p:attrName>
                                        </p:attrNameLst>
                                      </p:cBhvr>
                                      <p:tavLst>
                                        <p:tav tm="0">
                                          <p:val>
                                            <p:fltVal val="0"/>
                                          </p:val>
                                        </p:tav>
                                        <p:tav tm="100000">
                                          <p:val>
                                            <p:strVal val="#ppt_w"/>
                                          </p:val>
                                        </p:tav>
                                      </p:tavLst>
                                    </p:anim>
                                    <p:anim calcmode="lin" valueType="num">
                                      <p:cBhvr>
                                        <p:cTn id="29" dur="500" fill="hold"/>
                                        <p:tgtEl>
                                          <p:spTgt spid="25"/>
                                        </p:tgtEl>
                                        <p:attrNameLst>
                                          <p:attrName>ppt_h</p:attrName>
                                        </p:attrNameLst>
                                      </p:cBhvr>
                                      <p:tavLst>
                                        <p:tav tm="0">
                                          <p:val>
                                            <p:fltVal val="0"/>
                                          </p:val>
                                        </p:tav>
                                        <p:tav tm="100000">
                                          <p:val>
                                            <p:strVal val="#ppt_h"/>
                                          </p:val>
                                        </p:tav>
                                      </p:tavLst>
                                    </p:anim>
                                    <p:animEffect transition="in" filter="fade">
                                      <p:cBhvr>
                                        <p:cTn id="30" dur="500"/>
                                        <p:tgtEl>
                                          <p:spTgt spid="25"/>
                                        </p:tgtEl>
                                      </p:cBhvr>
                                    </p:animEffect>
                                  </p:childTnLst>
                                </p:cTn>
                              </p:par>
                            </p:childTnLst>
                          </p:cTn>
                        </p:par>
                        <p:par>
                          <p:cTn id="31" fill="hold">
                            <p:stCondLst>
                              <p:cond delay="2000"/>
                            </p:stCondLst>
                            <p:childTnLst>
                              <p:par>
                                <p:cTn id="32" presetID="22" presetClass="entr" presetSubtype="8" fill="hold" nodeType="after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wipe(left)">
                                      <p:cBhvr>
                                        <p:cTn id="34" dur="500"/>
                                        <p:tgtEl>
                                          <p:spTgt spid="21"/>
                                        </p:tgtEl>
                                      </p:cBhvr>
                                    </p:animEffect>
                                  </p:childTnLst>
                                </p:cTn>
                              </p:par>
                            </p:childTnLst>
                          </p:cTn>
                        </p:par>
                        <p:par>
                          <p:cTn id="35" fill="hold">
                            <p:stCondLst>
                              <p:cond delay="2500"/>
                            </p:stCondLst>
                            <p:childTnLst>
                              <p:par>
                                <p:cTn id="36" presetID="53" presetClass="entr" presetSubtype="16" fill="hold" nodeType="afterEffect">
                                  <p:stCondLst>
                                    <p:cond delay="0"/>
                                  </p:stCondLst>
                                  <p:childTnLst>
                                    <p:set>
                                      <p:cBhvr>
                                        <p:cTn id="37" dur="1" fill="hold">
                                          <p:stCondLst>
                                            <p:cond delay="0"/>
                                          </p:stCondLst>
                                        </p:cTn>
                                        <p:tgtEl>
                                          <p:spTgt spid="47"/>
                                        </p:tgtEl>
                                        <p:attrNameLst>
                                          <p:attrName>style.visibility</p:attrName>
                                        </p:attrNameLst>
                                      </p:cBhvr>
                                      <p:to>
                                        <p:strVal val="visible"/>
                                      </p:to>
                                    </p:set>
                                    <p:anim calcmode="lin" valueType="num">
                                      <p:cBhvr>
                                        <p:cTn id="38" dur="500" fill="hold"/>
                                        <p:tgtEl>
                                          <p:spTgt spid="47"/>
                                        </p:tgtEl>
                                        <p:attrNameLst>
                                          <p:attrName>ppt_w</p:attrName>
                                        </p:attrNameLst>
                                      </p:cBhvr>
                                      <p:tavLst>
                                        <p:tav tm="0">
                                          <p:val>
                                            <p:fltVal val="0"/>
                                          </p:val>
                                        </p:tav>
                                        <p:tav tm="100000">
                                          <p:val>
                                            <p:strVal val="#ppt_w"/>
                                          </p:val>
                                        </p:tav>
                                      </p:tavLst>
                                    </p:anim>
                                    <p:anim calcmode="lin" valueType="num">
                                      <p:cBhvr>
                                        <p:cTn id="39" dur="500" fill="hold"/>
                                        <p:tgtEl>
                                          <p:spTgt spid="47"/>
                                        </p:tgtEl>
                                        <p:attrNameLst>
                                          <p:attrName>ppt_h</p:attrName>
                                        </p:attrNameLst>
                                      </p:cBhvr>
                                      <p:tavLst>
                                        <p:tav tm="0">
                                          <p:val>
                                            <p:fltVal val="0"/>
                                          </p:val>
                                        </p:tav>
                                        <p:tav tm="100000">
                                          <p:val>
                                            <p:strVal val="#ppt_h"/>
                                          </p:val>
                                        </p:tav>
                                      </p:tavLst>
                                    </p:anim>
                                    <p:animEffect transition="in" filter="fade">
                                      <p:cBhvr>
                                        <p:cTn id="40" dur="500"/>
                                        <p:tgtEl>
                                          <p:spTgt spid="47"/>
                                        </p:tgtEl>
                                      </p:cBhvr>
                                    </p:animEffect>
                                  </p:childTnLst>
                                </p:cTn>
                              </p:par>
                            </p:childTnLst>
                          </p:cTn>
                        </p:par>
                        <p:par>
                          <p:cTn id="41" fill="hold">
                            <p:stCondLst>
                              <p:cond delay="3000"/>
                            </p:stCondLst>
                            <p:childTnLst>
                              <p:par>
                                <p:cTn id="42" presetID="22" presetClass="entr" presetSubtype="8" fill="hold" grpId="0" nodeType="afterEffect">
                                  <p:stCondLst>
                                    <p:cond delay="0"/>
                                  </p:stCondLst>
                                  <p:childTnLst>
                                    <p:set>
                                      <p:cBhvr>
                                        <p:cTn id="43" dur="1" fill="hold">
                                          <p:stCondLst>
                                            <p:cond delay="0"/>
                                          </p:stCondLst>
                                        </p:cTn>
                                        <p:tgtEl>
                                          <p:spTgt spid="50"/>
                                        </p:tgtEl>
                                        <p:attrNameLst>
                                          <p:attrName>style.visibility</p:attrName>
                                        </p:attrNameLst>
                                      </p:cBhvr>
                                      <p:to>
                                        <p:strVal val="visible"/>
                                      </p:to>
                                    </p:set>
                                    <p:animEffect>
                                      <p:cBhvr>
                                        <p:cTn id="44" dur="300"/>
                                        <p:tgtEl>
                                          <p:spTgt spid="50"/>
                                        </p:tgtEl>
                                      </p:cBhvr>
                                    </p:animEffect>
                                  </p:childTnLst>
                                </p:cTn>
                              </p:par>
                            </p:childTnLst>
                          </p:cTn>
                        </p:par>
                        <p:par>
                          <p:cTn id="45" fill="hold">
                            <p:stCondLst>
                              <p:cond delay="3500"/>
                            </p:stCondLst>
                            <p:childTnLst>
                              <p:par>
                                <p:cTn id="46" presetID="53" presetClass="entr" presetSubtype="16" fill="hold" nodeType="afterEffect">
                                  <p:stCondLst>
                                    <p:cond delay="0"/>
                                  </p:stCondLst>
                                  <p:childTnLst>
                                    <p:set>
                                      <p:cBhvr>
                                        <p:cTn id="47" dur="1" fill="hold">
                                          <p:stCondLst>
                                            <p:cond delay="0"/>
                                          </p:stCondLst>
                                        </p:cTn>
                                        <p:tgtEl>
                                          <p:spTgt spid="51"/>
                                        </p:tgtEl>
                                        <p:attrNameLst>
                                          <p:attrName>style.visibility</p:attrName>
                                        </p:attrNameLst>
                                      </p:cBhvr>
                                      <p:to>
                                        <p:strVal val="visible"/>
                                      </p:to>
                                    </p:set>
                                    <p:anim calcmode="lin" valueType="num">
                                      <p:cBhvr>
                                        <p:cTn id="48" dur="500" fill="hold"/>
                                        <p:tgtEl>
                                          <p:spTgt spid="51"/>
                                        </p:tgtEl>
                                        <p:attrNameLst>
                                          <p:attrName>ppt_w</p:attrName>
                                        </p:attrNameLst>
                                      </p:cBhvr>
                                      <p:tavLst>
                                        <p:tav tm="0">
                                          <p:val>
                                            <p:fltVal val="0"/>
                                          </p:val>
                                        </p:tav>
                                        <p:tav tm="100000">
                                          <p:val>
                                            <p:strVal val="#ppt_w"/>
                                          </p:val>
                                        </p:tav>
                                      </p:tavLst>
                                    </p:anim>
                                    <p:anim calcmode="lin" valueType="num">
                                      <p:cBhvr>
                                        <p:cTn id="49" dur="500" fill="hold"/>
                                        <p:tgtEl>
                                          <p:spTgt spid="51"/>
                                        </p:tgtEl>
                                        <p:attrNameLst>
                                          <p:attrName>ppt_h</p:attrName>
                                        </p:attrNameLst>
                                      </p:cBhvr>
                                      <p:tavLst>
                                        <p:tav tm="0">
                                          <p:val>
                                            <p:fltVal val="0"/>
                                          </p:val>
                                        </p:tav>
                                        <p:tav tm="100000">
                                          <p:val>
                                            <p:strVal val="#ppt_h"/>
                                          </p:val>
                                        </p:tav>
                                      </p:tavLst>
                                    </p:anim>
                                    <p:animEffect transition="in" filter="fade">
                                      <p:cBhvr>
                                        <p:cTn id="50" dur="500"/>
                                        <p:tgtEl>
                                          <p:spTgt spid="51"/>
                                        </p:tgtEl>
                                      </p:cBhvr>
                                    </p:animEffect>
                                  </p:childTnLst>
                                </p:cTn>
                              </p:par>
                            </p:childTnLst>
                          </p:cTn>
                        </p:par>
                        <p:par>
                          <p:cTn id="51" fill="hold">
                            <p:stCondLst>
                              <p:cond delay="4000"/>
                            </p:stCondLst>
                            <p:childTnLst>
                              <p:par>
                                <p:cTn id="52" presetID="22" presetClass="entr" presetSubtype="8" fill="hold" grpId="0" nodeType="afterEffect">
                                  <p:stCondLst>
                                    <p:cond delay="0"/>
                                  </p:stCondLst>
                                  <p:childTnLst>
                                    <p:set>
                                      <p:cBhvr>
                                        <p:cTn id="53" dur="1" fill="hold">
                                          <p:stCondLst>
                                            <p:cond delay="0"/>
                                          </p:stCondLst>
                                        </p:cTn>
                                        <p:tgtEl>
                                          <p:spTgt spid="54"/>
                                        </p:tgtEl>
                                        <p:attrNameLst>
                                          <p:attrName>style.visibility</p:attrName>
                                        </p:attrNameLst>
                                      </p:cBhvr>
                                      <p:to>
                                        <p:strVal val="visible"/>
                                      </p:to>
                                    </p:set>
                                    <p:animEffect>
                                      <p:cBhvr>
                                        <p:cTn id="54" dur="300"/>
                                        <p:tgtEl>
                                          <p:spTgt spid="54"/>
                                        </p:tgtEl>
                                      </p:cBhvr>
                                    </p:animEffect>
                                  </p:childTnLst>
                                </p:cTn>
                              </p:par>
                            </p:childTnLst>
                          </p:cTn>
                        </p:par>
                        <p:par>
                          <p:cTn id="55" fill="hold">
                            <p:stCondLst>
                              <p:cond delay="4500"/>
                            </p:stCondLst>
                            <p:childTnLst>
                              <p:par>
                                <p:cTn id="56" presetID="53" presetClass="entr" presetSubtype="16" fill="hold" nodeType="afterEffect">
                                  <p:stCondLst>
                                    <p:cond delay="0"/>
                                  </p:stCondLst>
                                  <p:childTnLst>
                                    <p:set>
                                      <p:cBhvr>
                                        <p:cTn id="57" dur="1" fill="hold">
                                          <p:stCondLst>
                                            <p:cond delay="0"/>
                                          </p:stCondLst>
                                        </p:cTn>
                                        <p:tgtEl>
                                          <p:spTgt spid="55"/>
                                        </p:tgtEl>
                                        <p:attrNameLst>
                                          <p:attrName>style.visibility</p:attrName>
                                        </p:attrNameLst>
                                      </p:cBhvr>
                                      <p:to>
                                        <p:strVal val="visible"/>
                                      </p:to>
                                    </p:set>
                                    <p:anim calcmode="lin" valueType="num">
                                      <p:cBhvr>
                                        <p:cTn id="58" dur="500" fill="hold"/>
                                        <p:tgtEl>
                                          <p:spTgt spid="55"/>
                                        </p:tgtEl>
                                        <p:attrNameLst>
                                          <p:attrName>ppt_w</p:attrName>
                                        </p:attrNameLst>
                                      </p:cBhvr>
                                      <p:tavLst>
                                        <p:tav tm="0">
                                          <p:val>
                                            <p:fltVal val="0"/>
                                          </p:val>
                                        </p:tav>
                                        <p:tav tm="100000">
                                          <p:val>
                                            <p:strVal val="#ppt_w"/>
                                          </p:val>
                                        </p:tav>
                                      </p:tavLst>
                                    </p:anim>
                                    <p:anim calcmode="lin" valueType="num">
                                      <p:cBhvr>
                                        <p:cTn id="59" dur="500" fill="hold"/>
                                        <p:tgtEl>
                                          <p:spTgt spid="55"/>
                                        </p:tgtEl>
                                        <p:attrNameLst>
                                          <p:attrName>ppt_h</p:attrName>
                                        </p:attrNameLst>
                                      </p:cBhvr>
                                      <p:tavLst>
                                        <p:tav tm="0">
                                          <p:val>
                                            <p:fltVal val="0"/>
                                          </p:val>
                                        </p:tav>
                                        <p:tav tm="100000">
                                          <p:val>
                                            <p:strVal val="#ppt_h"/>
                                          </p:val>
                                        </p:tav>
                                      </p:tavLst>
                                    </p:anim>
                                    <p:animEffect transition="in" filter="fade">
                                      <p:cBhvr>
                                        <p:cTn id="60" dur="500"/>
                                        <p:tgtEl>
                                          <p:spTgt spid="55"/>
                                        </p:tgtEl>
                                      </p:cBhvr>
                                    </p:animEffect>
                                  </p:childTnLst>
                                </p:cTn>
                              </p:par>
                            </p:childTnLst>
                          </p:cTn>
                        </p:par>
                        <p:par>
                          <p:cTn id="61" fill="hold">
                            <p:stCondLst>
                              <p:cond delay="5000"/>
                            </p:stCondLst>
                            <p:childTnLst>
                              <p:par>
                                <p:cTn id="62" presetID="22" presetClass="entr" presetSubtype="8" fill="hold" grpId="0" nodeType="afterEffect">
                                  <p:stCondLst>
                                    <p:cond delay="0"/>
                                  </p:stCondLst>
                                  <p:childTnLst>
                                    <p:set>
                                      <p:cBhvr>
                                        <p:cTn id="63" dur="1" fill="hold">
                                          <p:stCondLst>
                                            <p:cond delay="0"/>
                                          </p:stCondLst>
                                        </p:cTn>
                                        <p:tgtEl>
                                          <p:spTgt spid="58"/>
                                        </p:tgtEl>
                                        <p:attrNameLst>
                                          <p:attrName>style.visibility</p:attrName>
                                        </p:attrNameLst>
                                      </p:cBhvr>
                                      <p:to>
                                        <p:strVal val="visible"/>
                                      </p:to>
                                    </p:set>
                                    <p:animEffect>
                                      <p:cBhvr>
                                        <p:cTn id="64" dur="3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p:bldP spid="30" grpId="0"/>
      <p:bldP spid="50" grpId="0" bldLvl="0" autoUpdateAnimBg="0"/>
      <p:bldP spid="54" grpId="0" bldLvl="0" autoUpdateAnimBg="0"/>
      <p:bldP spid="58" grpId="0" bldLvl="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002060"/>
                </a:solidFill>
              </a:rPr>
              <a:t>02</a:t>
            </a:r>
            <a:endParaRPr lang="en-US" altLang="zh-CN" sz="4500" b="1" dirty="0">
              <a:solidFill>
                <a:srgbClr val="002060"/>
              </a:solidFill>
            </a:endParaRPr>
          </a:p>
        </p:txBody>
      </p:sp>
      <p:sp>
        <p:nvSpPr>
          <p:cNvPr id="20485" name="文本框 13"/>
          <p:cNvSpPr txBox="1">
            <a:spLocks noChangeArrowheads="1"/>
          </p:cNvSpPr>
          <p:nvPr/>
        </p:nvSpPr>
        <p:spPr bwMode="auto">
          <a:xfrm>
            <a:off x="2579297" y="2968229"/>
            <a:ext cx="3985406" cy="577081"/>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课题现状及发展情况</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400"/>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64476" cy="400110"/>
          </a:xfrm>
          <a:prstGeom prst="rect">
            <a:avLst/>
          </a:prstGeom>
          <a:noFill/>
        </p:spPr>
        <p:txBody>
          <a:bodyPr wrap="none" rtlCol="0">
            <a:spAutoFit/>
          </a:bodyPr>
          <a:lstStyle/>
          <a:p>
            <a:pPr>
              <a:tabLst>
                <a:tab pos="352425" algn="l"/>
              </a:tabLst>
            </a:pPr>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课题现状</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2217787"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PRESENT SITUATION</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07128"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30" name="组合 29"/>
          <p:cNvGrpSpPr>
            <a:grpSpLocks noChangeAspect="1"/>
          </p:cNvGrpSpPr>
          <p:nvPr>
            <p:custDataLst>
              <p:tags r:id="rId1"/>
            </p:custDataLst>
          </p:nvPr>
        </p:nvGrpSpPr>
        <p:grpSpPr>
          <a:xfrm>
            <a:off x="3923928" y="843558"/>
            <a:ext cx="1290303" cy="1455842"/>
            <a:chOff x="8220075" y="3296921"/>
            <a:chExt cx="2050264" cy="2313302"/>
          </a:xfrm>
        </p:grpSpPr>
        <p:sp>
          <p:nvSpPr>
            <p:cNvPr id="32" name="Freeform 5"/>
            <p:cNvSpPr/>
            <p:nvPr>
              <p:custDataLst>
                <p:tags r:id="rId2"/>
              </p:custDataLst>
            </p:nvPr>
          </p:nvSpPr>
          <p:spPr bwMode="auto">
            <a:xfrm rot="5400000">
              <a:off x="8088556" y="3428440"/>
              <a:ext cx="2313302" cy="205026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34" name="Freeform 5"/>
            <p:cNvSpPr/>
            <p:nvPr>
              <p:custDataLst>
                <p:tags r:id="rId3"/>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36" name="Freeform 5"/>
            <p:cNvSpPr/>
            <p:nvPr>
              <p:custDataLst>
                <p:tags r:id="rId4"/>
              </p:custDataLst>
            </p:nvPr>
          </p:nvSpPr>
          <p:spPr bwMode="auto">
            <a:xfrm rot="5400000">
              <a:off x="8582836" y="3866516"/>
              <a:ext cx="1324745"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79E2A"/>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a:p>
          </p:txBody>
        </p:sp>
        <p:sp>
          <p:nvSpPr>
            <p:cNvPr id="49" name="文本框 15"/>
            <p:cNvSpPr txBox="1"/>
            <p:nvPr>
              <p:custDataLst>
                <p:tags r:id="rId5"/>
              </p:custDataLst>
            </p:nvPr>
          </p:nvSpPr>
          <p:spPr>
            <a:xfrm>
              <a:off x="8780373" y="4098519"/>
              <a:ext cx="929672" cy="733576"/>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01</a:t>
              </a:r>
              <a:endParaRPr lang="zh-CN" altLang="en-US" sz="2400" dirty="0">
                <a:solidFill>
                  <a:schemeClr val="bg1"/>
                </a:solidFill>
                <a:latin typeface="Impact" panose="020B0806030902050204" pitchFamily="34" charset="0"/>
              </a:endParaRPr>
            </a:p>
          </p:txBody>
        </p:sp>
      </p:grpSp>
      <p:grpSp>
        <p:nvGrpSpPr>
          <p:cNvPr id="50" name="组合 49"/>
          <p:cNvGrpSpPr>
            <a:grpSpLocks noChangeAspect="1"/>
          </p:cNvGrpSpPr>
          <p:nvPr>
            <p:custDataLst>
              <p:tags r:id="rId6"/>
            </p:custDataLst>
          </p:nvPr>
        </p:nvGrpSpPr>
        <p:grpSpPr>
          <a:xfrm>
            <a:off x="3203848" y="2057698"/>
            <a:ext cx="1290303" cy="1455842"/>
            <a:chOff x="8220075" y="3296921"/>
            <a:chExt cx="2050264" cy="2313302"/>
          </a:xfrm>
        </p:grpSpPr>
        <p:sp>
          <p:nvSpPr>
            <p:cNvPr id="51" name="Freeform 5"/>
            <p:cNvSpPr/>
            <p:nvPr>
              <p:custDataLst>
                <p:tags r:id="rId7"/>
              </p:custDataLst>
            </p:nvPr>
          </p:nvSpPr>
          <p:spPr bwMode="auto">
            <a:xfrm rot="5400000">
              <a:off x="8088556" y="3428440"/>
              <a:ext cx="2313302" cy="205026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52" name="Freeform 5"/>
            <p:cNvSpPr/>
            <p:nvPr>
              <p:custDataLst>
                <p:tags r:id="rId8"/>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53" name="Freeform 5"/>
            <p:cNvSpPr/>
            <p:nvPr>
              <p:custDataLst>
                <p:tags r:id="rId9"/>
              </p:custDataLst>
            </p:nvPr>
          </p:nvSpPr>
          <p:spPr bwMode="auto">
            <a:xfrm rot="5400000">
              <a:off x="8572384" y="3866516"/>
              <a:ext cx="1324745"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79E2A"/>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a:p>
          </p:txBody>
        </p:sp>
        <p:sp>
          <p:nvSpPr>
            <p:cNvPr id="54" name="文本框 54"/>
            <p:cNvSpPr txBox="1"/>
            <p:nvPr>
              <p:custDataLst>
                <p:tags r:id="rId10"/>
              </p:custDataLst>
            </p:nvPr>
          </p:nvSpPr>
          <p:spPr>
            <a:xfrm>
              <a:off x="8678975" y="4098519"/>
              <a:ext cx="1111564" cy="733576"/>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02</a:t>
              </a:r>
              <a:endParaRPr lang="zh-CN" altLang="en-US" sz="2400" dirty="0">
                <a:solidFill>
                  <a:schemeClr val="bg1"/>
                </a:solidFill>
                <a:latin typeface="Impact" panose="020B0806030902050204" pitchFamily="34" charset="0"/>
              </a:endParaRPr>
            </a:p>
          </p:txBody>
        </p:sp>
      </p:grpSp>
      <p:grpSp>
        <p:nvGrpSpPr>
          <p:cNvPr id="55" name="组合 54"/>
          <p:cNvGrpSpPr>
            <a:grpSpLocks noChangeAspect="1"/>
          </p:cNvGrpSpPr>
          <p:nvPr>
            <p:custDataLst>
              <p:tags r:id="rId11"/>
            </p:custDataLst>
          </p:nvPr>
        </p:nvGrpSpPr>
        <p:grpSpPr>
          <a:xfrm>
            <a:off x="4574921" y="2052423"/>
            <a:ext cx="1290303" cy="1455842"/>
            <a:chOff x="8220075" y="3296921"/>
            <a:chExt cx="2050264" cy="2313302"/>
          </a:xfrm>
        </p:grpSpPr>
        <p:sp>
          <p:nvSpPr>
            <p:cNvPr id="56" name="Freeform 5"/>
            <p:cNvSpPr/>
            <p:nvPr>
              <p:custDataLst>
                <p:tags r:id="rId12"/>
              </p:custDataLst>
            </p:nvPr>
          </p:nvSpPr>
          <p:spPr bwMode="auto">
            <a:xfrm rot="5400000">
              <a:off x="8088556" y="3428440"/>
              <a:ext cx="2313302" cy="205026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57" name="Freeform 5"/>
            <p:cNvSpPr/>
            <p:nvPr>
              <p:custDataLst>
                <p:tags r:id="rId13"/>
              </p:custDataLst>
            </p:nvPr>
          </p:nvSpPr>
          <p:spPr bwMode="auto">
            <a:xfrm rot="5400000">
              <a:off x="8336283" y="3647999"/>
              <a:ext cx="1817848" cy="1611146"/>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58" name="Freeform 5"/>
            <p:cNvSpPr/>
            <p:nvPr>
              <p:custDataLst>
                <p:tags r:id="rId14"/>
              </p:custDataLst>
            </p:nvPr>
          </p:nvSpPr>
          <p:spPr bwMode="auto">
            <a:xfrm rot="5400000">
              <a:off x="8582835" y="3866516"/>
              <a:ext cx="1324744"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79E2A"/>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a:p>
          </p:txBody>
        </p:sp>
        <p:sp>
          <p:nvSpPr>
            <p:cNvPr id="59" name="文本框 59"/>
            <p:cNvSpPr txBox="1"/>
            <p:nvPr>
              <p:custDataLst>
                <p:tags r:id="rId15"/>
              </p:custDataLst>
            </p:nvPr>
          </p:nvSpPr>
          <p:spPr>
            <a:xfrm>
              <a:off x="8803281" y="4099629"/>
              <a:ext cx="921511" cy="733576"/>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03</a:t>
              </a:r>
              <a:endParaRPr lang="zh-CN" altLang="en-US" sz="2400" dirty="0">
                <a:solidFill>
                  <a:schemeClr val="bg1"/>
                </a:solidFill>
                <a:latin typeface="Impact" panose="020B0806030902050204" pitchFamily="34" charset="0"/>
              </a:endParaRPr>
            </a:p>
          </p:txBody>
        </p:sp>
      </p:grpSp>
      <p:grpSp>
        <p:nvGrpSpPr>
          <p:cNvPr id="60" name="组合 59"/>
          <p:cNvGrpSpPr>
            <a:grpSpLocks noChangeAspect="1"/>
          </p:cNvGrpSpPr>
          <p:nvPr>
            <p:custDataLst>
              <p:tags r:id="rId16"/>
            </p:custDataLst>
          </p:nvPr>
        </p:nvGrpSpPr>
        <p:grpSpPr>
          <a:xfrm>
            <a:off x="3929769" y="3276148"/>
            <a:ext cx="1290303" cy="1455842"/>
            <a:chOff x="8220075" y="3296921"/>
            <a:chExt cx="2050264" cy="2313302"/>
          </a:xfrm>
        </p:grpSpPr>
        <p:sp>
          <p:nvSpPr>
            <p:cNvPr id="61" name="Freeform 5"/>
            <p:cNvSpPr/>
            <p:nvPr>
              <p:custDataLst>
                <p:tags r:id="rId17"/>
              </p:custDataLst>
            </p:nvPr>
          </p:nvSpPr>
          <p:spPr bwMode="auto">
            <a:xfrm rot="5400000">
              <a:off x="8088556" y="3428440"/>
              <a:ext cx="2313302" cy="205026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62" name="Freeform 5"/>
            <p:cNvSpPr/>
            <p:nvPr>
              <p:custDataLst>
                <p:tags r:id="rId18"/>
              </p:custDataLst>
            </p:nvPr>
          </p:nvSpPr>
          <p:spPr bwMode="auto">
            <a:xfrm rot="5400000">
              <a:off x="8336283" y="3648000"/>
              <a:ext cx="1817849" cy="1611147"/>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a:gsLst>
                <a:gs pos="0">
                  <a:schemeClr val="bg1"/>
                </a:gs>
                <a:gs pos="100000">
                  <a:srgbClr val="D3D3D3"/>
                </a:gs>
              </a:gsLst>
              <a:lin ang="8100000" scaled="0"/>
            </a:gradFill>
            <a:ln w="19050">
              <a:gradFill>
                <a:gsLst>
                  <a:gs pos="0">
                    <a:srgbClr val="ADADAD"/>
                  </a:gs>
                  <a:gs pos="100000">
                    <a:schemeClr val="bg1"/>
                  </a:gs>
                </a:gsLst>
                <a:lin ang="8100000" scaled="0"/>
              </a:gradFill>
            </a:ln>
            <a:effectLst>
              <a:outerShdw blurRad="203200" dist="76200" dir="2700000" algn="tl" rotWithShape="0">
                <a:prstClr val="black">
                  <a:alpha val="40000"/>
                </a:prstClr>
              </a:outerShdw>
            </a:effectLst>
          </p:spPr>
          <p:txBody>
            <a:bodyPr vert="horz" wrap="square" lIns="91440" tIns="45720" rIns="91440" bIns="45720" numCol="1" anchor="t" anchorCtr="0" compatLnSpc="1"/>
            <a:lstStyle/>
            <a:p>
              <a:endParaRPr lang="zh-CN" altLang="en-US"/>
            </a:p>
          </p:txBody>
        </p:sp>
        <p:sp>
          <p:nvSpPr>
            <p:cNvPr id="63" name="Freeform 5"/>
            <p:cNvSpPr/>
            <p:nvPr>
              <p:custDataLst>
                <p:tags r:id="rId19"/>
              </p:custDataLst>
            </p:nvPr>
          </p:nvSpPr>
          <p:spPr bwMode="auto">
            <a:xfrm rot="5400000">
              <a:off x="8582836" y="3866516"/>
              <a:ext cx="1324745" cy="1174112"/>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solidFill>
              <a:srgbClr val="679E2A"/>
            </a:solidFill>
            <a:ln w="15875">
              <a:noFill/>
            </a:ln>
            <a:effectLst>
              <a:innerShdw blurRad="63500" dist="25400" dir="8100000">
                <a:prstClr val="black">
                  <a:alpha val="50000"/>
                </a:prstClr>
              </a:innerShdw>
            </a:effectLst>
          </p:spPr>
          <p:txBody>
            <a:bodyPr vert="horz" wrap="square" lIns="91440" tIns="45720" rIns="91440" bIns="45720" numCol="1" anchor="t" anchorCtr="0" compatLnSpc="1"/>
            <a:lstStyle/>
            <a:p>
              <a:endParaRPr lang="zh-CN" altLang="en-US"/>
            </a:p>
          </p:txBody>
        </p:sp>
        <p:sp>
          <p:nvSpPr>
            <p:cNvPr id="64" name="文本框 87"/>
            <p:cNvSpPr txBox="1"/>
            <p:nvPr>
              <p:custDataLst>
                <p:tags r:id="rId20"/>
              </p:custDataLst>
            </p:nvPr>
          </p:nvSpPr>
          <p:spPr>
            <a:xfrm>
              <a:off x="8641925" y="4098523"/>
              <a:ext cx="1206566" cy="733576"/>
            </a:xfrm>
            <a:prstGeom prst="rect">
              <a:avLst/>
            </a:prstGeom>
            <a:noFill/>
          </p:spPr>
          <p:txBody>
            <a:bodyPr wrap="square" rtlCol="0">
              <a:spAutoFit/>
            </a:bodyPr>
            <a:lstStyle/>
            <a:p>
              <a:pPr algn="ctr"/>
              <a:r>
                <a:rPr lang="en-US" altLang="zh-CN" sz="2400" dirty="0">
                  <a:solidFill>
                    <a:schemeClr val="bg1"/>
                  </a:solidFill>
                  <a:latin typeface="Impact" panose="020B0806030902050204" pitchFamily="34" charset="0"/>
                </a:rPr>
                <a:t>04</a:t>
              </a:r>
              <a:endParaRPr lang="zh-CN" altLang="en-US" sz="2400" dirty="0">
                <a:solidFill>
                  <a:schemeClr val="bg1"/>
                </a:solidFill>
                <a:latin typeface="Impact" panose="020B0806030902050204" pitchFamily="34" charset="0"/>
              </a:endParaRPr>
            </a:p>
          </p:txBody>
        </p:sp>
      </p:grpSp>
      <p:grpSp>
        <p:nvGrpSpPr>
          <p:cNvPr id="71" name="组合 70"/>
          <p:cNvGrpSpPr/>
          <p:nvPr>
            <p:custDataLst>
              <p:tags r:id="rId21"/>
            </p:custDataLst>
          </p:nvPr>
        </p:nvGrpSpPr>
        <p:grpSpPr>
          <a:xfrm>
            <a:off x="5436096" y="1203598"/>
            <a:ext cx="2736303" cy="719705"/>
            <a:chOff x="331734" y="1101181"/>
            <a:chExt cx="1697819" cy="719705"/>
          </a:xfrm>
        </p:grpSpPr>
        <p:sp>
          <p:nvSpPr>
            <p:cNvPr id="72" name="文本框 164"/>
            <p:cNvSpPr txBox="1"/>
            <p:nvPr>
              <p:custDataLst>
                <p:tags r:id="rId22"/>
              </p:custDataLst>
            </p:nvPr>
          </p:nvSpPr>
          <p:spPr>
            <a:xfrm>
              <a:off x="331734" y="1101181"/>
              <a:ext cx="990715" cy="314325"/>
            </a:xfrm>
            <a:prstGeom prst="rect">
              <a:avLst/>
            </a:prstGeom>
            <a:noFill/>
          </p:spPr>
          <p:txBody>
            <a:bodyPr wrap="square" lIns="68580" tIns="34290" rIns="68580" bIns="34290" rtlCol="0">
              <a:spAutoFit/>
            </a:bodyPr>
            <a:lstStyle/>
            <a:p>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rPr>
                <a:t>CSRF</a:t>
              </a:r>
              <a:endPar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3" name="文本框 165"/>
            <p:cNvSpPr txBox="1"/>
            <p:nvPr>
              <p:custDataLst>
                <p:tags r:id="rId23"/>
              </p:custDataLst>
            </p:nvPr>
          </p:nvSpPr>
          <p:spPr>
            <a:xfrm>
              <a:off x="331734" y="1383371"/>
              <a:ext cx="1697819" cy="437515"/>
            </a:xfrm>
            <a:prstGeom prst="rect">
              <a:avLst/>
            </a:prstGeom>
            <a:noFill/>
          </p:spPr>
          <p:txBody>
            <a:bodyPr wrap="square" lIns="68580" tIns="34290" rIns="68580" bIns="34290" rtlCol="0">
              <a:spAutoFit/>
            </a:bodyPr>
            <a:lstStyle/>
            <a:p>
              <a:pPr algn="just"/>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攻击者欺骗受害者向目标网站的登录端点执行跨站请求。</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77" name="组合 76"/>
          <p:cNvGrpSpPr/>
          <p:nvPr>
            <p:custDataLst>
              <p:tags r:id="rId24"/>
            </p:custDataLst>
          </p:nvPr>
        </p:nvGrpSpPr>
        <p:grpSpPr>
          <a:xfrm>
            <a:off x="5940152" y="2355726"/>
            <a:ext cx="2736304" cy="904490"/>
            <a:chOff x="331734" y="1101181"/>
            <a:chExt cx="2046091" cy="904490"/>
          </a:xfrm>
        </p:grpSpPr>
        <p:sp>
          <p:nvSpPr>
            <p:cNvPr id="78" name="文本框 164"/>
            <p:cNvSpPr txBox="1"/>
            <p:nvPr>
              <p:custDataLst>
                <p:tags r:id="rId25"/>
              </p:custDataLst>
            </p:nvPr>
          </p:nvSpPr>
          <p:spPr>
            <a:xfrm>
              <a:off x="331734" y="1101181"/>
              <a:ext cx="1322390" cy="314325"/>
            </a:xfrm>
            <a:prstGeom prst="rect">
              <a:avLst/>
            </a:prstGeom>
            <a:noFill/>
          </p:spPr>
          <p:txBody>
            <a:bodyPr wrap="square" lIns="68580" tIns="34290" rIns="68580" bIns="34290" rtlCol="0">
              <a:spAutoFit/>
            </a:bodyPr>
            <a:lstStyle/>
            <a:p>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重定向</a:t>
              </a:r>
              <a:r>
                <a:rPr lang="en-US" altLang="zh-CN" sz="1600" b="1" dirty="0">
                  <a:solidFill>
                    <a:schemeClr val="tx1">
                      <a:lumMod val="75000"/>
                      <a:lumOff val="25000"/>
                    </a:schemeClr>
                  </a:solidFill>
                  <a:latin typeface="微软雅黑" panose="020B0503020204020204" pitchFamily="34" charset="-122"/>
                  <a:ea typeface="微软雅黑" panose="020B0503020204020204" pitchFamily="34" charset="-122"/>
                </a:rPr>
                <a:t>URI</a:t>
              </a: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攻击</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79" name="文本框 165"/>
            <p:cNvSpPr txBox="1"/>
            <p:nvPr>
              <p:custDataLst>
                <p:tags r:id="rId26"/>
              </p:custDataLst>
            </p:nvPr>
          </p:nvSpPr>
          <p:spPr>
            <a:xfrm>
              <a:off x="331734" y="1383371"/>
              <a:ext cx="2046091" cy="622300"/>
            </a:xfrm>
            <a:prstGeom prst="rect">
              <a:avLst/>
            </a:prstGeom>
            <a:noFill/>
          </p:spPr>
          <p:txBody>
            <a:bodyPr wrap="square" lIns="68580" tIns="34290" rIns="68580" bIns="34290" rtlCol="0">
              <a:spAutoFit/>
            </a:bodyPr>
            <a:lstStyle/>
            <a:p>
              <a:pPr algn="just"/>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攻击者通过构造视觉相似或被截断的重定向</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URI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绕过合法性校验，将授权码重定向到其控制的地址，从而窃取令牌</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81" name="组合 80"/>
          <p:cNvGrpSpPr/>
          <p:nvPr>
            <p:custDataLst>
              <p:tags r:id="rId27"/>
            </p:custDataLst>
          </p:nvPr>
        </p:nvGrpSpPr>
        <p:grpSpPr>
          <a:xfrm>
            <a:off x="395535" y="2458400"/>
            <a:ext cx="2736305" cy="1089275"/>
            <a:chOff x="465772" y="1101181"/>
            <a:chExt cx="1697820" cy="1089275"/>
          </a:xfrm>
        </p:grpSpPr>
        <p:sp>
          <p:nvSpPr>
            <p:cNvPr id="82" name="文本框 164"/>
            <p:cNvSpPr txBox="1"/>
            <p:nvPr>
              <p:custDataLst>
                <p:tags r:id="rId28"/>
              </p:custDataLst>
            </p:nvPr>
          </p:nvSpPr>
          <p:spPr>
            <a:xfrm>
              <a:off x="1172877" y="1101181"/>
              <a:ext cx="990715" cy="314325"/>
            </a:xfrm>
            <a:prstGeom prst="rect">
              <a:avLst/>
            </a:prstGeom>
            <a:noFill/>
          </p:spPr>
          <p:txBody>
            <a:bodyPr wrap="square" lIns="68580" tIns="34290" rIns="68580" bIns="34290" rtlCol="0">
              <a:spAutoFit/>
            </a:bodyPr>
            <a:lstStyle/>
            <a:p>
              <a:pPr algn="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授权码拦截</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3" name="文本框 165"/>
            <p:cNvSpPr txBox="1"/>
            <p:nvPr>
              <p:custDataLst>
                <p:tags r:id="rId29"/>
              </p:custDataLst>
            </p:nvPr>
          </p:nvSpPr>
          <p:spPr>
            <a:xfrm>
              <a:off x="465772" y="1383371"/>
              <a:ext cx="1697820" cy="807085"/>
            </a:xfrm>
            <a:prstGeom prst="rect">
              <a:avLst/>
            </a:prstGeom>
            <a:noFill/>
          </p:spPr>
          <p:txBody>
            <a:bodyPr wrap="square" lIns="68580" tIns="34290" rIns="68580" bIns="34290" rtlCol="0">
              <a:spAutoFit/>
            </a:bodyPr>
            <a:lstStyle/>
            <a:p>
              <a:pPr algn="just"/>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攻击者通过监听或操纵</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redirect_uri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的接收路径，获取授权服务器发放的授权码，并在随后步骤中伪装客户端完成令牌交换。</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84" name="组合 83"/>
          <p:cNvGrpSpPr/>
          <p:nvPr>
            <p:custDataLst>
              <p:tags r:id="rId30"/>
            </p:custDataLst>
          </p:nvPr>
        </p:nvGrpSpPr>
        <p:grpSpPr>
          <a:xfrm>
            <a:off x="1115616" y="3579862"/>
            <a:ext cx="2736306" cy="719705"/>
            <a:chOff x="547111" y="1101181"/>
            <a:chExt cx="2046093" cy="719705"/>
          </a:xfrm>
        </p:grpSpPr>
        <p:sp>
          <p:nvSpPr>
            <p:cNvPr id="85" name="文本框 164"/>
            <p:cNvSpPr txBox="1"/>
            <p:nvPr>
              <p:custDataLst>
                <p:tags r:id="rId31"/>
              </p:custDataLst>
            </p:nvPr>
          </p:nvSpPr>
          <p:spPr>
            <a:xfrm>
              <a:off x="1602488" y="1101181"/>
              <a:ext cx="990715" cy="314325"/>
            </a:xfrm>
            <a:prstGeom prst="rect">
              <a:avLst/>
            </a:prstGeom>
            <a:noFill/>
          </p:spPr>
          <p:txBody>
            <a:bodyPr wrap="square" lIns="68580" tIns="34290" rIns="68580" bIns="34290" rtlCol="0">
              <a:spAutoFit/>
            </a:bodyPr>
            <a:lstStyle/>
            <a:p>
              <a:pPr algn="r"/>
              <a:r>
                <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rPr>
                <a:t>客户端冒充</a:t>
              </a:r>
              <a:endParaRPr lang="zh-CN" altLang="en-US" sz="16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6" name="文本框 165"/>
            <p:cNvSpPr txBox="1"/>
            <p:nvPr>
              <p:custDataLst>
                <p:tags r:id="rId32"/>
              </p:custDataLst>
            </p:nvPr>
          </p:nvSpPr>
          <p:spPr>
            <a:xfrm>
              <a:off x="547111" y="1383371"/>
              <a:ext cx="2046093" cy="437515"/>
            </a:xfrm>
            <a:prstGeom prst="rect">
              <a:avLst/>
            </a:prstGeom>
            <a:noFill/>
          </p:spPr>
          <p:txBody>
            <a:bodyPr wrap="square" lIns="68580" tIns="34290" rIns="68580" bIns="34290" rtlCol="0">
              <a:spAutoFit/>
            </a:bodyPr>
            <a:lstStyle/>
            <a:p>
              <a:pPr algn="just"/>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恶意行为者试图冒充合法客户端以获得对用户资源的未经授权访问</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pic>
        <p:nvPicPr>
          <p:cNvPr id="40" name="图片 39" descr="图片包含 物体&#10;&#10;描述已自动生成"/>
          <p:cNvPicPr>
            <a:picLocks noChangeAspect="1"/>
          </p:cNvPicPr>
          <p:nvPr/>
        </p:nvPicPr>
        <p:blipFill>
          <a:blip r:embed="rId33"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文本框 1"/>
          <p:cNvSpPr txBox="1"/>
          <p:nvPr/>
        </p:nvSpPr>
        <p:spPr>
          <a:xfrm>
            <a:off x="899160" y="641985"/>
            <a:ext cx="3813175" cy="337185"/>
          </a:xfrm>
          <a:prstGeom prst="rect">
            <a:avLst/>
          </a:prstGeom>
          <a:noFill/>
        </p:spPr>
        <p:txBody>
          <a:bodyPr wrap="square" rtlCol="0">
            <a:spAutoFit/>
          </a:bodyPr>
          <a:p>
            <a:r>
              <a:rPr lang="zh-CN" altLang="en-US" sz="1600" spc="300" dirty="0">
                <a:solidFill>
                  <a:schemeClr val="tx1">
                    <a:lumMod val="65000"/>
                    <a:lumOff val="35000"/>
                  </a:schemeClr>
                </a:solidFill>
                <a:latin typeface="微软雅黑" panose="020B0503020204020204" pitchFamily="34" charset="-122"/>
                <a:ea typeface="微软雅黑" panose="020B0503020204020204" pitchFamily="34" charset="-122"/>
              </a:rPr>
              <a:t>OAuth实现中的常见攻击</a:t>
            </a:r>
            <a:endParaRPr lang="zh-CN" altLang="en-US" sz="16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Tree>
    <p:custDataLst>
      <p:tags r:id="rId34"/>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 presetClass="entr" presetSubtype="4" fill="hold" nodeType="afterEffect">
                                  <p:stCondLst>
                                    <p:cond delay="0"/>
                                  </p:stCondLst>
                                  <p:childTnLst>
                                    <p:set>
                                      <p:cBhvr>
                                        <p:cTn id="27" dur="1" fill="hold">
                                          <p:stCondLst>
                                            <p:cond delay="0"/>
                                          </p:stCondLst>
                                        </p:cTn>
                                        <p:tgtEl>
                                          <p:spTgt spid="30"/>
                                        </p:tgtEl>
                                        <p:attrNameLst>
                                          <p:attrName>style.visibility</p:attrName>
                                        </p:attrNameLst>
                                      </p:cBhvr>
                                      <p:to>
                                        <p:strVal val="visible"/>
                                      </p:to>
                                    </p:set>
                                    <p:anim calcmode="lin" valueType="num">
                                      <p:cBhvr additive="base">
                                        <p:cTn id="28" dur="350" fill="hold"/>
                                        <p:tgtEl>
                                          <p:spTgt spid="30"/>
                                        </p:tgtEl>
                                        <p:attrNameLst>
                                          <p:attrName>ppt_x</p:attrName>
                                        </p:attrNameLst>
                                      </p:cBhvr>
                                      <p:tavLst>
                                        <p:tav tm="0">
                                          <p:val>
                                            <p:strVal val="#ppt_x"/>
                                          </p:val>
                                        </p:tav>
                                        <p:tav tm="100000">
                                          <p:val>
                                            <p:strVal val="#ppt_x"/>
                                          </p:val>
                                        </p:tav>
                                      </p:tavLst>
                                    </p:anim>
                                    <p:anim calcmode="lin" valueType="num">
                                      <p:cBhvr additive="base">
                                        <p:cTn id="29" dur="350" fill="hold"/>
                                        <p:tgtEl>
                                          <p:spTgt spid="30"/>
                                        </p:tgtEl>
                                        <p:attrNameLst>
                                          <p:attrName>ppt_y</p:attrName>
                                        </p:attrNameLst>
                                      </p:cBhvr>
                                      <p:tavLst>
                                        <p:tav tm="0">
                                          <p:val>
                                            <p:strVal val="1+#ppt_h/2"/>
                                          </p:val>
                                        </p:tav>
                                        <p:tav tm="100000">
                                          <p:val>
                                            <p:strVal val="#ppt_y"/>
                                          </p:val>
                                        </p:tav>
                                      </p:tavLst>
                                    </p:anim>
                                  </p:childTnLst>
                                </p:cTn>
                              </p:par>
                            </p:childTnLst>
                          </p:cTn>
                        </p:par>
                        <p:par>
                          <p:cTn id="30" fill="hold">
                            <p:stCondLst>
                              <p:cond delay="2000"/>
                            </p:stCondLst>
                            <p:childTnLst>
                              <p:par>
                                <p:cTn id="31" presetID="2" presetClass="entr" presetSubtype="2" fill="hold" nodeType="afterEffect">
                                  <p:stCondLst>
                                    <p:cond delay="0"/>
                                  </p:stCondLst>
                                  <p:childTnLst>
                                    <p:set>
                                      <p:cBhvr>
                                        <p:cTn id="32" dur="1" fill="hold">
                                          <p:stCondLst>
                                            <p:cond delay="0"/>
                                          </p:stCondLst>
                                        </p:cTn>
                                        <p:tgtEl>
                                          <p:spTgt spid="71"/>
                                        </p:tgtEl>
                                        <p:attrNameLst>
                                          <p:attrName>style.visibility</p:attrName>
                                        </p:attrNameLst>
                                      </p:cBhvr>
                                      <p:to>
                                        <p:strVal val="visible"/>
                                      </p:to>
                                    </p:set>
                                    <p:anim calcmode="lin" valueType="num">
                                      <p:cBhvr additive="base">
                                        <p:cTn id="33" dur="350" fill="hold"/>
                                        <p:tgtEl>
                                          <p:spTgt spid="71"/>
                                        </p:tgtEl>
                                        <p:attrNameLst>
                                          <p:attrName>ppt_x</p:attrName>
                                        </p:attrNameLst>
                                      </p:cBhvr>
                                      <p:tavLst>
                                        <p:tav tm="0">
                                          <p:val>
                                            <p:strVal val="1+#ppt_w/2"/>
                                          </p:val>
                                        </p:tav>
                                        <p:tav tm="100000">
                                          <p:val>
                                            <p:strVal val="#ppt_x"/>
                                          </p:val>
                                        </p:tav>
                                      </p:tavLst>
                                    </p:anim>
                                    <p:anim calcmode="lin" valueType="num">
                                      <p:cBhvr additive="base">
                                        <p:cTn id="34" dur="350" fill="hold"/>
                                        <p:tgtEl>
                                          <p:spTgt spid="71"/>
                                        </p:tgtEl>
                                        <p:attrNameLst>
                                          <p:attrName>ppt_y</p:attrName>
                                        </p:attrNameLst>
                                      </p:cBhvr>
                                      <p:tavLst>
                                        <p:tav tm="0">
                                          <p:val>
                                            <p:strVal val="#ppt_y"/>
                                          </p:val>
                                        </p:tav>
                                        <p:tav tm="100000">
                                          <p:val>
                                            <p:strVal val="#ppt_y"/>
                                          </p:val>
                                        </p:tav>
                                      </p:tavLst>
                                    </p:anim>
                                  </p:childTnLst>
                                </p:cTn>
                              </p:par>
                            </p:childTnLst>
                          </p:cTn>
                        </p:par>
                        <p:par>
                          <p:cTn id="35" fill="hold">
                            <p:stCondLst>
                              <p:cond delay="2500"/>
                            </p:stCondLst>
                            <p:childTnLst>
                              <p:par>
                                <p:cTn id="36" presetID="2" presetClass="entr" presetSubtype="4" fill="hold" nodeType="afterEffect">
                                  <p:stCondLst>
                                    <p:cond delay="0"/>
                                  </p:stCondLst>
                                  <p:childTnLst>
                                    <p:set>
                                      <p:cBhvr>
                                        <p:cTn id="37" dur="1" fill="hold">
                                          <p:stCondLst>
                                            <p:cond delay="0"/>
                                          </p:stCondLst>
                                        </p:cTn>
                                        <p:tgtEl>
                                          <p:spTgt spid="50"/>
                                        </p:tgtEl>
                                        <p:attrNameLst>
                                          <p:attrName>style.visibility</p:attrName>
                                        </p:attrNameLst>
                                      </p:cBhvr>
                                      <p:to>
                                        <p:strVal val="visible"/>
                                      </p:to>
                                    </p:set>
                                    <p:anim calcmode="lin" valueType="num">
                                      <p:cBhvr additive="base">
                                        <p:cTn id="38" dur="350" fill="hold"/>
                                        <p:tgtEl>
                                          <p:spTgt spid="50"/>
                                        </p:tgtEl>
                                        <p:attrNameLst>
                                          <p:attrName>ppt_x</p:attrName>
                                        </p:attrNameLst>
                                      </p:cBhvr>
                                      <p:tavLst>
                                        <p:tav tm="0">
                                          <p:val>
                                            <p:strVal val="#ppt_x"/>
                                          </p:val>
                                        </p:tav>
                                        <p:tav tm="100000">
                                          <p:val>
                                            <p:strVal val="#ppt_x"/>
                                          </p:val>
                                        </p:tav>
                                      </p:tavLst>
                                    </p:anim>
                                    <p:anim calcmode="lin" valueType="num">
                                      <p:cBhvr additive="base">
                                        <p:cTn id="39" dur="350" fill="hold"/>
                                        <p:tgtEl>
                                          <p:spTgt spid="50"/>
                                        </p:tgtEl>
                                        <p:attrNameLst>
                                          <p:attrName>ppt_y</p:attrName>
                                        </p:attrNameLst>
                                      </p:cBhvr>
                                      <p:tavLst>
                                        <p:tav tm="0">
                                          <p:val>
                                            <p:strVal val="1+#ppt_h/2"/>
                                          </p:val>
                                        </p:tav>
                                        <p:tav tm="100000">
                                          <p:val>
                                            <p:strVal val="#ppt_y"/>
                                          </p:val>
                                        </p:tav>
                                      </p:tavLst>
                                    </p:anim>
                                  </p:childTnLst>
                                </p:cTn>
                              </p:par>
                            </p:childTnLst>
                          </p:cTn>
                        </p:par>
                        <p:par>
                          <p:cTn id="40" fill="hold">
                            <p:stCondLst>
                              <p:cond delay="3000"/>
                            </p:stCondLst>
                            <p:childTnLst>
                              <p:par>
                                <p:cTn id="41" presetID="2" presetClass="entr" presetSubtype="8" fill="hold" nodeType="afterEffect">
                                  <p:stCondLst>
                                    <p:cond delay="0"/>
                                  </p:stCondLst>
                                  <p:childTnLst>
                                    <p:set>
                                      <p:cBhvr>
                                        <p:cTn id="42" dur="1" fill="hold">
                                          <p:stCondLst>
                                            <p:cond delay="0"/>
                                          </p:stCondLst>
                                        </p:cTn>
                                        <p:tgtEl>
                                          <p:spTgt spid="81"/>
                                        </p:tgtEl>
                                        <p:attrNameLst>
                                          <p:attrName>style.visibility</p:attrName>
                                        </p:attrNameLst>
                                      </p:cBhvr>
                                      <p:to>
                                        <p:strVal val="visible"/>
                                      </p:to>
                                    </p:set>
                                    <p:anim calcmode="lin" valueType="num">
                                      <p:cBhvr additive="base">
                                        <p:cTn id="43" dur="350" fill="hold"/>
                                        <p:tgtEl>
                                          <p:spTgt spid="81"/>
                                        </p:tgtEl>
                                        <p:attrNameLst>
                                          <p:attrName>ppt_x</p:attrName>
                                        </p:attrNameLst>
                                      </p:cBhvr>
                                      <p:tavLst>
                                        <p:tav tm="0">
                                          <p:val>
                                            <p:strVal val="0-#ppt_w/2"/>
                                          </p:val>
                                        </p:tav>
                                        <p:tav tm="100000">
                                          <p:val>
                                            <p:strVal val="#ppt_x"/>
                                          </p:val>
                                        </p:tav>
                                      </p:tavLst>
                                    </p:anim>
                                    <p:anim calcmode="lin" valueType="num">
                                      <p:cBhvr additive="base">
                                        <p:cTn id="44" dur="350" fill="hold"/>
                                        <p:tgtEl>
                                          <p:spTgt spid="81"/>
                                        </p:tgtEl>
                                        <p:attrNameLst>
                                          <p:attrName>ppt_y</p:attrName>
                                        </p:attrNameLst>
                                      </p:cBhvr>
                                      <p:tavLst>
                                        <p:tav tm="0">
                                          <p:val>
                                            <p:strVal val="#ppt_y"/>
                                          </p:val>
                                        </p:tav>
                                        <p:tav tm="100000">
                                          <p:val>
                                            <p:strVal val="#ppt_y"/>
                                          </p:val>
                                        </p:tav>
                                      </p:tavLst>
                                    </p:anim>
                                  </p:childTnLst>
                                </p:cTn>
                              </p:par>
                            </p:childTnLst>
                          </p:cTn>
                        </p:par>
                        <p:par>
                          <p:cTn id="45" fill="hold">
                            <p:stCondLst>
                              <p:cond delay="3500"/>
                            </p:stCondLst>
                            <p:childTnLst>
                              <p:par>
                                <p:cTn id="46" presetID="2" presetClass="entr" presetSubtype="4" fill="hold" nodeType="afterEffect">
                                  <p:stCondLst>
                                    <p:cond delay="0"/>
                                  </p:stCondLst>
                                  <p:childTnLst>
                                    <p:set>
                                      <p:cBhvr>
                                        <p:cTn id="47" dur="1" fill="hold">
                                          <p:stCondLst>
                                            <p:cond delay="0"/>
                                          </p:stCondLst>
                                        </p:cTn>
                                        <p:tgtEl>
                                          <p:spTgt spid="55"/>
                                        </p:tgtEl>
                                        <p:attrNameLst>
                                          <p:attrName>style.visibility</p:attrName>
                                        </p:attrNameLst>
                                      </p:cBhvr>
                                      <p:to>
                                        <p:strVal val="visible"/>
                                      </p:to>
                                    </p:set>
                                    <p:anim calcmode="lin" valueType="num">
                                      <p:cBhvr additive="base">
                                        <p:cTn id="48" dur="350" fill="hold"/>
                                        <p:tgtEl>
                                          <p:spTgt spid="55"/>
                                        </p:tgtEl>
                                        <p:attrNameLst>
                                          <p:attrName>ppt_x</p:attrName>
                                        </p:attrNameLst>
                                      </p:cBhvr>
                                      <p:tavLst>
                                        <p:tav tm="0">
                                          <p:val>
                                            <p:strVal val="#ppt_x"/>
                                          </p:val>
                                        </p:tav>
                                        <p:tav tm="100000">
                                          <p:val>
                                            <p:strVal val="#ppt_x"/>
                                          </p:val>
                                        </p:tav>
                                      </p:tavLst>
                                    </p:anim>
                                    <p:anim calcmode="lin" valueType="num">
                                      <p:cBhvr additive="base">
                                        <p:cTn id="49" dur="350" fill="hold"/>
                                        <p:tgtEl>
                                          <p:spTgt spid="55"/>
                                        </p:tgtEl>
                                        <p:attrNameLst>
                                          <p:attrName>ppt_y</p:attrName>
                                        </p:attrNameLst>
                                      </p:cBhvr>
                                      <p:tavLst>
                                        <p:tav tm="0">
                                          <p:val>
                                            <p:strVal val="1+#ppt_h/2"/>
                                          </p:val>
                                        </p:tav>
                                        <p:tav tm="100000">
                                          <p:val>
                                            <p:strVal val="#ppt_y"/>
                                          </p:val>
                                        </p:tav>
                                      </p:tavLst>
                                    </p:anim>
                                  </p:childTnLst>
                                </p:cTn>
                              </p:par>
                            </p:childTnLst>
                          </p:cTn>
                        </p:par>
                        <p:par>
                          <p:cTn id="50" fill="hold">
                            <p:stCondLst>
                              <p:cond delay="4000"/>
                            </p:stCondLst>
                            <p:childTnLst>
                              <p:par>
                                <p:cTn id="51" presetID="2" presetClass="entr" presetSubtype="2" fill="hold" nodeType="afterEffect">
                                  <p:stCondLst>
                                    <p:cond delay="0"/>
                                  </p:stCondLst>
                                  <p:childTnLst>
                                    <p:set>
                                      <p:cBhvr>
                                        <p:cTn id="52" dur="1" fill="hold">
                                          <p:stCondLst>
                                            <p:cond delay="0"/>
                                          </p:stCondLst>
                                        </p:cTn>
                                        <p:tgtEl>
                                          <p:spTgt spid="77"/>
                                        </p:tgtEl>
                                        <p:attrNameLst>
                                          <p:attrName>style.visibility</p:attrName>
                                        </p:attrNameLst>
                                      </p:cBhvr>
                                      <p:to>
                                        <p:strVal val="visible"/>
                                      </p:to>
                                    </p:set>
                                    <p:anim calcmode="lin" valueType="num">
                                      <p:cBhvr additive="base">
                                        <p:cTn id="53" dur="350" fill="hold"/>
                                        <p:tgtEl>
                                          <p:spTgt spid="77"/>
                                        </p:tgtEl>
                                        <p:attrNameLst>
                                          <p:attrName>ppt_x</p:attrName>
                                        </p:attrNameLst>
                                      </p:cBhvr>
                                      <p:tavLst>
                                        <p:tav tm="0">
                                          <p:val>
                                            <p:strVal val="1+#ppt_w/2"/>
                                          </p:val>
                                        </p:tav>
                                        <p:tav tm="100000">
                                          <p:val>
                                            <p:strVal val="#ppt_x"/>
                                          </p:val>
                                        </p:tav>
                                      </p:tavLst>
                                    </p:anim>
                                    <p:anim calcmode="lin" valueType="num">
                                      <p:cBhvr additive="base">
                                        <p:cTn id="54" dur="350" fill="hold"/>
                                        <p:tgtEl>
                                          <p:spTgt spid="77"/>
                                        </p:tgtEl>
                                        <p:attrNameLst>
                                          <p:attrName>ppt_y</p:attrName>
                                        </p:attrNameLst>
                                      </p:cBhvr>
                                      <p:tavLst>
                                        <p:tav tm="0">
                                          <p:val>
                                            <p:strVal val="#ppt_y"/>
                                          </p:val>
                                        </p:tav>
                                        <p:tav tm="100000">
                                          <p:val>
                                            <p:strVal val="#ppt_y"/>
                                          </p:val>
                                        </p:tav>
                                      </p:tavLst>
                                    </p:anim>
                                  </p:childTnLst>
                                </p:cTn>
                              </p:par>
                            </p:childTnLst>
                          </p:cTn>
                        </p:par>
                        <p:par>
                          <p:cTn id="55" fill="hold">
                            <p:stCondLst>
                              <p:cond delay="4500"/>
                            </p:stCondLst>
                            <p:childTnLst>
                              <p:par>
                                <p:cTn id="56" presetID="2" presetClass="entr" presetSubtype="4" fill="hold" nodeType="afterEffect">
                                  <p:stCondLst>
                                    <p:cond delay="0"/>
                                  </p:stCondLst>
                                  <p:childTnLst>
                                    <p:set>
                                      <p:cBhvr>
                                        <p:cTn id="57" dur="1" fill="hold">
                                          <p:stCondLst>
                                            <p:cond delay="0"/>
                                          </p:stCondLst>
                                        </p:cTn>
                                        <p:tgtEl>
                                          <p:spTgt spid="60"/>
                                        </p:tgtEl>
                                        <p:attrNameLst>
                                          <p:attrName>style.visibility</p:attrName>
                                        </p:attrNameLst>
                                      </p:cBhvr>
                                      <p:to>
                                        <p:strVal val="visible"/>
                                      </p:to>
                                    </p:set>
                                    <p:anim calcmode="lin" valueType="num">
                                      <p:cBhvr additive="base">
                                        <p:cTn id="58" dur="350" fill="hold"/>
                                        <p:tgtEl>
                                          <p:spTgt spid="60"/>
                                        </p:tgtEl>
                                        <p:attrNameLst>
                                          <p:attrName>ppt_x</p:attrName>
                                        </p:attrNameLst>
                                      </p:cBhvr>
                                      <p:tavLst>
                                        <p:tav tm="0">
                                          <p:val>
                                            <p:strVal val="#ppt_x"/>
                                          </p:val>
                                        </p:tav>
                                        <p:tav tm="100000">
                                          <p:val>
                                            <p:strVal val="#ppt_x"/>
                                          </p:val>
                                        </p:tav>
                                      </p:tavLst>
                                    </p:anim>
                                    <p:anim calcmode="lin" valueType="num">
                                      <p:cBhvr additive="base">
                                        <p:cTn id="59" dur="350" fill="hold"/>
                                        <p:tgtEl>
                                          <p:spTgt spid="60"/>
                                        </p:tgtEl>
                                        <p:attrNameLst>
                                          <p:attrName>ppt_y</p:attrName>
                                        </p:attrNameLst>
                                      </p:cBhvr>
                                      <p:tavLst>
                                        <p:tav tm="0">
                                          <p:val>
                                            <p:strVal val="1+#ppt_h/2"/>
                                          </p:val>
                                        </p:tav>
                                        <p:tav tm="100000">
                                          <p:val>
                                            <p:strVal val="#ppt_y"/>
                                          </p:val>
                                        </p:tav>
                                      </p:tavLst>
                                    </p:anim>
                                  </p:childTnLst>
                                </p:cTn>
                              </p:par>
                            </p:childTnLst>
                          </p:cTn>
                        </p:par>
                        <p:par>
                          <p:cTn id="60" fill="hold">
                            <p:stCondLst>
                              <p:cond delay="5000"/>
                            </p:stCondLst>
                            <p:childTnLst>
                              <p:par>
                                <p:cTn id="61" presetID="2" presetClass="entr" presetSubtype="8" fill="hold" nodeType="afterEffect">
                                  <p:stCondLst>
                                    <p:cond delay="0"/>
                                  </p:stCondLst>
                                  <p:childTnLst>
                                    <p:set>
                                      <p:cBhvr>
                                        <p:cTn id="62" dur="1" fill="hold">
                                          <p:stCondLst>
                                            <p:cond delay="0"/>
                                          </p:stCondLst>
                                        </p:cTn>
                                        <p:tgtEl>
                                          <p:spTgt spid="84"/>
                                        </p:tgtEl>
                                        <p:attrNameLst>
                                          <p:attrName>style.visibility</p:attrName>
                                        </p:attrNameLst>
                                      </p:cBhvr>
                                      <p:to>
                                        <p:strVal val="visible"/>
                                      </p:to>
                                    </p:set>
                                    <p:anim calcmode="lin" valueType="num">
                                      <p:cBhvr additive="base">
                                        <p:cTn id="63" dur="350" fill="hold"/>
                                        <p:tgtEl>
                                          <p:spTgt spid="84"/>
                                        </p:tgtEl>
                                        <p:attrNameLst>
                                          <p:attrName>ppt_x</p:attrName>
                                        </p:attrNameLst>
                                      </p:cBhvr>
                                      <p:tavLst>
                                        <p:tav tm="0">
                                          <p:val>
                                            <p:strVal val="0-#ppt_w/2"/>
                                          </p:val>
                                        </p:tav>
                                        <p:tav tm="100000">
                                          <p:val>
                                            <p:strVal val="#ppt_x"/>
                                          </p:val>
                                        </p:tav>
                                      </p:tavLst>
                                    </p:anim>
                                    <p:anim calcmode="lin" valueType="num">
                                      <p:cBhvr additive="base">
                                        <p:cTn id="64" dur="350" fill="hold"/>
                                        <p:tgtEl>
                                          <p:spTgt spid="8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35" name="TextBox 34"/>
          <p:cNvSpPr txBox="1"/>
          <p:nvPr/>
        </p:nvSpPr>
        <p:spPr>
          <a:xfrm>
            <a:off x="908957" y="206330"/>
            <a:ext cx="1364476" cy="400110"/>
          </a:xfrm>
          <a:prstGeom prst="rect">
            <a:avLst/>
          </a:prstGeom>
          <a:noFill/>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发展情况</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6" name="TextBox 35"/>
          <p:cNvSpPr txBox="1"/>
          <p:nvPr/>
        </p:nvSpPr>
        <p:spPr>
          <a:xfrm>
            <a:off x="2390916" y="237108"/>
            <a:ext cx="1691873"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DEVELOPMENT</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37" name="直接连接符 36"/>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1"/>
            </p:custDataLst>
          </p:nvPr>
        </p:nvGrpSpPr>
        <p:grpSpPr>
          <a:xfrm>
            <a:off x="4618029" y="1107636"/>
            <a:ext cx="1113617" cy="2136744"/>
            <a:chOff x="6156302" y="1476392"/>
            <a:chExt cx="1484565" cy="2848113"/>
          </a:xfrm>
        </p:grpSpPr>
        <p:grpSp>
          <p:nvGrpSpPr>
            <p:cNvPr id="39" name="组合 38"/>
            <p:cNvGrpSpPr/>
            <p:nvPr/>
          </p:nvGrpSpPr>
          <p:grpSpPr>
            <a:xfrm>
              <a:off x="6156302" y="1476392"/>
              <a:ext cx="1484565" cy="2848113"/>
              <a:chOff x="6156302" y="1476392"/>
              <a:chExt cx="1484565" cy="2848113"/>
            </a:xfrm>
          </p:grpSpPr>
          <p:sp>
            <p:nvSpPr>
              <p:cNvPr id="43" name="MH_Other_3"/>
              <p:cNvSpPr/>
              <p:nvPr>
                <p:custDataLst>
                  <p:tags r:id="rId2"/>
                </p:custDataLst>
              </p:nvPr>
            </p:nvSpPr>
            <p:spPr>
              <a:xfrm rot="5400000" flipV="1">
                <a:off x="5311844" y="2591146"/>
                <a:ext cx="2577817" cy="888902"/>
              </a:xfrm>
              <a:prstGeom prst="bentArrow">
                <a:avLst>
                  <a:gd name="adj1" fmla="val 7438"/>
                  <a:gd name="adj2" fmla="val 3464"/>
                  <a:gd name="adj3" fmla="val 0"/>
                  <a:gd name="adj4" fmla="val 30020"/>
                </a:avLst>
              </a:prstGeom>
              <a:solidFill>
                <a:srgbClr val="5FBD98"/>
              </a:solidFill>
              <a:ln w="76200" cap="flat" cmpd="sng" algn="ctr">
                <a:solidFill>
                  <a:srgbClr val="679E2A"/>
                </a:solidFill>
                <a:prstDash val="solid"/>
              </a:ln>
              <a:effectLst/>
            </p:spPr>
            <p:txBody>
              <a:bodyPr anchor="ctr"/>
              <a:lstStyle/>
              <a:p>
                <a:pPr algn="ctr" defTabSz="772795">
                  <a:defRPr/>
                </a:pPr>
                <a:endParaRPr lang="en-US" sz="2000" kern="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44" name="椭圆 43"/>
              <p:cNvSpPr/>
              <p:nvPr>
                <p:custDataLst>
                  <p:tags r:id="rId3"/>
                </p:custDataLst>
              </p:nvPr>
            </p:nvSpPr>
            <p:spPr>
              <a:xfrm>
                <a:off x="7018705" y="1476392"/>
                <a:ext cx="622162" cy="622163"/>
              </a:xfrm>
              <a:prstGeom prst="ellipse">
                <a:avLst/>
              </a:prstGeom>
              <a:solidFill>
                <a:srgbClr val="679E2A"/>
              </a:solidFill>
              <a:ln>
                <a:solidFill>
                  <a:srgbClr val="679E2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40" name="组合 39"/>
            <p:cNvGrpSpPr/>
            <p:nvPr/>
          </p:nvGrpSpPr>
          <p:grpSpPr>
            <a:xfrm>
              <a:off x="7090635" y="1546559"/>
              <a:ext cx="528258" cy="464474"/>
              <a:chOff x="4405792" y="1573446"/>
              <a:chExt cx="528258" cy="464474"/>
            </a:xfrm>
          </p:grpSpPr>
          <p:sp>
            <p:nvSpPr>
              <p:cNvPr id="41" name="椭圆 40"/>
              <p:cNvSpPr/>
              <p:nvPr>
                <p:custDataLst>
                  <p:tags r:id="rId4"/>
                </p:custDataLst>
              </p:nvPr>
            </p:nvSpPr>
            <p:spPr>
              <a:xfrm>
                <a:off x="4418676" y="1573446"/>
                <a:ext cx="464474" cy="464474"/>
              </a:xfrm>
              <a:prstGeom prst="ellipse">
                <a:avLst/>
              </a:prstGeom>
              <a:gradFill>
                <a:gsLst>
                  <a:gs pos="0">
                    <a:schemeClr val="bg1">
                      <a:lumMod val="75000"/>
                    </a:schemeClr>
                  </a:gs>
                  <a:gs pos="100000">
                    <a:schemeClr val="bg1"/>
                  </a:gs>
                </a:gsLst>
                <a:lin ang="5400000" scaled="1"/>
              </a:gradFill>
              <a:ln w="25400" cap="flat">
                <a:gradFill>
                  <a:gsLst>
                    <a:gs pos="0">
                      <a:schemeClr val="bg1"/>
                    </a:gs>
                    <a:gs pos="100000">
                      <a:srgbClr val="DDDDDD"/>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42" name="文本框 114"/>
              <p:cNvSpPr txBox="1"/>
              <p:nvPr>
                <p:custDataLst>
                  <p:tags r:id="rId5"/>
                </p:custDataLst>
              </p:nvPr>
            </p:nvSpPr>
            <p:spPr>
              <a:xfrm>
                <a:off x="4405792" y="1609239"/>
                <a:ext cx="528258" cy="410243"/>
              </a:xfrm>
              <a:prstGeom prst="rect">
                <a:avLst/>
              </a:prstGeom>
              <a:noFill/>
            </p:spPr>
            <p:txBody>
              <a:bodyPr wrap="none" rtlCol="0">
                <a:spAutoFit/>
              </a:bodyPr>
              <a:lstStyle/>
              <a:p>
                <a:r>
                  <a:rPr lang="en-US" altLang="zh-CN" sz="1400" dirty="0">
                    <a:solidFill>
                      <a:srgbClr val="679E2A"/>
                    </a:solidFill>
                    <a:latin typeface="微软雅黑" panose="020B0503020204020204" pitchFamily="34" charset="-122"/>
                    <a:ea typeface="微软雅黑" panose="020B0503020204020204" pitchFamily="34" charset="-122"/>
                  </a:rPr>
                  <a:t>02</a:t>
                </a:r>
                <a:endParaRPr lang="zh-CN" altLang="en-US" sz="1400" dirty="0">
                  <a:solidFill>
                    <a:srgbClr val="679E2A"/>
                  </a:solidFill>
                  <a:latin typeface="微软雅黑" panose="020B0503020204020204" pitchFamily="34" charset="-122"/>
                  <a:ea typeface="微软雅黑" panose="020B0503020204020204" pitchFamily="34" charset="-122"/>
                </a:endParaRPr>
              </a:p>
            </p:txBody>
          </p:sp>
        </p:grpSp>
      </p:grpSp>
      <p:grpSp>
        <p:nvGrpSpPr>
          <p:cNvPr id="45" name="组合 44"/>
          <p:cNvGrpSpPr/>
          <p:nvPr>
            <p:custDataLst>
              <p:tags r:id="rId6"/>
            </p:custDataLst>
          </p:nvPr>
        </p:nvGrpSpPr>
        <p:grpSpPr>
          <a:xfrm>
            <a:off x="3839031" y="3510579"/>
            <a:ext cx="1282499" cy="1282672"/>
            <a:chOff x="4700937" y="4015204"/>
            <a:chExt cx="455921" cy="455921"/>
          </a:xfrm>
          <a:effectLst/>
        </p:grpSpPr>
        <p:sp>
          <p:nvSpPr>
            <p:cNvPr id="46" name="椭圆 45"/>
            <p:cNvSpPr/>
            <p:nvPr>
              <p:custDataLst>
                <p:tags r:id="rId7"/>
              </p:custDataLst>
            </p:nvPr>
          </p:nvSpPr>
          <p:spPr>
            <a:xfrm flipH="1">
              <a:off x="4700937" y="4015204"/>
              <a:ext cx="455921" cy="455921"/>
            </a:xfrm>
            <a:prstGeom prst="ellipse">
              <a:avLst/>
            </a:prstGeom>
            <a:gradFill flip="none" rotWithShape="1">
              <a:gsLst>
                <a:gs pos="0">
                  <a:schemeClr val="bg1"/>
                </a:gs>
                <a:gs pos="100000">
                  <a:srgbClr val="E0E0E0"/>
                </a:gs>
              </a:gsLst>
              <a:lin ang="5400000" scaled="1"/>
              <a:tileRect/>
            </a:gradFill>
            <a:ln>
              <a:no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47" name="椭圆 46"/>
            <p:cNvSpPr/>
            <p:nvPr>
              <p:custDataLst>
                <p:tags r:id="rId8"/>
              </p:custDataLst>
            </p:nvPr>
          </p:nvSpPr>
          <p:spPr>
            <a:xfrm flipH="1">
              <a:off x="4711557" y="4025824"/>
              <a:ext cx="434681" cy="434681"/>
            </a:xfrm>
            <a:prstGeom prst="ellipse">
              <a:avLst/>
            </a:prstGeom>
            <a:gradFill flip="none" rotWithShape="1">
              <a:gsLst>
                <a:gs pos="0">
                  <a:schemeClr val="bg1"/>
                </a:gs>
                <a:gs pos="100000">
                  <a:srgbClr val="DDDED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48" name="组合 47"/>
          <p:cNvGrpSpPr/>
          <p:nvPr>
            <p:custDataLst>
              <p:tags r:id="rId9"/>
            </p:custDataLst>
          </p:nvPr>
        </p:nvGrpSpPr>
        <p:grpSpPr>
          <a:xfrm>
            <a:off x="3257660" y="1125372"/>
            <a:ext cx="1069605" cy="2852578"/>
            <a:chOff x="4342792" y="1500033"/>
            <a:chExt cx="1425893" cy="3802264"/>
          </a:xfrm>
        </p:grpSpPr>
        <p:grpSp>
          <p:nvGrpSpPr>
            <p:cNvPr id="49" name="组合 48"/>
            <p:cNvGrpSpPr/>
            <p:nvPr/>
          </p:nvGrpSpPr>
          <p:grpSpPr>
            <a:xfrm>
              <a:off x="4342792" y="1500033"/>
              <a:ext cx="1425893" cy="3802264"/>
              <a:chOff x="4342792" y="1500033"/>
              <a:chExt cx="1425893" cy="3802264"/>
            </a:xfrm>
          </p:grpSpPr>
          <p:sp>
            <p:nvSpPr>
              <p:cNvPr id="53" name="MH_Other_3"/>
              <p:cNvSpPr/>
              <p:nvPr>
                <p:custDataLst>
                  <p:tags r:id="rId10"/>
                </p:custDataLst>
              </p:nvPr>
            </p:nvSpPr>
            <p:spPr>
              <a:xfrm rot="16200000" flipH="1" flipV="1">
                <a:off x="3546429" y="3080042"/>
                <a:ext cx="3555609" cy="888902"/>
              </a:xfrm>
              <a:prstGeom prst="bentArrow">
                <a:avLst>
                  <a:gd name="adj1" fmla="val 7438"/>
                  <a:gd name="adj2" fmla="val 3464"/>
                  <a:gd name="adj3" fmla="val 0"/>
                  <a:gd name="adj4" fmla="val 30020"/>
                </a:avLst>
              </a:prstGeom>
              <a:solidFill>
                <a:srgbClr val="5FBD98"/>
              </a:solidFill>
              <a:ln w="76200" cap="flat" cmpd="sng" algn="ctr">
                <a:solidFill>
                  <a:srgbClr val="679E2A"/>
                </a:solidFill>
                <a:prstDash val="solid"/>
              </a:ln>
              <a:effectLst/>
            </p:spPr>
            <p:txBody>
              <a:bodyPr anchor="ctr"/>
              <a:lstStyle/>
              <a:p>
                <a:pPr algn="ctr" defTabSz="772795">
                  <a:defRPr/>
                </a:pPr>
                <a:endParaRPr lang="en-US" sz="2000" kern="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54" name="椭圆 53"/>
              <p:cNvSpPr/>
              <p:nvPr>
                <p:custDataLst>
                  <p:tags r:id="rId11"/>
                </p:custDataLst>
              </p:nvPr>
            </p:nvSpPr>
            <p:spPr>
              <a:xfrm>
                <a:off x="4342792" y="1500033"/>
                <a:ext cx="622162" cy="62216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50" name="组合 49"/>
            <p:cNvGrpSpPr/>
            <p:nvPr/>
          </p:nvGrpSpPr>
          <p:grpSpPr>
            <a:xfrm>
              <a:off x="4407687" y="1573446"/>
              <a:ext cx="528258" cy="464474"/>
              <a:chOff x="4407687" y="1573446"/>
              <a:chExt cx="528258" cy="464474"/>
            </a:xfrm>
          </p:grpSpPr>
          <p:sp>
            <p:nvSpPr>
              <p:cNvPr id="51" name="椭圆 50"/>
              <p:cNvSpPr/>
              <p:nvPr>
                <p:custDataLst>
                  <p:tags r:id="rId12"/>
                </p:custDataLst>
              </p:nvPr>
            </p:nvSpPr>
            <p:spPr>
              <a:xfrm>
                <a:off x="4418676" y="1573446"/>
                <a:ext cx="464474" cy="464474"/>
              </a:xfrm>
              <a:prstGeom prst="ellipse">
                <a:avLst/>
              </a:prstGeom>
              <a:gradFill>
                <a:gsLst>
                  <a:gs pos="0">
                    <a:schemeClr val="bg1">
                      <a:lumMod val="75000"/>
                    </a:schemeClr>
                  </a:gs>
                  <a:gs pos="100000">
                    <a:schemeClr val="bg1"/>
                  </a:gs>
                </a:gsLst>
                <a:lin ang="5400000" scaled="1"/>
              </a:gradFill>
              <a:ln w="25400" cap="flat">
                <a:gradFill>
                  <a:gsLst>
                    <a:gs pos="0">
                      <a:schemeClr val="bg1">
                        <a:lumMod val="75000"/>
                      </a:schemeClr>
                    </a:gs>
                    <a:gs pos="50000">
                      <a:schemeClr val="bg1">
                        <a:lumMod val="95000"/>
                      </a:schemeClr>
                    </a:gs>
                    <a:gs pos="100000">
                      <a:schemeClr val="bg1"/>
                    </a:gs>
                  </a:gsLst>
                  <a:lin ang="5400000" scaled="0"/>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52" name="文本框 101"/>
              <p:cNvSpPr txBox="1"/>
              <p:nvPr>
                <p:custDataLst>
                  <p:tags r:id="rId13"/>
                </p:custDataLst>
              </p:nvPr>
            </p:nvSpPr>
            <p:spPr>
              <a:xfrm>
                <a:off x="4407687" y="1620522"/>
                <a:ext cx="528258" cy="410243"/>
              </a:xfrm>
              <a:prstGeom prst="rect">
                <a:avLst/>
              </a:prstGeom>
              <a:noFill/>
              <a:ln>
                <a:noFill/>
              </a:ln>
            </p:spPr>
            <p:txBody>
              <a:bodyPr wrap="none" rtlCol="0">
                <a:spAutoFit/>
              </a:bodyPr>
              <a:lstStyle/>
              <a:p>
                <a:r>
                  <a:rPr lang="en-US" altLang="zh-CN" sz="1400" dirty="0">
                    <a:solidFill>
                      <a:srgbClr val="679E2A"/>
                    </a:solidFill>
                    <a:latin typeface="微软雅黑" panose="020B0503020204020204" pitchFamily="34" charset="-122"/>
                    <a:ea typeface="微软雅黑" panose="020B0503020204020204" pitchFamily="34" charset="-122"/>
                  </a:rPr>
                  <a:t>01</a:t>
                </a:r>
                <a:endParaRPr lang="zh-CN" altLang="en-US" sz="1400" dirty="0">
                  <a:solidFill>
                    <a:srgbClr val="679E2A"/>
                  </a:solidFill>
                  <a:latin typeface="微软雅黑" panose="020B0503020204020204" pitchFamily="34" charset="-122"/>
                  <a:ea typeface="微软雅黑" panose="020B0503020204020204" pitchFamily="34" charset="-122"/>
                </a:endParaRPr>
              </a:p>
            </p:txBody>
          </p:sp>
        </p:grpSp>
      </p:grpSp>
      <p:grpSp>
        <p:nvGrpSpPr>
          <p:cNvPr id="55" name="组合 54"/>
          <p:cNvGrpSpPr/>
          <p:nvPr>
            <p:custDataLst>
              <p:tags r:id="rId14"/>
            </p:custDataLst>
          </p:nvPr>
        </p:nvGrpSpPr>
        <p:grpSpPr>
          <a:xfrm>
            <a:off x="3257550" y="2728595"/>
            <a:ext cx="902335" cy="1583055"/>
            <a:chOff x="4342792" y="3076450"/>
            <a:chExt cx="1203168" cy="2670299"/>
          </a:xfrm>
        </p:grpSpPr>
        <p:grpSp>
          <p:nvGrpSpPr>
            <p:cNvPr id="56" name="组合 55"/>
            <p:cNvGrpSpPr/>
            <p:nvPr/>
          </p:nvGrpSpPr>
          <p:grpSpPr>
            <a:xfrm>
              <a:off x="4342792" y="3076450"/>
              <a:ext cx="1203168" cy="2670299"/>
              <a:chOff x="4342792" y="3076450"/>
              <a:chExt cx="1203168" cy="2670299"/>
            </a:xfrm>
          </p:grpSpPr>
          <p:sp>
            <p:nvSpPr>
              <p:cNvPr id="60" name="MH_Other_3"/>
              <p:cNvSpPr/>
              <p:nvPr>
                <p:custDataLst>
                  <p:tags r:id="rId15"/>
                </p:custDataLst>
              </p:nvPr>
            </p:nvSpPr>
            <p:spPr>
              <a:xfrm rot="16200000" flipH="1" flipV="1">
                <a:off x="3897358" y="4098147"/>
                <a:ext cx="2408302" cy="888902"/>
              </a:xfrm>
              <a:prstGeom prst="bentArrow">
                <a:avLst>
                  <a:gd name="adj1" fmla="val 7438"/>
                  <a:gd name="adj2" fmla="val 3464"/>
                  <a:gd name="adj3" fmla="val 0"/>
                  <a:gd name="adj4" fmla="val 30020"/>
                </a:avLst>
              </a:prstGeom>
              <a:solidFill>
                <a:srgbClr val="5FBD98"/>
              </a:solidFill>
              <a:ln w="76200" cap="flat" cmpd="sng" algn="ctr">
                <a:solidFill>
                  <a:srgbClr val="679E2A"/>
                </a:solidFill>
                <a:prstDash val="solid"/>
              </a:ln>
              <a:effectLst/>
            </p:spPr>
            <p:txBody>
              <a:bodyPr anchor="ctr"/>
              <a:lstStyle/>
              <a:p>
                <a:pPr algn="ctr" defTabSz="772795">
                  <a:defRPr/>
                </a:pPr>
                <a:endParaRPr lang="en-US" sz="2000" kern="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1" name="椭圆 60"/>
              <p:cNvSpPr/>
              <p:nvPr>
                <p:custDataLst>
                  <p:tags r:id="rId16"/>
                </p:custDataLst>
              </p:nvPr>
            </p:nvSpPr>
            <p:spPr>
              <a:xfrm>
                <a:off x="4342792" y="3076450"/>
                <a:ext cx="622162" cy="62216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57" name="组合 56"/>
            <p:cNvGrpSpPr/>
            <p:nvPr/>
          </p:nvGrpSpPr>
          <p:grpSpPr>
            <a:xfrm>
              <a:off x="4414756" y="3155936"/>
              <a:ext cx="528257" cy="571075"/>
              <a:chOff x="4404952" y="1573446"/>
              <a:chExt cx="528257" cy="571075"/>
            </a:xfrm>
          </p:grpSpPr>
          <p:sp>
            <p:nvSpPr>
              <p:cNvPr id="58" name="椭圆 57"/>
              <p:cNvSpPr/>
              <p:nvPr>
                <p:custDataLst>
                  <p:tags r:id="rId17"/>
                </p:custDataLst>
              </p:nvPr>
            </p:nvSpPr>
            <p:spPr>
              <a:xfrm>
                <a:off x="4418676" y="1573446"/>
                <a:ext cx="464474" cy="464474"/>
              </a:xfrm>
              <a:prstGeom prst="ellipse">
                <a:avLst/>
              </a:prstGeom>
              <a:gradFill>
                <a:gsLst>
                  <a:gs pos="0">
                    <a:schemeClr val="bg1">
                      <a:lumMod val="75000"/>
                    </a:schemeClr>
                  </a:gs>
                  <a:gs pos="100000">
                    <a:schemeClr val="bg1"/>
                  </a:gs>
                </a:gsLst>
                <a:lin ang="5400000" scaled="1"/>
              </a:gradFill>
              <a:ln w="25400" cap="flat">
                <a:gradFill>
                  <a:gsLst>
                    <a:gs pos="0">
                      <a:schemeClr val="bg1">
                        <a:lumMod val="75000"/>
                      </a:schemeClr>
                    </a:gs>
                    <a:gs pos="50000">
                      <a:schemeClr val="bg1">
                        <a:lumMod val="95000"/>
                      </a:schemeClr>
                    </a:gs>
                    <a:gs pos="100000">
                      <a:schemeClr val="bg1"/>
                    </a:gs>
                  </a:gsLst>
                  <a:lin ang="5400000" scaled="0"/>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59" name="文本框 105"/>
              <p:cNvSpPr txBox="1"/>
              <p:nvPr>
                <p:custDataLst>
                  <p:tags r:id="rId18"/>
                </p:custDataLst>
              </p:nvPr>
            </p:nvSpPr>
            <p:spPr>
              <a:xfrm>
                <a:off x="4404952" y="1627171"/>
                <a:ext cx="528257" cy="517350"/>
              </a:xfrm>
              <a:prstGeom prst="rect">
                <a:avLst/>
              </a:prstGeom>
              <a:noFill/>
              <a:ln>
                <a:noFill/>
              </a:ln>
            </p:spPr>
            <p:txBody>
              <a:bodyPr wrap="square" rtlCol="0">
                <a:spAutoFit/>
              </a:bodyPr>
              <a:lstStyle/>
              <a:p>
                <a:r>
                  <a:rPr lang="en-US" altLang="zh-CN" sz="1400" dirty="0">
                    <a:solidFill>
                      <a:srgbClr val="679E2A"/>
                    </a:solidFill>
                    <a:latin typeface="微软雅黑" panose="020B0503020204020204" pitchFamily="34" charset="-122"/>
                    <a:ea typeface="微软雅黑" panose="020B0503020204020204" pitchFamily="34" charset="-122"/>
                  </a:rPr>
                  <a:t>03</a:t>
                </a:r>
                <a:endParaRPr lang="zh-CN" altLang="en-US" sz="1400" dirty="0">
                  <a:solidFill>
                    <a:srgbClr val="679E2A"/>
                  </a:solidFill>
                  <a:latin typeface="微软雅黑" panose="020B0503020204020204" pitchFamily="34" charset="-122"/>
                  <a:ea typeface="微软雅黑" panose="020B0503020204020204" pitchFamily="34" charset="-122"/>
                </a:endParaRPr>
              </a:p>
            </p:txBody>
          </p:sp>
        </p:grpSp>
      </p:grpSp>
      <p:grpSp>
        <p:nvGrpSpPr>
          <p:cNvPr id="62" name="组合 61"/>
          <p:cNvGrpSpPr/>
          <p:nvPr>
            <p:custDataLst>
              <p:tags r:id="rId19"/>
            </p:custDataLst>
          </p:nvPr>
        </p:nvGrpSpPr>
        <p:grpSpPr>
          <a:xfrm>
            <a:off x="4617720" y="2512695"/>
            <a:ext cx="1113790" cy="1598930"/>
            <a:chOff x="6156302" y="2614250"/>
            <a:chExt cx="1484565" cy="2865828"/>
          </a:xfrm>
        </p:grpSpPr>
        <p:grpSp>
          <p:nvGrpSpPr>
            <p:cNvPr id="63" name="组合 62"/>
            <p:cNvGrpSpPr/>
            <p:nvPr/>
          </p:nvGrpSpPr>
          <p:grpSpPr>
            <a:xfrm>
              <a:off x="6156302" y="2614250"/>
              <a:ext cx="1484565" cy="2865828"/>
              <a:chOff x="6156302" y="2614250"/>
              <a:chExt cx="1484565" cy="2865828"/>
            </a:xfrm>
          </p:grpSpPr>
          <p:sp>
            <p:nvSpPr>
              <p:cNvPr id="67" name="MH_Other_3"/>
              <p:cNvSpPr/>
              <p:nvPr>
                <p:custDataLst>
                  <p:tags r:id="rId20"/>
                </p:custDataLst>
              </p:nvPr>
            </p:nvSpPr>
            <p:spPr>
              <a:xfrm rot="5400000" flipV="1">
                <a:off x="5311844" y="3746719"/>
                <a:ext cx="2577817" cy="888902"/>
              </a:xfrm>
              <a:prstGeom prst="bentArrow">
                <a:avLst>
                  <a:gd name="adj1" fmla="val 7438"/>
                  <a:gd name="adj2" fmla="val 3464"/>
                  <a:gd name="adj3" fmla="val 0"/>
                  <a:gd name="adj4" fmla="val 30020"/>
                </a:avLst>
              </a:prstGeom>
              <a:solidFill>
                <a:srgbClr val="5FBD98"/>
              </a:solidFill>
              <a:ln w="76200" cap="flat" cmpd="sng" algn="ctr">
                <a:solidFill>
                  <a:srgbClr val="679E2A"/>
                </a:solidFill>
                <a:prstDash val="solid"/>
              </a:ln>
              <a:effectLst/>
            </p:spPr>
            <p:txBody>
              <a:bodyPr anchor="ctr"/>
              <a:lstStyle/>
              <a:p>
                <a:pPr algn="ctr" defTabSz="772795">
                  <a:defRPr/>
                </a:pPr>
                <a:endParaRPr lang="en-US" sz="2000" kern="0">
                  <a:solidFill>
                    <a:srgbClr val="0070C0"/>
                  </a:solidFill>
                  <a:latin typeface="微软雅黑" panose="020B0503020204020204" pitchFamily="34" charset="-122"/>
                  <a:ea typeface="微软雅黑" panose="020B0503020204020204" pitchFamily="34" charset="-122"/>
                  <a:sym typeface="Arial" panose="020B0604020202020204" pitchFamily="34" charset="0"/>
                </a:endParaRPr>
              </a:p>
            </p:txBody>
          </p:sp>
          <p:sp>
            <p:nvSpPr>
              <p:cNvPr id="68" name="椭圆 67"/>
              <p:cNvSpPr/>
              <p:nvPr>
                <p:custDataLst>
                  <p:tags r:id="rId21"/>
                </p:custDataLst>
              </p:nvPr>
            </p:nvSpPr>
            <p:spPr>
              <a:xfrm>
                <a:off x="7018705" y="2614250"/>
                <a:ext cx="622162" cy="622163"/>
              </a:xfrm>
              <a:prstGeom prst="ellipse">
                <a:avLst/>
              </a:prstGeom>
              <a:solidFill>
                <a:srgbClr val="679E2A"/>
              </a:solidFill>
              <a:ln>
                <a:solidFill>
                  <a:srgbClr val="679E2A"/>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grpSp>
          <p:nvGrpSpPr>
            <p:cNvPr id="64" name="组合 63"/>
            <p:cNvGrpSpPr/>
            <p:nvPr/>
          </p:nvGrpSpPr>
          <p:grpSpPr>
            <a:xfrm>
              <a:off x="7082031" y="2690388"/>
              <a:ext cx="528258" cy="586535"/>
              <a:chOff x="4397188" y="1573446"/>
              <a:chExt cx="528258" cy="586535"/>
            </a:xfrm>
          </p:grpSpPr>
          <p:sp>
            <p:nvSpPr>
              <p:cNvPr id="65" name="椭圆 64"/>
              <p:cNvSpPr/>
              <p:nvPr>
                <p:custDataLst>
                  <p:tags r:id="rId22"/>
                </p:custDataLst>
              </p:nvPr>
            </p:nvSpPr>
            <p:spPr>
              <a:xfrm>
                <a:off x="4418676" y="1573446"/>
                <a:ext cx="464474" cy="464474"/>
              </a:xfrm>
              <a:prstGeom prst="ellipse">
                <a:avLst/>
              </a:prstGeom>
              <a:gradFill>
                <a:gsLst>
                  <a:gs pos="0">
                    <a:schemeClr val="bg1">
                      <a:lumMod val="75000"/>
                    </a:schemeClr>
                  </a:gs>
                  <a:gs pos="100000">
                    <a:schemeClr val="bg1"/>
                  </a:gs>
                </a:gsLst>
                <a:lin ang="5400000" scaled="1"/>
              </a:gradFill>
              <a:ln w="25400" cap="flat">
                <a:gradFill>
                  <a:gsLst>
                    <a:gs pos="0">
                      <a:schemeClr val="bg1"/>
                    </a:gs>
                    <a:gs pos="100000">
                      <a:srgbClr val="DDDDDD"/>
                    </a:gs>
                  </a:gsLst>
                  <a:lin ang="5400000" scaled="1"/>
                </a:gradFill>
                <a:prstDash val="solid"/>
                <a:miter lim="800000"/>
              </a:ln>
              <a:effectLst>
                <a:outerShdw blurRad="228600" dist="228600" dir="5400000" algn="t" rotWithShape="0">
                  <a:schemeClr val="tx1">
                    <a:lumMod val="85000"/>
                    <a:lumOff val="15000"/>
                    <a:alpha val="28000"/>
                  </a:schemeClr>
                </a:outerShdw>
              </a:effectLst>
            </p:spPr>
            <p:txBody>
              <a:bodyPr vert="horz" wrap="square" lIns="91440" tIns="45720" rIns="91440" bIns="45720" numCol="1" anchor="t" anchorCtr="0" compatLnSpc="1"/>
              <a:lstStyle/>
              <a:p>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66" name="文本框 108"/>
              <p:cNvSpPr txBox="1"/>
              <p:nvPr>
                <p:custDataLst>
                  <p:tags r:id="rId23"/>
                </p:custDataLst>
              </p:nvPr>
            </p:nvSpPr>
            <p:spPr>
              <a:xfrm>
                <a:off x="4397188" y="1610261"/>
                <a:ext cx="528258" cy="549720"/>
              </a:xfrm>
              <a:prstGeom prst="rect">
                <a:avLst/>
              </a:prstGeom>
              <a:noFill/>
            </p:spPr>
            <p:txBody>
              <a:bodyPr wrap="square" rtlCol="0">
                <a:spAutoFit/>
              </a:bodyPr>
              <a:lstStyle/>
              <a:p>
                <a:r>
                  <a:rPr lang="en-US" altLang="zh-CN" sz="1400" dirty="0">
                    <a:solidFill>
                      <a:srgbClr val="679E2A"/>
                    </a:solidFill>
                    <a:latin typeface="微软雅黑" panose="020B0503020204020204" pitchFamily="34" charset="-122"/>
                    <a:ea typeface="微软雅黑" panose="020B0503020204020204" pitchFamily="34" charset="-122"/>
                  </a:rPr>
                  <a:t>04</a:t>
                </a:r>
                <a:endParaRPr lang="zh-CN" altLang="en-US" sz="1400" dirty="0">
                  <a:solidFill>
                    <a:srgbClr val="679E2A"/>
                  </a:solidFill>
                  <a:latin typeface="微软雅黑" panose="020B0503020204020204" pitchFamily="34" charset="-122"/>
                  <a:ea typeface="微软雅黑" panose="020B0503020204020204" pitchFamily="34" charset="-122"/>
                </a:endParaRPr>
              </a:p>
            </p:txBody>
          </p:sp>
        </p:grpSp>
      </p:grpSp>
      <p:grpSp>
        <p:nvGrpSpPr>
          <p:cNvPr id="83" name="组合 82"/>
          <p:cNvGrpSpPr/>
          <p:nvPr>
            <p:custDataLst>
              <p:tags r:id="rId24"/>
            </p:custDataLst>
          </p:nvPr>
        </p:nvGrpSpPr>
        <p:grpSpPr>
          <a:xfrm>
            <a:off x="5740602" y="1014195"/>
            <a:ext cx="2469163" cy="1544320"/>
            <a:chOff x="7652807" y="1351843"/>
            <a:chExt cx="3291645" cy="2058457"/>
          </a:xfrm>
        </p:grpSpPr>
        <p:cxnSp>
          <p:nvCxnSpPr>
            <p:cNvPr id="84" name="直接连接符 83"/>
            <p:cNvCxnSpPr/>
            <p:nvPr>
              <p:custDataLst>
                <p:tags r:id="rId25"/>
              </p:custDataLst>
            </p:nvPr>
          </p:nvCxnSpPr>
          <p:spPr>
            <a:xfrm>
              <a:off x="7652807" y="1796348"/>
              <a:ext cx="2786593"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nvGrpSpPr>
            <p:cNvPr id="85" name="组合 84"/>
            <p:cNvGrpSpPr/>
            <p:nvPr/>
          </p:nvGrpSpPr>
          <p:grpSpPr>
            <a:xfrm>
              <a:off x="7875818" y="1351843"/>
              <a:ext cx="3068634" cy="2058457"/>
              <a:chOff x="5980705" y="1383159"/>
              <a:chExt cx="3068634" cy="2058457"/>
            </a:xfrm>
          </p:grpSpPr>
          <p:sp>
            <p:nvSpPr>
              <p:cNvPr id="86" name="MH_SubTitle_1"/>
              <p:cNvSpPr>
                <a:spLocks noChangeArrowheads="1"/>
              </p:cNvSpPr>
              <p:nvPr>
                <p:custDataLst>
                  <p:tags r:id="rId26"/>
                </p:custDataLst>
              </p:nvPr>
            </p:nvSpPr>
            <p:spPr bwMode="auto">
              <a:xfrm flipH="1">
                <a:off x="6023480" y="1383159"/>
                <a:ext cx="2021489" cy="429127"/>
              </a:xfrm>
              <a:prstGeom prst="rect">
                <a:avLst/>
              </a:prstGeom>
              <a:noFill/>
            </p:spPr>
            <p:txBody>
              <a:bodyPr wrap="none" rtlCol="0">
                <a:spAutoFit/>
              </a:bodyPr>
              <a:lstStyle/>
              <a:p>
                <a:pPr algn="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依赖实现一致性</a:t>
                </a:r>
                <a:endPar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87" name="Rectangle 5"/>
              <p:cNvSpPr/>
              <p:nvPr>
                <p:custDataLst>
                  <p:tags r:id="rId27"/>
                </p:custDataLst>
              </p:nvPr>
            </p:nvSpPr>
            <p:spPr bwMode="auto">
              <a:xfrm>
                <a:off x="5980705" y="1871535"/>
                <a:ext cx="3068634" cy="1570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OAuth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的安全增强机制通常以</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建议</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或</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最佳实践</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的形式存在，其正确性依赖客户端、授权服务器和资源服务器的协同实现。然</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grpSp>
      <p:grpSp>
        <p:nvGrpSpPr>
          <p:cNvPr id="88" name="组合 87"/>
          <p:cNvGrpSpPr/>
          <p:nvPr>
            <p:custDataLst>
              <p:tags r:id="rId28"/>
            </p:custDataLst>
          </p:nvPr>
        </p:nvGrpSpPr>
        <p:grpSpPr>
          <a:xfrm>
            <a:off x="5676938" y="2830540"/>
            <a:ext cx="2763533" cy="2221231"/>
            <a:chOff x="7600950" y="2850310"/>
            <a:chExt cx="3684071" cy="2960725"/>
          </a:xfrm>
        </p:grpSpPr>
        <p:grpSp>
          <p:nvGrpSpPr>
            <p:cNvPr id="89" name="组合 88"/>
            <p:cNvGrpSpPr/>
            <p:nvPr/>
          </p:nvGrpSpPr>
          <p:grpSpPr>
            <a:xfrm>
              <a:off x="8056395" y="2850310"/>
              <a:ext cx="3228626" cy="2960725"/>
              <a:chOff x="5980307" y="1441561"/>
              <a:chExt cx="3228626" cy="2960725"/>
            </a:xfrm>
          </p:grpSpPr>
          <p:sp>
            <p:nvSpPr>
              <p:cNvPr id="91" name="MH_SubTitle_1"/>
              <p:cNvSpPr>
                <a:spLocks noChangeArrowheads="1"/>
              </p:cNvSpPr>
              <p:nvPr>
                <p:custDataLst>
                  <p:tags r:id="rId29"/>
                </p:custDataLst>
              </p:nvPr>
            </p:nvSpPr>
            <p:spPr bwMode="auto">
              <a:xfrm flipH="1">
                <a:off x="6457473" y="1441561"/>
                <a:ext cx="1545170" cy="429127"/>
              </a:xfrm>
              <a:prstGeom prst="rect">
                <a:avLst/>
              </a:prstGeom>
              <a:noFill/>
            </p:spPr>
            <p:txBody>
              <a:bodyPr wrap="none" rtlCol="0">
                <a:spAutoFit/>
              </a:bodyPr>
              <a:lstStyle/>
              <a:p>
                <a:pPr algn="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以</a:t>
                </a:r>
                <a:r>
                  <a:rPr lang="en-US" altLang="zh-CN" sz="1500" dirty="0">
                    <a:solidFill>
                      <a:schemeClr val="tx1">
                        <a:lumMod val="75000"/>
                        <a:lumOff val="25000"/>
                      </a:schemeClr>
                    </a:solidFill>
                    <a:latin typeface="微软雅黑" panose="020B0503020204020204" pitchFamily="34" charset="-122"/>
                    <a:ea typeface="微软雅黑" panose="020B0503020204020204" pitchFamily="34" charset="-122"/>
                  </a:rPr>
                  <a:t>MCP</a:t>
                </a: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为例</a:t>
                </a:r>
                <a:endPar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2" name="Rectangle 5"/>
              <p:cNvSpPr/>
              <p:nvPr>
                <p:custDataLst>
                  <p:tags r:id="rId30"/>
                </p:custDataLst>
              </p:nvPr>
            </p:nvSpPr>
            <p:spPr bwMode="auto">
              <a:xfrm>
                <a:off x="5980307" y="1871535"/>
                <a:ext cx="3228626" cy="25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fontAlgn="base">
                  <a:lnSpc>
                    <a:spcPct val="150000"/>
                  </a:lnSpc>
                  <a:spcBef>
                    <a:spcPct val="0"/>
                  </a:spcBef>
                  <a:spcAft>
                    <a:spcPct val="0"/>
                  </a:spcAft>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在</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 MCP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的现有设计中，</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OAuth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被直接引入作为外部资源访问的授权机制。然而，与传统</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 OAuth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应用不同，这种架构显著增加了授权链路的复杂性，使得访问令牌更容易被中间组件持有和转发，从而放大</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OAuth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在现实实现中已被验证的安全问题。</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sp>
          <p:nvSpPr>
            <p:cNvPr id="90" name="任意多边形 89"/>
            <p:cNvSpPr/>
            <p:nvPr>
              <p:custDataLst>
                <p:tags r:id="rId31"/>
              </p:custDataLst>
            </p:nvPr>
          </p:nvSpPr>
          <p:spPr>
            <a:xfrm>
              <a:off x="7600950" y="3001877"/>
              <a:ext cx="2838450" cy="265198"/>
            </a:xfrm>
            <a:custGeom>
              <a:avLst/>
              <a:gdLst>
                <a:gd name="connsiteX0" fmla="*/ 0 w 3162300"/>
                <a:gd name="connsiteY0" fmla="*/ 0 h 190500"/>
                <a:gd name="connsiteX1" fmla="*/ 361950 w 3162300"/>
                <a:gd name="connsiteY1" fmla="*/ 190500 h 190500"/>
                <a:gd name="connsiteX2" fmla="*/ 3162300 w 3162300"/>
                <a:gd name="connsiteY2" fmla="*/ 190500 h 190500"/>
              </a:gdLst>
              <a:ahLst/>
              <a:cxnLst>
                <a:cxn ang="0">
                  <a:pos x="connsiteX0" y="connsiteY0"/>
                </a:cxn>
                <a:cxn ang="0">
                  <a:pos x="connsiteX1" y="connsiteY1"/>
                </a:cxn>
                <a:cxn ang="0">
                  <a:pos x="connsiteX2" y="connsiteY2"/>
                </a:cxn>
              </a:cxnLst>
              <a:rect l="l" t="t" r="r" b="b"/>
              <a:pathLst>
                <a:path w="3162300" h="190500">
                  <a:moveTo>
                    <a:pt x="0" y="0"/>
                  </a:moveTo>
                  <a:lnTo>
                    <a:pt x="361950" y="190500"/>
                  </a:lnTo>
                  <a:lnTo>
                    <a:pt x="3162300" y="190500"/>
                  </a:lnTo>
                </a:path>
              </a:pathLst>
            </a:cu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chemeClr val="tx1">
                    <a:lumMod val="65000"/>
                    <a:lumOff val="35000"/>
                  </a:schemeClr>
                </a:solidFill>
                <a:latin typeface="微软雅黑" panose="020B0503020204020204" pitchFamily="34" charset="-122"/>
                <a:ea typeface="微软雅黑" panose="020B0503020204020204" pitchFamily="34" charset="-122"/>
              </a:endParaRPr>
            </a:p>
          </p:txBody>
        </p:sp>
      </p:grpSp>
      <p:grpSp>
        <p:nvGrpSpPr>
          <p:cNvPr id="98" name="组合 97"/>
          <p:cNvGrpSpPr/>
          <p:nvPr>
            <p:custDataLst>
              <p:tags r:id="rId32"/>
            </p:custDataLst>
          </p:nvPr>
        </p:nvGrpSpPr>
        <p:grpSpPr>
          <a:xfrm>
            <a:off x="801783" y="1058646"/>
            <a:ext cx="2504440" cy="1227455"/>
            <a:chOff x="1068858" y="1411093"/>
            <a:chExt cx="3338674" cy="1636102"/>
          </a:xfrm>
        </p:grpSpPr>
        <p:cxnSp>
          <p:nvCxnSpPr>
            <p:cNvPr id="99" name="直接连接符 98"/>
            <p:cNvCxnSpPr/>
            <p:nvPr>
              <p:custDataLst>
                <p:tags r:id="rId33"/>
              </p:custDataLst>
            </p:nvPr>
          </p:nvCxnSpPr>
          <p:spPr>
            <a:xfrm flipH="1">
              <a:off x="1556199" y="1803136"/>
              <a:ext cx="2786593"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nvGrpSpPr>
            <p:cNvPr id="100" name="组合 99"/>
            <p:cNvGrpSpPr/>
            <p:nvPr/>
          </p:nvGrpSpPr>
          <p:grpSpPr>
            <a:xfrm flipH="1">
              <a:off x="1068858" y="1411093"/>
              <a:ext cx="3338674" cy="1636102"/>
              <a:chOff x="5682654" y="1442408"/>
              <a:chExt cx="3338674" cy="1636102"/>
            </a:xfrm>
          </p:grpSpPr>
          <p:sp>
            <p:nvSpPr>
              <p:cNvPr id="101" name="MH_SubTitle_1"/>
              <p:cNvSpPr>
                <a:spLocks noChangeArrowheads="1"/>
              </p:cNvSpPr>
              <p:nvPr>
                <p:custDataLst>
                  <p:tags r:id="rId34"/>
                </p:custDataLst>
              </p:nvPr>
            </p:nvSpPr>
            <p:spPr bwMode="auto">
              <a:xfrm flipH="1">
                <a:off x="6033614" y="1442408"/>
                <a:ext cx="1513577" cy="429128"/>
              </a:xfrm>
              <a:prstGeom prst="rect">
                <a:avLst/>
              </a:prstGeom>
              <a:noFill/>
            </p:spPr>
            <p:txBody>
              <a:bodyPr wrap="none" rtlCol="0">
                <a:spAutoFit/>
              </a:bodyPr>
              <a:lstStyle/>
              <a:p>
                <a:pPr algn="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授权链路长</a:t>
                </a:r>
                <a:endPar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2" name="Rectangle 5"/>
              <p:cNvSpPr/>
              <p:nvPr>
                <p:custDataLst>
                  <p:tags r:id="rId35"/>
                </p:custDataLst>
              </p:nvPr>
            </p:nvSpPr>
            <p:spPr bwMode="auto">
              <a:xfrm>
                <a:off x="5682654" y="1946020"/>
                <a:ext cx="3338674" cy="1132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l" fontAlgn="base">
                  <a:lnSpc>
                    <a:spcPct val="150000"/>
                  </a:lnSpc>
                  <a:spcBef>
                    <a:spcPct val="0"/>
                  </a:spcBef>
                  <a:spcAft>
                    <a:spcPct val="0"/>
                  </a:spcAft>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授权上下文被拉长且被分割。在多跳调用场景中，授权请求的发起者、授权结果的接收者以及访问令牌的实际使用者可能并非同一实体。</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grpSp>
      <p:grpSp>
        <p:nvGrpSpPr>
          <p:cNvPr id="103" name="组合 102"/>
          <p:cNvGrpSpPr/>
          <p:nvPr>
            <p:custDataLst>
              <p:tags r:id="rId36"/>
            </p:custDataLst>
          </p:nvPr>
        </p:nvGrpSpPr>
        <p:grpSpPr>
          <a:xfrm>
            <a:off x="733480" y="2575615"/>
            <a:ext cx="2444820" cy="1800860"/>
            <a:chOff x="1070920" y="2869388"/>
            <a:chExt cx="3259195" cy="2400405"/>
          </a:xfrm>
        </p:grpSpPr>
        <p:cxnSp>
          <p:nvCxnSpPr>
            <p:cNvPr id="104" name="直接连接符 103"/>
            <p:cNvCxnSpPr/>
            <p:nvPr>
              <p:custDataLst>
                <p:tags r:id="rId37"/>
              </p:custDataLst>
            </p:nvPr>
          </p:nvCxnSpPr>
          <p:spPr>
            <a:xfrm flipH="1">
              <a:off x="1543522" y="3347765"/>
              <a:ext cx="2786593" cy="0"/>
            </a:xfrm>
            <a:prstGeom prst="line">
              <a:avLst/>
            </a:prstGeom>
            <a:ln w="19050">
              <a:solidFill>
                <a:schemeClr val="tx1">
                  <a:lumMod val="65000"/>
                  <a:lumOff val="35000"/>
                </a:schemeClr>
              </a:solidFill>
              <a:prstDash val="sysDot"/>
              <a:tailEnd type="oval"/>
            </a:ln>
          </p:spPr>
          <p:style>
            <a:lnRef idx="1">
              <a:schemeClr val="accent1"/>
            </a:lnRef>
            <a:fillRef idx="0">
              <a:schemeClr val="accent1"/>
            </a:fillRef>
            <a:effectRef idx="0">
              <a:schemeClr val="accent1"/>
            </a:effectRef>
            <a:fontRef idx="minor">
              <a:schemeClr val="tx1"/>
            </a:fontRef>
          </p:style>
        </p:cxnSp>
        <p:grpSp>
          <p:nvGrpSpPr>
            <p:cNvPr id="105" name="组合 104"/>
            <p:cNvGrpSpPr/>
            <p:nvPr/>
          </p:nvGrpSpPr>
          <p:grpSpPr>
            <a:xfrm flipH="1">
              <a:off x="1070920" y="2869388"/>
              <a:ext cx="3162597" cy="2400405"/>
              <a:chOff x="5843992" y="1356074"/>
              <a:chExt cx="3162597" cy="2400405"/>
            </a:xfrm>
          </p:grpSpPr>
          <p:sp>
            <p:nvSpPr>
              <p:cNvPr id="106" name="MH_SubTitle_1"/>
              <p:cNvSpPr>
                <a:spLocks noChangeArrowheads="1"/>
              </p:cNvSpPr>
              <p:nvPr>
                <p:custDataLst>
                  <p:tags r:id="rId38"/>
                </p:custDataLst>
              </p:nvPr>
            </p:nvSpPr>
            <p:spPr bwMode="auto">
              <a:xfrm flipH="1">
                <a:off x="5843992" y="1356074"/>
                <a:ext cx="3037313" cy="429127"/>
              </a:xfrm>
              <a:prstGeom prst="rect">
                <a:avLst/>
              </a:prstGeom>
              <a:noFill/>
            </p:spPr>
            <p:txBody>
              <a:bodyPr wrap="none" rtlCol="0">
                <a:spAutoFit/>
              </a:bodyPr>
              <a:lstStyle/>
              <a:p>
                <a:pPr algn="r"/>
                <a:r>
                  <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rPr>
                  <a:t>缺乏统一的授权管理平面</a:t>
                </a:r>
                <a:endParaRPr lang="zh-CN" altLang="en-US" sz="15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7" name="Rectangle 5"/>
              <p:cNvSpPr/>
              <p:nvPr>
                <p:custDataLst>
                  <p:tags r:id="rId39"/>
                </p:custDataLst>
              </p:nvPr>
            </p:nvSpPr>
            <p:spPr bwMode="auto">
              <a:xfrm>
                <a:off x="5937955" y="1990032"/>
                <a:ext cx="3068634" cy="1766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type="none" w="med" len="med"/>
                    <a:tailEnd type="none" w="med" len="med"/>
                  </a14:hiddenLine>
                </a:ext>
              </a:extLst>
            </p:spPr>
            <p:txBody>
              <a:bodyPr lIns="0" tIns="0" rIns="0" bIns="0" anchor="t"/>
              <a:lstStyle/>
              <a:p>
                <a:pPr algn="l" fontAlgn="base">
                  <a:lnSpc>
                    <a:spcPct val="150000"/>
                  </a:lnSpc>
                  <a:spcBef>
                    <a:spcPct val="0"/>
                  </a:spcBef>
                  <a:spcAft>
                    <a:spcPct val="0"/>
                  </a:spcAft>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现有</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 OAuth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机制主要关注单次授权流程的正确性，而对授权结果的使用缺乏集中约束。这使得</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 OAuth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rPr>
                  <a:t>难以在复杂系统中实现细粒度、可审计的授权治理。</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cs typeface="Lato Light" charset="0"/>
                  <a:sym typeface="Lato Light" charset="0"/>
                </a:endParaRPr>
              </a:p>
            </p:txBody>
          </p:sp>
        </p:grpSp>
      </p:grpSp>
      <p:grpSp>
        <p:nvGrpSpPr>
          <p:cNvPr id="113" name="组合 112"/>
          <p:cNvGrpSpPr/>
          <p:nvPr>
            <p:custDataLst>
              <p:tags r:id="rId40"/>
            </p:custDataLst>
          </p:nvPr>
        </p:nvGrpSpPr>
        <p:grpSpPr>
          <a:xfrm>
            <a:off x="4024438" y="3692437"/>
            <a:ext cx="908342" cy="908464"/>
            <a:chOff x="5364986" y="4921729"/>
            <a:chExt cx="1210912" cy="1210912"/>
          </a:xfrm>
        </p:grpSpPr>
        <p:sp>
          <p:nvSpPr>
            <p:cNvPr id="114" name="椭圆 113"/>
            <p:cNvSpPr/>
            <p:nvPr>
              <p:custDataLst>
                <p:tags r:id="rId41"/>
              </p:custDataLst>
            </p:nvPr>
          </p:nvSpPr>
          <p:spPr>
            <a:xfrm flipH="1">
              <a:off x="5364986" y="4921729"/>
              <a:ext cx="1210912" cy="1210912"/>
            </a:xfrm>
            <a:prstGeom prst="ellipse">
              <a:avLst/>
            </a:prstGeom>
            <a:gradFill flip="none" rotWithShape="1">
              <a:gsLst>
                <a:gs pos="0">
                  <a:schemeClr val="bg1"/>
                </a:gs>
                <a:gs pos="100000">
                  <a:srgbClr val="E0E0E0"/>
                </a:gs>
              </a:gsLst>
              <a:lin ang="5400000" scaled="1"/>
              <a:tileRect/>
            </a:gradFill>
            <a:ln>
              <a:noFill/>
            </a:ln>
            <a:effectLst>
              <a:outerShdw blurRad="279400" dist="2540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sp>
          <p:nvSpPr>
            <p:cNvPr id="115" name="椭圆 114"/>
            <p:cNvSpPr/>
            <p:nvPr>
              <p:custDataLst>
                <p:tags r:id="rId42"/>
              </p:custDataLst>
            </p:nvPr>
          </p:nvSpPr>
          <p:spPr>
            <a:xfrm flipH="1">
              <a:off x="5393195" y="4949933"/>
              <a:ext cx="1154499" cy="1154499"/>
            </a:xfrm>
            <a:prstGeom prst="ellipse">
              <a:avLst/>
            </a:prstGeom>
            <a:gradFill flip="none" rotWithShape="1">
              <a:gsLst>
                <a:gs pos="0">
                  <a:schemeClr val="bg1"/>
                </a:gs>
                <a:gs pos="100000">
                  <a:srgbClr val="DDDED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0070C0"/>
                </a:solidFill>
                <a:latin typeface="微软雅黑" panose="020B0503020204020204" pitchFamily="34" charset="-122"/>
                <a:ea typeface="微软雅黑" panose="020B0503020204020204" pitchFamily="34" charset="-122"/>
              </a:endParaRPr>
            </a:p>
          </p:txBody>
        </p:sp>
      </p:grpSp>
      <p:sp>
        <p:nvSpPr>
          <p:cNvPr id="116" name="KSO_Shape"/>
          <p:cNvSpPr/>
          <p:nvPr>
            <p:custDataLst>
              <p:tags r:id="rId43"/>
            </p:custDataLst>
          </p:nvPr>
        </p:nvSpPr>
        <p:spPr bwMode="auto">
          <a:xfrm>
            <a:off x="4258426" y="3959251"/>
            <a:ext cx="437248" cy="374834"/>
          </a:xfrm>
          <a:custGeom>
            <a:avLst/>
            <a:gdLst>
              <a:gd name="T0" fmla="*/ 354482 w 1812925"/>
              <a:gd name="T1" fmla="*/ 872801 h 1511300"/>
              <a:gd name="T2" fmla="*/ 380318 w 1812925"/>
              <a:gd name="T3" fmla="*/ 984699 h 1511300"/>
              <a:gd name="T4" fmla="*/ 425879 w 1812925"/>
              <a:gd name="T5" fmla="*/ 1087433 h 1511300"/>
              <a:gd name="T6" fmla="*/ 488386 w 1812925"/>
              <a:gd name="T7" fmla="*/ 1179061 h 1511300"/>
              <a:gd name="T8" fmla="*/ 591174 w 1812925"/>
              <a:gd name="T9" fmla="*/ 1276520 h 1511300"/>
              <a:gd name="T10" fmla="*/ 711743 w 1812925"/>
              <a:gd name="T11" fmla="*/ 1346213 h 1511300"/>
              <a:gd name="T12" fmla="*/ 796474 w 1812925"/>
              <a:gd name="T13" fmla="*/ 1375922 h 1511300"/>
              <a:gd name="T14" fmla="*/ 907876 w 1812925"/>
              <a:gd name="T15" fmla="*/ 1394804 h 1511300"/>
              <a:gd name="T16" fmla="*/ 1015110 w 1812925"/>
              <a:gd name="T17" fmla="*/ 1393415 h 1511300"/>
              <a:gd name="T18" fmla="*/ 1118176 w 1812925"/>
              <a:gd name="T19" fmla="*/ 1373702 h 1511300"/>
              <a:gd name="T20" fmla="*/ 1216519 w 1812925"/>
              <a:gd name="T21" fmla="*/ 1335939 h 1511300"/>
              <a:gd name="T22" fmla="*/ 1302085 w 1812925"/>
              <a:gd name="T23" fmla="*/ 1285127 h 1511300"/>
              <a:gd name="T24" fmla="*/ 1341811 w 1812925"/>
              <a:gd name="T25" fmla="*/ 1271245 h 1511300"/>
              <a:gd name="T26" fmla="*/ 1382649 w 1812925"/>
              <a:gd name="T27" fmla="*/ 1275131 h 1511300"/>
              <a:gd name="T28" fmla="*/ 1417930 w 1812925"/>
              <a:gd name="T29" fmla="*/ 1296789 h 1511300"/>
              <a:gd name="T30" fmla="*/ 1441822 w 1812925"/>
              <a:gd name="T31" fmla="*/ 1332607 h 1511300"/>
              <a:gd name="T32" fmla="*/ 1447378 w 1812925"/>
              <a:gd name="T33" fmla="*/ 1373146 h 1511300"/>
              <a:gd name="T34" fmla="*/ 1435710 w 1812925"/>
              <a:gd name="T35" fmla="*/ 1412574 h 1511300"/>
              <a:gd name="T36" fmla="*/ 1407374 w 1812925"/>
              <a:gd name="T37" fmla="*/ 1443950 h 1511300"/>
              <a:gd name="T38" fmla="*/ 1288472 w 1812925"/>
              <a:gd name="T39" fmla="*/ 1512532 h 1511300"/>
              <a:gd name="T40" fmla="*/ 1161792 w 1812925"/>
              <a:gd name="T41" fmla="*/ 1559734 h 1511300"/>
              <a:gd name="T42" fmla="*/ 1028722 w 1812925"/>
              <a:gd name="T43" fmla="*/ 1583891 h 1511300"/>
              <a:gd name="T44" fmla="*/ 874538 w 1812925"/>
              <a:gd name="T45" fmla="*/ 1583335 h 1511300"/>
              <a:gd name="T46" fmla="*/ 770639 w 1812925"/>
              <a:gd name="T47" fmla="*/ 1565565 h 1511300"/>
              <a:gd name="T48" fmla="*/ 648125 w 1812925"/>
              <a:gd name="T49" fmla="*/ 1526415 h 1511300"/>
              <a:gd name="T50" fmla="*/ 534502 w 1812925"/>
              <a:gd name="T51" fmla="*/ 1468106 h 1511300"/>
              <a:gd name="T52" fmla="*/ 433380 w 1812925"/>
              <a:gd name="T53" fmla="*/ 1393693 h 1511300"/>
              <a:gd name="T54" fmla="*/ 342258 w 1812925"/>
              <a:gd name="T55" fmla="*/ 1300954 h 1511300"/>
              <a:gd name="T56" fmla="*/ 283085 w 1812925"/>
              <a:gd name="T57" fmla="*/ 1219322 h 1511300"/>
              <a:gd name="T58" fmla="*/ 221690 w 1812925"/>
              <a:gd name="T59" fmla="*/ 1102705 h 1511300"/>
              <a:gd name="T60" fmla="*/ 180019 w 1812925"/>
              <a:gd name="T61" fmla="*/ 976091 h 1511300"/>
              <a:gd name="T62" fmla="*/ 160017 w 1812925"/>
              <a:gd name="T63" fmla="*/ 840871 h 1511300"/>
              <a:gd name="T64" fmla="*/ 979901 w 1812925"/>
              <a:gd name="T65" fmla="*/ 833 h 1511300"/>
              <a:gd name="T66" fmla="*/ 1097691 w 1812925"/>
              <a:gd name="T67" fmla="*/ 13331 h 1511300"/>
              <a:gd name="T68" fmla="*/ 1216593 w 1812925"/>
              <a:gd name="T69" fmla="*/ 45825 h 1511300"/>
              <a:gd name="T70" fmla="*/ 1371054 w 1812925"/>
              <a:gd name="T71" fmla="*/ 119422 h 1511300"/>
              <a:gd name="T72" fmla="*/ 1533016 w 1812925"/>
              <a:gd name="T73" fmla="*/ 252454 h 1511300"/>
              <a:gd name="T74" fmla="*/ 1614691 w 1812925"/>
              <a:gd name="T75" fmla="*/ 356878 h 1511300"/>
              <a:gd name="T76" fmla="*/ 1678032 w 1812925"/>
              <a:gd name="T77" fmla="*/ 471857 h 1511300"/>
              <a:gd name="T78" fmla="*/ 1721370 w 1812925"/>
              <a:gd name="T79" fmla="*/ 597112 h 1511300"/>
              <a:gd name="T80" fmla="*/ 1743872 w 1812925"/>
              <a:gd name="T81" fmla="*/ 731254 h 1511300"/>
              <a:gd name="T82" fmla="*/ 1555796 w 1812925"/>
              <a:gd name="T83" fmla="*/ 779578 h 1511300"/>
              <a:gd name="T84" fmla="*/ 1541350 w 1812925"/>
              <a:gd name="T85" fmla="*/ 661544 h 1511300"/>
              <a:gd name="T86" fmla="*/ 1505235 w 1812925"/>
              <a:gd name="T87" fmla="*/ 551287 h 1511300"/>
              <a:gd name="T88" fmla="*/ 1449396 w 1812925"/>
              <a:gd name="T89" fmla="*/ 451583 h 1511300"/>
              <a:gd name="T90" fmla="*/ 1369110 w 1812925"/>
              <a:gd name="T91" fmla="*/ 357434 h 1511300"/>
              <a:gd name="T92" fmla="*/ 1239096 w 1812925"/>
              <a:gd name="T93" fmla="*/ 263007 h 1511300"/>
              <a:gd name="T94" fmla="*/ 1127973 w 1812925"/>
              <a:gd name="T95" fmla="*/ 216627 h 1511300"/>
              <a:gd name="T96" fmla="*/ 1010181 w 1812925"/>
              <a:gd name="T97" fmla="*/ 193297 h 1511300"/>
              <a:gd name="T98" fmla="*/ 899058 w 1812925"/>
              <a:gd name="T99" fmla="*/ 193020 h 1511300"/>
              <a:gd name="T100" fmla="*/ 796825 w 1812925"/>
              <a:gd name="T101" fmla="*/ 210794 h 1511300"/>
              <a:gd name="T102" fmla="*/ 698759 w 1812925"/>
              <a:gd name="T103" fmla="*/ 246343 h 1511300"/>
              <a:gd name="T104" fmla="*/ 606805 w 1812925"/>
              <a:gd name="T105" fmla="*/ 299667 h 1511300"/>
              <a:gd name="T106" fmla="*/ 567912 w 1812925"/>
              <a:gd name="T107" fmla="*/ 315497 h 1511300"/>
              <a:gd name="T108" fmla="*/ 526797 w 1812925"/>
              <a:gd name="T109" fmla="*/ 313275 h 1511300"/>
              <a:gd name="T110" fmla="*/ 490404 w 1812925"/>
              <a:gd name="T111" fmla="*/ 293835 h 1511300"/>
              <a:gd name="T112" fmla="*/ 465123 w 1812925"/>
              <a:gd name="T113" fmla="*/ 259119 h 1511300"/>
              <a:gd name="T114" fmla="*/ 457067 w 1812925"/>
              <a:gd name="T115" fmla="*/ 218570 h 1511300"/>
              <a:gd name="T116" fmla="*/ 467345 w 1812925"/>
              <a:gd name="T117" fmla="*/ 178856 h 1511300"/>
              <a:gd name="T118" fmla="*/ 494015 w 1812925"/>
              <a:gd name="T119" fmla="*/ 146640 h 1511300"/>
              <a:gd name="T120" fmla="*/ 602639 w 1812925"/>
              <a:gd name="T121" fmla="*/ 81374 h 1511300"/>
              <a:gd name="T122" fmla="*/ 728763 w 1812925"/>
              <a:gd name="T123" fmla="*/ 32216 h 1511300"/>
              <a:gd name="T124" fmla="*/ 860722 w 1812925"/>
              <a:gd name="T125" fmla="*/ 5555 h 151130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812925" h="1511300">
                <a:moveTo>
                  <a:pt x="241643" y="393700"/>
                </a:moveTo>
                <a:lnTo>
                  <a:pt x="483287" y="755836"/>
                </a:lnTo>
                <a:lnTo>
                  <a:pt x="332326" y="755836"/>
                </a:lnTo>
                <a:lnTo>
                  <a:pt x="332326" y="768789"/>
                </a:lnTo>
                <a:lnTo>
                  <a:pt x="332590" y="781212"/>
                </a:lnTo>
                <a:lnTo>
                  <a:pt x="333648" y="793636"/>
                </a:lnTo>
                <a:lnTo>
                  <a:pt x="334441" y="806324"/>
                </a:lnTo>
                <a:lnTo>
                  <a:pt x="335763" y="818748"/>
                </a:lnTo>
                <a:lnTo>
                  <a:pt x="337349" y="830907"/>
                </a:lnTo>
                <a:lnTo>
                  <a:pt x="338671" y="843066"/>
                </a:lnTo>
                <a:lnTo>
                  <a:pt x="340786" y="855225"/>
                </a:lnTo>
                <a:lnTo>
                  <a:pt x="343165" y="867120"/>
                </a:lnTo>
                <a:lnTo>
                  <a:pt x="345809" y="879015"/>
                </a:lnTo>
                <a:lnTo>
                  <a:pt x="348453" y="890910"/>
                </a:lnTo>
                <a:lnTo>
                  <a:pt x="351361" y="902805"/>
                </a:lnTo>
                <a:lnTo>
                  <a:pt x="354534" y="914436"/>
                </a:lnTo>
                <a:lnTo>
                  <a:pt x="357971" y="925802"/>
                </a:lnTo>
                <a:lnTo>
                  <a:pt x="361936" y="937433"/>
                </a:lnTo>
                <a:lnTo>
                  <a:pt x="365902" y="948799"/>
                </a:lnTo>
                <a:lnTo>
                  <a:pt x="369868" y="959901"/>
                </a:lnTo>
                <a:lnTo>
                  <a:pt x="374362" y="971003"/>
                </a:lnTo>
                <a:lnTo>
                  <a:pt x="379121" y="981841"/>
                </a:lnTo>
                <a:lnTo>
                  <a:pt x="383880" y="992943"/>
                </a:lnTo>
                <a:lnTo>
                  <a:pt x="388639" y="1003781"/>
                </a:lnTo>
                <a:lnTo>
                  <a:pt x="394191" y="1014354"/>
                </a:lnTo>
                <a:lnTo>
                  <a:pt x="399743" y="1024927"/>
                </a:lnTo>
                <a:lnTo>
                  <a:pt x="405295" y="1035236"/>
                </a:lnTo>
                <a:lnTo>
                  <a:pt x="411375" y="1045545"/>
                </a:lnTo>
                <a:lnTo>
                  <a:pt x="417456" y="1055590"/>
                </a:lnTo>
                <a:lnTo>
                  <a:pt x="423537" y="1065635"/>
                </a:lnTo>
                <a:lnTo>
                  <a:pt x="430146" y="1075415"/>
                </a:lnTo>
                <a:lnTo>
                  <a:pt x="436756" y="1085195"/>
                </a:lnTo>
                <a:lnTo>
                  <a:pt x="443630" y="1094976"/>
                </a:lnTo>
                <a:lnTo>
                  <a:pt x="450769" y="1104492"/>
                </a:lnTo>
                <a:lnTo>
                  <a:pt x="458171" y="1113479"/>
                </a:lnTo>
                <a:lnTo>
                  <a:pt x="464781" y="1122466"/>
                </a:lnTo>
                <a:lnTo>
                  <a:pt x="473241" y="1132247"/>
                </a:lnTo>
                <a:lnTo>
                  <a:pt x="481701" y="1141498"/>
                </a:lnTo>
                <a:lnTo>
                  <a:pt x="490161" y="1150750"/>
                </a:lnTo>
                <a:lnTo>
                  <a:pt x="498886" y="1159737"/>
                </a:lnTo>
                <a:lnTo>
                  <a:pt x="500736" y="1161852"/>
                </a:lnTo>
                <a:lnTo>
                  <a:pt x="515806" y="1175861"/>
                </a:lnTo>
                <a:lnTo>
                  <a:pt x="530876" y="1189607"/>
                </a:lnTo>
                <a:lnTo>
                  <a:pt x="546474" y="1202823"/>
                </a:lnTo>
                <a:lnTo>
                  <a:pt x="562601" y="1215247"/>
                </a:lnTo>
                <a:lnTo>
                  <a:pt x="579257" y="1227406"/>
                </a:lnTo>
                <a:lnTo>
                  <a:pt x="596178" y="1238773"/>
                </a:lnTo>
                <a:lnTo>
                  <a:pt x="613627" y="1249346"/>
                </a:lnTo>
                <a:lnTo>
                  <a:pt x="631605" y="1259655"/>
                </a:lnTo>
                <a:lnTo>
                  <a:pt x="633455" y="1260712"/>
                </a:lnTo>
                <a:lnTo>
                  <a:pt x="644031" y="1266528"/>
                </a:lnTo>
                <a:lnTo>
                  <a:pt x="654870" y="1271550"/>
                </a:lnTo>
                <a:lnTo>
                  <a:pt x="665974" y="1276837"/>
                </a:lnTo>
                <a:lnTo>
                  <a:pt x="677342" y="1281595"/>
                </a:lnTo>
                <a:lnTo>
                  <a:pt x="681573" y="1283709"/>
                </a:lnTo>
                <a:lnTo>
                  <a:pt x="685803" y="1285560"/>
                </a:lnTo>
                <a:lnTo>
                  <a:pt x="695320" y="1289525"/>
                </a:lnTo>
                <a:lnTo>
                  <a:pt x="704838" y="1292961"/>
                </a:lnTo>
                <a:lnTo>
                  <a:pt x="724402" y="1299834"/>
                </a:lnTo>
                <a:lnTo>
                  <a:pt x="732598" y="1302741"/>
                </a:lnTo>
                <a:lnTo>
                  <a:pt x="740794" y="1305385"/>
                </a:lnTo>
                <a:lnTo>
                  <a:pt x="749518" y="1307764"/>
                </a:lnTo>
                <a:lnTo>
                  <a:pt x="757978" y="1309878"/>
                </a:lnTo>
                <a:lnTo>
                  <a:pt x="775428" y="1314372"/>
                </a:lnTo>
                <a:lnTo>
                  <a:pt x="786267" y="1316751"/>
                </a:lnTo>
                <a:lnTo>
                  <a:pt x="796842" y="1319130"/>
                </a:lnTo>
                <a:lnTo>
                  <a:pt x="806096" y="1320716"/>
                </a:lnTo>
                <a:lnTo>
                  <a:pt x="815085" y="1322302"/>
                </a:lnTo>
                <a:lnTo>
                  <a:pt x="833591" y="1324681"/>
                </a:lnTo>
                <a:lnTo>
                  <a:pt x="842845" y="1325738"/>
                </a:lnTo>
                <a:lnTo>
                  <a:pt x="852362" y="1327060"/>
                </a:lnTo>
                <a:lnTo>
                  <a:pt x="863995" y="1327853"/>
                </a:lnTo>
                <a:lnTo>
                  <a:pt x="875892" y="1328646"/>
                </a:lnTo>
                <a:lnTo>
                  <a:pt x="887525" y="1329175"/>
                </a:lnTo>
                <a:lnTo>
                  <a:pt x="899158" y="1329439"/>
                </a:lnTo>
                <a:lnTo>
                  <a:pt x="910526" y="1329439"/>
                </a:lnTo>
                <a:lnTo>
                  <a:pt x="921894" y="1329175"/>
                </a:lnTo>
                <a:lnTo>
                  <a:pt x="932734" y="1328910"/>
                </a:lnTo>
                <a:lnTo>
                  <a:pt x="944102" y="1328382"/>
                </a:lnTo>
                <a:lnTo>
                  <a:pt x="954942" y="1327589"/>
                </a:lnTo>
                <a:lnTo>
                  <a:pt x="966046" y="1326531"/>
                </a:lnTo>
                <a:lnTo>
                  <a:pt x="977150" y="1325210"/>
                </a:lnTo>
                <a:lnTo>
                  <a:pt x="988254" y="1323624"/>
                </a:lnTo>
                <a:lnTo>
                  <a:pt x="999093" y="1322302"/>
                </a:lnTo>
                <a:lnTo>
                  <a:pt x="1010197" y="1320452"/>
                </a:lnTo>
                <a:lnTo>
                  <a:pt x="1020772" y="1318337"/>
                </a:lnTo>
                <a:lnTo>
                  <a:pt x="1031876" y="1315694"/>
                </a:lnTo>
                <a:lnTo>
                  <a:pt x="1042452" y="1313315"/>
                </a:lnTo>
                <a:lnTo>
                  <a:pt x="1053556" y="1310671"/>
                </a:lnTo>
                <a:lnTo>
                  <a:pt x="1064131" y="1307764"/>
                </a:lnTo>
                <a:lnTo>
                  <a:pt x="1074706" y="1304592"/>
                </a:lnTo>
                <a:lnTo>
                  <a:pt x="1085281" y="1301155"/>
                </a:lnTo>
                <a:lnTo>
                  <a:pt x="1095856" y="1297719"/>
                </a:lnTo>
                <a:lnTo>
                  <a:pt x="1106167" y="1293754"/>
                </a:lnTo>
                <a:lnTo>
                  <a:pt x="1116742" y="1289789"/>
                </a:lnTo>
                <a:lnTo>
                  <a:pt x="1126789" y="1285560"/>
                </a:lnTo>
                <a:lnTo>
                  <a:pt x="1137100" y="1281330"/>
                </a:lnTo>
                <a:lnTo>
                  <a:pt x="1147675" y="1276837"/>
                </a:lnTo>
                <a:lnTo>
                  <a:pt x="1157721" y="1271814"/>
                </a:lnTo>
                <a:lnTo>
                  <a:pt x="1167768" y="1267056"/>
                </a:lnTo>
                <a:lnTo>
                  <a:pt x="1177286" y="1261770"/>
                </a:lnTo>
                <a:lnTo>
                  <a:pt x="1187332" y="1256483"/>
                </a:lnTo>
                <a:lnTo>
                  <a:pt x="1197114" y="1250668"/>
                </a:lnTo>
                <a:lnTo>
                  <a:pt x="1206896" y="1244852"/>
                </a:lnTo>
                <a:lnTo>
                  <a:pt x="1216414" y="1238773"/>
                </a:lnTo>
                <a:lnTo>
                  <a:pt x="1225932" y="1232693"/>
                </a:lnTo>
                <a:lnTo>
                  <a:pt x="1235185" y="1225820"/>
                </a:lnTo>
                <a:lnTo>
                  <a:pt x="1239151" y="1223441"/>
                </a:lnTo>
                <a:lnTo>
                  <a:pt x="1243116" y="1221062"/>
                </a:lnTo>
                <a:lnTo>
                  <a:pt x="1247082" y="1218948"/>
                </a:lnTo>
                <a:lnTo>
                  <a:pt x="1251312" y="1217097"/>
                </a:lnTo>
                <a:lnTo>
                  <a:pt x="1255278" y="1215247"/>
                </a:lnTo>
                <a:lnTo>
                  <a:pt x="1259772" y="1213925"/>
                </a:lnTo>
                <a:lnTo>
                  <a:pt x="1264002" y="1212604"/>
                </a:lnTo>
                <a:lnTo>
                  <a:pt x="1268232" y="1211546"/>
                </a:lnTo>
                <a:lnTo>
                  <a:pt x="1272727" y="1210753"/>
                </a:lnTo>
                <a:lnTo>
                  <a:pt x="1276957" y="1210225"/>
                </a:lnTo>
                <a:lnTo>
                  <a:pt x="1281187" y="1209696"/>
                </a:lnTo>
                <a:lnTo>
                  <a:pt x="1285417" y="1209696"/>
                </a:lnTo>
                <a:lnTo>
                  <a:pt x="1290176" y="1209696"/>
                </a:lnTo>
                <a:lnTo>
                  <a:pt x="1294406" y="1209696"/>
                </a:lnTo>
                <a:lnTo>
                  <a:pt x="1298636" y="1210489"/>
                </a:lnTo>
                <a:lnTo>
                  <a:pt x="1302866" y="1211018"/>
                </a:lnTo>
                <a:lnTo>
                  <a:pt x="1307096" y="1211811"/>
                </a:lnTo>
                <a:lnTo>
                  <a:pt x="1311326" y="1212868"/>
                </a:lnTo>
                <a:lnTo>
                  <a:pt x="1315821" y="1213925"/>
                </a:lnTo>
                <a:lnTo>
                  <a:pt x="1319787" y="1215511"/>
                </a:lnTo>
                <a:lnTo>
                  <a:pt x="1324017" y="1217362"/>
                </a:lnTo>
                <a:lnTo>
                  <a:pt x="1327982" y="1219212"/>
                </a:lnTo>
                <a:lnTo>
                  <a:pt x="1331419" y="1221062"/>
                </a:lnTo>
                <a:lnTo>
                  <a:pt x="1335385" y="1223441"/>
                </a:lnTo>
                <a:lnTo>
                  <a:pt x="1339086" y="1225820"/>
                </a:lnTo>
                <a:lnTo>
                  <a:pt x="1342788" y="1228728"/>
                </a:lnTo>
                <a:lnTo>
                  <a:pt x="1346225" y="1231371"/>
                </a:lnTo>
                <a:lnTo>
                  <a:pt x="1349397" y="1234543"/>
                </a:lnTo>
                <a:lnTo>
                  <a:pt x="1352834" y="1237451"/>
                </a:lnTo>
                <a:lnTo>
                  <a:pt x="1356007" y="1240887"/>
                </a:lnTo>
                <a:lnTo>
                  <a:pt x="1358650" y="1244588"/>
                </a:lnTo>
                <a:lnTo>
                  <a:pt x="1361294" y="1248289"/>
                </a:lnTo>
                <a:lnTo>
                  <a:pt x="1364202" y="1252254"/>
                </a:lnTo>
                <a:lnTo>
                  <a:pt x="1366582" y="1256219"/>
                </a:lnTo>
                <a:lnTo>
                  <a:pt x="1368697" y="1260448"/>
                </a:lnTo>
                <a:lnTo>
                  <a:pt x="1370548" y="1264413"/>
                </a:lnTo>
                <a:lnTo>
                  <a:pt x="1372134" y="1268642"/>
                </a:lnTo>
                <a:lnTo>
                  <a:pt x="1373456" y="1272872"/>
                </a:lnTo>
                <a:lnTo>
                  <a:pt x="1374778" y="1277101"/>
                </a:lnTo>
                <a:lnTo>
                  <a:pt x="1376100" y="1281330"/>
                </a:lnTo>
                <a:lnTo>
                  <a:pt x="1376628" y="1285560"/>
                </a:lnTo>
                <a:lnTo>
                  <a:pt x="1377157" y="1289789"/>
                </a:lnTo>
                <a:lnTo>
                  <a:pt x="1377950" y="1294283"/>
                </a:lnTo>
                <a:lnTo>
                  <a:pt x="1377950" y="1298776"/>
                </a:lnTo>
                <a:lnTo>
                  <a:pt x="1377950" y="1303006"/>
                </a:lnTo>
                <a:lnTo>
                  <a:pt x="1377421" y="1307235"/>
                </a:lnTo>
                <a:lnTo>
                  <a:pt x="1377157" y="1311729"/>
                </a:lnTo>
                <a:lnTo>
                  <a:pt x="1376628" y="1316222"/>
                </a:lnTo>
                <a:lnTo>
                  <a:pt x="1375835" y="1320452"/>
                </a:lnTo>
                <a:lnTo>
                  <a:pt x="1374513" y="1324417"/>
                </a:lnTo>
                <a:lnTo>
                  <a:pt x="1373191" y="1328646"/>
                </a:lnTo>
                <a:lnTo>
                  <a:pt x="1372134" y="1332875"/>
                </a:lnTo>
                <a:lnTo>
                  <a:pt x="1370283" y="1336840"/>
                </a:lnTo>
                <a:lnTo>
                  <a:pt x="1368432" y="1340805"/>
                </a:lnTo>
                <a:lnTo>
                  <a:pt x="1366317" y="1344770"/>
                </a:lnTo>
                <a:lnTo>
                  <a:pt x="1364202" y="1348471"/>
                </a:lnTo>
                <a:lnTo>
                  <a:pt x="1361823" y="1351907"/>
                </a:lnTo>
                <a:lnTo>
                  <a:pt x="1358915" y="1355608"/>
                </a:lnTo>
                <a:lnTo>
                  <a:pt x="1356271" y="1359044"/>
                </a:lnTo>
                <a:lnTo>
                  <a:pt x="1353098" y="1362481"/>
                </a:lnTo>
                <a:lnTo>
                  <a:pt x="1350190" y="1365653"/>
                </a:lnTo>
                <a:lnTo>
                  <a:pt x="1346753" y="1368825"/>
                </a:lnTo>
                <a:lnTo>
                  <a:pt x="1343052" y="1371732"/>
                </a:lnTo>
                <a:lnTo>
                  <a:pt x="1339351" y="1374640"/>
                </a:lnTo>
                <a:lnTo>
                  <a:pt x="1327189" y="1382834"/>
                </a:lnTo>
                <a:lnTo>
                  <a:pt x="1315028" y="1390764"/>
                </a:lnTo>
                <a:lnTo>
                  <a:pt x="1302602" y="1398694"/>
                </a:lnTo>
                <a:lnTo>
                  <a:pt x="1290176" y="1406360"/>
                </a:lnTo>
                <a:lnTo>
                  <a:pt x="1277750" y="1413497"/>
                </a:lnTo>
                <a:lnTo>
                  <a:pt x="1264795" y="1420634"/>
                </a:lnTo>
                <a:lnTo>
                  <a:pt x="1252105" y="1427242"/>
                </a:lnTo>
                <a:lnTo>
                  <a:pt x="1239151" y="1433851"/>
                </a:lnTo>
                <a:lnTo>
                  <a:pt x="1226196" y="1439930"/>
                </a:lnTo>
                <a:lnTo>
                  <a:pt x="1212977" y="1446274"/>
                </a:lnTo>
                <a:lnTo>
                  <a:pt x="1200022" y="1451825"/>
                </a:lnTo>
                <a:lnTo>
                  <a:pt x="1186803" y="1457376"/>
                </a:lnTo>
                <a:lnTo>
                  <a:pt x="1173320" y="1462663"/>
                </a:lnTo>
                <a:lnTo>
                  <a:pt x="1160101" y="1467421"/>
                </a:lnTo>
                <a:lnTo>
                  <a:pt x="1146353" y="1472443"/>
                </a:lnTo>
                <a:lnTo>
                  <a:pt x="1132870" y="1476672"/>
                </a:lnTo>
                <a:lnTo>
                  <a:pt x="1119122" y="1480902"/>
                </a:lnTo>
                <a:lnTo>
                  <a:pt x="1105639" y="1484867"/>
                </a:lnTo>
                <a:lnTo>
                  <a:pt x="1091626" y="1488567"/>
                </a:lnTo>
                <a:lnTo>
                  <a:pt x="1077879" y="1491739"/>
                </a:lnTo>
                <a:lnTo>
                  <a:pt x="1063866" y="1494911"/>
                </a:lnTo>
                <a:lnTo>
                  <a:pt x="1049854" y="1497555"/>
                </a:lnTo>
                <a:lnTo>
                  <a:pt x="1035842" y="1500462"/>
                </a:lnTo>
                <a:lnTo>
                  <a:pt x="1021830" y="1502841"/>
                </a:lnTo>
                <a:lnTo>
                  <a:pt x="1007818" y="1504692"/>
                </a:lnTo>
                <a:lnTo>
                  <a:pt x="993541" y="1506542"/>
                </a:lnTo>
                <a:lnTo>
                  <a:pt x="979000" y="1507864"/>
                </a:lnTo>
                <a:lnTo>
                  <a:pt x="964988" y="1509185"/>
                </a:lnTo>
                <a:lnTo>
                  <a:pt x="950712" y="1510243"/>
                </a:lnTo>
                <a:lnTo>
                  <a:pt x="936435" y="1510771"/>
                </a:lnTo>
                <a:lnTo>
                  <a:pt x="922159" y="1511300"/>
                </a:lnTo>
                <a:lnTo>
                  <a:pt x="907618" y="1511300"/>
                </a:lnTo>
                <a:lnTo>
                  <a:pt x="888847" y="1511036"/>
                </a:lnTo>
                <a:lnTo>
                  <a:pt x="870076" y="1510507"/>
                </a:lnTo>
                <a:lnTo>
                  <a:pt x="851040" y="1508921"/>
                </a:lnTo>
                <a:lnTo>
                  <a:pt x="832269" y="1507335"/>
                </a:lnTo>
                <a:lnTo>
                  <a:pt x="816935" y="1505220"/>
                </a:lnTo>
                <a:lnTo>
                  <a:pt x="796049" y="1502841"/>
                </a:lnTo>
                <a:lnTo>
                  <a:pt x="785738" y="1501255"/>
                </a:lnTo>
                <a:lnTo>
                  <a:pt x="774899" y="1499669"/>
                </a:lnTo>
                <a:lnTo>
                  <a:pt x="768818" y="1498612"/>
                </a:lnTo>
                <a:lnTo>
                  <a:pt x="762737" y="1497026"/>
                </a:lnTo>
                <a:lnTo>
                  <a:pt x="755335" y="1495440"/>
                </a:lnTo>
                <a:lnTo>
                  <a:pt x="747932" y="1493590"/>
                </a:lnTo>
                <a:lnTo>
                  <a:pt x="733391" y="1490418"/>
                </a:lnTo>
                <a:lnTo>
                  <a:pt x="710919" y="1484867"/>
                </a:lnTo>
                <a:lnTo>
                  <a:pt x="700079" y="1482223"/>
                </a:lnTo>
                <a:lnTo>
                  <a:pt x="688975" y="1478787"/>
                </a:lnTo>
                <a:lnTo>
                  <a:pt x="677342" y="1475086"/>
                </a:lnTo>
                <a:lnTo>
                  <a:pt x="665710" y="1471121"/>
                </a:lnTo>
                <a:lnTo>
                  <a:pt x="653548" y="1466892"/>
                </a:lnTo>
                <a:lnTo>
                  <a:pt x="640858" y="1462663"/>
                </a:lnTo>
                <a:lnTo>
                  <a:pt x="628697" y="1457905"/>
                </a:lnTo>
                <a:lnTo>
                  <a:pt x="616799" y="1453147"/>
                </a:lnTo>
                <a:lnTo>
                  <a:pt x="602787" y="1447067"/>
                </a:lnTo>
                <a:lnTo>
                  <a:pt x="589304" y="1440723"/>
                </a:lnTo>
                <a:lnTo>
                  <a:pt x="575292" y="1434379"/>
                </a:lnTo>
                <a:lnTo>
                  <a:pt x="561544" y="1427507"/>
                </a:lnTo>
                <a:lnTo>
                  <a:pt x="548061" y="1420634"/>
                </a:lnTo>
                <a:lnTo>
                  <a:pt x="543302" y="1417462"/>
                </a:lnTo>
                <a:lnTo>
                  <a:pt x="531669" y="1411118"/>
                </a:lnTo>
                <a:lnTo>
                  <a:pt x="520036" y="1404510"/>
                </a:lnTo>
                <a:lnTo>
                  <a:pt x="508668" y="1397637"/>
                </a:lnTo>
                <a:lnTo>
                  <a:pt x="497564" y="1390500"/>
                </a:lnTo>
                <a:lnTo>
                  <a:pt x="486196" y="1383099"/>
                </a:lnTo>
                <a:lnTo>
                  <a:pt x="475356" y="1375697"/>
                </a:lnTo>
                <a:lnTo>
                  <a:pt x="464516" y="1368296"/>
                </a:lnTo>
                <a:lnTo>
                  <a:pt x="453941" y="1360366"/>
                </a:lnTo>
                <a:lnTo>
                  <a:pt x="443366" y="1351907"/>
                </a:lnTo>
                <a:lnTo>
                  <a:pt x="432790" y="1343713"/>
                </a:lnTo>
                <a:lnTo>
                  <a:pt x="422479" y="1335519"/>
                </a:lnTo>
                <a:lnTo>
                  <a:pt x="412433" y="1326796"/>
                </a:lnTo>
                <a:lnTo>
                  <a:pt x="402387" y="1317808"/>
                </a:lnTo>
                <a:lnTo>
                  <a:pt x="392604" y="1309085"/>
                </a:lnTo>
                <a:lnTo>
                  <a:pt x="383087" y="1299834"/>
                </a:lnTo>
                <a:lnTo>
                  <a:pt x="373569" y="1290582"/>
                </a:lnTo>
                <a:lnTo>
                  <a:pt x="369339" y="1285824"/>
                </a:lnTo>
                <a:lnTo>
                  <a:pt x="357971" y="1274458"/>
                </a:lnTo>
                <a:lnTo>
                  <a:pt x="347131" y="1262827"/>
                </a:lnTo>
                <a:lnTo>
                  <a:pt x="336291" y="1250668"/>
                </a:lnTo>
                <a:lnTo>
                  <a:pt x="325716" y="1238508"/>
                </a:lnTo>
                <a:lnTo>
                  <a:pt x="320429" y="1231636"/>
                </a:lnTo>
                <a:lnTo>
                  <a:pt x="315405" y="1224763"/>
                </a:lnTo>
                <a:lnTo>
                  <a:pt x="301393" y="1207317"/>
                </a:lnTo>
                <a:lnTo>
                  <a:pt x="294255" y="1198330"/>
                </a:lnTo>
                <a:lnTo>
                  <a:pt x="287646" y="1189078"/>
                </a:lnTo>
                <a:lnTo>
                  <a:pt x="286059" y="1186699"/>
                </a:lnTo>
                <a:lnTo>
                  <a:pt x="284737" y="1183791"/>
                </a:lnTo>
                <a:lnTo>
                  <a:pt x="277070" y="1172425"/>
                </a:lnTo>
                <a:lnTo>
                  <a:pt x="269403" y="1160795"/>
                </a:lnTo>
                <a:lnTo>
                  <a:pt x="262001" y="1149164"/>
                </a:lnTo>
                <a:lnTo>
                  <a:pt x="255127" y="1137005"/>
                </a:lnTo>
                <a:lnTo>
                  <a:pt x="247988" y="1125110"/>
                </a:lnTo>
                <a:lnTo>
                  <a:pt x="241379" y="1112950"/>
                </a:lnTo>
                <a:lnTo>
                  <a:pt x="234505" y="1100527"/>
                </a:lnTo>
                <a:lnTo>
                  <a:pt x="228424" y="1087839"/>
                </a:lnTo>
                <a:lnTo>
                  <a:pt x="222344" y="1075415"/>
                </a:lnTo>
                <a:lnTo>
                  <a:pt x="216263" y="1062727"/>
                </a:lnTo>
                <a:lnTo>
                  <a:pt x="210975" y="1049775"/>
                </a:lnTo>
                <a:lnTo>
                  <a:pt x="205423" y="1037087"/>
                </a:lnTo>
                <a:lnTo>
                  <a:pt x="200400" y="1023870"/>
                </a:lnTo>
                <a:lnTo>
                  <a:pt x="195377" y="1010653"/>
                </a:lnTo>
                <a:lnTo>
                  <a:pt x="190618" y="997437"/>
                </a:lnTo>
                <a:lnTo>
                  <a:pt x="186388" y="983956"/>
                </a:lnTo>
                <a:lnTo>
                  <a:pt x="182158" y="970475"/>
                </a:lnTo>
                <a:lnTo>
                  <a:pt x="178192" y="956729"/>
                </a:lnTo>
                <a:lnTo>
                  <a:pt x="174491" y="942984"/>
                </a:lnTo>
                <a:lnTo>
                  <a:pt x="171318" y="929239"/>
                </a:lnTo>
                <a:lnTo>
                  <a:pt x="167881" y="915229"/>
                </a:lnTo>
                <a:lnTo>
                  <a:pt x="165237" y="901219"/>
                </a:lnTo>
                <a:lnTo>
                  <a:pt x="162329" y="887210"/>
                </a:lnTo>
                <a:lnTo>
                  <a:pt x="160214" y="872936"/>
                </a:lnTo>
                <a:lnTo>
                  <a:pt x="158099" y="858662"/>
                </a:lnTo>
                <a:lnTo>
                  <a:pt x="156249" y="844388"/>
                </a:lnTo>
                <a:lnTo>
                  <a:pt x="154662" y="829585"/>
                </a:lnTo>
                <a:lnTo>
                  <a:pt x="153340" y="815047"/>
                </a:lnTo>
                <a:lnTo>
                  <a:pt x="152283" y="800509"/>
                </a:lnTo>
                <a:lnTo>
                  <a:pt x="151754" y="785706"/>
                </a:lnTo>
                <a:lnTo>
                  <a:pt x="151225" y="770903"/>
                </a:lnTo>
                <a:lnTo>
                  <a:pt x="151225" y="755836"/>
                </a:lnTo>
                <a:lnTo>
                  <a:pt x="0" y="755836"/>
                </a:lnTo>
                <a:lnTo>
                  <a:pt x="241643" y="393700"/>
                </a:lnTo>
                <a:close/>
                <a:moveTo>
                  <a:pt x="906894" y="0"/>
                </a:moveTo>
                <a:lnTo>
                  <a:pt x="912182" y="264"/>
                </a:lnTo>
                <a:lnTo>
                  <a:pt x="917469" y="529"/>
                </a:lnTo>
                <a:lnTo>
                  <a:pt x="932539" y="793"/>
                </a:lnTo>
                <a:lnTo>
                  <a:pt x="947344" y="1586"/>
                </a:lnTo>
                <a:lnTo>
                  <a:pt x="962414" y="2380"/>
                </a:lnTo>
                <a:lnTo>
                  <a:pt x="977484" y="3702"/>
                </a:lnTo>
                <a:lnTo>
                  <a:pt x="989645" y="5288"/>
                </a:lnTo>
                <a:lnTo>
                  <a:pt x="1002335" y="6610"/>
                </a:lnTo>
                <a:lnTo>
                  <a:pt x="1020313" y="8725"/>
                </a:lnTo>
                <a:lnTo>
                  <a:pt x="1029038" y="10047"/>
                </a:lnTo>
                <a:lnTo>
                  <a:pt x="1038291" y="11369"/>
                </a:lnTo>
                <a:lnTo>
                  <a:pt x="1044636" y="12691"/>
                </a:lnTo>
                <a:lnTo>
                  <a:pt x="1050981" y="14277"/>
                </a:lnTo>
                <a:lnTo>
                  <a:pt x="1064465" y="17186"/>
                </a:lnTo>
                <a:lnTo>
                  <a:pt x="1077419" y="20358"/>
                </a:lnTo>
                <a:lnTo>
                  <a:pt x="1101478" y="26175"/>
                </a:lnTo>
                <a:lnTo>
                  <a:pt x="1113375" y="29348"/>
                </a:lnTo>
                <a:lnTo>
                  <a:pt x="1125008" y="32521"/>
                </a:lnTo>
                <a:lnTo>
                  <a:pt x="1134790" y="35693"/>
                </a:lnTo>
                <a:lnTo>
                  <a:pt x="1144572" y="38866"/>
                </a:lnTo>
                <a:lnTo>
                  <a:pt x="1157791" y="43625"/>
                </a:lnTo>
                <a:lnTo>
                  <a:pt x="1171274" y="48384"/>
                </a:lnTo>
                <a:lnTo>
                  <a:pt x="1184493" y="53408"/>
                </a:lnTo>
                <a:lnTo>
                  <a:pt x="1197448" y="58431"/>
                </a:lnTo>
                <a:lnTo>
                  <a:pt x="1206701" y="62397"/>
                </a:lnTo>
                <a:lnTo>
                  <a:pt x="1226794" y="71651"/>
                </a:lnTo>
                <a:lnTo>
                  <a:pt x="1246887" y="81434"/>
                </a:lnTo>
                <a:lnTo>
                  <a:pt x="1266716" y="91745"/>
                </a:lnTo>
                <a:lnTo>
                  <a:pt x="1285751" y="102321"/>
                </a:lnTo>
                <a:lnTo>
                  <a:pt x="1304786" y="113690"/>
                </a:lnTo>
                <a:lnTo>
                  <a:pt x="1323557" y="125588"/>
                </a:lnTo>
                <a:lnTo>
                  <a:pt x="1341800" y="138015"/>
                </a:lnTo>
                <a:lnTo>
                  <a:pt x="1359513" y="151234"/>
                </a:lnTo>
                <a:lnTo>
                  <a:pt x="1377227" y="164718"/>
                </a:lnTo>
                <a:lnTo>
                  <a:pt x="1394411" y="178731"/>
                </a:lnTo>
                <a:lnTo>
                  <a:pt x="1411067" y="193538"/>
                </a:lnTo>
                <a:lnTo>
                  <a:pt x="1427459" y="208608"/>
                </a:lnTo>
                <a:lnTo>
                  <a:pt x="1443322" y="224207"/>
                </a:lnTo>
                <a:lnTo>
                  <a:pt x="1458920" y="240336"/>
                </a:lnTo>
                <a:lnTo>
                  <a:pt x="1473725" y="257257"/>
                </a:lnTo>
                <a:lnTo>
                  <a:pt x="1488531" y="274178"/>
                </a:lnTo>
                <a:lnTo>
                  <a:pt x="1492496" y="279466"/>
                </a:lnTo>
                <a:lnTo>
                  <a:pt x="1509152" y="300353"/>
                </a:lnTo>
                <a:lnTo>
                  <a:pt x="1517348" y="311194"/>
                </a:lnTo>
                <a:lnTo>
                  <a:pt x="1525544" y="322034"/>
                </a:lnTo>
                <a:lnTo>
                  <a:pt x="1527130" y="325207"/>
                </a:lnTo>
                <a:lnTo>
                  <a:pt x="1528981" y="328115"/>
                </a:lnTo>
                <a:lnTo>
                  <a:pt x="1536648" y="339748"/>
                </a:lnTo>
                <a:lnTo>
                  <a:pt x="1544050" y="351382"/>
                </a:lnTo>
                <a:lnTo>
                  <a:pt x="1551453" y="362751"/>
                </a:lnTo>
                <a:lnTo>
                  <a:pt x="1558591" y="374913"/>
                </a:lnTo>
                <a:lnTo>
                  <a:pt x="1565465" y="386811"/>
                </a:lnTo>
                <a:lnTo>
                  <a:pt x="1572075" y="399237"/>
                </a:lnTo>
                <a:lnTo>
                  <a:pt x="1578684" y="411400"/>
                </a:lnTo>
                <a:lnTo>
                  <a:pt x="1585029" y="423826"/>
                </a:lnTo>
                <a:lnTo>
                  <a:pt x="1591110" y="436253"/>
                </a:lnTo>
                <a:lnTo>
                  <a:pt x="1596927" y="449208"/>
                </a:lnTo>
                <a:lnTo>
                  <a:pt x="1602214" y="461899"/>
                </a:lnTo>
                <a:lnTo>
                  <a:pt x="1607766" y="474854"/>
                </a:lnTo>
                <a:lnTo>
                  <a:pt x="1612789" y="488074"/>
                </a:lnTo>
                <a:lnTo>
                  <a:pt x="1617548" y="501294"/>
                </a:lnTo>
                <a:lnTo>
                  <a:pt x="1622571" y="514249"/>
                </a:lnTo>
                <a:lnTo>
                  <a:pt x="1626801" y="527734"/>
                </a:lnTo>
                <a:lnTo>
                  <a:pt x="1631032" y="541482"/>
                </a:lnTo>
                <a:lnTo>
                  <a:pt x="1634997" y="554702"/>
                </a:lnTo>
                <a:lnTo>
                  <a:pt x="1638170" y="568451"/>
                </a:lnTo>
                <a:lnTo>
                  <a:pt x="1641871" y="582463"/>
                </a:lnTo>
                <a:lnTo>
                  <a:pt x="1645044" y="596212"/>
                </a:lnTo>
                <a:lnTo>
                  <a:pt x="1647688" y="610225"/>
                </a:lnTo>
                <a:lnTo>
                  <a:pt x="1650596" y="624502"/>
                </a:lnTo>
                <a:lnTo>
                  <a:pt x="1652975" y="638515"/>
                </a:lnTo>
                <a:lnTo>
                  <a:pt x="1655090" y="652793"/>
                </a:lnTo>
                <a:lnTo>
                  <a:pt x="1656941" y="667334"/>
                </a:lnTo>
                <a:lnTo>
                  <a:pt x="1658263" y="681876"/>
                </a:lnTo>
                <a:lnTo>
                  <a:pt x="1659585" y="696154"/>
                </a:lnTo>
                <a:lnTo>
                  <a:pt x="1660642" y="710695"/>
                </a:lnTo>
                <a:lnTo>
                  <a:pt x="1661435" y="725501"/>
                </a:lnTo>
                <a:lnTo>
                  <a:pt x="1661700" y="740308"/>
                </a:lnTo>
                <a:lnTo>
                  <a:pt x="1661700" y="754849"/>
                </a:lnTo>
                <a:lnTo>
                  <a:pt x="1812925" y="754849"/>
                </a:lnTo>
                <a:lnTo>
                  <a:pt x="1571282" y="1117600"/>
                </a:lnTo>
                <a:lnTo>
                  <a:pt x="1329638" y="754849"/>
                </a:lnTo>
                <a:lnTo>
                  <a:pt x="1480864" y="754849"/>
                </a:lnTo>
                <a:lnTo>
                  <a:pt x="1480599" y="742158"/>
                </a:lnTo>
                <a:lnTo>
                  <a:pt x="1480070" y="729467"/>
                </a:lnTo>
                <a:lnTo>
                  <a:pt x="1479277" y="716512"/>
                </a:lnTo>
                <a:lnTo>
                  <a:pt x="1478484" y="704085"/>
                </a:lnTo>
                <a:lnTo>
                  <a:pt x="1477162" y="691394"/>
                </a:lnTo>
                <a:lnTo>
                  <a:pt x="1475576" y="678703"/>
                </a:lnTo>
                <a:lnTo>
                  <a:pt x="1473725" y="666277"/>
                </a:lnTo>
                <a:lnTo>
                  <a:pt x="1471610" y="654115"/>
                </a:lnTo>
                <a:lnTo>
                  <a:pt x="1469231" y="641952"/>
                </a:lnTo>
                <a:lnTo>
                  <a:pt x="1466851" y="629790"/>
                </a:lnTo>
                <a:lnTo>
                  <a:pt x="1463943" y="617628"/>
                </a:lnTo>
                <a:lnTo>
                  <a:pt x="1460771" y="605730"/>
                </a:lnTo>
                <a:lnTo>
                  <a:pt x="1457334" y="593832"/>
                </a:lnTo>
                <a:lnTo>
                  <a:pt x="1453897" y="581935"/>
                </a:lnTo>
                <a:lnTo>
                  <a:pt x="1449931" y="570301"/>
                </a:lnTo>
                <a:lnTo>
                  <a:pt x="1445965" y="558668"/>
                </a:lnTo>
                <a:lnTo>
                  <a:pt x="1441471" y="547299"/>
                </a:lnTo>
                <a:lnTo>
                  <a:pt x="1436976" y="535930"/>
                </a:lnTo>
                <a:lnTo>
                  <a:pt x="1432482" y="524825"/>
                </a:lnTo>
                <a:lnTo>
                  <a:pt x="1427194" y="513721"/>
                </a:lnTo>
                <a:lnTo>
                  <a:pt x="1421907" y="502616"/>
                </a:lnTo>
                <a:lnTo>
                  <a:pt x="1416619" y="492040"/>
                </a:lnTo>
                <a:lnTo>
                  <a:pt x="1410803" y="481464"/>
                </a:lnTo>
                <a:lnTo>
                  <a:pt x="1404986" y="470624"/>
                </a:lnTo>
                <a:lnTo>
                  <a:pt x="1398906" y="460313"/>
                </a:lnTo>
                <a:lnTo>
                  <a:pt x="1392561" y="450001"/>
                </a:lnTo>
                <a:lnTo>
                  <a:pt x="1385951" y="439954"/>
                </a:lnTo>
                <a:lnTo>
                  <a:pt x="1379342" y="429907"/>
                </a:lnTo>
                <a:lnTo>
                  <a:pt x="1372468" y="420125"/>
                </a:lnTo>
                <a:lnTo>
                  <a:pt x="1365065" y="410342"/>
                </a:lnTo>
                <a:lnTo>
                  <a:pt x="1357662" y="400824"/>
                </a:lnTo>
                <a:lnTo>
                  <a:pt x="1350524" y="391570"/>
                </a:lnTo>
                <a:lnTo>
                  <a:pt x="1349202" y="390248"/>
                </a:lnTo>
                <a:lnTo>
                  <a:pt x="1338363" y="377293"/>
                </a:lnTo>
                <a:lnTo>
                  <a:pt x="1326730" y="364602"/>
                </a:lnTo>
                <a:lnTo>
                  <a:pt x="1315097" y="352175"/>
                </a:lnTo>
                <a:lnTo>
                  <a:pt x="1302936" y="340277"/>
                </a:lnTo>
                <a:lnTo>
                  <a:pt x="1290510" y="328644"/>
                </a:lnTo>
                <a:lnTo>
                  <a:pt x="1277555" y="317804"/>
                </a:lnTo>
                <a:lnTo>
                  <a:pt x="1264601" y="306699"/>
                </a:lnTo>
                <a:lnTo>
                  <a:pt x="1251117" y="296387"/>
                </a:lnTo>
                <a:lnTo>
                  <a:pt x="1237369" y="286340"/>
                </a:lnTo>
                <a:lnTo>
                  <a:pt x="1223093" y="276822"/>
                </a:lnTo>
                <a:lnTo>
                  <a:pt x="1208816" y="267568"/>
                </a:lnTo>
                <a:lnTo>
                  <a:pt x="1194275" y="258579"/>
                </a:lnTo>
                <a:lnTo>
                  <a:pt x="1179206" y="250383"/>
                </a:lnTo>
                <a:lnTo>
                  <a:pt x="1163872" y="242451"/>
                </a:lnTo>
                <a:lnTo>
                  <a:pt x="1148802" y="234783"/>
                </a:lnTo>
                <a:lnTo>
                  <a:pt x="1132939" y="227909"/>
                </a:lnTo>
                <a:lnTo>
                  <a:pt x="1128709" y="226058"/>
                </a:lnTo>
                <a:lnTo>
                  <a:pt x="1117869" y="221828"/>
                </a:lnTo>
                <a:lnTo>
                  <a:pt x="1107294" y="217862"/>
                </a:lnTo>
                <a:lnTo>
                  <a:pt x="1096455" y="213896"/>
                </a:lnTo>
                <a:lnTo>
                  <a:pt x="1085615" y="210194"/>
                </a:lnTo>
                <a:lnTo>
                  <a:pt x="1073454" y="206229"/>
                </a:lnTo>
                <a:lnTo>
                  <a:pt x="1063672" y="203585"/>
                </a:lnTo>
                <a:lnTo>
                  <a:pt x="1054418" y="200676"/>
                </a:lnTo>
                <a:lnTo>
                  <a:pt x="1034590" y="196182"/>
                </a:lnTo>
                <a:lnTo>
                  <a:pt x="1026130" y="194066"/>
                </a:lnTo>
                <a:lnTo>
                  <a:pt x="1017141" y="192216"/>
                </a:lnTo>
                <a:lnTo>
                  <a:pt x="1007094" y="190365"/>
                </a:lnTo>
                <a:lnTo>
                  <a:pt x="997048" y="188778"/>
                </a:lnTo>
                <a:lnTo>
                  <a:pt x="976690" y="186134"/>
                </a:lnTo>
                <a:lnTo>
                  <a:pt x="961356" y="184019"/>
                </a:lnTo>
                <a:lnTo>
                  <a:pt x="948930" y="183226"/>
                </a:lnTo>
                <a:lnTo>
                  <a:pt x="936505" y="182169"/>
                </a:lnTo>
                <a:lnTo>
                  <a:pt x="923550" y="181904"/>
                </a:lnTo>
                <a:lnTo>
                  <a:pt x="911124" y="181640"/>
                </a:lnTo>
                <a:lnTo>
                  <a:pt x="899756" y="181640"/>
                </a:lnTo>
                <a:lnTo>
                  <a:pt x="888916" y="181904"/>
                </a:lnTo>
                <a:lnTo>
                  <a:pt x="877548" y="182169"/>
                </a:lnTo>
                <a:lnTo>
                  <a:pt x="866708" y="182697"/>
                </a:lnTo>
                <a:lnTo>
                  <a:pt x="855604" y="183755"/>
                </a:lnTo>
                <a:lnTo>
                  <a:pt x="844765" y="184548"/>
                </a:lnTo>
                <a:lnTo>
                  <a:pt x="833661" y="186134"/>
                </a:lnTo>
                <a:lnTo>
                  <a:pt x="822821" y="187721"/>
                </a:lnTo>
                <a:lnTo>
                  <a:pt x="811982" y="189307"/>
                </a:lnTo>
                <a:lnTo>
                  <a:pt x="801142" y="190894"/>
                </a:lnTo>
                <a:lnTo>
                  <a:pt x="790302" y="193273"/>
                </a:lnTo>
                <a:lnTo>
                  <a:pt x="779463" y="195653"/>
                </a:lnTo>
                <a:lnTo>
                  <a:pt x="768888" y="198032"/>
                </a:lnTo>
                <a:lnTo>
                  <a:pt x="758312" y="200676"/>
                </a:lnTo>
                <a:lnTo>
                  <a:pt x="747473" y="203849"/>
                </a:lnTo>
                <a:lnTo>
                  <a:pt x="737162" y="206757"/>
                </a:lnTo>
                <a:lnTo>
                  <a:pt x="726587" y="210194"/>
                </a:lnTo>
                <a:lnTo>
                  <a:pt x="716276" y="213896"/>
                </a:lnTo>
                <a:lnTo>
                  <a:pt x="705965" y="217598"/>
                </a:lnTo>
                <a:lnTo>
                  <a:pt x="695390" y="221563"/>
                </a:lnTo>
                <a:lnTo>
                  <a:pt x="685079" y="225794"/>
                </a:lnTo>
                <a:lnTo>
                  <a:pt x="675033" y="230024"/>
                </a:lnTo>
                <a:lnTo>
                  <a:pt x="664986" y="234519"/>
                </a:lnTo>
                <a:lnTo>
                  <a:pt x="654940" y="239542"/>
                </a:lnTo>
                <a:lnTo>
                  <a:pt x="644893" y="244302"/>
                </a:lnTo>
                <a:lnTo>
                  <a:pt x="635111" y="249589"/>
                </a:lnTo>
                <a:lnTo>
                  <a:pt x="625329" y="254877"/>
                </a:lnTo>
                <a:lnTo>
                  <a:pt x="615547" y="260430"/>
                </a:lnTo>
                <a:lnTo>
                  <a:pt x="606029" y="266511"/>
                </a:lnTo>
                <a:lnTo>
                  <a:pt x="596512" y="272327"/>
                </a:lnTo>
                <a:lnTo>
                  <a:pt x="586994" y="278673"/>
                </a:lnTo>
                <a:lnTo>
                  <a:pt x="577476" y="285283"/>
                </a:lnTo>
                <a:lnTo>
                  <a:pt x="574039" y="287662"/>
                </a:lnTo>
                <a:lnTo>
                  <a:pt x="570074" y="290042"/>
                </a:lnTo>
                <a:lnTo>
                  <a:pt x="565843" y="292157"/>
                </a:lnTo>
                <a:lnTo>
                  <a:pt x="561878" y="294008"/>
                </a:lnTo>
                <a:lnTo>
                  <a:pt x="557383" y="295859"/>
                </a:lnTo>
                <a:lnTo>
                  <a:pt x="553153" y="296916"/>
                </a:lnTo>
                <a:lnTo>
                  <a:pt x="548923" y="298503"/>
                </a:lnTo>
                <a:lnTo>
                  <a:pt x="544693" y="299560"/>
                </a:lnTo>
                <a:lnTo>
                  <a:pt x="540463" y="300353"/>
                </a:lnTo>
                <a:lnTo>
                  <a:pt x="536233" y="300882"/>
                </a:lnTo>
                <a:lnTo>
                  <a:pt x="531474" y="301411"/>
                </a:lnTo>
                <a:lnTo>
                  <a:pt x="527244" y="301675"/>
                </a:lnTo>
                <a:lnTo>
                  <a:pt x="523014" y="301411"/>
                </a:lnTo>
                <a:lnTo>
                  <a:pt x="518519" y="301411"/>
                </a:lnTo>
                <a:lnTo>
                  <a:pt x="514289" y="300618"/>
                </a:lnTo>
                <a:lnTo>
                  <a:pt x="510059" y="300089"/>
                </a:lnTo>
                <a:lnTo>
                  <a:pt x="505829" y="299296"/>
                </a:lnTo>
                <a:lnTo>
                  <a:pt x="501335" y="298238"/>
                </a:lnTo>
                <a:lnTo>
                  <a:pt x="497369" y="296916"/>
                </a:lnTo>
                <a:lnTo>
                  <a:pt x="493139" y="295594"/>
                </a:lnTo>
                <a:lnTo>
                  <a:pt x="489173" y="293744"/>
                </a:lnTo>
                <a:lnTo>
                  <a:pt x="485208" y="291893"/>
                </a:lnTo>
                <a:lnTo>
                  <a:pt x="481242" y="290042"/>
                </a:lnTo>
                <a:lnTo>
                  <a:pt x="477805" y="287662"/>
                </a:lnTo>
                <a:lnTo>
                  <a:pt x="474104" y="285283"/>
                </a:lnTo>
                <a:lnTo>
                  <a:pt x="470402" y="282639"/>
                </a:lnTo>
                <a:lnTo>
                  <a:pt x="466701" y="279731"/>
                </a:lnTo>
                <a:lnTo>
                  <a:pt x="463264" y="276558"/>
                </a:lnTo>
                <a:lnTo>
                  <a:pt x="460356" y="273649"/>
                </a:lnTo>
                <a:lnTo>
                  <a:pt x="457183" y="270212"/>
                </a:lnTo>
                <a:lnTo>
                  <a:pt x="454275" y="266511"/>
                </a:lnTo>
                <a:lnTo>
                  <a:pt x="451367" y="262809"/>
                </a:lnTo>
                <a:lnTo>
                  <a:pt x="448987" y="258843"/>
                </a:lnTo>
                <a:lnTo>
                  <a:pt x="446608" y="254877"/>
                </a:lnTo>
                <a:lnTo>
                  <a:pt x="444493" y="251176"/>
                </a:lnTo>
                <a:lnTo>
                  <a:pt x="442642" y="246681"/>
                </a:lnTo>
                <a:lnTo>
                  <a:pt x="440792" y="242451"/>
                </a:lnTo>
                <a:lnTo>
                  <a:pt x="439205" y="238220"/>
                </a:lnTo>
                <a:lnTo>
                  <a:pt x="438148" y="233990"/>
                </a:lnTo>
                <a:lnTo>
                  <a:pt x="437090" y="229760"/>
                </a:lnTo>
                <a:lnTo>
                  <a:pt x="436297" y="225529"/>
                </a:lnTo>
                <a:lnTo>
                  <a:pt x="435768" y="221299"/>
                </a:lnTo>
                <a:lnTo>
                  <a:pt x="435240" y="216804"/>
                </a:lnTo>
                <a:lnTo>
                  <a:pt x="434975" y="212310"/>
                </a:lnTo>
                <a:lnTo>
                  <a:pt x="434975" y="208079"/>
                </a:lnTo>
                <a:lnTo>
                  <a:pt x="435240" y="203849"/>
                </a:lnTo>
                <a:lnTo>
                  <a:pt x="436033" y="199354"/>
                </a:lnTo>
                <a:lnTo>
                  <a:pt x="436562" y="194860"/>
                </a:lnTo>
                <a:lnTo>
                  <a:pt x="437355" y="190629"/>
                </a:lnTo>
                <a:lnTo>
                  <a:pt x="438412" y="186663"/>
                </a:lnTo>
                <a:lnTo>
                  <a:pt x="439734" y="182433"/>
                </a:lnTo>
                <a:lnTo>
                  <a:pt x="441056" y="178203"/>
                </a:lnTo>
                <a:lnTo>
                  <a:pt x="442907" y="174237"/>
                </a:lnTo>
                <a:lnTo>
                  <a:pt x="444757" y="170271"/>
                </a:lnTo>
                <a:lnTo>
                  <a:pt x="446608" y="166305"/>
                </a:lnTo>
                <a:lnTo>
                  <a:pt x="448987" y="162603"/>
                </a:lnTo>
                <a:lnTo>
                  <a:pt x="451367" y="159166"/>
                </a:lnTo>
                <a:lnTo>
                  <a:pt x="454011" y="155465"/>
                </a:lnTo>
                <a:lnTo>
                  <a:pt x="456919" y="152027"/>
                </a:lnTo>
                <a:lnTo>
                  <a:pt x="460091" y="148590"/>
                </a:lnTo>
                <a:lnTo>
                  <a:pt x="463000" y="145418"/>
                </a:lnTo>
                <a:lnTo>
                  <a:pt x="466437" y="142245"/>
                </a:lnTo>
                <a:lnTo>
                  <a:pt x="470138" y="139601"/>
                </a:lnTo>
                <a:lnTo>
                  <a:pt x="473839" y="136693"/>
                </a:lnTo>
                <a:lnTo>
                  <a:pt x="486001" y="128232"/>
                </a:lnTo>
                <a:lnTo>
                  <a:pt x="498162" y="120300"/>
                </a:lnTo>
                <a:lnTo>
                  <a:pt x="510588" y="112368"/>
                </a:lnTo>
                <a:lnTo>
                  <a:pt x="522749" y="105229"/>
                </a:lnTo>
                <a:lnTo>
                  <a:pt x="535440" y="97826"/>
                </a:lnTo>
                <a:lnTo>
                  <a:pt x="548130" y="90688"/>
                </a:lnTo>
                <a:lnTo>
                  <a:pt x="560820" y="83813"/>
                </a:lnTo>
                <a:lnTo>
                  <a:pt x="573511" y="77468"/>
                </a:lnTo>
                <a:lnTo>
                  <a:pt x="586730" y="71387"/>
                </a:lnTo>
                <a:lnTo>
                  <a:pt x="599949" y="65306"/>
                </a:lnTo>
                <a:lnTo>
                  <a:pt x="612903" y="59489"/>
                </a:lnTo>
                <a:lnTo>
                  <a:pt x="626122" y="53937"/>
                </a:lnTo>
                <a:lnTo>
                  <a:pt x="639341" y="48649"/>
                </a:lnTo>
                <a:lnTo>
                  <a:pt x="652825" y="43890"/>
                </a:lnTo>
                <a:lnTo>
                  <a:pt x="666572" y="39395"/>
                </a:lnTo>
                <a:lnTo>
                  <a:pt x="680056" y="34636"/>
                </a:lnTo>
                <a:lnTo>
                  <a:pt x="693539" y="30670"/>
                </a:lnTo>
                <a:lnTo>
                  <a:pt x="707287" y="26704"/>
                </a:lnTo>
                <a:lnTo>
                  <a:pt x="721035" y="23267"/>
                </a:lnTo>
                <a:lnTo>
                  <a:pt x="735047" y="19830"/>
                </a:lnTo>
                <a:lnTo>
                  <a:pt x="748795" y="16657"/>
                </a:lnTo>
                <a:lnTo>
                  <a:pt x="762807" y="14013"/>
                </a:lnTo>
                <a:lnTo>
                  <a:pt x="776819" y="11369"/>
                </a:lnTo>
                <a:lnTo>
                  <a:pt x="790831" y="9254"/>
                </a:lnTo>
                <a:lnTo>
                  <a:pt x="805108" y="7139"/>
                </a:lnTo>
                <a:lnTo>
                  <a:pt x="819120" y="5288"/>
                </a:lnTo>
                <a:lnTo>
                  <a:pt x="833396" y="3702"/>
                </a:lnTo>
                <a:lnTo>
                  <a:pt x="847408" y="2380"/>
                </a:lnTo>
                <a:lnTo>
                  <a:pt x="861685" y="1586"/>
                </a:lnTo>
                <a:lnTo>
                  <a:pt x="876226" y="793"/>
                </a:lnTo>
                <a:lnTo>
                  <a:pt x="890502" y="264"/>
                </a:lnTo>
                <a:lnTo>
                  <a:pt x="904779" y="264"/>
                </a:lnTo>
                <a:lnTo>
                  <a:pt x="906894" y="0"/>
                </a:lnTo>
                <a:close/>
              </a:path>
            </a:pathLst>
          </a:custGeom>
          <a:solidFill>
            <a:schemeClr val="bg1">
              <a:lumMod val="85000"/>
            </a:schemeClr>
          </a:solidFill>
          <a:ln>
            <a:noFill/>
          </a:ln>
          <a:effectLst>
            <a:innerShdw blurRad="114300">
              <a:prstClr val="black">
                <a:alpha val="50000"/>
              </a:prstClr>
            </a:innerShdw>
          </a:effectLst>
        </p:spPr>
        <p:txBody>
          <a:bodyPr lIns="68589" tIns="34295" rIns="68589" bIns="34295" anchor="ctr">
            <a:scene3d>
              <a:camera prst="orthographicFront"/>
              <a:lightRig rig="threePt" dir="t"/>
            </a:scene3d>
            <a:sp3d>
              <a:contourClr>
                <a:srgbClr val="FFFFFF"/>
              </a:contourClr>
            </a:sp3d>
          </a:bodyPr>
          <a:lstStyle/>
          <a:p>
            <a:pPr algn="ctr">
              <a:defRPr/>
            </a:pPr>
            <a:endParaRPr lang="zh-CN" altLang="en-US" dirty="0">
              <a:solidFill>
                <a:srgbClr val="0070C0"/>
              </a:solidFill>
              <a:latin typeface="微软雅黑" panose="020B0503020204020204" pitchFamily="34" charset="-122"/>
              <a:ea typeface="微软雅黑" panose="020B0503020204020204" pitchFamily="34" charset="-122"/>
            </a:endParaRPr>
          </a:p>
        </p:txBody>
      </p:sp>
      <p:pic>
        <p:nvPicPr>
          <p:cNvPr id="117" name="图片 116" descr="图片包含 物体&#10;&#10;描述已自动生成"/>
          <p:cNvPicPr>
            <a:picLocks noChangeAspect="1"/>
          </p:cNvPicPr>
          <p:nvPr/>
        </p:nvPicPr>
        <p:blipFill>
          <a:blip r:embed="rId44"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文本框 1"/>
          <p:cNvSpPr txBox="1"/>
          <p:nvPr/>
        </p:nvSpPr>
        <p:spPr>
          <a:xfrm>
            <a:off x="701675" y="665480"/>
            <a:ext cx="6127750" cy="337185"/>
          </a:xfrm>
          <a:prstGeom prst="rect">
            <a:avLst/>
          </a:prstGeom>
          <a:noFill/>
        </p:spPr>
        <p:txBody>
          <a:bodyPr wrap="square" rtlCol="0" anchor="t">
            <a:spAutoFit/>
          </a:bodyPr>
          <a:p>
            <a:r>
              <a:rPr lang="en-US" altLang="zh-CN" sz="16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OAuth </a:t>
            </a:r>
            <a:r>
              <a:rPr lang="zh-CN" altLang="en-US" sz="16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参数级安全机制在复杂调用链中的局限性</a:t>
            </a:r>
            <a:endParaRPr lang="en-US" altLang="zh-CN" sz="1600" spc="3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Tree>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par>
                                <p:cTn id="17" presetID="12" presetClass="entr" presetSubtype="8"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 calcmode="lin" valueType="num">
                                      <p:cBhvr additive="base">
                                        <p:cTn id="19" dur="500"/>
                                        <p:tgtEl>
                                          <p:spTgt spid="37"/>
                                        </p:tgtEl>
                                        <p:attrNameLst>
                                          <p:attrName>ppt_x</p:attrName>
                                        </p:attrNameLst>
                                      </p:cBhvr>
                                      <p:tavLst>
                                        <p:tav tm="0">
                                          <p:val>
                                            <p:strVal val="#ppt_x-#ppt_w*1.125000"/>
                                          </p:val>
                                        </p:tav>
                                        <p:tav tm="100000">
                                          <p:val>
                                            <p:strVal val="#ppt_x"/>
                                          </p:val>
                                        </p:tav>
                                      </p:tavLst>
                                    </p:anim>
                                    <p:animEffect transition="in" filter="wipe(right)">
                                      <p:cBhvr>
                                        <p:cTn id="20" dur="500"/>
                                        <p:tgtEl>
                                          <p:spTgt spid="37"/>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36"/>
                                        </p:tgtEl>
                                        <p:attrNameLst>
                                          <p:attrName>style.visibility</p:attrName>
                                        </p:attrNameLst>
                                      </p:cBhvr>
                                      <p:to>
                                        <p:strVal val="visible"/>
                                      </p:to>
                                    </p:set>
                                    <p:anim calcmode="lin" valueType="num">
                                      <p:cBhvr additive="base">
                                        <p:cTn id="23" dur="500"/>
                                        <p:tgtEl>
                                          <p:spTgt spid="36"/>
                                        </p:tgtEl>
                                        <p:attrNameLst>
                                          <p:attrName>ppt_x</p:attrName>
                                        </p:attrNameLst>
                                      </p:cBhvr>
                                      <p:tavLst>
                                        <p:tav tm="0">
                                          <p:val>
                                            <p:strVal val="#ppt_x-#ppt_w*1.125000"/>
                                          </p:val>
                                        </p:tav>
                                        <p:tav tm="100000">
                                          <p:val>
                                            <p:strVal val="#ppt_x"/>
                                          </p:val>
                                        </p:tav>
                                      </p:tavLst>
                                    </p:anim>
                                    <p:animEffect transition="in" filter="wipe(right)">
                                      <p:cBhvr>
                                        <p:cTn id="24" dur="500"/>
                                        <p:tgtEl>
                                          <p:spTgt spid="36"/>
                                        </p:tgtEl>
                                      </p:cBhvr>
                                    </p:animEffect>
                                  </p:childTnLst>
                                </p:cTn>
                              </p:par>
                            </p:childTnLst>
                          </p:cTn>
                        </p:par>
                        <p:par>
                          <p:cTn id="25" fill="hold">
                            <p:stCondLst>
                              <p:cond delay="1500"/>
                            </p:stCondLst>
                            <p:childTnLst>
                              <p:par>
                                <p:cTn id="26" presetID="10" presetClass="entr" presetSubtype="0" fill="hold" nodeType="after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500"/>
                                        <p:tgtEl>
                                          <p:spTgt spid="45"/>
                                        </p:tgtEl>
                                      </p:cBhvr>
                                    </p:animEffect>
                                  </p:childTnLst>
                                </p:cTn>
                              </p:par>
                              <p:par>
                                <p:cTn id="29" presetID="10" presetClass="entr" presetSubtype="0" fill="hold" nodeType="withEffect">
                                  <p:stCondLst>
                                    <p:cond delay="200"/>
                                  </p:stCondLst>
                                  <p:childTnLst>
                                    <p:set>
                                      <p:cBhvr>
                                        <p:cTn id="30" dur="1" fill="hold">
                                          <p:stCondLst>
                                            <p:cond delay="0"/>
                                          </p:stCondLst>
                                        </p:cTn>
                                        <p:tgtEl>
                                          <p:spTgt spid="113"/>
                                        </p:tgtEl>
                                        <p:attrNameLst>
                                          <p:attrName>style.visibility</p:attrName>
                                        </p:attrNameLst>
                                      </p:cBhvr>
                                      <p:to>
                                        <p:strVal val="visible"/>
                                      </p:to>
                                    </p:set>
                                    <p:animEffect transition="in" filter="fade">
                                      <p:cBhvr>
                                        <p:cTn id="31" dur="500"/>
                                        <p:tgtEl>
                                          <p:spTgt spid="113"/>
                                        </p:tgtEl>
                                      </p:cBhvr>
                                    </p:animEffect>
                                  </p:childTnLst>
                                </p:cTn>
                              </p:par>
                              <p:par>
                                <p:cTn id="32" presetID="10" presetClass="entr" presetSubtype="0" fill="hold" grpId="0" nodeType="withEffect">
                                  <p:stCondLst>
                                    <p:cond delay="200"/>
                                  </p:stCondLst>
                                  <p:childTnLst>
                                    <p:set>
                                      <p:cBhvr>
                                        <p:cTn id="33" dur="1" fill="hold">
                                          <p:stCondLst>
                                            <p:cond delay="0"/>
                                          </p:stCondLst>
                                        </p:cTn>
                                        <p:tgtEl>
                                          <p:spTgt spid="116"/>
                                        </p:tgtEl>
                                        <p:attrNameLst>
                                          <p:attrName>style.visibility</p:attrName>
                                        </p:attrNameLst>
                                      </p:cBhvr>
                                      <p:to>
                                        <p:strVal val="visible"/>
                                      </p:to>
                                    </p:set>
                                    <p:animEffect transition="in" filter="fade">
                                      <p:cBhvr>
                                        <p:cTn id="34" dur="500"/>
                                        <p:tgtEl>
                                          <p:spTgt spid="116"/>
                                        </p:tgtEl>
                                      </p:cBhvr>
                                    </p:animEffect>
                                  </p:childTnLst>
                                </p:cTn>
                              </p:par>
                              <p:par>
                                <p:cTn id="35" presetID="22" presetClass="entr" presetSubtype="8" fill="hold" nodeType="withEffect">
                                  <p:stCondLst>
                                    <p:cond delay="200"/>
                                  </p:stCondLst>
                                  <p:childTnLst>
                                    <p:set>
                                      <p:cBhvr>
                                        <p:cTn id="36" dur="1" fill="hold">
                                          <p:stCondLst>
                                            <p:cond delay="0"/>
                                          </p:stCondLst>
                                        </p:cTn>
                                        <p:tgtEl>
                                          <p:spTgt spid="62"/>
                                        </p:tgtEl>
                                        <p:attrNameLst>
                                          <p:attrName>style.visibility</p:attrName>
                                        </p:attrNameLst>
                                      </p:cBhvr>
                                      <p:to>
                                        <p:strVal val="visible"/>
                                      </p:to>
                                    </p:set>
                                    <p:animEffect transition="in" filter="wipe(left)">
                                      <p:cBhvr>
                                        <p:cTn id="37" dur="500"/>
                                        <p:tgtEl>
                                          <p:spTgt spid="62"/>
                                        </p:tgtEl>
                                      </p:cBhvr>
                                    </p:animEffect>
                                  </p:childTnLst>
                                </p:cTn>
                              </p:par>
                              <p:par>
                                <p:cTn id="38" presetID="22" presetClass="entr" presetSubtype="8" fill="hold" nodeType="withEffect">
                                  <p:stCondLst>
                                    <p:cond delay="600"/>
                                  </p:stCondLst>
                                  <p:childTnLst>
                                    <p:set>
                                      <p:cBhvr>
                                        <p:cTn id="39" dur="1" fill="hold">
                                          <p:stCondLst>
                                            <p:cond delay="0"/>
                                          </p:stCondLst>
                                        </p:cTn>
                                        <p:tgtEl>
                                          <p:spTgt spid="88"/>
                                        </p:tgtEl>
                                        <p:attrNameLst>
                                          <p:attrName>style.visibility</p:attrName>
                                        </p:attrNameLst>
                                      </p:cBhvr>
                                      <p:to>
                                        <p:strVal val="visible"/>
                                      </p:to>
                                    </p:set>
                                    <p:animEffect transition="in" filter="wipe(left)">
                                      <p:cBhvr>
                                        <p:cTn id="40" dur="500"/>
                                        <p:tgtEl>
                                          <p:spTgt spid="88"/>
                                        </p:tgtEl>
                                      </p:cBhvr>
                                    </p:animEffect>
                                  </p:childTnLst>
                                </p:cTn>
                              </p:par>
                              <p:par>
                                <p:cTn id="41" presetID="22" presetClass="entr" presetSubtype="2" fill="hold" nodeType="withEffect">
                                  <p:stCondLst>
                                    <p:cond delay="600"/>
                                  </p:stCondLst>
                                  <p:childTnLst>
                                    <p:set>
                                      <p:cBhvr>
                                        <p:cTn id="42" dur="1" fill="hold">
                                          <p:stCondLst>
                                            <p:cond delay="0"/>
                                          </p:stCondLst>
                                        </p:cTn>
                                        <p:tgtEl>
                                          <p:spTgt spid="55"/>
                                        </p:tgtEl>
                                        <p:attrNameLst>
                                          <p:attrName>style.visibility</p:attrName>
                                        </p:attrNameLst>
                                      </p:cBhvr>
                                      <p:to>
                                        <p:strVal val="visible"/>
                                      </p:to>
                                    </p:set>
                                    <p:animEffect transition="in" filter="wipe(right)">
                                      <p:cBhvr>
                                        <p:cTn id="43" dur="500"/>
                                        <p:tgtEl>
                                          <p:spTgt spid="55"/>
                                        </p:tgtEl>
                                      </p:cBhvr>
                                    </p:animEffect>
                                  </p:childTnLst>
                                </p:cTn>
                              </p:par>
                              <p:par>
                                <p:cTn id="44" presetID="22" presetClass="entr" presetSubtype="2" fill="hold" nodeType="withEffect">
                                  <p:stCondLst>
                                    <p:cond delay="1100"/>
                                  </p:stCondLst>
                                  <p:childTnLst>
                                    <p:set>
                                      <p:cBhvr>
                                        <p:cTn id="45" dur="1" fill="hold">
                                          <p:stCondLst>
                                            <p:cond delay="0"/>
                                          </p:stCondLst>
                                        </p:cTn>
                                        <p:tgtEl>
                                          <p:spTgt spid="103"/>
                                        </p:tgtEl>
                                        <p:attrNameLst>
                                          <p:attrName>style.visibility</p:attrName>
                                        </p:attrNameLst>
                                      </p:cBhvr>
                                      <p:to>
                                        <p:strVal val="visible"/>
                                      </p:to>
                                    </p:set>
                                    <p:animEffect transition="in" filter="wipe(right)">
                                      <p:cBhvr>
                                        <p:cTn id="46" dur="500"/>
                                        <p:tgtEl>
                                          <p:spTgt spid="103"/>
                                        </p:tgtEl>
                                      </p:cBhvr>
                                    </p:animEffect>
                                  </p:childTnLst>
                                </p:cTn>
                              </p:par>
                              <p:par>
                                <p:cTn id="47" presetID="22" presetClass="entr" presetSubtype="2" fill="hold" nodeType="withEffect">
                                  <p:stCondLst>
                                    <p:cond delay="900"/>
                                  </p:stCondLst>
                                  <p:childTnLst>
                                    <p:set>
                                      <p:cBhvr>
                                        <p:cTn id="48" dur="1" fill="hold">
                                          <p:stCondLst>
                                            <p:cond delay="0"/>
                                          </p:stCondLst>
                                        </p:cTn>
                                        <p:tgtEl>
                                          <p:spTgt spid="48"/>
                                        </p:tgtEl>
                                        <p:attrNameLst>
                                          <p:attrName>style.visibility</p:attrName>
                                        </p:attrNameLst>
                                      </p:cBhvr>
                                      <p:to>
                                        <p:strVal val="visible"/>
                                      </p:to>
                                    </p:set>
                                    <p:animEffect transition="in" filter="wipe(right)">
                                      <p:cBhvr>
                                        <p:cTn id="49" dur="500"/>
                                        <p:tgtEl>
                                          <p:spTgt spid="48"/>
                                        </p:tgtEl>
                                      </p:cBhvr>
                                    </p:animEffect>
                                  </p:childTnLst>
                                </p:cTn>
                              </p:par>
                              <p:par>
                                <p:cTn id="50" presetID="22" presetClass="entr" presetSubtype="2" fill="hold" nodeType="withEffect">
                                  <p:stCondLst>
                                    <p:cond delay="1400"/>
                                  </p:stCondLst>
                                  <p:childTnLst>
                                    <p:set>
                                      <p:cBhvr>
                                        <p:cTn id="51" dur="1" fill="hold">
                                          <p:stCondLst>
                                            <p:cond delay="0"/>
                                          </p:stCondLst>
                                        </p:cTn>
                                        <p:tgtEl>
                                          <p:spTgt spid="98"/>
                                        </p:tgtEl>
                                        <p:attrNameLst>
                                          <p:attrName>style.visibility</p:attrName>
                                        </p:attrNameLst>
                                      </p:cBhvr>
                                      <p:to>
                                        <p:strVal val="visible"/>
                                      </p:to>
                                    </p:set>
                                    <p:animEffect transition="in" filter="wipe(right)">
                                      <p:cBhvr>
                                        <p:cTn id="52" dur="500"/>
                                        <p:tgtEl>
                                          <p:spTgt spid="98"/>
                                        </p:tgtEl>
                                      </p:cBhvr>
                                    </p:animEffect>
                                  </p:childTnLst>
                                </p:cTn>
                              </p:par>
                              <p:par>
                                <p:cTn id="53" presetID="22" presetClass="entr" presetSubtype="8" fill="hold" nodeType="withEffect">
                                  <p:stCondLst>
                                    <p:cond delay="1200"/>
                                  </p:stCondLst>
                                  <p:childTnLst>
                                    <p:set>
                                      <p:cBhvr>
                                        <p:cTn id="54" dur="1" fill="hold">
                                          <p:stCondLst>
                                            <p:cond delay="0"/>
                                          </p:stCondLst>
                                        </p:cTn>
                                        <p:tgtEl>
                                          <p:spTgt spid="38"/>
                                        </p:tgtEl>
                                        <p:attrNameLst>
                                          <p:attrName>style.visibility</p:attrName>
                                        </p:attrNameLst>
                                      </p:cBhvr>
                                      <p:to>
                                        <p:strVal val="visible"/>
                                      </p:to>
                                    </p:set>
                                    <p:animEffect transition="in" filter="wipe(left)">
                                      <p:cBhvr>
                                        <p:cTn id="55" dur="500"/>
                                        <p:tgtEl>
                                          <p:spTgt spid="38"/>
                                        </p:tgtEl>
                                      </p:cBhvr>
                                    </p:animEffect>
                                  </p:childTnLst>
                                </p:cTn>
                              </p:par>
                              <p:par>
                                <p:cTn id="56" presetID="22" presetClass="entr" presetSubtype="8" fill="hold" nodeType="withEffect">
                                  <p:stCondLst>
                                    <p:cond delay="1700"/>
                                  </p:stCondLst>
                                  <p:childTnLst>
                                    <p:set>
                                      <p:cBhvr>
                                        <p:cTn id="57" dur="1" fill="hold">
                                          <p:stCondLst>
                                            <p:cond delay="0"/>
                                          </p:stCondLst>
                                        </p:cTn>
                                        <p:tgtEl>
                                          <p:spTgt spid="83"/>
                                        </p:tgtEl>
                                        <p:attrNameLst>
                                          <p:attrName>style.visibility</p:attrName>
                                        </p:attrNameLst>
                                      </p:cBhvr>
                                      <p:to>
                                        <p:strVal val="visible"/>
                                      </p:to>
                                    </p:set>
                                    <p:animEffect transition="in" filter="wipe(left)">
                                      <p:cBhvr>
                                        <p:cTn id="58" dur="500"/>
                                        <p:tgtEl>
                                          <p:spTgt spid="83"/>
                                        </p:tgtEl>
                                      </p:cBhvr>
                                    </p:animEffect>
                                  </p:childTnLst>
                                </p:cTn>
                              </p:par>
                              <p:par>
                                <p:cTn id="59" presetID="8" presetClass="emph" presetSubtype="0" fill="hold" grpId="1" nodeType="withEffect">
                                  <p:stCondLst>
                                    <p:cond delay="0"/>
                                  </p:stCondLst>
                                  <p:childTnLst>
                                    <p:animRot by="21600000">
                                      <p:cBhvr>
                                        <p:cTn id="60" dur="2000" fill="hold"/>
                                        <p:tgtEl>
                                          <p:spTgt spid="1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36" grpId="0"/>
      <p:bldP spid="116" grpId="0" animBg="1"/>
      <p:bldP spid="116" grpId="1"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679E2A"/>
                </a:solidFill>
              </a:rPr>
              <a:t>03</a:t>
            </a:r>
            <a:endParaRPr lang="en-US" altLang="zh-CN" sz="4500" b="1" dirty="0">
              <a:solidFill>
                <a:srgbClr val="679E2A"/>
              </a:solidFill>
            </a:endParaRPr>
          </a:p>
        </p:txBody>
      </p:sp>
      <p:sp>
        <p:nvSpPr>
          <p:cNvPr id="20485" name="文本框 13"/>
          <p:cNvSpPr txBox="1">
            <a:spLocks noChangeArrowheads="1"/>
          </p:cNvSpPr>
          <p:nvPr/>
        </p:nvSpPr>
        <p:spPr bwMode="auto">
          <a:xfrm>
            <a:off x="2890850" y="2968229"/>
            <a:ext cx="3362300" cy="575945"/>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研究内容及目标</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299"/>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51280" cy="39878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研究内容</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1890967"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RESEARCH IDEAS</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4"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38" name="组合 37"/>
          <p:cNvGrpSpPr/>
          <p:nvPr>
            <p:custDataLst>
              <p:tags r:id="rId1"/>
            </p:custDataLst>
          </p:nvPr>
        </p:nvGrpSpPr>
        <p:grpSpPr>
          <a:xfrm>
            <a:off x="847017" y="2283862"/>
            <a:ext cx="3263265" cy="2671446"/>
            <a:chOff x="5436526" y="946631"/>
            <a:chExt cx="3262700" cy="2596128"/>
          </a:xfrm>
        </p:grpSpPr>
        <p:sp>
          <p:nvSpPr>
            <p:cNvPr id="39" name="TextBox 38"/>
            <p:cNvSpPr txBox="1"/>
            <p:nvPr>
              <p:custDataLst>
                <p:tags r:id="rId2"/>
              </p:custDataLst>
            </p:nvPr>
          </p:nvSpPr>
          <p:spPr>
            <a:xfrm>
              <a:off x="5436526" y="1409454"/>
              <a:ext cx="3262700" cy="2133305"/>
            </a:xfrm>
            <a:prstGeom prst="rect">
              <a:avLst/>
            </a:prstGeom>
            <a:noFill/>
          </p:spPr>
          <p:txBody>
            <a:bodyPr wrap="square" lIns="91431" tIns="45715" rIns="91431" bIns="45715" rtlCol="0">
              <a:noAutofit/>
            </a:bodyPr>
            <a:lstStyle/>
            <a:p>
              <a:pPr>
                <a:lnSpc>
                  <a:spcPct val="13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sym typeface="+mn-ea"/>
                </a:rPr>
                <a:t>• </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OAuth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协议中各关键参数在协议流程中承担的安全语义；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3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各类攻击如何利用</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参数生成、传递</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或</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rPr>
                <a:t>校验</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阶段的实现缺陷破坏授权上下文的一致性；</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3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不同攻击之间在根本成因上的共性，以及这些问题在现实部署中的高发原因。</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40" name="TextBox 39"/>
            <p:cNvSpPr txBox="1"/>
            <p:nvPr>
              <p:custDataLst>
                <p:tags r:id="rId3"/>
              </p:custDataLst>
            </p:nvPr>
          </p:nvSpPr>
          <p:spPr>
            <a:xfrm>
              <a:off x="5584455" y="946631"/>
              <a:ext cx="2966841" cy="313485"/>
            </a:xfrm>
            <a:prstGeom prst="rect">
              <a:avLst/>
            </a:prstGeom>
            <a:noFill/>
          </p:spPr>
          <p:txBody>
            <a:bodyPr wrap="square" lIns="91431" tIns="0" rIns="91431" bIns="0" rtlCol="0" anchor="t">
              <a:spAutoFit/>
            </a:bodyPr>
            <a:lstStyle/>
            <a:p>
              <a:pPr>
                <a:lnSpc>
                  <a:spcPct val="150000"/>
                </a:lnSpc>
              </a:pP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OAuth </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实现安全的参数化分析</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grpSp>
      <p:grpSp>
        <p:nvGrpSpPr>
          <p:cNvPr id="55" name="组合 54"/>
          <p:cNvGrpSpPr/>
          <p:nvPr>
            <p:custDataLst>
              <p:tags r:id="rId4"/>
            </p:custDataLst>
          </p:nvPr>
        </p:nvGrpSpPr>
        <p:grpSpPr>
          <a:xfrm>
            <a:off x="1701457" y="769273"/>
            <a:ext cx="1206806" cy="1206613"/>
            <a:chOff x="2201071" y="3406041"/>
            <a:chExt cx="1805286" cy="1805938"/>
          </a:xfrm>
        </p:grpSpPr>
        <p:grpSp>
          <p:nvGrpSpPr>
            <p:cNvPr id="56" name="组合 55"/>
            <p:cNvGrpSpPr/>
            <p:nvPr/>
          </p:nvGrpSpPr>
          <p:grpSpPr>
            <a:xfrm>
              <a:off x="2201071" y="3406041"/>
              <a:ext cx="1805286" cy="1805938"/>
              <a:chOff x="4345444" y="2542859"/>
              <a:chExt cx="1810550" cy="1811205"/>
            </a:xfrm>
          </p:grpSpPr>
          <p:grpSp>
            <p:nvGrpSpPr>
              <p:cNvPr id="58" name="组合 57"/>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60" name="同心圆 59"/>
                <p:cNvSpPr/>
                <p:nvPr>
                  <p:custDataLst>
                    <p:tags r:id="rId5"/>
                  </p:custDataLst>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椭圆 60"/>
                <p:cNvSpPr/>
                <p:nvPr>
                  <p:custDataLst>
                    <p:tags r:id="rId6"/>
                  </p:custDataLst>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9" name="椭圆 58"/>
              <p:cNvSpPr/>
              <p:nvPr>
                <p:custDataLst>
                  <p:tags r:id="rId7"/>
                </p:custDataLst>
              </p:nvPr>
            </p:nvSpPr>
            <p:spPr>
              <a:xfrm>
                <a:off x="4565570" y="2763062"/>
                <a:ext cx="1370298" cy="137079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TextBox 56"/>
            <p:cNvSpPr txBox="1"/>
            <p:nvPr>
              <p:custDataLst>
                <p:tags r:id="rId8"/>
              </p:custDataLst>
            </p:nvPr>
          </p:nvSpPr>
          <p:spPr>
            <a:xfrm>
              <a:off x="2783366" y="3999093"/>
              <a:ext cx="850169" cy="551235"/>
            </a:xfrm>
            <a:prstGeom prst="rect">
              <a:avLst/>
            </a:prstGeom>
            <a:noFill/>
          </p:spPr>
          <p:txBody>
            <a:bodyPr wrap="square" rtlCol="0">
              <a:spAutoFit/>
            </a:bodyPr>
            <a:lstStyle/>
            <a:p>
              <a:r>
                <a:rPr lang="en-US" dirty="0">
                  <a:solidFill>
                    <a:schemeClr val="bg1"/>
                  </a:solidFill>
                  <a:latin typeface="微软雅黑" panose="020B0503020204020204" pitchFamily="34" charset="-122"/>
                  <a:ea typeface="微软雅黑" panose="020B0503020204020204" pitchFamily="34" charset="-122"/>
                </a:rPr>
                <a:t>01</a:t>
              </a:r>
              <a:endParaRPr lang="en-US" dirty="0">
                <a:solidFill>
                  <a:schemeClr val="bg1"/>
                </a:solidFill>
                <a:latin typeface="微软雅黑" panose="020B0503020204020204" pitchFamily="34" charset="-122"/>
                <a:ea typeface="微软雅黑" panose="020B0503020204020204" pitchFamily="34" charset="-122"/>
              </a:endParaRPr>
            </a:p>
          </p:txBody>
        </p:sp>
      </p:grpSp>
      <p:grpSp>
        <p:nvGrpSpPr>
          <p:cNvPr id="90" name="组合 89"/>
          <p:cNvGrpSpPr/>
          <p:nvPr>
            <p:custDataLst>
              <p:tags r:id="rId9"/>
            </p:custDataLst>
          </p:nvPr>
        </p:nvGrpSpPr>
        <p:grpSpPr>
          <a:xfrm>
            <a:off x="6441509" y="746413"/>
            <a:ext cx="1206806" cy="1206613"/>
            <a:chOff x="4811090" y="3406041"/>
            <a:chExt cx="1805286" cy="1805938"/>
          </a:xfrm>
        </p:grpSpPr>
        <p:grpSp>
          <p:nvGrpSpPr>
            <p:cNvPr id="91" name="组合 90"/>
            <p:cNvGrpSpPr/>
            <p:nvPr/>
          </p:nvGrpSpPr>
          <p:grpSpPr>
            <a:xfrm>
              <a:off x="4811090" y="3406041"/>
              <a:ext cx="1805286" cy="1805938"/>
              <a:chOff x="4345444" y="2542859"/>
              <a:chExt cx="1810550" cy="1811205"/>
            </a:xfrm>
          </p:grpSpPr>
          <p:grpSp>
            <p:nvGrpSpPr>
              <p:cNvPr id="93" name="组合 92"/>
              <p:cNvGrpSpPr/>
              <p:nvPr/>
            </p:nvGrpSpPr>
            <p:grpSpPr>
              <a:xfrm>
                <a:off x="4345444" y="2542859"/>
                <a:ext cx="1810550" cy="1811205"/>
                <a:chOff x="1463339" y="1072758"/>
                <a:chExt cx="1546058" cy="1546058"/>
              </a:xfrm>
              <a:effectLst>
                <a:outerShdw blurRad="330200" dist="215900" dir="6900000" sx="91000" sy="91000" algn="t" rotWithShape="0">
                  <a:prstClr val="black">
                    <a:alpha val="49000"/>
                  </a:prstClr>
                </a:outerShdw>
              </a:effectLst>
            </p:grpSpPr>
            <p:sp>
              <p:nvSpPr>
                <p:cNvPr id="95" name="同心圆 94"/>
                <p:cNvSpPr/>
                <p:nvPr>
                  <p:custDataLst>
                    <p:tags r:id="rId10"/>
                  </p:custDataLst>
                </p:nvPr>
              </p:nvSpPr>
              <p:spPr>
                <a:xfrm>
                  <a:off x="1463339" y="1072758"/>
                  <a:ext cx="1546058" cy="1546058"/>
                </a:xfrm>
                <a:prstGeom prst="donut">
                  <a:avLst>
                    <a:gd name="adj" fmla="val 4879"/>
                  </a:avLst>
                </a:prstGeom>
                <a:gradFill>
                  <a:gsLst>
                    <a:gs pos="0">
                      <a:schemeClr val="bg1">
                        <a:lumMod val="95000"/>
                      </a:schemeClr>
                    </a:gs>
                    <a:gs pos="55000">
                      <a:schemeClr val="bg1">
                        <a:lumMod val="95000"/>
                      </a:schemeClr>
                    </a:gs>
                    <a:gs pos="100000">
                      <a:schemeClr val="bg1">
                        <a:lumMod val="8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6" name="椭圆 95"/>
                <p:cNvSpPr/>
                <p:nvPr>
                  <p:custDataLst>
                    <p:tags r:id="rId11"/>
                  </p:custDataLst>
                </p:nvPr>
              </p:nvSpPr>
              <p:spPr>
                <a:xfrm>
                  <a:off x="1484232" y="1093651"/>
                  <a:ext cx="1504274" cy="1504273"/>
                </a:xfrm>
                <a:prstGeom prst="ellipse">
                  <a:avLst/>
                </a:prstGeom>
                <a:gradFill>
                  <a:gsLst>
                    <a:gs pos="0">
                      <a:schemeClr val="bg1"/>
                    </a:gs>
                    <a:gs pos="51000">
                      <a:schemeClr val="bg1">
                        <a:lumMod val="95000"/>
                      </a:schemeClr>
                    </a:gs>
                    <a:gs pos="100000">
                      <a:schemeClr val="bg1">
                        <a:lumMod val="8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椭圆 93"/>
              <p:cNvSpPr/>
              <p:nvPr>
                <p:custDataLst>
                  <p:tags r:id="rId12"/>
                </p:custDataLst>
              </p:nvPr>
            </p:nvSpPr>
            <p:spPr>
              <a:xfrm>
                <a:off x="4565570" y="2763062"/>
                <a:ext cx="1370298" cy="1370793"/>
              </a:xfrm>
              <a:prstGeom prst="ellipse">
                <a:avLst/>
              </a:prstGeom>
              <a:solidFill>
                <a:srgbClr val="679E2A"/>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2" name="TextBox 91"/>
            <p:cNvSpPr txBox="1"/>
            <p:nvPr>
              <p:custDataLst>
                <p:tags r:id="rId13"/>
              </p:custDataLst>
            </p:nvPr>
          </p:nvSpPr>
          <p:spPr>
            <a:xfrm>
              <a:off x="5359187" y="3999094"/>
              <a:ext cx="734280" cy="551235"/>
            </a:xfrm>
            <a:prstGeom prst="rect">
              <a:avLst/>
            </a:prstGeom>
            <a:noFill/>
          </p:spPr>
          <p:txBody>
            <a:bodyPr wrap="square" rtlCol="0">
              <a:spAutoFit/>
            </a:bodyPr>
            <a:lstStyle/>
            <a:p>
              <a:r>
                <a:rPr lang="en-US" dirty="0">
                  <a:solidFill>
                    <a:schemeClr val="bg1"/>
                  </a:solidFill>
                  <a:latin typeface="微软雅黑" panose="020B0503020204020204" pitchFamily="34" charset="-122"/>
                  <a:ea typeface="微软雅黑" panose="020B0503020204020204" pitchFamily="34" charset="-122"/>
                </a:rPr>
                <a:t>02</a:t>
              </a:r>
              <a:endParaRPr lang="en-US" dirty="0">
                <a:solidFill>
                  <a:schemeClr val="bg1"/>
                </a:solidFill>
                <a:latin typeface="微软雅黑" panose="020B0503020204020204" pitchFamily="34" charset="-122"/>
                <a:ea typeface="微软雅黑" panose="020B0503020204020204" pitchFamily="34" charset="-122"/>
              </a:endParaRPr>
            </a:p>
          </p:txBody>
        </p:sp>
      </p:grpSp>
      <p:grpSp>
        <p:nvGrpSpPr>
          <p:cNvPr id="104" name="组合 103"/>
          <p:cNvGrpSpPr/>
          <p:nvPr>
            <p:custDataLst>
              <p:tags r:id="rId14"/>
            </p:custDataLst>
          </p:nvPr>
        </p:nvGrpSpPr>
        <p:grpSpPr>
          <a:xfrm>
            <a:off x="5017744" y="2211705"/>
            <a:ext cx="3938295" cy="1985645"/>
            <a:chOff x="5011759" y="399266"/>
            <a:chExt cx="3780161" cy="1421226"/>
          </a:xfrm>
        </p:grpSpPr>
        <p:sp>
          <p:nvSpPr>
            <p:cNvPr id="105" name="TextBox 104"/>
            <p:cNvSpPr txBox="1"/>
            <p:nvPr>
              <p:custDataLst>
                <p:tags r:id="rId15"/>
              </p:custDataLst>
            </p:nvPr>
          </p:nvSpPr>
          <p:spPr>
            <a:xfrm>
              <a:off x="5011759" y="1069656"/>
              <a:ext cx="3735059" cy="750836"/>
            </a:xfrm>
            <a:prstGeom prst="rect">
              <a:avLst/>
            </a:prstGeom>
            <a:noFill/>
          </p:spPr>
          <p:txBody>
            <a:bodyPr wrap="square" lIns="91431" tIns="45715" rIns="91431" bIns="45715" rtlCol="0">
              <a:spAutoFit/>
            </a:bodyPr>
            <a:lstStyle/>
            <a:p>
              <a:pPr>
                <a:lnSpc>
                  <a:spcPct val="13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Gateway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MCP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架构中的位置与功能边界设计；</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3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工具能力声明与授权约束的结构化表达方式；</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3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授权流程中能力分级、权限协商与安全策略执行机制；</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a:p>
              <a:pPr>
                <a:lnSpc>
                  <a:spcPct val="130000"/>
                </a:lnSpc>
              </a:pP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rPr>
                <a:t>• Gateway </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在令牌使用约束、撤销与审计中的作用。</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6" name="TextBox 105"/>
            <p:cNvSpPr txBox="1"/>
            <p:nvPr>
              <p:custDataLst>
                <p:tags r:id="rId16"/>
              </p:custDataLst>
            </p:nvPr>
          </p:nvSpPr>
          <p:spPr>
            <a:xfrm>
              <a:off x="5011784" y="399266"/>
              <a:ext cx="3780136" cy="462228"/>
            </a:xfrm>
            <a:prstGeom prst="rect">
              <a:avLst/>
            </a:prstGeom>
            <a:noFill/>
          </p:spPr>
          <p:txBody>
            <a:bodyPr wrap="square" lIns="91431" tIns="0" rIns="91431" bIns="0" rtlCol="0" anchor="t">
              <a:spAutoFit/>
            </a:bodyPr>
            <a:lstStyle/>
            <a:p>
              <a:pPr>
                <a:lnSpc>
                  <a:spcPct val="150000"/>
                </a:lnSpc>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基于</a:t>
              </a: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 Gateway </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的</a:t>
              </a:r>
              <a:r>
                <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 MCP-AuthZ </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rPr>
                <a:t>授权增强架构设计与实现</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p:txBody>
        </p:sp>
      </p:grpSp>
      <p:pic>
        <p:nvPicPr>
          <p:cNvPr id="53" name="图片 52" descr="图片包含 物体&#10;&#10;描述已自动生成"/>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18"/>
    </p:custDataLst>
  </p:cSld>
  <p:clrMapOvr>
    <a:masterClrMapping/>
  </p:clrMapOvr>
  <p:transition spd="slow" advClick="0" advTm="0">
    <p:wipe/>
  </p:transition>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 presetClass="entr" presetSubtype="12" accel="58000" fill="hold" nodeType="afterEffect" p14:presetBounceEnd="58000">
                                      <p:stCondLst>
                                        <p:cond delay="0"/>
                                      </p:stCondLst>
                                      <p:childTnLst>
                                        <p:set>
                                          <p:cBhvr>
                                            <p:cTn id="27" dur="1" fill="hold">
                                              <p:stCondLst>
                                                <p:cond delay="0"/>
                                              </p:stCondLst>
                                            </p:cTn>
                                            <p:tgtEl>
                                              <p:spTgt spid="55"/>
                                            </p:tgtEl>
                                            <p:attrNameLst>
                                              <p:attrName>style.visibility</p:attrName>
                                            </p:attrNameLst>
                                          </p:cBhvr>
                                          <p:to>
                                            <p:strVal val="visible"/>
                                          </p:to>
                                        </p:set>
                                        <p:anim calcmode="lin" valueType="num" p14:bounceEnd="58000">
                                          <p:cBhvr additive="base">
                                            <p:cTn id="28" dur="2000" fill="hold"/>
                                            <p:tgtEl>
                                              <p:spTgt spid="55"/>
                                            </p:tgtEl>
                                            <p:attrNameLst>
                                              <p:attrName>ppt_x</p:attrName>
                                            </p:attrNameLst>
                                          </p:cBhvr>
                                          <p:tavLst>
                                            <p:tav tm="0">
                                              <p:val>
                                                <p:strVal val="0-#ppt_w/2"/>
                                              </p:val>
                                            </p:tav>
                                            <p:tav tm="100000">
                                              <p:val>
                                                <p:strVal val="#ppt_x"/>
                                              </p:val>
                                            </p:tav>
                                          </p:tavLst>
                                        </p:anim>
                                        <p:anim calcmode="lin" valueType="num" p14:bounceEnd="58000">
                                          <p:cBhvr additive="base">
                                            <p:cTn id="29" dur="2000" fill="hold"/>
                                            <p:tgtEl>
                                              <p:spTgt spid="55"/>
                                            </p:tgtEl>
                                            <p:attrNameLst>
                                              <p:attrName>ppt_y</p:attrName>
                                            </p:attrNameLst>
                                          </p:cBhvr>
                                          <p:tavLst>
                                            <p:tav tm="0">
                                              <p:val>
                                                <p:strVal val="1+#ppt_h/2"/>
                                              </p:val>
                                            </p:tav>
                                            <p:tav tm="100000">
                                              <p:val>
                                                <p:strVal val="#ppt_y"/>
                                              </p:val>
                                            </p:tav>
                                          </p:tavLst>
                                        </p:anim>
                                      </p:childTnLst>
                                    </p:cTn>
                                  </p:par>
                                  <p:par>
                                    <p:cTn id="30" presetID="2" presetClass="entr" presetSubtype="3" accel="58000" fill="hold" nodeType="withEffect" p14:presetBounceEnd="58000">
                                      <p:stCondLst>
                                        <p:cond delay="0"/>
                                      </p:stCondLst>
                                      <p:childTnLst>
                                        <p:set>
                                          <p:cBhvr>
                                            <p:cTn id="31" dur="1" fill="hold">
                                              <p:stCondLst>
                                                <p:cond delay="0"/>
                                              </p:stCondLst>
                                            </p:cTn>
                                            <p:tgtEl>
                                              <p:spTgt spid="90"/>
                                            </p:tgtEl>
                                            <p:attrNameLst>
                                              <p:attrName>style.visibility</p:attrName>
                                            </p:attrNameLst>
                                          </p:cBhvr>
                                          <p:to>
                                            <p:strVal val="visible"/>
                                          </p:to>
                                        </p:set>
                                        <p:anim calcmode="lin" valueType="num" p14:bounceEnd="58000">
                                          <p:cBhvr additive="base">
                                            <p:cTn id="32" dur="2000" fill="hold"/>
                                            <p:tgtEl>
                                              <p:spTgt spid="90"/>
                                            </p:tgtEl>
                                            <p:attrNameLst>
                                              <p:attrName>ppt_x</p:attrName>
                                            </p:attrNameLst>
                                          </p:cBhvr>
                                          <p:tavLst>
                                            <p:tav tm="0">
                                              <p:val>
                                                <p:strVal val="1+#ppt_w/2"/>
                                              </p:val>
                                            </p:tav>
                                            <p:tav tm="100000">
                                              <p:val>
                                                <p:strVal val="#ppt_x"/>
                                              </p:val>
                                            </p:tav>
                                          </p:tavLst>
                                        </p:anim>
                                        <p:anim calcmode="lin" valueType="num" p14:bounceEnd="58000">
                                          <p:cBhvr additive="base">
                                            <p:cTn id="33" dur="2000" fill="hold"/>
                                            <p:tgtEl>
                                              <p:spTgt spid="90"/>
                                            </p:tgtEl>
                                            <p:attrNameLst>
                                              <p:attrName>ppt_y</p:attrName>
                                            </p:attrNameLst>
                                          </p:cBhvr>
                                          <p:tavLst>
                                            <p:tav tm="0">
                                              <p:val>
                                                <p:strVal val="0-#ppt_h/2"/>
                                              </p:val>
                                            </p:tav>
                                            <p:tav tm="100000">
                                              <p:val>
                                                <p:strVal val="#ppt_y"/>
                                              </p:val>
                                            </p:tav>
                                          </p:tavLst>
                                        </p:anim>
                                      </p:childTnLst>
                                    </p:cTn>
                                  </p:par>
                                </p:childTnLst>
                              </p:cTn>
                            </p:par>
                            <p:par>
                              <p:cTn id="34" fill="hold">
                                <p:stCondLst>
                                  <p:cond delay="3500"/>
                                </p:stCondLst>
                                <p:childTnLst>
                                  <p:par>
                                    <p:cTn id="35" presetID="42" presetClass="entr" presetSubtype="0" fill="hold" nodeType="after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anim calcmode="lin" valueType="num">
                                          <p:cBhvr>
                                            <p:cTn id="38" dur="500" fill="hold"/>
                                            <p:tgtEl>
                                              <p:spTgt spid="38"/>
                                            </p:tgtEl>
                                            <p:attrNameLst>
                                              <p:attrName>ppt_x</p:attrName>
                                            </p:attrNameLst>
                                          </p:cBhvr>
                                          <p:tavLst>
                                            <p:tav tm="0">
                                              <p:val>
                                                <p:strVal val="#ppt_x"/>
                                              </p:val>
                                            </p:tav>
                                            <p:tav tm="100000">
                                              <p:val>
                                                <p:strVal val="#ppt_x"/>
                                              </p:val>
                                            </p:tav>
                                          </p:tavLst>
                                        </p:anim>
                                        <p:anim calcmode="lin" valueType="num">
                                          <p:cBhvr>
                                            <p:cTn id="39" dur="500" fill="hold"/>
                                            <p:tgtEl>
                                              <p:spTgt spid="38"/>
                                            </p:tgtEl>
                                            <p:attrNameLst>
                                              <p:attrName>ppt_y</p:attrName>
                                            </p:attrNameLst>
                                          </p:cBhvr>
                                          <p:tavLst>
                                            <p:tav tm="0">
                                              <p:val>
                                                <p:strVal val="#ppt_y+.1"/>
                                              </p:val>
                                            </p:tav>
                                            <p:tav tm="100000">
                                              <p:val>
                                                <p:strVal val="#ppt_y"/>
                                              </p:val>
                                            </p:tav>
                                          </p:tavLst>
                                        </p:anim>
                                      </p:childTnLst>
                                    </p:cTn>
                                  </p:par>
                                </p:childTnLst>
                              </p:cTn>
                            </p:par>
                            <p:par>
                              <p:cTn id="40" fill="hold">
                                <p:stCondLst>
                                  <p:cond delay="4000"/>
                                </p:stCondLst>
                                <p:childTnLst>
                                  <p:par>
                                    <p:cTn id="41" presetID="42" presetClass="entr" presetSubtype="0" fill="hold" nodeType="afterEffect">
                                      <p:stCondLst>
                                        <p:cond delay="0"/>
                                      </p:stCondLst>
                                      <p:childTnLst>
                                        <p:set>
                                          <p:cBhvr>
                                            <p:cTn id="42" dur="1" fill="hold">
                                              <p:stCondLst>
                                                <p:cond delay="0"/>
                                              </p:stCondLst>
                                            </p:cTn>
                                            <p:tgtEl>
                                              <p:spTgt spid="104"/>
                                            </p:tgtEl>
                                            <p:attrNameLst>
                                              <p:attrName>style.visibility</p:attrName>
                                            </p:attrNameLst>
                                          </p:cBhvr>
                                          <p:to>
                                            <p:strVal val="visible"/>
                                          </p:to>
                                        </p:set>
                                        <p:animEffect transition="in" filter="fade">
                                          <p:cBhvr>
                                            <p:cTn id="43" dur="500"/>
                                            <p:tgtEl>
                                              <p:spTgt spid="104"/>
                                            </p:tgtEl>
                                          </p:cBhvr>
                                        </p:animEffect>
                                        <p:anim calcmode="lin" valueType="num">
                                          <p:cBhvr>
                                            <p:cTn id="44" dur="500" fill="hold"/>
                                            <p:tgtEl>
                                              <p:spTgt spid="104"/>
                                            </p:tgtEl>
                                            <p:attrNameLst>
                                              <p:attrName>ppt_x</p:attrName>
                                            </p:attrNameLst>
                                          </p:cBhvr>
                                          <p:tavLst>
                                            <p:tav tm="0">
                                              <p:val>
                                                <p:strVal val="#ppt_x"/>
                                              </p:val>
                                            </p:tav>
                                            <p:tav tm="100000">
                                              <p:val>
                                                <p:strVal val="#ppt_x"/>
                                              </p:val>
                                            </p:tav>
                                          </p:tavLst>
                                        </p:anim>
                                        <p:anim calcmode="lin" valueType="num">
                                          <p:cBhvr>
                                            <p:cTn id="45" dur="500" fill="hold"/>
                                            <p:tgtEl>
                                              <p:spTgt spid="1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 presetClass="entr" presetSubtype="12" accel="58000" fill="hold" nodeType="afterEffect">
                                      <p:stCondLst>
                                        <p:cond delay="0"/>
                                      </p:stCondLst>
                                      <p:childTnLst>
                                        <p:set>
                                          <p:cBhvr>
                                            <p:cTn id="27" dur="1" fill="hold">
                                              <p:stCondLst>
                                                <p:cond delay="0"/>
                                              </p:stCondLst>
                                            </p:cTn>
                                            <p:tgtEl>
                                              <p:spTgt spid="55"/>
                                            </p:tgtEl>
                                            <p:attrNameLst>
                                              <p:attrName>style.visibility</p:attrName>
                                            </p:attrNameLst>
                                          </p:cBhvr>
                                          <p:to>
                                            <p:strVal val="visible"/>
                                          </p:to>
                                        </p:set>
                                        <p:anim calcmode="lin" valueType="num">
                                          <p:cBhvr additive="base">
                                            <p:cTn id="28" dur="2000" fill="hold"/>
                                            <p:tgtEl>
                                              <p:spTgt spid="55"/>
                                            </p:tgtEl>
                                            <p:attrNameLst>
                                              <p:attrName>ppt_x</p:attrName>
                                            </p:attrNameLst>
                                          </p:cBhvr>
                                          <p:tavLst>
                                            <p:tav tm="0">
                                              <p:val>
                                                <p:strVal val="0-#ppt_w/2"/>
                                              </p:val>
                                            </p:tav>
                                            <p:tav tm="100000">
                                              <p:val>
                                                <p:strVal val="#ppt_x"/>
                                              </p:val>
                                            </p:tav>
                                          </p:tavLst>
                                        </p:anim>
                                        <p:anim calcmode="lin" valueType="num">
                                          <p:cBhvr additive="base">
                                            <p:cTn id="29" dur="2000" fill="hold"/>
                                            <p:tgtEl>
                                              <p:spTgt spid="55"/>
                                            </p:tgtEl>
                                            <p:attrNameLst>
                                              <p:attrName>ppt_y</p:attrName>
                                            </p:attrNameLst>
                                          </p:cBhvr>
                                          <p:tavLst>
                                            <p:tav tm="0">
                                              <p:val>
                                                <p:strVal val="1+#ppt_h/2"/>
                                              </p:val>
                                            </p:tav>
                                            <p:tav tm="100000">
                                              <p:val>
                                                <p:strVal val="#ppt_y"/>
                                              </p:val>
                                            </p:tav>
                                          </p:tavLst>
                                        </p:anim>
                                      </p:childTnLst>
                                    </p:cTn>
                                  </p:par>
                                  <p:par>
                                    <p:cTn id="30" presetID="2" presetClass="entr" presetSubtype="3" accel="58000" fill="hold" nodeType="withEffect">
                                      <p:stCondLst>
                                        <p:cond delay="0"/>
                                      </p:stCondLst>
                                      <p:childTnLst>
                                        <p:set>
                                          <p:cBhvr>
                                            <p:cTn id="31" dur="1" fill="hold">
                                              <p:stCondLst>
                                                <p:cond delay="0"/>
                                              </p:stCondLst>
                                            </p:cTn>
                                            <p:tgtEl>
                                              <p:spTgt spid="90"/>
                                            </p:tgtEl>
                                            <p:attrNameLst>
                                              <p:attrName>style.visibility</p:attrName>
                                            </p:attrNameLst>
                                          </p:cBhvr>
                                          <p:to>
                                            <p:strVal val="visible"/>
                                          </p:to>
                                        </p:set>
                                        <p:anim calcmode="lin" valueType="num">
                                          <p:cBhvr additive="base">
                                            <p:cTn id="32" dur="2000" fill="hold"/>
                                            <p:tgtEl>
                                              <p:spTgt spid="90"/>
                                            </p:tgtEl>
                                            <p:attrNameLst>
                                              <p:attrName>ppt_x</p:attrName>
                                            </p:attrNameLst>
                                          </p:cBhvr>
                                          <p:tavLst>
                                            <p:tav tm="0">
                                              <p:val>
                                                <p:strVal val="1+#ppt_w/2"/>
                                              </p:val>
                                            </p:tav>
                                            <p:tav tm="100000">
                                              <p:val>
                                                <p:strVal val="#ppt_x"/>
                                              </p:val>
                                            </p:tav>
                                          </p:tavLst>
                                        </p:anim>
                                        <p:anim calcmode="lin" valueType="num">
                                          <p:cBhvr additive="base">
                                            <p:cTn id="33" dur="2000" fill="hold"/>
                                            <p:tgtEl>
                                              <p:spTgt spid="90"/>
                                            </p:tgtEl>
                                            <p:attrNameLst>
                                              <p:attrName>ppt_y</p:attrName>
                                            </p:attrNameLst>
                                          </p:cBhvr>
                                          <p:tavLst>
                                            <p:tav tm="0">
                                              <p:val>
                                                <p:strVal val="0-#ppt_h/2"/>
                                              </p:val>
                                            </p:tav>
                                            <p:tav tm="100000">
                                              <p:val>
                                                <p:strVal val="#ppt_y"/>
                                              </p:val>
                                            </p:tav>
                                          </p:tavLst>
                                        </p:anim>
                                      </p:childTnLst>
                                    </p:cTn>
                                  </p:par>
                                </p:childTnLst>
                              </p:cTn>
                            </p:par>
                            <p:par>
                              <p:cTn id="34" fill="hold">
                                <p:stCondLst>
                                  <p:cond delay="3500"/>
                                </p:stCondLst>
                                <p:childTnLst>
                                  <p:par>
                                    <p:cTn id="35" presetID="42" presetClass="entr" presetSubtype="0" fill="hold" nodeType="afterEffect">
                                      <p:stCondLst>
                                        <p:cond delay="0"/>
                                      </p:stCondLst>
                                      <p:childTnLst>
                                        <p:set>
                                          <p:cBhvr>
                                            <p:cTn id="36" dur="1" fill="hold">
                                              <p:stCondLst>
                                                <p:cond delay="0"/>
                                              </p:stCondLst>
                                            </p:cTn>
                                            <p:tgtEl>
                                              <p:spTgt spid="38"/>
                                            </p:tgtEl>
                                            <p:attrNameLst>
                                              <p:attrName>style.visibility</p:attrName>
                                            </p:attrNameLst>
                                          </p:cBhvr>
                                          <p:to>
                                            <p:strVal val="visible"/>
                                          </p:to>
                                        </p:set>
                                        <p:animEffect transition="in" filter="fade">
                                          <p:cBhvr>
                                            <p:cTn id="37" dur="500"/>
                                            <p:tgtEl>
                                              <p:spTgt spid="38"/>
                                            </p:tgtEl>
                                          </p:cBhvr>
                                        </p:animEffect>
                                        <p:anim calcmode="lin" valueType="num">
                                          <p:cBhvr>
                                            <p:cTn id="38" dur="500" fill="hold"/>
                                            <p:tgtEl>
                                              <p:spTgt spid="38"/>
                                            </p:tgtEl>
                                            <p:attrNameLst>
                                              <p:attrName>ppt_x</p:attrName>
                                            </p:attrNameLst>
                                          </p:cBhvr>
                                          <p:tavLst>
                                            <p:tav tm="0">
                                              <p:val>
                                                <p:strVal val="#ppt_x"/>
                                              </p:val>
                                            </p:tav>
                                            <p:tav tm="100000">
                                              <p:val>
                                                <p:strVal val="#ppt_x"/>
                                              </p:val>
                                            </p:tav>
                                          </p:tavLst>
                                        </p:anim>
                                        <p:anim calcmode="lin" valueType="num">
                                          <p:cBhvr>
                                            <p:cTn id="39" dur="500" fill="hold"/>
                                            <p:tgtEl>
                                              <p:spTgt spid="38"/>
                                            </p:tgtEl>
                                            <p:attrNameLst>
                                              <p:attrName>ppt_y</p:attrName>
                                            </p:attrNameLst>
                                          </p:cBhvr>
                                          <p:tavLst>
                                            <p:tav tm="0">
                                              <p:val>
                                                <p:strVal val="#ppt_y+.1"/>
                                              </p:val>
                                            </p:tav>
                                            <p:tav tm="100000">
                                              <p:val>
                                                <p:strVal val="#ppt_y"/>
                                              </p:val>
                                            </p:tav>
                                          </p:tavLst>
                                        </p:anim>
                                      </p:childTnLst>
                                    </p:cTn>
                                  </p:par>
                                </p:childTnLst>
                              </p:cTn>
                            </p:par>
                            <p:par>
                              <p:cTn id="40" fill="hold">
                                <p:stCondLst>
                                  <p:cond delay="4000"/>
                                </p:stCondLst>
                                <p:childTnLst>
                                  <p:par>
                                    <p:cTn id="41" presetID="42" presetClass="entr" presetSubtype="0" fill="hold" nodeType="afterEffect">
                                      <p:stCondLst>
                                        <p:cond delay="0"/>
                                      </p:stCondLst>
                                      <p:childTnLst>
                                        <p:set>
                                          <p:cBhvr>
                                            <p:cTn id="42" dur="1" fill="hold">
                                              <p:stCondLst>
                                                <p:cond delay="0"/>
                                              </p:stCondLst>
                                            </p:cTn>
                                            <p:tgtEl>
                                              <p:spTgt spid="104"/>
                                            </p:tgtEl>
                                            <p:attrNameLst>
                                              <p:attrName>style.visibility</p:attrName>
                                            </p:attrNameLst>
                                          </p:cBhvr>
                                          <p:to>
                                            <p:strVal val="visible"/>
                                          </p:to>
                                        </p:set>
                                        <p:animEffect transition="in" filter="fade">
                                          <p:cBhvr>
                                            <p:cTn id="43" dur="500"/>
                                            <p:tgtEl>
                                              <p:spTgt spid="104"/>
                                            </p:tgtEl>
                                          </p:cBhvr>
                                        </p:animEffect>
                                        <p:anim calcmode="lin" valueType="num">
                                          <p:cBhvr>
                                            <p:cTn id="44" dur="500" fill="hold"/>
                                            <p:tgtEl>
                                              <p:spTgt spid="104"/>
                                            </p:tgtEl>
                                            <p:attrNameLst>
                                              <p:attrName>ppt_x</p:attrName>
                                            </p:attrNameLst>
                                          </p:cBhvr>
                                          <p:tavLst>
                                            <p:tav tm="0">
                                              <p:val>
                                                <p:strVal val="#ppt_x"/>
                                              </p:val>
                                            </p:tav>
                                            <p:tav tm="100000">
                                              <p:val>
                                                <p:strVal val="#ppt_x"/>
                                              </p:val>
                                            </p:tav>
                                          </p:tavLst>
                                        </p:anim>
                                        <p:anim calcmode="lin" valueType="num">
                                          <p:cBhvr>
                                            <p:cTn id="45" dur="500" fill="hold"/>
                                            <p:tgtEl>
                                              <p:spTgt spid="10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679E2A"/>
                </a:solidFill>
              </a:rPr>
              <a:t>04</a:t>
            </a:r>
            <a:endParaRPr lang="en-US" altLang="zh-CN" sz="4500" b="1" dirty="0">
              <a:solidFill>
                <a:srgbClr val="679E2A"/>
              </a:solidFill>
            </a:endParaRPr>
          </a:p>
        </p:txBody>
      </p:sp>
      <p:sp>
        <p:nvSpPr>
          <p:cNvPr id="20485" name="文本框 13"/>
          <p:cNvSpPr txBox="1">
            <a:spLocks noChangeArrowheads="1"/>
          </p:cNvSpPr>
          <p:nvPr/>
        </p:nvSpPr>
        <p:spPr bwMode="auto">
          <a:xfrm>
            <a:off x="2124075" y="2974340"/>
            <a:ext cx="4619625" cy="575945"/>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阶段性成果</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200"/>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64" name="TextBox 63"/>
          <p:cNvSpPr txBox="1"/>
          <p:nvPr/>
        </p:nvSpPr>
        <p:spPr>
          <a:xfrm>
            <a:off x="647216" y="740718"/>
            <a:ext cx="4896485" cy="706755"/>
          </a:xfrm>
          <a:prstGeom prst="rect">
            <a:avLst/>
          </a:prstGeom>
          <a:noFill/>
        </p:spPr>
        <p:txBody>
          <a:bodyPr wrap="none" rtlCol="0">
            <a:spAutoFit/>
          </a:bodyPr>
          <a:lstStyle/>
          <a:p>
            <a:pPr algn="l"/>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理论研究：</a:t>
            </a: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sym typeface="+mn-ea"/>
              </a:rPr>
              <a:t>OAuth </a:t>
            </a: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sym typeface="+mn-ea"/>
              </a:rPr>
              <a:t>实现安全的参数化分析</a:t>
            </a:r>
            <a:endPar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cs typeface="华文黑体" pitchFamily="2" charset="-122"/>
            </a:endParaRPr>
          </a:p>
          <a:p>
            <a:pPr algn="l"/>
            <a:endParaRPr lang="en-US" altLang="zh-CN" sz="20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09" name="TextBox 108"/>
          <p:cNvSpPr txBox="1"/>
          <p:nvPr/>
        </p:nvSpPr>
        <p:spPr>
          <a:xfrm>
            <a:off x="921385" y="1563370"/>
            <a:ext cx="3414395" cy="340360"/>
          </a:xfrm>
          <a:prstGeom prst="rect">
            <a:avLst/>
          </a:prstGeom>
          <a:noFill/>
        </p:spPr>
        <p:txBody>
          <a:bodyPr wrap="square" rtlCol="0">
            <a:noAutofit/>
          </a:bodyPr>
          <a:lstStyle/>
          <a:p>
            <a:pPr>
              <a:lnSpc>
                <a:spcPct val="150000"/>
              </a:lnSpc>
            </a:pPr>
            <a:endPar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7" name="图片 36"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pic>
        <p:nvPicPr>
          <p:cNvPr id="3" name="内容占位符 2"/>
          <p:cNvPicPr>
            <a:picLocks noChangeAspect="1"/>
          </p:cNvPicPr>
          <p:nvPr>
            <p:ph idx="1"/>
          </p:nvPr>
        </p:nvPicPr>
        <p:blipFill>
          <a:blip r:embed="rId2"/>
          <a:stretch>
            <a:fillRect/>
          </a:stretch>
        </p:blipFill>
        <p:spPr>
          <a:xfrm>
            <a:off x="608330" y="1178560"/>
            <a:ext cx="7700645" cy="3978910"/>
          </a:xfrm>
          <a:prstGeom prst="rect">
            <a:avLst/>
          </a:prstGeom>
        </p:spPr>
      </p:pic>
      <p:sp>
        <p:nvSpPr>
          <p:cNvPr id="5" name="矩形 4"/>
          <p:cNvSpPr/>
          <p:nvPr/>
        </p:nvSpPr>
        <p:spPr>
          <a:xfrm>
            <a:off x="4860290" y="2095500"/>
            <a:ext cx="1854200" cy="548640"/>
          </a:xfrm>
          <a:prstGeom prst="rect">
            <a:avLst/>
          </a:prstGeom>
          <a:noFill/>
          <a:ln>
            <a:solidFill>
              <a:schemeClr val="accent6"/>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矩形 5"/>
          <p:cNvSpPr/>
          <p:nvPr/>
        </p:nvSpPr>
        <p:spPr>
          <a:xfrm>
            <a:off x="1979930" y="2562860"/>
            <a:ext cx="1854200" cy="548640"/>
          </a:xfrm>
          <a:prstGeom prst="rect">
            <a:avLst/>
          </a:prstGeom>
          <a:noFill/>
          <a:ln>
            <a:solidFill>
              <a:schemeClr val="accent6"/>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矩形 6"/>
          <p:cNvSpPr/>
          <p:nvPr/>
        </p:nvSpPr>
        <p:spPr>
          <a:xfrm>
            <a:off x="2552065" y="3291840"/>
            <a:ext cx="3948430" cy="340360"/>
          </a:xfrm>
          <a:prstGeom prst="rect">
            <a:avLst/>
          </a:prstGeom>
          <a:noFill/>
          <a:ln>
            <a:solidFill>
              <a:schemeClr val="accent6"/>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矩形 7"/>
          <p:cNvSpPr/>
          <p:nvPr/>
        </p:nvSpPr>
        <p:spPr>
          <a:xfrm>
            <a:off x="3491865" y="3942715"/>
            <a:ext cx="1854200" cy="352425"/>
          </a:xfrm>
          <a:prstGeom prst="rect">
            <a:avLst/>
          </a:prstGeom>
          <a:noFill/>
          <a:ln>
            <a:solidFill>
              <a:schemeClr val="accent6"/>
            </a:solidFill>
          </a:ln>
          <a:extLst>
            <a:ext uri="{909E8E84-426E-40DD-AFC4-6F175D3DCCD1}">
              <a14:hiddenFill xmlns:a14="http://schemas.microsoft.com/office/drawing/2010/main">
                <a:solidFill>
                  <a:schemeClr val="bg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3"/>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childTnLst>
                          </p:cTn>
                        </p:par>
                        <p:par>
                          <p:cTn id="17" fill="hold">
                            <p:stCondLst>
                              <p:cond delay="1500"/>
                            </p:stCondLst>
                            <p:childTnLst>
                              <p:par>
                                <p:cTn id="18" presetID="56" presetClass="entr" presetSubtype="0" fill="hold" grpId="0" nodeType="afterEffect">
                                  <p:stCondLst>
                                    <p:cond delay="0"/>
                                  </p:stCondLst>
                                  <p:iterate type="lt">
                                    <p:tmPct val="10000"/>
                                  </p:iterate>
                                  <p:childTnLst>
                                    <p:set>
                                      <p:cBhvr>
                                        <p:cTn id="19" dur="1" fill="hold">
                                          <p:stCondLst>
                                            <p:cond delay="0"/>
                                          </p:stCondLst>
                                        </p:cTn>
                                        <p:tgtEl>
                                          <p:spTgt spid="64"/>
                                        </p:tgtEl>
                                        <p:attrNameLst>
                                          <p:attrName>style.visibility</p:attrName>
                                        </p:attrNameLst>
                                      </p:cBhvr>
                                      <p:to>
                                        <p:strVal val="visible"/>
                                      </p:to>
                                    </p:set>
                                    <p:anim by="(-#ppt_w*2)" calcmode="lin" valueType="num">
                                      <p:cBhvr rctx="PPT">
                                        <p:cTn id="20" dur="250" autoRev="1" fill="hold">
                                          <p:stCondLst>
                                            <p:cond delay="0"/>
                                          </p:stCondLst>
                                        </p:cTn>
                                        <p:tgtEl>
                                          <p:spTgt spid="64"/>
                                        </p:tgtEl>
                                        <p:attrNameLst>
                                          <p:attrName>ppt_w</p:attrName>
                                        </p:attrNameLst>
                                      </p:cBhvr>
                                    </p:anim>
                                    <p:anim by="(#ppt_w*0.50)" calcmode="lin" valueType="num">
                                      <p:cBhvr>
                                        <p:cTn id="21" dur="250" decel="50000" autoRev="1" fill="hold">
                                          <p:stCondLst>
                                            <p:cond delay="0"/>
                                          </p:stCondLst>
                                        </p:cTn>
                                        <p:tgtEl>
                                          <p:spTgt spid="64"/>
                                        </p:tgtEl>
                                        <p:attrNameLst>
                                          <p:attrName>ppt_x</p:attrName>
                                        </p:attrNameLst>
                                      </p:cBhvr>
                                    </p:anim>
                                    <p:anim from="(-#ppt_h/2)" to="(#ppt_y)" calcmode="lin" valueType="num">
                                      <p:cBhvr>
                                        <p:cTn id="22" dur="500" fill="hold">
                                          <p:stCondLst>
                                            <p:cond delay="0"/>
                                          </p:stCondLst>
                                        </p:cTn>
                                        <p:tgtEl>
                                          <p:spTgt spid="64"/>
                                        </p:tgtEl>
                                        <p:attrNameLst>
                                          <p:attrName>ppt_y</p:attrName>
                                        </p:attrNameLst>
                                      </p:cBhvr>
                                    </p:anim>
                                    <p:animRot by="21600000">
                                      <p:cBhvr>
                                        <p:cTn id="23" dur="500" fill="hold">
                                          <p:stCondLst>
                                            <p:cond delay="0"/>
                                          </p:stCondLst>
                                        </p:cTn>
                                        <p:tgtEl>
                                          <p:spTgt spid="64"/>
                                        </p:tgtEl>
                                        <p:attrNameLst>
                                          <p:attrName>r</p:attrName>
                                        </p:attrNameLst>
                                      </p:cBhvr>
                                    </p:animRot>
                                  </p:childTnLst>
                                </p:cTn>
                              </p:par>
                            </p:childTnLst>
                          </p:cTn>
                        </p:par>
                        <p:par>
                          <p:cTn id="24" fill="hold">
                            <p:stCondLst>
                              <p:cond delay="2299"/>
                            </p:stCondLst>
                            <p:childTnLst>
                              <p:par>
                                <p:cTn id="25" presetID="22" presetClass="entr" presetSubtype="8" fill="hold" grpId="0" nodeType="afterEffect">
                                  <p:stCondLst>
                                    <p:cond delay="0"/>
                                  </p:stCondLst>
                                  <p:iterate type="lt">
                                    <p:tmPct val="30000"/>
                                  </p:iterate>
                                  <p:childTnLst>
                                    <p:set>
                                      <p:cBhvr>
                                        <p:cTn id="26" dur="1" fill="hold">
                                          <p:stCondLst>
                                            <p:cond delay="0"/>
                                          </p:stCondLst>
                                        </p:cTn>
                                        <p:tgtEl>
                                          <p:spTgt spid="109"/>
                                        </p:tgtEl>
                                        <p:attrNameLst>
                                          <p:attrName>style.visibility</p:attrName>
                                        </p:attrNameLst>
                                      </p:cBhvr>
                                      <p:to>
                                        <p:strVal val="visible"/>
                                      </p:to>
                                    </p:set>
                                    <p:animEffect transition="in" filter="wipe(left)">
                                      <p:cBhvr>
                                        <p:cTn id="27" dur="100"/>
                                        <p:tgtEl>
                                          <p:spTgt spid="109"/>
                                        </p:tgtEl>
                                      </p:cBhvr>
                                    </p:animEffect>
                                  </p:childTnLst>
                                </p:cTn>
                              </p:par>
                              <p:par>
                                <p:cTn id="28" presetID="36" presetClass="emph" presetSubtype="0" fill="hold" grpId="1" nodeType="withEffect">
                                  <p:stCondLst>
                                    <p:cond delay="0"/>
                                  </p:stCondLst>
                                  <p:iterate type="lt">
                                    <p:tmPct val="30000"/>
                                  </p:iterate>
                                  <p:childTnLst>
                                    <p:animScale>
                                      <p:cBhvr>
                                        <p:cTn id="29" dur="50" autoRev="1" fill="hold">
                                          <p:stCondLst>
                                            <p:cond delay="0"/>
                                          </p:stCondLst>
                                        </p:cTn>
                                        <p:tgtEl>
                                          <p:spTgt spid="109"/>
                                        </p:tgtEl>
                                      </p:cBhvr>
                                      <p:to x="80000" y="100000"/>
                                    </p:animScale>
                                    <p:anim by="(#ppt_w*0.10)" calcmode="lin" valueType="num">
                                      <p:cBhvr>
                                        <p:cTn id="30" dur="50" autoRev="1" fill="hold">
                                          <p:stCondLst>
                                            <p:cond delay="0"/>
                                          </p:stCondLst>
                                        </p:cTn>
                                        <p:tgtEl>
                                          <p:spTgt spid="109"/>
                                        </p:tgtEl>
                                        <p:attrNameLst>
                                          <p:attrName>ppt_x</p:attrName>
                                        </p:attrNameLst>
                                      </p:cBhvr>
                                    </p:anim>
                                    <p:anim by="(-#ppt_w*0.10)" calcmode="lin" valueType="num">
                                      <p:cBhvr>
                                        <p:cTn id="31" dur="50" autoRev="1" fill="hold">
                                          <p:stCondLst>
                                            <p:cond delay="0"/>
                                          </p:stCondLst>
                                        </p:cTn>
                                        <p:tgtEl>
                                          <p:spTgt spid="109"/>
                                        </p:tgtEl>
                                        <p:attrNameLst>
                                          <p:attrName>ppt_y</p:attrName>
                                        </p:attrNameLst>
                                      </p:cBhvr>
                                    </p:anim>
                                    <p:animRot by="-480000">
                                      <p:cBhvr>
                                        <p:cTn id="32" dur="50" autoRev="1" fill="hold">
                                          <p:stCondLst>
                                            <p:cond delay="0"/>
                                          </p:stCondLst>
                                        </p:cTn>
                                        <p:tgtEl>
                                          <p:spTgt spid="10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64" grpId="0"/>
      <p:bldP spid="109" grpId="0"/>
      <p:bldP spid="109"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9" name="TextBox 108"/>
          <p:cNvSpPr txBox="1"/>
          <p:nvPr/>
        </p:nvSpPr>
        <p:spPr>
          <a:xfrm>
            <a:off x="921385" y="1563370"/>
            <a:ext cx="2727960" cy="271780"/>
          </a:xfrm>
          <a:prstGeom prst="rect">
            <a:avLst/>
          </a:prstGeom>
          <a:noFill/>
        </p:spPr>
        <p:txBody>
          <a:bodyPr wrap="square" rtlCol="0">
            <a:noAutofit/>
          </a:bodyPr>
          <a:lstStyle/>
          <a:p>
            <a:pPr>
              <a:lnSpc>
                <a:spcPct val="150000"/>
              </a:lnSpc>
            </a:pPr>
            <a:endPar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7" name="图片 36"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圆角矩形 1"/>
          <p:cNvSpPr/>
          <p:nvPr/>
        </p:nvSpPr>
        <p:spPr>
          <a:xfrm>
            <a:off x="647065" y="772160"/>
            <a:ext cx="7886700" cy="402590"/>
          </a:xfrm>
          <a:prstGeom prst="roundRect">
            <a:avLst>
              <a:gd name="adj" fmla="val 50000"/>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4" name="矩形 3"/>
          <p:cNvSpPr/>
          <p:nvPr/>
        </p:nvSpPr>
        <p:spPr>
          <a:xfrm>
            <a:off x="1538605" y="908685"/>
            <a:ext cx="1228090" cy="2673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400" b="1" dirty="0">
              <a:solidFill>
                <a:schemeClr val="bg2"/>
              </a:solidFill>
            </a:endParaRPr>
          </a:p>
        </p:txBody>
      </p:sp>
      <p:sp>
        <p:nvSpPr>
          <p:cNvPr id="9" name="矩形 8"/>
          <p:cNvSpPr/>
          <p:nvPr/>
        </p:nvSpPr>
        <p:spPr>
          <a:xfrm>
            <a:off x="2988310" y="843280"/>
            <a:ext cx="1479550" cy="292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solidFill>
                  <a:schemeClr val="bg2"/>
                </a:solidFill>
                <a:latin typeface="黑体" panose="02010609060101010101" charset="-122"/>
                <a:ea typeface="黑体" panose="02010609060101010101" charset="-122"/>
              </a:rPr>
              <a:t>存在实现问题</a:t>
            </a:r>
            <a:endParaRPr kumimoji="1" lang="zh-CN" altLang="en-US" sz="1400" b="1" dirty="0">
              <a:solidFill>
                <a:schemeClr val="bg2"/>
              </a:solidFill>
              <a:latin typeface="黑体" panose="02010609060101010101" charset="-122"/>
              <a:ea typeface="黑体" panose="02010609060101010101" charset="-122"/>
            </a:endParaRPr>
          </a:p>
        </p:txBody>
      </p:sp>
      <p:sp>
        <p:nvSpPr>
          <p:cNvPr id="10" name="矩形 9"/>
          <p:cNvSpPr/>
          <p:nvPr/>
        </p:nvSpPr>
        <p:spPr>
          <a:xfrm>
            <a:off x="7092315" y="826770"/>
            <a:ext cx="1127125" cy="2863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solidFill>
                  <a:schemeClr val="bg2"/>
                </a:solidFill>
                <a:latin typeface="黑体" panose="02010609060101010101" charset="-122"/>
                <a:ea typeface="黑体" panose="02010609060101010101" charset="-122"/>
              </a:rPr>
              <a:t>攻击后果</a:t>
            </a:r>
            <a:endParaRPr kumimoji="1" lang="zh-CN" altLang="en-US" sz="1400" b="1" dirty="0">
              <a:solidFill>
                <a:schemeClr val="bg2"/>
              </a:solidFill>
              <a:latin typeface="黑体" panose="02010609060101010101" charset="-122"/>
              <a:ea typeface="黑体" panose="02010609060101010101" charset="-122"/>
            </a:endParaRPr>
          </a:p>
        </p:txBody>
      </p:sp>
      <p:sp>
        <p:nvSpPr>
          <p:cNvPr id="11" name="矩形 10"/>
          <p:cNvSpPr/>
          <p:nvPr/>
        </p:nvSpPr>
        <p:spPr>
          <a:xfrm>
            <a:off x="1535430" y="839470"/>
            <a:ext cx="1052195" cy="2673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solidFill>
                  <a:schemeClr val="bg2"/>
                </a:solidFill>
                <a:latin typeface="黑体" panose="02010609060101010101" charset="-122"/>
                <a:ea typeface="黑体" panose="02010609060101010101" charset="-122"/>
              </a:rPr>
              <a:t>参数</a:t>
            </a:r>
            <a:endParaRPr kumimoji="1" lang="zh-CN" altLang="en-US" sz="1400" b="1" dirty="0">
              <a:solidFill>
                <a:schemeClr val="bg2"/>
              </a:solidFill>
              <a:latin typeface="黑体" panose="02010609060101010101" charset="-122"/>
              <a:ea typeface="黑体" panose="02010609060101010101" charset="-122"/>
            </a:endParaRPr>
          </a:p>
        </p:txBody>
      </p:sp>
      <p:graphicFrame>
        <p:nvGraphicFramePr>
          <p:cNvPr id="12" name="表格 11"/>
          <p:cNvGraphicFramePr>
            <a:graphicFrameLocks noGrp="1"/>
          </p:cNvGraphicFramePr>
          <p:nvPr/>
        </p:nvGraphicFramePr>
        <p:xfrm>
          <a:off x="607695" y="1386840"/>
          <a:ext cx="8267700" cy="3681095"/>
        </p:xfrm>
        <a:graphic>
          <a:graphicData uri="http://schemas.openxmlformats.org/drawingml/2006/table">
            <a:tbl>
              <a:tblPr firstRow="1" bandRow="1">
                <a:tableStyleId>{5C22544A-7EE6-4342-B048-85BDC9FD1C3A}</a:tableStyleId>
              </a:tblPr>
              <a:tblGrid>
                <a:gridCol w="955040"/>
                <a:gridCol w="1012190"/>
                <a:gridCol w="2376805"/>
                <a:gridCol w="1576070"/>
                <a:gridCol w="2347595"/>
              </a:tblGrid>
              <a:tr h="457200">
                <a:tc rowSpan="4">
                  <a:txBody>
                    <a:bodyPr/>
                    <a:lstStyle/>
                    <a:p>
                      <a:pPr algn="ctr"/>
                      <a:r>
                        <a:rPr lang="zh-CN" altLang="en-US" sz="1400" b="1" dirty="0">
                          <a:solidFill>
                            <a:schemeClr val="tx1">
                              <a:lumMod val="85000"/>
                              <a:lumOff val="15000"/>
                            </a:schemeClr>
                          </a:solidFill>
                        </a:rPr>
                        <a:t>认证请求</a:t>
                      </a:r>
                      <a:endParaRPr lang="zh-CN" altLang="en-US" sz="1400" b="1" dirty="0">
                        <a:solidFill>
                          <a:schemeClr val="tx1">
                            <a:lumMod val="85000"/>
                            <a:lumOff val="1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algn="ctr"/>
                      <a:r>
                        <a:rPr lang="en-US" altLang="zh-CN" sz="1200" b="0" dirty="0">
                          <a:solidFill>
                            <a:schemeClr val="tx1">
                              <a:lumMod val="65000"/>
                              <a:lumOff val="35000"/>
                            </a:schemeClr>
                          </a:solidFill>
                        </a:rPr>
                        <a:t>state</a:t>
                      </a:r>
                      <a:endParaRPr lang="zh-CN" altLang="en-US" sz="1200" b="0" dirty="0">
                        <a:solidFill>
                          <a:schemeClr val="tx1">
                            <a:lumMod val="65000"/>
                            <a:lumOff val="3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algn="ctr"/>
                      <a:r>
                        <a:rPr lang="zh-CN" altLang="en-US" sz="1200" b="0" dirty="0">
                          <a:solidFill>
                            <a:schemeClr val="tx1">
                              <a:lumMod val="65000"/>
                              <a:lumOff val="35000"/>
                            </a:schemeClr>
                          </a:solidFill>
                        </a:rPr>
                        <a:t>客户端生成不随机，验证不规范</a:t>
                      </a:r>
                      <a:endParaRPr lang="zh-CN" altLang="en-US" sz="1200" b="0" dirty="0">
                        <a:solidFill>
                          <a:schemeClr val="tx1">
                            <a:lumMod val="65000"/>
                            <a:lumOff val="35000"/>
                          </a:schemeClr>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algn="ctr"/>
                      <a:r>
                        <a:rPr lang="zh-CN" altLang="en-US" sz="1200" b="0" dirty="0">
                          <a:solidFill>
                            <a:schemeClr val="tx1">
                              <a:lumMod val="65000"/>
                              <a:lumOff val="35000"/>
                            </a:schemeClr>
                          </a:solidFill>
                        </a:rPr>
                        <a:t>重放</a:t>
                      </a:r>
                      <a:endParaRPr lang="zh-CN" altLang="en-US" sz="1200" b="0" dirty="0">
                        <a:solidFill>
                          <a:schemeClr val="tx1">
                            <a:lumMod val="65000"/>
                            <a:lumOff val="35000"/>
                          </a:schemeClr>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algn="ctr"/>
                      <a:r>
                        <a:rPr kumimoji="1" lang="zh-CN" altLang="en-US" sz="1200" b="1">
                          <a:solidFill>
                            <a:srgbClr val="970001"/>
                          </a:solidFill>
                        </a:rPr>
                        <a:t>诚实用户登录至攻击者账号中，</a:t>
                      </a:r>
                      <a:r>
                        <a:rPr kumimoji="1" lang="zh-CN" altLang="en-US" sz="1200" b="0">
                          <a:solidFill>
                            <a:srgbClr val="970001"/>
                          </a:solidFill>
                        </a:rPr>
                        <a:t>从而导致</a:t>
                      </a:r>
                      <a:r>
                        <a:rPr kumimoji="1" lang="zh-CN" altLang="en-US" sz="1200" b="1">
                          <a:solidFill>
                            <a:srgbClr val="970001"/>
                          </a:solidFill>
                        </a:rPr>
                        <a:t>隐私泄露</a:t>
                      </a:r>
                      <a:endParaRPr lang="zh-CN" altLang="en-US" sz="1200" b="0">
                        <a:solidFill>
                          <a:srgbClr val="97000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457200">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3">
                  <a:txBody>
                    <a:bodyPr/>
                    <a:p>
                      <a:pPr algn="ctr">
                        <a:buNone/>
                      </a:pPr>
                      <a:r>
                        <a:rPr lang="en-US" altLang="zh-CN" sz="1200" b="0">
                          <a:solidFill>
                            <a:schemeClr val="tx1">
                              <a:lumMod val="65000"/>
                              <a:lumOff val="35000"/>
                            </a:schemeClr>
                          </a:solidFill>
                        </a:rPr>
                        <a:t>redirect_uri</a:t>
                      </a:r>
                      <a:endParaRPr lang="en-US" altLang="zh-CN" sz="1200" b="0">
                        <a:solidFill>
                          <a:schemeClr val="tx1">
                            <a:lumMod val="65000"/>
                            <a:lumOff val="3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3">
                  <a:txBody>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kern="1200">
                          <a:solidFill>
                            <a:schemeClr val="tx1">
                              <a:lumMod val="65000"/>
                              <a:lumOff val="35000"/>
                            </a:schemeClr>
                          </a:solidFill>
                          <a:latin typeface="+mn-lt"/>
                          <a:ea typeface="+mn-ea"/>
                          <a:cs typeface="+mn-cs"/>
                        </a:rPr>
                        <a:t>服务器不做字符级匹配，允许敏感参数做查询组件</a:t>
                      </a:r>
                      <a:endParaRPr lang="zh-CN" altLang="en-US" sz="1200" b="0" kern="120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2">
                  <a:txBody>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kern="1200">
                          <a:solidFill>
                            <a:schemeClr val="tx1">
                              <a:lumMod val="65000"/>
                              <a:lumOff val="35000"/>
                            </a:schemeClr>
                          </a:solidFill>
                          <a:latin typeface="+mn-lt"/>
                          <a:ea typeface="+mn-ea"/>
                          <a:cs typeface="+mn-cs"/>
                        </a:rPr>
                        <a:t>路径混淆</a:t>
                      </a:r>
                      <a:endParaRPr lang="zh-CN" altLang="en-US" sz="1200" b="0" kern="120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p>
                      <a:pPr algn="ctr">
                        <a:buNone/>
                      </a:pPr>
                      <a:r>
                        <a:rPr lang="zh-CN" altLang="en-US" sz="1200" b="0" dirty="0">
                          <a:solidFill>
                            <a:srgbClr val="970001"/>
                          </a:solidFill>
                        </a:rPr>
                        <a:t>使授权服务器定位到敌手地址，泄露</a:t>
                      </a:r>
                      <a:r>
                        <a:rPr lang="en-US" altLang="zh-CN" sz="1200" b="0" dirty="0">
                          <a:solidFill>
                            <a:srgbClr val="970001"/>
                          </a:solidFill>
                        </a:rPr>
                        <a:t>code</a:t>
                      </a:r>
                      <a:endParaRPr lang="en-US" altLang="zh-CN" sz="1200" b="0" dirty="0">
                        <a:solidFill>
                          <a:srgbClr val="97000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0">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2">
                  <a:txBody>
                    <a:bodyPr/>
                    <a:p>
                      <a:pPr algn="ctr">
                        <a:buNone/>
                      </a:pPr>
                      <a:r>
                        <a:rPr lang="zh-CN" altLang="en-US" sz="1200" b="0" dirty="0">
                          <a:solidFill>
                            <a:srgbClr val="970001"/>
                          </a:solidFill>
                        </a:rPr>
                        <a:t>使受害者</a:t>
                      </a:r>
                      <a:r>
                        <a:rPr lang="en-US" altLang="zh-CN" sz="1200" b="0" dirty="0">
                          <a:solidFill>
                            <a:srgbClr val="970001"/>
                          </a:solidFill>
                        </a:rPr>
                        <a:t>code</a:t>
                      </a:r>
                      <a:r>
                        <a:rPr lang="zh-CN" altLang="en-US" sz="1200" b="0" dirty="0">
                          <a:solidFill>
                            <a:srgbClr val="970001"/>
                          </a:solidFill>
                        </a:rPr>
                        <a:t>处于未消费状态</a:t>
                      </a:r>
                      <a:endParaRPr lang="zh-CN" altLang="en-US" sz="1200" b="0" dirty="0">
                        <a:solidFill>
                          <a:srgbClr val="970001"/>
                        </a:solidFill>
                      </a:endParaRPr>
                    </a:p>
                  </a:txBody>
                  <a:tcPr anchor="ctr">
                    <a:lnL w="12700" cmpd="sng">
                      <a:noFill/>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274320">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kern="1200">
                          <a:solidFill>
                            <a:schemeClr val="tx1">
                              <a:lumMod val="65000"/>
                              <a:lumOff val="35000"/>
                            </a:schemeClr>
                          </a:solidFill>
                          <a:latin typeface="+mn-lt"/>
                          <a:ea typeface="+mn-ea"/>
                          <a:cs typeface="+mn-cs"/>
                        </a:rPr>
                        <a:t>参数污染</a:t>
                      </a:r>
                      <a:endParaRPr lang="zh-CN" altLang="en-US" sz="1200" b="0" kern="1200">
                        <a:solidFill>
                          <a:schemeClr val="tx1">
                            <a:lumMod val="65000"/>
                            <a:lumOff val="35000"/>
                          </a:schemeClr>
                        </a:solidFill>
                        <a:latin typeface="+mn-lt"/>
                        <a:ea typeface="+mn-ea"/>
                        <a:cs typeface="+mn-cs"/>
                      </a:endParaRPr>
                    </a:p>
                  </a:txBody>
                  <a:tcPr anchor="ctr">
                    <a:lnL w="12700" cmpd="sng">
                      <a:noFill/>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276225">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1" kern="1200" dirty="0">
                          <a:solidFill>
                            <a:schemeClr val="tx1">
                              <a:lumMod val="85000"/>
                              <a:lumOff val="15000"/>
                            </a:schemeClr>
                          </a:solidFill>
                          <a:latin typeface="+mn-lt"/>
                          <a:ea typeface="+mn-ea"/>
                          <a:cs typeface="+mn-cs"/>
                        </a:rPr>
                        <a:t>认证响应</a:t>
                      </a:r>
                      <a:endParaRPr lang="zh-CN" altLang="en-US" sz="1400" b="1" kern="1200" dirty="0">
                        <a:solidFill>
                          <a:schemeClr val="tx1">
                            <a:lumMod val="85000"/>
                            <a:lumOff val="15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2">
                  <a:txBody>
                    <a:bodyPr/>
                    <a:lstStyle/>
                    <a:p>
                      <a:pPr algn="ctr"/>
                      <a:r>
                        <a:rPr lang="en-US" altLang="zh-CN" sz="1200" b="0">
                          <a:solidFill>
                            <a:schemeClr val="tx1">
                              <a:lumMod val="65000"/>
                              <a:lumOff val="35000"/>
                            </a:schemeClr>
                          </a:solidFill>
                        </a:rPr>
                        <a:t>code</a:t>
                      </a:r>
                      <a:endParaRPr lang="zh-CN" altLang="en-US" sz="1200" b="0">
                        <a:solidFill>
                          <a:schemeClr val="tx1">
                            <a:lumMod val="65000"/>
                            <a:lumOff val="35000"/>
                          </a:schemeClr>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kern="1200">
                          <a:solidFill>
                            <a:schemeClr val="tx1">
                              <a:lumMod val="65000"/>
                              <a:lumOff val="35000"/>
                            </a:schemeClr>
                          </a:solidFill>
                          <a:latin typeface="+mn-lt"/>
                          <a:ea typeface="+mn-ea"/>
                          <a:cs typeface="+mn-cs"/>
                        </a:rPr>
                        <a:t>服务器</a:t>
                      </a:r>
                      <a:r>
                        <a:rPr lang="en-US" sz="1200" b="0" kern="1200">
                          <a:solidFill>
                            <a:schemeClr val="tx1">
                              <a:lumMod val="65000"/>
                              <a:lumOff val="35000"/>
                            </a:schemeClr>
                          </a:solidFill>
                          <a:latin typeface="+mn-lt"/>
                          <a:ea typeface="+mn-ea"/>
                          <a:cs typeface="+mn-cs"/>
                        </a:rPr>
                        <a:t>PKCE</a:t>
                      </a:r>
                      <a:r>
                        <a:rPr lang="zh-CN" altLang="en-US" sz="1200" b="0" kern="1200">
                          <a:solidFill>
                            <a:schemeClr val="tx1">
                              <a:lumMod val="65000"/>
                              <a:lumOff val="35000"/>
                            </a:schemeClr>
                          </a:solidFill>
                          <a:latin typeface="+mn-lt"/>
                          <a:ea typeface="+mn-ea"/>
                          <a:cs typeface="+mn-cs"/>
                        </a:rPr>
                        <a:t>机制实现存在降级风险</a:t>
                      </a:r>
                      <a:endParaRPr lang="zh-CN" altLang="en-US" sz="1200" b="0" kern="120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200" b="0" kern="1200">
                          <a:solidFill>
                            <a:schemeClr val="tx1">
                              <a:lumMod val="65000"/>
                              <a:lumOff val="35000"/>
                            </a:schemeClr>
                          </a:solidFill>
                          <a:latin typeface="+mn-lt"/>
                          <a:ea typeface="+mn-ea"/>
                          <a:cs typeface="+mn-cs"/>
                        </a:rPr>
                        <a:t>PKCE</a:t>
                      </a:r>
                      <a:r>
                        <a:rPr lang="zh-CN" altLang="en-US" sz="1200" b="0" kern="1200">
                          <a:solidFill>
                            <a:schemeClr val="tx1">
                              <a:lumMod val="65000"/>
                              <a:lumOff val="35000"/>
                            </a:schemeClr>
                          </a:solidFill>
                          <a:latin typeface="+mn-lt"/>
                          <a:ea typeface="+mn-ea"/>
                          <a:cs typeface="+mn-cs"/>
                        </a:rPr>
                        <a:t>绕过</a:t>
                      </a:r>
                      <a:endParaRPr lang="zh-CN" altLang="en-US" sz="1200" b="0" kern="120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3">
                  <a:txBody>
                    <a:bodyPr/>
                    <a:lstStyle/>
                    <a:p>
                      <a:pPr algn="ctr"/>
                      <a:r>
                        <a:rPr kumimoji="1" lang="zh-CN" altLang="en-US" sz="1200">
                          <a:solidFill>
                            <a:srgbClr val="970001"/>
                          </a:solidFill>
                        </a:rPr>
                        <a:t>攻击</a:t>
                      </a:r>
                      <a:r>
                        <a:rPr kumimoji="1" lang="zh-CN" altLang="en-US" sz="1200" b="1">
                          <a:solidFill>
                            <a:srgbClr val="970001"/>
                          </a:solidFill>
                        </a:rPr>
                        <a:t>者冒充诚实用户</a:t>
                      </a:r>
                      <a:r>
                        <a:rPr kumimoji="1" lang="en-US" altLang="zh-CN" sz="1200" b="1">
                          <a:solidFill>
                            <a:srgbClr val="970001"/>
                          </a:solidFill>
                        </a:rPr>
                        <a:t>/</a:t>
                      </a:r>
                      <a:r>
                        <a:rPr kumimoji="1" lang="zh-CN" altLang="en-US" sz="1200" b="1">
                          <a:solidFill>
                            <a:srgbClr val="970001"/>
                          </a:solidFill>
                        </a:rPr>
                        <a:t>客户端</a:t>
                      </a:r>
                      <a:r>
                        <a:rPr kumimoji="1" lang="zh-CN" altLang="en-US" sz="1200">
                          <a:solidFill>
                            <a:srgbClr val="970001"/>
                          </a:solidFill>
                        </a:rPr>
                        <a:t>并能够访问诚实用户在服务器上被授予的权限</a:t>
                      </a:r>
                      <a:r>
                        <a:rPr kumimoji="1" lang="en-US" altLang="zh-CN" sz="1200">
                          <a:solidFill>
                            <a:srgbClr val="970001"/>
                          </a:solidFill>
                        </a:rPr>
                        <a:t>/</a:t>
                      </a:r>
                      <a:r>
                        <a:rPr kumimoji="1" lang="zh-CN" altLang="en-US" sz="1200">
                          <a:solidFill>
                            <a:srgbClr val="970001"/>
                          </a:solidFill>
                        </a:rPr>
                        <a:t>资源</a:t>
                      </a:r>
                      <a:endParaRPr lang="zh-CN" altLang="en-US" sz="1200" b="0" dirty="0">
                        <a:solidFill>
                          <a:srgbClr val="970001"/>
                        </a:solidFill>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180975">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kern="1200" dirty="0">
                          <a:solidFill>
                            <a:schemeClr val="tx1">
                              <a:lumMod val="65000"/>
                              <a:lumOff val="35000"/>
                            </a:schemeClr>
                          </a:solidFill>
                          <a:latin typeface="+mn-lt"/>
                          <a:ea typeface="+mn-ea"/>
                          <a:cs typeface="+mn-cs"/>
                        </a:rPr>
                        <a:t>注册恶意客户端，以敌手</a:t>
                      </a:r>
                      <a:r>
                        <a:rPr lang="en-US" altLang="zh-CN" sz="1200" b="0" kern="1200" dirty="0">
                          <a:solidFill>
                            <a:schemeClr val="tx1">
                              <a:lumMod val="65000"/>
                              <a:lumOff val="35000"/>
                            </a:schemeClr>
                          </a:solidFill>
                          <a:latin typeface="+mn-lt"/>
                          <a:ea typeface="+mn-ea"/>
                          <a:cs typeface="+mn-cs"/>
                        </a:rPr>
                        <a:t>client secret+</a:t>
                      </a:r>
                      <a:r>
                        <a:rPr lang="zh-CN" altLang="en-US" sz="1200" b="0" kern="1200" dirty="0">
                          <a:solidFill>
                            <a:schemeClr val="tx1">
                              <a:lumMod val="65000"/>
                              <a:lumOff val="35000"/>
                            </a:schemeClr>
                          </a:solidFill>
                          <a:latin typeface="+mn-lt"/>
                          <a:ea typeface="+mn-ea"/>
                          <a:cs typeface="+mn-cs"/>
                        </a:rPr>
                        <a:t>受害者</a:t>
                      </a:r>
                      <a:r>
                        <a:rPr lang="en-US" altLang="zh-CN" sz="1200" b="0" kern="1200" dirty="0">
                          <a:solidFill>
                            <a:schemeClr val="tx1">
                              <a:lumMod val="65000"/>
                              <a:lumOff val="35000"/>
                            </a:schemeClr>
                          </a:solidFill>
                          <a:latin typeface="+mn-lt"/>
                          <a:ea typeface="+mn-ea"/>
                          <a:cs typeface="+mn-cs"/>
                        </a:rPr>
                        <a:t>code</a:t>
                      </a:r>
                      <a:r>
                        <a:rPr lang="zh-CN" altLang="en-US" sz="1200" b="0" kern="1200" dirty="0">
                          <a:solidFill>
                            <a:schemeClr val="tx1">
                              <a:lumMod val="65000"/>
                              <a:lumOff val="35000"/>
                            </a:schemeClr>
                          </a:solidFill>
                          <a:latin typeface="+mn-lt"/>
                          <a:ea typeface="+mn-ea"/>
                          <a:cs typeface="+mn-cs"/>
                        </a:rPr>
                        <a:t>绕过验证</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824865">
                <a:tc>
                  <a:txBody>
                    <a:bodyPr/>
                    <a:lstStyle/>
                    <a:p>
                      <a:pPr marL="0" algn="ctr" defTabSz="914400" rtl="0" eaLnBrk="1" latinLnBrk="0" hangingPunct="1"/>
                      <a:r>
                        <a:rPr lang="zh-CN" altLang="en-US" sz="1400" b="1" kern="1200" dirty="0">
                          <a:solidFill>
                            <a:schemeClr val="tx1">
                              <a:lumMod val="85000"/>
                              <a:lumOff val="15000"/>
                            </a:schemeClr>
                          </a:solidFill>
                          <a:latin typeface="+mn-lt"/>
                          <a:ea typeface="+mn-ea"/>
                          <a:cs typeface="+mn-cs"/>
                        </a:rPr>
                        <a:t>令牌请求</a:t>
                      </a:r>
                      <a:endParaRPr lang="zh-CN" altLang="en-US" sz="1400" b="1" kern="1200" dirty="0">
                        <a:solidFill>
                          <a:schemeClr val="tx1">
                            <a:lumMod val="85000"/>
                            <a:lumOff val="15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algn="ctr" defTabSz="914400" rtl="0" eaLnBrk="1" latinLnBrk="0" hangingPunct="1"/>
                      <a:r>
                        <a:rPr lang="en-US" altLang="zh-CN" sz="1200" b="0" kern="1200" dirty="0">
                          <a:solidFill>
                            <a:schemeClr val="tx1">
                              <a:lumMod val="65000"/>
                              <a:lumOff val="35000"/>
                            </a:schemeClr>
                          </a:solidFill>
                          <a:latin typeface="+mn-lt"/>
                          <a:ea typeface="+mn-ea"/>
                          <a:cs typeface="+mn-cs"/>
                        </a:rPr>
                        <a:t>client_secret</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algn="ctr" defTabSz="914400" rtl="0" eaLnBrk="1" latinLnBrk="0" hangingPunct="1"/>
                      <a:r>
                        <a:rPr lang="zh-CN" altLang="en-US" sz="1200" b="0" kern="1200" dirty="0">
                          <a:solidFill>
                            <a:schemeClr val="tx1">
                              <a:lumMod val="65000"/>
                              <a:lumOff val="35000"/>
                            </a:schemeClr>
                          </a:solidFill>
                          <a:latin typeface="+mn-lt"/>
                          <a:ea typeface="+mn-ea"/>
                          <a:cs typeface="+mn-cs"/>
                        </a:rPr>
                        <a:t>服务器未哈希存储客户端</a:t>
                      </a:r>
                      <a:r>
                        <a:rPr lang="en-US" altLang="zh-CN" sz="1200" b="0" kern="1200" dirty="0">
                          <a:solidFill>
                            <a:schemeClr val="tx1">
                              <a:lumMod val="65000"/>
                              <a:lumOff val="35000"/>
                            </a:schemeClr>
                          </a:solidFill>
                          <a:latin typeface="+mn-lt"/>
                          <a:ea typeface="+mn-ea"/>
                          <a:cs typeface="+mn-cs"/>
                        </a:rPr>
                        <a:t>secret</a:t>
                      </a:r>
                      <a:r>
                        <a:rPr lang="zh-CN" altLang="en-US" sz="1200" b="0" kern="1200" dirty="0">
                          <a:solidFill>
                            <a:schemeClr val="tx1">
                              <a:lumMod val="65000"/>
                              <a:lumOff val="35000"/>
                            </a:schemeClr>
                          </a:solidFill>
                          <a:latin typeface="+mn-lt"/>
                          <a:ea typeface="+mn-ea"/>
                          <a:cs typeface="+mn-cs"/>
                        </a:rPr>
                        <a:t>，</a:t>
                      </a:r>
                      <a:endParaRPr lang="zh-CN" altLang="en-US" sz="1200" b="0" kern="1200" dirty="0">
                        <a:solidFill>
                          <a:schemeClr val="tx1">
                            <a:lumMod val="65000"/>
                            <a:lumOff val="35000"/>
                          </a:schemeClr>
                        </a:solidFill>
                        <a:latin typeface="+mn-lt"/>
                        <a:ea typeface="+mn-ea"/>
                        <a:cs typeface="+mn-cs"/>
                      </a:endParaRPr>
                    </a:p>
                    <a:p>
                      <a:pPr marL="0" algn="ctr" defTabSz="914400" rtl="0" eaLnBrk="1" latinLnBrk="0" hangingPunct="1"/>
                      <a:r>
                        <a:rPr lang="zh-CN" altLang="en-US" sz="1200" b="0" kern="1200" dirty="0">
                          <a:solidFill>
                            <a:schemeClr val="tx1">
                              <a:lumMod val="65000"/>
                              <a:lumOff val="35000"/>
                            </a:schemeClr>
                          </a:solidFill>
                          <a:latin typeface="+mn-lt"/>
                          <a:ea typeface="+mn-ea"/>
                          <a:cs typeface="+mn-cs"/>
                        </a:rPr>
                        <a:t>服务器未验证</a:t>
                      </a:r>
                      <a:r>
                        <a:rPr lang="en-US" altLang="zh-CN" sz="1200" b="0" kern="1200" dirty="0">
                          <a:solidFill>
                            <a:schemeClr val="tx1">
                              <a:lumMod val="65000"/>
                              <a:lumOff val="35000"/>
                            </a:schemeClr>
                          </a:solidFill>
                          <a:latin typeface="+mn-lt"/>
                          <a:ea typeface="+mn-ea"/>
                          <a:cs typeface="+mn-cs"/>
                        </a:rPr>
                        <a:t>code</a:t>
                      </a:r>
                      <a:r>
                        <a:rPr lang="zh-CN" altLang="en-US" sz="1200" b="0" kern="1200" dirty="0">
                          <a:solidFill>
                            <a:schemeClr val="tx1">
                              <a:lumMod val="65000"/>
                              <a:lumOff val="35000"/>
                            </a:schemeClr>
                          </a:solidFill>
                          <a:latin typeface="+mn-lt"/>
                          <a:ea typeface="+mn-ea"/>
                          <a:cs typeface="+mn-cs"/>
                        </a:rPr>
                        <a:t>和</a:t>
                      </a:r>
                      <a:r>
                        <a:rPr lang="en-US" altLang="zh-CN" sz="1200" b="0" kern="1200" dirty="0">
                          <a:solidFill>
                            <a:schemeClr val="tx1">
                              <a:lumMod val="65000"/>
                              <a:lumOff val="35000"/>
                            </a:schemeClr>
                          </a:solidFill>
                          <a:latin typeface="+mn-lt"/>
                          <a:ea typeface="+mn-ea"/>
                          <a:cs typeface="+mn-cs"/>
                        </a:rPr>
                        <a:t>client_secret</a:t>
                      </a:r>
                      <a:r>
                        <a:rPr lang="zh-CN" altLang="en-US" sz="1200" b="0" kern="1200" dirty="0">
                          <a:solidFill>
                            <a:schemeClr val="tx1">
                              <a:lumMod val="65000"/>
                              <a:lumOff val="35000"/>
                            </a:schemeClr>
                          </a:solidFill>
                          <a:latin typeface="+mn-lt"/>
                          <a:ea typeface="+mn-ea"/>
                          <a:cs typeface="+mn-cs"/>
                        </a:rPr>
                        <a:t>绑定关系</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295910">
                <a:tc rowSpan="3">
                  <a:txBody>
                    <a:bodyPr/>
                    <a:lstStyle/>
                    <a:p>
                      <a:pPr marL="0" algn="ctr" defTabSz="914400" rtl="0" eaLnBrk="1" latinLnBrk="0" hangingPunct="1"/>
                      <a:r>
                        <a:rPr lang="zh-CN" altLang="en-US" sz="1400" b="1" kern="1200" dirty="0">
                          <a:solidFill>
                            <a:schemeClr val="tx1">
                              <a:lumMod val="85000"/>
                              <a:lumOff val="15000"/>
                            </a:schemeClr>
                          </a:solidFill>
                          <a:latin typeface="+mn-lt"/>
                          <a:ea typeface="+mn-ea"/>
                          <a:cs typeface="+mn-cs"/>
                        </a:rPr>
                        <a:t>令牌响应</a:t>
                      </a:r>
                      <a:endParaRPr lang="zh-CN" altLang="en-US" sz="1400" b="1" kern="1200" dirty="0">
                        <a:solidFill>
                          <a:schemeClr val="tx1">
                            <a:lumMod val="85000"/>
                            <a:lumOff val="15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2">
                  <a:txBody>
                    <a:bodyPr/>
                    <a:lstStyle/>
                    <a:p>
                      <a:pPr marL="0" algn="ctr" defTabSz="914400" rtl="0" eaLnBrk="1" latinLnBrk="0" hangingPunct="1"/>
                      <a:r>
                        <a:rPr lang="en-US" altLang="zh-CN" sz="1200" b="0" kern="1200" dirty="0">
                          <a:solidFill>
                            <a:schemeClr val="tx1">
                              <a:lumMod val="65000"/>
                              <a:lumOff val="35000"/>
                            </a:schemeClr>
                          </a:solidFill>
                          <a:latin typeface="+mn-lt"/>
                          <a:ea typeface="+mn-ea"/>
                          <a:cs typeface="+mn-cs"/>
                        </a:rPr>
                        <a:t>access_token</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2">
                  <a:txBody>
                    <a:bodyPr/>
                    <a:lstStyle/>
                    <a:p>
                      <a:pPr marL="0" algn="ctr" defTabSz="914400" rtl="0" eaLnBrk="1" latinLnBrk="0" hangingPunct="1"/>
                      <a:r>
                        <a:rPr lang="en-US" altLang="zh-CN" sz="1200" b="0" kern="1200" dirty="0">
                          <a:solidFill>
                            <a:schemeClr val="tx1">
                              <a:lumMod val="65000"/>
                              <a:lumOff val="35000"/>
                            </a:schemeClr>
                          </a:solidFill>
                          <a:latin typeface="+mn-lt"/>
                          <a:ea typeface="+mn-ea"/>
                          <a:cs typeface="+mn-cs"/>
                        </a:rPr>
                        <a:t>AccessToken</a:t>
                      </a:r>
                      <a:r>
                        <a:rPr lang="zh-CN" altLang="en-US" sz="1200" b="0" kern="1200" dirty="0">
                          <a:solidFill>
                            <a:schemeClr val="tx1">
                              <a:lumMod val="65000"/>
                              <a:lumOff val="35000"/>
                            </a:schemeClr>
                          </a:solidFill>
                          <a:latin typeface="+mn-lt"/>
                          <a:ea typeface="+mn-ea"/>
                          <a:cs typeface="+mn-cs"/>
                        </a:rPr>
                        <a:t>存储、传输不加密，有效期过长</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algn="ctr" defTabSz="914400" rtl="0" eaLnBrk="1" latinLnBrk="0" hangingPunct="1"/>
                      <a:r>
                        <a:rPr lang="zh-CN" altLang="en-US" sz="1200" b="0" kern="1200" dirty="0">
                          <a:solidFill>
                            <a:schemeClr val="tx1">
                              <a:lumMod val="65000"/>
                              <a:lumOff val="35000"/>
                            </a:schemeClr>
                          </a:solidFill>
                          <a:latin typeface="+mn-lt"/>
                          <a:ea typeface="+mn-ea"/>
                          <a:cs typeface="+mn-cs"/>
                        </a:rPr>
                        <a:t>消息泄露</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rowSpan="2">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kern="1200">
                          <a:solidFill>
                            <a:srgbClr val="970001"/>
                          </a:solidFill>
                          <a:latin typeface="+mn-lt"/>
                          <a:ea typeface="+mn-ea"/>
                          <a:cs typeface="+mn-cs"/>
                        </a:rPr>
                        <a:t>攻击者直接</a:t>
                      </a:r>
                      <a:r>
                        <a:rPr lang="zh-CN" altLang="en-US" sz="1200" b="1" kern="1200">
                          <a:solidFill>
                            <a:srgbClr val="970001"/>
                          </a:solidFill>
                          <a:latin typeface="+mn-lt"/>
                          <a:ea typeface="+mn-ea"/>
                          <a:cs typeface="+mn-cs"/>
                        </a:rPr>
                        <a:t>冒充</a:t>
                      </a:r>
                      <a:r>
                        <a:rPr lang="zh-CN" altLang="en-US" sz="1200" b="0" kern="1200">
                          <a:solidFill>
                            <a:srgbClr val="970001"/>
                          </a:solidFill>
                          <a:latin typeface="+mn-lt"/>
                          <a:ea typeface="+mn-ea"/>
                          <a:cs typeface="+mn-cs"/>
                        </a:rPr>
                        <a:t>用户，使用该令牌访问受害者被保护的资源</a:t>
                      </a:r>
                      <a:endParaRPr lang="en-US" altLang="zh-CN" sz="1200" b="0" kern="1200">
                        <a:solidFill>
                          <a:srgbClr val="970001"/>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457200">
                <a:tc vMerge="1">
                  <a:tcPr/>
                </a:tc>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algn="ctr" defTabSz="914400" rtl="0" eaLnBrk="1" latinLnBrk="0" hangingPunct="1"/>
                      <a:r>
                        <a:rPr lang="zh-CN" altLang="en-US" sz="1200" b="1" kern="1200" dirty="0">
                          <a:solidFill>
                            <a:schemeClr val="tx1">
                              <a:lumMod val="75000"/>
                              <a:lumOff val="25000"/>
                            </a:schemeClr>
                          </a:solidFill>
                          <a:latin typeface="+mn-lt"/>
                          <a:ea typeface="+mn-ea"/>
                          <a:cs typeface="+mn-cs"/>
                        </a:rPr>
                        <a:t>第三方交互窃取</a:t>
                      </a:r>
                      <a:endParaRPr lang="zh-CN" altLang="en-US" sz="1200" b="1" kern="1200" dirty="0">
                        <a:solidFill>
                          <a:schemeClr val="tx1">
                            <a:lumMod val="75000"/>
                            <a:lumOff val="2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vMerge="1">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r h="457200">
                <a:tc vMerge="1">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algn="ctr" defTabSz="914400" rtl="0" eaLnBrk="1" latinLnBrk="0" hangingPunct="1"/>
                      <a:r>
                        <a:rPr lang="en-US" altLang="zh-CN" sz="1200" b="0" kern="1200" dirty="0">
                          <a:solidFill>
                            <a:schemeClr val="tx1">
                              <a:lumMod val="65000"/>
                              <a:lumOff val="35000"/>
                            </a:schemeClr>
                          </a:solidFill>
                          <a:latin typeface="+mn-lt"/>
                          <a:ea typeface="+mn-ea"/>
                          <a:cs typeface="+mn-cs"/>
                        </a:rPr>
                        <a:t>id_token</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algn="ctr" defTabSz="914400" rtl="0" eaLnBrk="1" latinLnBrk="0" hangingPunct="1"/>
                      <a:r>
                        <a:rPr lang="zh-CN" sz="1200" b="0" kern="1200" dirty="0">
                          <a:solidFill>
                            <a:schemeClr val="tx1">
                              <a:lumMod val="65000"/>
                              <a:lumOff val="35000"/>
                            </a:schemeClr>
                          </a:solidFill>
                          <a:latin typeface="+mn-lt"/>
                          <a:ea typeface="+mn-ea"/>
                          <a:cs typeface="+mn-cs"/>
                        </a:rPr>
                        <a:t>客户端未验证</a:t>
                      </a:r>
                      <a:r>
                        <a:rPr lang="en-US" altLang="zh-CN" sz="1200" b="0" kern="1200" dirty="0">
                          <a:solidFill>
                            <a:schemeClr val="tx1">
                              <a:lumMod val="65000"/>
                              <a:lumOff val="35000"/>
                            </a:schemeClr>
                          </a:solidFill>
                          <a:latin typeface="+mn-lt"/>
                          <a:ea typeface="+mn-ea"/>
                          <a:cs typeface="+mn-cs"/>
                        </a:rPr>
                        <a:t>id_token</a:t>
                      </a:r>
                      <a:r>
                        <a:rPr lang="zh-CN" altLang="en-US" sz="1200" b="0" kern="1200" dirty="0">
                          <a:solidFill>
                            <a:schemeClr val="tx1">
                              <a:lumMod val="65000"/>
                              <a:lumOff val="35000"/>
                            </a:schemeClr>
                          </a:solidFill>
                          <a:latin typeface="+mn-lt"/>
                          <a:ea typeface="+mn-ea"/>
                          <a:cs typeface="+mn-cs"/>
                        </a:rPr>
                        <a:t>受众字段、用非唯一字段区别用户身份</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algn="ctr" defTabSz="914400" rtl="0" eaLnBrk="1" latinLnBrk="0" hangingPunct="1"/>
                      <a:r>
                        <a:rPr lang="zh-CN" altLang="en-US" sz="1200" b="0" kern="1200" dirty="0">
                          <a:solidFill>
                            <a:schemeClr val="tx1">
                              <a:lumMod val="65000"/>
                              <a:lumOff val="35000"/>
                            </a:schemeClr>
                          </a:solidFill>
                          <a:latin typeface="+mn-lt"/>
                          <a:ea typeface="+mn-ea"/>
                          <a:cs typeface="+mn-cs"/>
                        </a:rPr>
                        <a:t>混淆攻击</a:t>
                      </a:r>
                      <a:endParaRPr lang="zh-CN" altLang="en-US" sz="1200" b="0" kern="1200" dirty="0">
                        <a:solidFill>
                          <a:schemeClr val="tx1">
                            <a:lumMod val="65000"/>
                            <a:lumOff val="35000"/>
                          </a:schemeClr>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200" b="0" kern="1200">
                          <a:solidFill>
                            <a:srgbClr val="970001"/>
                          </a:solidFill>
                          <a:latin typeface="+mn-lt"/>
                          <a:ea typeface="+mn-ea"/>
                          <a:cs typeface="+mn-cs"/>
                        </a:rPr>
                        <a:t>攻击者利用客户端验证不严谨，造成账户接管</a:t>
                      </a:r>
                      <a:endParaRPr lang="zh-CN" sz="1200" b="0" kern="1200">
                        <a:solidFill>
                          <a:srgbClr val="970001"/>
                        </a:solidFill>
                        <a:latin typeface="+mn-lt"/>
                        <a:ea typeface="+mn-ea"/>
                        <a:cs typeface="+mn-cs"/>
                      </a:endParaRPr>
                    </a:p>
                  </a:txBody>
                  <a:tcPr anchor="ctr">
                    <a:lnL w="12700" cap="flat" cmpd="sng" algn="ctr">
                      <a:noFill/>
                      <a:prstDash val="solid"/>
                      <a:round/>
                      <a:headEnd type="none" w="med" len="med"/>
                      <a:tailEnd type="none" w="med" len="med"/>
                    </a:lnL>
                    <a:lnR w="12700" cmpd="sng">
                      <a:noFill/>
                    </a:lnR>
                    <a:lnT w="12700" cap="flat" cmpd="sng" algn="ctr">
                      <a:solidFill>
                        <a:schemeClr val="bg2">
                          <a:lumMod val="65000"/>
                        </a:schemeClr>
                      </a:solidFill>
                      <a:prstDash val="solid"/>
                      <a:round/>
                      <a:headEnd type="none" w="med" len="med"/>
                      <a:tailEnd type="none" w="med" len="med"/>
                    </a:lnT>
                    <a:lnB w="12700" cap="flat" cmpd="sng" algn="ctr">
                      <a:solidFill>
                        <a:schemeClr val="bg2">
                          <a:lumMod val="65000"/>
                        </a:schemeClr>
                      </a:solidFill>
                      <a:prstDash val="solid"/>
                      <a:round/>
                      <a:headEnd type="none" w="med" len="med"/>
                      <a:tailEnd type="none" w="med" len="med"/>
                    </a:lnB>
                    <a:noFill/>
                  </a:tcPr>
                </a:tc>
              </a:tr>
            </a:tbl>
          </a:graphicData>
        </a:graphic>
      </p:graphicFrame>
      <p:sp>
        <p:nvSpPr>
          <p:cNvPr id="17" name="矩形 16"/>
          <p:cNvSpPr/>
          <p:nvPr/>
        </p:nvSpPr>
        <p:spPr>
          <a:xfrm>
            <a:off x="5220335" y="871855"/>
            <a:ext cx="1052195" cy="2673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solidFill>
                  <a:schemeClr val="bg2"/>
                </a:solidFill>
                <a:latin typeface="黑体" panose="02010609060101010101" charset="-122"/>
                <a:ea typeface="黑体" panose="02010609060101010101" charset="-122"/>
              </a:rPr>
              <a:t>攻击方式</a:t>
            </a:r>
            <a:endParaRPr kumimoji="1" lang="zh-CN" altLang="en-US" sz="1400" b="1" dirty="0">
              <a:solidFill>
                <a:schemeClr val="bg2"/>
              </a:solidFill>
              <a:latin typeface="黑体" panose="02010609060101010101" charset="-122"/>
              <a:ea typeface="黑体" panose="02010609060101010101" charset="-122"/>
            </a:endParaRPr>
          </a:p>
        </p:txBody>
      </p:sp>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childTnLst>
                          </p:cTn>
                        </p:par>
                        <p:par>
                          <p:cTn id="17" fill="hold">
                            <p:stCondLst>
                              <p:cond delay="1500"/>
                            </p:stCondLst>
                            <p:childTnLst>
                              <p:par>
                                <p:cTn id="18" presetID="22" presetClass="entr" presetSubtype="8" fill="hold" grpId="0" nodeType="afterEffect">
                                  <p:stCondLst>
                                    <p:cond delay="0"/>
                                  </p:stCondLst>
                                  <p:iterate type="lt">
                                    <p:tmPct val="30000"/>
                                  </p:iterate>
                                  <p:childTnLst>
                                    <p:set>
                                      <p:cBhvr>
                                        <p:cTn id="19" dur="1" fill="hold">
                                          <p:stCondLst>
                                            <p:cond delay="0"/>
                                          </p:stCondLst>
                                        </p:cTn>
                                        <p:tgtEl>
                                          <p:spTgt spid="109"/>
                                        </p:tgtEl>
                                        <p:attrNameLst>
                                          <p:attrName>style.visibility</p:attrName>
                                        </p:attrNameLst>
                                      </p:cBhvr>
                                      <p:to>
                                        <p:strVal val="visible"/>
                                      </p:to>
                                    </p:set>
                                    <p:animEffect transition="in" filter="wipe(left)">
                                      <p:cBhvr>
                                        <p:cTn id="20" dur="100"/>
                                        <p:tgtEl>
                                          <p:spTgt spid="109"/>
                                        </p:tgtEl>
                                      </p:cBhvr>
                                    </p:animEffect>
                                  </p:childTnLst>
                                </p:cTn>
                              </p:par>
                              <p:par>
                                <p:cTn id="21" presetID="36" presetClass="emph" presetSubtype="0" fill="hold" grpId="1" nodeType="withEffect">
                                  <p:stCondLst>
                                    <p:cond delay="0"/>
                                  </p:stCondLst>
                                  <p:iterate type="lt">
                                    <p:tmPct val="30000"/>
                                  </p:iterate>
                                  <p:childTnLst>
                                    <p:animScale>
                                      <p:cBhvr>
                                        <p:cTn id="22" dur="50" autoRev="1" fill="hold">
                                          <p:stCondLst>
                                            <p:cond delay="0"/>
                                          </p:stCondLst>
                                        </p:cTn>
                                        <p:tgtEl>
                                          <p:spTgt spid="109"/>
                                        </p:tgtEl>
                                      </p:cBhvr>
                                      <p:to x="80000" y="100000"/>
                                    </p:animScale>
                                    <p:anim by="(#ppt_w*0.10)" calcmode="lin" valueType="num">
                                      <p:cBhvr>
                                        <p:cTn id="23" dur="50" autoRev="1" fill="hold">
                                          <p:stCondLst>
                                            <p:cond delay="0"/>
                                          </p:stCondLst>
                                        </p:cTn>
                                        <p:tgtEl>
                                          <p:spTgt spid="109"/>
                                        </p:tgtEl>
                                        <p:attrNameLst>
                                          <p:attrName>ppt_x</p:attrName>
                                        </p:attrNameLst>
                                      </p:cBhvr>
                                    </p:anim>
                                    <p:anim by="(-#ppt_w*0.10)" calcmode="lin" valueType="num">
                                      <p:cBhvr>
                                        <p:cTn id="24" dur="50" autoRev="1" fill="hold">
                                          <p:stCondLst>
                                            <p:cond delay="0"/>
                                          </p:stCondLst>
                                        </p:cTn>
                                        <p:tgtEl>
                                          <p:spTgt spid="109"/>
                                        </p:tgtEl>
                                        <p:attrNameLst>
                                          <p:attrName>ppt_y</p:attrName>
                                        </p:attrNameLst>
                                      </p:cBhvr>
                                    </p:anim>
                                    <p:animRot by="-480000">
                                      <p:cBhvr>
                                        <p:cTn id="25" dur="50" autoRev="1" fill="hold">
                                          <p:stCondLst>
                                            <p:cond delay="0"/>
                                          </p:stCondLst>
                                        </p:cTn>
                                        <p:tgtEl>
                                          <p:spTgt spid="10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109" grpId="0"/>
      <p:bldP spid="109"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535559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阶段性成果：</a:t>
            </a:r>
            <a:r>
              <a:rPr lang="en-US" altLang="zh-CN" sz="2000" spc="300" dirty="0">
                <a:solidFill>
                  <a:schemeClr val="tx1">
                    <a:lumMod val="65000"/>
                    <a:lumOff val="35000"/>
                  </a:schemeClr>
                </a:solidFill>
                <a:latin typeface="微软雅黑" panose="020B0503020204020204" pitchFamily="34" charset="-122"/>
                <a:ea typeface="微软雅黑" panose="020B0503020204020204" pitchFamily="34" charset="-122"/>
              </a:rPr>
              <a:t>MCP</a:t>
            </a:r>
            <a:r>
              <a:rPr lang="zh-CN" sz="2000" spc="300" dirty="0">
                <a:solidFill>
                  <a:schemeClr val="tx1">
                    <a:lumMod val="65000"/>
                    <a:lumOff val="35000"/>
                  </a:schemeClr>
                </a:solidFill>
                <a:latin typeface="微软雅黑" panose="020B0503020204020204" pitchFamily="34" charset="-122"/>
                <a:ea typeface="微软雅黑" panose="020B0503020204020204" pitchFamily="34" charset="-122"/>
              </a:rPr>
              <a:t>中的</a:t>
            </a:r>
            <a:r>
              <a:rPr lang="en-US" altLang="zh-CN" sz="2000" spc="300" dirty="0">
                <a:solidFill>
                  <a:schemeClr val="tx1">
                    <a:lumMod val="65000"/>
                    <a:lumOff val="35000"/>
                  </a:schemeClr>
                </a:solidFill>
                <a:latin typeface="微软雅黑" panose="020B0503020204020204" pitchFamily="34" charset="-122"/>
                <a:ea typeface="微软雅黑" panose="020B0503020204020204" pitchFamily="34" charset="-122"/>
              </a:rPr>
              <a:t>OAuth</a:t>
            </a:r>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授权问题</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109" name="TextBox 108"/>
          <p:cNvSpPr txBox="1"/>
          <p:nvPr/>
        </p:nvSpPr>
        <p:spPr>
          <a:xfrm>
            <a:off x="921385" y="1563370"/>
            <a:ext cx="2727960" cy="271780"/>
          </a:xfrm>
          <a:prstGeom prst="rect">
            <a:avLst/>
          </a:prstGeom>
          <a:noFill/>
        </p:spPr>
        <p:txBody>
          <a:bodyPr wrap="square" rtlCol="0">
            <a:noAutofit/>
          </a:bodyPr>
          <a:lstStyle/>
          <a:p>
            <a:pPr>
              <a:lnSpc>
                <a:spcPct val="150000"/>
              </a:lnSpc>
            </a:pPr>
            <a:endParaRPr lang="zh-CN" altLang="en-US" sz="11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37" name="图片 36"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4" name="矩形 3"/>
          <p:cNvSpPr/>
          <p:nvPr/>
        </p:nvSpPr>
        <p:spPr>
          <a:xfrm>
            <a:off x="1538605" y="908685"/>
            <a:ext cx="1228090" cy="2673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sz="1400" b="1" dirty="0">
              <a:solidFill>
                <a:schemeClr val="bg2"/>
              </a:solidFill>
            </a:endParaRPr>
          </a:p>
        </p:txBody>
      </p:sp>
      <p:sp>
        <p:nvSpPr>
          <p:cNvPr id="9" name="矩形 8"/>
          <p:cNvSpPr/>
          <p:nvPr/>
        </p:nvSpPr>
        <p:spPr>
          <a:xfrm>
            <a:off x="2988310" y="843280"/>
            <a:ext cx="1479550" cy="2921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solidFill>
                  <a:schemeClr val="bg2"/>
                </a:solidFill>
                <a:latin typeface="黑体" panose="02010609060101010101" charset="-122"/>
                <a:ea typeface="黑体" panose="02010609060101010101" charset="-122"/>
              </a:rPr>
              <a:t>存在实现问题</a:t>
            </a:r>
            <a:endParaRPr kumimoji="1" lang="zh-CN" altLang="en-US" sz="1400" b="1" dirty="0">
              <a:solidFill>
                <a:schemeClr val="bg2"/>
              </a:solidFill>
              <a:latin typeface="黑体" panose="02010609060101010101" charset="-122"/>
              <a:ea typeface="黑体" panose="02010609060101010101" charset="-122"/>
            </a:endParaRPr>
          </a:p>
        </p:txBody>
      </p:sp>
      <p:sp>
        <p:nvSpPr>
          <p:cNvPr id="10" name="矩形 9"/>
          <p:cNvSpPr/>
          <p:nvPr/>
        </p:nvSpPr>
        <p:spPr>
          <a:xfrm>
            <a:off x="7092315" y="826770"/>
            <a:ext cx="1127125" cy="28638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solidFill>
                  <a:schemeClr val="bg2"/>
                </a:solidFill>
                <a:latin typeface="黑体" panose="02010609060101010101" charset="-122"/>
                <a:ea typeface="黑体" panose="02010609060101010101" charset="-122"/>
              </a:rPr>
              <a:t>攻击后果</a:t>
            </a:r>
            <a:endParaRPr kumimoji="1" lang="zh-CN" altLang="en-US" sz="1400" b="1" dirty="0">
              <a:solidFill>
                <a:schemeClr val="bg2"/>
              </a:solidFill>
              <a:latin typeface="黑体" panose="02010609060101010101" charset="-122"/>
              <a:ea typeface="黑体" panose="02010609060101010101" charset="-122"/>
            </a:endParaRPr>
          </a:p>
        </p:txBody>
      </p:sp>
      <p:sp>
        <p:nvSpPr>
          <p:cNvPr id="11" name="矩形 10"/>
          <p:cNvSpPr/>
          <p:nvPr/>
        </p:nvSpPr>
        <p:spPr>
          <a:xfrm>
            <a:off x="1535430" y="839470"/>
            <a:ext cx="1052195" cy="2673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solidFill>
                  <a:schemeClr val="bg2"/>
                </a:solidFill>
                <a:latin typeface="黑体" panose="02010609060101010101" charset="-122"/>
                <a:ea typeface="黑体" panose="02010609060101010101" charset="-122"/>
              </a:rPr>
              <a:t>参数</a:t>
            </a:r>
            <a:endParaRPr kumimoji="1" lang="zh-CN" altLang="en-US" sz="1400" b="1" dirty="0">
              <a:solidFill>
                <a:schemeClr val="bg2"/>
              </a:solidFill>
              <a:latin typeface="黑体" panose="02010609060101010101" charset="-122"/>
              <a:ea typeface="黑体" panose="02010609060101010101" charset="-122"/>
            </a:endParaRPr>
          </a:p>
        </p:txBody>
      </p:sp>
      <p:sp>
        <p:nvSpPr>
          <p:cNvPr id="17" name="矩形 16"/>
          <p:cNvSpPr/>
          <p:nvPr/>
        </p:nvSpPr>
        <p:spPr>
          <a:xfrm>
            <a:off x="5220335" y="871855"/>
            <a:ext cx="1052195" cy="2673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kumimoji="1" lang="zh-CN" altLang="en-US" sz="1400" b="1" dirty="0">
                <a:solidFill>
                  <a:schemeClr val="bg2"/>
                </a:solidFill>
                <a:latin typeface="黑体" panose="02010609060101010101" charset="-122"/>
                <a:ea typeface="黑体" panose="02010609060101010101" charset="-122"/>
              </a:rPr>
              <a:t>攻击方式</a:t>
            </a:r>
            <a:endParaRPr kumimoji="1" lang="zh-CN" altLang="en-US" sz="1400" b="1" dirty="0">
              <a:solidFill>
                <a:schemeClr val="bg2"/>
              </a:solidFill>
              <a:latin typeface="黑体" panose="02010609060101010101" charset="-122"/>
              <a:ea typeface="黑体" panose="02010609060101010101" charset="-122"/>
            </a:endParaRPr>
          </a:p>
        </p:txBody>
      </p:sp>
      <p:pic>
        <p:nvPicPr>
          <p:cNvPr id="3" name="内容占位符 2" descr="原本MCP"/>
          <p:cNvPicPr>
            <a:picLocks noChangeAspect="1"/>
          </p:cNvPicPr>
          <p:nvPr>
            <p:ph idx="1"/>
            <p:custDataLst>
              <p:tags r:id="rId2"/>
            </p:custDataLst>
          </p:nvPr>
        </p:nvPicPr>
        <p:blipFill>
          <a:blip r:embed="rId3"/>
          <a:stretch>
            <a:fillRect/>
          </a:stretch>
        </p:blipFill>
        <p:spPr>
          <a:xfrm>
            <a:off x="1115695" y="627380"/>
            <a:ext cx="6593840" cy="4493260"/>
          </a:xfrm>
          <a:prstGeom prst="rect">
            <a:avLst/>
          </a:prstGeom>
        </p:spPr>
      </p:pic>
      <p:sp>
        <p:nvSpPr>
          <p:cNvPr id="5" name="矩形 4"/>
          <p:cNvSpPr/>
          <p:nvPr/>
        </p:nvSpPr>
        <p:spPr>
          <a:xfrm>
            <a:off x="4716145" y="3003550"/>
            <a:ext cx="2520315" cy="1008380"/>
          </a:xfrm>
          <a:prstGeom prst="rect">
            <a:avLst/>
          </a:prstGeom>
          <a:noFill/>
          <a:ln w="15875">
            <a:solidFill>
              <a:schemeClr val="accent2"/>
            </a:solidFill>
          </a:ln>
          <a:effectLst>
            <a:innerShdw blurRad="63500" dist="25400" dir="8100000">
              <a:prstClr val="black">
                <a:alpha val="50000"/>
              </a:prstClr>
            </a:innerShdw>
          </a:effectLst>
          <a:extLst>
            <a:ext uri="{909E8E84-426E-40DD-AFC4-6F175D3DCCD1}">
              <a14:hiddenFill xmlns:a14="http://schemas.microsoft.com/office/drawing/2010/main">
                <a:solidFill>
                  <a:srgbClr val="0070C0"/>
                </a:solidFill>
              </a14:hiddenFill>
            </a:ext>
          </a:extLst>
        </p:spPr>
        <p:txBody>
          <a:bodyPr vert="horz" wrap="square" lIns="91440" tIns="45720" rIns="91440" bIns="45720" numCol="1" anchor="t" anchorCtr="0" compatLnSpc="1"/>
          <a:p>
            <a:endParaRPr lang="zh-CN" altLang="en-US"/>
          </a:p>
        </p:txBody>
      </p:sp>
    </p:spTree>
    <p:custDataLst>
      <p:tags r:id="rId4"/>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childTnLst>
                          </p:cTn>
                        </p:par>
                        <p:par>
                          <p:cTn id="17" fill="hold">
                            <p:stCondLst>
                              <p:cond delay="1500"/>
                            </p:stCondLst>
                            <p:childTnLst>
                              <p:par>
                                <p:cTn id="18" presetID="22" presetClass="entr" presetSubtype="8" fill="hold" grpId="0" nodeType="afterEffect">
                                  <p:stCondLst>
                                    <p:cond delay="0"/>
                                  </p:stCondLst>
                                  <p:iterate type="lt">
                                    <p:tmPct val="30000"/>
                                  </p:iterate>
                                  <p:childTnLst>
                                    <p:set>
                                      <p:cBhvr>
                                        <p:cTn id="19" dur="1" fill="hold">
                                          <p:stCondLst>
                                            <p:cond delay="0"/>
                                          </p:stCondLst>
                                        </p:cTn>
                                        <p:tgtEl>
                                          <p:spTgt spid="109"/>
                                        </p:tgtEl>
                                        <p:attrNameLst>
                                          <p:attrName>style.visibility</p:attrName>
                                        </p:attrNameLst>
                                      </p:cBhvr>
                                      <p:to>
                                        <p:strVal val="visible"/>
                                      </p:to>
                                    </p:set>
                                    <p:animEffect transition="in" filter="wipe(left)">
                                      <p:cBhvr>
                                        <p:cTn id="20" dur="100"/>
                                        <p:tgtEl>
                                          <p:spTgt spid="109"/>
                                        </p:tgtEl>
                                      </p:cBhvr>
                                    </p:animEffect>
                                  </p:childTnLst>
                                </p:cTn>
                              </p:par>
                              <p:par>
                                <p:cTn id="21" presetID="36" presetClass="emph" presetSubtype="0" fill="hold" grpId="1" nodeType="withEffect">
                                  <p:stCondLst>
                                    <p:cond delay="0"/>
                                  </p:stCondLst>
                                  <p:iterate type="lt">
                                    <p:tmPct val="30000"/>
                                  </p:iterate>
                                  <p:childTnLst>
                                    <p:animScale>
                                      <p:cBhvr>
                                        <p:cTn id="22" dur="50" autoRev="1" fill="hold">
                                          <p:stCondLst>
                                            <p:cond delay="0"/>
                                          </p:stCondLst>
                                        </p:cTn>
                                        <p:tgtEl>
                                          <p:spTgt spid="109"/>
                                        </p:tgtEl>
                                      </p:cBhvr>
                                      <p:to x="80000" y="100000"/>
                                    </p:animScale>
                                    <p:anim by="(#ppt_w*0.10)" calcmode="lin" valueType="num">
                                      <p:cBhvr>
                                        <p:cTn id="23" dur="50" autoRev="1" fill="hold">
                                          <p:stCondLst>
                                            <p:cond delay="0"/>
                                          </p:stCondLst>
                                        </p:cTn>
                                        <p:tgtEl>
                                          <p:spTgt spid="109"/>
                                        </p:tgtEl>
                                        <p:attrNameLst>
                                          <p:attrName>ppt_x</p:attrName>
                                        </p:attrNameLst>
                                      </p:cBhvr>
                                    </p:anim>
                                    <p:anim by="(-#ppt_w*0.10)" calcmode="lin" valueType="num">
                                      <p:cBhvr>
                                        <p:cTn id="24" dur="50" autoRev="1" fill="hold">
                                          <p:stCondLst>
                                            <p:cond delay="0"/>
                                          </p:stCondLst>
                                        </p:cTn>
                                        <p:tgtEl>
                                          <p:spTgt spid="109"/>
                                        </p:tgtEl>
                                        <p:attrNameLst>
                                          <p:attrName>ppt_y</p:attrName>
                                        </p:attrNameLst>
                                      </p:cBhvr>
                                    </p:anim>
                                    <p:animRot by="-480000">
                                      <p:cBhvr>
                                        <p:cTn id="25" dur="50" autoRev="1" fill="hold">
                                          <p:stCondLst>
                                            <p:cond delay="0"/>
                                          </p:stCondLst>
                                        </p:cTn>
                                        <p:tgtEl>
                                          <p:spTgt spid="10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109" grpId="0"/>
      <p:bldP spid="109"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2824480" cy="337185"/>
          </a:xfrm>
          <a:prstGeom prst="rect">
            <a:avLst/>
          </a:prstGeom>
          <a:noFill/>
        </p:spPr>
        <p:txBody>
          <a:bodyPr wrap="none" rtlCol="0">
            <a:spAutoFit/>
          </a:bodyPr>
          <a:lstStyle/>
          <a:p>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解决四个问题，提供四个能力</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custDataLst>
              <p:tags r:id="rId1"/>
            </p:custDataLst>
          </p:nvPr>
        </p:nvSpPr>
        <p:spPr>
          <a:xfrm>
            <a:off x="827283" y="1678216"/>
            <a:ext cx="2152140" cy="677545"/>
          </a:xfrm>
          <a:prstGeom prst="rect">
            <a:avLst/>
          </a:prstGeom>
          <a:noFill/>
        </p:spPr>
        <p:txBody>
          <a:bodyPr wrap="square" lIns="68580" tIns="34290" rIns="68580" bIns="34290" rtlCol="0">
            <a:spAutoFit/>
          </a:bodyPr>
          <a:lstStyle/>
          <a:p>
            <a:pPr algn="just">
              <a:lnSpc>
                <a:spcPct val="130000"/>
              </a:lnSpc>
            </a:pPr>
            <a:r>
              <a:rPr lang="en-US" altLang="zh-CN" sz="1200">
                <a:sym typeface="+mn-ea"/>
              </a:rPr>
              <a:t>1. </a:t>
            </a:r>
            <a:r>
              <a:rPr lang="zh-CN" altLang="en-US" sz="1200">
                <a:sym typeface="+mn-ea"/>
              </a:rPr>
              <a:t>可验证身份</a:t>
            </a:r>
            <a:endParaRPr lang="zh-CN" altLang="en-US" sz="1200"/>
          </a:p>
          <a:p>
            <a:pPr marL="0" indent="0">
              <a:buNone/>
            </a:pPr>
            <a:r>
              <a:rPr lang="zh-CN" altLang="en-US" sz="1200">
                <a:sym typeface="+mn-ea"/>
              </a:rPr>
              <a:t>工具的身份必须是可验证的，防止供应链层面的伪造与替换。</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41" name="TextBox 40"/>
          <p:cNvSpPr txBox="1"/>
          <p:nvPr>
            <p:custDataLst>
              <p:tags r:id="rId2"/>
            </p:custDataLst>
          </p:nvPr>
        </p:nvSpPr>
        <p:spPr>
          <a:xfrm>
            <a:off x="6228027" y="1563916"/>
            <a:ext cx="2152140" cy="1046480"/>
          </a:xfrm>
          <a:prstGeom prst="rect">
            <a:avLst/>
          </a:prstGeom>
          <a:noFill/>
        </p:spPr>
        <p:txBody>
          <a:bodyPr wrap="square" lIns="68580" tIns="34290" rIns="68580" bIns="34290" rtlCol="0">
            <a:spAutoFit/>
          </a:bodyPr>
          <a:lstStyle/>
          <a:p>
            <a:pPr algn="just">
              <a:lnSpc>
                <a:spcPct val="130000"/>
              </a:lnSpc>
            </a:pPr>
            <a:r>
              <a:rPr lang="en-US" altLang="zh-CN" sz="1200">
                <a:sym typeface="+mn-ea"/>
              </a:rPr>
              <a:t>2. </a:t>
            </a:r>
            <a:r>
              <a:rPr lang="zh-CN" altLang="en-US" sz="1200">
                <a:sym typeface="+mn-ea"/>
              </a:rPr>
              <a:t>可控能力</a:t>
            </a:r>
            <a:endParaRPr lang="zh-CN" altLang="en-US" sz="1200"/>
          </a:p>
          <a:p>
            <a:pPr marL="0" indent="0">
              <a:buNone/>
            </a:pPr>
            <a:r>
              <a:rPr lang="zh-CN" altLang="en-US" sz="1200">
                <a:sym typeface="+mn-ea"/>
              </a:rPr>
              <a:t>工具实际能够执行的操作必须受到协议级约束，实现最小权限与分级控制，而不是完全由实现方自行约定。</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42" name="TextBox 41"/>
          <p:cNvSpPr txBox="1"/>
          <p:nvPr>
            <p:custDataLst>
              <p:tags r:id="rId3"/>
            </p:custDataLst>
          </p:nvPr>
        </p:nvSpPr>
        <p:spPr>
          <a:xfrm>
            <a:off x="827283" y="3075683"/>
            <a:ext cx="2152140" cy="1231265"/>
          </a:xfrm>
          <a:prstGeom prst="rect">
            <a:avLst/>
          </a:prstGeom>
          <a:noFill/>
        </p:spPr>
        <p:txBody>
          <a:bodyPr wrap="square" lIns="68580" tIns="34290" rIns="68580" bIns="34290" rtlCol="0">
            <a:spAutoFit/>
          </a:bodyPr>
          <a:lstStyle/>
          <a:p>
            <a:pPr algn="just">
              <a:lnSpc>
                <a:spcPct val="130000"/>
              </a:lnSpc>
            </a:pPr>
            <a:r>
              <a:rPr lang="en-US" altLang="zh-CN" sz="1200">
                <a:sym typeface="+mn-ea"/>
              </a:rPr>
              <a:t>3. </a:t>
            </a:r>
            <a:r>
              <a:rPr lang="zh-CN" altLang="en-US" sz="1200">
                <a:sym typeface="+mn-ea"/>
              </a:rPr>
              <a:t>可证明完整性</a:t>
            </a:r>
            <a:endParaRPr lang="zh-CN" altLang="en-US" sz="1200"/>
          </a:p>
          <a:p>
            <a:pPr marL="0" indent="0">
              <a:buNone/>
            </a:pPr>
            <a:r>
              <a:rPr lang="zh-CN" altLang="en-US" sz="1200">
                <a:sym typeface="+mn-ea"/>
              </a:rPr>
              <a:t>每一次工具调用与回调都应有可验证的完整性保护（请求级签名、回调验签、</a:t>
            </a:r>
            <a:r>
              <a:rPr lang="en-US" altLang="zh-CN" sz="1200">
                <a:sym typeface="+mn-ea"/>
              </a:rPr>
              <a:t>PoP token binding</a:t>
            </a:r>
            <a:r>
              <a:rPr lang="zh-CN" altLang="en-US" sz="1200">
                <a:sym typeface="+mn-ea"/>
              </a:rPr>
              <a:t>），防止中间人篡改与重放。</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sp>
        <p:nvSpPr>
          <p:cNvPr id="43" name="TextBox 42"/>
          <p:cNvSpPr txBox="1"/>
          <p:nvPr>
            <p:custDataLst>
              <p:tags r:id="rId4"/>
            </p:custDataLst>
          </p:nvPr>
        </p:nvSpPr>
        <p:spPr>
          <a:xfrm>
            <a:off x="6300417" y="3235703"/>
            <a:ext cx="2152140" cy="1231265"/>
          </a:xfrm>
          <a:prstGeom prst="rect">
            <a:avLst/>
          </a:prstGeom>
          <a:noFill/>
        </p:spPr>
        <p:txBody>
          <a:bodyPr wrap="square" lIns="68580" tIns="34290" rIns="68580" bIns="34290" rtlCol="0">
            <a:spAutoFit/>
          </a:bodyPr>
          <a:lstStyle/>
          <a:p>
            <a:pPr algn="just">
              <a:lnSpc>
                <a:spcPct val="130000"/>
              </a:lnSpc>
            </a:pPr>
            <a:r>
              <a:rPr lang="en-US" altLang="zh-CN" sz="1200">
                <a:sym typeface="+mn-ea"/>
              </a:rPr>
              <a:t>4. </a:t>
            </a:r>
            <a:r>
              <a:rPr lang="zh-CN" altLang="en-US" sz="1200">
                <a:sym typeface="+mn-ea"/>
              </a:rPr>
              <a:t>可撤销与可审计</a:t>
            </a:r>
            <a:endParaRPr lang="zh-CN" altLang="en-US" sz="1200"/>
          </a:p>
          <a:p>
            <a:pPr marL="0" indent="0">
              <a:buNone/>
            </a:pPr>
            <a:r>
              <a:rPr lang="zh-CN" altLang="en-US" sz="1200">
                <a:sym typeface="+mn-ea"/>
              </a:rPr>
              <a:t>授权应当是可撤销的、可查询状态的，工具调用过程应有完备的审计轨迹（或能够自主撤销），而非</a:t>
            </a:r>
            <a:r>
              <a:rPr lang="en-US" altLang="zh-CN" sz="1200">
                <a:sym typeface="+mn-ea"/>
              </a:rPr>
              <a:t>“</a:t>
            </a:r>
            <a:r>
              <a:rPr lang="zh-CN" altLang="en-US" sz="1200">
                <a:sym typeface="+mn-ea"/>
              </a:rPr>
              <a:t>一次授权永久有效</a:t>
            </a:r>
            <a:r>
              <a:rPr lang="en-US" altLang="zh-CN" sz="1200">
                <a:sym typeface="+mn-ea"/>
              </a:rPr>
              <a:t>”</a:t>
            </a:r>
            <a:r>
              <a:rPr lang="zh-CN" altLang="en-US" sz="1200">
                <a:sym typeface="+mn-ea"/>
              </a:rPr>
              <a:t>。</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sym typeface="+mn-ea"/>
            </a:endParaRPr>
          </a:p>
        </p:txBody>
      </p:sp>
      <p:grpSp>
        <p:nvGrpSpPr>
          <p:cNvPr id="44" name="组合 43"/>
          <p:cNvGrpSpPr/>
          <p:nvPr>
            <p:custDataLst>
              <p:tags r:id="rId5"/>
            </p:custDataLst>
          </p:nvPr>
        </p:nvGrpSpPr>
        <p:grpSpPr>
          <a:xfrm>
            <a:off x="3969791" y="2215117"/>
            <a:ext cx="567456" cy="567383"/>
            <a:chOff x="3570825" y="3196716"/>
            <a:chExt cx="756510" cy="756510"/>
          </a:xfrm>
          <a:solidFill>
            <a:srgbClr val="679E2A"/>
          </a:solidFill>
          <a:effectLst/>
        </p:grpSpPr>
        <p:sp>
          <p:nvSpPr>
            <p:cNvPr id="45" name="泪滴形 44"/>
            <p:cNvSpPr/>
            <p:nvPr>
              <p:custDataLst>
                <p:tags r:id="rId6"/>
              </p:custDataLst>
            </p:nvPr>
          </p:nvSpPr>
          <p:spPr>
            <a:xfrm rot="5400000">
              <a:off x="3570825" y="3196716"/>
              <a:ext cx="756510" cy="756510"/>
            </a:xfrm>
            <a:prstGeom prst="teardrop">
              <a:avLst/>
            </a:prstGeom>
            <a:gr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rgbClr val="FFFFFF"/>
                </a:solidFill>
              </a:endParaRPr>
            </a:p>
          </p:txBody>
        </p:sp>
        <p:sp>
          <p:nvSpPr>
            <p:cNvPr id="46" name="TextBox 45"/>
            <p:cNvSpPr txBox="1"/>
            <p:nvPr>
              <p:custDataLst>
                <p:tags r:id="rId7"/>
              </p:custDataLst>
            </p:nvPr>
          </p:nvSpPr>
          <p:spPr>
            <a:xfrm>
              <a:off x="3710583" y="3328751"/>
              <a:ext cx="476993" cy="492442"/>
            </a:xfrm>
            <a:prstGeom prst="rect">
              <a:avLst/>
            </a:prstGeom>
            <a:grpFill/>
            <a:ln>
              <a:noFill/>
            </a:ln>
          </p:spPr>
          <p:txBody>
            <a:bodyPr wrap="non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A</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grpSp>
        <p:nvGrpSpPr>
          <p:cNvPr id="47" name="组合 46"/>
          <p:cNvGrpSpPr/>
          <p:nvPr>
            <p:custDataLst>
              <p:tags r:id="rId8"/>
            </p:custDataLst>
          </p:nvPr>
        </p:nvGrpSpPr>
        <p:grpSpPr>
          <a:xfrm>
            <a:off x="4606744" y="2215117"/>
            <a:ext cx="567456" cy="567383"/>
            <a:chOff x="4419984" y="3196716"/>
            <a:chExt cx="756510" cy="756510"/>
          </a:xfrm>
          <a:solidFill>
            <a:srgbClr val="679E2A"/>
          </a:solidFill>
          <a:effectLst/>
        </p:grpSpPr>
        <p:sp>
          <p:nvSpPr>
            <p:cNvPr id="48" name="泪滴形 47"/>
            <p:cNvSpPr/>
            <p:nvPr>
              <p:custDataLst>
                <p:tags r:id="rId9"/>
              </p:custDataLst>
            </p:nvPr>
          </p:nvSpPr>
          <p:spPr>
            <a:xfrm rot="10800000">
              <a:off x="4419984" y="3196716"/>
              <a:ext cx="756510" cy="756510"/>
            </a:xfrm>
            <a:prstGeom prst="teardrop">
              <a:avLst/>
            </a:prstGeom>
            <a:gr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rgbClr val="FFFFFF"/>
                </a:solidFill>
              </a:endParaRPr>
            </a:p>
          </p:txBody>
        </p:sp>
        <p:sp>
          <p:nvSpPr>
            <p:cNvPr id="49" name="TextBox 48"/>
            <p:cNvSpPr txBox="1"/>
            <p:nvPr>
              <p:custDataLst>
                <p:tags r:id="rId10"/>
              </p:custDataLst>
            </p:nvPr>
          </p:nvSpPr>
          <p:spPr>
            <a:xfrm>
              <a:off x="4570429" y="3328752"/>
              <a:ext cx="455621" cy="492442"/>
            </a:xfrm>
            <a:prstGeom prst="rect">
              <a:avLst/>
            </a:prstGeom>
            <a:grpFill/>
            <a:ln>
              <a:noFill/>
            </a:ln>
          </p:spPr>
          <p:txBody>
            <a:bodyPr wrap="non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B</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grpSp>
        <p:nvGrpSpPr>
          <p:cNvPr id="50" name="组合 49"/>
          <p:cNvGrpSpPr/>
          <p:nvPr>
            <p:custDataLst>
              <p:tags r:id="rId11"/>
            </p:custDataLst>
          </p:nvPr>
        </p:nvGrpSpPr>
        <p:grpSpPr>
          <a:xfrm>
            <a:off x="3969791" y="2853280"/>
            <a:ext cx="567456" cy="567383"/>
            <a:chOff x="3570825" y="4047600"/>
            <a:chExt cx="756510" cy="756510"/>
          </a:xfrm>
          <a:solidFill>
            <a:srgbClr val="679E2A"/>
          </a:solidFill>
          <a:effectLst/>
        </p:grpSpPr>
        <p:sp>
          <p:nvSpPr>
            <p:cNvPr id="51" name="泪滴形 50"/>
            <p:cNvSpPr/>
            <p:nvPr>
              <p:custDataLst>
                <p:tags r:id="rId12"/>
              </p:custDataLst>
            </p:nvPr>
          </p:nvSpPr>
          <p:spPr>
            <a:xfrm>
              <a:off x="3570825" y="4047600"/>
              <a:ext cx="756510" cy="756510"/>
            </a:xfrm>
            <a:prstGeom prst="teardrop">
              <a:avLst/>
            </a:prstGeom>
            <a:gr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rgbClr val="FFFFFF"/>
                </a:solidFill>
              </a:endParaRPr>
            </a:p>
          </p:txBody>
        </p:sp>
        <p:sp>
          <p:nvSpPr>
            <p:cNvPr id="52" name="TextBox 51"/>
            <p:cNvSpPr txBox="1"/>
            <p:nvPr>
              <p:custDataLst>
                <p:tags r:id="rId13"/>
              </p:custDataLst>
            </p:nvPr>
          </p:nvSpPr>
          <p:spPr>
            <a:xfrm>
              <a:off x="3722337" y="4179633"/>
              <a:ext cx="453485" cy="492442"/>
            </a:xfrm>
            <a:prstGeom prst="rect">
              <a:avLst/>
            </a:prstGeom>
            <a:grpFill/>
            <a:ln>
              <a:noFill/>
            </a:ln>
          </p:spPr>
          <p:txBody>
            <a:bodyPr wrap="non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C</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grpSp>
        <p:nvGrpSpPr>
          <p:cNvPr id="53" name="组合 52"/>
          <p:cNvGrpSpPr/>
          <p:nvPr>
            <p:custDataLst>
              <p:tags r:id="rId14"/>
            </p:custDataLst>
          </p:nvPr>
        </p:nvGrpSpPr>
        <p:grpSpPr>
          <a:xfrm>
            <a:off x="4606744" y="2853280"/>
            <a:ext cx="567456" cy="567383"/>
            <a:chOff x="4419984" y="4047600"/>
            <a:chExt cx="756510" cy="756510"/>
          </a:xfrm>
          <a:solidFill>
            <a:srgbClr val="679E2A"/>
          </a:solidFill>
          <a:effectLst/>
        </p:grpSpPr>
        <p:sp>
          <p:nvSpPr>
            <p:cNvPr id="54" name="泪滴形 53"/>
            <p:cNvSpPr/>
            <p:nvPr>
              <p:custDataLst>
                <p:tags r:id="rId15"/>
              </p:custDataLst>
            </p:nvPr>
          </p:nvSpPr>
          <p:spPr>
            <a:xfrm rot="16200000">
              <a:off x="4419984" y="4047600"/>
              <a:ext cx="756510" cy="756510"/>
            </a:xfrm>
            <a:prstGeom prst="teardrop">
              <a:avLst/>
            </a:prstGeom>
            <a:grp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zh-CN" altLang="en-US">
                <a:solidFill>
                  <a:srgbClr val="FFFFFF"/>
                </a:solidFill>
              </a:endParaRPr>
            </a:p>
          </p:txBody>
        </p:sp>
        <p:sp>
          <p:nvSpPr>
            <p:cNvPr id="55" name="TextBox 54"/>
            <p:cNvSpPr txBox="1"/>
            <p:nvPr>
              <p:custDataLst>
                <p:tags r:id="rId16"/>
              </p:custDataLst>
            </p:nvPr>
          </p:nvSpPr>
          <p:spPr>
            <a:xfrm>
              <a:off x="4553331" y="4179633"/>
              <a:ext cx="489814" cy="492442"/>
            </a:xfrm>
            <a:prstGeom prst="rect">
              <a:avLst/>
            </a:prstGeom>
            <a:grpFill/>
            <a:ln>
              <a:noFill/>
            </a:ln>
          </p:spPr>
          <p:txBody>
            <a:bodyPr wrap="none" rtlCol="0" anchor="ctr">
              <a:spAutoFit/>
            </a:bodyPr>
            <a:lstStyle/>
            <a:p>
              <a:pPr algn="ctr"/>
              <a:r>
                <a:rPr lang="en-US" altLang="zh-CN" b="1" dirty="0">
                  <a:solidFill>
                    <a:schemeClr val="bg1"/>
                  </a:solidFill>
                  <a:latin typeface="微软雅黑" panose="020B0503020204020204" pitchFamily="34" charset="-122"/>
                  <a:ea typeface="微软雅黑" panose="020B0503020204020204" pitchFamily="34" charset="-122"/>
                </a:rPr>
                <a:t>D</a:t>
              </a:r>
              <a:endParaRPr lang="zh-CN" altLang="en-US" b="1" dirty="0">
                <a:solidFill>
                  <a:schemeClr val="bg1"/>
                </a:solidFill>
                <a:latin typeface="微软雅黑" panose="020B0503020204020204" pitchFamily="34" charset="-122"/>
                <a:ea typeface="微软雅黑" panose="020B0503020204020204" pitchFamily="34" charset="-122"/>
              </a:endParaRPr>
            </a:p>
          </p:txBody>
        </p:sp>
      </p:grpSp>
      <p:sp>
        <p:nvSpPr>
          <p:cNvPr id="56" name="椭圆 55"/>
          <p:cNvSpPr/>
          <p:nvPr>
            <p:custDataLst>
              <p:tags r:id="rId17"/>
            </p:custDataLst>
          </p:nvPr>
        </p:nvSpPr>
        <p:spPr>
          <a:xfrm>
            <a:off x="3129551" y="1480858"/>
            <a:ext cx="1102468" cy="1102323"/>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zh-CN" altLang="en-US">
                <a:solidFill>
                  <a:schemeClr val="tx1"/>
                </a:solidFill>
                <a:sym typeface="+mn-ea"/>
              </a:rPr>
              <a:t>工具身份伪造</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sp>
        <p:nvSpPr>
          <p:cNvPr id="57" name="椭圆 56"/>
          <p:cNvSpPr/>
          <p:nvPr>
            <p:custDataLst>
              <p:tags r:id="rId18"/>
            </p:custDataLst>
          </p:nvPr>
        </p:nvSpPr>
        <p:spPr>
          <a:xfrm>
            <a:off x="4911981" y="1480858"/>
            <a:ext cx="1102468" cy="1102323"/>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zh-CN" altLang="en-US">
                <a:solidFill>
                  <a:schemeClr val="tx1"/>
                </a:solidFill>
                <a:sym typeface="+mn-ea"/>
              </a:rPr>
              <a:t>权限</a:t>
            </a:r>
            <a:endParaRPr lang="zh-CN" altLang="en-US">
              <a:solidFill>
                <a:schemeClr val="tx1"/>
              </a:solidFill>
              <a:sym typeface="+mn-ea"/>
            </a:endParaRPr>
          </a:p>
          <a:p>
            <a:pPr algn="ctr"/>
            <a:r>
              <a:rPr lang="zh-CN" altLang="en-US">
                <a:solidFill>
                  <a:schemeClr val="tx1"/>
                </a:solidFill>
                <a:sym typeface="+mn-ea"/>
              </a:rPr>
              <a:t>滥用</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sp>
        <p:nvSpPr>
          <p:cNvPr id="58" name="椭圆 57"/>
          <p:cNvSpPr/>
          <p:nvPr>
            <p:custDataLst>
              <p:tags r:id="rId19"/>
            </p:custDataLst>
          </p:nvPr>
        </p:nvSpPr>
        <p:spPr>
          <a:xfrm>
            <a:off x="3129551" y="3035601"/>
            <a:ext cx="1102468" cy="1102323"/>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zh-CN" altLang="en-US">
                <a:solidFill>
                  <a:schemeClr val="tx1"/>
                </a:solidFill>
                <a:sym typeface="+mn-ea"/>
              </a:rPr>
              <a:t>回调</a:t>
            </a:r>
            <a:endParaRPr lang="zh-CN" altLang="en-US">
              <a:solidFill>
                <a:schemeClr val="tx1"/>
              </a:solidFill>
              <a:sym typeface="+mn-ea"/>
            </a:endParaRPr>
          </a:p>
          <a:p>
            <a:pPr algn="ctr"/>
            <a:r>
              <a:rPr lang="zh-CN" altLang="en-US">
                <a:solidFill>
                  <a:schemeClr val="tx1"/>
                </a:solidFill>
                <a:sym typeface="+mn-ea"/>
              </a:rPr>
              <a:t>污染</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sp>
        <p:nvSpPr>
          <p:cNvPr id="59" name="椭圆 58"/>
          <p:cNvSpPr/>
          <p:nvPr>
            <p:custDataLst>
              <p:tags r:id="rId20"/>
            </p:custDataLst>
          </p:nvPr>
        </p:nvSpPr>
        <p:spPr>
          <a:xfrm>
            <a:off x="4911981" y="3035601"/>
            <a:ext cx="1102468" cy="1102323"/>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zh-CN" altLang="en-US">
                <a:solidFill>
                  <a:schemeClr val="tx1"/>
                </a:solidFill>
                <a:sym typeface="+mn-ea"/>
              </a:rPr>
              <a:t>长周期</a:t>
            </a:r>
            <a:r>
              <a:rPr lang="en-US" altLang="zh-CN">
                <a:solidFill>
                  <a:schemeClr val="tx1"/>
                </a:solidFill>
                <a:sym typeface="+mn-ea"/>
              </a:rPr>
              <a:t> Token </a:t>
            </a:r>
            <a:r>
              <a:rPr lang="zh-CN" altLang="en-US">
                <a:solidFill>
                  <a:schemeClr val="tx1"/>
                </a:solidFill>
                <a:sym typeface="+mn-ea"/>
              </a:rPr>
              <a:t>滥用</a:t>
            </a:r>
            <a:endParaRPr lang="zh-CN" altLang="en-US" dirty="0">
              <a:solidFill>
                <a:schemeClr val="tx1"/>
              </a:solidFill>
              <a:latin typeface="微软雅黑" panose="020B0503020204020204" pitchFamily="34" charset="-122"/>
              <a:ea typeface="微软雅黑" panose="020B0503020204020204" pitchFamily="34" charset="-122"/>
              <a:sym typeface="+mn-ea"/>
            </a:endParaRPr>
          </a:p>
        </p:txBody>
      </p:sp>
      <p:pic>
        <p:nvPicPr>
          <p:cNvPr id="29" name="图片 28" descr="图片包含 物体&#10;&#10;描述已自动生成"/>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2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53" presetClass="entr" presetSubtype="16" fill="hold" nodeType="afterEffect">
                                  <p:stCondLst>
                                    <p:cond delay="0"/>
                                  </p:stCondLst>
                                  <p:childTnLst>
                                    <p:set>
                                      <p:cBhvr>
                                        <p:cTn id="27" dur="1" fill="hold">
                                          <p:stCondLst>
                                            <p:cond delay="0"/>
                                          </p:stCondLst>
                                        </p:cTn>
                                        <p:tgtEl>
                                          <p:spTgt spid="44"/>
                                        </p:tgtEl>
                                        <p:attrNameLst>
                                          <p:attrName>style.visibility</p:attrName>
                                        </p:attrNameLst>
                                      </p:cBhvr>
                                      <p:to>
                                        <p:strVal val="visible"/>
                                      </p:to>
                                    </p:set>
                                    <p:anim calcmode="lin" valueType="num">
                                      <p:cBhvr>
                                        <p:cTn id="28" dur="500" fill="hold"/>
                                        <p:tgtEl>
                                          <p:spTgt spid="44"/>
                                        </p:tgtEl>
                                        <p:attrNameLst>
                                          <p:attrName>ppt_w</p:attrName>
                                        </p:attrNameLst>
                                      </p:cBhvr>
                                      <p:tavLst>
                                        <p:tav tm="0">
                                          <p:val>
                                            <p:fltVal val="0"/>
                                          </p:val>
                                        </p:tav>
                                        <p:tav tm="100000">
                                          <p:val>
                                            <p:strVal val="#ppt_w"/>
                                          </p:val>
                                        </p:tav>
                                      </p:tavLst>
                                    </p:anim>
                                    <p:anim calcmode="lin" valueType="num">
                                      <p:cBhvr>
                                        <p:cTn id="29" dur="500" fill="hold"/>
                                        <p:tgtEl>
                                          <p:spTgt spid="44"/>
                                        </p:tgtEl>
                                        <p:attrNameLst>
                                          <p:attrName>ppt_h</p:attrName>
                                        </p:attrNameLst>
                                      </p:cBhvr>
                                      <p:tavLst>
                                        <p:tav tm="0">
                                          <p:val>
                                            <p:fltVal val="0"/>
                                          </p:val>
                                        </p:tav>
                                        <p:tav tm="100000">
                                          <p:val>
                                            <p:strVal val="#ppt_h"/>
                                          </p:val>
                                        </p:tav>
                                      </p:tavLst>
                                    </p:anim>
                                    <p:animEffect transition="in" filter="fade">
                                      <p:cBhvr>
                                        <p:cTn id="30" dur="500"/>
                                        <p:tgtEl>
                                          <p:spTgt spid="44"/>
                                        </p:tgtEl>
                                      </p:cBhvr>
                                    </p:animEffect>
                                  </p:childTnLst>
                                </p:cTn>
                              </p:par>
                              <p:par>
                                <p:cTn id="31" presetID="53" presetClass="entr" presetSubtype="16" fill="hold" nodeType="withEffect">
                                  <p:stCondLst>
                                    <p:cond delay="100"/>
                                  </p:stCondLst>
                                  <p:childTnLst>
                                    <p:set>
                                      <p:cBhvr>
                                        <p:cTn id="32" dur="1" fill="hold">
                                          <p:stCondLst>
                                            <p:cond delay="0"/>
                                          </p:stCondLst>
                                        </p:cTn>
                                        <p:tgtEl>
                                          <p:spTgt spid="47"/>
                                        </p:tgtEl>
                                        <p:attrNameLst>
                                          <p:attrName>style.visibility</p:attrName>
                                        </p:attrNameLst>
                                      </p:cBhvr>
                                      <p:to>
                                        <p:strVal val="visible"/>
                                      </p:to>
                                    </p:set>
                                    <p:anim calcmode="lin" valueType="num">
                                      <p:cBhvr>
                                        <p:cTn id="33" dur="500" fill="hold"/>
                                        <p:tgtEl>
                                          <p:spTgt spid="47"/>
                                        </p:tgtEl>
                                        <p:attrNameLst>
                                          <p:attrName>ppt_w</p:attrName>
                                        </p:attrNameLst>
                                      </p:cBhvr>
                                      <p:tavLst>
                                        <p:tav tm="0">
                                          <p:val>
                                            <p:fltVal val="0"/>
                                          </p:val>
                                        </p:tav>
                                        <p:tav tm="100000">
                                          <p:val>
                                            <p:strVal val="#ppt_w"/>
                                          </p:val>
                                        </p:tav>
                                      </p:tavLst>
                                    </p:anim>
                                    <p:anim calcmode="lin" valueType="num">
                                      <p:cBhvr>
                                        <p:cTn id="34" dur="500" fill="hold"/>
                                        <p:tgtEl>
                                          <p:spTgt spid="47"/>
                                        </p:tgtEl>
                                        <p:attrNameLst>
                                          <p:attrName>ppt_h</p:attrName>
                                        </p:attrNameLst>
                                      </p:cBhvr>
                                      <p:tavLst>
                                        <p:tav tm="0">
                                          <p:val>
                                            <p:fltVal val="0"/>
                                          </p:val>
                                        </p:tav>
                                        <p:tav tm="100000">
                                          <p:val>
                                            <p:strVal val="#ppt_h"/>
                                          </p:val>
                                        </p:tav>
                                      </p:tavLst>
                                    </p:anim>
                                    <p:animEffect transition="in" filter="fade">
                                      <p:cBhvr>
                                        <p:cTn id="35" dur="500"/>
                                        <p:tgtEl>
                                          <p:spTgt spid="47"/>
                                        </p:tgtEl>
                                      </p:cBhvr>
                                    </p:animEffect>
                                  </p:childTnLst>
                                </p:cTn>
                              </p:par>
                              <p:par>
                                <p:cTn id="36" presetID="53" presetClass="entr" presetSubtype="16" fill="hold" nodeType="withEffect">
                                  <p:stCondLst>
                                    <p:cond delay="200"/>
                                  </p:stCondLst>
                                  <p:childTnLst>
                                    <p:set>
                                      <p:cBhvr>
                                        <p:cTn id="37" dur="1" fill="hold">
                                          <p:stCondLst>
                                            <p:cond delay="0"/>
                                          </p:stCondLst>
                                        </p:cTn>
                                        <p:tgtEl>
                                          <p:spTgt spid="50"/>
                                        </p:tgtEl>
                                        <p:attrNameLst>
                                          <p:attrName>style.visibility</p:attrName>
                                        </p:attrNameLst>
                                      </p:cBhvr>
                                      <p:to>
                                        <p:strVal val="visible"/>
                                      </p:to>
                                    </p:set>
                                    <p:anim calcmode="lin" valueType="num">
                                      <p:cBhvr>
                                        <p:cTn id="38" dur="500" fill="hold"/>
                                        <p:tgtEl>
                                          <p:spTgt spid="50"/>
                                        </p:tgtEl>
                                        <p:attrNameLst>
                                          <p:attrName>ppt_w</p:attrName>
                                        </p:attrNameLst>
                                      </p:cBhvr>
                                      <p:tavLst>
                                        <p:tav tm="0">
                                          <p:val>
                                            <p:fltVal val="0"/>
                                          </p:val>
                                        </p:tav>
                                        <p:tav tm="100000">
                                          <p:val>
                                            <p:strVal val="#ppt_w"/>
                                          </p:val>
                                        </p:tav>
                                      </p:tavLst>
                                    </p:anim>
                                    <p:anim calcmode="lin" valueType="num">
                                      <p:cBhvr>
                                        <p:cTn id="39" dur="500" fill="hold"/>
                                        <p:tgtEl>
                                          <p:spTgt spid="50"/>
                                        </p:tgtEl>
                                        <p:attrNameLst>
                                          <p:attrName>ppt_h</p:attrName>
                                        </p:attrNameLst>
                                      </p:cBhvr>
                                      <p:tavLst>
                                        <p:tav tm="0">
                                          <p:val>
                                            <p:fltVal val="0"/>
                                          </p:val>
                                        </p:tav>
                                        <p:tav tm="100000">
                                          <p:val>
                                            <p:strVal val="#ppt_h"/>
                                          </p:val>
                                        </p:tav>
                                      </p:tavLst>
                                    </p:anim>
                                    <p:animEffect transition="in" filter="fade">
                                      <p:cBhvr>
                                        <p:cTn id="40" dur="500"/>
                                        <p:tgtEl>
                                          <p:spTgt spid="50"/>
                                        </p:tgtEl>
                                      </p:cBhvr>
                                    </p:animEffect>
                                  </p:childTnLst>
                                </p:cTn>
                              </p:par>
                              <p:par>
                                <p:cTn id="41" presetID="53" presetClass="entr" presetSubtype="16" fill="hold" nodeType="withEffect">
                                  <p:stCondLst>
                                    <p:cond delay="300"/>
                                  </p:stCondLst>
                                  <p:childTnLst>
                                    <p:set>
                                      <p:cBhvr>
                                        <p:cTn id="42" dur="1" fill="hold">
                                          <p:stCondLst>
                                            <p:cond delay="0"/>
                                          </p:stCondLst>
                                        </p:cTn>
                                        <p:tgtEl>
                                          <p:spTgt spid="53"/>
                                        </p:tgtEl>
                                        <p:attrNameLst>
                                          <p:attrName>style.visibility</p:attrName>
                                        </p:attrNameLst>
                                      </p:cBhvr>
                                      <p:to>
                                        <p:strVal val="visible"/>
                                      </p:to>
                                    </p:set>
                                    <p:anim calcmode="lin" valueType="num">
                                      <p:cBhvr>
                                        <p:cTn id="43" dur="500" fill="hold"/>
                                        <p:tgtEl>
                                          <p:spTgt spid="53"/>
                                        </p:tgtEl>
                                        <p:attrNameLst>
                                          <p:attrName>ppt_w</p:attrName>
                                        </p:attrNameLst>
                                      </p:cBhvr>
                                      <p:tavLst>
                                        <p:tav tm="0">
                                          <p:val>
                                            <p:fltVal val="0"/>
                                          </p:val>
                                        </p:tav>
                                        <p:tav tm="100000">
                                          <p:val>
                                            <p:strVal val="#ppt_w"/>
                                          </p:val>
                                        </p:tav>
                                      </p:tavLst>
                                    </p:anim>
                                    <p:anim calcmode="lin" valueType="num">
                                      <p:cBhvr>
                                        <p:cTn id="44" dur="500" fill="hold"/>
                                        <p:tgtEl>
                                          <p:spTgt spid="53"/>
                                        </p:tgtEl>
                                        <p:attrNameLst>
                                          <p:attrName>ppt_h</p:attrName>
                                        </p:attrNameLst>
                                      </p:cBhvr>
                                      <p:tavLst>
                                        <p:tav tm="0">
                                          <p:val>
                                            <p:fltVal val="0"/>
                                          </p:val>
                                        </p:tav>
                                        <p:tav tm="100000">
                                          <p:val>
                                            <p:strVal val="#ppt_h"/>
                                          </p:val>
                                        </p:tav>
                                      </p:tavLst>
                                    </p:anim>
                                    <p:animEffect transition="in" filter="fade">
                                      <p:cBhvr>
                                        <p:cTn id="45" dur="500"/>
                                        <p:tgtEl>
                                          <p:spTgt spid="53"/>
                                        </p:tgtEl>
                                      </p:cBhvr>
                                    </p:animEffect>
                                  </p:childTnLst>
                                </p:cTn>
                              </p:par>
                              <p:par>
                                <p:cTn id="46" presetID="23" presetClass="entr" presetSubtype="16" fill="hold" grpId="0" nodeType="withEffect">
                                  <p:stCondLst>
                                    <p:cond delay="500"/>
                                  </p:stCondLst>
                                  <p:childTnLst>
                                    <p:set>
                                      <p:cBhvr>
                                        <p:cTn id="47" dur="1" fill="hold">
                                          <p:stCondLst>
                                            <p:cond delay="0"/>
                                          </p:stCondLst>
                                        </p:cTn>
                                        <p:tgtEl>
                                          <p:spTgt spid="56"/>
                                        </p:tgtEl>
                                        <p:attrNameLst>
                                          <p:attrName>style.visibility</p:attrName>
                                        </p:attrNameLst>
                                      </p:cBhvr>
                                      <p:to>
                                        <p:strVal val="visible"/>
                                      </p:to>
                                    </p:set>
                                    <p:anim calcmode="lin" valueType="num">
                                      <p:cBhvr>
                                        <p:cTn id="48" dur="300" fill="hold"/>
                                        <p:tgtEl>
                                          <p:spTgt spid="56"/>
                                        </p:tgtEl>
                                        <p:attrNameLst>
                                          <p:attrName>ppt_w</p:attrName>
                                        </p:attrNameLst>
                                      </p:cBhvr>
                                      <p:tavLst>
                                        <p:tav tm="0">
                                          <p:val>
                                            <p:fltVal val="0"/>
                                          </p:val>
                                        </p:tav>
                                        <p:tav tm="100000">
                                          <p:val>
                                            <p:strVal val="#ppt_w"/>
                                          </p:val>
                                        </p:tav>
                                      </p:tavLst>
                                    </p:anim>
                                    <p:anim calcmode="lin" valueType="num">
                                      <p:cBhvr>
                                        <p:cTn id="49" dur="300" fill="hold"/>
                                        <p:tgtEl>
                                          <p:spTgt spid="56"/>
                                        </p:tgtEl>
                                        <p:attrNameLst>
                                          <p:attrName>ppt_h</p:attrName>
                                        </p:attrNameLst>
                                      </p:cBhvr>
                                      <p:tavLst>
                                        <p:tav tm="0">
                                          <p:val>
                                            <p:fltVal val="0"/>
                                          </p:val>
                                        </p:tav>
                                        <p:tav tm="100000">
                                          <p:val>
                                            <p:strVal val="#ppt_h"/>
                                          </p:val>
                                        </p:tav>
                                      </p:tavLst>
                                    </p:anim>
                                  </p:childTnLst>
                                </p:cTn>
                              </p:par>
                              <p:par>
                                <p:cTn id="50" presetID="6" presetClass="emph" presetSubtype="0" autoRev="1" fill="hold" grpId="1" nodeType="withEffect">
                                  <p:stCondLst>
                                    <p:cond delay="750"/>
                                  </p:stCondLst>
                                  <p:childTnLst>
                                    <p:animScale>
                                      <p:cBhvr>
                                        <p:cTn id="51" dur="200" fill="hold"/>
                                        <p:tgtEl>
                                          <p:spTgt spid="56"/>
                                        </p:tgtEl>
                                      </p:cBhvr>
                                      <p:by x="110000" y="110000"/>
                                    </p:animScale>
                                  </p:childTnLst>
                                </p:cTn>
                              </p:par>
                              <p:par>
                                <p:cTn id="52" presetID="23" presetClass="entr" presetSubtype="16" fill="hold" grpId="0" nodeType="withEffect">
                                  <p:stCondLst>
                                    <p:cond delay="750"/>
                                  </p:stCondLst>
                                  <p:childTnLst>
                                    <p:set>
                                      <p:cBhvr>
                                        <p:cTn id="53" dur="1" fill="hold">
                                          <p:stCondLst>
                                            <p:cond delay="0"/>
                                          </p:stCondLst>
                                        </p:cTn>
                                        <p:tgtEl>
                                          <p:spTgt spid="57"/>
                                        </p:tgtEl>
                                        <p:attrNameLst>
                                          <p:attrName>style.visibility</p:attrName>
                                        </p:attrNameLst>
                                      </p:cBhvr>
                                      <p:to>
                                        <p:strVal val="visible"/>
                                      </p:to>
                                    </p:set>
                                    <p:anim calcmode="lin" valueType="num">
                                      <p:cBhvr>
                                        <p:cTn id="54" dur="300" fill="hold"/>
                                        <p:tgtEl>
                                          <p:spTgt spid="57"/>
                                        </p:tgtEl>
                                        <p:attrNameLst>
                                          <p:attrName>ppt_w</p:attrName>
                                        </p:attrNameLst>
                                      </p:cBhvr>
                                      <p:tavLst>
                                        <p:tav tm="0">
                                          <p:val>
                                            <p:fltVal val="0"/>
                                          </p:val>
                                        </p:tav>
                                        <p:tav tm="100000">
                                          <p:val>
                                            <p:strVal val="#ppt_w"/>
                                          </p:val>
                                        </p:tav>
                                      </p:tavLst>
                                    </p:anim>
                                    <p:anim calcmode="lin" valueType="num">
                                      <p:cBhvr>
                                        <p:cTn id="55" dur="300" fill="hold"/>
                                        <p:tgtEl>
                                          <p:spTgt spid="57"/>
                                        </p:tgtEl>
                                        <p:attrNameLst>
                                          <p:attrName>ppt_h</p:attrName>
                                        </p:attrNameLst>
                                      </p:cBhvr>
                                      <p:tavLst>
                                        <p:tav tm="0">
                                          <p:val>
                                            <p:fltVal val="0"/>
                                          </p:val>
                                        </p:tav>
                                        <p:tav tm="100000">
                                          <p:val>
                                            <p:strVal val="#ppt_h"/>
                                          </p:val>
                                        </p:tav>
                                      </p:tavLst>
                                    </p:anim>
                                  </p:childTnLst>
                                </p:cTn>
                              </p:par>
                              <p:par>
                                <p:cTn id="56" presetID="6" presetClass="emph" presetSubtype="0" autoRev="1" fill="hold" grpId="1" nodeType="withEffect">
                                  <p:stCondLst>
                                    <p:cond delay="1000"/>
                                  </p:stCondLst>
                                  <p:childTnLst>
                                    <p:animScale>
                                      <p:cBhvr>
                                        <p:cTn id="57" dur="200" fill="hold"/>
                                        <p:tgtEl>
                                          <p:spTgt spid="57"/>
                                        </p:tgtEl>
                                      </p:cBhvr>
                                      <p:by x="110000" y="110000"/>
                                    </p:animScale>
                                  </p:childTnLst>
                                </p:cTn>
                              </p:par>
                              <p:par>
                                <p:cTn id="58" presetID="23" presetClass="entr" presetSubtype="16" fill="hold" grpId="0" nodeType="withEffect">
                                  <p:stCondLst>
                                    <p:cond delay="1000"/>
                                  </p:stCondLst>
                                  <p:childTnLst>
                                    <p:set>
                                      <p:cBhvr>
                                        <p:cTn id="59" dur="1" fill="hold">
                                          <p:stCondLst>
                                            <p:cond delay="0"/>
                                          </p:stCondLst>
                                        </p:cTn>
                                        <p:tgtEl>
                                          <p:spTgt spid="58"/>
                                        </p:tgtEl>
                                        <p:attrNameLst>
                                          <p:attrName>style.visibility</p:attrName>
                                        </p:attrNameLst>
                                      </p:cBhvr>
                                      <p:to>
                                        <p:strVal val="visible"/>
                                      </p:to>
                                    </p:set>
                                    <p:anim calcmode="lin" valueType="num">
                                      <p:cBhvr>
                                        <p:cTn id="60" dur="300" fill="hold"/>
                                        <p:tgtEl>
                                          <p:spTgt spid="58"/>
                                        </p:tgtEl>
                                        <p:attrNameLst>
                                          <p:attrName>ppt_w</p:attrName>
                                        </p:attrNameLst>
                                      </p:cBhvr>
                                      <p:tavLst>
                                        <p:tav tm="0">
                                          <p:val>
                                            <p:fltVal val="0"/>
                                          </p:val>
                                        </p:tav>
                                        <p:tav tm="100000">
                                          <p:val>
                                            <p:strVal val="#ppt_w"/>
                                          </p:val>
                                        </p:tav>
                                      </p:tavLst>
                                    </p:anim>
                                    <p:anim calcmode="lin" valueType="num">
                                      <p:cBhvr>
                                        <p:cTn id="61" dur="300" fill="hold"/>
                                        <p:tgtEl>
                                          <p:spTgt spid="58"/>
                                        </p:tgtEl>
                                        <p:attrNameLst>
                                          <p:attrName>ppt_h</p:attrName>
                                        </p:attrNameLst>
                                      </p:cBhvr>
                                      <p:tavLst>
                                        <p:tav tm="0">
                                          <p:val>
                                            <p:fltVal val="0"/>
                                          </p:val>
                                        </p:tav>
                                        <p:tav tm="100000">
                                          <p:val>
                                            <p:strVal val="#ppt_h"/>
                                          </p:val>
                                        </p:tav>
                                      </p:tavLst>
                                    </p:anim>
                                  </p:childTnLst>
                                </p:cTn>
                              </p:par>
                              <p:par>
                                <p:cTn id="62" presetID="6" presetClass="emph" presetSubtype="0" autoRev="1" fill="hold" grpId="1" nodeType="withEffect">
                                  <p:stCondLst>
                                    <p:cond delay="1250"/>
                                  </p:stCondLst>
                                  <p:childTnLst>
                                    <p:animScale>
                                      <p:cBhvr>
                                        <p:cTn id="63" dur="200" fill="hold"/>
                                        <p:tgtEl>
                                          <p:spTgt spid="58"/>
                                        </p:tgtEl>
                                      </p:cBhvr>
                                      <p:by x="110000" y="110000"/>
                                    </p:animScale>
                                  </p:childTnLst>
                                </p:cTn>
                              </p:par>
                              <p:par>
                                <p:cTn id="64" presetID="23" presetClass="entr" presetSubtype="16" fill="hold" grpId="0" nodeType="withEffect">
                                  <p:stCondLst>
                                    <p:cond delay="1250"/>
                                  </p:stCondLst>
                                  <p:childTnLst>
                                    <p:set>
                                      <p:cBhvr>
                                        <p:cTn id="65" dur="1" fill="hold">
                                          <p:stCondLst>
                                            <p:cond delay="0"/>
                                          </p:stCondLst>
                                        </p:cTn>
                                        <p:tgtEl>
                                          <p:spTgt spid="59"/>
                                        </p:tgtEl>
                                        <p:attrNameLst>
                                          <p:attrName>style.visibility</p:attrName>
                                        </p:attrNameLst>
                                      </p:cBhvr>
                                      <p:to>
                                        <p:strVal val="visible"/>
                                      </p:to>
                                    </p:set>
                                    <p:anim calcmode="lin" valueType="num">
                                      <p:cBhvr>
                                        <p:cTn id="66" dur="300" fill="hold"/>
                                        <p:tgtEl>
                                          <p:spTgt spid="59"/>
                                        </p:tgtEl>
                                        <p:attrNameLst>
                                          <p:attrName>ppt_w</p:attrName>
                                        </p:attrNameLst>
                                      </p:cBhvr>
                                      <p:tavLst>
                                        <p:tav tm="0">
                                          <p:val>
                                            <p:fltVal val="0"/>
                                          </p:val>
                                        </p:tav>
                                        <p:tav tm="100000">
                                          <p:val>
                                            <p:strVal val="#ppt_w"/>
                                          </p:val>
                                        </p:tav>
                                      </p:tavLst>
                                    </p:anim>
                                    <p:anim calcmode="lin" valueType="num">
                                      <p:cBhvr>
                                        <p:cTn id="67" dur="300" fill="hold"/>
                                        <p:tgtEl>
                                          <p:spTgt spid="59"/>
                                        </p:tgtEl>
                                        <p:attrNameLst>
                                          <p:attrName>ppt_h</p:attrName>
                                        </p:attrNameLst>
                                      </p:cBhvr>
                                      <p:tavLst>
                                        <p:tav tm="0">
                                          <p:val>
                                            <p:fltVal val="0"/>
                                          </p:val>
                                        </p:tav>
                                        <p:tav tm="100000">
                                          <p:val>
                                            <p:strVal val="#ppt_h"/>
                                          </p:val>
                                        </p:tav>
                                      </p:tavLst>
                                    </p:anim>
                                  </p:childTnLst>
                                </p:cTn>
                              </p:par>
                              <p:par>
                                <p:cTn id="68" presetID="6" presetClass="emph" presetSubtype="0" autoRev="1" fill="hold" grpId="1" nodeType="withEffect">
                                  <p:stCondLst>
                                    <p:cond delay="1500"/>
                                  </p:stCondLst>
                                  <p:childTnLst>
                                    <p:animScale>
                                      <p:cBhvr>
                                        <p:cTn id="69" dur="200" fill="hold"/>
                                        <p:tgtEl>
                                          <p:spTgt spid="59"/>
                                        </p:tgtEl>
                                      </p:cBhvr>
                                      <p:by x="110000" y="110000"/>
                                    </p:animScale>
                                  </p:childTnLst>
                                </p:cTn>
                              </p:par>
                            </p:childTnLst>
                          </p:cTn>
                        </p:par>
                        <p:par>
                          <p:cTn id="70" fill="hold">
                            <p:stCondLst>
                              <p:cond delay="2000"/>
                            </p:stCondLst>
                            <p:childTnLst>
                              <p:par>
                                <p:cTn id="71" presetID="2" presetClass="entr" presetSubtype="6" accel="100000" fill="hold" grpId="0" nodeType="afterEffect">
                                  <p:stCondLst>
                                    <p:cond delay="0"/>
                                  </p:stCondLst>
                                  <p:childTnLst>
                                    <p:set>
                                      <p:cBhvr>
                                        <p:cTn id="72" dur="1" fill="hold">
                                          <p:stCondLst>
                                            <p:cond delay="0"/>
                                          </p:stCondLst>
                                        </p:cTn>
                                        <p:tgtEl>
                                          <p:spTgt spid="40"/>
                                        </p:tgtEl>
                                        <p:attrNameLst>
                                          <p:attrName>style.visibility</p:attrName>
                                        </p:attrNameLst>
                                      </p:cBhvr>
                                      <p:to>
                                        <p:strVal val="visible"/>
                                      </p:to>
                                    </p:set>
                                    <p:anim calcmode="lin" valueType="num">
                                      <p:cBhvr additive="base">
                                        <p:cTn id="73" dur="500" fill="hold"/>
                                        <p:tgtEl>
                                          <p:spTgt spid="40"/>
                                        </p:tgtEl>
                                        <p:attrNameLst>
                                          <p:attrName>ppt_x</p:attrName>
                                        </p:attrNameLst>
                                      </p:cBhvr>
                                      <p:tavLst>
                                        <p:tav tm="0">
                                          <p:val>
                                            <p:strVal val="1+#ppt_w/2"/>
                                          </p:val>
                                        </p:tav>
                                        <p:tav tm="100000">
                                          <p:val>
                                            <p:strVal val="#ppt_x"/>
                                          </p:val>
                                        </p:tav>
                                      </p:tavLst>
                                    </p:anim>
                                    <p:anim calcmode="lin" valueType="num">
                                      <p:cBhvr additive="base">
                                        <p:cTn id="74" dur="500" fill="hold"/>
                                        <p:tgtEl>
                                          <p:spTgt spid="40"/>
                                        </p:tgtEl>
                                        <p:attrNameLst>
                                          <p:attrName>ppt_y</p:attrName>
                                        </p:attrNameLst>
                                      </p:cBhvr>
                                      <p:tavLst>
                                        <p:tav tm="0">
                                          <p:val>
                                            <p:strVal val="1+#ppt_h/2"/>
                                          </p:val>
                                        </p:tav>
                                        <p:tav tm="100000">
                                          <p:val>
                                            <p:strVal val="#ppt_y"/>
                                          </p:val>
                                        </p:tav>
                                      </p:tavLst>
                                    </p:anim>
                                  </p:childTnLst>
                                </p:cTn>
                              </p:par>
                              <p:par>
                                <p:cTn id="75" presetID="2" presetClass="entr" presetSubtype="12" accel="100000" fill="hold" grpId="0" nodeType="withEffect">
                                  <p:stCondLst>
                                    <p:cond delay="0"/>
                                  </p:stCondLst>
                                  <p:childTnLst>
                                    <p:set>
                                      <p:cBhvr>
                                        <p:cTn id="76" dur="1" fill="hold">
                                          <p:stCondLst>
                                            <p:cond delay="0"/>
                                          </p:stCondLst>
                                        </p:cTn>
                                        <p:tgtEl>
                                          <p:spTgt spid="41"/>
                                        </p:tgtEl>
                                        <p:attrNameLst>
                                          <p:attrName>style.visibility</p:attrName>
                                        </p:attrNameLst>
                                      </p:cBhvr>
                                      <p:to>
                                        <p:strVal val="visible"/>
                                      </p:to>
                                    </p:set>
                                    <p:anim calcmode="lin" valueType="num">
                                      <p:cBhvr additive="base">
                                        <p:cTn id="77" dur="500" fill="hold"/>
                                        <p:tgtEl>
                                          <p:spTgt spid="41"/>
                                        </p:tgtEl>
                                        <p:attrNameLst>
                                          <p:attrName>ppt_x</p:attrName>
                                        </p:attrNameLst>
                                      </p:cBhvr>
                                      <p:tavLst>
                                        <p:tav tm="0">
                                          <p:val>
                                            <p:strVal val="0-#ppt_w/2"/>
                                          </p:val>
                                        </p:tav>
                                        <p:tav tm="100000">
                                          <p:val>
                                            <p:strVal val="#ppt_x"/>
                                          </p:val>
                                        </p:tav>
                                      </p:tavLst>
                                    </p:anim>
                                    <p:anim calcmode="lin" valueType="num">
                                      <p:cBhvr additive="base">
                                        <p:cTn id="78" dur="500" fill="hold"/>
                                        <p:tgtEl>
                                          <p:spTgt spid="41"/>
                                        </p:tgtEl>
                                        <p:attrNameLst>
                                          <p:attrName>ppt_y</p:attrName>
                                        </p:attrNameLst>
                                      </p:cBhvr>
                                      <p:tavLst>
                                        <p:tav tm="0">
                                          <p:val>
                                            <p:strVal val="1+#ppt_h/2"/>
                                          </p:val>
                                        </p:tav>
                                        <p:tav tm="100000">
                                          <p:val>
                                            <p:strVal val="#ppt_y"/>
                                          </p:val>
                                        </p:tav>
                                      </p:tavLst>
                                    </p:anim>
                                  </p:childTnLst>
                                </p:cTn>
                              </p:par>
                              <p:par>
                                <p:cTn id="79" presetID="2" presetClass="entr" presetSubtype="3" accel="100000" fill="hold" grpId="0" nodeType="withEffect">
                                  <p:stCondLst>
                                    <p:cond delay="0"/>
                                  </p:stCondLst>
                                  <p:childTnLst>
                                    <p:set>
                                      <p:cBhvr>
                                        <p:cTn id="80" dur="1" fill="hold">
                                          <p:stCondLst>
                                            <p:cond delay="0"/>
                                          </p:stCondLst>
                                        </p:cTn>
                                        <p:tgtEl>
                                          <p:spTgt spid="42"/>
                                        </p:tgtEl>
                                        <p:attrNameLst>
                                          <p:attrName>style.visibility</p:attrName>
                                        </p:attrNameLst>
                                      </p:cBhvr>
                                      <p:to>
                                        <p:strVal val="visible"/>
                                      </p:to>
                                    </p:set>
                                    <p:anim calcmode="lin" valueType="num">
                                      <p:cBhvr additive="base">
                                        <p:cTn id="81" dur="500" fill="hold"/>
                                        <p:tgtEl>
                                          <p:spTgt spid="42"/>
                                        </p:tgtEl>
                                        <p:attrNameLst>
                                          <p:attrName>ppt_x</p:attrName>
                                        </p:attrNameLst>
                                      </p:cBhvr>
                                      <p:tavLst>
                                        <p:tav tm="0">
                                          <p:val>
                                            <p:strVal val="1+#ppt_w/2"/>
                                          </p:val>
                                        </p:tav>
                                        <p:tav tm="100000">
                                          <p:val>
                                            <p:strVal val="#ppt_x"/>
                                          </p:val>
                                        </p:tav>
                                      </p:tavLst>
                                    </p:anim>
                                    <p:anim calcmode="lin" valueType="num">
                                      <p:cBhvr additive="base">
                                        <p:cTn id="82" dur="500" fill="hold"/>
                                        <p:tgtEl>
                                          <p:spTgt spid="42"/>
                                        </p:tgtEl>
                                        <p:attrNameLst>
                                          <p:attrName>ppt_y</p:attrName>
                                        </p:attrNameLst>
                                      </p:cBhvr>
                                      <p:tavLst>
                                        <p:tav tm="0">
                                          <p:val>
                                            <p:strVal val="0-#ppt_h/2"/>
                                          </p:val>
                                        </p:tav>
                                        <p:tav tm="100000">
                                          <p:val>
                                            <p:strVal val="#ppt_y"/>
                                          </p:val>
                                        </p:tav>
                                      </p:tavLst>
                                    </p:anim>
                                  </p:childTnLst>
                                </p:cTn>
                              </p:par>
                              <p:par>
                                <p:cTn id="83" presetID="2" presetClass="entr" presetSubtype="9" accel="100000" fill="hold" grpId="0" nodeType="withEffect">
                                  <p:stCondLst>
                                    <p:cond delay="0"/>
                                  </p:stCondLst>
                                  <p:childTnLst>
                                    <p:set>
                                      <p:cBhvr>
                                        <p:cTn id="84" dur="1" fill="hold">
                                          <p:stCondLst>
                                            <p:cond delay="0"/>
                                          </p:stCondLst>
                                        </p:cTn>
                                        <p:tgtEl>
                                          <p:spTgt spid="43"/>
                                        </p:tgtEl>
                                        <p:attrNameLst>
                                          <p:attrName>style.visibility</p:attrName>
                                        </p:attrNameLst>
                                      </p:cBhvr>
                                      <p:to>
                                        <p:strVal val="visible"/>
                                      </p:to>
                                    </p:set>
                                    <p:anim calcmode="lin" valueType="num">
                                      <p:cBhvr additive="base">
                                        <p:cTn id="85" dur="500" fill="hold"/>
                                        <p:tgtEl>
                                          <p:spTgt spid="43"/>
                                        </p:tgtEl>
                                        <p:attrNameLst>
                                          <p:attrName>ppt_x</p:attrName>
                                        </p:attrNameLst>
                                      </p:cBhvr>
                                      <p:tavLst>
                                        <p:tav tm="0">
                                          <p:val>
                                            <p:strVal val="0-#ppt_w/2"/>
                                          </p:val>
                                        </p:tav>
                                        <p:tav tm="100000">
                                          <p:val>
                                            <p:strVal val="#ppt_x"/>
                                          </p:val>
                                        </p:tav>
                                      </p:tavLst>
                                    </p:anim>
                                    <p:anim calcmode="lin" valueType="num">
                                      <p:cBhvr additive="base">
                                        <p:cTn id="86"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40" grpId="0"/>
      <p:bldP spid="41" grpId="0"/>
      <p:bldP spid="42" grpId="0"/>
      <p:bldP spid="43" grpId="0"/>
      <p:bldP spid="56" grpId="0" bldLvl="0" animBg="1"/>
      <p:bldP spid="56" grpId="1" bldLvl="0" animBg="1"/>
      <p:bldP spid="57" grpId="0" bldLvl="0" animBg="1"/>
      <p:bldP spid="57" grpId="1" bldLvl="0" animBg="1"/>
      <p:bldP spid="58" grpId="0" bldLvl="0" animBg="1"/>
      <p:bldP spid="58" grpId="1" bldLvl="0" animBg="1"/>
      <p:bldP spid="59" grpId="0" bldLvl="0" animBg="1"/>
      <p:bldP spid="59" grpId="1"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2235200" cy="337185"/>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Gateway</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功能模块设计</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3" name="内容占位符 2"/>
          <p:cNvSpPr>
            <a:spLocks noGrp="1"/>
          </p:cNvSpPr>
          <p:nvPr>
            <p:ph idx="1"/>
            <p:custDataLst>
              <p:tags r:id="rId2"/>
            </p:custDataLst>
          </p:nvPr>
        </p:nvSpPr>
        <p:spPr>
          <a:xfrm>
            <a:off x="514985" y="1059816"/>
            <a:ext cx="8229600" cy="3394472"/>
          </a:xfrm>
        </p:spPr>
        <p:txBody>
          <a:bodyPr>
            <a:normAutofit fontScale="80000"/>
          </a:bodyPr>
          <a:p>
            <a:pPr marL="0" indent="0">
              <a:buNone/>
            </a:pPr>
            <a:r>
              <a:rPr lang="zh-CN" altLang="en-US"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在协议层面，本文已完成以下关键模块设计：</a:t>
            </a:r>
            <a:endParaRPr lang="zh-CN" altLang="en-US"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b="1"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Manifest 验证模块</a:t>
            </a:r>
            <a:endParaRPr lang="en-US" altLang="zh-CN" sz="1800" b="1"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indent="457200">
              <a:buNone/>
            </a:pPr>
            <a:r>
              <a:rPr lang="zh-CN" altLang="en-US"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引入</a:t>
            </a:r>
            <a:r>
              <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Signed Manifest </a:t>
            </a:r>
            <a:r>
              <a:rPr lang="zh-CN" altLang="en-US"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机制，对工具身份、能力范围及安全级别进行加密签名与验证；</a:t>
            </a:r>
            <a:endParaRPr lang="zh-CN" altLang="en-US"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b="1"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授权与策略模块</a:t>
            </a:r>
            <a:endParaRPr lang="en-US" altLang="zh-CN" sz="1800" b="1"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indent="457200">
              <a:buNone/>
            </a:pPr>
            <a:r>
              <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根据 manifest 声明的</a:t>
            </a:r>
            <a:r>
              <a:rPr lang="en-US" altLang="zh-CN" sz="1800" spc="150">
                <a:solidFill>
                  <a:srgbClr val="C00000"/>
                </a:solidFill>
                <a:uFillTx/>
                <a:latin typeface="微软雅黑" panose="020B0503020204020204" pitchFamily="34" charset="-122"/>
                <a:ea typeface="微软雅黑" panose="020B0503020204020204" pitchFamily="34" charset="-122"/>
                <a:cs typeface="微软雅黑" panose="020B0503020204020204" pitchFamily="34" charset="-122"/>
              </a:rPr>
              <a:t>工具权限</a:t>
            </a:r>
            <a:r>
              <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800" spc="150">
                <a:solidFill>
                  <a:srgbClr val="C00000"/>
                </a:solidFill>
                <a:uFillTx/>
                <a:latin typeface="微软雅黑" panose="020B0503020204020204" pitchFamily="34" charset="-122"/>
                <a:ea typeface="微软雅黑" panose="020B0503020204020204" pitchFamily="34" charset="-122"/>
                <a:cs typeface="微软雅黑" panose="020B0503020204020204" pitchFamily="34" charset="-122"/>
              </a:rPr>
              <a:t>本地安全策略</a:t>
            </a:r>
            <a:r>
              <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鉴别工具属于哪种权限级别（profile），根据策略请求获取用户授权。（与OAuth授权服务器交互）</a:t>
            </a:r>
            <a:endPar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b="1"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请求保护与验证模块</a:t>
            </a:r>
            <a:endParaRPr lang="en-US" altLang="zh-CN" sz="1800" b="1"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indent="457200">
              <a:buNone/>
            </a:pPr>
            <a:r>
              <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 对来自 MCP Client 的 tools.call 请求进行规范化，计算请求体哈希；</a:t>
            </a:r>
            <a:endPar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0" indent="457200">
              <a:buNone/>
            </a:pPr>
            <a:r>
              <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 附加请求级签名（包含 nonce 与 timestamp），并携带 PoP 证明；</a:t>
            </a:r>
            <a:endPar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1800" b="1"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回调与撤销模块</a:t>
            </a:r>
            <a:endParaRPr lang="en-US" altLang="zh-CN" sz="1800" b="1"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None/>
            </a:pPr>
            <a:r>
              <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 对来自 MCP Server 回调消息进行验签，确保来源与内容完整性；</a:t>
            </a:r>
            <a:endPar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buNone/>
            </a:pPr>
            <a:r>
              <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 对高风险调用定期或按需调用 AuthZ Server 的 introspection 接口，检查 token 是否已撤销；</a:t>
            </a:r>
            <a:endParaRPr lang="en-US" altLang="zh-CN" sz="18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3454400" cy="337185"/>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Gateway</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引入（初始化与授权阶段）</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pic>
        <p:nvPicPr>
          <p:cNvPr id="6" name="内容占位符 5" descr="AuthZ初始化和授权"/>
          <p:cNvPicPr>
            <a:picLocks noChangeAspect="1"/>
          </p:cNvPicPr>
          <p:nvPr>
            <p:custDataLst>
              <p:tags r:id="rId2"/>
            </p:custDataLst>
          </p:nvPr>
        </p:nvPicPr>
        <p:blipFill>
          <a:blip r:embed="rId3"/>
          <a:stretch>
            <a:fillRect/>
          </a:stretch>
        </p:blipFill>
        <p:spPr>
          <a:xfrm>
            <a:off x="467360" y="915670"/>
            <a:ext cx="8654415" cy="3716020"/>
          </a:xfrm>
          <a:prstGeom prst="rect">
            <a:avLst/>
          </a:prstGeom>
        </p:spPr>
      </p:pic>
      <p:sp>
        <p:nvSpPr>
          <p:cNvPr id="5" name="矩形 4"/>
          <p:cNvSpPr/>
          <p:nvPr/>
        </p:nvSpPr>
        <p:spPr>
          <a:xfrm>
            <a:off x="4211955" y="973455"/>
            <a:ext cx="1368425" cy="3599815"/>
          </a:xfrm>
          <a:prstGeom prst="rect">
            <a:avLst/>
          </a:prstGeom>
          <a:noFill/>
          <a:ln w="15875">
            <a:solidFill>
              <a:schemeClr val="accent1"/>
            </a:solidFill>
          </a:ln>
          <a:effectLst>
            <a:innerShdw blurRad="63500" dist="25400" dir="8100000">
              <a:prstClr val="black">
                <a:alpha val="50000"/>
              </a:prstClr>
            </a:innerShdw>
          </a:effectLst>
          <a:extLst>
            <a:ext uri="{909E8E84-426E-40DD-AFC4-6F175D3DCCD1}">
              <a14:hiddenFill xmlns:a14="http://schemas.microsoft.com/office/drawing/2010/main">
                <a:solidFill>
                  <a:srgbClr val="0070C0"/>
                </a:solidFill>
              </a14:hiddenFill>
            </a:ext>
          </a:extLst>
        </p:spPr>
        <p:txBody>
          <a:bodyPr vert="horz" wrap="square" lIns="91440" tIns="45720" rIns="91440" bIns="45720" numCol="1" anchor="t" anchorCtr="0" compatLnSpc="1"/>
          <a:p>
            <a:endParaRPr lang="zh-CN" altLang="en-US"/>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P spid="5" grpId="0" animBg="1"/>
      <p:bldP spid="5"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3657600" cy="337185"/>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Gateway</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引入（以工具调用阶段为例）</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pic>
        <p:nvPicPr>
          <p:cNvPr id="2" name="内容占位符 3" descr="Authz安全工具调用"/>
          <p:cNvPicPr>
            <a:picLocks noChangeAspect="1"/>
          </p:cNvPicPr>
          <p:nvPr>
            <p:custDataLst>
              <p:tags r:id="rId2"/>
            </p:custDataLst>
          </p:nvPr>
        </p:nvPicPr>
        <p:blipFill>
          <a:blip r:embed="rId3"/>
          <a:stretch>
            <a:fillRect/>
          </a:stretch>
        </p:blipFill>
        <p:spPr>
          <a:xfrm>
            <a:off x="683895" y="843915"/>
            <a:ext cx="8009255" cy="3731260"/>
          </a:xfrm>
          <a:prstGeom prst="rect">
            <a:avLst/>
          </a:prstGeom>
        </p:spPr>
      </p:pic>
      <p:sp>
        <p:nvSpPr>
          <p:cNvPr id="5" name="矩形 4"/>
          <p:cNvSpPr/>
          <p:nvPr/>
        </p:nvSpPr>
        <p:spPr>
          <a:xfrm>
            <a:off x="3491865" y="772160"/>
            <a:ext cx="1368425" cy="3599815"/>
          </a:xfrm>
          <a:prstGeom prst="rect">
            <a:avLst/>
          </a:prstGeom>
          <a:noFill/>
          <a:ln w="15875">
            <a:solidFill>
              <a:schemeClr val="accent1"/>
            </a:solidFill>
          </a:ln>
          <a:effectLst>
            <a:innerShdw blurRad="63500" dist="25400" dir="8100000">
              <a:prstClr val="black">
                <a:alpha val="50000"/>
              </a:prstClr>
            </a:innerShdw>
          </a:effectLst>
          <a:extLst>
            <a:ext uri="{909E8E84-426E-40DD-AFC4-6F175D3DCCD1}">
              <a14:hiddenFill xmlns:a14="http://schemas.microsoft.com/office/drawing/2010/main">
                <a:solidFill>
                  <a:srgbClr val="0070C0"/>
                </a:solidFill>
              </a14:hiddenFill>
            </a:ext>
          </a:extLst>
        </p:spPr>
        <p:txBody>
          <a:bodyPr vert="horz" wrap="square" lIns="91440" tIns="45720" rIns="91440" bIns="45720" numCol="1" anchor="t" anchorCtr="0" compatLnSpc="1"/>
          <a:p>
            <a:endParaRPr lang="zh-CN" altLang="en-US"/>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blinds(horizontal)">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P spid="5" grpId="0" animBg="1"/>
      <p:bldP spid="5" grpId="1"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3048000" cy="337185"/>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Gateway</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引入（数据交付阶段）</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pic>
        <p:nvPicPr>
          <p:cNvPr id="4" name="内容占位符 3" descr="AuthZ交付数据"/>
          <p:cNvPicPr>
            <a:picLocks noChangeAspect="1"/>
          </p:cNvPicPr>
          <p:nvPr>
            <p:ph idx="1"/>
            <p:custDataLst>
              <p:tags r:id="rId2"/>
            </p:custDataLst>
          </p:nvPr>
        </p:nvPicPr>
        <p:blipFill>
          <a:blip r:embed="rId3"/>
          <a:stretch>
            <a:fillRect/>
          </a:stretch>
        </p:blipFill>
        <p:spPr>
          <a:xfrm>
            <a:off x="683260" y="624840"/>
            <a:ext cx="8412480" cy="4095115"/>
          </a:xfrm>
          <a:prstGeom prst="rect">
            <a:avLst/>
          </a:prstGeom>
        </p:spPr>
      </p:pic>
      <p:sp>
        <p:nvSpPr>
          <p:cNvPr id="3" name="内容占位符 2"/>
          <p:cNvSpPr>
            <a:spLocks noGrp="1"/>
          </p:cNvSpPr>
          <p:nvPr>
            <p:custDataLst>
              <p:tags r:id="rId4"/>
            </p:custDataLst>
          </p:nvPr>
        </p:nvSpPr>
        <p:spPr>
          <a:xfrm>
            <a:off x="514985" y="4474210"/>
            <a:ext cx="8229600" cy="66929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针对</a:t>
            </a:r>
            <a:r>
              <a:rPr lang="en-US" altLang="zh-CN"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MCP </a:t>
            </a:r>
            <a:r>
              <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原生授权模型的不足，本文提出并完成了</a:t>
            </a:r>
            <a:r>
              <a:rPr lang="en-US" altLang="zh-CN"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MCP-AuthZ </a:t>
            </a:r>
            <a:r>
              <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架构设计，引入独立的</a:t>
            </a:r>
            <a:r>
              <a:rPr lang="en-US" altLang="zh-CN"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MCP-Auth Gateway </a:t>
            </a:r>
            <a:r>
              <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作为授权与安全控制的集中执行点。</a:t>
            </a:r>
            <a:r>
              <a:rPr lang="en-US" altLang="zh-CN"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Gateway </a:t>
            </a:r>
            <a:r>
              <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位于</a:t>
            </a:r>
            <a:r>
              <a:rPr lang="en-US" altLang="zh-CN"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MCP Client</a:t>
            </a:r>
            <a:r>
              <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与</a:t>
            </a:r>
            <a:r>
              <a:rPr lang="en-US" altLang="zh-CN"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MCP Server </a:t>
            </a:r>
            <a:r>
              <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之间，负责对</a:t>
            </a:r>
            <a:r>
              <a:rPr lang="en-US" altLang="zh-CN"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 OAuth </a:t>
            </a:r>
            <a:r>
              <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rPr>
              <a:t>授权结果进行解释、约束与执行，而非简单转发访问令牌。</a:t>
            </a:r>
            <a:endParaRPr lang="zh-CN" altLang="en-US" sz="1200" spc="150">
              <a:solidFill>
                <a:schemeClr val="tx1">
                  <a:lumMod val="65000"/>
                  <a:lumOff val="35000"/>
                </a:schemeClr>
              </a:solidFill>
              <a:uFillTx/>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1666240" cy="337185"/>
          </a:xfrm>
          <a:prstGeom prst="rect">
            <a:avLst/>
          </a:prstGeom>
          <a:noFill/>
        </p:spPr>
        <p:txBody>
          <a:bodyPr wrap="none" rtlCol="0">
            <a:spAutoFit/>
          </a:bodyPr>
          <a:lstStyle/>
          <a:p>
            <a:r>
              <a:rPr lang="en-US" sz="1600" dirty="0">
                <a:solidFill>
                  <a:schemeClr val="tx1">
                    <a:lumMod val="50000"/>
                    <a:lumOff val="50000"/>
                  </a:schemeClr>
                </a:solidFill>
                <a:latin typeface="微软雅黑" panose="020B0503020204020204" pitchFamily="34" charset="-122"/>
                <a:ea typeface="微软雅黑" panose="020B0503020204020204" pitchFamily="34" charset="-122"/>
              </a:rPr>
              <a:t>Profile  (</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扩展性</a:t>
            </a:r>
            <a:r>
              <a:rPr lang="en-US" sz="1600" dirty="0">
                <a:solidFill>
                  <a:schemeClr val="tx1">
                    <a:lumMod val="50000"/>
                    <a:lumOff val="50000"/>
                  </a:schemeClr>
                </a:solidFill>
                <a:latin typeface="微软雅黑" panose="020B0503020204020204" pitchFamily="34" charset="-122"/>
                <a:ea typeface="微软雅黑" panose="020B0503020204020204" pitchFamily="34" charset="-122"/>
              </a:rPr>
              <a:t>)</a:t>
            </a:r>
            <a:endParaRPr 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pic>
        <p:nvPicPr>
          <p:cNvPr id="2" name="内容占位符 1"/>
          <p:cNvPicPr>
            <a:picLocks noChangeAspect="1"/>
          </p:cNvPicPr>
          <p:nvPr>
            <p:ph idx="1"/>
            <p:custDataLst>
              <p:tags r:id="rId2"/>
            </p:custDataLst>
          </p:nvPr>
        </p:nvPicPr>
        <p:blipFill>
          <a:blip r:embed="rId3"/>
          <a:stretch>
            <a:fillRect/>
          </a:stretch>
        </p:blipFill>
        <p:spPr>
          <a:xfrm>
            <a:off x="1043305" y="643255"/>
            <a:ext cx="6912610" cy="2260600"/>
          </a:xfrm>
          <a:prstGeom prst="rect">
            <a:avLst/>
          </a:prstGeom>
        </p:spPr>
      </p:pic>
      <p:sp>
        <p:nvSpPr>
          <p:cNvPr id="5" name="文本框 4"/>
          <p:cNvSpPr txBox="1"/>
          <p:nvPr/>
        </p:nvSpPr>
        <p:spPr>
          <a:xfrm>
            <a:off x="1154430" y="3175000"/>
            <a:ext cx="6014720" cy="605790"/>
          </a:xfrm>
          <a:prstGeom prst="rect">
            <a:avLst/>
          </a:prstGeom>
          <a:noFill/>
        </p:spPr>
        <p:txBody>
          <a:bodyPr wrap="square" rtlCol="0">
            <a:noAutofit/>
          </a:bodyPr>
          <a:p>
            <a:r>
              <a:rPr lang="en-US" altLang="zh-CN"/>
              <a:t>profile </a:t>
            </a:r>
            <a:r>
              <a:rPr lang="zh-CN" altLang="en-US"/>
              <a:t>控制：调用是否允许</a:t>
            </a:r>
            <a:r>
              <a:rPr lang="en-US" altLang="zh-CN"/>
              <a:t> + </a:t>
            </a:r>
            <a:r>
              <a:rPr lang="zh-CN" altLang="en-US"/>
              <a:t>需要哪些安全验证机制</a:t>
            </a:r>
            <a:r>
              <a:rPr lang="en-US" altLang="zh-CN"/>
              <a:t> + token </a:t>
            </a:r>
            <a:r>
              <a:rPr lang="zh-CN" altLang="en-US"/>
              <a:t>如何处理</a:t>
            </a:r>
            <a:r>
              <a:rPr lang="en-US" altLang="zh-CN"/>
              <a:t> + </a:t>
            </a:r>
            <a:r>
              <a:rPr lang="zh-CN" altLang="en-US"/>
              <a:t>是否人工确认，在初始化阶段协商</a:t>
            </a:r>
            <a:endParaRPr lang="zh-CN" altLang="en-US"/>
          </a:p>
        </p:txBody>
      </p:sp>
      <p:pic>
        <p:nvPicPr>
          <p:cNvPr id="6" name="图片 5"/>
          <p:cNvPicPr>
            <a:picLocks noChangeAspect="1"/>
          </p:cNvPicPr>
          <p:nvPr/>
        </p:nvPicPr>
        <p:blipFill>
          <a:blip r:embed="rId4"/>
          <a:stretch>
            <a:fillRect/>
          </a:stretch>
        </p:blipFill>
        <p:spPr>
          <a:xfrm>
            <a:off x="1198245" y="4011930"/>
            <a:ext cx="6621780" cy="893445"/>
          </a:xfrm>
          <a:prstGeom prst="rect">
            <a:avLst/>
          </a:prstGeom>
        </p:spPr>
      </p:pic>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800100" cy="337185"/>
          </a:xfrm>
          <a:prstGeom prst="rect">
            <a:avLst/>
          </a:prstGeom>
          <a:noFill/>
        </p:spPr>
        <p:txBody>
          <a:bodyPr wrap="none" rtlCol="0">
            <a:spAutoFit/>
          </a:bodyPr>
          <a:lstStyle/>
          <a:p>
            <a:r>
              <a:rPr lang="en-US" sz="1600" dirty="0">
                <a:solidFill>
                  <a:schemeClr val="tx1">
                    <a:lumMod val="50000"/>
                    <a:lumOff val="50000"/>
                  </a:schemeClr>
                </a:solidFill>
                <a:latin typeface="微软雅黑" panose="020B0503020204020204" pitchFamily="34" charset="-122"/>
                <a:ea typeface="微软雅黑" panose="020B0503020204020204" pitchFamily="34" charset="-122"/>
              </a:rPr>
              <a:t>Profile</a:t>
            </a:r>
            <a:endParaRPr 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3" name="标题 2"/>
          <p:cNvSpPr>
            <a:spLocks noGrp="1"/>
          </p:cNvSpPr>
          <p:nvPr>
            <p:ph type="title"/>
            <p:custDataLst>
              <p:tags r:id="rId2"/>
            </p:custDataLst>
          </p:nvPr>
        </p:nvSpPr>
        <p:spPr>
          <a:xfrm>
            <a:off x="971550" y="699770"/>
            <a:ext cx="7013575" cy="472440"/>
          </a:xfrm>
        </p:spPr>
        <p:txBody>
          <a:bodyPr/>
          <a:p>
            <a:r>
              <a:rPr lang="en-US" altLang="zh-CN" sz="1800"/>
              <a:t>profile</a:t>
            </a:r>
            <a:r>
              <a:rPr lang="zh-CN" altLang="en-US" sz="1800"/>
              <a:t>带来的不同安全策略</a:t>
            </a:r>
            <a:endParaRPr lang="zh-CN" altLang="en-US" sz="1800"/>
          </a:p>
        </p:txBody>
      </p:sp>
      <p:pic>
        <p:nvPicPr>
          <p:cNvPr id="4" name="内容占位符 3"/>
          <p:cNvPicPr>
            <a:picLocks noChangeAspect="1"/>
          </p:cNvPicPr>
          <p:nvPr>
            <p:ph idx="1"/>
            <p:custDataLst>
              <p:tags r:id="rId3"/>
            </p:custDataLst>
          </p:nvPr>
        </p:nvPicPr>
        <p:blipFill>
          <a:blip r:embed="rId4"/>
          <a:stretch>
            <a:fillRect/>
          </a:stretch>
        </p:blipFill>
        <p:spPr>
          <a:xfrm>
            <a:off x="1331595" y="1172210"/>
            <a:ext cx="7334885" cy="3841115"/>
          </a:xfrm>
          <a:prstGeom prst="rect">
            <a:avLst/>
          </a:prstGeom>
        </p:spPr>
      </p:pic>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2840355" cy="337185"/>
          </a:xfrm>
          <a:prstGeom prst="rect">
            <a:avLst/>
          </a:prstGeom>
          <a:noFill/>
        </p:spPr>
        <p:txBody>
          <a:bodyPr wrap="none" rtlCol="0">
            <a:spAutoFit/>
          </a:bodyPr>
          <a:lstStyle/>
          <a:p>
            <a:r>
              <a:rPr lang="en-US" sz="1600" dirty="0">
                <a:solidFill>
                  <a:schemeClr val="tx1">
                    <a:lumMod val="50000"/>
                    <a:lumOff val="50000"/>
                  </a:schemeClr>
                </a:solidFill>
                <a:latin typeface="微软雅黑" panose="020B0503020204020204" pitchFamily="34" charset="-122"/>
                <a:ea typeface="微软雅黑" panose="020B0503020204020204" pitchFamily="34" charset="-122"/>
              </a:rPr>
              <a:t>Gateway</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设计（</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json</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兼容性）</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3" name="标题 2"/>
          <p:cNvSpPr>
            <a:spLocks noGrp="1"/>
          </p:cNvSpPr>
          <p:nvPr>
            <p:ph type="title"/>
            <p:custDataLst>
              <p:tags r:id="rId2"/>
            </p:custDataLst>
          </p:nvPr>
        </p:nvSpPr>
        <p:spPr>
          <a:xfrm>
            <a:off x="971550" y="737870"/>
            <a:ext cx="2561590" cy="472440"/>
          </a:xfrm>
        </p:spPr>
        <p:txBody>
          <a:bodyPr/>
          <a:p>
            <a:r>
              <a:rPr lang="zh-CN" sz="1800"/>
              <a:t>字段扩展（</a:t>
            </a:r>
            <a:r>
              <a:rPr lang="en-US" altLang="zh-CN" sz="1800"/>
              <a:t>mcp_authz</a:t>
            </a:r>
            <a:r>
              <a:rPr lang="zh-CN" sz="1800"/>
              <a:t>）</a:t>
            </a:r>
            <a:endParaRPr lang="zh-CN" sz="1800"/>
          </a:p>
        </p:txBody>
      </p:sp>
      <p:sp>
        <p:nvSpPr>
          <p:cNvPr id="2" name="标题 1"/>
          <p:cNvSpPr>
            <a:spLocks noGrp="1"/>
          </p:cNvSpPr>
          <p:nvPr>
            <p:custDataLst>
              <p:tags r:id="rId3"/>
            </p:custDataLst>
          </p:nvPr>
        </p:nvSpPr>
        <p:spPr>
          <a:xfrm>
            <a:off x="3563620" y="783590"/>
            <a:ext cx="1852930" cy="447040"/>
          </a:xfrm>
          <a:prstGeom prst="rect">
            <a:avLst/>
          </a:prstGeom>
        </p:spPr>
        <p:txBody>
          <a:bodyPr vert="horz" lIns="90000" tIns="46800" rIns="90000" bIns="46800" rtlCol="0" anchor="ctr" anchorCtr="0">
            <a:normAutofit fontScale="80000"/>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zh-CN" altLang="en-US" sz="1600"/>
              <a:t>例：初始化与授权</a:t>
            </a:r>
            <a:endParaRPr lang="zh-CN" altLang="en-US" sz="1600"/>
          </a:p>
        </p:txBody>
      </p:sp>
      <p:pic>
        <p:nvPicPr>
          <p:cNvPr id="5" name="内容占位符 4"/>
          <p:cNvPicPr>
            <a:picLocks noChangeAspect="1"/>
          </p:cNvPicPr>
          <p:nvPr>
            <p:ph idx="1"/>
            <p:custDataLst>
              <p:tags r:id="rId4"/>
            </p:custDataLst>
          </p:nvPr>
        </p:nvPicPr>
        <p:blipFill>
          <a:blip r:embed="rId5"/>
          <a:stretch>
            <a:fillRect/>
          </a:stretch>
        </p:blipFill>
        <p:spPr>
          <a:xfrm>
            <a:off x="1043305" y="1275715"/>
            <a:ext cx="4213860" cy="2237740"/>
          </a:xfrm>
          <a:prstGeom prst="rect">
            <a:avLst/>
          </a:prstGeom>
        </p:spPr>
      </p:pic>
      <p:pic>
        <p:nvPicPr>
          <p:cNvPr id="6" name="图片 5"/>
          <p:cNvPicPr>
            <a:picLocks noChangeAspect="1"/>
          </p:cNvPicPr>
          <p:nvPr/>
        </p:nvPicPr>
        <p:blipFill>
          <a:blip r:embed="rId6"/>
          <a:stretch>
            <a:fillRect/>
          </a:stretch>
        </p:blipFill>
        <p:spPr>
          <a:xfrm>
            <a:off x="1043305" y="3580130"/>
            <a:ext cx="7078980" cy="1484630"/>
          </a:xfrm>
          <a:prstGeom prst="rect">
            <a:avLst/>
          </a:prstGeom>
        </p:spPr>
      </p:pic>
      <p:sp>
        <p:nvSpPr>
          <p:cNvPr id="7" name="文本框 6"/>
          <p:cNvSpPr txBox="1"/>
          <p:nvPr/>
        </p:nvSpPr>
        <p:spPr>
          <a:xfrm>
            <a:off x="6059805" y="1875790"/>
            <a:ext cx="1824355" cy="368300"/>
          </a:xfrm>
          <a:prstGeom prst="rect">
            <a:avLst/>
          </a:prstGeom>
          <a:noFill/>
        </p:spPr>
        <p:txBody>
          <a:bodyPr wrap="square" rtlCol="0">
            <a:spAutoFit/>
          </a:bodyPr>
          <a:p>
            <a:r>
              <a:rPr lang="en-US" altLang="zh-CN"/>
              <a:t>client -&gt; gateway</a:t>
            </a:r>
            <a:endParaRPr lang="zh-CN" altLang="en-US"/>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2840355" cy="337185"/>
          </a:xfrm>
          <a:prstGeom prst="rect">
            <a:avLst/>
          </a:prstGeom>
          <a:noFill/>
        </p:spPr>
        <p:txBody>
          <a:bodyPr wrap="none" rtlCol="0">
            <a:spAutoFit/>
          </a:bodyPr>
          <a:lstStyle/>
          <a:p>
            <a:r>
              <a:rPr lang="en-US" sz="1600" dirty="0">
                <a:solidFill>
                  <a:schemeClr val="tx1">
                    <a:lumMod val="50000"/>
                    <a:lumOff val="50000"/>
                  </a:schemeClr>
                </a:solidFill>
                <a:latin typeface="微软雅黑" panose="020B0503020204020204" pitchFamily="34" charset="-122"/>
                <a:ea typeface="微软雅黑" panose="020B0503020204020204" pitchFamily="34" charset="-122"/>
              </a:rPr>
              <a:t>Gateway</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设计（</a:t>
            </a:r>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json</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兼容</a:t>
            </a:r>
            <a:r>
              <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rPr>
              <a:t>性）</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3" name="标题 2"/>
          <p:cNvSpPr>
            <a:spLocks noGrp="1"/>
          </p:cNvSpPr>
          <p:nvPr>
            <p:ph type="title"/>
            <p:custDataLst>
              <p:tags r:id="rId2"/>
            </p:custDataLst>
          </p:nvPr>
        </p:nvSpPr>
        <p:spPr>
          <a:xfrm>
            <a:off x="971550" y="737870"/>
            <a:ext cx="2561590" cy="472440"/>
          </a:xfrm>
        </p:spPr>
        <p:txBody>
          <a:bodyPr/>
          <a:p>
            <a:r>
              <a:rPr lang="zh-CN" sz="1800"/>
              <a:t>字段扩展（</a:t>
            </a:r>
            <a:r>
              <a:rPr lang="en-US" altLang="zh-CN" sz="1800"/>
              <a:t>mcp_authz</a:t>
            </a:r>
            <a:r>
              <a:rPr lang="zh-CN" sz="1800"/>
              <a:t>）</a:t>
            </a:r>
            <a:endParaRPr lang="zh-CN" sz="1800"/>
          </a:p>
        </p:txBody>
      </p:sp>
      <p:sp>
        <p:nvSpPr>
          <p:cNvPr id="2" name="标题 1"/>
          <p:cNvSpPr>
            <a:spLocks noGrp="1"/>
          </p:cNvSpPr>
          <p:nvPr>
            <p:custDataLst>
              <p:tags r:id="rId3"/>
            </p:custDataLst>
          </p:nvPr>
        </p:nvSpPr>
        <p:spPr>
          <a:xfrm>
            <a:off x="3563620" y="783590"/>
            <a:ext cx="1852930" cy="447040"/>
          </a:xfrm>
          <a:prstGeom prst="rect">
            <a:avLst/>
          </a:prstGeom>
        </p:spPr>
        <p:txBody>
          <a:bodyPr vert="horz" lIns="90000" tIns="46800" rIns="90000" bIns="46800" rtlCol="0" anchor="ctr" anchorCtr="0">
            <a:normAutofit fontScale="80000"/>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zh-CN" altLang="en-US" sz="1600"/>
              <a:t>例：初始化与授权</a:t>
            </a:r>
            <a:endParaRPr lang="zh-CN" altLang="en-US" sz="1600"/>
          </a:p>
        </p:txBody>
      </p:sp>
      <p:pic>
        <p:nvPicPr>
          <p:cNvPr id="4" name="内容占位符 3"/>
          <p:cNvPicPr>
            <a:picLocks noChangeAspect="1"/>
          </p:cNvPicPr>
          <p:nvPr>
            <p:ph idx="1"/>
            <p:custDataLst>
              <p:tags r:id="rId4"/>
            </p:custDataLst>
          </p:nvPr>
        </p:nvPicPr>
        <p:blipFill>
          <a:blip r:embed="rId5"/>
          <a:stretch>
            <a:fillRect/>
          </a:stretch>
        </p:blipFill>
        <p:spPr>
          <a:xfrm>
            <a:off x="35560" y="1841500"/>
            <a:ext cx="4495800" cy="2477135"/>
          </a:xfrm>
          <a:prstGeom prst="rect">
            <a:avLst/>
          </a:prstGeom>
        </p:spPr>
      </p:pic>
      <p:pic>
        <p:nvPicPr>
          <p:cNvPr id="7" name="图片 6"/>
          <p:cNvPicPr>
            <a:picLocks noChangeAspect="1"/>
          </p:cNvPicPr>
          <p:nvPr/>
        </p:nvPicPr>
        <p:blipFill>
          <a:blip r:embed="rId6"/>
          <a:stretch>
            <a:fillRect/>
          </a:stretch>
        </p:blipFill>
        <p:spPr>
          <a:xfrm>
            <a:off x="4615180" y="2022475"/>
            <a:ext cx="4528820" cy="2136140"/>
          </a:xfrm>
          <a:prstGeom prst="rect">
            <a:avLst/>
          </a:prstGeom>
        </p:spPr>
      </p:pic>
      <p:sp>
        <p:nvSpPr>
          <p:cNvPr id="8" name="标题 1"/>
          <p:cNvSpPr>
            <a:spLocks noGrp="1"/>
          </p:cNvSpPr>
          <p:nvPr>
            <p:custDataLst>
              <p:tags r:id="rId7"/>
            </p:custDataLst>
          </p:nvPr>
        </p:nvSpPr>
        <p:spPr>
          <a:xfrm>
            <a:off x="1619250" y="4516120"/>
            <a:ext cx="5296535" cy="523240"/>
          </a:xfrm>
          <a:prstGeom prst="rect">
            <a:avLst/>
          </a:prstGeom>
        </p:spPr>
        <p:txBody>
          <a:bodyPr vert="horz" lIns="90000" tIns="46800" rIns="90000" bIns="46800" rtlCol="0" anchor="ctr" anchorCtr="0">
            <a:normAutofit/>
          </a:bodyPr>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zh-CN" altLang="en-US" sz="1200"/>
              <a:t>代表</a:t>
            </a:r>
            <a:r>
              <a:rPr lang="en-US" altLang="zh-CN" sz="1200"/>
              <a:t> Client </a:t>
            </a:r>
            <a:r>
              <a:rPr lang="zh-CN" altLang="en-US" sz="1200"/>
              <a:t>向</a:t>
            </a:r>
            <a:r>
              <a:rPr lang="en-US" altLang="zh-CN" sz="1200"/>
              <a:t> MCP Server </a:t>
            </a:r>
            <a:r>
              <a:rPr lang="zh-CN" altLang="en-US" sz="1200"/>
              <a:t>发出真正的</a:t>
            </a:r>
            <a:r>
              <a:rPr lang="en-US" altLang="zh-CN" sz="1200"/>
              <a:t> initialize </a:t>
            </a:r>
            <a:r>
              <a:rPr lang="zh-CN" altLang="en-US" sz="1200"/>
              <a:t>请求</a:t>
            </a:r>
            <a:endParaRPr lang="zh-CN" altLang="en-US" sz="1200"/>
          </a:p>
        </p:txBody>
      </p:sp>
      <p:sp>
        <p:nvSpPr>
          <p:cNvPr id="9" name="文本框 8"/>
          <p:cNvSpPr txBox="1"/>
          <p:nvPr/>
        </p:nvSpPr>
        <p:spPr>
          <a:xfrm>
            <a:off x="3094355" y="1275715"/>
            <a:ext cx="2589530" cy="368300"/>
          </a:xfrm>
          <a:prstGeom prst="rect">
            <a:avLst/>
          </a:prstGeom>
          <a:noFill/>
        </p:spPr>
        <p:txBody>
          <a:bodyPr wrap="square" rtlCol="0">
            <a:spAutoFit/>
          </a:bodyPr>
          <a:p>
            <a:r>
              <a:rPr lang="en-US" altLang="zh-CN">
                <a:sym typeface="+mn-ea"/>
              </a:rPr>
              <a:t>gateway </a:t>
            </a:r>
            <a:r>
              <a:rPr lang="en-US" altLang="zh-CN"/>
              <a:t>-&gt; server</a:t>
            </a:r>
            <a:endParaRPr lang="zh-CN" altLang="en-US"/>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1402080" cy="337185"/>
          </a:xfrm>
          <a:prstGeom prst="rect">
            <a:avLst/>
          </a:prstGeom>
          <a:noFill/>
        </p:spPr>
        <p:txBody>
          <a:bodyPr wrap="none" rtlCol="0">
            <a:spAutoFit/>
          </a:bodyPr>
          <a:lstStyle/>
          <a:p>
            <a:r>
              <a:rPr lang="zh-CN" sz="1600" dirty="0">
                <a:solidFill>
                  <a:schemeClr val="tx1">
                    <a:lumMod val="50000"/>
                    <a:lumOff val="50000"/>
                  </a:schemeClr>
                </a:solidFill>
                <a:latin typeface="微软雅黑" panose="020B0503020204020204" pitchFamily="34" charset="-122"/>
                <a:ea typeface="微软雅黑" panose="020B0503020204020204" pitchFamily="34" charset="-122"/>
              </a:rPr>
              <a:t>工程实现进展</a:t>
            </a:r>
            <a:endParaRPr 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8" name="标题 1"/>
          <p:cNvSpPr>
            <a:spLocks noGrp="1"/>
          </p:cNvSpPr>
          <p:nvPr>
            <p:custDataLst>
              <p:tags r:id="rId2"/>
            </p:custDataLst>
          </p:nvPr>
        </p:nvSpPr>
        <p:spPr>
          <a:xfrm>
            <a:off x="611505" y="843915"/>
            <a:ext cx="7776845" cy="4156075"/>
          </a:xfrm>
          <a:prstGeom prst="rect">
            <a:avLst/>
          </a:prstGeom>
        </p:spPr>
        <p:txBody>
          <a:bodyPr vert="horz" lIns="90000" tIns="46800" rIns="90000" bIns="46800" rtlCol="0" anchor="ctr" anchorCtr="0"/>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zh-CN" altLang="en-US" sz="1400"/>
              <a:t>在工程实现层面，本文已完成</a:t>
            </a:r>
            <a:r>
              <a:rPr lang="en-US" altLang="zh-CN" sz="1400"/>
              <a:t> MCP-Auth Gateway </a:t>
            </a:r>
            <a:r>
              <a:rPr lang="zh-CN" altLang="en-US" sz="1400"/>
              <a:t>的初步原型系统，并在开源仓库中给出了实现代码。该原型系统采用模块化设计，实现了</a:t>
            </a:r>
            <a:r>
              <a:rPr lang="en-US" altLang="zh-CN" sz="1400"/>
              <a:t> MCP-AuthZ </a:t>
            </a:r>
            <a:r>
              <a:rPr lang="zh-CN" altLang="en-US" sz="1400"/>
              <a:t>架构中的关键功能组件。</a:t>
            </a:r>
            <a:endParaRPr lang="zh-CN" altLang="en-US" sz="1400"/>
          </a:p>
          <a:p>
            <a:r>
              <a:rPr lang="zh-CN" altLang="en-US" sz="1400"/>
              <a:t>目前已实现的功能包括：</a:t>
            </a:r>
            <a:endParaRPr lang="zh-CN" altLang="en-US" sz="1400"/>
          </a:p>
          <a:p>
            <a:r>
              <a:rPr lang="en-US" altLang="zh-CN" sz="1400"/>
              <a:t>• </a:t>
            </a:r>
            <a:r>
              <a:rPr lang="en-US" altLang="zh-CN" sz="1400" b="1"/>
              <a:t>Gateway </a:t>
            </a:r>
            <a:r>
              <a:rPr lang="zh-CN" altLang="en-US" sz="1400" b="1"/>
              <a:t>基础转发能力</a:t>
            </a:r>
            <a:r>
              <a:rPr lang="zh-CN" altLang="en-US" sz="1400"/>
              <a:t>：作为</a:t>
            </a:r>
            <a:r>
              <a:rPr lang="en-US" altLang="zh-CN" sz="1400"/>
              <a:t> MCP Client </a:t>
            </a:r>
            <a:r>
              <a:rPr lang="zh-CN" altLang="en-US" sz="1400"/>
              <a:t>与</a:t>
            </a:r>
            <a:r>
              <a:rPr lang="en-US" altLang="zh-CN" sz="1400"/>
              <a:t> MCP Server </a:t>
            </a:r>
            <a:r>
              <a:rPr lang="zh-CN" altLang="en-US" sz="1400"/>
              <a:t>之间的中介组件，支持兼容转发原生</a:t>
            </a:r>
            <a:r>
              <a:rPr lang="en-US" altLang="zh-CN" sz="1400"/>
              <a:t> MCP </a:t>
            </a:r>
            <a:r>
              <a:rPr lang="zh-CN" altLang="en-US" sz="1400"/>
              <a:t>消息；</a:t>
            </a:r>
            <a:endParaRPr lang="zh-CN" altLang="en-US" sz="1400"/>
          </a:p>
          <a:p>
            <a:r>
              <a:rPr lang="en-US" altLang="zh-CN" sz="1400"/>
              <a:t>• </a:t>
            </a:r>
            <a:r>
              <a:rPr lang="zh-CN" altLang="en-US" sz="1400" b="1"/>
              <a:t>工具初始化阶段的安全增强</a:t>
            </a:r>
            <a:r>
              <a:rPr lang="zh-CN" altLang="en-US" sz="1400"/>
              <a:t>：在</a:t>
            </a:r>
            <a:r>
              <a:rPr lang="en-US" altLang="zh-CN" sz="1400"/>
              <a:t> initialize </a:t>
            </a:r>
            <a:r>
              <a:rPr lang="zh-CN" altLang="en-US" sz="1400"/>
              <a:t>阶段引入对工具</a:t>
            </a:r>
            <a:r>
              <a:rPr lang="en-US" altLang="zh-CN" sz="1400"/>
              <a:t> manifest </a:t>
            </a:r>
            <a:r>
              <a:rPr lang="zh-CN" altLang="en-US" sz="1400"/>
              <a:t>的获取与校验逻辑，为后续授权与调用建立可信基础；</a:t>
            </a:r>
            <a:endParaRPr lang="zh-CN" altLang="en-US" sz="1400"/>
          </a:p>
          <a:p>
            <a:r>
              <a:rPr lang="en-US" altLang="zh-CN" sz="1400"/>
              <a:t>• </a:t>
            </a:r>
            <a:r>
              <a:rPr lang="zh-CN" altLang="en-US" sz="1400" b="1"/>
              <a:t>授权信息管理模块</a:t>
            </a:r>
            <a:r>
              <a:rPr lang="zh-CN" altLang="en-US" sz="1400"/>
              <a:t>：支持对</a:t>
            </a:r>
            <a:r>
              <a:rPr lang="en-US" altLang="zh-CN" sz="1400"/>
              <a:t> OAuth </a:t>
            </a:r>
            <a:r>
              <a:rPr lang="zh-CN" altLang="en-US" sz="1400"/>
              <a:t>授权结果的接收、解析与内部表示，为调用阶段的权限判定提供输入；</a:t>
            </a:r>
            <a:endParaRPr lang="zh-CN" altLang="en-US" sz="1400"/>
          </a:p>
          <a:p>
            <a:r>
              <a:rPr lang="en-US" altLang="zh-CN" sz="1400"/>
              <a:t>• </a:t>
            </a:r>
            <a:r>
              <a:rPr lang="zh-CN" altLang="en-US" sz="1400" b="1"/>
              <a:t>调用前权限检查机制</a:t>
            </a:r>
            <a:r>
              <a:rPr lang="zh-CN" altLang="en-US" sz="1400"/>
              <a:t>：在工具调用请求进入</a:t>
            </a:r>
            <a:r>
              <a:rPr lang="en-US" altLang="zh-CN" sz="1400"/>
              <a:t> MCP Server </a:t>
            </a:r>
            <a:r>
              <a:rPr lang="zh-CN" altLang="en-US" sz="1400"/>
              <a:t>前，基于工具标识与授权上下文执行访问控制决策。</a:t>
            </a:r>
            <a:endParaRPr lang="zh-CN" altLang="en-US" sz="1400"/>
          </a:p>
          <a:p>
            <a:endParaRPr lang="zh-CN" altLang="en-US" sz="1400"/>
          </a:p>
          <a:p>
            <a:r>
              <a:rPr lang="zh-CN" altLang="en-US" sz="1400"/>
              <a:t>上述实现验证了</a:t>
            </a:r>
            <a:r>
              <a:rPr lang="en-US" altLang="zh-CN" sz="1400"/>
              <a:t> MCP-AuthZ Gateway </a:t>
            </a:r>
            <a:r>
              <a:rPr lang="zh-CN" altLang="en-US" sz="1400"/>
              <a:t>在不修改原生</a:t>
            </a:r>
            <a:r>
              <a:rPr lang="en-US" altLang="zh-CN" sz="1400"/>
              <a:t> MCP Server </a:t>
            </a:r>
            <a:r>
              <a:rPr lang="zh-CN" altLang="en-US" sz="1400"/>
              <a:t>的前提下引入授权控制层的可行性，也为后续安全机制（如</a:t>
            </a:r>
            <a:r>
              <a:rPr lang="en-US" altLang="zh-CN" sz="1400"/>
              <a:t> PoP </a:t>
            </a:r>
            <a:r>
              <a:rPr lang="zh-CN" altLang="en-US" sz="1400"/>
              <a:t>校验、请求级签名、撤销接口等）的逐步集成提供了稳定基础。</a:t>
            </a:r>
            <a:endParaRPr lang="zh-CN" altLang="en-US" sz="1400"/>
          </a:p>
        </p:txBody>
      </p:sp>
      <p:sp>
        <p:nvSpPr>
          <p:cNvPr id="5" name="文本框 4"/>
          <p:cNvSpPr txBox="1"/>
          <p:nvPr/>
        </p:nvSpPr>
        <p:spPr>
          <a:xfrm>
            <a:off x="755650" y="4775200"/>
            <a:ext cx="6054090" cy="275590"/>
          </a:xfrm>
          <a:prstGeom prst="rect">
            <a:avLst/>
          </a:prstGeom>
          <a:noFill/>
        </p:spPr>
        <p:txBody>
          <a:bodyPr wrap="square" rtlCol="0">
            <a:spAutoFit/>
          </a:bodyPr>
          <a:p>
            <a:r>
              <a:rPr lang="en-US" altLang="zh-CN" sz="1200"/>
              <a:t>https://github.com/quietfreedom/mcp-auth-gateway</a:t>
            </a:r>
            <a:endParaRPr lang="en-US" altLang="zh-CN" sz="120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643380" cy="398780"/>
          </a:xfrm>
          <a:prstGeom prst="rect">
            <a:avLst/>
          </a:prstGeom>
          <a:noFill/>
          <a:ln>
            <a:noFill/>
          </a:ln>
        </p:spPr>
        <p:txBody>
          <a:bodyPr wrap="none" rtlCol="0">
            <a:spAutoFit/>
          </a:bodyPr>
          <a:lstStyle/>
          <a:p>
            <a:pPr algn="l"/>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sym typeface="+mn-ea"/>
              </a:rPr>
              <a:t>阶段性成果</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843671" y="237108"/>
            <a:ext cx="2418080" cy="337185"/>
          </a:xfrm>
          <a:prstGeom prst="rect">
            <a:avLst/>
          </a:prstGeom>
          <a:noFill/>
        </p:spPr>
        <p:txBody>
          <a:bodyPr wrap="none" rtlCol="0">
            <a:spAutoFit/>
          </a:bodyPr>
          <a:lstStyle/>
          <a:p>
            <a:r>
              <a:rPr lang="zh-CN" sz="1600" dirty="0">
                <a:solidFill>
                  <a:schemeClr val="tx1">
                    <a:lumMod val="50000"/>
                    <a:lumOff val="50000"/>
                  </a:schemeClr>
                </a:solidFill>
                <a:latin typeface="微软雅黑" panose="020B0503020204020204" pitchFamily="34" charset="-122"/>
                <a:ea typeface="微软雅黑" panose="020B0503020204020204" pitchFamily="34" charset="-122"/>
              </a:rPr>
              <a:t>后续实验方向与评估设计</a:t>
            </a:r>
            <a:endParaRPr 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77159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9" name="图片 2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8" name="标题 1"/>
          <p:cNvSpPr>
            <a:spLocks noGrp="1"/>
          </p:cNvSpPr>
          <p:nvPr>
            <p:custDataLst>
              <p:tags r:id="rId2"/>
            </p:custDataLst>
          </p:nvPr>
        </p:nvSpPr>
        <p:spPr>
          <a:xfrm>
            <a:off x="611505" y="1059815"/>
            <a:ext cx="7776845" cy="3660140"/>
          </a:xfrm>
          <a:prstGeom prst="rect">
            <a:avLst/>
          </a:prstGeom>
        </p:spPr>
        <p:txBody>
          <a:bodyPr vert="horz" lIns="90000" tIns="46800" rIns="90000" bIns="46800" rtlCol="0" anchor="ctr" anchorCtr="0"/>
          <a:lst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a:lstStyle>
          <a:p>
            <a:r>
              <a:rPr lang="zh-CN" altLang="en-US" sz="1400"/>
              <a:t>在当前实现基础上，本文已完成对实验评估方案的初步设计。后续工作将围绕以下</a:t>
            </a:r>
            <a:endParaRPr lang="zh-CN" altLang="en-US" sz="1400"/>
          </a:p>
          <a:p>
            <a:r>
              <a:rPr lang="zh-CN" altLang="en-US" sz="1400"/>
              <a:t>方向展开：</a:t>
            </a:r>
            <a:endParaRPr lang="zh-CN" altLang="en-US" sz="1400"/>
          </a:p>
          <a:p>
            <a:pPr indent="0">
              <a:buFont typeface="Arial" panose="020B0604020202020204" pitchFamily="34" charset="0"/>
            </a:pPr>
            <a:r>
              <a:rPr lang="en-US" altLang="zh-CN" sz="1400">
                <a:sym typeface="+mn-ea"/>
              </a:rPr>
              <a:t>• </a:t>
            </a:r>
            <a:r>
              <a:rPr lang="zh-CN" altLang="en-US" sz="1400"/>
              <a:t>完成</a:t>
            </a:r>
            <a:r>
              <a:rPr lang="en-US" altLang="zh-CN" sz="1400"/>
              <a:t>Gateway</a:t>
            </a:r>
            <a:r>
              <a:rPr lang="zh-CN" altLang="en-US" sz="1400"/>
              <a:t>其余功能模块的实现；</a:t>
            </a:r>
            <a:endParaRPr lang="zh-CN" altLang="en-US" sz="1400"/>
          </a:p>
          <a:p>
            <a:r>
              <a:rPr lang="en-US" altLang="zh-CN" sz="1400"/>
              <a:t>• </a:t>
            </a:r>
            <a:r>
              <a:rPr lang="zh-CN" altLang="en-US" sz="1400"/>
              <a:t>安全性评估：构造典型</a:t>
            </a:r>
            <a:r>
              <a:rPr lang="en-US" altLang="zh-CN" sz="1400"/>
              <a:t> OAuth </a:t>
            </a:r>
            <a:r>
              <a:rPr lang="zh-CN" altLang="en-US" sz="1400"/>
              <a:t>攻击与</a:t>
            </a:r>
            <a:r>
              <a:rPr lang="en-US" altLang="zh-CN" sz="1400"/>
              <a:t> MCP </a:t>
            </a:r>
            <a:r>
              <a:rPr lang="zh-CN" altLang="en-US" sz="1400"/>
              <a:t>授权滥用场景，对比原生</a:t>
            </a:r>
            <a:r>
              <a:rPr lang="en-US" altLang="zh-CN" sz="1400"/>
              <a:t> MCP </a:t>
            </a:r>
            <a:r>
              <a:rPr lang="zh-CN" altLang="en-US" sz="1400"/>
              <a:t>与</a:t>
            </a:r>
            <a:r>
              <a:rPr lang="en-US" altLang="zh-CN" sz="1400"/>
              <a:t>MCP-AuthZ </a:t>
            </a:r>
            <a:r>
              <a:rPr lang="zh-CN" altLang="en-US" sz="1400"/>
              <a:t>在防护效果上的差异；</a:t>
            </a:r>
            <a:endParaRPr lang="zh-CN" altLang="en-US" sz="1400"/>
          </a:p>
          <a:p>
            <a:r>
              <a:rPr lang="en-US" altLang="zh-CN" sz="1400"/>
              <a:t>• </a:t>
            </a:r>
            <a:r>
              <a:rPr lang="zh-CN" altLang="en-US" sz="1400"/>
              <a:t>兼容性评估：验证</a:t>
            </a:r>
            <a:r>
              <a:rPr lang="en-US" altLang="zh-CN" sz="1400"/>
              <a:t> Gateway </a:t>
            </a:r>
            <a:r>
              <a:rPr lang="zh-CN" altLang="en-US" sz="1400"/>
              <a:t>在不破坏</a:t>
            </a:r>
            <a:r>
              <a:rPr lang="en-US" altLang="zh-CN" sz="1400"/>
              <a:t> MCP </a:t>
            </a:r>
            <a:r>
              <a:rPr lang="zh-CN" altLang="en-US" sz="1400"/>
              <a:t>现有接口与工具实现的情况下对授权流程的增强能力；</a:t>
            </a:r>
            <a:endParaRPr lang="zh-CN" altLang="en-US" sz="1400"/>
          </a:p>
          <a:p>
            <a:r>
              <a:rPr lang="en-US" altLang="zh-CN" sz="1400"/>
              <a:t>• </a:t>
            </a:r>
            <a:r>
              <a:rPr lang="zh-CN" altLang="en-US" sz="1400"/>
              <a:t>性能评估：测量</a:t>
            </a:r>
            <a:r>
              <a:rPr lang="en-US" altLang="zh-CN" sz="1400"/>
              <a:t> Gateway </a:t>
            </a:r>
            <a:r>
              <a:rPr lang="zh-CN" altLang="en-US" sz="1400"/>
              <a:t>引入后的请求延迟与系统开销，分析安全增强带来的性能影响。</a:t>
            </a:r>
            <a:endParaRPr lang="zh-CN" altLang="en-US" sz="1400"/>
          </a:p>
        </p:txBody>
      </p:sp>
    </p:spTree>
  </p:cSld>
  <p:clrMapOvr>
    <a:masterClrMapping/>
  </p:clrMapOvr>
  <p:transition spd="slow" advClick="0" advTm="0">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1" name="矩形 34"/>
          <p:cNvGrpSpPr/>
          <p:nvPr/>
        </p:nvGrpSpPr>
        <p:grpSpPr bwMode="auto">
          <a:xfrm>
            <a:off x="-23812" y="2166937"/>
            <a:ext cx="9314260" cy="109538"/>
            <a:chOff x="634" y="2396"/>
            <a:chExt cx="6470" cy="238"/>
          </a:xfrm>
        </p:grpSpPr>
        <p:pic>
          <p:nvPicPr>
            <p:cNvPr id="20486" name="矩形 34"/>
            <p:cNvPicPr>
              <a:picLocks noChangeArrowheads="1"/>
            </p:cNvPicPr>
            <p:nvPr/>
          </p:nvPicPr>
          <p:blipFill>
            <a:blip r:embed="rId1" cstate="print"/>
            <a:srcRect/>
            <a:stretch>
              <a:fillRect/>
            </a:stretch>
          </p:blipFill>
          <p:spPr bwMode="auto">
            <a:xfrm>
              <a:off x="634" y="2396"/>
              <a:ext cx="6470" cy="238"/>
            </a:xfrm>
            <a:prstGeom prst="rect">
              <a:avLst/>
            </a:prstGeom>
            <a:noFill/>
            <a:ln w="9525">
              <a:noFill/>
              <a:miter lim="800000"/>
              <a:headEnd/>
              <a:tailEnd/>
            </a:ln>
          </p:spPr>
        </p:pic>
        <p:sp>
          <p:nvSpPr>
            <p:cNvPr id="20487" name="Text Box 4"/>
            <p:cNvSpPr txBox="1">
              <a:spLocks noChangeArrowheads="1"/>
            </p:cNvSpPr>
            <p:nvPr/>
          </p:nvSpPr>
          <p:spPr bwMode="auto">
            <a:xfrm rot="-5400000">
              <a:off x="3769" y="-700"/>
              <a:ext cx="102" cy="6337"/>
            </a:xfrm>
            <a:prstGeom prst="rect">
              <a:avLst/>
            </a:prstGeom>
            <a:noFill/>
            <a:ln w="9525">
              <a:noFill/>
              <a:miter lim="800000"/>
            </a:ln>
          </p:spPr>
          <p:txBody>
            <a:bodyPr vert="eaVert" anchor="ctr"/>
            <a:lstStyle/>
            <a:p>
              <a:pPr algn="ctr"/>
              <a:endParaRPr lang="zh-CN" altLang="en-US" sz="600" b="1"/>
            </a:p>
          </p:txBody>
        </p:sp>
      </p:grpSp>
      <p:sp>
        <p:nvSpPr>
          <p:cNvPr id="12" name="椭圆 11"/>
          <p:cNvSpPr/>
          <p:nvPr/>
        </p:nvSpPr>
        <p:spPr>
          <a:xfrm>
            <a:off x="3822085" y="1563280"/>
            <a:ext cx="1299658" cy="1298468"/>
          </a:xfrm>
          <a:prstGeom prst="ellipse">
            <a:avLst/>
          </a:pr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defRPr/>
            </a:pPr>
            <a:r>
              <a:rPr lang="en-US" altLang="zh-CN" sz="4500" b="1" dirty="0">
                <a:solidFill>
                  <a:srgbClr val="679E2A"/>
                </a:solidFill>
              </a:rPr>
              <a:t>05</a:t>
            </a:r>
            <a:endParaRPr lang="en-US" altLang="zh-CN" sz="4500" b="1" dirty="0">
              <a:solidFill>
                <a:srgbClr val="679E2A"/>
              </a:solidFill>
            </a:endParaRPr>
          </a:p>
        </p:txBody>
      </p:sp>
      <p:sp>
        <p:nvSpPr>
          <p:cNvPr id="20485" name="文本框 13"/>
          <p:cNvSpPr txBox="1">
            <a:spLocks noChangeArrowheads="1"/>
          </p:cNvSpPr>
          <p:nvPr/>
        </p:nvSpPr>
        <p:spPr bwMode="auto">
          <a:xfrm>
            <a:off x="2890850" y="2968229"/>
            <a:ext cx="3362300" cy="1083945"/>
          </a:xfrm>
          <a:prstGeom prst="rect">
            <a:avLst/>
          </a:prstGeom>
          <a:noFill/>
          <a:ln w="9525">
            <a:noFill/>
            <a:miter lim="800000"/>
          </a:ln>
        </p:spPr>
        <p:txBody>
          <a:bodyPr wrap="square" lIns="68580" tIns="34290" rIns="68580" bIns="34290">
            <a:spAutoFit/>
          </a:bodyPr>
          <a:lstStyle/>
          <a:p>
            <a:pPr algn="ctr"/>
            <a:r>
              <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rPr>
              <a:t>研究工作计划与进度安排</a:t>
            </a:r>
            <a:endParaRPr lang="zh-CN" altLang="en-US" sz="33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nvGrpSpPr>
          <p:cNvPr id="8" name="组合 7"/>
          <p:cNvGrpSpPr/>
          <p:nvPr/>
        </p:nvGrpSpPr>
        <p:grpSpPr>
          <a:xfrm>
            <a:off x="6284086" y="4299943"/>
            <a:ext cx="1178923" cy="990581"/>
            <a:chOff x="304800" y="673100"/>
            <a:chExt cx="4000500" cy="4000500"/>
          </a:xfrm>
          <a:effectLst>
            <a:outerShdw blurRad="444500" dist="254000" dir="8100000" algn="tr" rotWithShape="0">
              <a:prstClr val="black">
                <a:alpha val="50000"/>
              </a:prstClr>
            </a:outerShdw>
          </a:effectLst>
        </p:grpSpPr>
        <p:sp>
          <p:nvSpPr>
            <p:cNvPr id="9" name="同心圆 1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10" name="椭圆 1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11" name="组合 10"/>
          <p:cNvGrpSpPr/>
          <p:nvPr/>
        </p:nvGrpSpPr>
        <p:grpSpPr>
          <a:xfrm>
            <a:off x="4757398" y="4707084"/>
            <a:ext cx="630038" cy="529386"/>
            <a:chOff x="304800" y="673100"/>
            <a:chExt cx="4000500" cy="4000500"/>
          </a:xfrm>
          <a:effectLst>
            <a:outerShdw blurRad="444500" dist="254000" dir="8100000" algn="tr" rotWithShape="0">
              <a:prstClr val="black">
                <a:alpha val="50000"/>
              </a:prstClr>
            </a:outerShdw>
          </a:effectLst>
        </p:grpSpPr>
        <p:sp>
          <p:nvSpPr>
            <p:cNvPr id="13" name="同心圆 1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4" name="椭圆 1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5" name="组合 14"/>
          <p:cNvGrpSpPr/>
          <p:nvPr/>
        </p:nvGrpSpPr>
        <p:grpSpPr>
          <a:xfrm>
            <a:off x="5435980" y="5063807"/>
            <a:ext cx="890249" cy="748024"/>
            <a:chOff x="304800" y="673100"/>
            <a:chExt cx="4000500" cy="4000500"/>
          </a:xfrm>
          <a:effectLst>
            <a:outerShdw blurRad="444500" dist="254000" dir="8100000" algn="tr" rotWithShape="0">
              <a:prstClr val="black">
                <a:alpha val="50000"/>
              </a:prstClr>
            </a:outerShdw>
          </a:effectLst>
        </p:grpSpPr>
        <p:sp>
          <p:nvSpPr>
            <p:cNvPr id="16" name="同心圆 1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17" name="椭圆 1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18" name="组合 17"/>
          <p:cNvGrpSpPr/>
          <p:nvPr/>
        </p:nvGrpSpPr>
        <p:grpSpPr>
          <a:xfrm>
            <a:off x="7757778" y="4841201"/>
            <a:ext cx="685592" cy="576062"/>
            <a:chOff x="304800" y="673100"/>
            <a:chExt cx="4000500" cy="4000500"/>
          </a:xfrm>
          <a:effectLst>
            <a:outerShdw blurRad="444500" dist="254000" dir="8100000" algn="tr" rotWithShape="0">
              <a:prstClr val="black">
                <a:alpha val="50000"/>
              </a:prstClr>
            </a:outerShdw>
          </a:effectLst>
        </p:grpSpPr>
        <p:sp>
          <p:nvSpPr>
            <p:cNvPr id="19" name="同心圆 20"/>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20" name="椭圆 21"/>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21" name="组合 20"/>
          <p:cNvGrpSpPr/>
          <p:nvPr/>
        </p:nvGrpSpPr>
        <p:grpSpPr>
          <a:xfrm>
            <a:off x="766340" y="5134279"/>
            <a:ext cx="588678" cy="494633"/>
            <a:chOff x="304800" y="673100"/>
            <a:chExt cx="4000500" cy="4000500"/>
          </a:xfrm>
          <a:effectLst>
            <a:outerShdw blurRad="444500" dist="254000" dir="8100000" algn="tr" rotWithShape="0">
              <a:prstClr val="black">
                <a:alpha val="50000"/>
              </a:prstClr>
            </a:outerShdw>
          </a:effectLst>
        </p:grpSpPr>
        <p:sp>
          <p:nvSpPr>
            <p:cNvPr id="22" name="同心圆 23"/>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3" name="椭圆 24"/>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4" name="组合 23"/>
          <p:cNvGrpSpPr/>
          <p:nvPr/>
        </p:nvGrpSpPr>
        <p:grpSpPr>
          <a:xfrm>
            <a:off x="3961991" y="4569885"/>
            <a:ext cx="252414" cy="212090"/>
            <a:chOff x="304800" y="673100"/>
            <a:chExt cx="4000500" cy="4000500"/>
          </a:xfrm>
          <a:effectLst>
            <a:outerShdw blurRad="444500" dist="254000" dir="8100000" algn="tr" rotWithShape="0">
              <a:prstClr val="black">
                <a:alpha val="50000"/>
              </a:prstClr>
            </a:outerShdw>
          </a:effectLst>
        </p:grpSpPr>
        <p:sp>
          <p:nvSpPr>
            <p:cNvPr id="25" name="同心圆 26"/>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6" name="椭圆 27"/>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27" name="组合 26"/>
          <p:cNvGrpSpPr/>
          <p:nvPr/>
        </p:nvGrpSpPr>
        <p:grpSpPr>
          <a:xfrm>
            <a:off x="3180838" y="4411336"/>
            <a:ext cx="528914" cy="444416"/>
            <a:chOff x="304800" y="673100"/>
            <a:chExt cx="4000500" cy="4000500"/>
          </a:xfrm>
          <a:effectLst>
            <a:outerShdw blurRad="444500" dist="254000" dir="8100000" algn="tr" rotWithShape="0">
              <a:prstClr val="black">
                <a:alpha val="50000"/>
              </a:prstClr>
            </a:outerShdw>
          </a:effectLst>
        </p:grpSpPr>
        <p:sp>
          <p:nvSpPr>
            <p:cNvPr id="28" name="同心圆 29"/>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29" name="椭圆 30"/>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0" name="组合 29"/>
          <p:cNvGrpSpPr/>
          <p:nvPr/>
        </p:nvGrpSpPr>
        <p:grpSpPr>
          <a:xfrm>
            <a:off x="8700986" y="4401221"/>
            <a:ext cx="1178923" cy="990581"/>
            <a:chOff x="304800" y="673100"/>
            <a:chExt cx="4000500" cy="4000500"/>
          </a:xfrm>
          <a:effectLst>
            <a:outerShdw blurRad="444500" dist="254000" dir="8100000" algn="tr" rotWithShape="0">
              <a:prstClr val="black">
                <a:alpha val="50000"/>
              </a:prstClr>
            </a:outerShdw>
          </a:effectLst>
        </p:grpSpPr>
        <p:sp>
          <p:nvSpPr>
            <p:cNvPr id="31" name="同心圆 32"/>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2" name="椭圆 33"/>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3" name="组合 32"/>
          <p:cNvGrpSpPr/>
          <p:nvPr/>
        </p:nvGrpSpPr>
        <p:grpSpPr>
          <a:xfrm>
            <a:off x="4419051" y="4360488"/>
            <a:ext cx="223013" cy="187385"/>
            <a:chOff x="304800" y="673100"/>
            <a:chExt cx="4000500" cy="4000500"/>
          </a:xfrm>
          <a:effectLst>
            <a:outerShdw blurRad="444500" dist="254000" dir="8100000" algn="tr" rotWithShape="0">
              <a:prstClr val="black">
                <a:alpha val="50000"/>
              </a:prstClr>
            </a:outerShdw>
          </a:effectLst>
        </p:grpSpPr>
        <p:sp>
          <p:nvSpPr>
            <p:cNvPr id="34" name="同心圆 35"/>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35" name="椭圆 36"/>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36" name="组合 35"/>
          <p:cNvGrpSpPr/>
          <p:nvPr/>
        </p:nvGrpSpPr>
        <p:grpSpPr>
          <a:xfrm>
            <a:off x="1942885" y="4894390"/>
            <a:ext cx="1178923" cy="990581"/>
            <a:chOff x="304800" y="673100"/>
            <a:chExt cx="4000500" cy="4000500"/>
          </a:xfrm>
          <a:effectLst>
            <a:outerShdw blurRad="444500" dist="254000" dir="8100000" algn="tr" rotWithShape="0">
              <a:prstClr val="black">
                <a:alpha val="50000"/>
              </a:prstClr>
            </a:outerShdw>
          </a:effectLst>
        </p:grpSpPr>
        <p:sp>
          <p:nvSpPr>
            <p:cNvPr id="37" name="同心圆 38"/>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kern="0">
                <a:solidFill>
                  <a:sysClr val="windowText" lastClr="000000"/>
                </a:solidFill>
                <a:latin typeface="Calibri" panose="020F0502020204030204"/>
                <a:ea typeface="宋体" panose="02010600030101010101" pitchFamily="2" charset="-122"/>
              </a:endParaRPr>
            </a:p>
          </p:txBody>
        </p:sp>
        <p:sp>
          <p:nvSpPr>
            <p:cNvPr id="38" name="椭圆 39"/>
            <p:cNvSpPr/>
            <p:nvPr/>
          </p:nvSpPr>
          <p:spPr>
            <a:xfrm>
              <a:off x="392112" y="760412"/>
              <a:ext cx="3825873" cy="3825873"/>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kern="0">
                <a:solidFill>
                  <a:sysClr val="window" lastClr="FFFFFF"/>
                </a:solidFill>
                <a:latin typeface="Calibri" panose="020F0502020204030204"/>
                <a:ea typeface="宋体" panose="02010600030101010101" pitchFamily="2" charset="-122"/>
              </a:endParaRPr>
            </a:p>
          </p:txBody>
        </p:sp>
      </p:grpSp>
      <p:grpSp>
        <p:nvGrpSpPr>
          <p:cNvPr id="39" name="组合 38"/>
          <p:cNvGrpSpPr/>
          <p:nvPr/>
        </p:nvGrpSpPr>
        <p:grpSpPr>
          <a:xfrm>
            <a:off x="1275029" y="4689485"/>
            <a:ext cx="520034" cy="436956"/>
            <a:chOff x="304800" y="673100"/>
            <a:chExt cx="4000500" cy="4000500"/>
          </a:xfrm>
          <a:effectLst>
            <a:outerShdw blurRad="444500" dist="254000" dir="8100000" algn="tr" rotWithShape="0">
              <a:prstClr val="black">
                <a:alpha val="50000"/>
              </a:prstClr>
            </a:outerShdw>
          </a:effectLst>
        </p:grpSpPr>
        <p:sp>
          <p:nvSpPr>
            <p:cNvPr id="40" name="同心圆 41"/>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1" name="椭圆 42"/>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2" name="组合 41"/>
          <p:cNvGrpSpPr/>
          <p:nvPr/>
        </p:nvGrpSpPr>
        <p:grpSpPr>
          <a:xfrm>
            <a:off x="291040" y="4972059"/>
            <a:ext cx="316781" cy="266173"/>
            <a:chOff x="304800" y="673100"/>
            <a:chExt cx="4000500" cy="4000500"/>
          </a:xfrm>
          <a:effectLst>
            <a:outerShdw blurRad="444500" dist="254000" dir="8100000" algn="tr" rotWithShape="0">
              <a:prstClr val="black">
                <a:alpha val="50000"/>
              </a:prstClr>
            </a:outerShdw>
          </a:effectLst>
        </p:grpSpPr>
        <p:sp>
          <p:nvSpPr>
            <p:cNvPr id="43" name="同心圆 44"/>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4" name="椭圆 45"/>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grpSp>
        <p:nvGrpSpPr>
          <p:cNvPr id="45" name="组合 44"/>
          <p:cNvGrpSpPr/>
          <p:nvPr/>
        </p:nvGrpSpPr>
        <p:grpSpPr>
          <a:xfrm>
            <a:off x="117128" y="4763425"/>
            <a:ext cx="158390" cy="133087"/>
            <a:chOff x="304800" y="673100"/>
            <a:chExt cx="4000500" cy="4000500"/>
          </a:xfrm>
          <a:effectLst>
            <a:outerShdw blurRad="444500" dist="254000" dir="8100000" algn="tr" rotWithShape="0">
              <a:prstClr val="black">
                <a:alpha val="50000"/>
              </a:prstClr>
            </a:outerShdw>
          </a:effectLst>
        </p:grpSpPr>
        <p:sp>
          <p:nvSpPr>
            <p:cNvPr id="46" name="同心圆 47"/>
            <p:cNvSpPr/>
            <p:nvPr/>
          </p:nvSpPr>
          <p:spPr>
            <a:xfrm>
              <a:off x="304800" y="673100"/>
              <a:ext cx="4000500" cy="4000500"/>
            </a:xfrm>
            <a:prstGeom prst="hexagon">
              <a:avLst/>
            </a:prstGeom>
            <a:gradFill>
              <a:gsLst>
                <a:gs pos="0">
                  <a:sysClr val="window" lastClr="FFFFFF"/>
                </a:gs>
                <a:gs pos="55000">
                  <a:sysClr val="window" lastClr="FFFFFF">
                    <a:lumMod val="95000"/>
                  </a:sysClr>
                </a:gs>
                <a:gs pos="100000">
                  <a:sysClr val="window" lastClr="FFFFFF">
                    <a:lumMod val="65000"/>
                  </a:sysClr>
                </a:gs>
              </a:gsLst>
              <a:lin ang="81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sp>
          <p:nvSpPr>
            <p:cNvPr id="47" name="椭圆 48"/>
            <p:cNvSpPr/>
            <p:nvPr/>
          </p:nvSpPr>
          <p:spPr>
            <a:xfrm>
              <a:off x="392112" y="760412"/>
              <a:ext cx="3825874" cy="3825874"/>
            </a:xfrm>
            <a:prstGeom prst="hexagon">
              <a:avLst/>
            </a:prstGeom>
            <a:gradFill>
              <a:gsLst>
                <a:gs pos="0">
                  <a:sysClr val="window" lastClr="FFFFFF"/>
                </a:gs>
                <a:gs pos="51000">
                  <a:sysClr val="window" lastClr="FFFFFF">
                    <a:lumMod val="95000"/>
                  </a:sysClr>
                </a:gs>
                <a:gs pos="100000">
                  <a:sysClr val="window" lastClr="FFFFFF">
                    <a:lumMod val="75000"/>
                  </a:sysClr>
                </a:gs>
              </a:gsLst>
              <a:lin ang="18900000" scaled="0"/>
            </a:gradFill>
            <a:ln w="25400" cap="flat" cmpd="sng" algn="ctr">
              <a:noFill/>
              <a:prstDash val="solid"/>
            </a:ln>
            <a:effectLst/>
          </p:spPr>
          <p:txBody>
            <a:bodyPr rtlCol="0" anchor="ctr"/>
            <a:lstStyle/>
            <a:p>
              <a:pPr defTabSz="914400">
                <a:defRPr/>
              </a:pPr>
              <a:endParaRPr lang="zh-CN" altLang="en-US" sz="1200" kern="0">
                <a:solidFill>
                  <a:sysClr val="windowText" lastClr="000000"/>
                </a:solidFill>
                <a:latin typeface="Calibri" panose="020F0502020204030204"/>
                <a:ea typeface="宋体" panose="02010600030101010101" pitchFamily="2" charset="-122"/>
              </a:endParaRPr>
            </a:p>
          </p:txBody>
        </p:sp>
      </p:grpSp>
    </p:spTree>
  </p:cSld>
  <p:clrMapOvr>
    <a:masterClrMapping/>
  </p:clrMapOvr>
  <p:transition spd="slow"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20481"/>
                                        </p:tgtEl>
                                        <p:attrNameLst>
                                          <p:attrName>style.visibility</p:attrName>
                                        </p:attrNameLst>
                                      </p:cBhvr>
                                      <p:to>
                                        <p:strVal val="visible"/>
                                      </p:to>
                                    </p:set>
                                    <p:anim calcmode="lin" valueType="num">
                                      <p:cBhvr>
                                        <p:cTn id="7" dur="500" fill="hold"/>
                                        <p:tgtEl>
                                          <p:spTgt spid="20481"/>
                                        </p:tgtEl>
                                        <p:attrNameLst>
                                          <p:attrName>ppt_w</p:attrName>
                                        </p:attrNameLst>
                                      </p:cBhvr>
                                      <p:tavLst>
                                        <p:tav tm="0">
                                          <p:val>
                                            <p:fltVal val="0"/>
                                          </p:val>
                                        </p:tav>
                                        <p:tav tm="100000">
                                          <p:val>
                                            <p:strVal val="#ppt_w"/>
                                          </p:val>
                                        </p:tav>
                                      </p:tavLst>
                                    </p:anim>
                                    <p:anim calcmode="lin" valueType="num">
                                      <p:cBhvr>
                                        <p:cTn id="8" dur="500" fill="hold"/>
                                        <p:tgtEl>
                                          <p:spTgt spid="20481"/>
                                        </p:tgtEl>
                                        <p:attrNameLst>
                                          <p:attrName>ppt_h</p:attrName>
                                        </p:attrNameLst>
                                      </p:cBhvr>
                                      <p:tavLst>
                                        <p:tav tm="0">
                                          <p:val>
                                            <p:strVal val="#ppt_h"/>
                                          </p:val>
                                        </p:tav>
                                        <p:tav tm="100000">
                                          <p:val>
                                            <p:strVal val="#ppt_h"/>
                                          </p:val>
                                        </p:tav>
                                      </p:tavLst>
                                    </p:anim>
                                  </p:childTnLst>
                                </p:cTn>
                              </p:par>
                            </p:childTnLst>
                          </p:cTn>
                        </p:par>
                        <p:par>
                          <p:cTn id="9" fill="hold">
                            <p:stCondLst>
                              <p:cond delay="500"/>
                            </p:stCondLst>
                            <p:childTnLst>
                              <p:par>
                                <p:cTn id="10" presetID="52" presetClass="entr" presetSubtype="0"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Scale>
                                      <p:cBhvr>
                                        <p:cTn id="12"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12"/>
                                        </p:tgtEl>
                                        <p:attrNameLst>
                                          <p:attrName>ppt_x</p:attrName>
                                          <p:attrName>ppt_y</p:attrName>
                                        </p:attrNameLst>
                                      </p:cBhvr>
                                    </p:animMotion>
                                    <p:animEffect transition="in" filter="fade">
                                      <p:cBhvr>
                                        <p:cTn id="14" dur="1000"/>
                                        <p:tgtEl>
                                          <p:spTgt spid="12"/>
                                        </p:tgtEl>
                                      </p:cBhvr>
                                    </p:animEffect>
                                  </p:childTnLst>
                                </p:cTn>
                              </p:par>
                            </p:childTnLst>
                          </p:cTn>
                        </p:par>
                        <p:par>
                          <p:cTn id="15" fill="hold">
                            <p:stCondLst>
                              <p:cond delay="1500"/>
                            </p:stCondLst>
                            <p:childTnLst>
                              <p:par>
                                <p:cTn id="16" presetID="41" presetClass="entr" presetSubtype="0" fill="hold" grpId="0" nodeType="afterEffect">
                                  <p:stCondLst>
                                    <p:cond delay="0"/>
                                  </p:stCondLst>
                                  <p:iterate type="lt">
                                    <p:tmPct val="10000"/>
                                  </p:iterate>
                                  <p:childTnLst>
                                    <p:set>
                                      <p:cBhvr>
                                        <p:cTn id="17" dur="1" fill="hold">
                                          <p:stCondLst>
                                            <p:cond delay="0"/>
                                          </p:stCondLst>
                                        </p:cTn>
                                        <p:tgtEl>
                                          <p:spTgt spid="20485"/>
                                        </p:tgtEl>
                                        <p:attrNameLst>
                                          <p:attrName>style.visibility</p:attrName>
                                        </p:attrNameLst>
                                      </p:cBhvr>
                                      <p:to>
                                        <p:strVal val="visible"/>
                                      </p:to>
                                    </p:set>
                                    <p:anim calcmode="lin" valueType="num">
                                      <p:cBhvr>
                                        <p:cTn id="18" dur="500" fill="hold"/>
                                        <p:tgtEl>
                                          <p:spTgt spid="20485"/>
                                        </p:tgtEl>
                                        <p:attrNameLst>
                                          <p:attrName>ppt_x</p:attrName>
                                        </p:attrNameLst>
                                      </p:cBhvr>
                                      <p:tavLst>
                                        <p:tav tm="0">
                                          <p:val>
                                            <p:strVal val="#ppt_x"/>
                                          </p:val>
                                        </p:tav>
                                        <p:tav tm="50000">
                                          <p:val>
                                            <p:strVal val="#ppt_x+.1"/>
                                          </p:val>
                                        </p:tav>
                                        <p:tav tm="100000">
                                          <p:val>
                                            <p:strVal val="#ppt_x"/>
                                          </p:val>
                                        </p:tav>
                                      </p:tavLst>
                                    </p:anim>
                                    <p:anim calcmode="lin" valueType="num">
                                      <p:cBhvr>
                                        <p:cTn id="19" dur="500" fill="hold"/>
                                        <p:tgtEl>
                                          <p:spTgt spid="20485"/>
                                        </p:tgtEl>
                                        <p:attrNameLst>
                                          <p:attrName>ppt_y</p:attrName>
                                        </p:attrNameLst>
                                      </p:cBhvr>
                                      <p:tavLst>
                                        <p:tav tm="0">
                                          <p:val>
                                            <p:strVal val="#ppt_y"/>
                                          </p:val>
                                        </p:tav>
                                        <p:tav tm="100000">
                                          <p:val>
                                            <p:strVal val="#ppt_y"/>
                                          </p:val>
                                        </p:tav>
                                      </p:tavLst>
                                    </p:anim>
                                    <p:anim calcmode="lin" valueType="num">
                                      <p:cBhvr>
                                        <p:cTn id="20" dur="500" fill="hold"/>
                                        <p:tgtEl>
                                          <p:spTgt spid="20485"/>
                                        </p:tgtEl>
                                        <p:attrNameLst>
                                          <p:attrName>ppt_h</p:attrName>
                                        </p:attrNameLst>
                                      </p:cBhvr>
                                      <p:tavLst>
                                        <p:tav tm="0">
                                          <p:val>
                                            <p:strVal val="#ppt_h/10"/>
                                          </p:val>
                                        </p:tav>
                                        <p:tav tm="50000">
                                          <p:val>
                                            <p:strVal val="#ppt_h+.01"/>
                                          </p:val>
                                        </p:tav>
                                        <p:tav tm="100000">
                                          <p:val>
                                            <p:strVal val="#ppt_h"/>
                                          </p:val>
                                        </p:tav>
                                      </p:tavLst>
                                    </p:anim>
                                    <p:anim calcmode="lin" valueType="num">
                                      <p:cBhvr>
                                        <p:cTn id="21" dur="500" fill="hold"/>
                                        <p:tgtEl>
                                          <p:spTgt spid="20485"/>
                                        </p:tgtEl>
                                        <p:attrNameLst>
                                          <p:attrName>ppt_w</p:attrName>
                                        </p:attrNameLst>
                                      </p:cBhvr>
                                      <p:tavLst>
                                        <p:tav tm="0">
                                          <p:val>
                                            <p:strVal val="#ppt_w/10"/>
                                          </p:val>
                                        </p:tav>
                                        <p:tav tm="50000">
                                          <p:val>
                                            <p:strVal val="#ppt_w+.01"/>
                                          </p:val>
                                        </p:tav>
                                        <p:tav tm="100000">
                                          <p:val>
                                            <p:strVal val="#ppt_w"/>
                                          </p:val>
                                        </p:tav>
                                      </p:tavLst>
                                    </p:anim>
                                    <p:animEffect transition="in" filter="fade">
                                      <p:cBhvr>
                                        <p:cTn id="22" dur="500" tmFilter="0,0; .5, 1; 1, 1"/>
                                        <p:tgtEl>
                                          <p:spTgt spid="20485"/>
                                        </p:tgtEl>
                                      </p:cBhvr>
                                    </p:animEffect>
                                  </p:childTnLst>
                                </p:cTn>
                              </p:par>
                            </p:childTnLst>
                          </p:cTn>
                        </p:par>
                        <p:par>
                          <p:cTn id="23" fill="hold">
                            <p:stCondLst>
                              <p:cond delay="2500"/>
                            </p:stCondLst>
                            <p:childTnLst>
                              <p:par>
                                <p:cTn id="24" presetID="23" presetClass="entr" presetSubtype="52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p:cTn id="26" dur="500" fill="hold"/>
                                        <p:tgtEl>
                                          <p:spTgt spid="8"/>
                                        </p:tgtEl>
                                        <p:attrNameLst>
                                          <p:attrName>ppt_w</p:attrName>
                                        </p:attrNameLst>
                                      </p:cBhvr>
                                      <p:tavLst>
                                        <p:tav tm="0">
                                          <p:val>
                                            <p:fltVal val="0"/>
                                          </p:val>
                                        </p:tav>
                                        <p:tav tm="100000">
                                          <p:val>
                                            <p:strVal val="#ppt_w"/>
                                          </p:val>
                                        </p:tav>
                                      </p:tavLst>
                                    </p:anim>
                                    <p:anim calcmode="lin" valueType="num">
                                      <p:cBhvr>
                                        <p:cTn id="27" dur="500" fill="hold"/>
                                        <p:tgtEl>
                                          <p:spTgt spid="8"/>
                                        </p:tgtEl>
                                        <p:attrNameLst>
                                          <p:attrName>ppt_h</p:attrName>
                                        </p:attrNameLst>
                                      </p:cBhvr>
                                      <p:tavLst>
                                        <p:tav tm="0">
                                          <p:val>
                                            <p:fltVal val="0"/>
                                          </p:val>
                                        </p:tav>
                                        <p:tav tm="100000">
                                          <p:val>
                                            <p:strVal val="#ppt_h"/>
                                          </p:val>
                                        </p:tav>
                                      </p:tavLst>
                                    </p:anim>
                                    <p:anim calcmode="lin" valueType="num">
                                      <p:cBhvr>
                                        <p:cTn id="28" dur="500" fill="hold"/>
                                        <p:tgtEl>
                                          <p:spTgt spid="8"/>
                                        </p:tgtEl>
                                        <p:attrNameLst>
                                          <p:attrName>ppt_x</p:attrName>
                                        </p:attrNameLst>
                                      </p:cBhvr>
                                      <p:tavLst>
                                        <p:tav tm="0">
                                          <p:val>
                                            <p:fltVal val="0.5"/>
                                          </p:val>
                                        </p:tav>
                                        <p:tav tm="100000">
                                          <p:val>
                                            <p:strVal val="#ppt_x"/>
                                          </p:val>
                                        </p:tav>
                                      </p:tavLst>
                                    </p:anim>
                                    <p:anim calcmode="lin" valueType="num">
                                      <p:cBhvr>
                                        <p:cTn id="29" dur="500" fill="hold"/>
                                        <p:tgtEl>
                                          <p:spTgt spid="8"/>
                                        </p:tgtEl>
                                        <p:attrNameLst>
                                          <p:attrName>ppt_y</p:attrName>
                                        </p:attrNameLst>
                                      </p:cBhvr>
                                      <p:tavLst>
                                        <p:tav tm="0">
                                          <p:val>
                                            <p:fltVal val="0.5"/>
                                          </p:val>
                                        </p:tav>
                                        <p:tav tm="100000">
                                          <p:val>
                                            <p:strVal val="#ppt_y"/>
                                          </p:val>
                                        </p:tav>
                                      </p:tavLst>
                                    </p:anim>
                                  </p:childTnLst>
                                </p:cTn>
                              </p:par>
                              <p:par>
                                <p:cTn id="30" presetID="23" presetClass="entr" presetSubtype="528" fill="hold" nodeType="withEffect">
                                  <p:stCondLst>
                                    <p:cond delay="30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 calcmode="lin" valueType="num">
                                      <p:cBhvr>
                                        <p:cTn id="34" dur="500" fill="hold"/>
                                        <p:tgtEl>
                                          <p:spTgt spid="11"/>
                                        </p:tgtEl>
                                        <p:attrNameLst>
                                          <p:attrName>ppt_x</p:attrName>
                                        </p:attrNameLst>
                                      </p:cBhvr>
                                      <p:tavLst>
                                        <p:tav tm="0">
                                          <p:val>
                                            <p:fltVal val="0.5"/>
                                          </p:val>
                                        </p:tav>
                                        <p:tav tm="100000">
                                          <p:val>
                                            <p:strVal val="#ppt_x"/>
                                          </p:val>
                                        </p:tav>
                                      </p:tavLst>
                                    </p:anim>
                                    <p:anim calcmode="lin" valueType="num">
                                      <p:cBhvr>
                                        <p:cTn id="35" dur="500" fill="hold"/>
                                        <p:tgtEl>
                                          <p:spTgt spid="11"/>
                                        </p:tgtEl>
                                        <p:attrNameLst>
                                          <p:attrName>ppt_y</p:attrName>
                                        </p:attrNameLst>
                                      </p:cBhvr>
                                      <p:tavLst>
                                        <p:tav tm="0">
                                          <p:val>
                                            <p:fltVal val="0.5"/>
                                          </p:val>
                                        </p:tav>
                                        <p:tav tm="100000">
                                          <p:val>
                                            <p:strVal val="#ppt_y"/>
                                          </p:val>
                                        </p:tav>
                                      </p:tavLst>
                                    </p:anim>
                                  </p:childTnLst>
                                </p:cTn>
                              </p:par>
                              <p:par>
                                <p:cTn id="36" presetID="23" presetClass="entr" presetSubtype="528" fill="hold" nodeType="withEffect">
                                  <p:stCondLst>
                                    <p:cond delay="700"/>
                                  </p:stCondLst>
                                  <p:childTnLst>
                                    <p:set>
                                      <p:cBhvr>
                                        <p:cTn id="37" dur="1" fill="hold">
                                          <p:stCondLst>
                                            <p:cond delay="0"/>
                                          </p:stCondLst>
                                        </p:cTn>
                                        <p:tgtEl>
                                          <p:spTgt spid="15"/>
                                        </p:tgtEl>
                                        <p:attrNameLst>
                                          <p:attrName>style.visibility</p:attrName>
                                        </p:attrNameLst>
                                      </p:cBhvr>
                                      <p:to>
                                        <p:strVal val="visible"/>
                                      </p:to>
                                    </p:set>
                                    <p:anim calcmode="lin" valueType="num">
                                      <p:cBhvr>
                                        <p:cTn id="38" dur="500" fill="hold"/>
                                        <p:tgtEl>
                                          <p:spTgt spid="15"/>
                                        </p:tgtEl>
                                        <p:attrNameLst>
                                          <p:attrName>ppt_w</p:attrName>
                                        </p:attrNameLst>
                                      </p:cBhvr>
                                      <p:tavLst>
                                        <p:tav tm="0">
                                          <p:val>
                                            <p:fltVal val="0"/>
                                          </p:val>
                                        </p:tav>
                                        <p:tav tm="100000">
                                          <p:val>
                                            <p:strVal val="#ppt_w"/>
                                          </p:val>
                                        </p:tav>
                                      </p:tavLst>
                                    </p:anim>
                                    <p:anim calcmode="lin" valueType="num">
                                      <p:cBhvr>
                                        <p:cTn id="39" dur="500" fill="hold"/>
                                        <p:tgtEl>
                                          <p:spTgt spid="15"/>
                                        </p:tgtEl>
                                        <p:attrNameLst>
                                          <p:attrName>ppt_h</p:attrName>
                                        </p:attrNameLst>
                                      </p:cBhvr>
                                      <p:tavLst>
                                        <p:tav tm="0">
                                          <p:val>
                                            <p:fltVal val="0"/>
                                          </p:val>
                                        </p:tav>
                                        <p:tav tm="100000">
                                          <p:val>
                                            <p:strVal val="#ppt_h"/>
                                          </p:val>
                                        </p:tav>
                                      </p:tavLst>
                                    </p:anim>
                                    <p:anim calcmode="lin" valueType="num">
                                      <p:cBhvr>
                                        <p:cTn id="40" dur="500" fill="hold"/>
                                        <p:tgtEl>
                                          <p:spTgt spid="15"/>
                                        </p:tgtEl>
                                        <p:attrNameLst>
                                          <p:attrName>ppt_x</p:attrName>
                                        </p:attrNameLst>
                                      </p:cBhvr>
                                      <p:tavLst>
                                        <p:tav tm="0">
                                          <p:val>
                                            <p:fltVal val="0.5"/>
                                          </p:val>
                                        </p:tav>
                                        <p:tav tm="100000">
                                          <p:val>
                                            <p:strVal val="#ppt_x"/>
                                          </p:val>
                                        </p:tav>
                                      </p:tavLst>
                                    </p:anim>
                                    <p:anim calcmode="lin" valueType="num">
                                      <p:cBhvr>
                                        <p:cTn id="41" dur="500" fill="hold"/>
                                        <p:tgtEl>
                                          <p:spTgt spid="15"/>
                                        </p:tgtEl>
                                        <p:attrNameLst>
                                          <p:attrName>ppt_y</p:attrName>
                                        </p:attrNameLst>
                                      </p:cBhvr>
                                      <p:tavLst>
                                        <p:tav tm="0">
                                          <p:val>
                                            <p:fltVal val="0.5"/>
                                          </p:val>
                                        </p:tav>
                                        <p:tav tm="100000">
                                          <p:val>
                                            <p:strVal val="#ppt_y"/>
                                          </p:val>
                                        </p:tav>
                                      </p:tavLst>
                                    </p:anim>
                                  </p:childTnLst>
                                </p:cTn>
                              </p:par>
                              <p:par>
                                <p:cTn id="42" presetID="23" presetClass="entr" presetSubtype="528" fill="hold" nodeType="withEffect">
                                  <p:stCondLst>
                                    <p:cond delay="300"/>
                                  </p:stCondLst>
                                  <p:childTnLst>
                                    <p:set>
                                      <p:cBhvr>
                                        <p:cTn id="43" dur="1" fill="hold">
                                          <p:stCondLst>
                                            <p:cond delay="0"/>
                                          </p:stCondLst>
                                        </p:cTn>
                                        <p:tgtEl>
                                          <p:spTgt spid="18"/>
                                        </p:tgtEl>
                                        <p:attrNameLst>
                                          <p:attrName>style.visibility</p:attrName>
                                        </p:attrNameLst>
                                      </p:cBhvr>
                                      <p:to>
                                        <p:strVal val="visible"/>
                                      </p:to>
                                    </p:set>
                                    <p:anim calcmode="lin" valueType="num">
                                      <p:cBhvr>
                                        <p:cTn id="44" dur="500" fill="hold"/>
                                        <p:tgtEl>
                                          <p:spTgt spid="18"/>
                                        </p:tgtEl>
                                        <p:attrNameLst>
                                          <p:attrName>ppt_w</p:attrName>
                                        </p:attrNameLst>
                                      </p:cBhvr>
                                      <p:tavLst>
                                        <p:tav tm="0">
                                          <p:val>
                                            <p:fltVal val="0"/>
                                          </p:val>
                                        </p:tav>
                                        <p:tav tm="100000">
                                          <p:val>
                                            <p:strVal val="#ppt_w"/>
                                          </p:val>
                                        </p:tav>
                                      </p:tavLst>
                                    </p:anim>
                                    <p:anim calcmode="lin" valueType="num">
                                      <p:cBhvr>
                                        <p:cTn id="45" dur="500" fill="hold"/>
                                        <p:tgtEl>
                                          <p:spTgt spid="18"/>
                                        </p:tgtEl>
                                        <p:attrNameLst>
                                          <p:attrName>ppt_h</p:attrName>
                                        </p:attrNameLst>
                                      </p:cBhvr>
                                      <p:tavLst>
                                        <p:tav tm="0">
                                          <p:val>
                                            <p:fltVal val="0"/>
                                          </p:val>
                                        </p:tav>
                                        <p:tav tm="100000">
                                          <p:val>
                                            <p:strVal val="#ppt_h"/>
                                          </p:val>
                                        </p:tav>
                                      </p:tavLst>
                                    </p:anim>
                                    <p:anim calcmode="lin" valueType="num">
                                      <p:cBhvr>
                                        <p:cTn id="46" dur="500" fill="hold"/>
                                        <p:tgtEl>
                                          <p:spTgt spid="18"/>
                                        </p:tgtEl>
                                        <p:attrNameLst>
                                          <p:attrName>ppt_x</p:attrName>
                                        </p:attrNameLst>
                                      </p:cBhvr>
                                      <p:tavLst>
                                        <p:tav tm="0">
                                          <p:val>
                                            <p:fltVal val="0.5"/>
                                          </p:val>
                                        </p:tav>
                                        <p:tav tm="100000">
                                          <p:val>
                                            <p:strVal val="#ppt_x"/>
                                          </p:val>
                                        </p:tav>
                                      </p:tavLst>
                                    </p:anim>
                                    <p:anim calcmode="lin" valueType="num">
                                      <p:cBhvr>
                                        <p:cTn id="47" dur="500" fill="hold"/>
                                        <p:tgtEl>
                                          <p:spTgt spid="18"/>
                                        </p:tgtEl>
                                        <p:attrNameLst>
                                          <p:attrName>ppt_y</p:attrName>
                                        </p:attrNameLst>
                                      </p:cBhvr>
                                      <p:tavLst>
                                        <p:tav tm="0">
                                          <p:val>
                                            <p:fltVal val="0.5"/>
                                          </p:val>
                                        </p:tav>
                                        <p:tav tm="100000">
                                          <p:val>
                                            <p:strVal val="#ppt_y"/>
                                          </p:val>
                                        </p:tav>
                                      </p:tavLst>
                                    </p:anim>
                                  </p:childTnLst>
                                </p:cTn>
                              </p:par>
                              <p:par>
                                <p:cTn id="48" presetID="23" presetClass="entr" presetSubtype="528" fill="hold" nodeType="withEffect">
                                  <p:stCondLst>
                                    <p:cond delay="100"/>
                                  </p:stCondLst>
                                  <p:childTnLst>
                                    <p:set>
                                      <p:cBhvr>
                                        <p:cTn id="49" dur="1" fill="hold">
                                          <p:stCondLst>
                                            <p:cond delay="0"/>
                                          </p:stCondLst>
                                        </p:cTn>
                                        <p:tgtEl>
                                          <p:spTgt spid="21"/>
                                        </p:tgtEl>
                                        <p:attrNameLst>
                                          <p:attrName>style.visibility</p:attrName>
                                        </p:attrNameLst>
                                      </p:cBhvr>
                                      <p:to>
                                        <p:strVal val="visible"/>
                                      </p:to>
                                    </p:set>
                                    <p:anim calcmode="lin" valueType="num">
                                      <p:cBhvr>
                                        <p:cTn id="50" dur="500" fill="hold"/>
                                        <p:tgtEl>
                                          <p:spTgt spid="21"/>
                                        </p:tgtEl>
                                        <p:attrNameLst>
                                          <p:attrName>ppt_w</p:attrName>
                                        </p:attrNameLst>
                                      </p:cBhvr>
                                      <p:tavLst>
                                        <p:tav tm="0">
                                          <p:val>
                                            <p:fltVal val="0"/>
                                          </p:val>
                                        </p:tav>
                                        <p:tav tm="100000">
                                          <p:val>
                                            <p:strVal val="#ppt_w"/>
                                          </p:val>
                                        </p:tav>
                                      </p:tavLst>
                                    </p:anim>
                                    <p:anim calcmode="lin" valueType="num">
                                      <p:cBhvr>
                                        <p:cTn id="51" dur="500" fill="hold"/>
                                        <p:tgtEl>
                                          <p:spTgt spid="21"/>
                                        </p:tgtEl>
                                        <p:attrNameLst>
                                          <p:attrName>ppt_h</p:attrName>
                                        </p:attrNameLst>
                                      </p:cBhvr>
                                      <p:tavLst>
                                        <p:tav tm="0">
                                          <p:val>
                                            <p:fltVal val="0"/>
                                          </p:val>
                                        </p:tav>
                                        <p:tav tm="100000">
                                          <p:val>
                                            <p:strVal val="#ppt_h"/>
                                          </p:val>
                                        </p:tav>
                                      </p:tavLst>
                                    </p:anim>
                                    <p:anim calcmode="lin" valueType="num">
                                      <p:cBhvr>
                                        <p:cTn id="52" dur="500" fill="hold"/>
                                        <p:tgtEl>
                                          <p:spTgt spid="21"/>
                                        </p:tgtEl>
                                        <p:attrNameLst>
                                          <p:attrName>ppt_x</p:attrName>
                                        </p:attrNameLst>
                                      </p:cBhvr>
                                      <p:tavLst>
                                        <p:tav tm="0">
                                          <p:val>
                                            <p:fltVal val="0.5"/>
                                          </p:val>
                                        </p:tav>
                                        <p:tav tm="100000">
                                          <p:val>
                                            <p:strVal val="#ppt_x"/>
                                          </p:val>
                                        </p:tav>
                                      </p:tavLst>
                                    </p:anim>
                                    <p:anim calcmode="lin" valueType="num">
                                      <p:cBhvr>
                                        <p:cTn id="53" dur="500" fill="hold"/>
                                        <p:tgtEl>
                                          <p:spTgt spid="21"/>
                                        </p:tgtEl>
                                        <p:attrNameLst>
                                          <p:attrName>ppt_y</p:attrName>
                                        </p:attrNameLst>
                                      </p:cBhvr>
                                      <p:tavLst>
                                        <p:tav tm="0">
                                          <p:val>
                                            <p:fltVal val="0.5"/>
                                          </p:val>
                                        </p:tav>
                                        <p:tav tm="100000">
                                          <p:val>
                                            <p:strVal val="#ppt_y"/>
                                          </p:val>
                                        </p:tav>
                                      </p:tavLst>
                                    </p:anim>
                                  </p:childTnLst>
                                </p:cTn>
                              </p:par>
                              <p:par>
                                <p:cTn id="54" presetID="23" presetClass="entr" presetSubtype="528" fill="hold" nodeType="withEffect">
                                  <p:stCondLst>
                                    <p:cond delay="600"/>
                                  </p:stCondLst>
                                  <p:childTnLst>
                                    <p:set>
                                      <p:cBhvr>
                                        <p:cTn id="55" dur="1" fill="hold">
                                          <p:stCondLst>
                                            <p:cond delay="0"/>
                                          </p:stCondLst>
                                        </p:cTn>
                                        <p:tgtEl>
                                          <p:spTgt spid="24"/>
                                        </p:tgtEl>
                                        <p:attrNameLst>
                                          <p:attrName>style.visibility</p:attrName>
                                        </p:attrNameLst>
                                      </p:cBhvr>
                                      <p:to>
                                        <p:strVal val="visible"/>
                                      </p:to>
                                    </p:set>
                                    <p:anim calcmode="lin" valueType="num">
                                      <p:cBhvr>
                                        <p:cTn id="56" dur="500" fill="hold"/>
                                        <p:tgtEl>
                                          <p:spTgt spid="24"/>
                                        </p:tgtEl>
                                        <p:attrNameLst>
                                          <p:attrName>ppt_w</p:attrName>
                                        </p:attrNameLst>
                                      </p:cBhvr>
                                      <p:tavLst>
                                        <p:tav tm="0">
                                          <p:val>
                                            <p:fltVal val="0"/>
                                          </p:val>
                                        </p:tav>
                                        <p:tav tm="100000">
                                          <p:val>
                                            <p:strVal val="#ppt_w"/>
                                          </p:val>
                                        </p:tav>
                                      </p:tavLst>
                                    </p:anim>
                                    <p:anim calcmode="lin" valueType="num">
                                      <p:cBhvr>
                                        <p:cTn id="57" dur="500" fill="hold"/>
                                        <p:tgtEl>
                                          <p:spTgt spid="24"/>
                                        </p:tgtEl>
                                        <p:attrNameLst>
                                          <p:attrName>ppt_h</p:attrName>
                                        </p:attrNameLst>
                                      </p:cBhvr>
                                      <p:tavLst>
                                        <p:tav tm="0">
                                          <p:val>
                                            <p:fltVal val="0"/>
                                          </p:val>
                                        </p:tav>
                                        <p:tav tm="100000">
                                          <p:val>
                                            <p:strVal val="#ppt_h"/>
                                          </p:val>
                                        </p:tav>
                                      </p:tavLst>
                                    </p:anim>
                                    <p:anim calcmode="lin" valueType="num">
                                      <p:cBhvr>
                                        <p:cTn id="58" dur="500" fill="hold"/>
                                        <p:tgtEl>
                                          <p:spTgt spid="24"/>
                                        </p:tgtEl>
                                        <p:attrNameLst>
                                          <p:attrName>ppt_x</p:attrName>
                                        </p:attrNameLst>
                                      </p:cBhvr>
                                      <p:tavLst>
                                        <p:tav tm="0">
                                          <p:val>
                                            <p:fltVal val="0.5"/>
                                          </p:val>
                                        </p:tav>
                                        <p:tav tm="100000">
                                          <p:val>
                                            <p:strVal val="#ppt_x"/>
                                          </p:val>
                                        </p:tav>
                                      </p:tavLst>
                                    </p:anim>
                                    <p:anim calcmode="lin" valueType="num">
                                      <p:cBhvr>
                                        <p:cTn id="59" dur="500" fill="hold"/>
                                        <p:tgtEl>
                                          <p:spTgt spid="24"/>
                                        </p:tgtEl>
                                        <p:attrNameLst>
                                          <p:attrName>ppt_y</p:attrName>
                                        </p:attrNameLst>
                                      </p:cBhvr>
                                      <p:tavLst>
                                        <p:tav tm="0">
                                          <p:val>
                                            <p:fltVal val="0.5"/>
                                          </p:val>
                                        </p:tav>
                                        <p:tav tm="100000">
                                          <p:val>
                                            <p:strVal val="#ppt_y"/>
                                          </p:val>
                                        </p:tav>
                                      </p:tavLst>
                                    </p:anim>
                                  </p:childTnLst>
                                </p:cTn>
                              </p:par>
                              <p:par>
                                <p:cTn id="60" presetID="23" presetClass="entr" presetSubtype="528" fill="hold" nodeType="withEffect">
                                  <p:stCondLst>
                                    <p:cond delay="300"/>
                                  </p:stCondLst>
                                  <p:childTnLst>
                                    <p:set>
                                      <p:cBhvr>
                                        <p:cTn id="61" dur="1" fill="hold">
                                          <p:stCondLst>
                                            <p:cond delay="0"/>
                                          </p:stCondLst>
                                        </p:cTn>
                                        <p:tgtEl>
                                          <p:spTgt spid="27"/>
                                        </p:tgtEl>
                                        <p:attrNameLst>
                                          <p:attrName>style.visibility</p:attrName>
                                        </p:attrNameLst>
                                      </p:cBhvr>
                                      <p:to>
                                        <p:strVal val="visible"/>
                                      </p:to>
                                    </p:set>
                                    <p:anim calcmode="lin" valueType="num">
                                      <p:cBhvr>
                                        <p:cTn id="62" dur="500" fill="hold"/>
                                        <p:tgtEl>
                                          <p:spTgt spid="27"/>
                                        </p:tgtEl>
                                        <p:attrNameLst>
                                          <p:attrName>ppt_w</p:attrName>
                                        </p:attrNameLst>
                                      </p:cBhvr>
                                      <p:tavLst>
                                        <p:tav tm="0">
                                          <p:val>
                                            <p:fltVal val="0"/>
                                          </p:val>
                                        </p:tav>
                                        <p:tav tm="100000">
                                          <p:val>
                                            <p:strVal val="#ppt_w"/>
                                          </p:val>
                                        </p:tav>
                                      </p:tavLst>
                                    </p:anim>
                                    <p:anim calcmode="lin" valueType="num">
                                      <p:cBhvr>
                                        <p:cTn id="63" dur="500" fill="hold"/>
                                        <p:tgtEl>
                                          <p:spTgt spid="27"/>
                                        </p:tgtEl>
                                        <p:attrNameLst>
                                          <p:attrName>ppt_h</p:attrName>
                                        </p:attrNameLst>
                                      </p:cBhvr>
                                      <p:tavLst>
                                        <p:tav tm="0">
                                          <p:val>
                                            <p:fltVal val="0"/>
                                          </p:val>
                                        </p:tav>
                                        <p:tav tm="100000">
                                          <p:val>
                                            <p:strVal val="#ppt_h"/>
                                          </p:val>
                                        </p:tav>
                                      </p:tavLst>
                                    </p:anim>
                                    <p:anim calcmode="lin" valueType="num">
                                      <p:cBhvr>
                                        <p:cTn id="64" dur="500" fill="hold"/>
                                        <p:tgtEl>
                                          <p:spTgt spid="27"/>
                                        </p:tgtEl>
                                        <p:attrNameLst>
                                          <p:attrName>ppt_x</p:attrName>
                                        </p:attrNameLst>
                                      </p:cBhvr>
                                      <p:tavLst>
                                        <p:tav tm="0">
                                          <p:val>
                                            <p:fltVal val="0.5"/>
                                          </p:val>
                                        </p:tav>
                                        <p:tav tm="100000">
                                          <p:val>
                                            <p:strVal val="#ppt_x"/>
                                          </p:val>
                                        </p:tav>
                                      </p:tavLst>
                                    </p:anim>
                                    <p:anim calcmode="lin" valueType="num">
                                      <p:cBhvr>
                                        <p:cTn id="65" dur="500" fill="hold"/>
                                        <p:tgtEl>
                                          <p:spTgt spid="27"/>
                                        </p:tgtEl>
                                        <p:attrNameLst>
                                          <p:attrName>ppt_y</p:attrName>
                                        </p:attrNameLst>
                                      </p:cBhvr>
                                      <p:tavLst>
                                        <p:tav tm="0">
                                          <p:val>
                                            <p:fltVal val="0.5"/>
                                          </p:val>
                                        </p:tav>
                                        <p:tav tm="100000">
                                          <p:val>
                                            <p:strVal val="#ppt_y"/>
                                          </p:val>
                                        </p:tav>
                                      </p:tavLst>
                                    </p:anim>
                                  </p:childTnLst>
                                </p:cTn>
                              </p:par>
                              <p:par>
                                <p:cTn id="66" presetID="23" presetClass="entr" presetSubtype="528" fill="hold" nodeType="withEffect">
                                  <p:stCondLst>
                                    <p:cond delay="300"/>
                                  </p:stCondLst>
                                  <p:childTnLst>
                                    <p:set>
                                      <p:cBhvr>
                                        <p:cTn id="67" dur="1" fill="hold">
                                          <p:stCondLst>
                                            <p:cond delay="0"/>
                                          </p:stCondLst>
                                        </p:cTn>
                                        <p:tgtEl>
                                          <p:spTgt spid="30"/>
                                        </p:tgtEl>
                                        <p:attrNameLst>
                                          <p:attrName>style.visibility</p:attrName>
                                        </p:attrNameLst>
                                      </p:cBhvr>
                                      <p:to>
                                        <p:strVal val="visible"/>
                                      </p:to>
                                    </p:set>
                                    <p:anim calcmode="lin" valueType="num">
                                      <p:cBhvr>
                                        <p:cTn id="68" dur="500" fill="hold"/>
                                        <p:tgtEl>
                                          <p:spTgt spid="30"/>
                                        </p:tgtEl>
                                        <p:attrNameLst>
                                          <p:attrName>ppt_w</p:attrName>
                                        </p:attrNameLst>
                                      </p:cBhvr>
                                      <p:tavLst>
                                        <p:tav tm="0">
                                          <p:val>
                                            <p:fltVal val="0"/>
                                          </p:val>
                                        </p:tav>
                                        <p:tav tm="100000">
                                          <p:val>
                                            <p:strVal val="#ppt_w"/>
                                          </p:val>
                                        </p:tav>
                                      </p:tavLst>
                                    </p:anim>
                                    <p:anim calcmode="lin" valueType="num">
                                      <p:cBhvr>
                                        <p:cTn id="69" dur="500" fill="hold"/>
                                        <p:tgtEl>
                                          <p:spTgt spid="30"/>
                                        </p:tgtEl>
                                        <p:attrNameLst>
                                          <p:attrName>ppt_h</p:attrName>
                                        </p:attrNameLst>
                                      </p:cBhvr>
                                      <p:tavLst>
                                        <p:tav tm="0">
                                          <p:val>
                                            <p:fltVal val="0"/>
                                          </p:val>
                                        </p:tav>
                                        <p:tav tm="100000">
                                          <p:val>
                                            <p:strVal val="#ppt_h"/>
                                          </p:val>
                                        </p:tav>
                                      </p:tavLst>
                                    </p:anim>
                                    <p:anim calcmode="lin" valueType="num">
                                      <p:cBhvr>
                                        <p:cTn id="70" dur="500" fill="hold"/>
                                        <p:tgtEl>
                                          <p:spTgt spid="30"/>
                                        </p:tgtEl>
                                        <p:attrNameLst>
                                          <p:attrName>ppt_x</p:attrName>
                                        </p:attrNameLst>
                                      </p:cBhvr>
                                      <p:tavLst>
                                        <p:tav tm="0">
                                          <p:val>
                                            <p:fltVal val="0.5"/>
                                          </p:val>
                                        </p:tav>
                                        <p:tav tm="100000">
                                          <p:val>
                                            <p:strVal val="#ppt_x"/>
                                          </p:val>
                                        </p:tav>
                                      </p:tavLst>
                                    </p:anim>
                                    <p:anim calcmode="lin" valueType="num">
                                      <p:cBhvr>
                                        <p:cTn id="71" dur="500" fill="hold"/>
                                        <p:tgtEl>
                                          <p:spTgt spid="30"/>
                                        </p:tgtEl>
                                        <p:attrNameLst>
                                          <p:attrName>ppt_y</p:attrName>
                                        </p:attrNameLst>
                                      </p:cBhvr>
                                      <p:tavLst>
                                        <p:tav tm="0">
                                          <p:val>
                                            <p:fltVal val="0.5"/>
                                          </p:val>
                                        </p:tav>
                                        <p:tav tm="100000">
                                          <p:val>
                                            <p:strVal val="#ppt_y"/>
                                          </p:val>
                                        </p:tav>
                                      </p:tavLst>
                                    </p:anim>
                                  </p:childTnLst>
                                </p:cTn>
                              </p:par>
                              <p:par>
                                <p:cTn id="72" presetID="23" presetClass="entr" presetSubtype="528" fill="hold" nodeType="withEffect">
                                  <p:stCondLst>
                                    <p:cond delay="600"/>
                                  </p:stCondLst>
                                  <p:childTnLst>
                                    <p:set>
                                      <p:cBhvr>
                                        <p:cTn id="73" dur="1" fill="hold">
                                          <p:stCondLst>
                                            <p:cond delay="0"/>
                                          </p:stCondLst>
                                        </p:cTn>
                                        <p:tgtEl>
                                          <p:spTgt spid="33"/>
                                        </p:tgtEl>
                                        <p:attrNameLst>
                                          <p:attrName>style.visibility</p:attrName>
                                        </p:attrNameLst>
                                      </p:cBhvr>
                                      <p:to>
                                        <p:strVal val="visible"/>
                                      </p:to>
                                    </p:set>
                                    <p:anim calcmode="lin" valueType="num">
                                      <p:cBhvr>
                                        <p:cTn id="74" dur="500" fill="hold"/>
                                        <p:tgtEl>
                                          <p:spTgt spid="33"/>
                                        </p:tgtEl>
                                        <p:attrNameLst>
                                          <p:attrName>ppt_w</p:attrName>
                                        </p:attrNameLst>
                                      </p:cBhvr>
                                      <p:tavLst>
                                        <p:tav tm="0">
                                          <p:val>
                                            <p:fltVal val="0"/>
                                          </p:val>
                                        </p:tav>
                                        <p:tav tm="100000">
                                          <p:val>
                                            <p:strVal val="#ppt_w"/>
                                          </p:val>
                                        </p:tav>
                                      </p:tavLst>
                                    </p:anim>
                                    <p:anim calcmode="lin" valueType="num">
                                      <p:cBhvr>
                                        <p:cTn id="75" dur="500" fill="hold"/>
                                        <p:tgtEl>
                                          <p:spTgt spid="33"/>
                                        </p:tgtEl>
                                        <p:attrNameLst>
                                          <p:attrName>ppt_h</p:attrName>
                                        </p:attrNameLst>
                                      </p:cBhvr>
                                      <p:tavLst>
                                        <p:tav tm="0">
                                          <p:val>
                                            <p:fltVal val="0"/>
                                          </p:val>
                                        </p:tav>
                                        <p:tav tm="100000">
                                          <p:val>
                                            <p:strVal val="#ppt_h"/>
                                          </p:val>
                                        </p:tav>
                                      </p:tavLst>
                                    </p:anim>
                                    <p:anim calcmode="lin" valueType="num">
                                      <p:cBhvr>
                                        <p:cTn id="76" dur="500" fill="hold"/>
                                        <p:tgtEl>
                                          <p:spTgt spid="33"/>
                                        </p:tgtEl>
                                        <p:attrNameLst>
                                          <p:attrName>ppt_x</p:attrName>
                                        </p:attrNameLst>
                                      </p:cBhvr>
                                      <p:tavLst>
                                        <p:tav tm="0">
                                          <p:val>
                                            <p:fltVal val="0.5"/>
                                          </p:val>
                                        </p:tav>
                                        <p:tav tm="100000">
                                          <p:val>
                                            <p:strVal val="#ppt_x"/>
                                          </p:val>
                                        </p:tav>
                                      </p:tavLst>
                                    </p:anim>
                                    <p:anim calcmode="lin" valueType="num">
                                      <p:cBhvr>
                                        <p:cTn id="77" dur="500" fill="hold"/>
                                        <p:tgtEl>
                                          <p:spTgt spid="33"/>
                                        </p:tgtEl>
                                        <p:attrNameLst>
                                          <p:attrName>ppt_y</p:attrName>
                                        </p:attrNameLst>
                                      </p:cBhvr>
                                      <p:tavLst>
                                        <p:tav tm="0">
                                          <p:val>
                                            <p:fltVal val="0.5"/>
                                          </p:val>
                                        </p:tav>
                                        <p:tav tm="100000">
                                          <p:val>
                                            <p:strVal val="#ppt_y"/>
                                          </p:val>
                                        </p:tav>
                                      </p:tavLst>
                                    </p:anim>
                                  </p:childTnLst>
                                </p:cTn>
                              </p:par>
                              <p:par>
                                <p:cTn id="78" presetID="23" presetClass="entr" presetSubtype="528" fill="hold" nodeType="withEffect">
                                  <p:stCondLst>
                                    <p:cond delay="600"/>
                                  </p:stCondLst>
                                  <p:childTnLst>
                                    <p:set>
                                      <p:cBhvr>
                                        <p:cTn id="79" dur="1" fill="hold">
                                          <p:stCondLst>
                                            <p:cond delay="0"/>
                                          </p:stCondLst>
                                        </p:cTn>
                                        <p:tgtEl>
                                          <p:spTgt spid="36"/>
                                        </p:tgtEl>
                                        <p:attrNameLst>
                                          <p:attrName>style.visibility</p:attrName>
                                        </p:attrNameLst>
                                      </p:cBhvr>
                                      <p:to>
                                        <p:strVal val="visible"/>
                                      </p:to>
                                    </p:set>
                                    <p:anim calcmode="lin" valueType="num">
                                      <p:cBhvr>
                                        <p:cTn id="80" dur="500" fill="hold"/>
                                        <p:tgtEl>
                                          <p:spTgt spid="36"/>
                                        </p:tgtEl>
                                        <p:attrNameLst>
                                          <p:attrName>ppt_w</p:attrName>
                                        </p:attrNameLst>
                                      </p:cBhvr>
                                      <p:tavLst>
                                        <p:tav tm="0">
                                          <p:val>
                                            <p:fltVal val="0"/>
                                          </p:val>
                                        </p:tav>
                                        <p:tav tm="100000">
                                          <p:val>
                                            <p:strVal val="#ppt_w"/>
                                          </p:val>
                                        </p:tav>
                                      </p:tavLst>
                                    </p:anim>
                                    <p:anim calcmode="lin" valueType="num">
                                      <p:cBhvr>
                                        <p:cTn id="81" dur="500" fill="hold"/>
                                        <p:tgtEl>
                                          <p:spTgt spid="36"/>
                                        </p:tgtEl>
                                        <p:attrNameLst>
                                          <p:attrName>ppt_h</p:attrName>
                                        </p:attrNameLst>
                                      </p:cBhvr>
                                      <p:tavLst>
                                        <p:tav tm="0">
                                          <p:val>
                                            <p:fltVal val="0"/>
                                          </p:val>
                                        </p:tav>
                                        <p:tav tm="100000">
                                          <p:val>
                                            <p:strVal val="#ppt_h"/>
                                          </p:val>
                                        </p:tav>
                                      </p:tavLst>
                                    </p:anim>
                                    <p:anim calcmode="lin" valueType="num">
                                      <p:cBhvr>
                                        <p:cTn id="82" dur="500" fill="hold"/>
                                        <p:tgtEl>
                                          <p:spTgt spid="36"/>
                                        </p:tgtEl>
                                        <p:attrNameLst>
                                          <p:attrName>ppt_x</p:attrName>
                                        </p:attrNameLst>
                                      </p:cBhvr>
                                      <p:tavLst>
                                        <p:tav tm="0">
                                          <p:val>
                                            <p:fltVal val="0.5"/>
                                          </p:val>
                                        </p:tav>
                                        <p:tav tm="100000">
                                          <p:val>
                                            <p:strVal val="#ppt_x"/>
                                          </p:val>
                                        </p:tav>
                                      </p:tavLst>
                                    </p:anim>
                                    <p:anim calcmode="lin" valueType="num">
                                      <p:cBhvr>
                                        <p:cTn id="83" dur="500" fill="hold"/>
                                        <p:tgtEl>
                                          <p:spTgt spid="36"/>
                                        </p:tgtEl>
                                        <p:attrNameLst>
                                          <p:attrName>ppt_y</p:attrName>
                                        </p:attrNameLst>
                                      </p:cBhvr>
                                      <p:tavLst>
                                        <p:tav tm="0">
                                          <p:val>
                                            <p:fltVal val="0.5"/>
                                          </p:val>
                                        </p:tav>
                                        <p:tav tm="100000">
                                          <p:val>
                                            <p:strVal val="#ppt_y"/>
                                          </p:val>
                                        </p:tav>
                                      </p:tavLst>
                                    </p:anim>
                                  </p:childTnLst>
                                </p:cTn>
                              </p:par>
                              <p:par>
                                <p:cTn id="84" presetID="23" presetClass="entr" presetSubtype="528" fill="hold" nodeType="withEffect">
                                  <p:stCondLst>
                                    <p:cond delay="300"/>
                                  </p:stCondLst>
                                  <p:childTnLst>
                                    <p:set>
                                      <p:cBhvr>
                                        <p:cTn id="85" dur="1" fill="hold">
                                          <p:stCondLst>
                                            <p:cond delay="0"/>
                                          </p:stCondLst>
                                        </p:cTn>
                                        <p:tgtEl>
                                          <p:spTgt spid="39"/>
                                        </p:tgtEl>
                                        <p:attrNameLst>
                                          <p:attrName>style.visibility</p:attrName>
                                        </p:attrNameLst>
                                      </p:cBhvr>
                                      <p:to>
                                        <p:strVal val="visible"/>
                                      </p:to>
                                    </p:set>
                                    <p:anim calcmode="lin" valueType="num">
                                      <p:cBhvr>
                                        <p:cTn id="86" dur="500" fill="hold"/>
                                        <p:tgtEl>
                                          <p:spTgt spid="39"/>
                                        </p:tgtEl>
                                        <p:attrNameLst>
                                          <p:attrName>ppt_w</p:attrName>
                                        </p:attrNameLst>
                                      </p:cBhvr>
                                      <p:tavLst>
                                        <p:tav tm="0">
                                          <p:val>
                                            <p:fltVal val="0"/>
                                          </p:val>
                                        </p:tav>
                                        <p:tav tm="100000">
                                          <p:val>
                                            <p:strVal val="#ppt_w"/>
                                          </p:val>
                                        </p:tav>
                                      </p:tavLst>
                                    </p:anim>
                                    <p:anim calcmode="lin" valueType="num">
                                      <p:cBhvr>
                                        <p:cTn id="87" dur="500" fill="hold"/>
                                        <p:tgtEl>
                                          <p:spTgt spid="39"/>
                                        </p:tgtEl>
                                        <p:attrNameLst>
                                          <p:attrName>ppt_h</p:attrName>
                                        </p:attrNameLst>
                                      </p:cBhvr>
                                      <p:tavLst>
                                        <p:tav tm="0">
                                          <p:val>
                                            <p:fltVal val="0"/>
                                          </p:val>
                                        </p:tav>
                                        <p:tav tm="100000">
                                          <p:val>
                                            <p:strVal val="#ppt_h"/>
                                          </p:val>
                                        </p:tav>
                                      </p:tavLst>
                                    </p:anim>
                                    <p:anim calcmode="lin" valueType="num">
                                      <p:cBhvr>
                                        <p:cTn id="88" dur="500" fill="hold"/>
                                        <p:tgtEl>
                                          <p:spTgt spid="39"/>
                                        </p:tgtEl>
                                        <p:attrNameLst>
                                          <p:attrName>ppt_x</p:attrName>
                                        </p:attrNameLst>
                                      </p:cBhvr>
                                      <p:tavLst>
                                        <p:tav tm="0">
                                          <p:val>
                                            <p:fltVal val="0.5"/>
                                          </p:val>
                                        </p:tav>
                                        <p:tav tm="100000">
                                          <p:val>
                                            <p:strVal val="#ppt_x"/>
                                          </p:val>
                                        </p:tav>
                                      </p:tavLst>
                                    </p:anim>
                                    <p:anim calcmode="lin" valueType="num">
                                      <p:cBhvr>
                                        <p:cTn id="89" dur="500" fill="hold"/>
                                        <p:tgtEl>
                                          <p:spTgt spid="39"/>
                                        </p:tgtEl>
                                        <p:attrNameLst>
                                          <p:attrName>ppt_y</p:attrName>
                                        </p:attrNameLst>
                                      </p:cBhvr>
                                      <p:tavLst>
                                        <p:tav tm="0">
                                          <p:val>
                                            <p:fltVal val="0.5"/>
                                          </p:val>
                                        </p:tav>
                                        <p:tav tm="100000">
                                          <p:val>
                                            <p:strVal val="#ppt_y"/>
                                          </p:val>
                                        </p:tav>
                                      </p:tavLst>
                                    </p:anim>
                                  </p:childTnLst>
                                </p:cTn>
                              </p:par>
                              <p:par>
                                <p:cTn id="90" presetID="23" presetClass="entr" presetSubtype="528" fill="hold" nodeType="withEffect">
                                  <p:stCondLst>
                                    <p:cond delay="600"/>
                                  </p:stCondLst>
                                  <p:childTnLst>
                                    <p:set>
                                      <p:cBhvr>
                                        <p:cTn id="91" dur="1" fill="hold">
                                          <p:stCondLst>
                                            <p:cond delay="0"/>
                                          </p:stCondLst>
                                        </p:cTn>
                                        <p:tgtEl>
                                          <p:spTgt spid="42"/>
                                        </p:tgtEl>
                                        <p:attrNameLst>
                                          <p:attrName>style.visibility</p:attrName>
                                        </p:attrNameLst>
                                      </p:cBhvr>
                                      <p:to>
                                        <p:strVal val="visible"/>
                                      </p:to>
                                    </p:set>
                                    <p:anim calcmode="lin" valueType="num">
                                      <p:cBhvr>
                                        <p:cTn id="92" dur="500" fill="hold"/>
                                        <p:tgtEl>
                                          <p:spTgt spid="42"/>
                                        </p:tgtEl>
                                        <p:attrNameLst>
                                          <p:attrName>ppt_w</p:attrName>
                                        </p:attrNameLst>
                                      </p:cBhvr>
                                      <p:tavLst>
                                        <p:tav tm="0">
                                          <p:val>
                                            <p:fltVal val="0"/>
                                          </p:val>
                                        </p:tav>
                                        <p:tav tm="100000">
                                          <p:val>
                                            <p:strVal val="#ppt_w"/>
                                          </p:val>
                                        </p:tav>
                                      </p:tavLst>
                                    </p:anim>
                                    <p:anim calcmode="lin" valueType="num">
                                      <p:cBhvr>
                                        <p:cTn id="93" dur="500" fill="hold"/>
                                        <p:tgtEl>
                                          <p:spTgt spid="42"/>
                                        </p:tgtEl>
                                        <p:attrNameLst>
                                          <p:attrName>ppt_h</p:attrName>
                                        </p:attrNameLst>
                                      </p:cBhvr>
                                      <p:tavLst>
                                        <p:tav tm="0">
                                          <p:val>
                                            <p:fltVal val="0"/>
                                          </p:val>
                                        </p:tav>
                                        <p:tav tm="100000">
                                          <p:val>
                                            <p:strVal val="#ppt_h"/>
                                          </p:val>
                                        </p:tav>
                                      </p:tavLst>
                                    </p:anim>
                                    <p:anim calcmode="lin" valueType="num">
                                      <p:cBhvr>
                                        <p:cTn id="94" dur="500" fill="hold"/>
                                        <p:tgtEl>
                                          <p:spTgt spid="42"/>
                                        </p:tgtEl>
                                        <p:attrNameLst>
                                          <p:attrName>ppt_x</p:attrName>
                                        </p:attrNameLst>
                                      </p:cBhvr>
                                      <p:tavLst>
                                        <p:tav tm="0">
                                          <p:val>
                                            <p:fltVal val="0.5"/>
                                          </p:val>
                                        </p:tav>
                                        <p:tav tm="100000">
                                          <p:val>
                                            <p:strVal val="#ppt_x"/>
                                          </p:val>
                                        </p:tav>
                                      </p:tavLst>
                                    </p:anim>
                                    <p:anim calcmode="lin" valueType="num">
                                      <p:cBhvr>
                                        <p:cTn id="95" dur="500" fill="hold"/>
                                        <p:tgtEl>
                                          <p:spTgt spid="42"/>
                                        </p:tgtEl>
                                        <p:attrNameLst>
                                          <p:attrName>ppt_y</p:attrName>
                                        </p:attrNameLst>
                                      </p:cBhvr>
                                      <p:tavLst>
                                        <p:tav tm="0">
                                          <p:val>
                                            <p:fltVal val="0.5"/>
                                          </p:val>
                                        </p:tav>
                                        <p:tav tm="100000">
                                          <p:val>
                                            <p:strVal val="#ppt_y"/>
                                          </p:val>
                                        </p:tav>
                                      </p:tavLst>
                                    </p:anim>
                                  </p:childTnLst>
                                </p:cTn>
                              </p:par>
                              <p:par>
                                <p:cTn id="96" presetID="23" presetClass="entr" presetSubtype="528" fill="hold" nodeType="withEffect">
                                  <p:stCondLst>
                                    <p:cond delay="600"/>
                                  </p:stCondLst>
                                  <p:childTnLst>
                                    <p:set>
                                      <p:cBhvr>
                                        <p:cTn id="97" dur="1" fill="hold">
                                          <p:stCondLst>
                                            <p:cond delay="0"/>
                                          </p:stCondLst>
                                        </p:cTn>
                                        <p:tgtEl>
                                          <p:spTgt spid="45"/>
                                        </p:tgtEl>
                                        <p:attrNameLst>
                                          <p:attrName>style.visibility</p:attrName>
                                        </p:attrNameLst>
                                      </p:cBhvr>
                                      <p:to>
                                        <p:strVal val="visible"/>
                                      </p:to>
                                    </p:set>
                                    <p:anim calcmode="lin" valueType="num">
                                      <p:cBhvr>
                                        <p:cTn id="98" dur="500" fill="hold"/>
                                        <p:tgtEl>
                                          <p:spTgt spid="45"/>
                                        </p:tgtEl>
                                        <p:attrNameLst>
                                          <p:attrName>ppt_w</p:attrName>
                                        </p:attrNameLst>
                                      </p:cBhvr>
                                      <p:tavLst>
                                        <p:tav tm="0">
                                          <p:val>
                                            <p:fltVal val="0"/>
                                          </p:val>
                                        </p:tav>
                                        <p:tav tm="100000">
                                          <p:val>
                                            <p:strVal val="#ppt_w"/>
                                          </p:val>
                                        </p:tav>
                                      </p:tavLst>
                                    </p:anim>
                                    <p:anim calcmode="lin" valueType="num">
                                      <p:cBhvr>
                                        <p:cTn id="99" dur="500" fill="hold"/>
                                        <p:tgtEl>
                                          <p:spTgt spid="45"/>
                                        </p:tgtEl>
                                        <p:attrNameLst>
                                          <p:attrName>ppt_h</p:attrName>
                                        </p:attrNameLst>
                                      </p:cBhvr>
                                      <p:tavLst>
                                        <p:tav tm="0">
                                          <p:val>
                                            <p:fltVal val="0"/>
                                          </p:val>
                                        </p:tav>
                                        <p:tav tm="100000">
                                          <p:val>
                                            <p:strVal val="#ppt_h"/>
                                          </p:val>
                                        </p:tav>
                                      </p:tavLst>
                                    </p:anim>
                                    <p:anim calcmode="lin" valueType="num">
                                      <p:cBhvr>
                                        <p:cTn id="100" dur="500" fill="hold"/>
                                        <p:tgtEl>
                                          <p:spTgt spid="45"/>
                                        </p:tgtEl>
                                        <p:attrNameLst>
                                          <p:attrName>ppt_x</p:attrName>
                                        </p:attrNameLst>
                                      </p:cBhvr>
                                      <p:tavLst>
                                        <p:tav tm="0">
                                          <p:val>
                                            <p:fltVal val="0.5"/>
                                          </p:val>
                                        </p:tav>
                                        <p:tav tm="100000">
                                          <p:val>
                                            <p:strVal val="#ppt_x"/>
                                          </p:val>
                                        </p:tav>
                                      </p:tavLst>
                                    </p:anim>
                                    <p:anim calcmode="lin" valueType="num">
                                      <p:cBhvr>
                                        <p:cTn id="101" dur="500" fill="hold"/>
                                        <p:tgtEl>
                                          <p:spTgt spid="45"/>
                                        </p:tgtEl>
                                        <p:attrNameLst>
                                          <p:attrName>ppt_y</p:attrName>
                                        </p:attrNameLst>
                                      </p:cBhvr>
                                      <p:tavLst>
                                        <p:tav tm="0">
                                          <p:val>
                                            <p:fltVal val="0.5"/>
                                          </p:val>
                                        </p:tav>
                                        <p:tav tm="100000">
                                          <p:val>
                                            <p:strVal val="#ppt_y"/>
                                          </p:val>
                                        </p:tav>
                                      </p:tavLst>
                                    </p:anim>
                                  </p:childTnLst>
                                </p:cTn>
                              </p:par>
                              <p:par>
                                <p:cTn id="102" presetID="26" presetClass="emph" presetSubtype="0" repeatCount="3000" fill="hold" nodeType="withEffect">
                                  <p:stCondLst>
                                    <p:cond delay="600"/>
                                  </p:stCondLst>
                                  <p:childTnLst>
                                    <p:animEffect transition="out" filter="fade">
                                      <p:cBhvr>
                                        <p:cTn id="103" dur="500" tmFilter="0, 0; .2, .5; .8, .5; 1, 0"/>
                                        <p:tgtEl>
                                          <p:spTgt spid="8"/>
                                        </p:tgtEl>
                                      </p:cBhvr>
                                    </p:animEffect>
                                    <p:animScale>
                                      <p:cBhvr>
                                        <p:cTn id="104" dur="250" autoRev="1" fill="hold"/>
                                        <p:tgtEl>
                                          <p:spTgt spid="8"/>
                                        </p:tgtEl>
                                      </p:cBhvr>
                                      <p:by x="105000" y="105000"/>
                                    </p:animScale>
                                  </p:childTnLst>
                                </p:cTn>
                              </p:par>
                              <p:par>
                                <p:cTn id="105" presetID="26" presetClass="emph" presetSubtype="0" repeatCount="3000" fill="hold" nodeType="withEffect">
                                  <p:stCondLst>
                                    <p:cond delay="710"/>
                                  </p:stCondLst>
                                  <p:childTnLst>
                                    <p:animEffect transition="out" filter="fade">
                                      <p:cBhvr>
                                        <p:cTn id="106" dur="500" tmFilter="0, 0; .2, .5; .8, .5; 1, 0"/>
                                        <p:tgtEl>
                                          <p:spTgt spid="30"/>
                                        </p:tgtEl>
                                      </p:cBhvr>
                                    </p:animEffect>
                                    <p:animScale>
                                      <p:cBhvr>
                                        <p:cTn id="107" dur="250" autoRev="1" fill="hold"/>
                                        <p:tgtEl>
                                          <p:spTgt spid="30"/>
                                        </p:tgtEl>
                                      </p:cBhvr>
                                      <p:by x="105000" y="105000"/>
                                    </p:animScale>
                                  </p:childTnLst>
                                </p:cTn>
                              </p:par>
                              <p:par>
                                <p:cTn id="108" presetID="26" presetClass="emph" presetSubtype="0" repeatCount="3000" fill="hold" nodeType="withEffect">
                                  <p:stCondLst>
                                    <p:cond delay="410"/>
                                  </p:stCondLst>
                                  <p:childTnLst>
                                    <p:animEffect transition="out" filter="fade">
                                      <p:cBhvr>
                                        <p:cTn id="109" dur="500" tmFilter="0, 0; .2, .5; .8, .5; 1, 0"/>
                                        <p:tgtEl>
                                          <p:spTgt spid="36"/>
                                        </p:tgtEl>
                                      </p:cBhvr>
                                    </p:animEffect>
                                    <p:animScale>
                                      <p:cBhvr>
                                        <p:cTn id="110" dur="250" autoRev="1" fill="hold"/>
                                        <p:tgtEl>
                                          <p:spTgt spid="36"/>
                                        </p:tgtEl>
                                      </p:cBhvr>
                                      <p:by x="105000" y="105000"/>
                                    </p:animScale>
                                  </p:childTnLst>
                                </p:cTn>
                              </p:par>
                              <p:par>
                                <p:cTn id="111" presetID="26" presetClass="emph" presetSubtype="0" repeatCount="3000" fill="hold" nodeType="withEffect">
                                  <p:stCondLst>
                                    <p:cond delay="810"/>
                                  </p:stCondLst>
                                  <p:childTnLst>
                                    <p:animEffect transition="out" filter="fade">
                                      <p:cBhvr>
                                        <p:cTn id="112" dur="500" tmFilter="0, 0; .2, .5; .8, .5; 1, 0"/>
                                        <p:tgtEl>
                                          <p:spTgt spid="39"/>
                                        </p:tgtEl>
                                      </p:cBhvr>
                                    </p:animEffect>
                                    <p:animScale>
                                      <p:cBhvr>
                                        <p:cTn id="113" dur="250" autoRev="1" fill="hold"/>
                                        <p:tgtEl>
                                          <p:spTgt spid="3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3" name="肘形连接符 22"/>
          <p:cNvCxnSpPr/>
          <p:nvPr>
            <p:custDataLst>
              <p:tags r:id="rId1"/>
            </p:custDataLst>
          </p:nvPr>
        </p:nvCxnSpPr>
        <p:spPr>
          <a:xfrm rot="5400000" flipH="1" flipV="1">
            <a:off x="1368439" y="1697578"/>
            <a:ext cx="702078" cy="601779"/>
          </a:xfrm>
          <a:prstGeom prst="bentConnector3">
            <a:avLst/>
          </a:prstGeom>
          <a:ln w="12700">
            <a:solidFill>
              <a:schemeClr val="tx1">
                <a:lumMod val="65000"/>
                <a:lumOff val="35000"/>
              </a:schemeClr>
            </a:solidFill>
            <a:prstDash val="dash"/>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6" name="肘形连接符 35"/>
          <p:cNvCxnSpPr/>
          <p:nvPr>
            <p:custDataLst>
              <p:tags r:id="rId2"/>
            </p:custDataLst>
          </p:nvPr>
        </p:nvCxnSpPr>
        <p:spPr>
          <a:xfrm rot="5400000" flipH="1" flipV="1">
            <a:off x="4017600" y="1632173"/>
            <a:ext cx="702078" cy="601779"/>
          </a:xfrm>
          <a:prstGeom prst="bentConnector3">
            <a:avLst/>
          </a:prstGeom>
          <a:ln w="12700">
            <a:solidFill>
              <a:schemeClr val="tx1">
                <a:lumMod val="65000"/>
                <a:lumOff val="35000"/>
              </a:schemeClr>
            </a:solidFill>
            <a:prstDash val="dash"/>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8" name="肘形连接符 37"/>
          <p:cNvCxnSpPr/>
          <p:nvPr>
            <p:custDataLst>
              <p:tags r:id="rId3"/>
            </p:custDataLst>
          </p:nvPr>
        </p:nvCxnSpPr>
        <p:spPr>
          <a:xfrm rot="16200000" flipH="1">
            <a:off x="6538276" y="3187936"/>
            <a:ext cx="702078" cy="601779"/>
          </a:xfrm>
          <a:prstGeom prst="bentConnector3">
            <a:avLst/>
          </a:prstGeom>
          <a:ln w="12700">
            <a:solidFill>
              <a:schemeClr val="tx1">
                <a:lumMod val="65000"/>
                <a:lumOff val="35000"/>
              </a:schemeClr>
            </a:solidFill>
            <a:prstDash val="dash"/>
            <a:headEnd type="diamond"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64476" cy="40011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实验数据</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711220"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DATA</a:t>
            </a:r>
            <a:endParaRPr lang="zh-CN" altLang="en-US"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5" name="右箭头 14"/>
          <p:cNvSpPr/>
          <p:nvPr>
            <p:custDataLst>
              <p:tags r:id="rId4"/>
            </p:custDataLst>
          </p:nvPr>
        </p:nvSpPr>
        <p:spPr>
          <a:xfrm>
            <a:off x="0" y="2563924"/>
            <a:ext cx="9001068" cy="385868"/>
          </a:xfrm>
          <a:prstGeom prst="rightArrow">
            <a:avLst/>
          </a:prstGeom>
          <a:solidFill>
            <a:srgbClr val="679E2A"/>
          </a:solidFill>
          <a:ln w="38100">
            <a:noFill/>
          </a:ln>
          <a:effectLst>
            <a:innerShdw blurRad="165100" dist="63500" dir="13500000">
              <a:prstClr val="black">
                <a:alpha val="3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rgbClr val="FFFFFF"/>
              </a:solidFill>
            </a:endParaRPr>
          </a:p>
        </p:txBody>
      </p:sp>
      <p:sp>
        <p:nvSpPr>
          <p:cNvPr id="16" name="Freeform 7"/>
          <p:cNvSpPr>
            <a:spLocks noEditPoints="1"/>
          </p:cNvSpPr>
          <p:nvPr/>
        </p:nvSpPr>
        <p:spPr bwMode="auto">
          <a:xfrm flipH="1">
            <a:off x="-289584" y="2695878"/>
            <a:ext cx="289584" cy="130533"/>
          </a:xfrm>
          <a:custGeom>
            <a:avLst/>
            <a:gdLst>
              <a:gd name="T0" fmla="*/ 11 w 155"/>
              <a:gd name="T1" fmla="*/ 56 h 70"/>
              <a:gd name="T2" fmla="*/ 15 w 155"/>
              <a:gd name="T3" fmla="*/ 57 h 70"/>
              <a:gd name="T4" fmla="*/ 15 w 155"/>
              <a:gd name="T5" fmla="*/ 57 h 70"/>
              <a:gd name="T6" fmla="*/ 27 w 155"/>
              <a:gd name="T7" fmla="*/ 70 h 70"/>
              <a:gd name="T8" fmla="*/ 40 w 155"/>
              <a:gd name="T9" fmla="*/ 57 h 70"/>
              <a:gd name="T10" fmla="*/ 40 w 155"/>
              <a:gd name="T11" fmla="*/ 57 h 70"/>
              <a:gd name="T12" fmla="*/ 104 w 155"/>
              <a:gd name="T13" fmla="*/ 57 h 70"/>
              <a:gd name="T14" fmla="*/ 104 w 155"/>
              <a:gd name="T15" fmla="*/ 57 h 70"/>
              <a:gd name="T16" fmla="*/ 117 w 155"/>
              <a:gd name="T17" fmla="*/ 70 h 70"/>
              <a:gd name="T18" fmla="*/ 130 w 155"/>
              <a:gd name="T19" fmla="*/ 57 h 70"/>
              <a:gd name="T20" fmla="*/ 130 w 155"/>
              <a:gd name="T21" fmla="*/ 57 h 70"/>
              <a:gd name="T22" fmla="*/ 134 w 155"/>
              <a:gd name="T23" fmla="*/ 57 h 70"/>
              <a:gd name="T24" fmla="*/ 137 w 155"/>
              <a:gd name="T25" fmla="*/ 57 h 70"/>
              <a:gd name="T26" fmla="*/ 155 w 155"/>
              <a:gd name="T27" fmla="*/ 24 h 70"/>
              <a:gd name="T28" fmla="*/ 155 w 155"/>
              <a:gd name="T29" fmla="*/ 24 h 70"/>
              <a:gd name="T30" fmla="*/ 155 w 155"/>
              <a:gd name="T31" fmla="*/ 24 h 70"/>
              <a:gd name="T32" fmla="*/ 155 w 155"/>
              <a:gd name="T33" fmla="*/ 24 h 70"/>
              <a:gd name="T34" fmla="*/ 155 w 155"/>
              <a:gd name="T35" fmla="*/ 24 h 70"/>
              <a:gd name="T36" fmla="*/ 140 w 155"/>
              <a:gd name="T37" fmla="*/ 24 h 70"/>
              <a:gd name="T38" fmla="*/ 96 w 155"/>
              <a:gd name="T39" fmla="*/ 0 h 70"/>
              <a:gd name="T40" fmla="*/ 88 w 155"/>
              <a:gd name="T41" fmla="*/ 0 h 70"/>
              <a:gd name="T42" fmla="*/ 79 w 155"/>
              <a:gd name="T43" fmla="*/ 0 h 70"/>
              <a:gd name="T44" fmla="*/ 35 w 155"/>
              <a:gd name="T45" fmla="*/ 24 h 70"/>
              <a:gd name="T46" fmla="*/ 25 w 155"/>
              <a:gd name="T47" fmla="*/ 24 h 70"/>
              <a:gd name="T48" fmla="*/ 0 w 155"/>
              <a:gd name="T49" fmla="*/ 56 h 70"/>
              <a:gd name="T50" fmla="*/ 0 w 155"/>
              <a:gd name="T51" fmla="*/ 57 h 70"/>
              <a:gd name="T52" fmla="*/ 1 w 155"/>
              <a:gd name="T53" fmla="*/ 56 h 70"/>
              <a:gd name="T54" fmla="*/ 11 w 155"/>
              <a:gd name="T55" fmla="*/ 56 h 70"/>
              <a:gd name="T56" fmla="*/ 85 w 155"/>
              <a:gd name="T57" fmla="*/ 8 h 70"/>
              <a:gd name="T58" fmla="*/ 85 w 155"/>
              <a:gd name="T59" fmla="*/ 23 h 70"/>
              <a:gd name="T60" fmla="*/ 47 w 155"/>
              <a:gd name="T61" fmla="*/ 23 h 70"/>
              <a:gd name="T62" fmla="*/ 47 w 155"/>
              <a:gd name="T63" fmla="*/ 23 h 70"/>
              <a:gd name="T64" fmla="*/ 80 w 155"/>
              <a:gd name="T65" fmla="*/ 8 h 70"/>
              <a:gd name="T66" fmla="*/ 85 w 155"/>
              <a:gd name="T67" fmla="*/ 8 h 70"/>
              <a:gd name="T68" fmla="*/ 90 w 155"/>
              <a:gd name="T69" fmla="*/ 23 h 70"/>
              <a:gd name="T70" fmla="*/ 89 w 155"/>
              <a:gd name="T71" fmla="*/ 7 h 70"/>
              <a:gd name="T72" fmla="*/ 95 w 155"/>
              <a:gd name="T73" fmla="*/ 8 h 70"/>
              <a:gd name="T74" fmla="*/ 128 w 155"/>
              <a:gd name="T75" fmla="*/ 23 h 70"/>
              <a:gd name="T76" fmla="*/ 90 w 155"/>
              <a:gd name="T77" fmla="*/ 23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5" h="70">
                <a:moveTo>
                  <a:pt x="11" y="56"/>
                </a:moveTo>
                <a:cubicBezTo>
                  <a:pt x="15" y="57"/>
                  <a:pt x="15" y="57"/>
                  <a:pt x="15" y="57"/>
                </a:cubicBezTo>
                <a:cubicBezTo>
                  <a:pt x="15" y="57"/>
                  <a:pt x="15" y="57"/>
                  <a:pt x="15" y="57"/>
                </a:cubicBezTo>
                <a:cubicBezTo>
                  <a:pt x="15" y="64"/>
                  <a:pt x="20" y="70"/>
                  <a:pt x="27" y="70"/>
                </a:cubicBezTo>
                <a:cubicBezTo>
                  <a:pt x="35" y="70"/>
                  <a:pt x="40" y="64"/>
                  <a:pt x="40" y="57"/>
                </a:cubicBezTo>
                <a:cubicBezTo>
                  <a:pt x="40" y="57"/>
                  <a:pt x="40" y="57"/>
                  <a:pt x="40" y="57"/>
                </a:cubicBezTo>
                <a:cubicBezTo>
                  <a:pt x="104" y="57"/>
                  <a:pt x="104" y="57"/>
                  <a:pt x="104" y="57"/>
                </a:cubicBezTo>
                <a:cubicBezTo>
                  <a:pt x="104" y="57"/>
                  <a:pt x="104" y="57"/>
                  <a:pt x="104" y="57"/>
                </a:cubicBezTo>
                <a:cubicBezTo>
                  <a:pt x="104" y="64"/>
                  <a:pt x="110" y="70"/>
                  <a:pt x="117" y="70"/>
                </a:cubicBezTo>
                <a:cubicBezTo>
                  <a:pt x="124" y="70"/>
                  <a:pt x="130" y="64"/>
                  <a:pt x="130" y="57"/>
                </a:cubicBezTo>
                <a:cubicBezTo>
                  <a:pt x="130" y="57"/>
                  <a:pt x="130" y="57"/>
                  <a:pt x="130" y="57"/>
                </a:cubicBezTo>
                <a:cubicBezTo>
                  <a:pt x="134" y="57"/>
                  <a:pt x="134" y="57"/>
                  <a:pt x="134" y="57"/>
                </a:cubicBezTo>
                <a:cubicBezTo>
                  <a:pt x="137" y="57"/>
                  <a:pt x="137" y="57"/>
                  <a:pt x="137" y="57"/>
                </a:cubicBezTo>
                <a:cubicBezTo>
                  <a:pt x="137" y="57"/>
                  <a:pt x="155" y="59"/>
                  <a:pt x="155" y="24"/>
                </a:cubicBezTo>
                <a:cubicBezTo>
                  <a:pt x="155" y="24"/>
                  <a:pt x="155" y="24"/>
                  <a:pt x="155" y="24"/>
                </a:cubicBezTo>
                <a:cubicBezTo>
                  <a:pt x="155" y="24"/>
                  <a:pt x="155" y="24"/>
                  <a:pt x="155" y="24"/>
                </a:cubicBezTo>
                <a:cubicBezTo>
                  <a:pt x="155" y="24"/>
                  <a:pt x="155" y="24"/>
                  <a:pt x="155" y="24"/>
                </a:cubicBezTo>
                <a:cubicBezTo>
                  <a:pt x="155" y="24"/>
                  <a:pt x="155" y="24"/>
                  <a:pt x="155" y="24"/>
                </a:cubicBezTo>
                <a:cubicBezTo>
                  <a:pt x="140" y="24"/>
                  <a:pt x="140" y="24"/>
                  <a:pt x="140" y="24"/>
                </a:cubicBezTo>
                <a:cubicBezTo>
                  <a:pt x="127" y="8"/>
                  <a:pt x="109" y="2"/>
                  <a:pt x="96" y="0"/>
                </a:cubicBezTo>
                <a:cubicBezTo>
                  <a:pt x="96" y="0"/>
                  <a:pt x="90" y="0"/>
                  <a:pt x="88" y="0"/>
                </a:cubicBezTo>
                <a:cubicBezTo>
                  <a:pt x="85" y="0"/>
                  <a:pt x="79" y="0"/>
                  <a:pt x="79" y="0"/>
                </a:cubicBezTo>
                <a:cubicBezTo>
                  <a:pt x="66" y="2"/>
                  <a:pt x="48" y="8"/>
                  <a:pt x="35" y="24"/>
                </a:cubicBezTo>
                <a:cubicBezTo>
                  <a:pt x="25" y="24"/>
                  <a:pt x="25" y="24"/>
                  <a:pt x="25" y="24"/>
                </a:cubicBezTo>
                <a:cubicBezTo>
                  <a:pt x="25" y="24"/>
                  <a:pt x="0" y="22"/>
                  <a:pt x="0" y="56"/>
                </a:cubicBezTo>
                <a:cubicBezTo>
                  <a:pt x="0" y="57"/>
                  <a:pt x="0" y="57"/>
                  <a:pt x="0" y="57"/>
                </a:cubicBezTo>
                <a:cubicBezTo>
                  <a:pt x="1" y="56"/>
                  <a:pt x="1" y="56"/>
                  <a:pt x="1" y="56"/>
                </a:cubicBezTo>
                <a:cubicBezTo>
                  <a:pt x="11" y="56"/>
                  <a:pt x="11" y="56"/>
                  <a:pt x="11" y="56"/>
                </a:cubicBezTo>
                <a:close/>
                <a:moveTo>
                  <a:pt x="85" y="8"/>
                </a:moveTo>
                <a:cubicBezTo>
                  <a:pt x="85" y="23"/>
                  <a:pt x="85" y="23"/>
                  <a:pt x="85" y="23"/>
                </a:cubicBezTo>
                <a:cubicBezTo>
                  <a:pt x="47" y="23"/>
                  <a:pt x="47" y="23"/>
                  <a:pt x="47" y="23"/>
                </a:cubicBezTo>
                <a:cubicBezTo>
                  <a:pt x="47" y="23"/>
                  <a:pt x="47" y="23"/>
                  <a:pt x="47" y="23"/>
                </a:cubicBezTo>
                <a:cubicBezTo>
                  <a:pt x="58" y="13"/>
                  <a:pt x="70" y="9"/>
                  <a:pt x="80" y="8"/>
                </a:cubicBezTo>
                <a:cubicBezTo>
                  <a:pt x="81" y="8"/>
                  <a:pt x="83" y="8"/>
                  <a:pt x="85" y="8"/>
                </a:cubicBezTo>
                <a:close/>
                <a:moveTo>
                  <a:pt x="90" y="23"/>
                </a:moveTo>
                <a:cubicBezTo>
                  <a:pt x="89" y="7"/>
                  <a:pt x="89" y="7"/>
                  <a:pt x="89" y="7"/>
                </a:cubicBezTo>
                <a:cubicBezTo>
                  <a:pt x="92" y="8"/>
                  <a:pt x="94" y="8"/>
                  <a:pt x="95" y="8"/>
                </a:cubicBezTo>
                <a:cubicBezTo>
                  <a:pt x="105" y="9"/>
                  <a:pt x="118" y="13"/>
                  <a:pt x="128" y="23"/>
                </a:cubicBezTo>
                <a:lnTo>
                  <a:pt x="90" y="23"/>
                </a:lnTo>
                <a:close/>
              </a:path>
            </a:pathLst>
          </a:custGeom>
          <a:solidFill>
            <a:schemeClr val="bg1">
              <a:lumMod val="95000"/>
            </a:schemeClr>
          </a:solidFill>
          <a:ln>
            <a:noFill/>
          </a:ln>
        </p:spPr>
        <p:txBody>
          <a:bodyPr vert="horz" wrap="square" lIns="68580" tIns="34290" rIns="68580" bIns="34290" numCol="1" anchor="t" anchorCtr="0" compatLnSpc="1"/>
          <a:lstStyle/>
          <a:p>
            <a:endParaRPr lang="zh-CN" altLang="en-US"/>
          </a:p>
        </p:txBody>
      </p:sp>
      <p:sp>
        <p:nvSpPr>
          <p:cNvPr id="17" name="椭圆 16"/>
          <p:cNvSpPr/>
          <p:nvPr>
            <p:custDataLst>
              <p:tags r:id="rId5"/>
            </p:custDataLst>
          </p:nvPr>
        </p:nvSpPr>
        <p:spPr>
          <a:xfrm>
            <a:off x="718185" y="2385060"/>
            <a:ext cx="1153160" cy="756285"/>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2025</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12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1" name="椭圆 20"/>
          <p:cNvSpPr/>
          <p:nvPr>
            <p:custDataLst>
              <p:tags r:id="rId6"/>
            </p:custDataLst>
          </p:nvPr>
        </p:nvSpPr>
        <p:spPr>
          <a:xfrm>
            <a:off x="3419475" y="2360930"/>
            <a:ext cx="1163955" cy="756285"/>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2026</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2" name="椭圆 21"/>
          <p:cNvSpPr/>
          <p:nvPr>
            <p:custDataLst>
              <p:tags r:id="rId7"/>
            </p:custDataLst>
          </p:nvPr>
        </p:nvSpPr>
        <p:spPr>
          <a:xfrm>
            <a:off x="6012180" y="2385060"/>
            <a:ext cx="1123950" cy="756285"/>
          </a:xfrm>
          <a:prstGeom prst="ellipse">
            <a:avLst/>
          </a:prstGeom>
          <a:gradFill flip="none" rotWithShape="1">
            <a:gsLst>
              <a:gs pos="49000">
                <a:schemeClr val="bg1">
                  <a:lumMod val="93000"/>
                </a:schemeClr>
              </a:gs>
              <a:gs pos="0">
                <a:srgbClr val="E2E2E2">
                  <a:lumMod val="85000"/>
                </a:srgbClr>
              </a:gs>
              <a:gs pos="100000">
                <a:schemeClr val="bg1"/>
              </a:gs>
            </a:gsLst>
            <a:lin ang="2700000" scaled="1"/>
            <a:tileRect/>
          </a:gradFill>
          <a:ln w="38100">
            <a:gradFill flip="none" rotWithShape="1">
              <a:gsLst>
                <a:gs pos="100000">
                  <a:srgbClr val="E0E0E0"/>
                </a:gs>
                <a:gs pos="0">
                  <a:schemeClr val="bg1"/>
                </a:gs>
              </a:gsLst>
              <a:lin ang="0" scaled="0"/>
              <a:tileRect/>
            </a:gradFill>
          </a:ln>
          <a:effectLst>
            <a:outerShdw blurRad="368300" dist="368300" dir="2700000" algn="tr" rotWithShape="0">
              <a:prstClr val="black">
                <a:alpha val="20000"/>
              </a:prstClr>
            </a:outerShdw>
          </a:effectLst>
          <a:scene3d>
            <a:camera prst="orthographicFront"/>
            <a:lightRig rig="threePt" dir="t"/>
          </a:scene3d>
          <a:sp3d prstMaterial="metal"/>
        </p:spPr>
        <p:style>
          <a:lnRef idx="2">
            <a:schemeClr val="accent1">
              <a:shade val="50000"/>
            </a:schemeClr>
          </a:lnRef>
          <a:fillRef idx="1">
            <a:schemeClr val="accent1"/>
          </a:fillRef>
          <a:effectRef idx="0">
            <a:schemeClr val="accent1"/>
          </a:effectRef>
          <a:fontRef idx="minor">
            <a:schemeClr val="lt1"/>
          </a:fontRef>
        </p:style>
        <p:txBody>
          <a:bodyPr lIns="0" tIns="34290" rIns="0" bIns="34290" rtlCol="0" anchor="ctr"/>
          <a:lstStyle/>
          <a:p>
            <a:pPr algn="ct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2026</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年</a:t>
            </a: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4</a:t>
            </a: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月</a:t>
            </a: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9" name="TextBox 28"/>
          <p:cNvSpPr txBox="1"/>
          <p:nvPr>
            <p:custDataLst>
              <p:tags r:id="rId8"/>
            </p:custDataLst>
          </p:nvPr>
        </p:nvSpPr>
        <p:spPr>
          <a:xfrm>
            <a:off x="1043305" y="1059815"/>
            <a:ext cx="2137410" cy="468630"/>
          </a:xfrm>
          <a:prstGeom prst="rect">
            <a:avLst/>
          </a:prstGeom>
          <a:noFill/>
        </p:spPr>
        <p:txBody>
          <a:bodyPr wrap="square" lIns="68580" tIns="34290" rIns="68580" bIns="34290" rtlCol="0">
            <a:spAutoFit/>
          </a:bodyPr>
          <a:lstStyle/>
          <a:p>
            <a:pP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完成</a:t>
            </a:r>
            <a:r>
              <a:rPr lang="en-US" altLang="zh-CN" sz="1000" dirty="0">
                <a:solidFill>
                  <a:schemeClr val="tx1">
                    <a:lumMod val="65000"/>
                    <a:lumOff val="35000"/>
                  </a:schemeClr>
                </a:solidFill>
                <a:latin typeface="微软雅黑" panose="020B0503020204020204" pitchFamily="34" charset="-122"/>
                <a:ea typeface="微软雅黑" panose="020B0503020204020204" pitchFamily="34" charset="-122"/>
              </a:rPr>
              <a:t> Gateway </a:t>
            </a: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工程实现，并进行评估实验</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7" name="TextBox 36"/>
          <p:cNvSpPr txBox="1"/>
          <p:nvPr>
            <p:custDataLst>
              <p:tags r:id="rId9"/>
            </p:custDataLst>
          </p:nvPr>
        </p:nvSpPr>
        <p:spPr>
          <a:xfrm>
            <a:off x="3563620" y="996950"/>
            <a:ext cx="2111375" cy="468630"/>
          </a:xfrm>
          <a:prstGeom prst="rect">
            <a:avLst/>
          </a:prstGeom>
          <a:noFill/>
        </p:spPr>
        <p:txBody>
          <a:bodyPr wrap="square" lIns="68580" tIns="34290" rIns="68580" bIns="34290" rtlCol="0">
            <a:spAutoFit/>
          </a:bodyPr>
          <a:lstStyle/>
          <a:p>
            <a:pP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完成实验数据整理，总结研究成果，</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撰写项目总结和论文大纲</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39" name="TextBox 38"/>
          <p:cNvSpPr txBox="1"/>
          <p:nvPr>
            <p:custDataLst>
              <p:tags r:id="rId10"/>
            </p:custDataLst>
          </p:nvPr>
        </p:nvSpPr>
        <p:spPr>
          <a:xfrm>
            <a:off x="6156325" y="3783965"/>
            <a:ext cx="1986915" cy="268605"/>
          </a:xfrm>
          <a:prstGeom prst="rect">
            <a:avLst/>
          </a:prstGeom>
          <a:noFill/>
        </p:spPr>
        <p:txBody>
          <a:bodyPr wrap="square" lIns="68580" tIns="34290" rIns="68580" bIns="34290" rtlCol="0">
            <a:spAutoFit/>
          </a:bodyPr>
          <a:lstStyle/>
          <a:p>
            <a:pPr>
              <a:lnSpc>
                <a:spcPct val="130000"/>
              </a:lnSpc>
            </a:pPr>
            <a:r>
              <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rPr>
              <a:t>完成论文撰写，准备答辩</a:t>
            </a:r>
            <a:endParaRPr lang="zh-CN" altLang="en-US" sz="1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pic>
        <p:nvPicPr>
          <p:cNvPr id="40" name="图片 39" descr="图片包含 物体&#10;&#10;描述已自动生成"/>
          <p:cNvPicPr>
            <a:picLocks noChangeAspect="1"/>
          </p:cNvPicPr>
          <p:nvPr>
            <p:custDataLst>
              <p:tags r:id="rId11"/>
            </p:custDataLst>
          </p:nvPr>
        </p:nvPicPr>
        <p:blipFill>
          <a:blip r:embed="rId12"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13"/>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2" presetClass="entr" presetSubtype="8" fill="hold" grpId="0" nodeType="after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0" fill="hold"/>
                                        <p:tgtEl>
                                          <p:spTgt spid="15"/>
                                        </p:tgtEl>
                                        <p:attrNameLst>
                                          <p:attrName>ppt_x</p:attrName>
                                        </p:attrNameLst>
                                      </p:cBhvr>
                                      <p:tavLst>
                                        <p:tav tm="0">
                                          <p:val>
                                            <p:strVal val="0-#ppt_w/2"/>
                                          </p:val>
                                        </p:tav>
                                        <p:tav tm="100000">
                                          <p:val>
                                            <p:strVal val="#ppt_x"/>
                                          </p:val>
                                        </p:tav>
                                      </p:tavLst>
                                    </p:anim>
                                    <p:anim calcmode="lin" valueType="num">
                                      <p:cBhvr additive="base">
                                        <p:cTn id="29" dur="5000" fill="hold"/>
                                        <p:tgtEl>
                                          <p:spTgt spid="15"/>
                                        </p:tgtEl>
                                        <p:attrNameLst>
                                          <p:attrName>ppt_y</p:attrName>
                                        </p:attrNameLst>
                                      </p:cBhvr>
                                      <p:tavLst>
                                        <p:tav tm="0">
                                          <p:val>
                                            <p:strVal val="#ppt_y"/>
                                          </p:val>
                                        </p:tav>
                                        <p:tav tm="100000">
                                          <p:val>
                                            <p:strVal val="#ppt_y"/>
                                          </p:val>
                                        </p:tav>
                                      </p:tavLst>
                                    </p:anim>
                                  </p:childTnLst>
                                </p:cTn>
                              </p:par>
                              <p:par>
                                <p:cTn id="30" presetID="63" presetClass="path" presetSubtype="0" fill="hold" grpId="0" nodeType="withEffect">
                                  <p:stCondLst>
                                    <p:cond delay="0"/>
                                  </p:stCondLst>
                                  <p:childTnLst>
                                    <p:animMotion origin="layout" path="M -1.875E-6 -3.33333E-6 L 0.97266 -3.33333E-6 " pathEditMode="relative" rAng="0" ptsTypes="AA">
                                      <p:cBhvr>
                                        <p:cTn id="31" dur="11000" fill="hold"/>
                                        <p:tgtEl>
                                          <p:spTgt spid="16"/>
                                        </p:tgtEl>
                                        <p:attrNameLst>
                                          <p:attrName>ppt_x</p:attrName>
                                          <p:attrName>ppt_y</p:attrName>
                                        </p:attrNameLst>
                                      </p:cBhvr>
                                      <p:rCtr x="48633" y="0"/>
                                    </p:animMotion>
                                  </p:childTnLst>
                                </p:cTn>
                              </p:par>
                              <p:par>
                                <p:cTn id="32" presetID="23" presetClass="entr" presetSubtype="288" fill="hold" grpId="0" nodeType="withEffect">
                                  <p:stCondLst>
                                    <p:cond delay="150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strVal val="4/3*#ppt_w"/>
                                          </p:val>
                                        </p:tav>
                                        <p:tav tm="100000">
                                          <p:val>
                                            <p:strVal val="#ppt_w"/>
                                          </p:val>
                                        </p:tav>
                                      </p:tavLst>
                                    </p:anim>
                                    <p:anim calcmode="lin" valueType="num">
                                      <p:cBhvr>
                                        <p:cTn id="35" dur="500" fill="hold"/>
                                        <p:tgtEl>
                                          <p:spTgt spid="17"/>
                                        </p:tgtEl>
                                        <p:attrNameLst>
                                          <p:attrName>ppt_h</p:attrName>
                                        </p:attrNameLst>
                                      </p:cBhvr>
                                      <p:tavLst>
                                        <p:tav tm="0">
                                          <p:val>
                                            <p:strVal val="4/3*#ppt_h"/>
                                          </p:val>
                                        </p:tav>
                                        <p:tav tm="100000">
                                          <p:val>
                                            <p:strVal val="#ppt_h"/>
                                          </p:val>
                                        </p:tav>
                                      </p:tavLst>
                                    </p:anim>
                                  </p:childTnLst>
                                </p:cTn>
                              </p:par>
                              <p:par>
                                <p:cTn id="36" presetID="22" presetClass="entr" presetSubtype="4" fill="hold" nodeType="withEffect">
                                  <p:stCondLst>
                                    <p:cond delay="1500"/>
                                  </p:stCondLst>
                                  <p:childTnLst>
                                    <p:set>
                                      <p:cBhvr>
                                        <p:cTn id="37" dur="1" fill="hold">
                                          <p:stCondLst>
                                            <p:cond delay="0"/>
                                          </p:stCondLst>
                                        </p:cTn>
                                        <p:tgtEl>
                                          <p:spTgt spid="23"/>
                                        </p:tgtEl>
                                        <p:attrNameLst>
                                          <p:attrName>style.visibility</p:attrName>
                                        </p:attrNameLst>
                                      </p:cBhvr>
                                      <p:to>
                                        <p:strVal val="visible"/>
                                      </p:to>
                                    </p:set>
                                    <p:animEffect transition="in" filter="wipe(down)">
                                      <p:cBhvr>
                                        <p:cTn id="38" dur="500"/>
                                        <p:tgtEl>
                                          <p:spTgt spid="23"/>
                                        </p:tgtEl>
                                      </p:cBhvr>
                                    </p:animEffect>
                                  </p:childTnLst>
                                </p:cTn>
                              </p:par>
                              <p:par>
                                <p:cTn id="39" presetID="22" presetClass="entr" presetSubtype="8" fill="hold" grpId="0" nodeType="withEffect">
                                  <p:stCondLst>
                                    <p:cond delay="2000"/>
                                  </p:stCondLst>
                                  <p:childTnLst>
                                    <p:set>
                                      <p:cBhvr>
                                        <p:cTn id="40" dur="1" fill="hold">
                                          <p:stCondLst>
                                            <p:cond delay="0"/>
                                          </p:stCondLst>
                                        </p:cTn>
                                        <p:tgtEl>
                                          <p:spTgt spid="29"/>
                                        </p:tgtEl>
                                        <p:attrNameLst>
                                          <p:attrName>style.visibility</p:attrName>
                                        </p:attrNameLst>
                                      </p:cBhvr>
                                      <p:to>
                                        <p:strVal val="visible"/>
                                      </p:to>
                                    </p:set>
                                    <p:animEffect transition="in" filter="wipe(left)">
                                      <p:cBhvr>
                                        <p:cTn id="41" dur="500"/>
                                        <p:tgtEl>
                                          <p:spTgt spid="29"/>
                                        </p:tgtEl>
                                      </p:cBhvr>
                                    </p:animEffect>
                                  </p:childTnLst>
                                </p:cTn>
                              </p:par>
                              <p:par>
                                <p:cTn id="42" presetID="23" presetClass="entr" presetSubtype="288" fill="hold" grpId="0" nodeType="withEffect">
                                  <p:stCondLst>
                                    <p:cond delay="7500"/>
                                  </p:stCondLst>
                                  <p:childTnLst>
                                    <p:set>
                                      <p:cBhvr>
                                        <p:cTn id="43" dur="1" fill="hold">
                                          <p:stCondLst>
                                            <p:cond delay="0"/>
                                          </p:stCondLst>
                                        </p:cTn>
                                        <p:tgtEl>
                                          <p:spTgt spid="21"/>
                                        </p:tgtEl>
                                        <p:attrNameLst>
                                          <p:attrName>style.visibility</p:attrName>
                                        </p:attrNameLst>
                                      </p:cBhvr>
                                      <p:to>
                                        <p:strVal val="visible"/>
                                      </p:to>
                                    </p:set>
                                    <p:anim calcmode="lin" valueType="num">
                                      <p:cBhvr>
                                        <p:cTn id="44" dur="500" fill="hold"/>
                                        <p:tgtEl>
                                          <p:spTgt spid="21"/>
                                        </p:tgtEl>
                                        <p:attrNameLst>
                                          <p:attrName>ppt_w</p:attrName>
                                        </p:attrNameLst>
                                      </p:cBhvr>
                                      <p:tavLst>
                                        <p:tav tm="0">
                                          <p:val>
                                            <p:strVal val="4/3*#ppt_w"/>
                                          </p:val>
                                        </p:tav>
                                        <p:tav tm="100000">
                                          <p:val>
                                            <p:strVal val="#ppt_w"/>
                                          </p:val>
                                        </p:tav>
                                      </p:tavLst>
                                    </p:anim>
                                    <p:anim calcmode="lin" valueType="num">
                                      <p:cBhvr>
                                        <p:cTn id="45" dur="500" fill="hold"/>
                                        <p:tgtEl>
                                          <p:spTgt spid="21"/>
                                        </p:tgtEl>
                                        <p:attrNameLst>
                                          <p:attrName>ppt_h</p:attrName>
                                        </p:attrNameLst>
                                      </p:cBhvr>
                                      <p:tavLst>
                                        <p:tav tm="0">
                                          <p:val>
                                            <p:strVal val="4/3*#ppt_h"/>
                                          </p:val>
                                        </p:tav>
                                        <p:tav tm="100000">
                                          <p:val>
                                            <p:strVal val="#ppt_h"/>
                                          </p:val>
                                        </p:tav>
                                      </p:tavLst>
                                    </p:anim>
                                  </p:childTnLst>
                                </p:cTn>
                              </p:par>
                              <p:par>
                                <p:cTn id="46" presetID="22" presetClass="entr" presetSubtype="4" fill="hold" nodeType="withEffect">
                                  <p:stCondLst>
                                    <p:cond delay="7500"/>
                                  </p:stCondLst>
                                  <p:childTnLst>
                                    <p:set>
                                      <p:cBhvr>
                                        <p:cTn id="47" dur="1" fill="hold">
                                          <p:stCondLst>
                                            <p:cond delay="0"/>
                                          </p:stCondLst>
                                        </p:cTn>
                                        <p:tgtEl>
                                          <p:spTgt spid="36"/>
                                        </p:tgtEl>
                                        <p:attrNameLst>
                                          <p:attrName>style.visibility</p:attrName>
                                        </p:attrNameLst>
                                      </p:cBhvr>
                                      <p:to>
                                        <p:strVal val="visible"/>
                                      </p:to>
                                    </p:set>
                                    <p:animEffect transition="in" filter="wipe(down)">
                                      <p:cBhvr>
                                        <p:cTn id="48" dur="500"/>
                                        <p:tgtEl>
                                          <p:spTgt spid="36"/>
                                        </p:tgtEl>
                                      </p:cBhvr>
                                    </p:animEffect>
                                  </p:childTnLst>
                                </p:cTn>
                              </p:par>
                              <p:par>
                                <p:cTn id="49" presetID="22" presetClass="entr" presetSubtype="8" fill="hold" grpId="0" nodeType="withEffect">
                                  <p:stCondLst>
                                    <p:cond delay="8000"/>
                                  </p:stCondLst>
                                  <p:childTnLst>
                                    <p:set>
                                      <p:cBhvr>
                                        <p:cTn id="50" dur="1" fill="hold">
                                          <p:stCondLst>
                                            <p:cond delay="0"/>
                                          </p:stCondLst>
                                        </p:cTn>
                                        <p:tgtEl>
                                          <p:spTgt spid="37"/>
                                        </p:tgtEl>
                                        <p:attrNameLst>
                                          <p:attrName>style.visibility</p:attrName>
                                        </p:attrNameLst>
                                      </p:cBhvr>
                                      <p:to>
                                        <p:strVal val="visible"/>
                                      </p:to>
                                    </p:set>
                                    <p:animEffect transition="in" filter="wipe(left)">
                                      <p:cBhvr>
                                        <p:cTn id="51" dur="500"/>
                                        <p:tgtEl>
                                          <p:spTgt spid="37"/>
                                        </p:tgtEl>
                                      </p:cBhvr>
                                    </p:animEffect>
                                  </p:childTnLst>
                                </p:cTn>
                              </p:par>
                              <p:par>
                                <p:cTn id="52" presetID="23" presetClass="entr" presetSubtype="288" fill="hold" grpId="0" nodeType="withEffect">
                                  <p:stCondLst>
                                    <p:cond delay="9000"/>
                                  </p:stCondLst>
                                  <p:childTnLst>
                                    <p:set>
                                      <p:cBhvr>
                                        <p:cTn id="53" dur="1" fill="hold">
                                          <p:stCondLst>
                                            <p:cond delay="0"/>
                                          </p:stCondLst>
                                        </p:cTn>
                                        <p:tgtEl>
                                          <p:spTgt spid="22"/>
                                        </p:tgtEl>
                                        <p:attrNameLst>
                                          <p:attrName>style.visibility</p:attrName>
                                        </p:attrNameLst>
                                      </p:cBhvr>
                                      <p:to>
                                        <p:strVal val="visible"/>
                                      </p:to>
                                    </p:set>
                                    <p:anim calcmode="lin" valueType="num">
                                      <p:cBhvr>
                                        <p:cTn id="54" dur="500" fill="hold"/>
                                        <p:tgtEl>
                                          <p:spTgt spid="22"/>
                                        </p:tgtEl>
                                        <p:attrNameLst>
                                          <p:attrName>ppt_w</p:attrName>
                                        </p:attrNameLst>
                                      </p:cBhvr>
                                      <p:tavLst>
                                        <p:tav tm="0">
                                          <p:val>
                                            <p:strVal val="4/3*#ppt_w"/>
                                          </p:val>
                                        </p:tav>
                                        <p:tav tm="100000">
                                          <p:val>
                                            <p:strVal val="#ppt_w"/>
                                          </p:val>
                                        </p:tav>
                                      </p:tavLst>
                                    </p:anim>
                                    <p:anim calcmode="lin" valueType="num">
                                      <p:cBhvr>
                                        <p:cTn id="55" dur="500" fill="hold"/>
                                        <p:tgtEl>
                                          <p:spTgt spid="22"/>
                                        </p:tgtEl>
                                        <p:attrNameLst>
                                          <p:attrName>ppt_h</p:attrName>
                                        </p:attrNameLst>
                                      </p:cBhvr>
                                      <p:tavLst>
                                        <p:tav tm="0">
                                          <p:val>
                                            <p:strVal val="4/3*#ppt_h"/>
                                          </p:val>
                                        </p:tav>
                                        <p:tav tm="100000">
                                          <p:val>
                                            <p:strVal val="#ppt_h"/>
                                          </p:val>
                                        </p:tav>
                                      </p:tavLst>
                                    </p:anim>
                                  </p:childTnLst>
                                </p:cTn>
                              </p:par>
                              <p:par>
                                <p:cTn id="56" presetID="22" presetClass="entr" presetSubtype="1" fill="hold" nodeType="withEffect">
                                  <p:stCondLst>
                                    <p:cond delay="9000"/>
                                  </p:stCondLst>
                                  <p:childTnLst>
                                    <p:set>
                                      <p:cBhvr>
                                        <p:cTn id="57" dur="1" fill="hold">
                                          <p:stCondLst>
                                            <p:cond delay="0"/>
                                          </p:stCondLst>
                                        </p:cTn>
                                        <p:tgtEl>
                                          <p:spTgt spid="38"/>
                                        </p:tgtEl>
                                        <p:attrNameLst>
                                          <p:attrName>style.visibility</p:attrName>
                                        </p:attrNameLst>
                                      </p:cBhvr>
                                      <p:to>
                                        <p:strVal val="visible"/>
                                      </p:to>
                                    </p:set>
                                    <p:animEffect transition="in" filter="wipe(up)">
                                      <p:cBhvr>
                                        <p:cTn id="58" dur="500"/>
                                        <p:tgtEl>
                                          <p:spTgt spid="38"/>
                                        </p:tgtEl>
                                      </p:cBhvr>
                                    </p:animEffect>
                                  </p:childTnLst>
                                </p:cTn>
                              </p:par>
                              <p:par>
                                <p:cTn id="59" presetID="22" presetClass="entr" presetSubtype="8" fill="hold" grpId="0" nodeType="withEffect">
                                  <p:stCondLst>
                                    <p:cond delay="9500"/>
                                  </p:stCondLst>
                                  <p:childTnLst>
                                    <p:set>
                                      <p:cBhvr>
                                        <p:cTn id="60" dur="1" fill="hold">
                                          <p:stCondLst>
                                            <p:cond delay="0"/>
                                          </p:stCondLst>
                                        </p:cTn>
                                        <p:tgtEl>
                                          <p:spTgt spid="39"/>
                                        </p:tgtEl>
                                        <p:attrNameLst>
                                          <p:attrName>style.visibility</p:attrName>
                                        </p:attrNameLst>
                                      </p:cBhvr>
                                      <p:to>
                                        <p:strVal val="visible"/>
                                      </p:to>
                                    </p:set>
                                    <p:animEffect transition="in" filter="wipe(left)">
                                      <p:cBhvr>
                                        <p:cTn id="6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15" grpId="0" animBg="1"/>
      <p:bldP spid="16" grpId="0" animBg="1"/>
      <p:bldP spid="17" grpId="0" bldLvl="0" animBg="1"/>
      <p:bldP spid="21" grpId="0" bldLvl="0" animBg="1"/>
      <p:bldP spid="22" grpId="0" bldLvl="0" animBg="1"/>
      <p:bldP spid="29" grpId="0"/>
      <p:bldP spid="37" grpId="0"/>
      <p:bldP spid="3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069524" cy="40011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感谢语</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1997556" y="237108"/>
            <a:ext cx="1206292"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Thank you</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193881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9" name="矩形 38"/>
          <p:cNvSpPr/>
          <p:nvPr/>
        </p:nvSpPr>
        <p:spPr>
          <a:xfrm>
            <a:off x="2915816" y="555527"/>
            <a:ext cx="3552056" cy="1410579"/>
          </a:xfrm>
          <a:prstGeom prst="rect">
            <a:avLst/>
          </a:prstGeom>
        </p:spPr>
        <p:txBody>
          <a:bodyPr wrap="square">
            <a:spAutoFit/>
          </a:bodyPr>
          <a:lstStyle/>
          <a:p>
            <a:pPr algn="ctr">
              <a:lnSpc>
                <a:spcPct val="150000"/>
              </a:lnSpc>
            </a:pPr>
            <a:r>
              <a:rPr lang="en-US" altLang="zh-CN" sz="6600" dirty="0">
                <a:solidFill>
                  <a:srgbClr val="679E2A"/>
                </a:solidFill>
                <a:latin typeface="Impact" panose="020B0806030902050204" pitchFamily="34" charset="0"/>
                <a:ea typeface="微软雅黑" panose="020B0503020204020204" pitchFamily="34" charset="-122"/>
              </a:rPr>
              <a:t>THANKS!</a:t>
            </a:r>
            <a:endParaRPr lang="zh-CN" altLang="en-US" sz="6600" b="0" dirty="0">
              <a:solidFill>
                <a:srgbClr val="679E2A"/>
              </a:solidFill>
              <a:latin typeface="Impact" panose="020B0806030902050204" pitchFamily="34" charset="0"/>
              <a:ea typeface="微软雅黑" panose="020B0503020204020204" pitchFamily="34" charset="-122"/>
            </a:endParaRPr>
          </a:p>
        </p:txBody>
      </p:sp>
      <p:sp>
        <p:nvSpPr>
          <p:cNvPr id="40" name="矩形 39"/>
          <p:cNvSpPr/>
          <p:nvPr/>
        </p:nvSpPr>
        <p:spPr>
          <a:xfrm>
            <a:off x="1331640" y="1995686"/>
            <a:ext cx="6436704" cy="414020"/>
          </a:xfrm>
          <a:prstGeom prst="rect">
            <a:avLst/>
          </a:prstGeom>
        </p:spPr>
        <p:txBody>
          <a:bodyPr wrap="square">
            <a:spAutoFit/>
          </a:bodyPr>
          <a:lstStyle/>
          <a:p>
            <a:pPr>
              <a:lnSpc>
                <a:spcPct val="150000"/>
              </a:lnSpc>
              <a:defRPr/>
            </a:pPr>
            <a:r>
              <a:rPr lang="zh-CN" altLang="en-US" sz="1400" kern="0" dirty="0">
                <a:solidFill>
                  <a:schemeClr val="tx1">
                    <a:lumMod val="65000"/>
                    <a:lumOff val="35000"/>
                  </a:schemeClr>
                </a:solidFill>
                <a:latin typeface="微软雅黑" panose="020B0503020204020204" pitchFamily="34" charset="-122"/>
                <a:ea typeface="微软雅黑" panose="020B0503020204020204" pitchFamily="34" charset="-122"/>
              </a:rPr>
              <a:t>      </a:t>
            </a:r>
            <a:endParaRPr lang="zh-CN" altLang="en-US" sz="1400" kern="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41" name="矩形 40"/>
          <p:cNvSpPr/>
          <p:nvPr/>
        </p:nvSpPr>
        <p:spPr>
          <a:xfrm>
            <a:off x="3203358" y="2932015"/>
            <a:ext cx="3048000" cy="499624"/>
          </a:xfrm>
          <a:prstGeom prst="rect">
            <a:avLst/>
          </a:prstGeom>
        </p:spPr>
        <p:txBody>
          <a:bodyPr wrap="square">
            <a:spAutoFit/>
          </a:bodyPr>
          <a:lstStyle/>
          <a:p>
            <a:pPr>
              <a:lnSpc>
                <a:spcPct val="150000"/>
              </a:lnSpc>
            </a:pPr>
            <a:r>
              <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rPr>
              <a:t>恳请各位老师批评指正</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rPr>
              <a:t>！</a:t>
            </a:r>
            <a:endParaRPr lang="zh-CN" altLang="en-US" sz="2000" b="0" dirty="0">
              <a:solidFill>
                <a:schemeClr val="tx1">
                  <a:lumMod val="75000"/>
                  <a:lumOff val="25000"/>
                </a:schemeClr>
              </a:solidFill>
              <a:latin typeface="微软雅黑" panose="020B0503020204020204" pitchFamily="34" charset="-122"/>
              <a:ea typeface="微软雅黑" panose="020B0503020204020204" pitchFamily="34" charset="-122"/>
            </a:endParaRPr>
          </a:p>
        </p:txBody>
      </p:sp>
      <p:pic>
        <p:nvPicPr>
          <p:cNvPr id="11" name="图片 10"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17" presetClass="entr" presetSubtype="1" fill="hold" grpId="0" nodeType="afterEffect">
                                  <p:stCondLst>
                                    <p:cond delay="0"/>
                                  </p:stCondLst>
                                  <p:iterate type="lt">
                                    <p:tmPct val="40000"/>
                                  </p:iterate>
                                  <p:childTnLst>
                                    <p:set>
                                      <p:cBhvr>
                                        <p:cTn id="27" dur="1" fill="hold">
                                          <p:stCondLst>
                                            <p:cond delay="0"/>
                                          </p:stCondLst>
                                        </p:cTn>
                                        <p:tgtEl>
                                          <p:spTgt spid="39"/>
                                        </p:tgtEl>
                                        <p:attrNameLst>
                                          <p:attrName>style.visibility</p:attrName>
                                        </p:attrNameLst>
                                      </p:cBhvr>
                                      <p:to>
                                        <p:strVal val="visible"/>
                                      </p:to>
                                    </p:set>
                                    <p:anim calcmode="lin" valueType="num">
                                      <p:cBhvr>
                                        <p:cTn id="28" dur="250" fill="hold"/>
                                        <p:tgtEl>
                                          <p:spTgt spid="39"/>
                                        </p:tgtEl>
                                        <p:attrNameLst>
                                          <p:attrName>ppt_x</p:attrName>
                                        </p:attrNameLst>
                                      </p:cBhvr>
                                      <p:tavLst>
                                        <p:tav tm="0">
                                          <p:val>
                                            <p:strVal val="#ppt_x"/>
                                          </p:val>
                                        </p:tav>
                                        <p:tav tm="100000">
                                          <p:val>
                                            <p:strVal val="#ppt_x"/>
                                          </p:val>
                                        </p:tav>
                                      </p:tavLst>
                                    </p:anim>
                                    <p:anim calcmode="lin" valueType="num">
                                      <p:cBhvr>
                                        <p:cTn id="29" dur="250" fill="hold"/>
                                        <p:tgtEl>
                                          <p:spTgt spid="39"/>
                                        </p:tgtEl>
                                        <p:attrNameLst>
                                          <p:attrName>ppt_y</p:attrName>
                                        </p:attrNameLst>
                                      </p:cBhvr>
                                      <p:tavLst>
                                        <p:tav tm="0">
                                          <p:val>
                                            <p:strVal val="#ppt_y-#ppt_h/2"/>
                                          </p:val>
                                        </p:tav>
                                        <p:tav tm="100000">
                                          <p:val>
                                            <p:strVal val="#ppt_y"/>
                                          </p:val>
                                        </p:tav>
                                      </p:tavLst>
                                    </p:anim>
                                    <p:anim calcmode="lin" valueType="num">
                                      <p:cBhvr>
                                        <p:cTn id="30" dur="250" fill="hold"/>
                                        <p:tgtEl>
                                          <p:spTgt spid="39"/>
                                        </p:tgtEl>
                                        <p:attrNameLst>
                                          <p:attrName>ppt_w</p:attrName>
                                        </p:attrNameLst>
                                      </p:cBhvr>
                                      <p:tavLst>
                                        <p:tav tm="0">
                                          <p:val>
                                            <p:strVal val="#ppt_w"/>
                                          </p:val>
                                        </p:tav>
                                        <p:tav tm="100000">
                                          <p:val>
                                            <p:strVal val="#ppt_w"/>
                                          </p:val>
                                        </p:tav>
                                      </p:tavLst>
                                    </p:anim>
                                    <p:anim calcmode="lin" valueType="num">
                                      <p:cBhvr>
                                        <p:cTn id="31" dur="250" fill="hold"/>
                                        <p:tgtEl>
                                          <p:spTgt spid="39"/>
                                        </p:tgtEl>
                                        <p:attrNameLst>
                                          <p:attrName>ppt_h</p:attrName>
                                        </p:attrNameLst>
                                      </p:cBhvr>
                                      <p:tavLst>
                                        <p:tav tm="0">
                                          <p:val>
                                            <p:fltVal val="0"/>
                                          </p:val>
                                        </p:tav>
                                        <p:tav tm="100000">
                                          <p:val>
                                            <p:strVal val="#ppt_h"/>
                                          </p:val>
                                        </p:tav>
                                      </p:tavLst>
                                    </p:anim>
                                  </p:childTnLst>
                                </p:cTn>
                              </p:par>
                            </p:childTnLst>
                          </p:cTn>
                        </p:par>
                        <p:par>
                          <p:cTn id="32" fill="hold">
                            <p:stCondLst>
                              <p:cond delay="1650"/>
                            </p:stCondLst>
                            <p:childTnLst>
                              <p:par>
                                <p:cTn id="33" presetID="22" presetClass="entr" presetSubtype="8" fill="hold" grpId="0" nodeType="afterEffect">
                                  <p:stCondLst>
                                    <p:cond delay="0"/>
                                  </p:stCondLst>
                                  <p:iterate type="lt">
                                    <p:tmPct val="30000"/>
                                  </p:iterate>
                                  <p:childTnLst>
                                    <p:set>
                                      <p:cBhvr>
                                        <p:cTn id="34" dur="1" fill="hold">
                                          <p:stCondLst>
                                            <p:cond delay="0"/>
                                          </p:stCondLst>
                                        </p:cTn>
                                        <p:tgtEl>
                                          <p:spTgt spid="40"/>
                                        </p:tgtEl>
                                        <p:attrNameLst>
                                          <p:attrName>style.visibility</p:attrName>
                                        </p:attrNameLst>
                                      </p:cBhvr>
                                      <p:to>
                                        <p:strVal val="visible"/>
                                      </p:to>
                                    </p:set>
                                    <p:animEffect transition="in" filter="wipe(left)">
                                      <p:cBhvr>
                                        <p:cTn id="35" dur="300"/>
                                        <p:tgtEl>
                                          <p:spTgt spid="40"/>
                                        </p:tgtEl>
                                      </p:cBhvr>
                                    </p:animEffect>
                                  </p:childTnLst>
                                </p:cTn>
                              </p:par>
                              <p:par>
                                <p:cTn id="36" presetID="36" presetClass="emph" presetSubtype="0" fill="hold" grpId="1" nodeType="withEffect">
                                  <p:stCondLst>
                                    <p:cond delay="0"/>
                                  </p:stCondLst>
                                  <p:iterate type="lt">
                                    <p:tmPct val="30000"/>
                                  </p:iterate>
                                  <p:childTnLst>
                                    <p:animScale>
                                      <p:cBhvr>
                                        <p:cTn id="37" dur="150" autoRev="1" fill="hold">
                                          <p:stCondLst>
                                            <p:cond delay="0"/>
                                          </p:stCondLst>
                                        </p:cTn>
                                        <p:tgtEl>
                                          <p:spTgt spid="40"/>
                                        </p:tgtEl>
                                      </p:cBhvr>
                                      <p:to x="80000" y="100000"/>
                                    </p:animScale>
                                    <p:anim by="(#ppt_w*0.10)" calcmode="lin" valueType="num">
                                      <p:cBhvr>
                                        <p:cTn id="38" dur="150" autoRev="1" fill="hold">
                                          <p:stCondLst>
                                            <p:cond delay="0"/>
                                          </p:stCondLst>
                                        </p:cTn>
                                        <p:tgtEl>
                                          <p:spTgt spid="40"/>
                                        </p:tgtEl>
                                        <p:attrNameLst>
                                          <p:attrName>ppt_x</p:attrName>
                                        </p:attrNameLst>
                                      </p:cBhvr>
                                    </p:anim>
                                    <p:anim by="(-#ppt_w*0.10)" calcmode="lin" valueType="num">
                                      <p:cBhvr>
                                        <p:cTn id="39" dur="150" autoRev="1" fill="hold">
                                          <p:stCondLst>
                                            <p:cond delay="0"/>
                                          </p:stCondLst>
                                        </p:cTn>
                                        <p:tgtEl>
                                          <p:spTgt spid="40"/>
                                        </p:tgtEl>
                                        <p:attrNameLst>
                                          <p:attrName>ppt_y</p:attrName>
                                        </p:attrNameLst>
                                      </p:cBhvr>
                                    </p:anim>
                                    <p:animRot by="-480000">
                                      <p:cBhvr>
                                        <p:cTn id="40" dur="150" autoRev="1" fill="hold">
                                          <p:stCondLst>
                                            <p:cond delay="0"/>
                                          </p:stCondLst>
                                        </p:cTn>
                                        <p:tgtEl>
                                          <p:spTgt spid="40"/>
                                        </p:tgtEl>
                                        <p:attrNameLst>
                                          <p:attrName>r</p:attrName>
                                        </p:attrNameLst>
                                      </p:cBhvr>
                                    </p:animRot>
                                  </p:childTnLst>
                                </p:cTn>
                              </p:par>
                            </p:childTnLst>
                          </p:cTn>
                        </p:par>
                        <p:par>
                          <p:cTn id="41" fill="hold">
                            <p:stCondLst>
                              <p:cond delay="2399"/>
                            </p:stCondLst>
                            <p:childTnLst>
                              <p:par>
                                <p:cTn id="42" presetID="42" presetClass="entr" presetSubtype="0" fill="hold" grpId="0" nodeType="afterEffect">
                                  <p:stCondLst>
                                    <p:cond delay="0"/>
                                  </p:stCondLst>
                                  <p:childTnLst>
                                    <p:set>
                                      <p:cBhvr>
                                        <p:cTn id="43" dur="1" fill="hold">
                                          <p:stCondLst>
                                            <p:cond delay="0"/>
                                          </p:stCondLst>
                                        </p:cTn>
                                        <p:tgtEl>
                                          <p:spTgt spid="41"/>
                                        </p:tgtEl>
                                        <p:attrNameLst>
                                          <p:attrName>style.visibility</p:attrName>
                                        </p:attrNameLst>
                                      </p:cBhvr>
                                      <p:to>
                                        <p:strVal val="visible"/>
                                      </p:to>
                                    </p:set>
                                    <p:animEffect transition="in" filter="fade">
                                      <p:cBhvr>
                                        <p:cTn id="44" dur="1000"/>
                                        <p:tgtEl>
                                          <p:spTgt spid="41"/>
                                        </p:tgtEl>
                                      </p:cBhvr>
                                    </p:animEffect>
                                    <p:anim calcmode="lin" valueType="num">
                                      <p:cBhvr>
                                        <p:cTn id="45" dur="1000" fill="hold"/>
                                        <p:tgtEl>
                                          <p:spTgt spid="41"/>
                                        </p:tgtEl>
                                        <p:attrNameLst>
                                          <p:attrName>ppt_x</p:attrName>
                                        </p:attrNameLst>
                                      </p:cBhvr>
                                      <p:tavLst>
                                        <p:tav tm="0">
                                          <p:val>
                                            <p:strVal val="#ppt_x"/>
                                          </p:val>
                                        </p:tav>
                                        <p:tav tm="100000">
                                          <p:val>
                                            <p:strVal val="#ppt_x"/>
                                          </p:val>
                                        </p:tav>
                                      </p:tavLst>
                                    </p:anim>
                                    <p:anim calcmode="lin" valueType="num">
                                      <p:cBhvr>
                                        <p:cTn id="46"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39" grpId="0"/>
      <p:bldP spid="40" grpId="0"/>
      <p:bldP spid="40" grpId="1"/>
      <p:bldP spid="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p:cNvSpPr/>
          <p:nvPr/>
        </p:nvSpPr>
        <p:spPr>
          <a:xfrm>
            <a:off x="1964513" y="3363838"/>
            <a:ext cx="5214974" cy="600164"/>
          </a:xfrm>
          <a:prstGeom prst="rect">
            <a:avLst/>
          </a:prstGeom>
        </p:spPr>
        <p:txBody>
          <a:bodyPr wrap="square">
            <a:spAutoFit/>
          </a:bodyPr>
          <a:lstStyle/>
          <a:p>
            <a:pPr algn="ctr" fontAlgn="auto">
              <a:lnSpc>
                <a:spcPct val="150000"/>
              </a:lnSpc>
              <a:spcAft>
                <a:spcPts val="0"/>
              </a:spcAft>
              <a:defRPr/>
            </a:pPr>
            <a:r>
              <a:rPr lang="en-US" altLang="zh-CN" sz="1100" b="1" dirty="0">
                <a:solidFill>
                  <a:schemeClr val="bg1">
                    <a:lumMod val="50000"/>
                  </a:schemeClr>
                </a:solidFill>
                <a:latin typeface="微软雅黑" panose="020B0503020204020204" pitchFamily="34" charset="-122"/>
                <a:ea typeface="微软雅黑" panose="020B0503020204020204" pitchFamily="34" charset="-122"/>
              </a:rPr>
              <a:t> Add up everything what you like and everything what you want </a:t>
            </a:r>
            <a:endParaRPr lang="en-US" altLang="zh-CN" sz="1100" b="1" dirty="0">
              <a:solidFill>
                <a:schemeClr val="bg1">
                  <a:lumMod val="50000"/>
                </a:schemeClr>
              </a:solidFill>
              <a:latin typeface="微软雅黑" panose="020B0503020204020204" pitchFamily="34" charset="-122"/>
              <a:ea typeface="微软雅黑" panose="020B0503020204020204" pitchFamily="34" charset="-122"/>
            </a:endParaRPr>
          </a:p>
          <a:p>
            <a:pPr algn="ctr" fontAlgn="auto">
              <a:lnSpc>
                <a:spcPct val="150000"/>
              </a:lnSpc>
              <a:spcAft>
                <a:spcPts val="0"/>
              </a:spcAft>
              <a:defRPr/>
            </a:pPr>
            <a:r>
              <a:rPr lang="zh-CN" altLang="en-US" sz="1100" b="1" dirty="0">
                <a:solidFill>
                  <a:schemeClr val="bg1">
                    <a:lumMod val="50000"/>
                  </a:schemeClr>
                </a:solidFill>
                <a:latin typeface="微软雅黑" panose="020B0503020204020204" pitchFamily="34" charset="-122"/>
                <a:ea typeface="微软雅黑" panose="020B0503020204020204" pitchFamily="34" charset="-122"/>
              </a:rPr>
              <a:t> 梦想，要比昨天走的更远</a:t>
            </a:r>
            <a:endParaRPr lang="zh-CN" altLang="en-US" sz="1100" b="1" dirty="0">
              <a:solidFill>
                <a:schemeClr val="bg1">
                  <a:lumMod val="50000"/>
                </a:schemeClr>
              </a:solidFill>
              <a:latin typeface="微软雅黑" panose="020B0503020204020204" pitchFamily="34" charset="-122"/>
              <a:ea typeface="微软雅黑" panose="020B0503020204020204" pitchFamily="34" charset="-122"/>
            </a:endParaRPr>
          </a:p>
        </p:txBody>
      </p:sp>
      <p:grpSp>
        <p:nvGrpSpPr>
          <p:cNvPr id="12" name="组合 11"/>
          <p:cNvGrpSpPr/>
          <p:nvPr/>
        </p:nvGrpSpPr>
        <p:grpSpPr>
          <a:xfrm>
            <a:off x="3924000" y="915566"/>
            <a:ext cx="1296000" cy="1296000"/>
            <a:chOff x="3832651" y="1100471"/>
            <a:chExt cx="1296000" cy="1296000"/>
          </a:xfrm>
        </p:grpSpPr>
        <p:sp>
          <p:nvSpPr>
            <p:cNvPr id="13" name="椭圆 12"/>
            <p:cNvSpPr/>
            <p:nvPr/>
          </p:nvSpPr>
          <p:spPr>
            <a:xfrm>
              <a:off x="3832651" y="1100471"/>
              <a:ext cx="1296000" cy="1296000"/>
            </a:xfrm>
            <a:prstGeom prst="ellipse">
              <a:avLst/>
            </a:prstGeom>
            <a:gradFill flip="none" rotWithShape="1">
              <a:gsLst>
                <a:gs pos="0">
                  <a:schemeClr val="bg1">
                    <a:lumMod val="75000"/>
                  </a:schemeClr>
                </a:gs>
                <a:gs pos="100000">
                  <a:schemeClr val="bg1"/>
                </a:gs>
                <a:gs pos="0">
                  <a:srgbClr val="CDCDCD"/>
                </a:gs>
              </a:gsLst>
              <a:lin ang="18900000" scaled="1"/>
              <a:tileRect/>
            </a:gradFill>
            <a:ln w="285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868583" y="1136403"/>
              <a:ext cx="1224136" cy="1224136"/>
            </a:xfrm>
            <a:prstGeom prst="ellipse">
              <a:avLst/>
            </a:prstGeom>
            <a:gradFill flip="none" rotWithShape="1">
              <a:gsLst>
                <a:gs pos="100000">
                  <a:schemeClr val="bg1"/>
                </a:gs>
                <a:gs pos="0">
                  <a:schemeClr val="bg1">
                    <a:lumMod val="75000"/>
                  </a:schemeClr>
                </a:gs>
              </a:gsLst>
              <a:lin ang="8400000" scaled="0"/>
              <a:tileRect/>
            </a:gradFill>
            <a:ln w="28575">
              <a:noFill/>
            </a:ln>
            <a:effectLst>
              <a:outerShdw blurRad="317500" dist="228600" dir="7200000" algn="ctr" rotWithShape="0">
                <a:schemeClr val="tx1">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 name="组合 14"/>
          <p:cNvGrpSpPr/>
          <p:nvPr/>
        </p:nvGrpSpPr>
        <p:grpSpPr>
          <a:xfrm>
            <a:off x="5812051" y="1309130"/>
            <a:ext cx="1656184" cy="508869"/>
            <a:chOff x="755576" y="627534"/>
            <a:chExt cx="1800200" cy="508869"/>
          </a:xfrm>
        </p:grpSpPr>
        <p:cxnSp>
          <p:nvCxnSpPr>
            <p:cNvPr id="16" name="直接连接符 15"/>
            <p:cNvCxnSpPr/>
            <p:nvPr/>
          </p:nvCxnSpPr>
          <p:spPr>
            <a:xfrm>
              <a:off x="755576" y="987574"/>
              <a:ext cx="504056" cy="0"/>
            </a:xfrm>
            <a:prstGeom prst="line">
              <a:avLst/>
            </a:prstGeom>
            <a:ln w="19050">
              <a:solidFill>
                <a:schemeClr val="bg1"/>
              </a:solidFill>
              <a:head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V="1">
              <a:off x="1259632" y="843558"/>
              <a:ext cx="72008" cy="144016"/>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1331640" y="843558"/>
              <a:ext cx="124675" cy="292845"/>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V="1">
              <a:off x="1456315" y="627534"/>
              <a:ext cx="451389" cy="508869"/>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1907704" y="627534"/>
              <a:ext cx="72008" cy="360040"/>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979712" y="987574"/>
              <a:ext cx="576064" cy="2406"/>
            </a:xfrm>
            <a:prstGeom prst="line">
              <a:avLst/>
            </a:prstGeom>
            <a:ln w="19050">
              <a:solidFill>
                <a:schemeClr val="bg1"/>
              </a:solidFill>
              <a:tail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grpSp>
      <p:grpSp>
        <p:nvGrpSpPr>
          <p:cNvPr id="22" name="组合 21"/>
          <p:cNvGrpSpPr/>
          <p:nvPr/>
        </p:nvGrpSpPr>
        <p:grpSpPr>
          <a:xfrm>
            <a:off x="1475656" y="1309129"/>
            <a:ext cx="1656184" cy="508869"/>
            <a:chOff x="755576" y="627534"/>
            <a:chExt cx="1800200" cy="508869"/>
          </a:xfrm>
        </p:grpSpPr>
        <p:cxnSp>
          <p:nvCxnSpPr>
            <p:cNvPr id="23" name="直接连接符 22"/>
            <p:cNvCxnSpPr/>
            <p:nvPr/>
          </p:nvCxnSpPr>
          <p:spPr>
            <a:xfrm>
              <a:off x="755576" y="987574"/>
              <a:ext cx="504056" cy="0"/>
            </a:xfrm>
            <a:prstGeom prst="line">
              <a:avLst/>
            </a:prstGeom>
            <a:ln w="19050">
              <a:solidFill>
                <a:schemeClr val="bg1"/>
              </a:solidFill>
              <a:head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V="1">
              <a:off x="1259632" y="843558"/>
              <a:ext cx="72008" cy="144016"/>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331640" y="843558"/>
              <a:ext cx="124675" cy="292845"/>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V="1">
              <a:off x="1456315" y="627534"/>
              <a:ext cx="451389" cy="508869"/>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1907704" y="627534"/>
              <a:ext cx="72008" cy="360040"/>
            </a:xfrm>
            <a:prstGeom prst="line">
              <a:avLst/>
            </a:prstGeom>
            <a:ln w="19050">
              <a:solidFill>
                <a:schemeClr val="bg1"/>
              </a:solidFil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V="1">
              <a:off x="1979712" y="987574"/>
              <a:ext cx="576064" cy="2406"/>
            </a:xfrm>
            <a:prstGeom prst="line">
              <a:avLst/>
            </a:prstGeom>
            <a:ln w="19050">
              <a:solidFill>
                <a:schemeClr val="bg1"/>
              </a:solidFill>
              <a:tailEnd type="oval"/>
            </a:ln>
            <a:effectLst>
              <a:outerShdw blurRad="63500" dist="38100" dir="7200000" algn="ctr" rotWithShape="0">
                <a:schemeClr val="tx1">
                  <a:alpha val="60000"/>
                </a:schemeClr>
              </a:outerShdw>
            </a:effectLst>
          </p:spPr>
          <p:style>
            <a:lnRef idx="1">
              <a:schemeClr val="accent1"/>
            </a:lnRef>
            <a:fillRef idx="0">
              <a:schemeClr val="accent1"/>
            </a:fillRef>
            <a:effectRef idx="0">
              <a:schemeClr val="accent1"/>
            </a:effectRef>
            <a:fontRef idx="minor">
              <a:schemeClr val="tx1"/>
            </a:fontRef>
          </p:style>
        </p:cxnSp>
      </p:grpSp>
      <p:sp>
        <p:nvSpPr>
          <p:cNvPr id="35" name="TextBox 34"/>
          <p:cNvSpPr txBox="1"/>
          <p:nvPr/>
        </p:nvSpPr>
        <p:spPr>
          <a:xfrm>
            <a:off x="7668344" y="4531355"/>
            <a:ext cx="1475656" cy="230505"/>
          </a:xfrm>
          <a:prstGeom prst="rect">
            <a:avLst/>
          </a:prstGeom>
          <a:noFill/>
        </p:spPr>
        <p:txBody>
          <a:bodyPr wrap="square" lIns="0" tIns="0" rIns="0" bIns="0" rtlCol="0">
            <a:spAutoFit/>
          </a:bodyPr>
          <a:lstStyle/>
          <a:p>
            <a:r>
              <a:rPr lang="zh-CN" altLang="en-US" sz="1500" dirty="0">
                <a:solidFill>
                  <a:schemeClr val="bg1">
                    <a:lumMod val="50000"/>
                  </a:schemeClr>
                </a:solidFill>
                <a:latin typeface="微软雅黑" panose="020B0503020204020204" pitchFamily="34" charset="-122"/>
                <a:ea typeface="微软雅黑" panose="020B0503020204020204" pitchFamily="34" charset="-122"/>
              </a:rPr>
              <a:t>答辩人：朱正轩</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6" name="TextBox 35"/>
          <p:cNvSpPr txBox="1"/>
          <p:nvPr/>
        </p:nvSpPr>
        <p:spPr>
          <a:xfrm>
            <a:off x="7668344" y="4789190"/>
            <a:ext cx="1475656" cy="230505"/>
          </a:xfrm>
          <a:prstGeom prst="rect">
            <a:avLst/>
          </a:prstGeom>
          <a:noFill/>
        </p:spPr>
        <p:txBody>
          <a:bodyPr wrap="square" lIns="0" tIns="0" rIns="0" bIns="0" rtlCol="0">
            <a:spAutoFit/>
          </a:bodyPr>
          <a:lstStyle/>
          <a:p>
            <a:r>
              <a:rPr lang="zh-CN" altLang="en-US" sz="1500" dirty="0">
                <a:solidFill>
                  <a:schemeClr val="bg1">
                    <a:lumMod val="50000"/>
                  </a:schemeClr>
                </a:solidFill>
                <a:latin typeface="微软雅黑" panose="020B0503020204020204" pitchFamily="34" charset="-122"/>
                <a:ea typeface="微软雅黑" panose="020B0503020204020204" pitchFamily="34" charset="-122"/>
              </a:rPr>
              <a:t>导   师：徐静</a:t>
            </a:r>
            <a:endParaRPr lang="zh-CN" altLang="en-US" sz="15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37" name="圆角矩形 36"/>
          <p:cNvSpPr/>
          <p:nvPr/>
        </p:nvSpPr>
        <p:spPr>
          <a:xfrm>
            <a:off x="2354493" y="2765444"/>
            <a:ext cx="4593771" cy="549896"/>
          </a:xfrm>
          <a:prstGeom prst="roundRect">
            <a:avLst>
              <a:gd name="adj" fmla="val 22751"/>
            </a:avLst>
          </a:prstGeom>
          <a:gradFill>
            <a:gsLst>
              <a:gs pos="0">
                <a:schemeClr val="bg1">
                  <a:lumMod val="95000"/>
                </a:schemeClr>
              </a:gs>
              <a:gs pos="100000">
                <a:schemeClr val="bg1">
                  <a:lumMod val="95000"/>
                </a:schemeClr>
              </a:gs>
            </a:gsLst>
            <a:lin ang="5400000" scaled="0"/>
          </a:gradFill>
          <a:ln>
            <a:noFill/>
          </a:ln>
          <a:effectLst>
            <a:innerShdw blurRad="1524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sp>
        <p:nvSpPr>
          <p:cNvPr id="38" name="Text Box 64"/>
          <p:cNvSpPr txBox="1">
            <a:spLocks noChangeArrowheads="1"/>
          </p:cNvSpPr>
          <p:nvPr/>
        </p:nvSpPr>
        <p:spPr bwMode="auto">
          <a:xfrm>
            <a:off x="2915816" y="2790292"/>
            <a:ext cx="3816424" cy="900246"/>
          </a:xfrm>
          <a:prstGeom prst="rect">
            <a:avLst/>
          </a:prstGeom>
          <a:noFill/>
          <a:ln w="9525">
            <a:noFill/>
            <a:miter lim="800000"/>
          </a:ln>
        </p:spPr>
        <p:txBody>
          <a:bodyPr wrap="square" lIns="68580" tIns="34290" rIns="68580" bIns="34290">
            <a:spAutoFit/>
          </a:bodyPr>
          <a:lstStyle/>
          <a:p>
            <a:r>
              <a:rPr lang="zh-CN" altLang="en-US" sz="2700" b="1" dirty="0">
                <a:solidFill>
                  <a:srgbClr val="679E2A"/>
                </a:solidFill>
                <a:latin typeface="微软雅黑" panose="020B0503020204020204" pitchFamily="34" charset="-122"/>
                <a:ea typeface="微软雅黑" panose="020B0503020204020204" pitchFamily="34" charset="-122"/>
              </a:rPr>
              <a:t>演讲完毕  感谢聆听</a:t>
            </a:r>
            <a:endParaRPr lang="en-US" altLang="zh-CN" sz="2700" b="1" dirty="0">
              <a:solidFill>
                <a:srgbClr val="679E2A"/>
              </a:solidFill>
              <a:latin typeface="微软雅黑" panose="020B0503020204020204" pitchFamily="34" charset="-122"/>
              <a:ea typeface="微软雅黑" panose="020B0503020204020204" pitchFamily="34" charset="-122"/>
            </a:endParaRPr>
          </a:p>
          <a:p>
            <a:endParaRPr lang="en-US" altLang="zh-CN" sz="2700" b="1" dirty="0">
              <a:solidFill>
                <a:srgbClr val="679E2A"/>
              </a:solidFill>
              <a:latin typeface="微软雅黑" panose="020B0503020204020204" pitchFamily="34" charset="-122"/>
              <a:ea typeface="微软雅黑" panose="020B0503020204020204" pitchFamily="34" charset="-122"/>
            </a:endParaRPr>
          </a:p>
        </p:txBody>
      </p:sp>
      <p:pic>
        <p:nvPicPr>
          <p:cNvPr id="39" name="Picture 2"/>
          <p:cNvPicPr preferRelativeResize="0">
            <a:picLocks noChangeAspect="1" noChangeArrowheads="1"/>
          </p:cNvPicPr>
          <p:nvPr/>
        </p:nvPicPr>
        <p:blipFill>
          <a:blip r:embed="rId1" cstate="print">
            <a:duotone>
              <a:prstClr val="black"/>
              <a:srgbClr val="679E2A">
                <a:tint val="45000"/>
                <a:satMod val="400000"/>
              </a:srgbClr>
            </a:duotone>
            <a:extLst>
              <a:ext uri="{BEBA8EAE-BF5A-486C-A8C5-ECC9F3942E4B}">
                <a14:imgProps xmlns:a14="http://schemas.microsoft.com/office/drawing/2010/main">
                  <a14:imgLayer r:embed="rId2">
                    <a14:imgEffect>
                      <a14:brightnessContrast bright="25000"/>
                    </a14:imgEffect>
                  </a14:imgLayer>
                </a14:imgProps>
              </a:ext>
              <a:ext uri="{28A0092B-C50C-407E-A947-70E740481C1C}">
                <a14:useLocalDpi xmlns:a14="http://schemas.microsoft.com/office/drawing/2010/main" val="0"/>
              </a:ext>
            </a:extLst>
          </a:blip>
          <a:srcRect/>
          <a:stretch>
            <a:fillRect/>
          </a:stretch>
        </p:blipFill>
        <p:spPr bwMode="auto">
          <a:xfrm>
            <a:off x="3951733" y="966117"/>
            <a:ext cx="1240534" cy="1240534"/>
          </a:xfrm>
          <a:prstGeom prst="rect">
            <a:avLst/>
          </a:prstGeom>
          <a:noFill/>
          <a:extLst>
            <a:ext uri="{909E8E84-426E-40DD-AFC4-6F175D3DCCD1}">
              <a14:hiddenFill xmlns:a14="http://schemas.microsoft.com/office/drawing/2010/main">
                <a:solidFill>
                  <a:srgbClr val="FFFFFF"/>
                </a:solidFill>
              </a14:hiddenFill>
            </a:ext>
          </a:extLst>
        </p:spPr>
      </p:pic>
    </p:spTree>
    <p:custDataLst>
      <p:tags r:id="rId3"/>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2"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strVal val="4*#ppt_w"/>
                                          </p:val>
                                        </p:tav>
                                        <p:tav tm="100000">
                                          <p:val>
                                            <p:strVal val="#ppt_w"/>
                                          </p:val>
                                        </p:tav>
                                      </p:tavLst>
                                    </p:anim>
                                    <p:anim calcmode="lin" valueType="num">
                                      <p:cBhvr>
                                        <p:cTn id="8" dur="500" fill="hold"/>
                                        <p:tgtEl>
                                          <p:spTgt spid="12"/>
                                        </p:tgtEl>
                                        <p:attrNameLst>
                                          <p:attrName>ppt_h</p:attrName>
                                        </p:attrNameLst>
                                      </p:cBhvr>
                                      <p:tavLst>
                                        <p:tav tm="0">
                                          <p:val>
                                            <p:strVal val="4*#ppt_h"/>
                                          </p:val>
                                        </p:tav>
                                        <p:tav tm="100000">
                                          <p:val>
                                            <p:strVal val="#ppt_h"/>
                                          </p:val>
                                        </p:tav>
                                      </p:tavLst>
                                    </p:anim>
                                  </p:childTnLst>
                                </p:cTn>
                              </p:par>
                            </p:childTnLst>
                          </p:cTn>
                        </p:par>
                        <p:par>
                          <p:cTn id="9" fill="hold">
                            <p:stCondLst>
                              <p:cond delay="500"/>
                            </p:stCondLst>
                            <p:childTnLst>
                              <p:par>
                                <p:cTn id="10" presetID="1" presetClass="entr" presetSubtype="0" fill="hold" nodeType="after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childTnLst>
                                </p:cTn>
                              </p:par>
                            </p:childTnLst>
                          </p:cTn>
                        </p:par>
                        <p:par>
                          <p:cTn id="14" fill="hold">
                            <p:stCondLst>
                              <p:cond delay="500"/>
                            </p:stCondLst>
                            <p:childTnLst>
                              <p:par>
                                <p:cTn id="15" presetID="22" presetClass="entr" presetSubtype="8"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par>
                                <p:cTn id="18" presetID="22" presetClass="entr" presetSubtype="2" fill="hold"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right)">
                                      <p:cBhvr>
                                        <p:cTn id="20" dur="500"/>
                                        <p:tgtEl>
                                          <p:spTgt spid="22"/>
                                        </p:tgtEl>
                                      </p:cBhvr>
                                    </p:animEffect>
                                  </p:childTnLst>
                                </p:cTn>
                              </p:par>
                            </p:childTnLst>
                          </p:cTn>
                        </p:par>
                        <p:par>
                          <p:cTn id="21" fill="hold">
                            <p:stCondLst>
                              <p:cond delay="1000"/>
                            </p:stCondLst>
                            <p:childTnLst>
                              <p:par>
                                <p:cTn id="22" presetID="26" presetClass="emph" presetSubtype="0" fill="hold" nodeType="afterEffect">
                                  <p:stCondLst>
                                    <p:cond delay="0"/>
                                  </p:stCondLst>
                                  <p:childTnLst>
                                    <p:animEffect transition="out" filter="fade">
                                      <p:cBhvr>
                                        <p:cTn id="23" dur="500" tmFilter="0, 0; .2, .5; .8, .5; 1, 0"/>
                                        <p:tgtEl>
                                          <p:spTgt spid="15"/>
                                        </p:tgtEl>
                                      </p:cBhvr>
                                    </p:animEffect>
                                    <p:animScale>
                                      <p:cBhvr>
                                        <p:cTn id="24" dur="250" autoRev="1" fill="hold"/>
                                        <p:tgtEl>
                                          <p:spTgt spid="15"/>
                                        </p:tgtEl>
                                      </p:cBhvr>
                                      <p:by x="105000" y="105000"/>
                                    </p:animScale>
                                  </p:childTnLst>
                                </p:cTn>
                              </p:par>
                              <p:par>
                                <p:cTn id="25" presetID="26" presetClass="emph" presetSubtype="0" fill="hold" nodeType="withEffect">
                                  <p:stCondLst>
                                    <p:cond delay="0"/>
                                  </p:stCondLst>
                                  <p:childTnLst>
                                    <p:animEffect transition="out" filter="fade">
                                      <p:cBhvr>
                                        <p:cTn id="26" dur="500" tmFilter="0, 0; .2, .5; .8, .5; 1, 0"/>
                                        <p:tgtEl>
                                          <p:spTgt spid="22"/>
                                        </p:tgtEl>
                                      </p:cBhvr>
                                    </p:animEffect>
                                    <p:animScale>
                                      <p:cBhvr>
                                        <p:cTn id="27" dur="250" autoRev="1" fill="hold"/>
                                        <p:tgtEl>
                                          <p:spTgt spid="22"/>
                                        </p:tgtEl>
                                      </p:cBhvr>
                                      <p:by x="105000" y="105000"/>
                                    </p:animScale>
                                  </p:childTnLst>
                                </p:cTn>
                              </p:par>
                            </p:childTnLst>
                          </p:cTn>
                        </p:par>
                        <p:par>
                          <p:cTn id="28" fill="hold">
                            <p:stCondLst>
                              <p:cond delay="1500"/>
                            </p:stCondLst>
                            <p:childTnLst>
                              <p:par>
                                <p:cTn id="29" presetID="16" presetClass="entr" presetSubtype="21" fill="hold" grpId="0" nodeType="afterEffect">
                                  <p:stCondLst>
                                    <p:cond delay="0"/>
                                  </p:stCondLst>
                                  <p:childTnLst>
                                    <p:set>
                                      <p:cBhvr>
                                        <p:cTn id="30" dur="1" fill="hold">
                                          <p:stCondLst>
                                            <p:cond delay="0"/>
                                          </p:stCondLst>
                                        </p:cTn>
                                        <p:tgtEl>
                                          <p:spTgt spid="37"/>
                                        </p:tgtEl>
                                        <p:attrNameLst>
                                          <p:attrName>style.visibility</p:attrName>
                                        </p:attrNameLst>
                                      </p:cBhvr>
                                      <p:to>
                                        <p:strVal val="visible"/>
                                      </p:to>
                                    </p:set>
                                    <p:animEffect transition="in" filter="barn(inVertical)">
                                      <p:cBhvr>
                                        <p:cTn id="31" dur="500"/>
                                        <p:tgtEl>
                                          <p:spTgt spid="37"/>
                                        </p:tgtEl>
                                      </p:cBhvr>
                                    </p:animEffect>
                                  </p:childTnLst>
                                </p:cTn>
                              </p:par>
                              <p:par>
                                <p:cTn id="32" presetID="22" presetClass="entr" presetSubtype="8" fill="hold" grpId="0" nodeType="withEffect">
                                  <p:stCondLst>
                                    <p:cond delay="500"/>
                                  </p:stCondLst>
                                  <p:childTnLst>
                                    <p:set>
                                      <p:cBhvr>
                                        <p:cTn id="33" dur="1" fill="hold">
                                          <p:stCondLst>
                                            <p:cond delay="0"/>
                                          </p:stCondLst>
                                        </p:cTn>
                                        <p:tgtEl>
                                          <p:spTgt spid="38"/>
                                        </p:tgtEl>
                                        <p:attrNameLst>
                                          <p:attrName>style.visibility</p:attrName>
                                        </p:attrNameLst>
                                      </p:cBhvr>
                                      <p:to>
                                        <p:strVal val="visible"/>
                                      </p:to>
                                    </p:set>
                                    <p:animEffect transition="in" filter="wipe(left)">
                                      <p:cBhvr>
                                        <p:cTn id="34" dur="2000"/>
                                        <p:tgtEl>
                                          <p:spTgt spid="38"/>
                                        </p:tgtEl>
                                      </p:cBhvr>
                                    </p:animEffect>
                                  </p:childTnLst>
                                </p:cTn>
                              </p:par>
                            </p:childTnLst>
                          </p:cTn>
                        </p:par>
                        <p:par>
                          <p:cTn id="35" fill="hold">
                            <p:stCondLst>
                              <p:cond delay="200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par>
                          <p:cTn id="39" fill="hold">
                            <p:stCondLst>
                              <p:cond delay="2500"/>
                            </p:stCondLst>
                            <p:childTnLst>
                              <p:par>
                                <p:cTn id="40" presetID="37" presetClass="entr" presetSubtype="0" fill="hold" grpId="0"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fade">
                                      <p:cBhvr>
                                        <p:cTn id="42" dur="1000"/>
                                        <p:tgtEl>
                                          <p:spTgt spid="35"/>
                                        </p:tgtEl>
                                      </p:cBhvr>
                                    </p:animEffect>
                                    <p:anim calcmode="lin" valueType="num">
                                      <p:cBhvr>
                                        <p:cTn id="43" dur="1000" fill="hold"/>
                                        <p:tgtEl>
                                          <p:spTgt spid="35"/>
                                        </p:tgtEl>
                                        <p:attrNameLst>
                                          <p:attrName>ppt_x</p:attrName>
                                        </p:attrNameLst>
                                      </p:cBhvr>
                                      <p:tavLst>
                                        <p:tav tm="0">
                                          <p:val>
                                            <p:strVal val="#ppt_x"/>
                                          </p:val>
                                        </p:tav>
                                        <p:tav tm="100000">
                                          <p:val>
                                            <p:strVal val="#ppt_x"/>
                                          </p:val>
                                        </p:tav>
                                      </p:tavLst>
                                    </p:anim>
                                    <p:anim calcmode="lin" valueType="num">
                                      <p:cBhvr>
                                        <p:cTn id="44" dur="900" decel="100000" fill="hold"/>
                                        <p:tgtEl>
                                          <p:spTgt spid="35"/>
                                        </p:tgtEl>
                                        <p:attrNameLst>
                                          <p:attrName>ppt_y</p:attrName>
                                        </p:attrNameLst>
                                      </p:cBhvr>
                                      <p:tavLst>
                                        <p:tav tm="0">
                                          <p:val>
                                            <p:strVal val="#ppt_y+1"/>
                                          </p:val>
                                        </p:tav>
                                        <p:tav tm="100000">
                                          <p:val>
                                            <p:strVal val="#ppt_y-.03"/>
                                          </p:val>
                                        </p:tav>
                                      </p:tavLst>
                                    </p:anim>
                                    <p:anim calcmode="lin" valueType="num">
                                      <p:cBhvr>
                                        <p:cTn id="45" dur="100" accel="100000" fill="hold">
                                          <p:stCondLst>
                                            <p:cond delay="900"/>
                                          </p:stCondLst>
                                        </p:cTn>
                                        <p:tgtEl>
                                          <p:spTgt spid="35"/>
                                        </p:tgtEl>
                                        <p:attrNameLst>
                                          <p:attrName>ppt_y</p:attrName>
                                        </p:attrNameLst>
                                      </p:cBhvr>
                                      <p:tavLst>
                                        <p:tav tm="0">
                                          <p:val>
                                            <p:strVal val="#ppt_y-.03"/>
                                          </p:val>
                                        </p:tav>
                                        <p:tav tm="100000">
                                          <p:val>
                                            <p:strVal val="#ppt_y"/>
                                          </p:val>
                                        </p:tav>
                                      </p:tavLst>
                                    </p:anim>
                                  </p:childTnLst>
                                </p:cTn>
                              </p:par>
                            </p:childTnLst>
                          </p:cTn>
                        </p:par>
                        <p:par>
                          <p:cTn id="46" fill="hold">
                            <p:stCondLst>
                              <p:cond delay="3500"/>
                            </p:stCondLst>
                            <p:childTnLst>
                              <p:par>
                                <p:cTn id="47" presetID="37" presetClass="entr" presetSubtype="0" fill="hold" grpId="0" nodeType="afterEffect">
                                  <p:stCondLst>
                                    <p:cond delay="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1000"/>
                                        <p:tgtEl>
                                          <p:spTgt spid="36"/>
                                        </p:tgtEl>
                                      </p:cBhvr>
                                    </p:animEffect>
                                    <p:anim calcmode="lin" valueType="num">
                                      <p:cBhvr>
                                        <p:cTn id="50" dur="1000" fill="hold"/>
                                        <p:tgtEl>
                                          <p:spTgt spid="36"/>
                                        </p:tgtEl>
                                        <p:attrNameLst>
                                          <p:attrName>ppt_x</p:attrName>
                                        </p:attrNameLst>
                                      </p:cBhvr>
                                      <p:tavLst>
                                        <p:tav tm="0">
                                          <p:val>
                                            <p:strVal val="#ppt_x"/>
                                          </p:val>
                                        </p:tav>
                                        <p:tav tm="100000">
                                          <p:val>
                                            <p:strVal val="#ppt_x"/>
                                          </p:val>
                                        </p:tav>
                                      </p:tavLst>
                                    </p:anim>
                                    <p:anim calcmode="lin" valueType="num">
                                      <p:cBhvr>
                                        <p:cTn id="51" dur="900" decel="100000" fill="hold"/>
                                        <p:tgtEl>
                                          <p:spTgt spid="36"/>
                                        </p:tgtEl>
                                        <p:attrNameLst>
                                          <p:attrName>ppt_y</p:attrName>
                                        </p:attrNameLst>
                                      </p:cBhvr>
                                      <p:tavLst>
                                        <p:tav tm="0">
                                          <p:val>
                                            <p:strVal val="#ppt_y+1"/>
                                          </p:val>
                                        </p:tav>
                                        <p:tav tm="100000">
                                          <p:val>
                                            <p:strVal val="#ppt_y-.03"/>
                                          </p:val>
                                        </p:tav>
                                      </p:tavLst>
                                    </p:anim>
                                    <p:anim calcmode="lin" valueType="num">
                                      <p:cBhvr>
                                        <p:cTn id="52" dur="100" accel="100000" fill="hold">
                                          <p:stCondLst>
                                            <p:cond delay="900"/>
                                          </p:stCondLst>
                                        </p:cTn>
                                        <p:tgtEl>
                                          <p:spTgt spid="36"/>
                                        </p:tgtEl>
                                        <p:attrNameLst>
                                          <p:attrName>ppt_y</p:attrName>
                                        </p:attrNameLst>
                                      </p:cBhvr>
                                      <p:tavLst>
                                        <p:tav tm="0">
                                          <p:val>
                                            <p:strVal val="#ppt_y-.03"/>
                                          </p:val>
                                        </p:tav>
                                        <p:tav tm="100000">
                                          <p:val>
                                            <p:strVal val="#ppt_y"/>
                                          </p:val>
                                        </p:tav>
                                      </p:tavLst>
                                    </p:anim>
                                  </p:childTnLst>
                                </p:cTn>
                              </p:par>
                            </p:childTnLst>
                          </p:cTn>
                        </p:par>
                        <p:par>
                          <p:cTn id="53" fill="hold">
                            <p:stCondLst>
                              <p:cond delay="4500"/>
                            </p:stCondLst>
                            <p:childTnLst>
                              <p:par>
                                <p:cTn id="54" presetID="10" presetClass="entr" presetSubtype="0" fill="hold" nodeType="afterEffect">
                                  <p:stCondLst>
                                    <p:cond delay="0"/>
                                  </p:stCondLst>
                                  <p:childTnLst>
                                    <p:set>
                                      <p:cBhvr>
                                        <p:cTn id="55" dur="1" fill="hold">
                                          <p:stCondLst>
                                            <p:cond delay="0"/>
                                          </p:stCondLst>
                                        </p:cTn>
                                        <p:tgtEl>
                                          <p:spTgt spid="39"/>
                                        </p:tgtEl>
                                        <p:attrNameLst>
                                          <p:attrName>style.visibility</p:attrName>
                                        </p:attrNameLst>
                                      </p:cBhvr>
                                      <p:to>
                                        <p:strVal val="visible"/>
                                      </p:to>
                                    </p:set>
                                    <p:animEffect transition="in" filter="fade">
                                      <p:cBhvr>
                                        <p:cTn id="5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5" grpId="0"/>
      <p:bldP spid="36" grpId="0"/>
      <p:bldP spid="37" grpId="0" animBg="1"/>
      <p:bldP spid="3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64476" cy="40011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参考文献</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1156599"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Reference</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74" name="组合 73"/>
          <p:cNvGrpSpPr/>
          <p:nvPr/>
        </p:nvGrpSpPr>
        <p:grpSpPr>
          <a:xfrm>
            <a:off x="723874" y="1565803"/>
            <a:ext cx="2011893" cy="2011893"/>
            <a:chOff x="304800" y="673100"/>
            <a:chExt cx="4000500" cy="4000500"/>
          </a:xfrm>
          <a:effectLst>
            <a:outerShdw blurRad="444500" dist="254000" dir="8100000" algn="tr" rotWithShape="0">
              <a:prstClr val="black">
                <a:alpha val="50000"/>
              </a:prstClr>
            </a:outerShdw>
          </a:effectLst>
        </p:grpSpPr>
        <p:sp>
          <p:nvSpPr>
            <p:cNvPr id="76" name="同心圆 7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7" name="椭圆 7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椭圆 77"/>
          <p:cNvSpPr/>
          <p:nvPr/>
        </p:nvSpPr>
        <p:spPr>
          <a:xfrm>
            <a:off x="907235" y="344781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1284995" y="3571714"/>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1458698" y="3377093"/>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2091459" y="3498702"/>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632458" y="325900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25207" y="3302300"/>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2462177" y="343372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2828060" y="3072585"/>
            <a:ext cx="167224" cy="167224"/>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2623161" y="3190313"/>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04"/>
          <p:cNvSpPr txBox="1"/>
          <p:nvPr/>
        </p:nvSpPr>
        <p:spPr>
          <a:xfrm>
            <a:off x="1061368" y="2417860"/>
            <a:ext cx="1400809" cy="307777"/>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000" b="1" dirty="0">
                <a:solidFill>
                  <a:schemeClr val="tx1">
                    <a:lumMod val="75000"/>
                    <a:lumOff val="25000"/>
                  </a:schemeClr>
                </a:solidFill>
              </a:rPr>
              <a:t>参考文献</a:t>
            </a:r>
            <a:endParaRPr lang="en-US" altLang="zh-CN" sz="2000" b="1" dirty="0">
              <a:solidFill>
                <a:schemeClr val="tx1">
                  <a:lumMod val="75000"/>
                  <a:lumOff val="25000"/>
                </a:schemeClr>
              </a:solidFill>
            </a:endParaRPr>
          </a:p>
        </p:txBody>
      </p:sp>
      <p:pic>
        <p:nvPicPr>
          <p:cNvPr id="39" name="图片 3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文本框 1"/>
          <p:cNvSpPr txBox="1"/>
          <p:nvPr/>
        </p:nvSpPr>
        <p:spPr>
          <a:xfrm>
            <a:off x="3203575" y="810260"/>
            <a:ext cx="6019800" cy="4338320"/>
          </a:xfrm>
          <a:prstGeom prst="rect">
            <a:avLst/>
          </a:prstGeom>
          <a:noFill/>
        </p:spPr>
        <p:txBody>
          <a:bodyPr wrap="square" rtlCol="0">
            <a:spAutoFit/>
          </a:bodyPr>
          <a:p>
            <a:r>
              <a:rPr lang="en-US" altLang="zh-CN" sz="1200"/>
              <a:t>[1] Hardt D. Request for comments: number 6749 The OAuth 2.0 Authorization Framework [M/OL].RFC Editor, 2012. https://www.rfc-editor.org/info/rfc6749. DOI: 10.17487/RFC6749.</a:t>
            </a:r>
            <a:endParaRPr lang="en-US" altLang="zh-CN" sz="1200"/>
          </a:p>
          <a:p>
            <a:r>
              <a:rPr lang="en-US" altLang="zh-CN" sz="1200"/>
              <a:t>[2] Sakimura N, Bradley J, Jones M, et al. OpenID Connect Core 1.0 incorporating Errata Set 2 [EB/OL].2014. https://openid.net/specs/openid-connect-core-1_0.html.</a:t>
            </a:r>
            <a:endParaRPr lang="en-US" altLang="zh-CN" sz="1200"/>
          </a:p>
          <a:p>
            <a:r>
              <a:rPr lang="en-US" altLang="zh-CN" sz="1200"/>
              <a:t>[3] Hsu C, Lin J C C. Acceptance of blog usage: The roles of technology acceptance, social influence andknowledge sharing motivation [J]. Information &amp; Management, 2008, 45(1): 65-74.</a:t>
            </a:r>
            <a:endParaRPr lang="en-US" altLang="zh-CN" sz="1200"/>
          </a:p>
          <a:p>
            <a:r>
              <a:rPr lang="en-US" altLang="zh-CN" sz="1200"/>
              <a:t>[4] Bansal C, Bhargavan K, Maffeis S. Discovering concrete attacks on website authorization by formalanalysis [C/OL]//Proceedings of the 25th IEEE Computer Security Foundations Symposium (CSF).IEEE, 2012: 247-262. https://doi.org/10.1109/CSF.2012.27.</a:t>
            </a:r>
            <a:endParaRPr lang="en-US" altLang="zh-CN" sz="1200"/>
          </a:p>
          <a:p>
            <a:r>
              <a:rPr lang="en-US" altLang="zh-CN" sz="1200"/>
              <a:t>[5] Fett D, K</a:t>
            </a:r>
            <a:r>
              <a:rPr lang="en-US" altLang="en-US" sz="1200"/>
              <a:t>ü</a:t>
            </a:r>
            <a:r>
              <a:rPr lang="en-US" altLang="zh-CN" sz="1200"/>
              <a:t>sters R, Schmitz G. A comprehensive formal security analysis of oauth 2.0 [C/OL]//Proceedings of the 2016 ACM SIGSAC Conference on Computer and Communications Security (CCS).ACM, 2016: 1204-1215. https://doi.org/10.1145/2976749.2978385</a:t>
            </a:r>
            <a:endParaRPr lang="en-US" altLang="zh-CN" sz="1200"/>
          </a:p>
          <a:p>
            <a:r>
              <a:rPr lang="en-US" altLang="zh-CN" sz="1200"/>
              <a:t>6] Andrade R, Yoo S, Tello-Oquendo L, et al. A comprehensive study of the iot cybersecurity in smart cities [J/OL]. IEEE Access, 2020, 8: 228922-228941. </a:t>
            </a:r>
            <a:endParaRPr lang="en-US" altLang="zh-CN" sz="1200"/>
          </a:p>
          <a:p>
            <a:r>
              <a:rPr lang="en-US" altLang="zh-CN" sz="1200"/>
              <a:t>[7] Sucasas V, Mantas G, Althunibat S, et al. A privacy-enhanced oauth 2.0 based protocol for smart city mobile applications [J/OL]. Computers &amp; Security, 2018, 74: 258-274. https://doi.org/10.1016/j.cose. 2018.01.014.</a:t>
            </a:r>
            <a:endParaRPr lang="en-US" altLang="zh-CN" sz="1200"/>
          </a:p>
          <a:p>
            <a:r>
              <a:rPr lang="en-US" altLang="zh-CN" sz="1200"/>
              <a:t>[8] Fett D, K</a:t>
            </a:r>
            <a:r>
              <a:rPr lang="en-US" altLang="en-US" sz="1200"/>
              <a:t>ü</a:t>
            </a:r>
            <a:r>
              <a:rPr lang="en-US" altLang="zh-CN" sz="1200"/>
              <a:t>sters R, Schmitz G. The web sso standard openid connect: In-depth formal security analysis and security guidelines [C/OL]//Proceedings of the 30th IEEE Computer Security Foundations Symposium (CSF). IEEE, 2017: 189-202. https://doi.org/10.1109/CSF.2017.20.</a:t>
            </a:r>
            <a:endParaRPr lang="en-US" altLang="zh-CN" sz="1200"/>
          </a:p>
          <a:p>
            <a:endParaRPr lang="en-US" altLang="zh-CN" sz="1200"/>
          </a:p>
        </p:txBody>
      </p:sp>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42" presetClass="entr" presetSubtype="0" fill="hold" nodeType="after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fade">
                                      <p:cBhvr>
                                        <p:cTn id="28" dur="1500"/>
                                        <p:tgtEl>
                                          <p:spTgt spid="74"/>
                                        </p:tgtEl>
                                      </p:cBhvr>
                                    </p:animEffect>
                                    <p:anim calcmode="lin" valueType="num">
                                      <p:cBhvr>
                                        <p:cTn id="29" dur="1500" fill="hold"/>
                                        <p:tgtEl>
                                          <p:spTgt spid="74"/>
                                        </p:tgtEl>
                                        <p:attrNameLst>
                                          <p:attrName>ppt_x</p:attrName>
                                        </p:attrNameLst>
                                      </p:cBhvr>
                                      <p:tavLst>
                                        <p:tav tm="0">
                                          <p:val>
                                            <p:strVal val="#ppt_x"/>
                                          </p:val>
                                        </p:tav>
                                        <p:tav tm="100000">
                                          <p:val>
                                            <p:strVal val="#ppt_x"/>
                                          </p:val>
                                        </p:tav>
                                      </p:tavLst>
                                    </p:anim>
                                    <p:anim calcmode="lin" valueType="num">
                                      <p:cBhvr>
                                        <p:cTn id="30" dur="1500" fill="hold"/>
                                        <p:tgtEl>
                                          <p:spTgt spid="74"/>
                                        </p:tgtEl>
                                        <p:attrNameLst>
                                          <p:attrName>ppt_y</p:attrName>
                                        </p:attrNameLst>
                                      </p:cBhvr>
                                      <p:tavLst>
                                        <p:tav tm="0">
                                          <p:val>
                                            <p:strVal val="#ppt_y+.1"/>
                                          </p:val>
                                        </p:tav>
                                        <p:tav tm="100000">
                                          <p:val>
                                            <p:strVal val="#ppt_y"/>
                                          </p:val>
                                        </p:tav>
                                      </p:tavLst>
                                    </p:anim>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500" fill="hold"/>
                                        <p:tgtEl>
                                          <p:spTgt spid="78"/>
                                        </p:tgtEl>
                                        <p:attrNameLst>
                                          <p:attrName>ppt_w</p:attrName>
                                        </p:attrNameLst>
                                      </p:cBhvr>
                                      <p:tavLst>
                                        <p:tav tm="0">
                                          <p:val>
                                            <p:fltVal val="0"/>
                                          </p:val>
                                        </p:tav>
                                        <p:tav tm="100000">
                                          <p:val>
                                            <p:strVal val="#ppt_w"/>
                                          </p:val>
                                        </p:tav>
                                      </p:tavLst>
                                    </p:anim>
                                    <p:anim calcmode="lin" valueType="num">
                                      <p:cBhvr>
                                        <p:cTn id="34" dur="500" fill="hold"/>
                                        <p:tgtEl>
                                          <p:spTgt spid="78"/>
                                        </p:tgtEl>
                                        <p:attrNameLst>
                                          <p:attrName>ppt_h</p:attrName>
                                        </p:attrNameLst>
                                      </p:cBhvr>
                                      <p:tavLst>
                                        <p:tav tm="0">
                                          <p:val>
                                            <p:fltVal val="0"/>
                                          </p:val>
                                        </p:tav>
                                        <p:tav tm="100000">
                                          <p:val>
                                            <p:strVal val="#ppt_h"/>
                                          </p:val>
                                        </p:tav>
                                      </p:tavLst>
                                    </p:anim>
                                    <p:animEffect transition="in" filter="fade">
                                      <p:cBhvr>
                                        <p:cTn id="35" dur="500"/>
                                        <p:tgtEl>
                                          <p:spTgt spid="78"/>
                                        </p:tgtEl>
                                      </p:cBhvr>
                                    </p:animEffect>
                                  </p:childTnLst>
                                </p:cTn>
                              </p:par>
                              <p:par>
                                <p:cTn id="36" presetID="53" presetClass="entr" presetSubtype="16" fill="hold" grpId="0" nodeType="withEffect">
                                  <p:stCondLst>
                                    <p:cond delay="200"/>
                                  </p:stCondLst>
                                  <p:childTnLst>
                                    <p:set>
                                      <p:cBhvr>
                                        <p:cTn id="37" dur="1" fill="hold">
                                          <p:stCondLst>
                                            <p:cond delay="0"/>
                                          </p:stCondLst>
                                        </p:cTn>
                                        <p:tgtEl>
                                          <p:spTgt spid="79"/>
                                        </p:tgtEl>
                                        <p:attrNameLst>
                                          <p:attrName>style.visibility</p:attrName>
                                        </p:attrNameLst>
                                      </p:cBhvr>
                                      <p:to>
                                        <p:strVal val="visible"/>
                                      </p:to>
                                    </p:set>
                                    <p:anim calcmode="lin" valueType="num">
                                      <p:cBhvr>
                                        <p:cTn id="38" dur="500" fill="hold"/>
                                        <p:tgtEl>
                                          <p:spTgt spid="79"/>
                                        </p:tgtEl>
                                        <p:attrNameLst>
                                          <p:attrName>ppt_w</p:attrName>
                                        </p:attrNameLst>
                                      </p:cBhvr>
                                      <p:tavLst>
                                        <p:tav tm="0">
                                          <p:val>
                                            <p:fltVal val="0"/>
                                          </p:val>
                                        </p:tav>
                                        <p:tav tm="100000">
                                          <p:val>
                                            <p:strVal val="#ppt_w"/>
                                          </p:val>
                                        </p:tav>
                                      </p:tavLst>
                                    </p:anim>
                                    <p:anim calcmode="lin" valueType="num">
                                      <p:cBhvr>
                                        <p:cTn id="39" dur="500" fill="hold"/>
                                        <p:tgtEl>
                                          <p:spTgt spid="79"/>
                                        </p:tgtEl>
                                        <p:attrNameLst>
                                          <p:attrName>ppt_h</p:attrName>
                                        </p:attrNameLst>
                                      </p:cBhvr>
                                      <p:tavLst>
                                        <p:tav tm="0">
                                          <p:val>
                                            <p:fltVal val="0"/>
                                          </p:val>
                                        </p:tav>
                                        <p:tav tm="100000">
                                          <p:val>
                                            <p:strVal val="#ppt_h"/>
                                          </p:val>
                                        </p:tav>
                                      </p:tavLst>
                                    </p:anim>
                                    <p:animEffect transition="in" filter="fade">
                                      <p:cBhvr>
                                        <p:cTn id="40" dur="500"/>
                                        <p:tgtEl>
                                          <p:spTgt spid="79"/>
                                        </p:tgtEl>
                                      </p:cBhvr>
                                    </p:animEffect>
                                  </p:childTnLst>
                                </p:cTn>
                              </p:par>
                              <p:par>
                                <p:cTn id="41" presetID="53" presetClass="entr" presetSubtype="16" fill="hold" grpId="0" nodeType="withEffect">
                                  <p:stCondLst>
                                    <p:cond delay="400"/>
                                  </p:stCondLst>
                                  <p:childTnLst>
                                    <p:set>
                                      <p:cBhvr>
                                        <p:cTn id="42" dur="1" fill="hold">
                                          <p:stCondLst>
                                            <p:cond delay="0"/>
                                          </p:stCondLst>
                                        </p:cTn>
                                        <p:tgtEl>
                                          <p:spTgt spid="80"/>
                                        </p:tgtEl>
                                        <p:attrNameLst>
                                          <p:attrName>style.visibility</p:attrName>
                                        </p:attrNameLst>
                                      </p:cBhvr>
                                      <p:to>
                                        <p:strVal val="visible"/>
                                      </p:to>
                                    </p:set>
                                    <p:anim calcmode="lin" valueType="num">
                                      <p:cBhvr>
                                        <p:cTn id="43" dur="500" fill="hold"/>
                                        <p:tgtEl>
                                          <p:spTgt spid="80"/>
                                        </p:tgtEl>
                                        <p:attrNameLst>
                                          <p:attrName>ppt_w</p:attrName>
                                        </p:attrNameLst>
                                      </p:cBhvr>
                                      <p:tavLst>
                                        <p:tav tm="0">
                                          <p:val>
                                            <p:fltVal val="0"/>
                                          </p:val>
                                        </p:tav>
                                        <p:tav tm="100000">
                                          <p:val>
                                            <p:strVal val="#ppt_w"/>
                                          </p:val>
                                        </p:tav>
                                      </p:tavLst>
                                    </p:anim>
                                    <p:anim calcmode="lin" valueType="num">
                                      <p:cBhvr>
                                        <p:cTn id="44" dur="500" fill="hold"/>
                                        <p:tgtEl>
                                          <p:spTgt spid="80"/>
                                        </p:tgtEl>
                                        <p:attrNameLst>
                                          <p:attrName>ppt_h</p:attrName>
                                        </p:attrNameLst>
                                      </p:cBhvr>
                                      <p:tavLst>
                                        <p:tav tm="0">
                                          <p:val>
                                            <p:fltVal val="0"/>
                                          </p:val>
                                        </p:tav>
                                        <p:tav tm="100000">
                                          <p:val>
                                            <p:strVal val="#ppt_h"/>
                                          </p:val>
                                        </p:tav>
                                      </p:tavLst>
                                    </p:anim>
                                    <p:animEffect transition="in" filter="fade">
                                      <p:cBhvr>
                                        <p:cTn id="45" dur="500"/>
                                        <p:tgtEl>
                                          <p:spTgt spid="80"/>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81"/>
                                        </p:tgtEl>
                                        <p:attrNameLst>
                                          <p:attrName>style.visibility</p:attrName>
                                        </p:attrNameLst>
                                      </p:cBhvr>
                                      <p:to>
                                        <p:strVal val="visible"/>
                                      </p:to>
                                    </p:set>
                                    <p:anim calcmode="lin" valueType="num">
                                      <p:cBhvr>
                                        <p:cTn id="48" dur="500" fill="hold"/>
                                        <p:tgtEl>
                                          <p:spTgt spid="81"/>
                                        </p:tgtEl>
                                        <p:attrNameLst>
                                          <p:attrName>ppt_w</p:attrName>
                                        </p:attrNameLst>
                                      </p:cBhvr>
                                      <p:tavLst>
                                        <p:tav tm="0">
                                          <p:val>
                                            <p:fltVal val="0"/>
                                          </p:val>
                                        </p:tav>
                                        <p:tav tm="100000">
                                          <p:val>
                                            <p:strVal val="#ppt_w"/>
                                          </p:val>
                                        </p:tav>
                                      </p:tavLst>
                                    </p:anim>
                                    <p:anim calcmode="lin" valueType="num">
                                      <p:cBhvr>
                                        <p:cTn id="49" dur="500" fill="hold"/>
                                        <p:tgtEl>
                                          <p:spTgt spid="81"/>
                                        </p:tgtEl>
                                        <p:attrNameLst>
                                          <p:attrName>ppt_h</p:attrName>
                                        </p:attrNameLst>
                                      </p:cBhvr>
                                      <p:tavLst>
                                        <p:tav tm="0">
                                          <p:val>
                                            <p:fltVal val="0"/>
                                          </p:val>
                                        </p:tav>
                                        <p:tav tm="100000">
                                          <p:val>
                                            <p:strVal val="#ppt_h"/>
                                          </p:val>
                                        </p:tav>
                                      </p:tavLst>
                                    </p:anim>
                                    <p:animEffect transition="in" filter="fade">
                                      <p:cBhvr>
                                        <p:cTn id="50" dur="500"/>
                                        <p:tgtEl>
                                          <p:spTgt spid="81"/>
                                        </p:tgtEl>
                                      </p:cBhvr>
                                    </p:animEffect>
                                  </p:childTnLst>
                                </p:cTn>
                              </p:par>
                              <p:par>
                                <p:cTn id="51" presetID="53" presetClass="entr" presetSubtype="16" fill="hold" grpId="0" nodeType="withEffect">
                                  <p:stCondLst>
                                    <p:cond delay="400"/>
                                  </p:stCondLst>
                                  <p:childTnLst>
                                    <p:set>
                                      <p:cBhvr>
                                        <p:cTn id="52" dur="1" fill="hold">
                                          <p:stCondLst>
                                            <p:cond delay="0"/>
                                          </p:stCondLst>
                                        </p:cTn>
                                        <p:tgtEl>
                                          <p:spTgt spid="82"/>
                                        </p:tgtEl>
                                        <p:attrNameLst>
                                          <p:attrName>style.visibility</p:attrName>
                                        </p:attrNameLst>
                                      </p:cBhvr>
                                      <p:to>
                                        <p:strVal val="visible"/>
                                      </p:to>
                                    </p:set>
                                    <p:anim calcmode="lin" valueType="num">
                                      <p:cBhvr>
                                        <p:cTn id="53" dur="500" fill="hold"/>
                                        <p:tgtEl>
                                          <p:spTgt spid="82"/>
                                        </p:tgtEl>
                                        <p:attrNameLst>
                                          <p:attrName>ppt_w</p:attrName>
                                        </p:attrNameLst>
                                      </p:cBhvr>
                                      <p:tavLst>
                                        <p:tav tm="0">
                                          <p:val>
                                            <p:fltVal val="0"/>
                                          </p:val>
                                        </p:tav>
                                        <p:tav tm="100000">
                                          <p:val>
                                            <p:strVal val="#ppt_w"/>
                                          </p:val>
                                        </p:tav>
                                      </p:tavLst>
                                    </p:anim>
                                    <p:anim calcmode="lin" valueType="num">
                                      <p:cBhvr>
                                        <p:cTn id="54" dur="500" fill="hold"/>
                                        <p:tgtEl>
                                          <p:spTgt spid="82"/>
                                        </p:tgtEl>
                                        <p:attrNameLst>
                                          <p:attrName>ppt_h</p:attrName>
                                        </p:attrNameLst>
                                      </p:cBhvr>
                                      <p:tavLst>
                                        <p:tav tm="0">
                                          <p:val>
                                            <p:fltVal val="0"/>
                                          </p:val>
                                        </p:tav>
                                        <p:tav tm="100000">
                                          <p:val>
                                            <p:strVal val="#ppt_h"/>
                                          </p:val>
                                        </p:tav>
                                      </p:tavLst>
                                    </p:anim>
                                    <p:animEffect transition="in" filter="fade">
                                      <p:cBhvr>
                                        <p:cTn id="55" dur="500"/>
                                        <p:tgtEl>
                                          <p:spTgt spid="82"/>
                                        </p:tgtEl>
                                      </p:cBhvr>
                                    </p:animEffect>
                                  </p:childTnLst>
                                </p:cTn>
                              </p:par>
                              <p:par>
                                <p:cTn id="56" presetID="53" presetClass="entr" presetSubtype="16" fill="hold" grpId="0" nodeType="withEffect">
                                  <p:stCondLst>
                                    <p:cond delay="200"/>
                                  </p:stCondLst>
                                  <p:childTnLst>
                                    <p:set>
                                      <p:cBhvr>
                                        <p:cTn id="57" dur="1" fill="hold">
                                          <p:stCondLst>
                                            <p:cond delay="0"/>
                                          </p:stCondLst>
                                        </p:cTn>
                                        <p:tgtEl>
                                          <p:spTgt spid="83"/>
                                        </p:tgtEl>
                                        <p:attrNameLst>
                                          <p:attrName>style.visibility</p:attrName>
                                        </p:attrNameLst>
                                      </p:cBhvr>
                                      <p:to>
                                        <p:strVal val="visible"/>
                                      </p:to>
                                    </p:set>
                                    <p:anim calcmode="lin" valueType="num">
                                      <p:cBhvr>
                                        <p:cTn id="58" dur="500" fill="hold"/>
                                        <p:tgtEl>
                                          <p:spTgt spid="83"/>
                                        </p:tgtEl>
                                        <p:attrNameLst>
                                          <p:attrName>ppt_w</p:attrName>
                                        </p:attrNameLst>
                                      </p:cBhvr>
                                      <p:tavLst>
                                        <p:tav tm="0">
                                          <p:val>
                                            <p:fltVal val="0"/>
                                          </p:val>
                                        </p:tav>
                                        <p:tav tm="100000">
                                          <p:val>
                                            <p:strVal val="#ppt_w"/>
                                          </p:val>
                                        </p:tav>
                                      </p:tavLst>
                                    </p:anim>
                                    <p:anim calcmode="lin" valueType="num">
                                      <p:cBhvr>
                                        <p:cTn id="59" dur="500" fill="hold"/>
                                        <p:tgtEl>
                                          <p:spTgt spid="83"/>
                                        </p:tgtEl>
                                        <p:attrNameLst>
                                          <p:attrName>ppt_h</p:attrName>
                                        </p:attrNameLst>
                                      </p:cBhvr>
                                      <p:tavLst>
                                        <p:tav tm="0">
                                          <p:val>
                                            <p:fltVal val="0"/>
                                          </p:val>
                                        </p:tav>
                                        <p:tav tm="100000">
                                          <p:val>
                                            <p:strVal val="#ppt_h"/>
                                          </p:val>
                                        </p:tav>
                                      </p:tavLst>
                                    </p:anim>
                                    <p:animEffect transition="in" filter="fade">
                                      <p:cBhvr>
                                        <p:cTn id="60" dur="500"/>
                                        <p:tgtEl>
                                          <p:spTgt spid="83"/>
                                        </p:tgtEl>
                                      </p:cBhvr>
                                    </p:animEffect>
                                  </p:childTnLst>
                                </p:cTn>
                              </p:par>
                              <p:par>
                                <p:cTn id="61" presetID="53" presetClass="entr" presetSubtype="16" fill="hold" grpId="0" nodeType="withEffect">
                                  <p:stCondLst>
                                    <p:cond delay="200"/>
                                  </p:stCondLst>
                                  <p:childTnLst>
                                    <p:set>
                                      <p:cBhvr>
                                        <p:cTn id="62" dur="1" fill="hold">
                                          <p:stCondLst>
                                            <p:cond delay="0"/>
                                          </p:stCondLst>
                                        </p:cTn>
                                        <p:tgtEl>
                                          <p:spTgt spid="84"/>
                                        </p:tgtEl>
                                        <p:attrNameLst>
                                          <p:attrName>style.visibility</p:attrName>
                                        </p:attrNameLst>
                                      </p:cBhvr>
                                      <p:to>
                                        <p:strVal val="visible"/>
                                      </p:to>
                                    </p:set>
                                    <p:anim calcmode="lin" valueType="num">
                                      <p:cBhvr>
                                        <p:cTn id="63" dur="500" fill="hold"/>
                                        <p:tgtEl>
                                          <p:spTgt spid="84"/>
                                        </p:tgtEl>
                                        <p:attrNameLst>
                                          <p:attrName>ppt_w</p:attrName>
                                        </p:attrNameLst>
                                      </p:cBhvr>
                                      <p:tavLst>
                                        <p:tav tm="0">
                                          <p:val>
                                            <p:fltVal val="0"/>
                                          </p:val>
                                        </p:tav>
                                        <p:tav tm="100000">
                                          <p:val>
                                            <p:strVal val="#ppt_w"/>
                                          </p:val>
                                        </p:tav>
                                      </p:tavLst>
                                    </p:anim>
                                    <p:anim calcmode="lin" valueType="num">
                                      <p:cBhvr>
                                        <p:cTn id="64" dur="500" fill="hold"/>
                                        <p:tgtEl>
                                          <p:spTgt spid="84"/>
                                        </p:tgtEl>
                                        <p:attrNameLst>
                                          <p:attrName>ppt_h</p:attrName>
                                        </p:attrNameLst>
                                      </p:cBhvr>
                                      <p:tavLst>
                                        <p:tav tm="0">
                                          <p:val>
                                            <p:fltVal val="0"/>
                                          </p:val>
                                        </p:tav>
                                        <p:tav tm="100000">
                                          <p:val>
                                            <p:strVal val="#ppt_h"/>
                                          </p:val>
                                        </p:tav>
                                      </p:tavLst>
                                    </p:anim>
                                    <p:animEffect transition="in" filter="fade">
                                      <p:cBhvr>
                                        <p:cTn id="65" dur="500"/>
                                        <p:tgtEl>
                                          <p:spTgt spid="84"/>
                                        </p:tgtEl>
                                      </p:cBhvr>
                                    </p:animEffect>
                                  </p:childTnLst>
                                </p:cTn>
                              </p:par>
                            </p:childTnLst>
                          </p:cTn>
                        </p:par>
                        <p:par>
                          <p:cTn id="66" fill="hold">
                            <p:stCondLst>
                              <p:cond delay="3000"/>
                            </p:stCondLst>
                            <p:childTnLst>
                              <p:par>
                                <p:cTn id="67" presetID="53" presetClass="entr" presetSubtype="16" fill="hold" grpId="0" nodeType="afterEffect">
                                  <p:stCondLst>
                                    <p:cond delay="0"/>
                                  </p:stCondLst>
                                  <p:childTnLst>
                                    <p:set>
                                      <p:cBhvr>
                                        <p:cTn id="68" dur="1" fill="hold">
                                          <p:stCondLst>
                                            <p:cond delay="0"/>
                                          </p:stCondLst>
                                        </p:cTn>
                                        <p:tgtEl>
                                          <p:spTgt spid="105"/>
                                        </p:tgtEl>
                                        <p:attrNameLst>
                                          <p:attrName>style.visibility</p:attrName>
                                        </p:attrNameLst>
                                      </p:cBhvr>
                                      <p:to>
                                        <p:strVal val="visible"/>
                                      </p:to>
                                    </p:set>
                                    <p:anim calcmode="lin" valueType="num">
                                      <p:cBhvr>
                                        <p:cTn id="69" dur="500" fill="hold"/>
                                        <p:tgtEl>
                                          <p:spTgt spid="105"/>
                                        </p:tgtEl>
                                        <p:attrNameLst>
                                          <p:attrName>ppt_w</p:attrName>
                                        </p:attrNameLst>
                                      </p:cBhvr>
                                      <p:tavLst>
                                        <p:tav tm="0">
                                          <p:val>
                                            <p:fltVal val="0"/>
                                          </p:val>
                                        </p:tav>
                                        <p:tav tm="100000">
                                          <p:val>
                                            <p:strVal val="#ppt_w"/>
                                          </p:val>
                                        </p:tav>
                                      </p:tavLst>
                                    </p:anim>
                                    <p:anim calcmode="lin" valueType="num">
                                      <p:cBhvr>
                                        <p:cTn id="70" dur="500" fill="hold"/>
                                        <p:tgtEl>
                                          <p:spTgt spid="105"/>
                                        </p:tgtEl>
                                        <p:attrNameLst>
                                          <p:attrName>ppt_h</p:attrName>
                                        </p:attrNameLst>
                                      </p:cBhvr>
                                      <p:tavLst>
                                        <p:tav tm="0">
                                          <p:val>
                                            <p:fltVal val="0"/>
                                          </p:val>
                                        </p:tav>
                                        <p:tav tm="100000">
                                          <p:val>
                                            <p:strVal val="#ppt_h"/>
                                          </p:val>
                                        </p:tav>
                                      </p:tavLst>
                                    </p:anim>
                                    <p:animEffect transition="in" filter="fade">
                                      <p:cBhvr>
                                        <p:cTn id="71" dur="500"/>
                                        <p:tgtEl>
                                          <p:spTgt spid="105"/>
                                        </p:tgtEl>
                                      </p:cBhvr>
                                    </p:animEffect>
                                  </p:childTnLst>
                                </p:cTn>
                              </p:par>
                              <p:par>
                                <p:cTn id="72" presetID="53" presetClass="entr" presetSubtype="16" fill="hold" grpId="0" nodeType="withEffect">
                                  <p:stCondLst>
                                    <p:cond delay="100"/>
                                  </p:stCondLst>
                                  <p:childTnLst>
                                    <p:set>
                                      <p:cBhvr>
                                        <p:cTn id="73" dur="1" fill="hold">
                                          <p:stCondLst>
                                            <p:cond delay="0"/>
                                          </p:stCondLst>
                                        </p:cTn>
                                        <p:tgtEl>
                                          <p:spTgt spid="98"/>
                                        </p:tgtEl>
                                        <p:attrNameLst>
                                          <p:attrName>style.visibility</p:attrName>
                                        </p:attrNameLst>
                                      </p:cBhvr>
                                      <p:to>
                                        <p:strVal val="visible"/>
                                      </p:to>
                                    </p:set>
                                    <p:anim calcmode="lin" valueType="num">
                                      <p:cBhvr>
                                        <p:cTn id="74" dur="500" fill="hold"/>
                                        <p:tgtEl>
                                          <p:spTgt spid="98"/>
                                        </p:tgtEl>
                                        <p:attrNameLst>
                                          <p:attrName>ppt_w</p:attrName>
                                        </p:attrNameLst>
                                      </p:cBhvr>
                                      <p:tavLst>
                                        <p:tav tm="0">
                                          <p:val>
                                            <p:fltVal val="0"/>
                                          </p:val>
                                        </p:tav>
                                        <p:tav tm="100000">
                                          <p:val>
                                            <p:strVal val="#ppt_w"/>
                                          </p:val>
                                        </p:tav>
                                      </p:tavLst>
                                    </p:anim>
                                    <p:anim calcmode="lin" valueType="num">
                                      <p:cBhvr>
                                        <p:cTn id="75" dur="500" fill="hold"/>
                                        <p:tgtEl>
                                          <p:spTgt spid="98"/>
                                        </p:tgtEl>
                                        <p:attrNameLst>
                                          <p:attrName>ppt_h</p:attrName>
                                        </p:attrNameLst>
                                      </p:cBhvr>
                                      <p:tavLst>
                                        <p:tav tm="0">
                                          <p:val>
                                            <p:fltVal val="0"/>
                                          </p:val>
                                        </p:tav>
                                        <p:tav tm="100000">
                                          <p:val>
                                            <p:strVal val="#ppt_h"/>
                                          </p:val>
                                        </p:tav>
                                      </p:tavLst>
                                    </p:anim>
                                    <p:animEffect transition="in" filter="fade">
                                      <p:cBhvr>
                                        <p:cTn id="76" dur="500"/>
                                        <p:tgtEl>
                                          <p:spTgt spid="98"/>
                                        </p:tgtEl>
                                      </p:cBhvr>
                                    </p:animEffect>
                                  </p:childTnLst>
                                </p:cTn>
                              </p:par>
                              <p:par>
                                <p:cTn id="77" presetID="53" presetClass="entr" presetSubtype="16" fill="hold" grpId="0" nodeType="withEffect">
                                  <p:stCondLst>
                                    <p:cond delay="200"/>
                                  </p:stCondLst>
                                  <p:childTnLst>
                                    <p:set>
                                      <p:cBhvr>
                                        <p:cTn id="78" dur="1" fill="hold">
                                          <p:stCondLst>
                                            <p:cond delay="0"/>
                                          </p:stCondLst>
                                        </p:cTn>
                                        <p:tgtEl>
                                          <p:spTgt spid="99"/>
                                        </p:tgtEl>
                                        <p:attrNameLst>
                                          <p:attrName>style.visibility</p:attrName>
                                        </p:attrNameLst>
                                      </p:cBhvr>
                                      <p:to>
                                        <p:strVal val="visible"/>
                                      </p:to>
                                    </p:set>
                                    <p:anim calcmode="lin" valueType="num">
                                      <p:cBhvr>
                                        <p:cTn id="79" dur="500" fill="hold"/>
                                        <p:tgtEl>
                                          <p:spTgt spid="99"/>
                                        </p:tgtEl>
                                        <p:attrNameLst>
                                          <p:attrName>ppt_w</p:attrName>
                                        </p:attrNameLst>
                                      </p:cBhvr>
                                      <p:tavLst>
                                        <p:tav tm="0">
                                          <p:val>
                                            <p:fltVal val="0"/>
                                          </p:val>
                                        </p:tav>
                                        <p:tav tm="100000">
                                          <p:val>
                                            <p:strVal val="#ppt_w"/>
                                          </p:val>
                                        </p:tav>
                                      </p:tavLst>
                                    </p:anim>
                                    <p:anim calcmode="lin" valueType="num">
                                      <p:cBhvr>
                                        <p:cTn id="80" dur="500" fill="hold"/>
                                        <p:tgtEl>
                                          <p:spTgt spid="99"/>
                                        </p:tgtEl>
                                        <p:attrNameLst>
                                          <p:attrName>ppt_h</p:attrName>
                                        </p:attrNameLst>
                                      </p:cBhvr>
                                      <p:tavLst>
                                        <p:tav tm="0">
                                          <p:val>
                                            <p:fltVal val="0"/>
                                          </p:val>
                                        </p:tav>
                                        <p:tav tm="100000">
                                          <p:val>
                                            <p:strVal val="#ppt_h"/>
                                          </p:val>
                                        </p:tav>
                                      </p:tavLst>
                                    </p:anim>
                                    <p:animEffect transition="in" filter="fade">
                                      <p:cBhvr>
                                        <p:cTn id="81"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p:bldP spid="27" grpId="0"/>
      <p:bldP spid="78" grpId="0" bldLvl="0" animBg="1"/>
      <p:bldP spid="79" grpId="0" bldLvl="0" animBg="1"/>
      <p:bldP spid="80" grpId="0" bldLvl="0" animBg="1"/>
      <p:bldP spid="81" grpId="0" bldLvl="0" animBg="1"/>
      <p:bldP spid="82" grpId="0" bldLvl="0" animBg="1"/>
      <p:bldP spid="83" grpId="0" bldLvl="0" animBg="1"/>
      <p:bldP spid="84" grpId="0" bldLvl="0" animBg="1"/>
      <p:bldP spid="98" grpId="0" bldLvl="0" animBg="1"/>
      <p:bldP spid="99" grpId="0" bldLvl="0" animBg="1"/>
      <p:bldP spid="10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4" name="直接连接符 23"/>
          <p:cNvCxnSpPr/>
          <p:nvPr/>
        </p:nvCxnSpPr>
        <p:spPr>
          <a:xfrm>
            <a:off x="515257" y="624114"/>
            <a:ext cx="8113486" cy="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5" name="椭圆 24"/>
          <p:cNvSpPr/>
          <p:nvPr/>
        </p:nvSpPr>
        <p:spPr>
          <a:xfrm>
            <a:off x="646880" y="24219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微软雅黑" panose="020B0503020204020204" pitchFamily="34" charset="-122"/>
            </a:endParaRPr>
          </a:p>
        </p:txBody>
      </p:sp>
      <p:sp>
        <p:nvSpPr>
          <p:cNvPr id="26" name="TextBox 25"/>
          <p:cNvSpPr txBox="1"/>
          <p:nvPr/>
        </p:nvSpPr>
        <p:spPr>
          <a:xfrm>
            <a:off x="908957" y="206330"/>
            <a:ext cx="1364476" cy="400110"/>
          </a:xfrm>
          <a:prstGeom prst="rect">
            <a:avLst/>
          </a:prstGeom>
          <a:noFill/>
          <a:ln>
            <a:noFill/>
          </a:ln>
        </p:spPr>
        <p:txBody>
          <a:bodyPr wrap="none" rtlCol="0">
            <a:spAutoFit/>
          </a:bodyPr>
          <a:lstStyle/>
          <a:p>
            <a:r>
              <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rPr>
              <a:t>参考文献</a:t>
            </a:r>
            <a:endParaRPr lang="zh-CN" altLang="en-US" sz="2000" spc="3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2390916" y="237108"/>
            <a:ext cx="1156599" cy="338554"/>
          </a:xfrm>
          <a:prstGeom prst="rect">
            <a:avLst/>
          </a:prstGeom>
          <a:noFill/>
        </p:spPr>
        <p:txBody>
          <a:bodyPr wrap="none" rtlCol="0">
            <a:spAutoFit/>
          </a:bodyPr>
          <a:lstStyle/>
          <a:p>
            <a:r>
              <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rPr>
              <a:t>Reference</a:t>
            </a:r>
            <a:endParaRPr lang="en-US" altLang="zh-CN" sz="1600" dirty="0">
              <a:solidFill>
                <a:schemeClr val="tx1">
                  <a:lumMod val="50000"/>
                  <a:lumOff val="50000"/>
                </a:schemeClr>
              </a:solidFill>
              <a:latin typeface="微软雅黑" panose="020B0503020204020204" pitchFamily="34" charset="-122"/>
              <a:ea typeface="微软雅黑" panose="020B0503020204020204" pitchFamily="34" charset="-122"/>
            </a:endParaRPr>
          </a:p>
        </p:txBody>
      </p:sp>
      <p:cxnSp>
        <p:nvCxnSpPr>
          <p:cNvPr id="28" name="直接连接符 27"/>
          <p:cNvCxnSpPr/>
          <p:nvPr/>
        </p:nvCxnSpPr>
        <p:spPr>
          <a:xfrm>
            <a:off x="2332175" y="302089"/>
            <a:ext cx="0" cy="208592"/>
          </a:xfrm>
          <a:prstGeom prst="line">
            <a:avLst/>
          </a:prstGeom>
          <a:ln w="1905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74" name="组合 73"/>
          <p:cNvGrpSpPr/>
          <p:nvPr/>
        </p:nvGrpSpPr>
        <p:grpSpPr>
          <a:xfrm>
            <a:off x="723874" y="1565803"/>
            <a:ext cx="2011893" cy="2011893"/>
            <a:chOff x="304800" y="673100"/>
            <a:chExt cx="4000500" cy="4000500"/>
          </a:xfrm>
          <a:effectLst>
            <a:outerShdw blurRad="444500" dist="254000" dir="8100000" algn="tr" rotWithShape="0">
              <a:prstClr val="black">
                <a:alpha val="50000"/>
              </a:prstClr>
            </a:outerShdw>
          </a:effectLst>
        </p:grpSpPr>
        <p:sp>
          <p:nvSpPr>
            <p:cNvPr id="76" name="同心圆 75"/>
            <p:cNvSpPr/>
            <p:nvPr/>
          </p:nvSpPr>
          <p:spPr>
            <a:xfrm>
              <a:off x="304800" y="673100"/>
              <a:ext cx="4000500" cy="4000500"/>
            </a:xfrm>
            <a:prstGeom prst="donut">
              <a:avLst>
                <a:gd name="adj" fmla="val 4879"/>
              </a:avLst>
            </a:prstGeom>
            <a:gradFill>
              <a:gsLst>
                <a:gs pos="0">
                  <a:schemeClr val="bg1"/>
                </a:gs>
                <a:gs pos="55000">
                  <a:schemeClr val="bg1">
                    <a:lumMod val="95000"/>
                  </a:schemeClr>
                </a:gs>
                <a:gs pos="100000">
                  <a:schemeClr val="bg1">
                    <a:lumMod val="65000"/>
                  </a:schemeClr>
                </a:gs>
              </a:gsLst>
              <a:lin ang="8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77" name="椭圆 76"/>
            <p:cNvSpPr/>
            <p:nvPr/>
          </p:nvSpPr>
          <p:spPr>
            <a:xfrm>
              <a:off x="392112" y="760412"/>
              <a:ext cx="3825874" cy="3825874"/>
            </a:xfrm>
            <a:prstGeom prst="ellipse">
              <a:avLst/>
            </a:prstGeom>
            <a:gradFill>
              <a:gsLst>
                <a:gs pos="0">
                  <a:schemeClr val="bg1"/>
                </a:gs>
                <a:gs pos="51000">
                  <a:schemeClr val="bg1">
                    <a:lumMod val="95000"/>
                  </a:schemeClr>
                </a:gs>
                <a:gs pos="100000">
                  <a:schemeClr val="bg1">
                    <a:lumMod val="75000"/>
                  </a:schemeClr>
                </a:gs>
              </a:gsLst>
              <a:lin ang="189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8" name="椭圆 77"/>
          <p:cNvSpPr/>
          <p:nvPr/>
        </p:nvSpPr>
        <p:spPr>
          <a:xfrm>
            <a:off x="907235" y="3447812"/>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椭圆 78"/>
          <p:cNvSpPr/>
          <p:nvPr/>
        </p:nvSpPr>
        <p:spPr>
          <a:xfrm>
            <a:off x="1284995" y="3571714"/>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椭圆 79"/>
          <p:cNvSpPr/>
          <p:nvPr/>
        </p:nvSpPr>
        <p:spPr>
          <a:xfrm>
            <a:off x="1458698" y="3377093"/>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椭圆 80"/>
          <p:cNvSpPr/>
          <p:nvPr/>
        </p:nvSpPr>
        <p:spPr>
          <a:xfrm>
            <a:off x="2091459" y="3498702"/>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椭圆 81"/>
          <p:cNvSpPr/>
          <p:nvPr/>
        </p:nvSpPr>
        <p:spPr>
          <a:xfrm>
            <a:off x="632458" y="325900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椭圆 82"/>
          <p:cNvSpPr/>
          <p:nvPr/>
        </p:nvSpPr>
        <p:spPr>
          <a:xfrm>
            <a:off x="925207" y="3302300"/>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椭圆 83"/>
          <p:cNvSpPr/>
          <p:nvPr/>
        </p:nvSpPr>
        <p:spPr>
          <a:xfrm>
            <a:off x="2462177" y="3433728"/>
            <a:ext cx="274777" cy="274777"/>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椭圆 97"/>
          <p:cNvSpPr/>
          <p:nvPr/>
        </p:nvSpPr>
        <p:spPr>
          <a:xfrm>
            <a:off x="2828060" y="3072585"/>
            <a:ext cx="167224" cy="167224"/>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椭圆 98"/>
          <p:cNvSpPr/>
          <p:nvPr/>
        </p:nvSpPr>
        <p:spPr>
          <a:xfrm>
            <a:off x="2623161" y="3190313"/>
            <a:ext cx="137389" cy="137389"/>
          </a:xfrm>
          <a:prstGeom prst="ellipse">
            <a:avLst/>
          </a:prstGeom>
          <a:solidFill>
            <a:srgbClr val="679E2A"/>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TextBox 104"/>
          <p:cNvSpPr txBox="1"/>
          <p:nvPr/>
        </p:nvSpPr>
        <p:spPr>
          <a:xfrm>
            <a:off x="1061368" y="2417860"/>
            <a:ext cx="1400809" cy="307777"/>
          </a:xfrm>
          <a:prstGeom prst="rect">
            <a:avLst/>
          </a:prstGeom>
          <a:noFill/>
        </p:spPr>
        <p:txBody>
          <a:bodyPr wrap="square" lIns="0" tIns="0" rIns="0" bIns="0" rtlCol="0">
            <a:spAutoFit/>
          </a:bodyPr>
          <a:lstStyle>
            <a:defPPr>
              <a:defRPr lang="zh-CN"/>
            </a:defPPr>
            <a:lvl1pPr algn="just">
              <a:lnSpc>
                <a:spcPts val="1300"/>
              </a:lnSpc>
              <a:defRPr sz="100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ctr">
              <a:lnSpc>
                <a:spcPct val="100000"/>
              </a:lnSpc>
            </a:pPr>
            <a:r>
              <a:rPr lang="zh-CN" altLang="en-US" sz="2000" b="1" dirty="0">
                <a:solidFill>
                  <a:schemeClr val="tx1">
                    <a:lumMod val="75000"/>
                    <a:lumOff val="25000"/>
                  </a:schemeClr>
                </a:solidFill>
              </a:rPr>
              <a:t>参考文献</a:t>
            </a:r>
            <a:endParaRPr lang="en-US" altLang="zh-CN" sz="2000" b="1" dirty="0">
              <a:solidFill>
                <a:schemeClr val="tx1">
                  <a:lumMod val="75000"/>
                  <a:lumOff val="25000"/>
                </a:schemeClr>
              </a:solidFill>
            </a:endParaRPr>
          </a:p>
        </p:txBody>
      </p:sp>
      <p:pic>
        <p:nvPicPr>
          <p:cNvPr id="39" name="图片 38" descr="图片包含 物体&#10;&#10;描述已自动生成"/>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4423" y="655329"/>
            <a:ext cx="388986" cy="1907371"/>
          </a:xfrm>
          <a:prstGeom prst="rect">
            <a:avLst/>
          </a:prstGeom>
        </p:spPr>
      </p:pic>
      <p:sp>
        <p:nvSpPr>
          <p:cNvPr id="2" name="文本框 1"/>
          <p:cNvSpPr txBox="1"/>
          <p:nvPr/>
        </p:nvSpPr>
        <p:spPr>
          <a:xfrm>
            <a:off x="3203575" y="810260"/>
            <a:ext cx="6019800" cy="4338320"/>
          </a:xfrm>
          <a:prstGeom prst="rect">
            <a:avLst/>
          </a:prstGeom>
          <a:noFill/>
        </p:spPr>
        <p:txBody>
          <a:bodyPr wrap="square" rtlCol="0">
            <a:spAutoFit/>
          </a:bodyPr>
          <a:p>
            <a:r>
              <a:rPr lang="en-US" altLang="zh-CN" sz="1200">
                <a:sym typeface="+mn-ea"/>
              </a:rPr>
              <a:t>[9] Philippaerts P, Preuveneers D, Joosen W. Oauch: Exploring security compliance in the oauth 2.0 ecosystem [C/OL]//Proceedings of the 37th ACM/SIGAPP Symposium on Applied Computing (SAC). ACM, 2022: 1844-1853. https://doi.org/10.1145/3545948.3545955.</a:t>
            </a:r>
            <a:endParaRPr lang="en-US" altLang="zh-CN" sz="1200"/>
          </a:p>
          <a:p>
            <a:r>
              <a:rPr lang="en-US" altLang="zh-CN" sz="1200">
                <a:sym typeface="+mn-ea"/>
              </a:rPr>
              <a:t>[10] Munonye K, Martinek P. Machine learning approach to vulnerability detection in oauth 2.0 authen_x0002_tication and authorization flow [J/OL]. International Journal of Information Security, 2021, 21(2): 223-237. https://doi.org/10.1007/s10207-021-00551-w.</a:t>
            </a:r>
            <a:endParaRPr lang="en-US" altLang="zh-CN" sz="1200"/>
          </a:p>
          <a:p>
            <a:r>
              <a:rPr lang="en-US" altLang="zh-CN" sz="1200">
                <a:sym typeface="+mn-ea"/>
              </a:rPr>
              <a:t>[11] Li W, Mitchell C, Chen T. Oauthguard [C/OL]//Proceedings of the 35th Annual Computer Security Applications Conference (ACSAC). ACM, 2019: 444-456. https://doi.org/10.1145/3338500.3360331.</a:t>
            </a:r>
            <a:endParaRPr lang="en-US" altLang="zh-CN" sz="1200"/>
          </a:p>
          <a:p>
            <a:r>
              <a:rPr lang="en-US" altLang="zh-CN" sz="1200">
                <a:sym typeface="+mn-ea"/>
              </a:rPr>
              <a:t>[12] Ferry E, O’Raw J, Curran K. Security evaluation of the oauth 2.0 framework [J/OL]. Information and Computer Security, 2015, 23(1): 73-101. https://doi.org/10.1108/ICS-12-2013-0089</a:t>
            </a:r>
            <a:endParaRPr lang="en-US" altLang="zh-CN" sz="1200">
              <a:sym typeface="+mn-ea"/>
            </a:endParaRPr>
          </a:p>
          <a:p>
            <a:r>
              <a:rPr lang="en-US" altLang="zh-CN" sz="1200"/>
              <a:t>13] Sun S, Beznosov K. The devil is in the (implementation) details: An empirical analysis of oauth sso systems [C/OL]//Proceedings of the 2012 ACM Conference on Computer and Communications Security (CCS). ACM, 2012: 378-390. https://doi.org/10.1145/2382196.2382238.</a:t>
            </a:r>
            <a:endParaRPr lang="en-US" altLang="zh-CN" sz="1200"/>
          </a:p>
          <a:p>
            <a:r>
              <a:rPr lang="en-US" altLang="zh-CN" sz="1200"/>
              <a:t>[14] Alotaibi A, Mahmmod A. Enhancing oauth services security by an authentication service with face recognition [C/OL]//Proceedings of the 11th Long Island Systems, Applications and Technology Con_x0002_ference (LISAT). IEEE, 2015. https://doi.org/10.1109/LISAT.2015.7160208.</a:t>
            </a:r>
            <a:endParaRPr lang="en-US" altLang="zh-CN" sz="1200"/>
          </a:p>
          <a:p>
            <a:r>
              <a:rPr lang="en-US" altLang="zh-CN" sz="1200"/>
              <a:t>[15] Dabagh N, Mahmood M. Multilevel database security for android using fast encryption methods [J/OL]. Al-Rafidain Journal of Computer Sciences and Mathematics, 2022, 16(1): 87-96. https://doi.org/10.33899/csmj.2022.174412.</a:t>
            </a:r>
            <a:endParaRPr lang="en-US" altLang="zh-CN" sz="1200"/>
          </a:p>
          <a:p>
            <a:endParaRPr lang="en-US" altLang="zh-CN" sz="1200"/>
          </a:p>
        </p:txBody>
      </p:sp>
    </p:spTree>
    <p:custDataLst>
      <p:tags r:id="rId2"/>
    </p:custDataLst>
  </p:cSld>
  <p:clrMapOvr>
    <a:masterClrMapping/>
  </p:clrMapOvr>
  <p:transition spd="slow" advClick="0" advTm="0">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left)">
                                      <p:cBhvr>
                                        <p:cTn id="7" dur="300"/>
                                        <p:tgtEl>
                                          <p:spTgt spid="24"/>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down)">
                                      <p:cBhvr>
                                        <p:cTn id="11" dur="300"/>
                                        <p:tgtEl>
                                          <p:spTgt spid="25"/>
                                        </p:tgtEl>
                                      </p:cBhvr>
                                    </p:animEffect>
                                  </p:childTnLst>
                                </p:cTn>
                              </p:par>
                            </p:childTnLst>
                          </p:cTn>
                        </p:par>
                        <p:par>
                          <p:cTn id="12" fill="hold">
                            <p:stCondLst>
                              <p:cond delay="1000"/>
                            </p:stCondLst>
                            <p:childTnLst>
                              <p:par>
                                <p:cTn id="13" presetID="1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p:tgtEl>
                                          <p:spTgt spid="26"/>
                                        </p:tgtEl>
                                        <p:attrNameLst>
                                          <p:attrName>ppt_x</p:attrName>
                                        </p:attrNameLst>
                                      </p:cBhvr>
                                      <p:tavLst>
                                        <p:tav tm="0">
                                          <p:val>
                                            <p:strVal val="#ppt_x-#ppt_w*1.125000"/>
                                          </p:val>
                                        </p:tav>
                                        <p:tav tm="100000">
                                          <p:val>
                                            <p:strVal val="#ppt_x"/>
                                          </p:val>
                                        </p:tav>
                                      </p:tavLst>
                                    </p:anim>
                                    <p:animEffect transition="in" filter="wipe(right)">
                                      <p:cBhvr>
                                        <p:cTn id="16" dur="500"/>
                                        <p:tgtEl>
                                          <p:spTgt spid="26"/>
                                        </p:tgtEl>
                                      </p:cBhvr>
                                    </p:animEffect>
                                  </p:childTnLst>
                                </p:cTn>
                              </p:par>
                              <p:par>
                                <p:cTn id="17" presetID="12" presetClass="entr" presetSubtype="8"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anim calcmode="lin" valueType="num">
                                      <p:cBhvr additive="base">
                                        <p:cTn id="19" dur="500"/>
                                        <p:tgtEl>
                                          <p:spTgt spid="28"/>
                                        </p:tgtEl>
                                        <p:attrNameLst>
                                          <p:attrName>ppt_x</p:attrName>
                                        </p:attrNameLst>
                                      </p:cBhvr>
                                      <p:tavLst>
                                        <p:tav tm="0">
                                          <p:val>
                                            <p:strVal val="#ppt_x-#ppt_w*1.125000"/>
                                          </p:val>
                                        </p:tav>
                                        <p:tav tm="100000">
                                          <p:val>
                                            <p:strVal val="#ppt_x"/>
                                          </p:val>
                                        </p:tav>
                                      </p:tavLst>
                                    </p:anim>
                                    <p:animEffect transition="in" filter="wipe(right)">
                                      <p:cBhvr>
                                        <p:cTn id="20" dur="500"/>
                                        <p:tgtEl>
                                          <p:spTgt spid="28"/>
                                        </p:tgtEl>
                                      </p:cBhvr>
                                    </p:animEffect>
                                  </p:childTnLst>
                                </p:cTn>
                              </p:par>
                              <p:par>
                                <p:cTn id="21" presetID="12" presetClass="entr" presetSubtype="8"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anim calcmode="lin" valueType="num">
                                      <p:cBhvr additive="base">
                                        <p:cTn id="23" dur="500"/>
                                        <p:tgtEl>
                                          <p:spTgt spid="27"/>
                                        </p:tgtEl>
                                        <p:attrNameLst>
                                          <p:attrName>ppt_x</p:attrName>
                                        </p:attrNameLst>
                                      </p:cBhvr>
                                      <p:tavLst>
                                        <p:tav tm="0">
                                          <p:val>
                                            <p:strVal val="#ppt_x-#ppt_w*1.125000"/>
                                          </p:val>
                                        </p:tav>
                                        <p:tav tm="100000">
                                          <p:val>
                                            <p:strVal val="#ppt_x"/>
                                          </p:val>
                                        </p:tav>
                                      </p:tavLst>
                                    </p:anim>
                                    <p:animEffect transition="in" filter="wipe(right)">
                                      <p:cBhvr>
                                        <p:cTn id="24" dur="500"/>
                                        <p:tgtEl>
                                          <p:spTgt spid="27"/>
                                        </p:tgtEl>
                                      </p:cBhvr>
                                    </p:animEffect>
                                  </p:childTnLst>
                                </p:cTn>
                              </p:par>
                            </p:childTnLst>
                          </p:cTn>
                        </p:par>
                        <p:par>
                          <p:cTn id="25" fill="hold">
                            <p:stCondLst>
                              <p:cond delay="1500"/>
                            </p:stCondLst>
                            <p:childTnLst>
                              <p:par>
                                <p:cTn id="26" presetID="42" presetClass="entr" presetSubtype="0" fill="hold" nodeType="afterEffect">
                                  <p:stCondLst>
                                    <p:cond delay="0"/>
                                  </p:stCondLst>
                                  <p:childTnLst>
                                    <p:set>
                                      <p:cBhvr>
                                        <p:cTn id="27" dur="1" fill="hold">
                                          <p:stCondLst>
                                            <p:cond delay="0"/>
                                          </p:stCondLst>
                                        </p:cTn>
                                        <p:tgtEl>
                                          <p:spTgt spid="74"/>
                                        </p:tgtEl>
                                        <p:attrNameLst>
                                          <p:attrName>style.visibility</p:attrName>
                                        </p:attrNameLst>
                                      </p:cBhvr>
                                      <p:to>
                                        <p:strVal val="visible"/>
                                      </p:to>
                                    </p:set>
                                    <p:animEffect transition="in" filter="fade">
                                      <p:cBhvr>
                                        <p:cTn id="28" dur="1500"/>
                                        <p:tgtEl>
                                          <p:spTgt spid="74"/>
                                        </p:tgtEl>
                                      </p:cBhvr>
                                    </p:animEffect>
                                    <p:anim calcmode="lin" valueType="num">
                                      <p:cBhvr>
                                        <p:cTn id="29" dur="1500" fill="hold"/>
                                        <p:tgtEl>
                                          <p:spTgt spid="74"/>
                                        </p:tgtEl>
                                        <p:attrNameLst>
                                          <p:attrName>ppt_x</p:attrName>
                                        </p:attrNameLst>
                                      </p:cBhvr>
                                      <p:tavLst>
                                        <p:tav tm="0">
                                          <p:val>
                                            <p:strVal val="#ppt_x"/>
                                          </p:val>
                                        </p:tav>
                                        <p:tav tm="100000">
                                          <p:val>
                                            <p:strVal val="#ppt_x"/>
                                          </p:val>
                                        </p:tav>
                                      </p:tavLst>
                                    </p:anim>
                                    <p:anim calcmode="lin" valueType="num">
                                      <p:cBhvr>
                                        <p:cTn id="30" dur="1500" fill="hold"/>
                                        <p:tgtEl>
                                          <p:spTgt spid="74"/>
                                        </p:tgtEl>
                                        <p:attrNameLst>
                                          <p:attrName>ppt_y</p:attrName>
                                        </p:attrNameLst>
                                      </p:cBhvr>
                                      <p:tavLst>
                                        <p:tav tm="0">
                                          <p:val>
                                            <p:strVal val="#ppt_y+.1"/>
                                          </p:val>
                                        </p:tav>
                                        <p:tav tm="100000">
                                          <p:val>
                                            <p:strVal val="#ppt_y"/>
                                          </p:val>
                                        </p:tav>
                                      </p:tavLst>
                                    </p:anim>
                                  </p:childTnLst>
                                </p:cTn>
                              </p:par>
                              <p:par>
                                <p:cTn id="31" presetID="53" presetClass="entr" presetSubtype="16" fill="hold" grpId="0" nodeType="withEffect">
                                  <p:stCondLst>
                                    <p:cond delay="400"/>
                                  </p:stCondLst>
                                  <p:childTnLst>
                                    <p:set>
                                      <p:cBhvr>
                                        <p:cTn id="32" dur="1" fill="hold">
                                          <p:stCondLst>
                                            <p:cond delay="0"/>
                                          </p:stCondLst>
                                        </p:cTn>
                                        <p:tgtEl>
                                          <p:spTgt spid="78"/>
                                        </p:tgtEl>
                                        <p:attrNameLst>
                                          <p:attrName>style.visibility</p:attrName>
                                        </p:attrNameLst>
                                      </p:cBhvr>
                                      <p:to>
                                        <p:strVal val="visible"/>
                                      </p:to>
                                    </p:set>
                                    <p:anim calcmode="lin" valueType="num">
                                      <p:cBhvr>
                                        <p:cTn id="33" dur="500" fill="hold"/>
                                        <p:tgtEl>
                                          <p:spTgt spid="78"/>
                                        </p:tgtEl>
                                        <p:attrNameLst>
                                          <p:attrName>ppt_w</p:attrName>
                                        </p:attrNameLst>
                                      </p:cBhvr>
                                      <p:tavLst>
                                        <p:tav tm="0">
                                          <p:val>
                                            <p:fltVal val="0"/>
                                          </p:val>
                                        </p:tav>
                                        <p:tav tm="100000">
                                          <p:val>
                                            <p:strVal val="#ppt_w"/>
                                          </p:val>
                                        </p:tav>
                                      </p:tavLst>
                                    </p:anim>
                                    <p:anim calcmode="lin" valueType="num">
                                      <p:cBhvr>
                                        <p:cTn id="34" dur="500" fill="hold"/>
                                        <p:tgtEl>
                                          <p:spTgt spid="78"/>
                                        </p:tgtEl>
                                        <p:attrNameLst>
                                          <p:attrName>ppt_h</p:attrName>
                                        </p:attrNameLst>
                                      </p:cBhvr>
                                      <p:tavLst>
                                        <p:tav tm="0">
                                          <p:val>
                                            <p:fltVal val="0"/>
                                          </p:val>
                                        </p:tav>
                                        <p:tav tm="100000">
                                          <p:val>
                                            <p:strVal val="#ppt_h"/>
                                          </p:val>
                                        </p:tav>
                                      </p:tavLst>
                                    </p:anim>
                                    <p:animEffect transition="in" filter="fade">
                                      <p:cBhvr>
                                        <p:cTn id="35" dur="500"/>
                                        <p:tgtEl>
                                          <p:spTgt spid="78"/>
                                        </p:tgtEl>
                                      </p:cBhvr>
                                    </p:animEffect>
                                  </p:childTnLst>
                                </p:cTn>
                              </p:par>
                              <p:par>
                                <p:cTn id="36" presetID="53" presetClass="entr" presetSubtype="16" fill="hold" grpId="0" nodeType="withEffect">
                                  <p:stCondLst>
                                    <p:cond delay="200"/>
                                  </p:stCondLst>
                                  <p:childTnLst>
                                    <p:set>
                                      <p:cBhvr>
                                        <p:cTn id="37" dur="1" fill="hold">
                                          <p:stCondLst>
                                            <p:cond delay="0"/>
                                          </p:stCondLst>
                                        </p:cTn>
                                        <p:tgtEl>
                                          <p:spTgt spid="79"/>
                                        </p:tgtEl>
                                        <p:attrNameLst>
                                          <p:attrName>style.visibility</p:attrName>
                                        </p:attrNameLst>
                                      </p:cBhvr>
                                      <p:to>
                                        <p:strVal val="visible"/>
                                      </p:to>
                                    </p:set>
                                    <p:anim calcmode="lin" valueType="num">
                                      <p:cBhvr>
                                        <p:cTn id="38" dur="500" fill="hold"/>
                                        <p:tgtEl>
                                          <p:spTgt spid="79"/>
                                        </p:tgtEl>
                                        <p:attrNameLst>
                                          <p:attrName>ppt_w</p:attrName>
                                        </p:attrNameLst>
                                      </p:cBhvr>
                                      <p:tavLst>
                                        <p:tav tm="0">
                                          <p:val>
                                            <p:fltVal val="0"/>
                                          </p:val>
                                        </p:tav>
                                        <p:tav tm="100000">
                                          <p:val>
                                            <p:strVal val="#ppt_w"/>
                                          </p:val>
                                        </p:tav>
                                      </p:tavLst>
                                    </p:anim>
                                    <p:anim calcmode="lin" valueType="num">
                                      <p:cBhvr>
                                        <p:cTn id="39" dur="500" fill="hold"/>
                                        <p:tgtEl>
                                          <p:spTgt spid="79"/>
                                        </p:tgtEl>
                                        <p:attrNameLst>
                                          <p:attrName>ppt_h</p:attrName>
                                        </p:attrNameLst>
                                      </p:cBhvr>
                                      <p:tavLst>
                                        <p:tav tm="0">
                                          <p:val>
                                            <p:fltVal val="0"/>
                                          </p:val>
                                        </p:tav>
                                        <p:tav tm="100000">
                                          <p:val>
                                            <p:strVal val="#ppt_h"/>
                                          </p:val>
                                        </p:tav>
                                      </p:tavLst>
                                    </p:anim>
                                    <p:animEffect transition="in" filter="fade">
                                      <p:cBhvr>
                                        <p:cTn id="40" dur="500"/>
                                        <p:tgtEl>
                                          <p:spTgt spid="79"/>
                                        </p:tgtEl>
                                      </p:cBhvr>
                                    </p:animEffect>
                                  </p:childTnLst>
                                </p:cTn>
                              </p:par>
                              <p:par>
                                <p:cTn id="41" presetID="53" presetClass="entr" presetSubtype="16" fill="hold" grpId="0" nodeType="withEffect">
                                  <p:stCondLst>
                                    <p:cond delay="400"/>
                                  </p:stCondLst>
                                  <p:childTnLst>
                                    <p:set>
                                      <p:cBhvr>
                                        <p:cTn id="42" dur="1" fill="hold">
                                          <p:stCondLst>
                                            <p:cond delay="0"/>
                                          </p:stCondLst>
                                        </p:cTn>
                                        <p:tgtEl>
                                          <p:spTgt spid="80"/>
                                        </p:tgtEl>
                                        <p:attrNameLst>
                                          <p:attrName>style.visibility</p:attrName>
                                        </p:attrNameLst>
                                      </p:cBhvr>
                                      <p:to>
                                        <p:strVal val="visible"/>
                                      </p:to>
                                    </p:set>
                                    <p:anim calcmode="lin" valueType="num">
                                      <p:cBhvr>
                                        <p:cTn id="43" dur="500" fill="hold"/>
                                        <p:tgtEl>
                                          <p:spTgt spid="80"/>
                                        </p:tgtEl>
                                        <p:attrNameLst>
                                          <p:attrName>ppt_w</p:attrName>
                                        </p:attrNameLst>
                                      </p:cBhvr>
                                      <p:tavLst>
                                        <p:tav tm="0">
                                          <p:val>
                                            <p:fltVal val="0"/>
                                          </p:val>
                                        </p:tav>
                                        <p:tav tm="100000">
                                          <p:val>
                                            <p:strVal val="#ppt_w"/>
                                          </p:val>
                                        </p:tav>
                                      </p:tavLst>
                                    </p:anim>
                                    <p:anim calcmode="lin" valueType="num">
                                      <p:cBhvr>
                                        <p:cTn id="44" dur="500" fill="hold"/>
                                        <p:tgtEl>
                                          <p:spTgt spid="80"/>
                                        </p:tgtEl>
                                        <p:attrNameLst>
                                          <p:attrName>ppt_h</p:attrName>
                                        </p:attrNameLst>
                                      </p:cBhvr>
                                      <p:tavLst>
                                        <p:tav tm="0">
                                          <p:val>
                                            <p:fltVal val="0"/>
                                          </p:val>
                                        </p:tav>
                                        <p:tav tm="100000">
                                          <p:val>
                                            <p:strVal val="#ppt_h"/>
                                          </p:val>
                                        </p:tav>
                                      </p:tavLst>
                                    </p:anim>
                                    <p:animEffect transition="in" filter="fade">
                                      <p:cBhvr>
                                        <p:cTn id="45" dur="500"/>
                                        <p:tgtEl>
                                          <p:spTgt spid="80"/>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81"/>
                                        </p:tgtEl>
                                        <p:attrNameLst>
                                          <p:attrName>style.visibility</p:attrName>
                                        </p:attrNameLst>
                                      </p:cBhvr>
                                      <p:to>
                                        <p:strVal val="visible"/>
                                      </p:to>
                                    </p:set>
                                    <p:anim calcmode="lin" valueType="num">
                                      <p:cBhvr>
                                        <p:cTn id="48" dur="500" fill="hold"/>
                                        <p:tgtEl>
                                          <p:spTgt spid="81"/>
                                        </p:tgtEl>
                                        <p:attrNameLst>
                                          <p:attrName>ppt_w</p:attrName>
                                        </p:attrNameLst>
                                      </p:cBhvr>
                                      <p:tavLst>
                                        <p:tav tm="0">
                                          <p:val>
                                            <p:fltVal val="0"/>
                                          </p:val>
                                        </p:tav>
                                        <p:tav tm="100000">
                                          <p:val>
                                            <p:strVal val="#ppt_w"/>
                                          </p:val>
                                        </p:tav>
                                      </p:tavLst>
                                    </p:anim>
                                    <p:anim calcmode="lin" valueType="num">
                                      <p:cBhvr>
                                        <p:cTn id="49" dur="500" fill="hold"/>
                                        <p:tgtEl>
                                          <p:spTgt spid="81"/>
                                        </p:tgtEl>
                                        <p:attrNameLst>
                                          <p:attrName>ppt_h</p:attrName>
                                        </p:attrNameLst>
                                      </p:cBhvr>
                                      <p:tavLst>
                                        <p:tav tm="0">
                                          <p:val>
                                            <p:fltVal val="0"/>
                                          </p:val>
                                        </p:tav>
                                        <p:tav tm="100000">
                                          <p:val>
                                            <p:strVal val="#ppt_h"/>
                                          </p:val>
                                        </p:tav>
                                      </p:tavLst>
                                    </p:anim>
                                    <p:animEffect transition="in" filter="fade">
                                      <p:cBhvr>
                                        <p:cTn id="50" dur="500"/>
                                        <p:tgtEl>
                                          <p:spTgt spid="81"/>
                                        </p:tgtEl>
                                      </p:cBhvr>
                                    </p:animEffect>
                                  </p:childTnLst>
                                </p:cTn>
                              </p:par>
                              <p:par>
                                <p:cTn id="51" presetID="53" presetClass="entr" presetSubtype="16" fill="hold" grpId="0" nodeType="withEffect">
                                  <p:stCondLst>
                                    <p:cond delay="400"/>
                                  </p:stCondLst>
                                  <p:childTnLst>
                                    <p:set>
                                      <p:cBhvr>
                                        <p:cTn id="52" dur="1" fill="hold">
                                          <p:stCondLst>
                                            <p:cond delay="0"/>
                                          </p:stCondLst>
                                        </p:cTn>
                                        <p:tgtEl>
                                          <p:spTgt spid="82"/>
                                        </p:tgtEl>
                                        <p:attrNameLst>
                                          <p:attrName>style.visibility</p:attrName>
                                        </p:attrNameLst>
                                      </p:cBhvr>
                                      <p:to>
                                        <p:strVal val="visible"/>
                                      </p:to>
                                    </p:set>
                                    <p:anim calcmode="lin" valueType="num">
                                      <p:cBhvr>
                                        <p:cTn id="53" dur="500" fill="hold"/>
                                        <p:tgtEl>
                                          <p:spTgt spid="82"/>
                                        </p:tgtEl>
                                        <p:attrNameLst>
                                          <p:attrName>ppt_w</p:attrName>
                                        </p:attrNameLst>
                                      </p:cBhvr>
                                      <p:tavLst>
                                        <p:tav tm="0">
                                          <p:val>
                                            <p:fltVal val="0"/>
                                          </p:val>
                                        </p:tav>
                                        <p:tav tm="100000">
                                          <p:val>
                                            <p:strVal val="#ppt_w"/>
                                          </p:val>
                                        </p:tav>
                                      </p:tavLst>
                                    </p:anim>
                                    <p:anim calcmode="lin" valueType="num">
                                      <p:cBhvr>
                                        <p:cTn id="54" dur="500" fill="hold"/>
                                        <p:tgtEl>
                                          <p:spTgt spid="82"/>
                                        </p:tgtEl>
                                        <p:attrNameLst>
                                          <p:attrName>ppt_h</p:attrName>
                                        </p:attrNameLst>
                                      </p:cBhvr>
                                      <p:tavLst>
                                        <p:tav tm="0">
                                          <p:val>
                                            <p:fltVal val="0"/>
                                          </p:val>
                                        </p:tav>
                                        <p:tav tm="100000">
                                          <p:val>
                                            <p:strVal val="#ppt_h"/>
                                          </p:val>
                                        </p:tav>
                                      </p:tavLst>
                                    </p:anim>
                                    <p:animEffect transition="in" filter="fade">
                                      <p:cBhvr>
                                        <p:cTn id="55" dur="500"/>
                                        <p:tgtEl>
                                          <p:spTgt spid="82"/>
                                        </p:tgtEl>
                                      </p:cBhvr>
                                    </p:animEffect>
                                  </p:childTnLst>
                                </p:cTn>
                              </p:par>
                              <p:par>
                                <p:cTn id="56" presetID="53" presetClass="entr" presetSubtype="16" fill="hold" grpId="0" nodeType="withEffect">
                                  <p:stCondLst>
                                    <p:cond delay="200"/>
                                  </p:stCondLst>
                                  <p:childTnLst>
                                    <p:set>
                                      <p:cBhvr>
                                        <p:cTn id="57" dur="1" fill="hold">
                                          <p:stCondLst>
                                            <p:cond delay="0"/>
                                          </p:stCondLst>
                                        </p:cTn>
                                        <p:tgtEl>
                                          <p:spTgt spid="83"/>
                                        </p:tgtEl>
                                        <p:attrNameLst>
                                          <p:attrName>style.visibility</p:attrName>
                                        </p:attrNameLst>
                                      </p:cBhvr>
                                      <p:to>
                                        <p:strVal val="visible"/>
                                      </p:to>
                                    </p:set>
                                    <p:anim calcmode="lin" valueType="num">
                                      <p:cBhvr>
                                        <p:cTn id="58" dur="500" fill="hold"/>
                                        <p:tgtEl>
                                          <p:spTgt spid="83"/>
                                        </p:tgtEl>
                                        <p:attrNameLst>
                                          <p:attrName>ppt_w</p:attrName>
                                        </p:attrNameLst>
                                      </p:cBhvr>
                                      <p:tavLst>
                                        <p:tav tm="0">
                                          <p:val>
                                            <p:fltVal val="0"/>
                                          </p:val>
                                        </p:tav>
                                        <p:tav tm="100000">
                                          <p:val>
                                            <p:strVal val="#ppt_w"/>
                                          </p:val>
                                        </p:tav>
                                      </p:tavLst>
                                    </p:anim>
                                    <p:anim calcmode="lin" valueType="num">
                                      <p:cBhvr>
                                        <p:cTn id="59" dur="500" fill="hold"/>
                                        <p:tgtEl>
                                          <p:spTgt spid="83"/>
                                        </p:tgtEl>
                                        <p:attrNameLst>
                                          <p:attrName>ppt_h</p:attrName>
                                        </p:attrNameLst>
                                      </p:cBhvr>
                                      <p:tavLst>
                                        <p:tav tm="0">
                                          <p:val>
                                            <p:fltVal val="0"/>
                                          </p:val>
                                        </p:tav>
                                        <p:tav tm="100000">
                                          <p:val>
                                            <p:strVal val="#ppt_h"/>
                                          </p:val>
                                        </p:tav>
                                      </p:tavLst>
                                    </p:anim>
                                    <p:animEffect transition="in" filter="fade">
                                      <p:cBhvr>
                                        <p:cTn id="60" dur="500"/>
                                        <p:tgtEl>
                                          <p:spTgt spid="83"/>
                                        </p:tgtEl>
                                      </p:cBhvr>
                                    </p:animEffect>
                                  </p:childTnLst>
                                </p:cTn>
                              </p:par>
                              <p:par>
                                <p:cTn id="61" presetID="53" presetClass="entr" presetSubtype="16" fill="hold" grpId="0" nodeType="withEffect">
                                  <p:stCondLst>
                                    <p:cond delay="200"/>
                                  </p:stCondLst>
                                  <p:childTnLst>
                                    <p:set>
                                      <p:cBhvr>
                                        <p:cTn id="62" dur="1" fill="hold">
                                          <p:stCondLst>
                                            <p:cond delay="0"/>
                                          </p:stCondLst>
                                        </p:cTn>
                                        <p:tgtEl>
                                          <p:spTgt spid="84"/>
                                        </p:tgtEl>
                                        <p:attrNameLst>
                                          <p:attrName>style.visibility</p:attrName>
                                        </p:attrNameLst>
                                      </p:cBhvr>
                                      <p:to>
                                        <p:strVal val="visible"/>
                                      </p:to>
                                    </p:set>
                                    <p:anim calcmode="lin" valueType="num">
                                      <p:cBhvr>
                                        <p:cTn id="63" dur="500" fill="hold"/>
                                        <p:tgtEl>
                                          <p:spTgt spid="84"/>
                                        </p:tgtEl>
                                        <p:attrNameLst>
                                          <p:attrName>ppt_w</p:attrName>
                                        </p:attrNameLst>
                                      </p:cBhvr>
                                      <p:tavLst>
                                        <p:tav tm="0">
                                          <p:val>
                                            <p:fltVal val="0"/>
                                          </p:val>
                                        </p:tav>
                                        <p:tav tm="100000">
                                          <p:val>
                                            <p:strVal val="#ppt_w"/>
                                          </p:val>
                                        </p:tav>
                                      </p:tavLst>
                                    </p:anim>
                                    <p:anim calcmode="lin" valueType="num">
                                      <p:cBhvr>
                                        <p:cTn id="64" dur="500" fill="hold"/>
                                        <p:tgtEl>
                                          <p:spTgt spid="84"/>
                                        </p:tgtEl>
                                        <p:attrNameLst>
                                          <p:attrName>ppt_h</p:attrName>
                                        </p:attrNameLst>
                                      </p:cBhvr>
                                      <p:tavLst>
                                        <p:tav tm="0">
                                          <p:val>
                                            <p:fltVal val="0"/>
                                          </p:val>
                                        </p:tav>
                                        <p:tav tm="100000">
                                          <p:val>
                                            <p:strVal val="#ppt_h"/>
                                          </p:val>
                                        </p:tav>
                                      </p:tavLst>
                                    </p:anim>
                                    <p:animEffect transition="in" filter="fade">
                                      <p:cBhvr>
                                        <p:cTn id="65" dur="500"/>
                                        <p:tgtEl>
                                          <p:spTgt spid="84"/>
                                        </p:tgtEl>
                                      </p:cBhvr>
                                    </p:animEffect>
                                  </p:childTnLst>
                                </p:cTn>
                              </p:par>
                            </p:childTnLst>
                          </p:cTn>
                        </p:par>
                        <p:par>
                          <p:cTn id="66" fill="hold">
                            <p:stCondLst>
                              <p:cond delay="3000"/>
                            </p:stCondLst>
                            <p:childTnLst>
                              <p:par>
                                <p:cTn id="67" presetID="53" presetClass="entr" presetSubtype="16" fill="hold" grpId="0" nodeType="afterEffect">
                                  <p:stCondLst>
                                    <p:cond delay="0"/>
                                  </p:stCondLst>
                                  <p:childTnLst>
                                    <p:set>
                                      <p:cBhvr>
                                        <p:cTn id="68" dur="1" fill="hold">
                                          <p:stCondLst>
                                            <p:cond delay="0"/>
                                          </p:stCondLst>
                                        </p:cTn>
                                        <p:tgtEl>
                                          <p:spTgt spid="105"/>
                                        </p:tgtEl>
                                        <p:attrNameLst>
                                          <p:attrName>style.visibility</p:attrName>
                                        </p:attrNameLst>
                                      </p:cBhvr>
                                      <p:to>
                                        <p:strVal val="visible"/>
                                      </p:to>
                                    </p:set>
                                    <p:anim calcmode="lin" valueType="num">
                                      <p:cBhvr>
                                        <p:cTn id="69" dur="500" fill="hold"/>
                                        <p:tgtEl>
                                          <p:spTgt spid="105"/>
                                        </p:tgtEl>
                                        <p:attrNameLst>
                                          <p:attrName>ppt_w</p:attrName>
                                        </p:attrNameLst>
                                      </p:cBhvr>
                                      <p:tavLst>
                                        <p:tav tm="0">
                                          <p:val>
                                            <p:fltVal val="0"/>
                                          </p:val>
                                        </p:tav>
                                        <p:tav tm="100000">
                                          <p:val>
                                            <p:strVal val="#ppt_w"/>
                                          </p:val>
                                        </p:tav>
                                      </p:tavLst>
                                    </p:anim>
                                    <p:anim calcmode="lin" valueType="num">
                                      <p:cBhvr>
                                        <p:cTn id="70" dur="500" fill="hold"/>
                                        <p:tgtEl>
                                          <p:spTgt spid="105"/>
                                        </p:tgtEl>
                                        <p:attrNameLst>
                                          <p:attrName>ppt_h</p:attrName>
                                        </p:attrNameLst>
                                      </p:cBhvr>
                                      <p:tavLst>
                                        <p:tav tm="0">
                                          <p:val>
                                            <p:fltVal val="0"/>
                                          </p:val>
                                        </p:tav>
                                        <p:tav tm="100000">
                                          <p:val>
                                            <p:strVal val="#ppt_h"/>
                                          </p:val>
                                        </p:tav>
                                      </p:tavLst>
                                    </p:anim>
                                    <p:animEffect transition="in" filter="fade">
                                      <p:cBhvr>
                                        <p:cTn id="71" dur="500"/>
                                        <p:tgtEl>
                                          <p:spTgt spid="105"/>
                                        </p:tgtEl>
                                      </p:cBhvr>
                                    </p:animEffect>
                                  </p:childTnLst>
                                </p:cTn>
                              </p:par>
                              <p:par>
                                <p:cTn id="72" presetID="53" presetClass="entr" presetSubtype="16" fill="hold" grpId="0" nodeType="withEffect">
                                  <p:stCondLst>
                                    <p:cond delay="100"/>
                                  </p:stCondLst>
                                  <p:childTnLst>
                                    <p:set>
                                      <p:cBhvr>
                                        <p:cTn id="73" dur="1" fill="hold">
                                          <p:stCondLst>
                                            <p:cond delay="0"/>
                                          </p:stCondLst>
                                        </p:cTn>
                                        <p:tgtEl>
                                          <p:spTgt spid="98"/>
                                        </p:tgtEl>
                                        <p:attrNameLst>
                                          <p:attrName>style.visibility</p:attrName>
                                        </p:attrNameLst>
                                      </p:cBhvr>
                                      <p:to>
                                        <p:strVal val="visible"/>
                                      </p:to>
                                    </p:set>
                                    <p:anim calcmode="lin" valueType="num">
                                      <p:cBhvr>
                                        <p:cTn id="74" dur="500" fill="hold"/>
                                        <p:tgtEl>
                                          <p:spTgt spid="98"/>
                                        </p:tgtEl>
                                        <p:attrNameLst>
                                          <p:attrName>ppt_w</p:attrName>
                                        </p:attrNameLst>
                                      </p:cBhvr>
                                      <p:tavLst>
                                        <p:tav tm="0">
                                          <p:val>
                                            <p:fltVal val="0"/>
                                          </p:val>
                                        </p:tav>
                                        <p:tav tm="100000">
                                          <p:val>
                                            <p:strVal val="#ppt_w"/>
                                          </p:val>
                                        </p:tav>
                                      </p:tavLst>
                                    </p:anim>
                                    <p:anim calcmode="lin" valueType="num">
                                      <p:cBhvr>
                                        <p:cTn id="75" dur="500" fill="hold"/>
                                        <p:tgtEl>
                                          <p:spTgt spid="98"/>
                                        </p:tgtEl>
                                        <p:attrNameLst>
                                          <p:attrName>ppt_h</p:attrName>
                                        </p:attrNameLst>
                                      </p:cBhvr>
                                      <p:tavLst>
                                        <p:tav tm="0">
                                          <p:val>
                                            <p:fltVal val="0"/>
                                          </p:val>
                                        </p:tav>
                                        <p:tav tm="100000">
                                          <p:val>
                                            <p:strVal val="#ppt_h"/>
                                          </p:val>
                                        </p:tav>
                                      </p:tavLst>
                                    </p:anim>
                                    <p:animEffect transition="in" filter="fade">
                                      <p:cBhvr>
                                        <p:cTn id="76" dur="500"/>
                                        <p:tgtEl>
                                          <p:spTgt spid="98"/>
                                        </p:tgtEl>
                                      </p:cBhvr>
                                    </p:animEffect>
                                  </p:childTnLst>
                                </p:cTn>
                              </p:par>
                              <p:par>
                                <p:cTn id="77" presetID="53" presetClass="entr" presetSubtype="16" fill="hold" grpId="0" nodeType="withEffect">
                                  <p:stCondLst>
                                    <p:cond delay="200"/>
                                  </p:stCondLst>
                                  <p:childTnLst>
                                    <p:set>
                                      <p:cBhvr>
                                        <p:cTn id="78" dur="1" fill="hold">
                                          <p:stCondLst>
                                            <p:cond delay="0"/>
                                          </p:stCondLst>
                                        </p:cTn>
                                        <p:tgtEl>
                                          <p:spTgt spid="99"/>
                                        </p:tgtEl>
                                        <p:attrNameLst>
                                          <p:attrName>style.visibility</p:attrName>
                                        </p:attrNameLst>
                                      </p:cBhvr>
                                      <p:to>
                                        <p:strVal val="visible"/>
                                      </p:to>
                                    </p:set>
                                    <p:anim calcmode="lin" valueType="num">
                                      <p:cBhvr>
                                        <p:cTn id="79" dur="500" fill="hold"/>
                                        <p:tgtEl>
                                          <p:spTgt spid="99"/>
                                        </p:tgtEl>
                                        <p:attrNameLst>
                                          <p:attrName>ppt_w</p:attrName>
                                        </p:attrNameLst>
                                      </p:cBhvr>
                                      <p:tavLst>
                                        <p:tav tm="0">
                                          <p:val>
                                            <p:fltVal val="0"/>
                                          </p:val>
                                        </p:tav>
                                        <p:tav tm="100000">
                                          <p:val>
                                            <p:strVal val="#ppt_w"/>
                                          </p:val>
                                        </p:tav>
                                      </p:tavLst>
                                    </p:anim>
                                    <p:anim calcmode="lin" valueType="num">
                                      <p:cBhvr>
                                        <p:cTn id="80" dur="500" fill="hold"/>
                                        <p:tgtEl>
                                          <p:spTgt spid="99"/>
                                        </p:tgtEl>
                                        <p:attrNameLst>
                                          <p:attrName>ppt_h</p:attrName>
                                        </p:attrNameLst>
                                      </p:cBhvr>
                                      <p:tavLst>
                                        <p:tav tm="0">
                                          <p:val>
                                            <p:fltVal val="0"/>
                                          </p:val>
                                        </p:tav>
                                        <p:tav tm="100000">
                                          <p:val>
                                            <p:strVal val="#ppt_h"/>
                                          </p:val>
                                        </p:tav>
                                      </p:tavLst>
                                    </p:anim>
                                    <p:animEffect transition="in" filter="fade">
                                      <p:cBhvr>
                                        <p:cTn id="81"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bldLvl="0" animBg="1"/>
      <p:bldP spid="26" grpId="0"/>
      <p:bldP spid="27" grpId="0"/>
      <p:bldP spid="78" grpId="0" bldLvl="0" animBg="1"/>
      <p:bldP spid="79" grpId="0" bldLvl="0" animBg="1"/>
      <p:bldP spid="80" grpId="0" bldLvl="0" animBg="1"/>
      <p:bldP spid="81" grpId="0" bldLvl="0" animBg="1"/>
      <p:bldP spid="82" grpId="0" bldLvl="0" animBg="1"/>
      <p:bldP spid="83" grpId="0" bldLvl="0" animBg="1"/>
      <p:bldP spid="84" grpId="0" bldLvl="0" animBg="1"/>
      <p:bldP spid="98" grpId="0" bldLvl="0" animBg="1"/>
      <p:bldP spid="99" grpId="0" bldLvl="0" animBg="1"/>
      <p:bldP spid="105" grpId="0"/>
    </p:bldLst>
  </p:timing>
</p:sld>
</file>

<file path=ppt/tags/tag1.xml><?xml version="1.0" encoding="utf-8"?>
<p:tagLst xmlns:p="http://schemas.openxmlformats.org/presentationml/2006/main">
  <p:tag name="SELECTED" val="True"/>
</p:tagLst>
</file>

<file path=ppt/tags/tag2.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3.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4.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5.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6.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7.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8.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9.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0.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1.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2.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3.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4.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5.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6.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7.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8.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19.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20.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21.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22.xml><?xml version="1.0" encoding="utf-8"?>
<p:tagLst xmlns:p="http://schemas.openxmlformats.org/presentationml/2006/main">
  <p:tag name="KSO_WM_DIAGRAM_VIRTUALLY_FRAME" val="{&quot;height&quot;:307.64275590551176,&quot;left&quot;:147.76700787401575,&quot;top&quot;:52.537401574803155,&quot;width&quot;:572.2329921259843}"/>
</p:tagLst>
</file>

<file path=ppt/tags/tag23.xml><?xml version="1.0" encoding="utf-8"?>
<p:tagLst xmlns:p="http://schemas.openxmlformats.org/presentationml/2006/main">
  <p:tag name="KSO_WM_DIAGRAM_VIRTUALLY_FRAME" val="{&quot;height&quot;:326.6,&quot;left&quot;:-29.6,&quot;top&quot;:225.2,&quot;width&quot;:678.8171653543308}"/>
</p:tagLst>
</file>

<file path=ppt/tags/tag24.xml><?xml version="1.0" encoding="utf-8"?>
<p:tagLst xmlns:p="http://schemas.openxmlformats.org/presentationml/2006/main">
  <p:tag name="SELECTED" val="True"/>
</p:tagLst>
</file>

<file path=ppt/tags/tag25.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26.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27.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28.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29.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30.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31.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32.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33.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34.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35.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36.xml><?xml version="1.0" encoding="utf-8"?>
<p:tagLst xmlns:p="http://schemas.openxmlformats.org/presentationml/2006/main">
  <p:tag name="KSO_WM_DIAGRAM_VIRTUALLY_FRAME" val="{&quot;height&quot;:259.7104724409449,&quot;left&quot;:282.51173228346454,&quot;top&quot;:103.708031496063,&quot;width&quot;:406.3437007874016}"/>
</p:tagLst>
</file>

<file path=ppt/tags/tag37.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38.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39.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0.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1.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2.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3.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4.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5.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6.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7.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8.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49.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0.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1.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2.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3.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4.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5.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6.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7.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8.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59.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0.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1.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2.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3.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4.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5.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6.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7.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8.xml><?xml version="1.0" encoding="utf-8"?>
<p:tagLst xmlns:p="http://schemas.openxmlformats.org/presentationml/2006/main">
  <p:tag name="KSO_WM_DIAGRAM_VIRTUALLY_FRAME" val="{&quot;height&quot;:306.175748031496,&quot;left&quot;:31.14448818897638,&quot;top&quot;:66.42188976377953,&quot;width&quot;:652.0410236220472}"/>
</p:tagLst>
</file>

<file path=ppt/tags/tag69.xml><?xml version="1.0" encoding="utf-8"?>
<p:tagLst xmlns:p="http://schemas.openxmlformats.org/presentationml/2006/main">
  <p:tag name="SELECTED" val="True"/>
</p:tagLst>
</file>

<file path=ppt/tags/tag70.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71.xml><?xml version="1.0" encoding="utf-8"?>
<p:tagLst xmlns:p="http://schemas.openxmlformats.org/presentationml/2006/main">
  <p:tag name="MH" val="20151126093208"/>
  <p:tag name="MH_LIBRARY" val="GRAPHIC"/>
  <p:tag name="MH_TYPE" val="Other"/>
  <p:tag name="MH_ORDER" val="3"/>
  <p:tag name="KSO_WM_DIAGRAM_VIRTUALLY_FRAME" val="{&quot;height&quot;:317.9193466297012,&quot;left&quot;:45.53251968503937,&quot;top&quot;:79.85786094159735,&quot;width&quot;:619.0714960629921}"/>
</p:tagLst>
</file>

<file path=ppt/tags/tag72.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73.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74.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75.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76.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77.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78.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79.xml><?xml version="1.0" encoding="utf-8"?>
<p:tagLst xmlns:p="http://schemas.openxmlformats.org/presentationml/2006/main">
  <p:tag name="MH" val="20151126093208"/>
  <p:tag name="MH_LIBRARY" val="GRAPHIC"/>
  <p:tag name="MH_TYPE" val="Other"/>
  <p:tag name="MH_ORDER" val="3"/>
  <p:tag name="KSO_WM_DIAGRAM_VIRTUALLY_FRAME" val="{&quot;height&quot;:317.9193466297012,&quot;left&quot;:45.53251968503937,&quot;top&quot;:79.85786094159735,&quot;width&quot;:619.0714960629921}"/>
</p:tagLst>
</file>

<file path=ppt/tags/tag80.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81.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82.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83.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84.xml><?xml version="1.0" encoding="utf-8"?>
<p:tagLst xmlns:p="http://schemas.openxmlformats.org/presentationml/2006/main">
  <p:tag name="MH" val="20151126093208"/>
  <p:tag name="MH_LIBRARY" val="GRAPHIC"/>
  <p:tag name="MH_TYPE" val="Other"/>
  <p:tag name="MH_ORDER" val="3"/>
  <p:tag name="KSO_WM_DIAGRAM_VIRTUALLY_FRAME" val="{&quot;height&quot;:317.9193466297012,&quot;left&quot;:45.53251968503937,&quot;top&quot;:79.85786094159735,&quot;width&quot;:619.0714960629921}"/>
</p:tagLst>
</file>

<file path=ppt/tags/tag85.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86.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87.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88.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89.xml><?xml version="1.0" encoding="utf-8"?>
<p:tagLst xmlns:p="http://schemas.openxmlformats.org/presentationml/2006/main">
  <p:tag name="MH" val="20151126093208"/>
  <p:tag name="MH_LIBRARY" val="GRAPHIC"/>
  <p:tag name="MH_TYPE" val="Other"/>
  <p:tag name="MH_ORDER" val="3"/>
  <p:tag name="KSO_WM_DIAGRAM_VIRTUALLY_FRAME" val="{&quot;height&quot;:317.9193466297012,&quot;left&quot;:45.53251968503937,&quot;top&quot;:79.85786094159735,&quot;width&quot;:619.0714960629921}"/>
</p:tagLst>
</file>

<file path=ppt/tags/tag90.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1.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2.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3.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4.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5.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6.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7.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8.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99.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0.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1.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2.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3.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4.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5.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6.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7.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8.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09.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10.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11.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12.xml><?xml version="1.0" encoding="utf-8"?>
<p:tagLst xmlns:p="http://schemas.openxmlformats.org/presentationml/2006/main">
  <p:tag name="KSO_WM_DIAGRAM_VIRTUALLY_FRAME" val="{&quot;height&quot;:317.9193466297012,&quot;left&quot;:45.53251968503937,&quot;top&quot;:79.85786094159735,&quot;width&quot;:619.0714960629921}"/>
</p:tagLst>
</file>

<file path=ppt/tags/tag113.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4.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5.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6.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7.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8.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19.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0.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1.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2.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3.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4.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5.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6.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7.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8.xml><?xml version="1.0" encoding="utf-8"?>
<p:tagLst xmlns:p="http://schemas.openxmlformats.org/presentationml/2006/main">
  <p:tag name="KSO_WM_DIAGRAM_VIRTUALLY_FRAME" val="{&quot;height&quot;:293.6718162005842,&quot;left&quot;:86.94425196850393,&quot;top&quot;:83.43165354330708,&quot;width&quot;:595.1143131856195}"/>
</p:tagLst>
</file>

<file path=ppt/tags/tag129.xml><?xml version="1.0" encoding="utf-8"?>
<p:tagLst xmlns:p="http://schemas.openxmlformats.org/presentationml/2006/main">
  <p:tag name="SELECTED" val="True"/>
</p:tagLst>
</file>

<file path=ppt/tags/tag130.xml><?xml version="1.0" encoding="utf-8"?>
<p:tagLst xmlns:p="http://schemas.openxmlformats.org/presentationml/2006/main">
  <p:tag name="SELECTED" val="True"/>
</p:tagLst>
</file>

<file path=ppt/tags/tag131.xml><?xml version="1.0" encoding="utf-8"?>
<p:tagLst xmlns:p="http://schemas.openxmlformats.org/presentationml/2006/main">
  <p:tag name="SELECTED" val="True"/>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SELECTED" val="True"/>
</p:tagLst>
</file>

<file path=ppt/tags/tag134.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35.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36.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37.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38.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39.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0.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1.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2.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3.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4.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5.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6.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7.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8.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49.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50.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51.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52.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53.xml><?xml version="1.0" encoding="utf-8"?>
<p:tagLst xmlns:p="http://schemas.openxmlformats.org/presentationml/2006/main">
  <p:tag name="KSO_WM_DIAGRAM_VIRTUALLY_FRAME" val="{&quot;height&quot;:324.5767716535433,&quot;left&quot;:62.2903937007874,&quot;top&quot;:116.60299212598424,&quot;width&quot;:606.315275590551}"/>
</p:tagLst>
</file>

<file path=ppt/tags/tag154.xml><?xml version="1.0" encoding="utf-8"?>
<p:tagLst xmlns:p="http://schemas.openxmlformats.org/presentationml/2006/main">
  <p:tag name="SELECTED" val="True"/>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2.xml><?xml version="1.0" encoding="utf-8"?>
<p:tagLst xmlns:p="http://schemas.openxmlformats.org/presentationml/2006/main">
  <p:tag name="KSO_WM_DIAGRAM_VIRTUALLY_FRAME" val="{&quot;height&quot;:318.51259842519687,&quot;left&quot;:0,&quot;top&quot;:51.60070866141732,&quot;width&quot;:708.7455118110236}"/>
</p:tagLst>
</file>

<file path=ppt/tags/tag173.xml><?xml version="1.0" encoding="utf-8"?>
<p:tagLst xmlns:p="http://schemas.openxmlformats.org/presentationml/2006/main">
  <p:tag name="KSO_WM_DIAGRAM_VIRTUALLY_FRAME" val="{&quot;height&quot;:318.51259842519687,&quot;left&quot;:0,&quot;top&quot;:51.60070866141732,&quot;width&quot;:708.7455118110236}"/>
</p:tagLst>
</file>

<file path=ppt/tags/tag174.xml><?xml version="1.0" encoding="utf-8"?>
<p:tagLst xmlns:p="http://schemas.openxmlformats.org/presentationml/2006/main">
  <p:tag name="KSO_WM_DIAGRAM_VIRTUALLY_FRAME" val="{&quot;height&quot;:318.51259842519687,&quot;left&quot;:0,&quot;top&quot;:51.60070866141732,&quot;width&quot;:708.7455118110236}"/>
</p:tagLst>
</file>

<file path=ppt/tags/tag175.xml><?xml version="1.0" encoding="utf-8"?>
<p:tagLst xmlns:p="http://schemas.openxmlformats.org/presentationml/2006/main">
  <p:tag name="KSO_WM_DIAGRAM_VIRTUALLY_FRAME" val="{&quot;height&quot;:318.51259842519687,&quot;left&quot;:0,&quot;top&quot;:51.60070866141732,&quot;width&quot;:708.7455118110236}"/>
</p:tagLst>
</file>

<file path=ppt/tags/tag176.xml><?xml version="1.0" encoding="utf-8"?>
<p:tagLst xmlns:p="http://schemas.openxmlformats.org/presentationml/2006/main">
  <p:tag name="KSO_WM_DIAGRAM_VIRTUALLY_FRAME" val="{&quot;height&quot;:318.51259842519687,&quot;left&quot;:0,&quot;top&quot;:51.60070866141732,&quot;width&quot;:708.7455118110236}"/>
</p:tagLst>
</file>

<file path=ppt/tags/tag177.xml><?xml version="1.0" encoding="utf-8"?>
<p:tagLst xmlns:p="http://schemas.openxmlformats.org/presentationml/2006/main">
  <p:tag name="KSO_WM_DIAGRAM_VIRTUALLY_FRAME" val="{&quot;height&quot;:318.51259842519687,&quot;left&quot;:0,&quot;top&quot;:51.60070866141732,&quot;width&quot;:708.7455118110236}"/>
</p:tagLst>
</file>

<file path=ppt/tags/tag178.xml><?xml version="1.0" encoding="utf-8"?>
<p:tagLst xmlns:p="http://schemas.openxmlformats.org/presentationml/2006/main">
  <p:tag name="KSO_WM_DIAGRAM_VIRTUALLY_FRAME" val="{&quot;height&quot;:318.51259842519687,&quot;left&quot;:0,&quot;top&quot;:51.60070866141732,&quot;width&quot;:708.7455118110236}"/>
</p:tagLst>
</file>

<file path=ppt/tags/tag179.xml><?xml version="1.0" encoding="utf-8"?>
<p:tagLst xmlns:p="http://schemas.openxmlformats.org/presentationml/2006/main">
  <p:tag name="KSO_WM_DIAGRAM_VIRTUALLY_FRAME" val="{&quot;height&quot;:318.51259842519687,&quot;left&quot;:0,&quot;top&quot;:51.60070866141732,&quot;width&quot;:708.7455118110236}"/>
</p:tagLst>
</file>

<file path=ppt/tags/tag180.xml><?xml version="1.0" encoding="utf-8"?>
<p:tagLst xmlns:p="http://schemas.openxmlformats.org/presentationml/2006/main">
  <p:tag name="KSO_WM_DIAGRAM_VIRTUALLY_FRAME" val="{&quot;height&quot;:318.51259842519687,&quot;left&quot;:0,&quot;top&quot;:51.60070866141732,&quot;width&quot;:708.7455118110236}"/>
</p:tagLst>
</file>

<file path=ppt/tags/tag181.xml><?xml version="1.0" encoding="utf-8"?>
<p:tagLst xmlns:p="http://schemas.openxmlformats.org/presentationml/2006/main">
  <p:tag name="KSO_WM_DIAGRAM_VIRTUALLY_FRAME" val="{&quot;height&quot;:318.51259842519687,&quot;left&quot;:0,&quot;top&quot;:51.60070866141732,&quot;width&quot;:708.7455118110236}"/>
</p:tagLst>
</file>

<file path=ppt/tags/tag182.xml><?xml version="1.0" encoding="utf-8"?>
<p:tagLst xmlns:p="http://schemas.openxmlformats.org/presentationml/2006/main">
  <p:tag name="KSO_WM_DIAGRAM_VIRTUALLY_FRAME" val="{&quot;height&quot;:318.51259842519687,&quot;left&quot;:0,&quot;top&quot;:51.60070866141732,&quot;width&quot;:708.7455118110236}"/>
</p:tagLst>
</file>

<file path=ppt/tags/tag183.xml><?xml version="1.0" encoding="utf-8"?>
<p:tagLst xmlns:p="http://schemas.openxmlformats.org/presentationml/2006/main">
  <p:tag name="SELECTED" val="True"/>
</p:tagLst>
</file>

<file path=ppt/tags/tag184.xml><?xml version="1.0" encoding="utf-8"?>
<p:tagLst xmlns:p="http://schemas.openxmlformats.org/presentationml/2006/main">
  <p:tag name="SELECTED" val="True"/>
</p:tagLst>
</file>

<file path=ppt/tags/tag185.xml><?xml version="1.0" encoding="utf-8"?>
<p:tagLst xmlns:p="http://schemas.openxmlformats.org/presentationml/2006/main">
  <p:tag name="SELECTED" val="True"/>
</p:tagLst>
</file>

<file path=ppt/tags/tag186.xml><?xml version="1.0" encoding="utf-8"?>
<p:tagLst xmlns:p="http://schemas.openxmlformats.org/presentationml/2006/main">
  <p:tag name="SELECTED" val="True"/>
</p:tagLst>
</file>

<file path=ppt/tags/tag187.xml><?xml version="1.0" encoding="utf-8"?>
<p:tagLst xmlns:p="http://schemas.openxmlformats.org/presentationml/2006/main">
  <p:tag name="SELECTED" val="True"/>
</p:tagLst>
</file>

<file path=ppt/tags/tag188.xml><?xml version="1.0" encoding="utf-8"?>
<p:tagLst xmlns:p="http://schemas.openxmlformats.org/presentationml/2006/main">
  <p:tag name="ISPRING_PRESENTATION_TITLE" val="PowerPoint 演示文稿"/>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0070C0"/>
        </a:solidFill>
        <a:ln w="15875">
          <a:noFill/>
        </a:ln>
        <a:effectLst>
          <a:innerShdw blurRad="63500" dist="25400" dir="8100000">
            <a:prstClr val="black">
              <a:alpha val="50000"/>
            </a:prstClr>
          </a:innerShdw>
        </a:effectLst>
      </a:spPr>
      <a:bodyPr vert="horz" wrap="square" lIns="91440" tIns="45720" rIns="91440" bIns="45720" numCol="1" anchor="t" anchorCtr="0" compatLnSpc="1"/>
      <a:lstStyle>
        <a:defPPr>
          <a:defRPr/>
        </a:defPPr>
      </a:lst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7875</Words>
  <Application>WPS 演示</Application>
  <PresentationFormat>全屏显示(16:9)</PresentationFormat>
  <Paragraphs>477</Paragraphs>
  <Slides>31</Slides>
  <Notes>29</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31</vt:i4>
      </vt:variant>
    </vt:vector>
  </HeadingPairs>
  <TitlesOfParts>
    <vt:vector size="44" baseType="lpstr">
      <vt:lpstr>Arial</vt:lpstr>
      <vt:lpstr>宋体</vt:lpstr>
      <vt:lpstr>Wingdings</vt:lpstr>
      <vt:lpstr>微软雅黑</vt:lpstr>
      <vt:lpstr>Calibri</vt:lpstr>
      <vt:lpstr>Impact</vt:lpstr>
      <vt:lpstr>Lato Light</vt:lpstr>
      <vt:lpstr>Segoe Print</vt:lpstr>
      <vt:lpstr>华文黑体</vt:lpstr>
      <vt:lpstr>黑体</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profile带来的不同安全策略</vt:lpstr>
      <vt:lpstr>字段扩展（mcp_authz）</vt:lpstr>
      <vt:lpstr>字段扩展（mcp_authz）</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微软中国</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微软用户</dc:creator>
  <cp:lastModifiedBy>Tomorrow</cp:lastModifiedBy>
  <cp:revision>117</cp:revision>
  <dcterms:created xsi:type="dcterms:W3CDTF">2016-03-09T04:37:00Z</dcterms:created>
  <dcterms:modified xsi:type="dcterms:W3CDTF">2025-12-25T06:22:13Z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121D0E7A33424FC99DC06A643FE31E8E_13</vt:lpwstr>
  </property>
  <property fmtid="{D5CDD505-2E9C-101B-9397-08002B2CF9AE}" pid="3" name="KSOProductBuildVer">
    <vt:lpwstr>2052-12.1.0.24034</vt:lpwstr>
  </property>
</Properties>
</file>